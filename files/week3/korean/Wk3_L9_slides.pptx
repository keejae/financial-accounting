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파트: 기초(분류·기록·원가·소유권) → 원가흐름 방법(FIFO·LIFO·평균) → 평가(저가법·회전율).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move from the basics of inventory, through the cost-flow assumptions, to end-of-period valuation and inventory ratios.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Merchandisers hold a single Merchandise Inventory; manufacturers hold raw materials, work in process, and finished goods; service firms hold none.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examples of how inventory appears across merchandising, manufacturing, and service settings.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purchase is capitalized straight into the Inventory asset account — it is not yet an expense.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Under a perpetual system, a sale is recorded in two steps: recognize revenue, then match the cost of goods sold.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 test: did the cost help get the product ready to sell? Yes → product cost (capitalize); No → period cost (expense now).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 costs — everything to acquire goods and get them sale-ready — are capitalized and stay in inventory until sold.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Period costs — selling, administrative, and interest — are expensed as incurred and hit the income statement immediately.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visual contrast of the two cost flows: product costs flow through inventory; period costs flow straight to the income statement.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printer bought for $500 plus $100 freight-in and $50 insurance is capitalized at $650; on sale, that $650 becomes COGS while a $50 freight-out is an immediate selling expense.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Perpetual updates in real time and is the standard; periodic updates only at period end and derives COGS from a physical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systems reach the same $9,000 COGS: perpetual records it directly; periodic backs it out from the ending physical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Inventory belongs to whoever holds legal title. Consigned goods stay with the consignor — never counted in the consignee's inventory.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identical goods are bought at different prices, we need a cost-flow assumption: Specific ID, FIFO, LIFO, or Average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FIFO sells the oldest units first: COGS = 5×$100 + 2×$125 = $750; ending inventory = 6×$130 + 2×$125 = $1,030.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LIFO sells the newest units first: COGS = 6×$130 + 1×$125 = $905; ending inventory = 5×$100 + 3×$125 = $875.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Average cost = $1,780 / 15 = $118.67 per bike; COGS = 7×$118.67 ≈ $831; ending inventory = 8×$118.67 ≈ $949.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a period of rising prices, LIFO gives the lowest net income and thus the lowest income tax; FIFO gives the highest.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MTP's typewriters became obsolete: book value $300,000 but market $100,000, so a $200,000 loss is recognized immediately.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Conservatism: recognize losses immediately, defer gains until realized — to prevent overstating assets and income.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market value recovers, IFRS allows reversal up to original cost ($300,000); U.S. GAAP does not — the write-down is permanent.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 inventory at the lower of cost or net realizable value. NRV = selling price − cost to complete − selling costs.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Starbucks: cost $950 vs NRV $750; report the lower ($750) and record a $200 loss due to decline in inventory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answer the concept check in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Turnover = COGS / average inventory; days = 365 / turnover. Example: $80,000 / $16,000 = 5 times → 73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 turnover signals efficiency but risks stockouts; low turnover ties up cash and risks obsolescence. Balance is the goal.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0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kaist_type_two_kit/kaist_tit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224528"/>
            <a:ext cx="12191695" cy="2633472"/>
          </a:xfrm>
          <a:prstGeom prst="rect">
            <a:avLst/>
          </a:prstGeom>
          <a:solidFill>
            <a:srgbClr val="14306B">
              <a:alpha val="8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822960" y="4224528"/>
            <a:ext cx="201168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4443984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" y="4791456"/>
            <a:ext cx="10607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Reporting and Analyzing Inventory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5632704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재고자산의 보고와 분석  ·  분류부터 원가흐름 가정, 저가법, 회전율까지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6144768"/>
            <a:ext cx="10607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Financial Accounting   |   KAIST College of Business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Study Plan  ·  목차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7  ·  Reporting and Analyzing Inventory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파트로 진행합니다 — 기초 개념, 원가흐름 가정, 그리고 기말 평가와 비율 분석.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395728"/>
            <a:ext cx="3538728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395728"/>
            <a:ext cx="82296" cy="338328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2395728"/>
            <a:ext cx="353872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" y="2395728"/>
            <a:ext cx="3227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Basics (기초)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" y="2999232"/>
            <a:ext cx="311810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Classification (재고자산 분류)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Transactions (거래 기록)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vs Period Costs (제품·기간원가)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&amp; Freight Terms (소유권·운송)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25112" y="2395728"/>
            <a:ext cx="3538728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25112" y="2395728"/>
            <a:ext cx="82296" cy="3383280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7" name="Shape 15"/>
          <p:cNvSpPr/>
          <p:nvPr/>
        </p:nvSpPr>
        <p:spPr>
          <a:xfrm>
            <a:off x="4325112" y="2395728"/>
            <a:ext cx="3538728" cy="420624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2395728"/>
            <a:ext cx="3227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Cost Methods (원가흐름)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44568" y="2999232"/>
            <a:ext cx="311810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Method (선입선출법)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LIFO Method (후입선출법)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Average (가중평균법)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Statement Effects (재무제표 영향)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0456" y="2395728"/>
            <a:ext cx="3538728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0456" y="2395728"/>
            <a:ext cx="82296" cy="3383280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0456" y="2395728"/>
            <a:ext cx="3538728" cy="420624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23" name="Text 21"/>
          <p:cNvSpPr/>
          <p:nvPr/>
        </p:nvSpPr>
        <p:spPr>
          <a:xfrm>
            <a:off x="8421624" y="2395728"/>
            <a:ext cx="3227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Valuation (평가)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439912" y="2999232"/>
            <a:ext cx="311810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of Cost or NRV (저가법)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Turnover Ratio (회전율)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in Inventory (보유일수)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Conservatism Principle (보수주의)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29768" y="5943600"/>
            <a:ext cx="11329416" cy="457200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594360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기초 개념 → 원가흐름 가정 → 기말 평가와 재고 비율 분석.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98064"/>
            <a:ext cx="12191695" cy="502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1031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BASICS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035808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Inventory Classification</a:t>
            </a:r>
            <a:endParaRPr lang="en-US" sz="3700" dirty="0"/>
          </a:p>
        </p:txBody>
      </p:sp>
      <p:sp>
        <p:nvSpPr>
          <p:cNvPr id="6" name="Text 4"/>
          <p:cNvSpPr/>
          <p:nvPr/>
        </p:nvSpPr>
        <p:spPr>
          <a:xfrm>
            <a:off x="1097280" y="4041648"/>
            <a:ext cx="99971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재고자산 분류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Classification Depends on Business Model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7  ·  Reporting and Analyzing Inventory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 분류는 사업 모델에 따라 달라집니다 — 상기업·제조기업·서비스기업.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542032"/>
            <a:ext cx="353872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542032"/>
            <a:ext cx="82296" cy="292608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2" name="Shape 10"/>
          <p:cNvSpPr/>
          <p:nvPr/>
        </p:nvSpPr>
        <p:spPr>
          <a:xfrm>
            <a:off x="1933956" y="2267712"/>
            <a:ext cx="530352" cy="530352"/>
          </a:xfrm>
          <a:prstGeom prst="ellipse">
            <a:avLst/>
          </a:prstGeom>
          <a:solidFill>
            <a:srgbClr val="1F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1933956" y="22677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57784" y="2944368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Merchandising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85800" y="3364992"/>
            <a:ext cx="30266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도·소매업 (Wholesaler / Retailer).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Merchandise Inventory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판매 준비가 완료된 단일 범주.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25112" y="2542032"/>
            <a:ext cx="353872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25112" y="2542032"/>
            <a:ext cx="82296" cy="2926080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8" name="Shape 16"/>
          <p:cNvSpPr/>
          <p:nvPr/>
        </p:nvSpPr>
        <p:spPr>
          <a:xfrm>
            <a:off x="5829300" y="2267712"/>
            <a:ext cx="530352" cy="530352"/>
          </a:xfrm>
          <a:prstGeom prst="ellipse">
            <a:avLst/>
          </a:prstGeom>
          <a:solidFill>
            <a:srgbClr val="0F6E7A"/>
          </a:solidFill>
          <a:ln/>
        </p:spPr>
      </p:sp>
      <p:sp>
        <p:nvSpPr>
          <p:cNvPr id="19" name="Text 17"/>
          <p:cNvSpPr/>
          <p:nvPr/>
        </p:nvSpPr>
        <p:spPr>
          <a:xfrm>
            <a:off x="5829300" y="22677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453128" y="2944368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4581144" y="3364992"/>
            <a:ext cx="30266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Materials — 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아직 생산에 미투입된 기본 부품.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Process — 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 중이며 미완성.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Goods — 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완성되어 판매 준비 완료.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220456" y="2542032"/>
            <a:ext cx="353872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0456" y="2542032"/>
            <a:ext cx="82296" cy="2926080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24" name="Shape 22"/>
          <p:cNvSpPr/>
          <p:nvPr/>
        </p:nvSpPr>
        <p:spPr>
          <a:xfrm>
            <a:off x="9724644" y="2267712"/>
            <a:ext cx="530352" cy="530352"/>
          </a:xfrm>
          <a:prstGeom prst="ellipse">
            <a:avLst/>
          </a:prstGeom>
          <a:solidFill>
            <a:srgbClr val="9A6600"/>
          </a:solidFill>
          <a:ln/>
        </p:spPr>
      </p:sp>
      <p:sp>
        <p:nvSpPr>
          <p:cNvPr id="25" name="Text 23"/>
          <p:cNvSpPr/>
          <p:nvPr/>
        </p:nvSpPr>
        <p:spPr>
          <a:xfrm>
            <a:off x="9724644" y="22677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348472" y="2944368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9A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476488" y="3364992"/>
            <a:ext cx="30266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없음.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재화가 아니라 서비스만 판매하므로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재고자산이 존재하지 않음.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29768" y="5669280"/>
            <a:ext cx="11329416" cy="457200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566928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상기업은 하나의 범주, 제조기업은 원재료·재공품·제품 세 단계, 서비스기업은 재고가 없습니다.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Inventory Classification — Examples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7  ·  Reporting and Analyzing Inventory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56616" y="1517904"/>
            <a:ext cx="3685032" cy="311902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7" name="Image 0" descr="assets/s05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591056"/>
            <a:ext cx="3538728" cy="297272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251960" y="1517904"/>
            <a:ext cx="3685032" cy="380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9" name="Image 1" descr="assets/s05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112" y="1591056"/>
            <a:ext cx="3538728" cy="36632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147304" y="1517904"/>
            <a:ext cx="3685032" cy="1962899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11" name="Image 2" descr="assets/s05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0456" y="1591056"/>
            <a:ext cx="3538728" cy="181659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29768" y="5705856"/>
            <a:ext cx="11329416" cy="457200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13" name="Text 8"/>
          <p:cNvSpPr/>
          <p:nvPr/>
        </p:nvSpPr>
        <p:spPr>
          <a:xfrm>
            <a:off x="685800" y="5705856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업종별 재고 구성 예시 — Merchandising · Manufacturing · Service.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98064"/>
            <a:ext cx="12191695" cy="502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1031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BASICS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035808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Recording Inventory Transactions</a:t>
            </a:r>
            <a:endParaRPr lang="en-US" sz="3700" dirty="0"/>
          </a:p>
        </p:txBody>
      </p:sp>
      <p:sp>
        <p:nvSpPr>
          <p:cNvPr id="6" name="Text 4"/>
          <p:cNvSpPr/>
          <p:nvPr/>
        </p:nvSpPr>
        <p:spPr>
          <a:xfrm>
            <a:off x="1097280" y="4041648"/>
            <a:ext cx="99971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재고자산 거래의 기록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Recording the Purchase of Inventory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7  ·  Reporting and Analyzing Inventory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회사가 $500의 상품을 외상(on account)으로 매입했습니다.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395728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395728"/>
            <a:ext cx="82296" cy="219456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2395728"/>
            <a:ext cx="5486400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" y="239572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무엇이 일어나는가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999232"/>
            <a:ext cx="50657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상품(inventory)을 취득.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대금은 외상(Accounts Payable)으로 지급 예정.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원가는 즉시 자산으로 자본화(capitalize).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72784" y="2395728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2784" y="2395728"/>
            <a:ext cx="82296" cy="2194560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7" name="Shape 15"/>
          <p:cNvSpPr/>
          <p:nvPr/>
        </p:nvSpPr>
        <p:spPr>
          <a:xfrm>
            <a:off x="6272784" y="2395728"/>
            <a:ext cx="5486400" cy="420624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239572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Entry — Purchase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2999232"/>
            <a:ext cx="50657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(Dr.)  ↑            $500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Accounts Payable (Cr.)  ↑            $500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29768" y="4846320"/>
            <a:ext cx="11329416" cy="548640"/>
          </a:xfrm>
          <a:prstGeom prst="rect">
            <a:avLst/>
          </a:prstGeom>
          <a:solidFill>
            <a:srgbClr val="E9F5EE"/>
          </a:solidFill>
          <a:ln w="12700">
            <a:solidFill>
              <a:srgbClr val="1E7A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4846320"/>
            <a:ext cx="10853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원가는 즉시 Inventory asset 계정으로 자본화되며, 비용으로 처리되지 않습니다.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Recording the Sale (Perpetual) — Two Steps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7  ·  Reporting and Analyzing Inventory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판매는 두 개의 journal entry가 필요합니다 — 하나는 revenue, 다른 하나는 cost.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395728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395728"/>
            <a:ext cx="82296" cy="228600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2395728"/>
            <a:ext cx="5486400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" y="239572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Revenue 인식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999232"/>
            <a:ext cx="50657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Receivable (Dr.)  ↑        $800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Sales Revenue (Cr.)  ↑        $800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판매 시점에 수익을 기록.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72784" y="2395728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2784" y="2395728"/>
            <a:ext cx="82296" cy="2286000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17" name="Shape 15"/>
          <p:cNvSpPr/>
          <p:nvPr/>
        </p:nvSpPr>
        <p:spPr>
          <a:xfrm>
            <a:off x="6272784" y="2395728"/>
            <a:ext cx="5486400" cy="420624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239572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Cost 대응 (비용)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2999232"/>
            <a:ext cx="50657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Goods Sold (Dr.)  ↑        $600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Inventory (Cr.)  ↑        $600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판매된 재고의 원가를 비용으로 대응.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29768" y="4937760"/>
            <a:ext cx="11329416" cy="457200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9377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Perpetual 시스템에서는 수익 인식과 원가 대응을 같은 시점에, 두 단계로 기록합니다.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98064"/>
            <a:ext cx="12191695" cy="502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1031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BASICS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035808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Product vs. Period Costs</a:t>
            </a:r>
            <a:endParaRPr lang="en-US" sz="3700" dirty="0"/>
          </a:p>
        </p:txBody>
      </p:sp>
      <p:sp>
        <p:nvSpPr>
          <p:cNvPr id="6" name="Text 4"/>
          <p:cNvSpPr/>
          <p:nvPr/>
        </p:nvSpPr>
        <p:spPr>
          <a:xfrm>
            <a:off x="1097280" y="4041648"/>
            <a:ext cx="99971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제품원가 vs 기간원가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Cost Principle: Product vs. Period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7  ·  Reporting and Analyzing Inventory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원가가 발생하면 핵심 질문은 하나입니다: 이 지출이 제품을 재판매 가능한 상태로 만드는 데 기여했는가?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46888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468880"/>
            <a:ext cx="82296" cy="2286000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2468880"/>
            <a:ext cx="5486400" cy="420624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" y="246888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 (Yes) → Product Cost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3072384"/>
            <a:ext cx="50657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제품을 판매 가능한 상태로 만드는 데 기여.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재고에 자본화 → 판매될 때까지 자산.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판매 시점에 COGS로 비용화.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72784" y="246888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2784" y="2468880"/>
            <a:ext cx="82296" cy="2286000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7" name="Shape 15"/>
          <p:cNvSpPr/>
          <p:nvPr/>
        </p:nvSpPr>
        <p:spPr>
          <a:xfrm>
            <a:off x="6272784" y="2468880"/>
            <a:ext cx="5486400" cy="420624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246888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아니오 (No) → Period Cost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3072384"/>
            <a:ext cx="50657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 상태와 직접 관련 없음.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발생 시점에 즉시 비용 처리.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Statement에 바로 반영.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29768" y="5029200"/>
            <a:ext cx="11329416" cy="457200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502920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 하나로 갈립니다 — 예이면 제품원가(자산), 아니오이면 기간원가(즉시 비용).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Product Costs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7  ·  Reporting and Analyzing Inventory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판매를 위해 재화를 취득하고 판매 가능한 상태로 준비하는 데 발생한 모든 원가.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377440"/>
            <a:ext cx="30632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377440"/>
            <a:ext cx="82296" cy="301752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2377440"/>
            <a:ext cx="3063240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" y="2377440"/>
            <a:ext cx="2752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Merchandising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" y="2980944"/>
            <a:ext cx="264261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매입가격.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Freight-in (창고까지 운송비).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개봉 및 하역.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운송 중 보험료.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0" y="2377440"/>
            <a:ext cx="30632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0" y="2377440"/>
            <a:ext cx="82296" cy="3017520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0" y="2377440"/>
            <a:ext cx="3063240" cy="420624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8" name="Text 16"/>
          <p:cNvSpPr/>
          <p:nvPr/>
        </p:nvSpPr>
        <p:spPr>
          <a:xfrm>
            <a:off x="3858768" y="2377440"/>
            <a:ext cx="2752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77056" y="2980944"/>
            <a:ext cx="264261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직접재료비.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직접노무비.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제조간접비.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233626" y="2304288"/>
            <a:ext cx="4332811" cy="3163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21" name="Image 0" descr="assets/s11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6778" y="2377440"/>
            <a:ext cx="4186507" cy="301752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429768" y="5541264"/>
            <a:ext cx="11329416" cy="548640"/>
          </a:xfrm>
          <a:prstGeom prst="rect">
            <a:avLst/>
          </a:prstGeom>
          <a:solidFill>
            <a:srgbClr val="E9F5EE"/>
          </a:solidFill>
          <a:ln w="12700">
            <a:solidFill>
              <a:srgbClr val="1E7A4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7512" y="5541264"/>
            <a:ext cx="10853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결과: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원가들은 자본화되어, 판매될 때까지 inventory 계정에 남아 있습니다.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Period Costs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7  ·  Reporting and Analyzing Inventory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취득과 간접적으로만 관련된 원가 — 시간의 경과에 귀속되거나, 재고가 판매 가능한 상태에 도달한 이후 발생.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395728"/>
            <a:ext cx="64008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395728"/>
            <a:ext cx="82296" cy="2926080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2395728"/>
            <a:ext cx="6400800" cy="420624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" y="2395728"/>
            <a:ext cx="6089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Examples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999232"/>
            <a:ext cx="59801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Expenses — 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마케팅, 판매수수료, 고객 배송비.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Expenses — 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임원 급여, 사무용품비.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Costs — 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매입 자금 조달 이자.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54112" y="2322576"/>
            <a:ext cx="2962656" cy="3072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16" name="Image 0" descr="assets/s12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7264" y="2395728"/>
            <a:ext cx="2816352" cy="292608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429768" y="5486400"/>
            <a:ext cx="11329416" cy="566928"/>
          </a:xfrm>
          <a:prstGeom prst="rect">
            <a:avLst/>
          </a:prstGeom>
          <a:solidFill>
            <a:srgbClr val="E9F5EE"/>
          </a:solidFill>
          <a:ln w="12700">
            <a:solidFill>
              <a:srgbClr val="1E7A4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7512" y="5486400"/>
            <a:ext cx="10853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처리: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발생 시점에 비용 처리 — Balance Sheet를 거치지 않고 Income Statement에 즉시 영향.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Product vs. Period Costs — Visualization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7  ·  Reporting and Analyzing Inventory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제품원가는 재고에 자본화되고, 기간원가는 즉시 비용 처리됩니다 — 두 흐름의 비교.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277737" y="2084832"/>
            <a:ext cx="9633478" cy="435254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11" name="Image 0" descr="assets/s13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0889" y="2157984"/>
            <a:ext cx="9487174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Illustration — The Office Depot Printer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7  ·  Reporting and Analyzing Inventory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취득원가는 재고에 자본화되고, 판매 시점의 배송비는 즉시 비용으로 처리됩니다.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286000"/>
            <a:ext cx="5486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286000"/>
            <a:ext cx="82296" cy="182880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2286000"/>
            <a:ext cx="5486400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" y="228600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취득 (Capitalize)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889504"/>
            <a:ext cx="50657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 원가  +  $100 Freight-In  +  $50 보험료.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Inventory 가치:  $650.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72784" y="2286000"/>
            <a:ext cx="5486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2784" y="2286000"/>
            <a:ext cx="82296" cy="1828800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17" name="Shape 15"/>
          <p:cNvSpPr/>
          <p:nvPr/>
        </p:nvSpPr>
        <p:spPr>
          <a:xfrm>
            <a:off x="6272784" y="2286000"/>
            <a:ext cx="5486400" cy="420624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228600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판매 (Expense)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2889504"/>
            <a:ext cx="50657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$650은 COGS로 대체.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 Freight-Out(배송비)는 즉시 selling expense.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29768" y="4261104"/>
            <a:ext cx="11329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취득 → 판매 흐름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56616" y="4517136"/>
            <a:ext cx="1979676" cy="136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22" name="Image 0" descr="assets/s14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4590288"/>
            <a:ext cx="1833372" cy="1219808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2244852" y="4517136"/>
            <a:ext cx="1979676" cy="1560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24" name="Image 1" descr="assets/s14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004" y="4590288"/>
            <a:ext cx="1833372" cy="1414312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4133088" y="4517136"/>
            <a:ext cx="1979676" cy="1464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26" name="Image 2" descr="assets/s14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4590288"/>
            <a:ext cx="1833372" cy="1318688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6021324" y="4517136"/>
            <a:ext cx="1979676" cy="14830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28" name="Image 3" descr="assets/s14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476" y="4590288"/>
            <a:ext cx="1833372" cy="1336764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7909560" y="4517136"/>
            <a:ext cx="1979676" cy="156083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30" name="Image 4" descr="assets/s14_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2712" y="4590288"/>
            <a:ext cx="1833372" cy="1414530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9797796" y="4517136"/>
            <a:ext cx="1979676" cy="144472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32" name="Image 5" descr="assets/s14_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0948" y="4590288"/>
            <a:ext cx="1833372" cy="129842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98064"/>
            <a:ext cx="12191695" cy="502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1031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BASICS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035808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Perpetual vs. Periodic System</a:t>
            </a:r>
            <a:endParaRPr lang="en-US" sz="3700" dirty="0"/>
          </a:p>
        </p:txBody>
      </p:sp>
      <p:sp>
        <p:nvSpPr>
          <p:cNvPr id="6" name="Text 4"/>
          <p:cNvSpPr/>
          <p:nvPr/>
        </p:nvSpPr>
        <p:spPr>
          <a:xfrm>
            <a:off x="1097280" y="4041648"/>
            <a:ext cx="99971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vs 주기적 재고 시스템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Tracking Systems: Periodic vs. Perpetual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7  ·  Reporting and Analyzing Inventory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재고를 추적하는 두 가지 시스템 — 실시간(Perpetual)과 주기적(Periodic).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395728"/>
            <a:ext cx="54864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395728"/>
            <a:ext cx="82296" cy="265176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2395728"/>
            <a:ext cx="5486400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" y="239572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Perpetual System (The Standard)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999232"/>
            <a:ext cx="506577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판매 시점에 실시간으로 갱신.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Inventory가 실시간으로 산출.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통제와 보고 측면에서 우수.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72784" y="2395728"/>
            <a:ext cx="54864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2784" y="2395728"/>
            <a:ext cx="82296" cy="2651760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17" name="Shape 15"/>
          <p:cNvSpPr/>
          <p:nvPr/>
        </p:nvSpPr>
        <p:spPr>
          <a:xfrm>
            <a:off x="6272784" y="2395728"/>
            <a:ext cx="5486400" cy="420624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239572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System (The Old Way)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2999232"/>
            <a:ext cx="506577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기말에만 갱신.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실사(physical count) 전까지 COGS를 알 수 없음.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 Inv + Purchases − Ending Count = COGS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29768" y="5358384"/>
            <a:ext cx="11329416" cy="603504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5358384"/>
            <a:ext cx="10817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Beginning Inventory  +  Net Purchases  =  COGS  +  Ending Inventory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Example — Determining Cost of Goods Sold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7  ·  Reporting and Analyzing Inventory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81328"/>
            <a:ext cx="11329416" cy="548640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7" name="Text 5"/>
          <p:cNvSpPr/>
          <p:nvPr/>
        </p:nvSpPr>
        <p:spPr>
          <a:xfrm>
            <a:off x="429768" y="1481328"/>
            <a:ext cx="11329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Beginning Inventory  +  Net Purchases  =  COGS  +  Ending Inventory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29768" y="2212848"/>
            <a:ext cx="11329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Perpetual System (The Standard)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" y="2505456"/>
          <a:ext cx="11329416" cy="914400"/>
        </p:xfrm>
        <a:graphic>
          <a:graphicData uri="http://schemas.openxmlformats.org/drawingml/2006/table">
            <a:tbl>
              <a:tblPr/>
              <a:tblGrid>
                <a:gridCol w="2880360"/>
                <a:gridCol w="2816352"/>
                <a:gridCol w="2816352"/>
                <a:gridCol w="2816352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 Inv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Purchases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 COGS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End Inv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알려짐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알려짐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기록됨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기록 / 도출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$4,800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$10,200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29768" y="4206240"/>
            <a:ext cx="11329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System (The Old Way)</a:t>
            </a:r>
            <a:endParaRPr lang="en-US" sz="130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" y="4498848"/>
          <a:ext cx="11329416" cy="914400"/>
        </p:xfrm>
        <a:graphic>
          <a:graphicData uri="http://schemas.openxmlformats.org/drawingml/2006/table">
            <a:tbl>
              <a:tblPr/>
              <a:tblGrid>
                <a:gridCol w="2880360"/>
                <a:gridCol w="2816352"/>
                <a:gridCol w="2816352"/>
                <a:gridCol w="2816352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 Inv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Purchases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 End Inv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COGS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알려짐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알려짐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실사(count)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기록 / 도출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$4,800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$10,200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29768" y="5943600"/>
            <a:ext cx="11329416" cy="457200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13" name="Text 9"/>
          <p:cNvSpPr/>
          <p:nvPr/>
        </p:nvSpPr>
        <p:spPr>
          <a:xfrm>
            <a:off x="685800" y="594360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데이터, 같은 답 — Perpetual은 COGS를 기록하고, Periodic은 실사로 도출합니다.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98064"/>
            <a:ext cx="12191695" cy="502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1031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BASICS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035808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Determining Ownership of Inventory</a:t>
            </a:r>
            <a:endParaRPr lang="en-US" sz="3700" dirty="0"/>
          </a:p>
        </p:txBody>
      </p:sp>
      <p:sp>
        <p:nvSpPr>
          <p:cNvPr id="6" name="Text 4"/>
          <p:cNvSpPr/>
          <p:nvPr/>
        </p:nvSpPr>
        <p:spPr>
          <a:xfrm>
            <a:off x="1097280" y="4041648"/>
            <a:ext cx="99971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재고자산의 소유권 판단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Inventory Ownership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7  ·  Reporting and Analyzing Inventory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Inventory는 법적 소유권(legal title)을 보유한 회사에 귀속됩니다.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212848"/>
            <a:ext cx="54864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212848"/>
            <a:ext cx="82296" cy="196596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2212848"/>
            <a:ext cx="5486400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" y="221284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가지 질문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816352"/>
            <a:ext cx="50657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실사에 포함된 모든 재화가 회사에 귀속되는가?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실사에 포함되지 않은 재화 중 회사가 소유한 것이 있는가?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72784" y="2212848"/>
            <a:ext cx="54864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2784" y="2212848"/>
            <a:ext cx="82296" cy="1965960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7" name="Shape 15"/>
          <p:cNvSpPr/>
          <p:nvPr/>
        </p:nvSpPr>
        <p:spPr>
          <a:xfrm>
            <a:off x="6272784" y="2212848"/>
            <a:ext cx="5486400" cy="420624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221284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Consigned Goods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2816352"/>
            <a:ext cx="50657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소유권은 보유자가 아니라 consignor(위탁자)에게 남음.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consignee(수탁자)의 inventory에는 포함하지 말 것.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140535" y="4297680"/>
            <a:ext cx="9907882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21" name="Image 0" descr="assets/s19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3687" y="4370832"/>
            <a:ext cx="9761578" cy="204825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98064"/>
            <a:ext cx="12191695" cy="502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1031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COST METHODS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035808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Costing Methods for COGS &amp; Ending Inventory</a:t>
            </a:r>
            <a:endParaRPr lang="en-US" sz="3700" dirty="0"/>
          </a:p>
        </p:txBody>
      </p:sp>
      <p:sp>
        <p:nvSpPr>
          <p:cNvPr id="6" name="Text 4"/>
          <p:cNvSpPr/>
          <p:nvPr/>
        </p:nvSpPr>
        <p:spPr>
          <a:xfrm>
            <a:off x="1097280" y="4041648"/>
            <a:ext cx="99971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원가흐름 방법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Cost Flow Assumptions to Determine COGS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7  ·  Reporting and Analyzing Inventory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Dilemma — 동일 상품을 서로 다른 시점·가격에 매입했다면, 어느 원가를 판매에 대응시켜야 하는가?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377440"/>
            <a:ext cx="57607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377440"/>
            <a:ext cx="82296" cy="265176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2377440"/>
            <a:ext cx="5760720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" y="2377440"/>
            <a:ext cx="5449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$20에 판매됨 — 이익은 얼마인가?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980944"/>
            <a:ext cx="53400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$20 − $10  =  $10 ?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$20 − $11  =  $9 ?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$20 − $13  =  $7 ?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매입 시점마다 원가가 달라 답이 갈립니다.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32511" y="2304288"/>
            <a:ext cx="5294961" cy="2798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16" name="Image 0" descr="assets/s21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5663" y="2377440"/>
            <a:ext cx="5148657" cy="265176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429768" y="5230368"/>
            <a:ext cx="11329416" cy="457200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18" name="Text 15"/>
          <p:cNvSpPr/>
          <p:nvPr/>
        </p:nvSpPr>
        <p:spPr>
          <a:xfrm>
            <a:off x="685800" y="5230368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실물 흐름 ≠ 원가 흐름 — Specific ID · FIFO · LIFO · Average Cost.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Cost Flow 1 — First-In, First-Out (FIFO)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7  ·  Reporting and Analyzing Inventory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 자전거 가게 개업, 기초재고 0. 아래처럼 매입 후 7대를 판매 — COGS와 Ending Inventory는?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0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" y="2395728"/>
          <a:ext cx="52120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22960"/>
                <a:gridCol w="109728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11/2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12/8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12/20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Goods Avail. for Sale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$1,780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943600" y="2395728"/>
            <a:ext cx="5815584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43600" y="2395728"/>
            <a:ext cx="82296" cy="1536192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3" name="Shape 10"/>
          <p:cNvSpPr/>
          <p:nvPr/>
        </p:nvSpPr>
        <p:spPr>
          <a:xfrm>
            <a:off x="5943600" y="2395728"/>
            <a:ext cx="5815584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4" name="Text 11"/>
          <p:cNvSpPr/>
          <p:nvPr/>
        </p:nvSpPr>
        <p:spPr>
          <a:xfrm>
            <a:off x="6144768" y="2395728"/>
            <a:ext cx="5504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— COGS (7대 판매)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163056" y="2999232"/>
            <a:ext cx="5394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@ $100  =  $500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@ $125  =  $250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units    =  $750   (COGS)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43600" y="4059936"/>
            <a:ext cx="5815584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43600" y="4059936"/>
            <a:ext cx="82296" cy="1536192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18" name="Shape 15"/>
          <p:cNvSpPr/>
          <p:nvPr/>
        </p:nvSpPr>
        <p:spPr>
          <a:xfrm>
            <a:off x="5943600" y="4059936"/>
            <a:ext cx="5815584" cy="420624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19" name="Text 16"/>
          <p:cNvSpPr/>
          <p:nvPr/>
        </p:nvSpPr>
        <p:spPr>
          <a:xfrm>
            <a:off x="6144768" y="4059936"/>
            <a:ext cx="5504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— Ending Inventory (8대)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163056" y="4663440"/>
            <a:ext cx="5394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@ $130  =  $780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@ $125  =  $250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units    =  $1,030   (Ending Inv)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Cost Flow 2 — Last-In, First-Out (LIFO)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7  ·  Reporting and Analyzing Inventory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동일한 매입 내역. LIFO에서는 가장 최근에 매입한 원가를 먼저 판매에 대응시킵니다.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0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" y="2395728"/>
          <a:ext cx="52120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22960"/>
                <a:gridCol w="109728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11/2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12/8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12/20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Goods Avail. for Sale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$1,780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943600" y="2395728"/>
            <a:ext cx="5815584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43600" y="2395728"/>
            <a:ext cx="82296" cy="1536192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13" name="Shape 10"/>
          <p:cNvSpPr/>
          <p:nvPr/>
        </p:nvSpPr>
        <p:spPr>
          <a:xfrm>
            <a:off x="5943600" y="2395728"/>
            <a:ext cx="5815584" cy="420624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14" name="Text 11"/>
          <p:cNvSpPr/>
          <p:nvPr/>
        </p:nvSpPr>
        <p:spPr>
          <a:xfrm>
            <a:off x="6144768" y="2395728"/>
            <a:ext cx="5504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LIFO — COGS (7대 판매)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163056" y="2999232"/>
            <a:ext cx="5394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@ $130  =  $780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@ $125  =  $125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units    =  $905   (COGS)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43600" y="4059936"/>
            <a:ext cx="5815584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43600" y="4059936"/>
            <a:ext cx="82296" cy="1536192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18" name="Shape 15"/>
          <p:cNvSpPr/>
          <p:nvPr/>
        </p:nvSpPr>
        <p:spPr>
          <a:xfrm>
            <a:off x="5943600" y="4059936"/>
            <a:ext cx="5815584" cy="420624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19" name="Text 16"/>
          <p:cNvSpPr/>
          <p:nvPr/>
        </p:nvSpPr>
        <p:spPr>
          <a:xfrm>
            <a:off x="6144768" y="4059936"/>
            <a:ext cx="5504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LIFO — Ending Inventory (8대)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163056" y="4663440"/>
            <a:ext cx="5394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@ $100  =  $500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@ $125  =  $375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units    =  $875   (Ending Inv)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Cost Flow 3 — Weighted Average Cost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7  ·  Reporting and Analyzing Inventory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동일한 매입 내역. 평균법은 판매가능재고 전체의 단위당 평균 원가를 사용합니다.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0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" y="2395728"/>
          <a:ext cx="52120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22960"/>
                <a:gridCol w="109728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11/2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12/8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12/20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Goods Avail. for Sale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$1,780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943600" y="2395728"/>
            <a:ext cx="5815584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43600" y="2395728"/>
            <a:ext cx="82296" cy="1371600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3" name="Shape 10"/>
          <p:cNvSpPr/>
          <p:nvPr/>
        </p:nvSpPr>
        <p:spPr>
          <a:xfrm>
            <a:off x="5943600" y="2395728"/>
            <a:ext cx="5815584" cy="420624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4" name="Text 11"/>
          <p:cNvSpPr/>
          <p:nvPr/>
        </p:nvSpPr>
        <p:spPr>
          <a:xfrm>
            <a:off x="6144768" y="2395728"/>
            <a:ext cx="5504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원가 (Average Unit Cost)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163056" y="2999232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판매가능재고액 ÷ 판매가능 수량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$1,780 ÷ 15  =  $118.67 / bike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43600" y="3895344"/>
            <a:ext cx="5815584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43600" y="3895344"/>
            <a:ext cx="82296" cy="1700784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18" name="Shape 15"/>
          <p:cNvSpPr/>
          <p:nvPr/>
        </p:nvSpPr>
        <p:spPr>
          <a:xfrm>
            <a:off x="5943600" y="3895344"/>
            <a:ext cx="5815584" cy="420624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19" name="Text 16"/>
          <p:cNvSpPr/>
          <p:nvPr/>
        </p:nvSpPr>
        <p:spPr>
          <a:xfrm>
            <a:off x="6144768" y="3895344"/>
            <a:ext cx="5504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COGS &amp; Ending Inventory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163056" y="4498848"/>
            <a:ext cx="53949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COGS:  7 @ $118.67  =  $831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Inv:  8 × $118.67  =  $949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Effect of Cost Flow Assumptions on F/S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7  ·  Reporting and Analyzing Inventory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물가 상승기 — LIFO는 net income이 가장 낮아 법인세 부담도 가장 낮습니다.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0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" y="2212848"/>
          <a:ext cx="11329416" cy="914400"/>
        </p:xfrm>
        <a:graphic>
          <a:graphicData uri="http://schemas.openxmlformats.org/drawingml/2006/table">
            <a:tbl>
              <a:tblPr/>
              <a:tblGrid>
                <a:gridCol w="4142232"/>
                <a:gridCol w="2395728"/>
                <a:gridCol w="2395728"/>
                <a:gridCol w="2395728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FIFO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of Goods Sold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7,500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8,307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9,050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Profit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12,500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11,693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10,950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&amp; Selling Exp.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7,700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7,700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7,700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 before Taxes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4,800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3,993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 Tax Expense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Income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A4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$3,840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A4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$3,193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A4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$2,600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A4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 (Year-End)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$10,300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$9,493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$8,750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98064"/>
            <a:ext cx="12191695" cy="502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1031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VALUATION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035808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Inventory Valuation after Purchase</a:t>
            </a:r>
            <a:endParaRPr lang="en-US" sz="3700" dirty="0"/>
          </a:p>
        </p:txBody>
      </p:sp>
      <p:sp>
        <p:nvSpPr>
          <p:cNvPr id="6" name="Text 4"/>
          <p:cNvSpPr/>
          <p:nvPr/>
        </p:nvSpPr>
        <p:spPr>
          <a:xfrm>
            <a:off x="1097280" y="4041648"/>
            <a:ext cx="99971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취득 후 재고자산 평가</a:t>
            </a:r>
            <a:endParaRPr lang="en-US" sz="14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Problem — Obsolete Inventory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7  ·  Reporting and Analyzing Inventory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사례 연구: MTP, Inc. — 30년간 타자기·팩스를 판매, 1990년대 후반 기술 발전으로 진부화.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286000"/>
            <a:ext cx="353872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286000"/>
            <a:ext cx="3538728" cy="82296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" y="2560320"/>
            <a:ext cx="3355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$300,000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521208" y="3511296"/>
            <a:ext cx="3355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장부상 Inventory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325112" y="2286000"/>
            <a:ext cx="353872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25112" y="2286000"/>
            <a:ext cx="3538728" cy="82296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16" name="Text 14"/>
          <p:cNvSpPr/>
          <p:nvPr/>
        </p:nvSpPr>
        <p:spPr>
          <a:xfrm>
            <a:off x="4416552" y="2560320"/>
            <a:ext cx="3355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9A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$100,000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4416552" y="3511296"/>
            <a:ext cx="3355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시장가치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220456" y="2286000"/>
            <a:ext cx="353872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0456" y="2286000"/>
            <a:ext cx="3538728" cy="82296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0" name="Text 18"/>
          <p:cNvSpPr/>
          <p:nvPr/>
        </p:nvSpPr>
        <p:spPr>
          <a:xfrm>
            <a:off x="8311896" y="2560320"/>
            <a:ext cx="3355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$200,000</a:t>
            </a:r>
            <a:endParaRPr lang="en-US" sz="4600" dirty="0"/>
          </a:p>
        </p:txBody>
      </p:sp>
      <p:sp>
        <p:nvSpPr>
          <p:cNvPr id="21" name="Text 19"/>
          <p:cNvSpPr/>
          <p:nvPr/>
        </p:nvSpPr>
        <p:spPr>
          <a:xfrm>
            <a:off x="8311896" y="3511296"/>
            <a:ext cx="3355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즉시 인식할 손실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29768" y="4315968"/>
            <a:ext cx="54864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9768" y="4315968"/>
            <a:ext cx="82296" cy="173736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24" name="Shape 22"/>
          <p:cNvSpPr/>
          <p:nvPr/>
        </p:nvSpPr>
        <p:spPr>
          <a:xfrm>
            <a:off x="429768" y="4315968"/>
            <a:ext cx="5486400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" y="431596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회계 처리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9224" y="4919472"/>
            <a:ext cx="50657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B/S에 무엇을 보고해야 하는가?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inventory를 $100,000로 보고.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$200,000의 손실을 즉시 인식.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272784" y="4315968"/>
            <a:ext cx="54864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72784" y="4315968"/>
            <a:ext cx="82296" cy="1737360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9" name="Shape 27"/>
          <p:cNvSpPr/>
          <p:nvPr/>
        </p:nvSpPr>
        <p:spPr>
          <a:xfrm>
            <a:off x="6272784" y="4315968"/>
            <a:ext cx="5486400" cy="420624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30" name="Text 28"/>
          <p:cNvSpPr/>
          <p:nvPr/>
        </p:nvSpPr>
        <p:spPr>
          <a:xfrm>
            <a:off x="6473952" y="431596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Entry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492240" y="4919472"/>
            <a:ext cx="50657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Loss on Inventory Write-down   $200,000 ↑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Cr. Inventory                          $200,000 ↓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Accounting Conservatism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7  ·  Reporting and Analyzing Inventory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— 손실은 즉시 인식하고, 이익은 실현될 때까지 이연합니다.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395728"/>
            <a:ext cx="54864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395728"/>
            <a:ext cx="82296" cy="2468880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2395728"/>
            <a:ext cx="5486400" cy="420624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" y="239572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LOSSES — 즉시 인식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999232"/>
            <a:ext cx="50657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손실이 확인되는 시점에 인식.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inventory를 감액.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statement에 손실 기록.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72784" y="2395728"/>
            <a:ext cx="54864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2784" y="2395728"/>
            <a:ext cx="82296" cy="2468880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17" name="Shape 15"/>
          <p:cNvSpPr/>
          <p:nvPr/>
        </p:nvSpPr>
        <p:spPr>
          <a:xfrm>
            <a:off x="6272784" y="2395728"/>
            <a:ext cx="5486400" cy="420624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239572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GAINS — 실현 시 이연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2999232"/>
            <a:ext cx="50657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판매 시점까지 이연.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inventory를 증액하지 않음.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판매가 이루어질 때까지 대기.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29768" y="5084064"/>
            <a:ext cx="11329416" cy="566928"/>
          </a:xfrm>
          <a:prstGeom prst="rect">
            <a:avLst/>
          </a:prstGeom>
          <a:solidFill>
            <a:srgbClr val="E9F5EE"/>
          </a:solidFill>
          <a:ln w="12700">
            <a:solidFill>
              <a:srgbClr val="1E7A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5084064"/>
            <a:ext cx="10853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자산과 이익의 과대계상을 방지하여 투자자와 채권자를 보호하기 위함.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Market Value Increases — IFRS vs. U.S. GAAP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7  ·  Reporting and Analyzing Inventory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— 타자기가 갑자기 인기! 시장가치가 $400,000로 급등하면?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6616" y="2139696"/>
            <a:ext cx="3895344" cy="3771367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11" name="Image 0" descr="assets/s29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2212848"/>
            <a:ext cx="3749040" cy="3625063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443984" y="2212848"/>
            <a:ext cx="35661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43984" y="2212848"/>
            <a:ext cx="82296" cy="4023360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4" name="Shape 11"/>
          <p:cNvSpPr/>
          <p:nvPr/>
        </p:nvSpPr>
        <p:spPr>
          <a:xfrm>
            <a:off x="4443984" y="2212848"/>
            <a:ext cx="3566160" cy="420624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5" name="Text 12"/>
          <p:cNvSpPr/>
          <p:nvPr/>
        </p:nvSpPr>
        <p:spPr>
          <a:xfrm>
            <a:off x="4645152" y="2212848"/>
            <a:ext cx="3255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IFRS — 환입 허용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663440" y="2816352"/>
            <a:ext cx="314553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감액을 환입(reversal) 가능.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단, 최초 원가 $300,000까지만.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$300,000를 초과할 수 없음.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$200,000의 이익을 인식.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193024" y="2212848"/>
            <a:ext cx="35661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193024" y="2212848"/>
            <a:ext cx="82296" cy="4023360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19" name="Shape 16"/>
          <p:cNvSpPr/>
          <p:nvPr/>
        </p:nvSpPr>
        <p:spPr>
          <a:xfrm>
            <a:off x="8193024" y="2212848"/>
            <a:ext cx="3566160" cy="420624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20" name="Text 17"/>
          <p:cNvSpPr/>
          <p:nvPr/>
        </p:nvSpPr>
        <p:spPr>
          <a:xfrm>
            <a:off x="8394192" y="2212848"/>
            <a:ext cx="3255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GAAP — 조치 없음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412480" y="2816352"/>
            <a:ext cx="314553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환입 불가 — 아무 조치 없음.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Inventory는 $100,000로 유지.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감액은 영구적임.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판매 시점에만 이익 인식.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LCNRV Rule (Lower of Cost or NRV)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7  ·  Reporting and Analyzing Inventory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inventory를 Cost와 NRV 중 더 낮은 금액으로 보고합니다.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194560"/>
            <a:ext cx="11329416" cy="603504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" y="2194560"/>
            <a:ext cx="113294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NRV  =  Selling Price  −  Cost to Complete  −  Selling Costs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429768" y="3054096"/>
            <a:ext cx="5486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" y="3054096"/>
            <a:ext cx="82296" cy="192024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4" name="Shape 12"/>
          <p:cNvSpPr/>
          <p:nvPr/>
        </p:nvSpPr>
        <p:spPr>
          <a:xfrm>
            <a:off x="429768" y="3054096"/>
            <a:ext cx="5486400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" y="3054096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Cost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9224" y="3657600"/>
            <a:ext cx="50657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최초에 지급한 금액 (취득원가).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실제로 자산에 투입한 원가.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72784" y="3054096"/>
            <a:ext cx="5486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2784" y="3054096"/>
            <a:ext cx="82296" cy="1920240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9" name="Shape 17"/>
          <p:cNvSpPr/>
          <p:nvPr/>
        </p:nvSpPr>
        <p:spPr>
          <a:xfrm>
            <a:off x="6272784" y="3054096"/>
            <a:ext cx="5486400" cy="420624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20" name="Text 18"/>
          <p:cNvSpPr/>
          <p:nvPr/>
        </p:nvSpPr>
        <p:spPr>
          <a:xfrm>
            <a:off x="6473952" y="3054096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Net Realizable Value (NRV)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92240" y="3657600"/>
            <a:ext cx="50657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예상 판매가격에서 완성원가와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판매비용을 차감한 금액.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실제로 손에 들어오는 금액.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29768" y="5175504"/>
            <a:ext cx="11329416" cy="548640"/>
          </a:xfrm>
          <a:prstGeom prst="rect">
            <a:avLst/>
          </a:prstGeom>
          <a:solidFill>
            <a:srgbClr val="E9F5EE"/>
          </a:solidFill>
          <a:ln w="12700">
            <a:solidFill>
              <a:srgbClr val="1E7A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5175504"/>
            <a:ext cx="10853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의사결정: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vs NRV 를 비교하여 더 낮은 금액으로 보고합니다.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LCNRV Example — Starbucks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7  ·  Reporting and Analyzing Inventory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미완성 재고에 저가법을 적용 — Cost와 NRV 중 더 낮은 금액으로 보고.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286000"/>
            <a:ext cx="353872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286000"/>
            <a:ext cx="82296" cy="237744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2286000"/>
            <a:ext cx="353872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" y="2286000"/>
            <a:ext cx="3227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889504"/>
            <a:ext cx="31181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Cost:  $950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Selling Price:  $1,000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Complete:  $50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Costs:  $200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25112" y="2286000"/>
            <a:ext cx="353872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25112" y="2286000"/>
            <a:ext cx="82296" cy="2377440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7" name="Shape 15"/>
          <p:cNvSpPr/>
          <p:nvPr/>
        </p:nvSpPr>
        <p:spPr>
          <a:xfrm>
            <a:off x="4325112" y="2286000"/>
            <a:ext cx="3538728" cy="420624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2286000"/>
            <a:ext cx="3227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NRV 계산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44568" y="2889504"/>
            <a:ext cx="31181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Price:  $1,000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Cost to Complete:  ($50)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Selling Costs:  ($200)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NRV:  $750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0456" y="2286000"/>
            <a:ext cx="353872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0456" y="2286000"/>
            <a:ext cx="3538728" cy="82296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22" name="Text 20"/>
          <p:cNvSpPr/>
          <p:nvPr/>
        </p:nvSpPr>
        <p:spPr>
          <a:xfrm>
            <a:off x="8311896" y="2560320"/>
            <a:ext cx="3355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$750</a:t>
            </a:r>
            <a:endParaRPr lang="en-US" sz="4600" dirty="0"/>
          </a:p>
        </p:txBody>
      </p:sp>
      <p:sp>
        <p:nvSpPr>
          <p:cNvPr id="23" name="Text 21"/>
          <p:cNvSpPr/>
          <p:nvPr/>
        </p:nvSpPr>
        <p:spPr>
          <a:xfrm>
            <a:off x="8311896" y="3511296"/>
            <a:ext cx="3355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 금액 (NRV)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357616" y="3840480"/>
            <a:ext cx="3264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$950  &gt;  NRV $750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9768" y="4937760"/>
            <a:ext cx="11329416" cy="566928"/>
          </a:xfrm>
          <a:prstGeom prst="rect">
            <a:avLst/>
          </a:prstGeom>
          <a:solidFill>
            <a:srgbClr val="FCEDEC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" y="4937760"/>
            <a:ext cx="10853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Entry: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Loss Due to Decline in Inventory  $200 ↑      Cr. Inventory  $200 ↓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Concept Check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7  ·  Reporting and Analyzing Inventory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감액 후 NRV가 상승하면, IFRS는 U.S. GAAP과 어떻게 다른가?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395728"/>
            <a:ext cx="1132941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395728"/>
            <a:ext cx="603504" cy="658368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" y="2395728"/>
            <a:ext cx="603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252728" y="2395728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IFRS도 환입을 금지한다.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9768" y="3127248"/>
            <a:ext cx="1132941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" y="3127248"/>
            <a:ext cx="603504" cy="658368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" y="3127248"/>
            <a:ext cx="603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252728" y="3127248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IFRS는 최초 원가를 한도로 환입을 허용한다.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29768" y="3858768"/>
            <a:ext cx="1132941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9768" y="3858768"/>
            <a:ext cx="603504" cy="658368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20" name="Text 18"/>
          <p:cNvSpPr/>
          <p:nvPr/>
        </p:nvSpPr>
        <p:spPr>
          <a:xfrm>
            <a:off x="429768" y="3858768"/>
            <a:ext cx="603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252728" y="3858768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IFRS는 무제한 상향 재평가를 허용한다.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29768" y="4590288"/>
            <a:ext cx="1132941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9768" y="4590288"/>
            <a:ext cx="603504" cy="658368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24" name="Text 22"/>
          <p:cNvSpPr/>
          <p:nvPr/>
        </p:nvSpPr>
        <p:spPr>
          <a:xfrm>
            <a:off x="429768" y="4590288"/>
            <a:ext cx="603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252728" y="4590288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IFRS는 원가를 초과하는 이익의 즉시 인식을 요구한다.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29768" y="5340096"/>
            <a:ext cx="11329416" cy="457200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5340096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정답:  ____      (수업 중 공개)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98064"/>
            <a:ext cx="12191695" cy="502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1031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VALUATION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035808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Inventory Analysis Ratios</a:t>
            </a:r>
            <a:endParaRPr lang="en-US" sz="3700" dirty="0"/>
          </a:p>
        </p:txBody>
      </p:sp>
      <p:sp>
        <p:nvSpPr>
          <p:cNvPr id="6" name="Text 4"/>
          <p:cNvSpPr/>
          <p:nvPr/>
        </p:nvSpPr>
        <p:spPr>
          <a:xfrm>
            <a:off x="1097280" y="4041648"/>
            <a:ext cx="99971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재고자산 분석 비율</a:t>
            </a:r>
            <a:endParaRPr lang="en-US" sz="14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Inventory Management Ratios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7  ·  Reporting and Analyzing Inventory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 효율성을 측정하는 두 비율 — Inventory Turnover와 Days in Inventory.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286000"/>
            <a:ext cx="54864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286000"/>
            <a:ext cx="82296" cy="196596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2286000"/>
            <a:ext cx="5486400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" y="228600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Turnover Ratio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889504"/>
            <a:ext cx="50657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COGS ÷ Average Inventory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해당 기간 동안 inventory가 판매된 횟수.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Inventory = (Beginning + Ending) ÷ 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72784" y="2286000"/>
            <a:ext cx="54864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2784" y="2286000"/>
            <a:ext cx="82296" cy="1965960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7" name="Shape 15"/>
          <p:cNvSpPr/>
          <p:nvPr/>
        </p:nvSpPr>
        <p:spPr>
          <a:xfrm>
            <a:off x="6272784" y="2286000"/>
            <a:ext cx="5486400" cy="420624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228600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in Inventory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2889504"/>
            <a:ext cx="50657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365 ÷ Inventory Turnover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판매까지의 평균 일수.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(= 평균 재고 보유기간)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29768" y="4443984"/>
            <a:ext cx="6126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9768" y="4443984"/>
            <a:ext cx="82296" cy="1691640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22" name="Shape 20"/>
          <p:cNvSpPr/>
          <p:nvPr/>
        </p:nvSpPr>
        <p:spPr>
          <a:xfrm>
            <a:off x="429768" y="4443984"/>
            <a:ext cx="6126480" cy="420624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" y="4443984"/>
            <a:ext cx="581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계산 예시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9224" y="5047488"/>
            <a:ext cx="57058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COGS $80,000  ·  Beg $14,000  ·  End $18,000.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Inventory = ($14K + $18K) ÷ 2 = $16,000.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 = 80,000 / 16,000 = 5회  ·  Days = 365 / 5 = 73일.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766560" y="4443984"/>
            <a:ext cx="23317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0" y="4443984"/>
            <a:ext cx="2331720" cy="82296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0" y="4718304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5회</a:t>
            </a:r>
            <a:endParaRPr lang="en-US" sz="4600" dirty="0"/>
          </a:p>
        </p:txBody>
      </p:sp>
      <p:sp>
        <p:nvSpPr>
          <p:cNvPr id="28" name="Text 26"/>
          <p:cNvSpPr/>
          <p:nvPr/>
        </p:nvSpPr>
        <p:spPr>
          <a:xfrm>
            <a:off x="6858000" y="566928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 (연)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326880" y="4443984"/>
            <a:ext cx="2432304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326880" y="4443984"/>
            <a:ext cx="2432304" cy="82296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31" name="Text 29"/>
          <p:cNvSpPr/>
          <p:nvPr/>
        </p:nvSpPr>
        <p:spPr>
          <a:xfrm>
            <a:off x="9418320" y="4718304"/>
            <a:ext cx="22494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73일</a:t>
            </a:r>
            <a:endParaRPr lang="en-US" sz="4600" dirty="0"/>
          </a:p>
        </p:txBody>
      </p:sp>
      <p:sp>
        <p:nvSpPr>
          <p:cNvPr id="32" name="Text 30"/>
          <p:cNvSpPr/>
          <p:nvPr/>
        </p:nvSpPr>
        <p:spPr>
          <a:xfrm>
            <a:off x="9418320" y="5669280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in Inventory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Interpreting the Ratios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7  ·  Reporting and Analyzing Inventory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— 적정 균형점: 수요를 충족할 만큼 보유하되, 비용이 쌓일 만큼 과다 보유하지 않기.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395728"/>
            <a:ext cx="54864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395728"/>
            <a:ext cx="82296" cy="3017520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2395728"/>
            <a:ext cx="5486400" cy="420624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" y="239572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Turnover (낮은 Days)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999232"/>
            <a:ext cx="506577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효율적인 재고 관리.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우수한 판매 실적.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낮은 보유 비용.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위험: 재고 부족과 판매 기회 상실.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72784" y="2395728"/>
            <a:ext cx="54864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2784" y="2395728"/>
            <a:ext cx="82296" cy="3017520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17" name="Shape 15"/>
          <p:cNvSpPr/>
          <p:nvPr/>
        </p:nvSpPr>
        <p:spPr>
          <a:xfrm>
            <a:off x="6272784" y="2395728"/>
            <a:ext cx="5486400" cy="420624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239572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Turnover (높은 Days)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2999232"/>
            <a:ext cx="506577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과다한 재고 보유.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높은 보관비와 보험료.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진부화·손상 위험.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재고에 현금이 묶임.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29768" y="5669280"/>
            <a:ext cx="11329416" cy="457200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566928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높은 회전율은 효율을, 낮은 회전율은 위험을 시사합니다 — 균형이 핵심입니다.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017520"/>
            <a:ext cx="12191695" cy="502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304288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CHAPTER 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255264"/>
            <a:ext cx="10728655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Reporting and Analyzing Inventory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재고자산의 보고와 분석  ·  분류 → 원가흐름 가정 → 저가법 · 회전율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6126480"/>
            <a:ext cx="107286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Financial Accounting   |   KAIST College of Business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Introduction to Financial Accounting · KAIST College of Business</dc:subject>
  <dc:creator/>
  <cp:lastModifiedBy/>
  <cp:revision>1</cp:revision>
  <dcterms:created xsi:type="dcterms:W3CDTF">2026-07-24T14:08:27Z</dcterms:created>
  <dcterms:modified xsi:type="dcterms:W3CDTF">2026-07-24T14:08:27Z</dcterms:modified>
</cp:coreProperties>
</file>