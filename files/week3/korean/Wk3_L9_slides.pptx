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재무비율 분석: 수직·수평 분석 → 투자수익률(ROE·ROA·ROFL·DuPont) → 유동성·지급능력 → 운전자본 → 비율의 한계 → 핵심 영업활동 분석(RNOA).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standardise size with ratios, decompose profitability, efficiency and leverage, then isolate the operating engine (RNOA) from 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identifies relationships and trends over time and against peers. Investors gauge risk and growth; creditors gauge repayment; managers monitor and decide. First understand the business context: life cycle, competitive position, capital structure, regulation.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Common-size statements express each line as a percent of a base (Net Sales for the income statement, Total Assets for the balance sheet), enabling comparison across firms of different sizes and analysis of cost and asset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Horizontal analysis compares data across periods. Dollar change = current − prior; percent change = (current − prior)/prior. Always read the two together — a small base can distort the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ROE measures how effectively a firm generates profit on shareholder capital. Buffett favours high ROE with low/moderate debt, since leverage can inflate ROE. Use average equity (beginning + ending)/2 when pairing a balance-sheet figure with an income-statement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De-levered ROA adds after-tax interest back so the ratio reflects pure asset performance, independent of financing. Interest is a finance cost, not an operational flaw; removing it lets us compare firms with different capital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ROA includes financing effects; de-levered ROA strips them out. The illustration shows two firms with identical operations but different debt reaching the same $195 de-levered net income after adding back after-tax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ROFL = ROE − ROA isolates the share of ROE that comes from leverage rather than operations. PepsiCo 2020: ROE 50.5%, de-levered ROA 9.5%, so ROFL ≈ 41%. Positive ROFL means leverage helps; negative means debt costs exceed benefits; higher ROFL amplifies both gains and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 = profit margin × asset turnover. Firms hit the same ROA with different mixes: high-margin/low-volume (utilities) vs low-margin/high-volume (retail). Moving along an iso-ROA curve is a strategy change; moving to a higher curve is genuine operating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 splits into gross profit margin (pricing and production efficiency) and expense-to-sales (SG&amp;A, R&amp;D, marketing). For PepsiCo 2020, GPM 54.8% and ETS 40.5%. Of each sales dollar, 55c survives production and 41c is spent on operating expenses, leaving about 2c of net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 = profit margin × asset turnover. PM (earnings/sales) captures profitability, driven by gross profit and operating expenses; AT (sales/avg assets) captures efficiency, driven by inventory, receivables and asset intensity. ROA rises with stronger margins or better asset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DuPont model decomposes ROE into profitability (profit margin), efficiency (asset turnover) and financing (financial leverage). ROE rises with any of the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DuPont tree traces ROE down to its drivers, helping identify whether performance comes from operations or financial structure. Its limitation: using net income (not earnings without interest) means leverage affects both margin and ROE, so pure operating performance is hard to isolate — yet it remains a simple, widely used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ROE = ROA + ROFL: an operating engine plus a financing engine. Debt lifts ROE through the interest tax shield, its lower cost versus equity, and the leverage effect of earning more without issuing new shares.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Leverage helps when ROA exceeds the interest rate (10% vs 4%): 50% debt lifts ROE from 10% to 16%. It hurts when ROA is below the rate (3% vs 4%): the same 50% debt drags ROE from 3% down to 2%. Leverage amplifies both gains and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Leverage amplifies volatility, not just returns. Its costs: default risk (missing interest or principal, breaching covenants), amplification of losses in downturns, and — ultimately — bankruptcy that can wipe out equity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Firms with predictable cash flows can safely carry more debt; those relying on innovation and intangibles should lean on equity for flexibility. Capital structure should fit the business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Liquidity asks whether short-term obligations can be met. Current ratio (&gt;1 means positive working capital), quick ratio (excludes inventory), OCF-to-CL (can operations cover current liabilities), and cash burn rate (how fast cash depletes). Too little liquidity risks default; too much is inefficient.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Solvency asks whether long-term obligations can be met. D/E (total liabilities/equity) shows reliance on debt; TIE ((operating income + interest)/interest) shows how comfortably operating profit covers interest. Strong solvency means low credit risk and future borrowing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Altman Z-Score weights five ratios (liquidity, long-run profitability, efficiency, capital health, asset turnover) into a single bankruptcy-risk score. Z&gt;3 is safe, 1.8-3.0 is the gray zone, below 1.8 signals distress. Originally 95% accurate one year before failure and still widely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Traditionally, working capital (current assets − current liabilities) is a liquidity measure: a positive value signals short-term solvency and operating stability. But this is only one lens — the next slide reframes it as a funding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Reframed: working capital is the long-term financing needed to sustain current operations. Net current assets (e.g. $191bn − $179bn = $12bn) is the part of current assets not funded by suppliers/current liabilities, so the firm must cover that gap with equity or long-term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cycles with a lag: pay for inventory now, collect from customers later. The longer the collection cycle, the more working-capital financing the business must carry to bridge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working capital (CL &gt; CA) is usually read as a liquidity risk. Remedies: sell non-current assets or raise long-term capital. But Walmart (CA $62bn vs CL $77bn, net $15bn negative) funds operations with supplier capital — an efficient model, not necessarily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working capital signals liquidity but excess ties up capital in low-return assets. Working capital is also a funding requirement — long-term capital to run operations. Negative working capital can pressure liquidity yet be efficient for some models (Walmart). The sign alone does not determine good or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GAAP includes only reliably measurable items, so intangibles like brand and talent are excluded and assets are understated — which can overstate ROA. Value-adding costs (R&amp;D, advertising) are expensed, not capitalized, further understating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Assets are recorded at historical cost, so cost-based ratios miss current market values — especially for long-held real estate. Ratios can shift because of accounting rules rather than performance. Example: land bought for $1M twenty years ago may be worth $10M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Comparability suffers from company changes (M&amp;A, divestitures), conglomerate effects (consolidated statements mask segment risk), and timing (seasonality, life cycle). Amazon blends e-commerce, AWS, advertising and entertainment, so consolidated ratios mix very different margins — segment analysis is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Ratios compress complex operations into single numbers but miss qualitative factors. They CAN show trends, peer position, concern areas and quick screens; they CANNOT reveal management quality, strategy, innovation, brand or morale. Use ratios as a starting point, not the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financial data has structural limits (GAAP excludes intangibles), working capital is a funding requirement not just a liquidity check, and ratios are a means to an end that cannot capture management, innovation or strategy. True insight lives in the gap between the numbers and the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firm runs on two engines: operating activities create value (sales, production, R&amp;D, marketing — the primary driver) and nonoperating activities finance it (debt management, investments — secondary). RNOA isolates the operating engine so performance is not blended with 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RNOA = NOPAT ÷ average NOA. It measures the return generated by operations alone, ties it to the capital actually invested in operations, and removes financing distortions. Where ROE mixes operations and financing, RNOA shows the operating engine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NOPAT starts from net income and strips out everything nonoperating. Keep operating items (sales, COGS, SG&amp;A, R&amp;D, depreciation); remove nonoperating items (interest income, interest expense, investment gains/losses). NOPAT is what the business would earn with no debt and no investment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NOPAT = net income − (nonoperating revenues − nonoperating expenses) × (1 − tax rate). Remove nonoperating revenues (interest/investment income) and add back nonoperating expenses (interest on debt). In effect we add back the after-tax cost of debt to see what the firm would report with no 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PepsiCo 2020 inputs (in $ millions): net income $7,175; nonoperating revenues $117; nonoperating expenses $1,128; effective tax rate 25%. The goal is to judge core operating efficiency separately from capital structure, so we convert net income to NOPAT and total assets to NOA.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After-tax nonoperating net = ($117 − $1,128) × (1 − 0.25) = −$758.3. NOPAT = $7,175.0 − (−$758.3) = $7,933.3M. NOPAT exceeds net income because removing the interest 'drag' reveals the operating profit attributable to all capital providers, debt and equity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NOA splits the balance sheet into what actually runs the business. Operating assets (cash, receivables, inventory, PP&amp;E, intangibles) minus operating liabilities (payables, accrued expenses, employee benefits) equal NOA. Nonoperating items (investments, marketable securities, debt, equity) are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PepsiCo NOA = total operating assets $91,059 − operating liabilities $35,216 = $55,843M. This $55.8 billion is the equity and debt capital actually invested in PepsiCo's plant, inventory and brands — the capital the operating engine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RNOA = NOPAT $7,933.3 ÷ average NOA $51,082.5 = 15.5%. Average NOA = ($55,843 + $46,322)/2. PepsiCo earns 15.5 cents of after-tax operating profit for every dollar invested in core operations — strong operating efficiency, measured independently of 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PepsiCo's RNOA is 15.5% but ROE is 50.5% — a 35-point gap created by financial leverage, not by selling more product. Judge the business itself with RNOA and the capital structure with ROE.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(1) distinguish operating from nonoperating; (2) adjust income to NOPAT by removing interest and investment gains/losses; (3) adjust capital to NOA by isolating working capital and PP&amp;E; (4) interpret managers with RNOA and capital structure with ROE. RNOA asks how good the business is; ROE asks how good it is once financing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page. Operating activities are the heart of value creation; distinguishing them, adjusting to NOPAT and NOA, and interpreting RNOA vs. ROE moves us from reading statements to understanding the business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6B"/>
        </a:solidFill>
      </p:bgPr>
    </p:bg>
    <p:spTree>
      <p:nvGrpSpPr>
        <p:cNvPr id="1" name=""/>
        <p:cNvGrpSpPr/>
        <p:nvPr/>
      </p:nvGrpSpPr>
      <p:grpSpPr>
        <a:xfrm>
          <a:off x="0" y="0"/>
          <a:ext cx="0" cy="0"/>
          <a:chOff x="0" y="0"/>
          <a:chExt cx="0" cy="0"/>
        </a:xfrm>
      </p:grpSpPr>
      <p:pic>
        <p:nvPicPr>
          <p:cNvPr id="2" name="Image 0" descr="../kaist_type_two_kit/kaist_title.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4224528"/>
            <a:ext cx="12191695" cy="2633472"/>
          </a:xfrm>
          <a:prstGeom prst="rect">
            <a:avLst/>
          </a:prstGeom>
          <a:solidFill>
            <a:srgbClr val="14306B">
              <a:alpha val="88000"/>
            </a:srgbClr>
          </a:solidFill>
          <a:ln/>
        </p:spPr>
      </p:sp>
      <p:sp>
        <p:nvSpPr>
          <p:cNvPr id="4" name="Shape 1"/>
          <p:cNvSpPr/>
          <p:nvPr/>
        </p:nvSpPr>
        <p:spPr>
          <a:xfrm>
            <a:off x="822960" y="4224528"/>
            <a:ext cx="2011680" cy="54864"/>
          </a:xfrm>
          <a:prstGeom prst="rect">
            <a:avLst/>
          </a:prstGeom>
          <a:solidFill>
            <a:srgbClr val="FFFFFF"/>
          </a:solidFill>
          <a:ln/>
        </p:spPr>
      </p:sp>
      <p:sp>
        <p:nvSpPr>
          <p:cNvPr id="5" name="Text 2"/>
          <p:cNvSpPr/>
          <p:nvPr/>
        </p:nvSpPr>
        <p:spPr>
          <a:xfrm>
            <a:off x="822960" y="4443984"/>
            <a:ext cx="7315200" cy="329184"/>
          </a:xfrm>
          <a:prstGeom prst="rect">
            <a:avLst/>
          </a:prstGeom>
          <a:noFill/>
          <a:ln/>
        </p:spPr>
        <p:txBody>
          <a:bodyPr wrap="square" rtlCol="0" anchor="ctr"/>
          <a:lstStyle/>
          <a:p>
            <a:pPr indent="0" marL="0">
              <a:buNone/>
            </a:pPr>
            <a:r>
              <a:rPr lang="en-US" sz="1500" b="1" spc="400" kern="0" dirty="0">
                <a:solidFill>
                  <a:srgbClr val="FFFFFF"/>
                </a:solidFill>
                <a:latin typeface="Calibri" pitchFamily="34" charset="0"/>
                <a:ea typeface="Calibri" pitchFamily="34" charset="-122"/>
                <a:cs typeface="Calibri" pitchFamily="34" charset="-120"/>
              </a:rPr>
              <a:t>CHAPTER 5</a:t>
            </a:r>
            <a:endParaRPr lang="en-US" sz="1500" dirty="0"/>
          </a:p>
        </p:txBody>
      </p:sp>
      <p:sp>
        <p:nvSpPr>
          <p:cNvPr id="6" name="Text 3"/>
          <p:cNvSpPr/>
          <p:nvPr/>
        </p:nvSpPr>
        <p:spPr>
          <a:xfrm>
            <a:off x="822960" y="4791456"/>
            <a:ext cx="10607040" cy="841248"/>
          </a:xfrm>
          <a:prstGeom prst="rect">
            <a:avLst/>
          </a:prstGeom>
          <a:noFill/>
          <a:ln/>
        </p:spPr>
        <p:txBody>
          <a:bodyPr wrap="square" rtlCol="0" anchor="ctr"/>
          <a:lstStyle/>
          <a:p>
            <a:pPr indent="0" marL="0">
              <a:buNone/>
            </a:pPr>
            <a:r>
              <a:rPr lang="en-US" sz="4000" b="1" dirty="0">
                <a:solidFill>
                  <a:srgbClr val="FFFFFF"/>
                </a:solidFill>
                <a:latin typeface="Calibri Light" pitchFamily="34" charset="0"/>
                <a:ea typeface="Calibri Light" pitchFamily="34" charset="-122"/>
                <a:cs typeface="Calibri Light" pitchFamily="34" charset="-120"/>
              </a:rPr>
              <a:t>Financial Statement Analysis: Ratios</a:t>
            </a:r>
            <a:endParaRPr lang="en-US" sz="4000" dirty="0"/>
          </a:p>
        </p:txBody>
      </p:sp>
      <p:sp>
        <p:nvSpPr>
          <p:cNvPr id="7" name="Text 4"/>
          <p:cNvSpPr/>
          <p:nvPr/>
        </p:nvSpPr>
        <p:spPr>
          <a:xfrm>
            <a:off x="822960" y="5632704"/>
            <a:ext cx="10607040" cy="365760"/>
          </a:xfrm>
          <a:prstGeom prst="rect">
            <a:avLst/>
          </a:prstGeom>
          <a:noFill/>
          <a:ln/>
        </p:spPr>
        <p:txBody>
          <a:bodyPr wrap="square" rtlCol="0" anchor="ctr"/>
          <a:lstStyle/>
          <a:p>
            <a:pPr indent="0" marL="0">
              <a:buNone/>
            </a:pPr>
            <a:r>
              <a:rPr lang="en-US" sz="1500" dirty="0">
                <a:solidFill>
                  <a:srgbClr val="C8D6F0"/>
                </a:solidFill>
                <a:latin typeface="Calibri" pitchFamily="34" charset="0"/>
                <a:ea typeface="Calibri" pitchFamily="34" charset="-122"/>
                <a:cs typeface="Calibri" pitchFamily="34" charset="-120"/>
              </a:rPr>
              <a:t>재무비율 분석  ·  수직·수평 분석부터 RNOA까지</a:t>
            </a:r>
            <a:endParaRPr lang="en-US" sz="1500" dirty="0"/>
          </a:p>
        </p:txBody>
      </p:sp>
      <p:sp>
        <p:nvSpPr>
          <p:cNvPr id="8" name="Text 5"/>
          <p:cNvSpPr/>
          <p:nvPr/>
        </p:nvSpPr>
        <p:spPr>
          <a:xfrm>
            <a:off x="822960" y="6144768"/>
            <a:ext cx="10607040" cy="310896"/>
          </a:xfrm>
          <a:prstGeom prst="rect">
            <a:avLst/>
          </a:prstGeom>
          <a:noFill/>
          <a:ln/>
        </p:spPr>
        <p:txBody>
          <a:bodyPr wrap="square" rtlCol="0" anchor="ctr"/>
          <a:lstStyle/>
          <a:p>
            <a:pPr indent="0" marL="0">
              <a:buNone/>
            </a:pPr>
            <a:r>
              <a:rPr lang="en-US" sz="1250" dirty="0">
                <a:solidFill>
                  <a:srgbClr val="9FB4DC"/>
                </a:solidFill>
                <a:latin typeface="Calibri" pitchFamily="34" charset="0"/>
                <a:ea typeface="Calibri" pitchFamily="34" charset="-122"/>
                <a:cs typeface="Calibri" pitchFamily="34" charset="-120"/>
              </a:rPr>
              <a:t>Financial Statement Analysis   |   KAIST College of Business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Table of Contents  ·  목차</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a:t>
            </a:r>
            <a:endParaRPr lang="en-US" sz="1050" dirty="0"/>
          </a:p>
        </p:txBody>
      </p:sp>
      <p:sp>
        <p:nvSpPr>
          <p:cNvPr id="6" name="Text 4"/>
          <p:cNvSpPr/>
          <p:nvPr/>
        </p:nvSpPr>
        <p:spPr>
          <a:xfrm>
            <a:off x="429768" y="1389888"/>
            <a:ext cx="5486400" cy="274320"/>
          </a:xfrm>
          <a:prstGeom prst="rect">
            <a:avLst/>
          </a:prstGeom>
          <a:noFill/>
          <a:ln/>
        </p:spPr>
        <p:txBody>
          <a:bodyPr wrap="square" rtlCol="0" anchor="ctr"/>
          <a:lstStyle/>
          <a:p>
            <a:pPr indent="0" marL="0">
              <a:buNone/>
            </a:pPr>
            <a:r>
              <a:rPr lang="en-US" sz="1100" b="1" spc="300" kern="0" dirty="0">
                <a:solidFill>
                  <a:srgbClr val="5A6474"/>
                </a:solidFill>
                <a:latin typeface="Calibri" pitchFamily="34" charset="0"/>
                <a:ea typeface="Calibri" pitchFamily="34" charset="-122"/>
                <a:cs typeface="Calibri" pitchFamily="34" charset="-120"/>
              </a:rPr>
              <a:t>LECTURE TOPICS</a:t>
            </a:r>
            <a:endParaRPr lang="en-US" sz="1100" dirty="0"/>
          </a:p>
        </p:txBody>
      </p:sp>
      <p:sp>
        <p:nvSpPr>
          <p:cNvPr id="7" name="Shape 5"/>
          <p:cNvSpPr/>
          <p:nvPr/>
        </p:nvSpPr>
        <p:spPr>
          <a:xfrm>
            <a:off x="429768" y="1737360"/>
            <a:ext cx="11329416" cy="566928"/>
          </a:xfrm>
          <a:prstGeom prst="rect">
            <a:avLst/>
          </a:prstGeom>
          <a:solidFill>
            <a:srgbClr val="FFFFFF"/>
          </a:solidFill>
          <a:ln w="12700">
            <a:solidFill>
              <a:srgbClr val="DCE3EE"/>
            </a:solidFill>
            <a:prstDash val="solid"/>
          </a:ln>
        </p:spPr>
      </p:sp>
      <p:sp>
        <p:nvSpPr>
          <p:cNvPr id="8" name="Shape 6"/>
          <p:cNvSpPr/>
          <p:nvPr/>
        </p:nvSpPr>
        <p:spPr>
          <a:xfrm>
            <a:off x="429768" y="1737360"/>
            <a:ext cx="82296" cy="566928"/>
          </a:xfrm>
          <a:prstGeom prst="rect">
            <a:avLst/>
          </a:prstGeom>
          <a:solidFill>
            <a:srgbClr val="1F4899"/>
          </a:solidFill>
          <a:ln/>
        </p:spPr>
      </p:sp>
      <p:sp>
        <p:nvSpPr>
          <p:cNvPr id="9" name="Shape 7"/>
          <p:cNvSpPr/>
          <p:nvPr/>
        </p:nvSpPr>
        <p:spPr>
          <a:xfrm>
            <a:off x="841248" y="1828800"/>
            <a:ext cx="384048" cy="384048"/>
          </a:xfrm>
          <a:prstGeom prst="ellipse">
            <a:avLst/>
          </a:prstGeom>
          <a:solidFill>
            <a:srgbClr val="1F4899"/>
          </a:solidFill>
          <a:ln/>
        </p:spPr>
      </p:sp>
      <p:sp>
        <p:nvSpPr>
          <p:cNvPr id="10" name="Text 8"/>
          <p:cNvSpPr/>
          <p:nvPr/>
        </p:nvSpPr>
        <p:spPr>
          <a:xfrm>
            <a:off x="841248" y="182880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1" name="Text 9"/>
          <p:cNvSpPr/>
          <p:nvPr/>
        </p:nvSpPr>
        <p:spPr>
          <a:xfrm>
            <a:off x="1417320" y="1737360"/>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Vertical &amp; Horizontal Analysis  ·  수직·수평 분석</a:t>
            </a:r>
            <a:endParaRPr lang="en-US" sz="1400" dirty="0"/>
          </a:p>
        </p:txBody>
      </p:sp>
      <p:sp>
        <p:nvSpPr>
          <p:cNvPr id="12" name="Text 10"/>
          <p:cNvSpPr/>
          <p:nvPr/>
        </p:nvSpPr>
        <p:spPr>
          <a:xfrm>
            <a:off x="9692640" y="1737360"/>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PART 1</a:t>
            </a:r>
            <a:endParaRPr lang="en-US" sz="1100" dirty="0"/>
          </a:p>
        </p:txBody>
      </p:sp>
      <p:sp>
        <p:nvSpPr>
          <p:cNvPr id="13" name="Shape 11"/>
          <p:cNvSpPr/>
          <p:nvPr/>
        </p:nvSpPr>
        <p:spPr>
          <a:xfrm>
            <a:off x="429768" y="2359152"/>
            <a:ext cx="11329416" cy="566928"/>
          </a:xfrm>
          <a:prstGeom prst="rect">
            <a:avLst/>
          </a:prstGeom>
          <a:solidFill>
            <a:srgbClr val="FFFFFF"/>
          </a:solidFill>
          <a:ln w="12700">
            <a:solidFill>
              <a:srgbClr val="DCE3EE"/>
            </a:solidFill>
            <a:prstDash val="solid"/>
          </a:ln>
        </p:spPr>
      </p:sp>
      <p:sp>
        <p:nvSpPr>
          <p:cNvPr id="14" name="Shape 12"/>
          <p:cNvSpPr/>
          <p:nvPr/>
        </p:nvSpPr>
        <p:spPr>
          <a:xfrm>
            <a:off x="429768" y="2359152"/>
            <a:ext cx="82296" cy="566928"/>
          </a:xfrm>
          <a:prstGeom prst="rect">
            <a:avLst/>
          </a:prstGeom>
          <a:solidFill>
            <a:srgbClr val="0F6E7A"/>
          </a:solidFill>
          <a:ln/>
        </p:spPr>
      </p:sp>
      <p:sp>
        <p:nvSpPr>
          <p:cNvPr id="15" name="Shape 13"/>
          <p:cNvSpPr/>
          <p:nvPr/>
        </p:nvSpPr>
        <p:spPr>
          <a:xfrm>
            <a:off x="841248" y="2450592"/>
            <a:ext cx="384048" cy="384048"/>
          </a:xfrm>
          <a:prstGeom prst="ellipse">
            <a:avLst/>
          </a:prstGeom>
          <a:solidFill>
            <a:srgbClr val="0F6E7A"/>
          </a:solidFill>
          <a:ln/>
        </p:spPr>
      </p:sp>
      <p:sp>
        <p:nvSpPr>
          <p:cNvPr id="16" name="Text 14"/>
          <p:cNvSpPr/>
          <p:nvPr/>
        </p:nvSpPr>
        <p:spPr>
          <a:xfrm>
            <a:off x="841248" y="2450592"/>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7" name="Text 15"/>
          <p:cNvSpPr/>
          <p:nvPr/>
        </p:nvSpPr>
        <p:spPr>
          <a:xfrm>
            <a:off x="1417320" y="2359152"/>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Return on Investment  ·  ROE · ROA · ROFL · DuPont</a:t>
            </a:r>
            <a:endParaRPr lang="en-US" sz="1400" dirty="0"/>
          </a:p>
        </p:txBody>
      </p:sp>
      <p:sp>
        <p:nvSpPr>
          <p:cNvPr id="18" name="Text 16"/>
          <p:cNvSpPr/>
          <p:nvPr/>
        </p:nvSpPr>
        <p:spPr>
          <a:xfrm>
            <a:off x="9692640" y="2359152"/>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PART 2</a:t>
            </a:r>
            <a:endParaRPr lang="en-US" sz="1100" dirty="0"/>
          </a:p>
        </p:txBody>
      </p:sp>
      <p:sp>
        <p:nvSpPr>
          <p:cNvPr id="19" name="Shape 17"/>
          <p:cNvSpPr/>
          <p:nvPr/>
        </p:nvSpPr>
        <p:spPr>
          <a:xfrm>
            <a:off x="429768" y="2980944"/>
            <a:ext cx="11329416" cy="566928"/>
          </a:xfrm>
          <a:prstGeom prst="rect">
            <a:avLst/>
          </a:prstGeom>
          <a:solidFill>
            <a:srgbClr val="FFFFFF"/>
          </a:solidFill>
          <a:ln w="12700">
            <a:solidFill>
              <a:srgbClr val="DCE3EE"/>
            </a:solidFill>
            <a:prstDash val="solid"/>
          </a:ln>
        </p:spPr>
      </p:sp>
      <p:sp>
        <p:nvSpPr>
          <p:cNvPr id="20" name="Shape 18"/>
          <p:cNvSpPr/>
          <p:nvPr/>
        </p:nvSpPr>
        <p:spPr>
          <a:xfrm>
            <a:off x="429768" y="2980944"/>
            <a:ext cx="82296" cy="566928"/>
          </a:xfrm>
          <a:prstGeom prst="rect">
            <a:avLst/>
          </a:prstGeom>
          <a:solidFill>
            <a:srgbClr val="9A6600"/>
          </a:solidFill>
          <a:ln/>
        </p:spPr>
      </p:sp>
      <p:sp>
        <p:nvSpPr>
          <p:cNvPr id="21" name="Shape 19"/>
          <p:cNvSpPr/>
          <p:nvPr/>
        </p:nvSpPr>
        <p:spPr>
          <a:xfrm>
            <a:off x="841248" y="3072384"/>
            <a:ext cx="384048" cy="384048"/>
          </a:xfrm>
          <a:prstGeom prst="ellipse">
            <a:avLst/>
          </a:prstGeom>
          <a:solidFill>
            <a:srgbClr val="9A6600"/>
          </a:solidFill>
          <a:ln/>
        </p:spPr>
      </p:sp>
      <p:sp>
        <p:nvSpPr>
          <p:cNvPr id="22" name="Text 20"/>
          <p:cNvSpPr/>
          <p:nvPr/>
        </p:nvSpPr>
        <p:spPr>
          <a:xfrm>
            <a:off x="841248" y="3072384"/>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23" name="Text 21"/>
          <p:cNvSpPr/>
          <p:nvPr/>
        </p:nvSpPr>
        <p:spPr>
          <a:xfrm>
            <a:off x="1417320" y="2980944"/>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Liquidity &amp; Solvency  ·  유동성·지급능력</a:t>
            </a:r>
            <a:endParaRPr lang="en-US" sz="1400" dirty="0"/>
          </a:p>
        </p:txBody>
      </p:sp>
      <p:sp>
        <p:nvSpPr>
          <p:cNvPr id="24" name="Text 22"/>
          <p:cNvSpPr/>
          <p:nvPr/>
        </p:nvSpPr>
        <p:spPr>
          <a:xfrm>
            <a:off x="9692640" y="2980944"/>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PART 3</a:t>
            </a:r>
            <a:endParaRPr lang="en-US" sz="1100" dirty="0"/>
          </a:p>
        </p:txBody>
      </p:sp>
      <p:sp>
        <p:nvSpPr>
          <p:cNvPr id="25" name="Shape 23"/>
          <p:cNvSpPr/>
          <p:nvPr/>
        </p:nvSpPr>
        <p:spPr>
          <a:xfrm>
            <a:off x="429768" y="3602736"/>
            <a:ext cx="11329416" cy="566928"/>
          </a:xfrm>
          <a:prstGeom prst="rect">
            <a:avLst/>
          </a:prstGeom>
          <a:solidFill>
            <a:srgbClr val="FFFFFF"/>
          </a:solidFill>
          <a:ln w="12700">
            <a:solidFill>
              <a:srgbClr val="DCE3EE"/>
            </a:solidFill>
            <a:prstDash val="solid"/>
          </a:ln>
        </p:spPr>
      </p:sp>
      <p:sp>
        <p:nvSpPr>
          <p:cNvPr id="26" name="Shape 24"/>
          <p:cNvSpPr/>
          <p:nvPr/>
        </p:nvSpPr>
        <p:spPr>
          <a:xfrm>
            <a:off x="429768" y="3602736"/>
            <a:ext cx="82296" cy="566928"/>
          </a:xfrm>
          <a:prstGeom prst="rect">
            <a:avLst/>
          </a:prstGeom>
          <a:solidFill>
            <a:srgbClr val="1E7A4C"/>
          </a:solidFill>
          <a:ln/>
        </p:spPr>
      </p:sp>
      <p:sp>
        <p:nvSpPr>
          <p:cNvPr id="27" name="Shape 25"/>
          <p:cNvSpPr/>
          <p:nvPr/>
        </p:nvSpPr>
        <p:spPr>
          <a:xfrm>
            <a:off x="841248" y="3694176"/>
            <a:ext cx="384048" cy="384048"/>
          </a:xfrm>
          <a:prstGeom prst="ellipse">
            <a:avLst/>
          </a:prstGeom>
          <a:solidFill>
            <a:srgbClr val="1E7A4C"/>
          </a:solidFill>
          <a:ln/>
        </p:spPr>
      </p:sp>
      <p:sp>
        <p:nvSpPr>
          <p:cNvPr id="28" name="Text 26"/>
          <p:cNvSpPr/>
          <p:nvPr/>
        </p:nvSpPr>
        <p:spPr>
          <a:xfrm>
            <a:off x="841248" y="3694176"/>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t>
            </a:r>
            <a:endParaRPr lang="en-US" sz="1250" dirty="0"/>
          </a:p>
        </p:txBody>
      </p:sp>
      <p:sp>
        <p:nvSpPr>
          <p:cNvPr id="29" name="Text 27"/>
          <p:cNvSpPr/>
          <p:nvPr/>
        </p:nvSpPr>
        <p:spPr>
          <a:xfrm>
            <a:off x="1417320" y="3602736"/>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Working Capital  ·  Altman Z-Score  ·  운전자본</a:t>
            </a:r>
            <a:endParaRPr lang="en-US" sz="1400" dirty="0"/>
          </a:p>
        </p:txBody>
      </p:sp>
      <p:sp>
        <p:nvSpPr>
          <p:cNvPr id="30" name="Text 28"/>
          <p:cNvSpPr/>
          <p:nvPr/>
        </p:nvSpPr>
        <p:spPr>
          <a:xfrm>
            <a:off x="9692640" y="3602736"/>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PART 3</a:t>
            </a:r>
            <a:endParaRPr lang="en-US" sz="1100" dirty="0"/>
          </a:p>
        </p:txBody>
      </p:sp>
      <p:sp>
        <p:nvSpPr>
          <p:cNvPr id="31" name="Shape 29"/>
          <p:cNvSpPr/>
          <p:nvPr/>
        </p:nvSpPr>
        <p:spPr>
          <a:xfrm>
            <a:off x="429768" y="4224528"/>
            <a:ext cx="11329416" cy="566928"/>
          </a:xfrm>
          <a:prstGeom prst="rect">
            <a:avLst/>
          </a:prstGeom>
          <a:solidFill>
            <a:srgbClr val="FFFFFF"/>
          </a:solidFill>
          <a:ln w="12700">
            <a:solidFill>
              <a:srgbClr val="DCE3EE"/>
            </a:solidFill>
            <a:prstDash val="solid"/>
          </a:ln>
        </p:spPr>
      </p:sp>
      <p:sp>
        <p:nvSpPr>
          <p:cNvPr id="32" name="Shape 30"/>
          <p:cNvSpPr/>
          <p:nvPr/>
        </p:nvSpPr>
        <p:spPr>
          <a:xfrm>
            <a:off x="429768" y="4224528"/>
            <a:ext cx="82296" cy="566928"/>
          </a:xfrm>
          <a:prstGeom prst="rect">
            <a:avLst/>
          </a:prstGeom>
          <a:solidFill>
            <a:srgbClr val="1F4899"/>
          </a:solidFill>
          <a:ln/>
        </p:spPr>
      </p:sp>
      <p:sp>
        <p:nvSpPr>
          <p:cNvPr id="33" name="Shape 31"/>
          <p:cNvSpPr/>
          <p:nvPr/>
        </p:nvSpPr>
        <p:spPr>
          <a:xfrm>
            <a:off x="841248" y="4315968"/>
            <a:ext cx="384048" cy="384048"/>
          </a:xfrm>
          <a:prstGeom prst="ellipse">
            <a:avLst/>
          </a:prstGeom>
          <a:solidFill>
            <a:srgbClr val="1F4899"/>
          </a:solidFill>
          <a:ln/>
        </p:spPr>
      </p:sp>
      <p:sp>
        <p:nvSpPr>
          <p:cNvPr id="34" name="Text 32"/>
          <p:cNvSpPr/>
          <p:nvPr/>
        </p:nvSpPr>
        <p:spPr>
          <a:xfrm>
            <a:off x="841248" y="4315968"/>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t>
            </a:r>
            <a:endParaRPr lang="en-US" sz="1250" dirty="0"/>
          </a:p>
        </p:txBody>
      </p:sp>
      <p:sp>
        <p:nvSpPr>
          <p:cNvPr id="35" name="Text 33"/>
          <p:cNvSpPr/>
          <p:nvPr/>
        </p:nvSpPr>
        <p:spPr>
          <a:xfrm>
            <a:off x="1417320" y="4224528"/>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Limitations of Ratio Analysis  ·  비율 분석의 한계</a:t>
            </a:r>
            <a:endParaRPr lang="en-US" sz="1400" dirty="0"/>
          </a:p>
        </p:txBody>
      </p:sp>
      <p:sp>
        <p:nvSpPr>
          <p:cNvPr id="36" name="Text 34"/>
          <p:cNvSpPr/>
          <p:nvPr/>
        </p:nvSpPr>
        <p:spPr>
          <a:xfrm>
            <a:off x="9692640" y="4224528"/>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EXTRA</a:t>
            </a:r>
            <a:endParaRPr lang="en-US" sz="1100" dirty="0"/>
          </a:p>
        </p:txBody>
      </p:sp>
      <p:sp>
        <p:nvSpPr>
          <p:cNvPr id="37" name="Shape 35"/>
          <p:cNvSpPr/>
          <p:nvPr/>
        </p:nvSpPr>
        <p:spPr>
          <a:xfrm>
            <a:off x="429768" y="4846320"/>
            <a:ext cx="11329416" cy="566928"/>
          </a:xfrm>
          <a:prstGeom prst="rect">
            <a:avLst/>
          </a:prstGeom>
          <a:solidFill>
            <a:srgbClr val="FFFFFF"/>
          </a:solidFill>
          <a:ln w="12700">
            <a:solidFill>
              <a:srgbClr val="DCE3EE"/>
            </a:solidFill>
            <a:prstDash val="solid"/>
          </a:ln>
        </p:spPr>
      </p:sp>
      <p:sp>
        <p:nvSpPr>
          <p:cNvPr id="38" name="Shape 36"/>
          <p:cNvSpPr/>
          <p:nvPr/>
        </p:nvSpPr>
        <p:spPr>
          <a:xfrm>
            <a:off x="429768" y="4846320"/>
            <a:ext cx="82296" cy="566928"/>
          </a:xfrm>
          <a:prstGeom prst="rect">
            <a:avLst/>
          </a:prstGeom>
          <a:solidFill>
            <a:srgbClr val="0F6E7A"/>
          </a:solidFill>
          <a:ln/>
        </p:spPr>
      </p:sp>
      <p:sp>
        <p:nvSpPr>
          <p:cNvPr id="39" name="Shape 37"/>
          <p:cNvSpPr/>
          <p:nvPr/>
        </p:nvSpPr>
        <p:spPr>
          <a:xfrm>
            <a:off x="841248" y="4937760"/>
            <a:ext cx="384048" cy="384048"/>
          </a:xfrm>
          <a:prstGeom prst="ellipse">
            <a:avLst/>
          </a:prstGeom>
          <a:solidFill>
            <a:srgbClr val="0F6E7A"/>
          </a:solidFill>
          <a:ln/>
        </p:spPr>
      </p:sp>
      <p:sp>
        <p:nvSpPr>
          <p:cNvPr id="40" name="Text 38"/>
          <p:cNvSpPr/>
          <p:nvPr/>
        </p:nvSpPr>
        <p:spPr>
          <a:xfrm>
            <a:off x="841248" y="493776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a:t>
            </a:r>
            <a:endParaRPr lang="en-US" sz="1250" dirty="0"/>
          </a:p>
        </p:txBody>
      </p:sp>
      <p:sp>
        <p:nvSpPr>
          <p:cNvPr id="41" name="Text 39"/>
          <p:cNvSpPr/>
          <p:nvPr/>
        </p:nvSpPr>
        <p:spPr>
          <a:xfrm>
            <a:off x="1417320" y="4846320"/>
            <a:ext cx="8092440" cy="56692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Core Operating Activities  ·  RNOA (NOPAT ÷ NOA)</a:t>
            </a:r>
            <a:endParaRPr lang="en-US" sz="1400" dirty="0"/>
          </a:p>
        </p:txBody>
      </p:sp>
      <p:sp>
        <p:nvSpPr>
          <p:cNvPr id="42" name="Text 40"/>
          <p:cNvSpPr/>
          <p:nvPr/>
        </p:nvSpPr>
        <p:spPr>
          <a:xfrm>
            <a:off x="9692640" y="4846320"/>
            <a:ext cx="1920240" cy="566928"/>
          </a:xfrm>
          <a:prstGeom prst="rect">
            <a:avLst/>
          </a:prstGeom>
          <a:noFill/>
          <a:ln/>
        </p:spPr>
        <p:txBody>
          <a:bodyPr wrap="square" lIns="0" tIns="0" rIns="0" bIns="0" rtlCol="0" anchor="ctr"/>
          <a:lstStyle/>
          <a:p>
            <a:pPr algn="r" indent="0" marL="0">
              <a:buNone/>
            </a:pPr>
            <a:r>
              <a:rPr lang="en-US" sz="1100" dirty="0">
                <a:solidFill>
                  <a:srgbClr val="5A6474"/>
                </a:solidFill>
                <a:latin typeface="Calibri" pitchFamily="34" charset="0"/>
                <a:ea typeface="Calibri" pitchFamily="34" charset="-122"/>
                <a:cs typeface="Calibri" pitchFamily="34" charset="-120"/>
              </a:rPr>
              <a:t>EXTRA</a:t>
            </a:r>
            <a:endParaRPr lang="en-US" sz="1100" dirty="0"/>
          </a:p>
        </p:txBody>
      </p:sp>
      <p:sp>
        <p:nvSpPr>
          <p:cNvPr id="43" name="Shape 41"/>
          <p:cNvSpPr/>
          <p:nvPr/>
        </p:nvSpPr>
        <p:spPr>
          <a:xfrm>
            <a:off x="429768" y="5522976"/>
            <a:ext cx="11329416" cy="457200"/>
          </a:xfrm>
          <a:prstGeom prst="rect">
            <a:avLst/>
          </a:prstGeom>
          <a:solidFill>
            <a:srgbClr val="EAF0FB"/>
          </a:solidFill>
          <a:ln w="12700">
            <a:solidFill>
              <a:srgbClr val="1F4899"/>
            </a:solidFill>
            <a:prstDash val="solid"/>
          </a:ln>
        </p:spPr>
      </p:sp>
      <p:sp>
        <p:nvSpPr>
          <p:cNvPr id="44" name="Text 42"/>
          <p:cNvSpPr/>
          <p:nvPr/>
        </p:nvSpPr>
        <p:spPr>
          <a:xfrm>
            <a:off x="667512" y="5522976"/>
            <a:ext cx="10853928" cy="457200"/>
          </a:xfrm>
          <a:prstGeom prst="rect">
            <a:avLst/>
          </a:prstGeom>
          <a:noFill/>
          <a:ln/>
        </p:spPr>
        <p:txBody>
          <a:bodyPr wrap="square" lIns="0" tIns="0" rIns="0" bIns="0" rtlCol="0" anchor="ctr"/>
          <a:lstStyle/>
          <a:p>
            <a:pPr indent="0" marL="0">
              <a:lnSpc>
                <a:spcPct val="100000"/>
              </a:lnSpc>
              <a:buNone/>
            </a:pPr>
            <a:r>
              <a:rPr lang="en-US" sz="1300" b="1" dirty="0">
                <a:solidFill>
                  <a:srgbClr val="1A1A1A"/>
                </a:solidFill>
                <a:latin typeface="Calibri" pitchFamily="34" charset="0"/>
                <a:ea typeface="Calibri" pitchFamily="34" charset="-122"/>
                <a:cs typeface="Calibri" pitchFamily="34" charset="-120"/>
              </a:rPr>
              <a:t>핵심 흐름: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비율로 규모를 표준화하고 → 수익성·효율성·레버리지를 분해하고 → 영업 엔진(RNOA)을 자금조달과 분리해 해석.</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1</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Vertical &amp; Horizontal Analysis</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수직·수평 분석  ·  Common-Size &amp; Trend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What is Financial Statement Analysis?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재무제표 내의 관계와 추세를 파악하고, 시간의 흐름에 따라 그리고 동종기업·산업 평균과 비교하여 분석합니다.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1</a:t>
            </a:r>
            <a:endParaRPr lang="en-US" sz="1050" dirty="0"/>
          </a:p>
        </p:txBody>
      </p:sp>
      <p:sp>
        <p:nvSpPr>
          <p:cNvPr id="10" name="Shape 8"/>
          <p:cNvSpPr/>
          <p:nvPr/>
        </p:nvSpPr>
        <p:spPr>
          <a:xfrm>
            <a:off x="429768" y="2487168"/>
            <a:ext cx="3538728" cy="1847088"/>
          </a:xfrm>
          <a:prstGeom prst="rect">
            <a:avLst/>
          </a:prstGeom>
          <a:solidFill>
            <a:srgbClr val="FFFFFF"/>
          </a:solidFill>
          <a:ln w="12700">
            <a:solidFill>
              <a:srgbClr val="DCE3EE"/>
            </a:solidFill>
            <a:prstDash val="solid"/>
          </a:ln>
        </p:spPr>
      </p:sp>
      <p:sp>
        <p:nvSpPr>
          <p:cNvPr id="11" name="Shape 9"/>
          <p:cNvSpPr/>
          <p:nvPr/>
        </p:nvSpPr>
        <p:spPr>
          <a:xfrm>
            <a:off x="429768" y="2487168"/>
            <a:ext cx="82296" cy="1847088"/>
          </a:xfrm>
          <a:prstGeom prst="rect">
            <a:avLst/>
          </a:prstGeom>
          <a:solidFill>
            <a:srgbClr val="1F4899"/>
          </a:solidFill>
          <a:ln/>
        </p:spPr>
      </p:sp>
      <p:sp>
        <p:nvSpPr>
          <p:cNvPr id="12" name="Shape 10"/>
          <p:cNvSpPr/>
          <p:nvPr/>
        </p:nvSpPr>
        <p:spPr>
          <a:xfrm>
            <a:off x="1933956" y="2212848"/>
            <a:ext cx="530352" cy="530352"/>
          </a:xfrm>
          <a:prstGeom prst="ellipse">
            <a:avLst/>
          </a:prstGeom>
          <a:solidFill>
            <a:srgbClr val="1F4899"/>
          </a:solidFill>
          <a:ln/>
        </p:spPr>
      </p:sp>
      <p:sp>
        <p:nvSpPr>
          <p:cNvPr id="13" name="Text 11"/>
          <p:cNvSpPr/>
          <p:nvPr/>
        </p:nvSpPr>
        <p:spPr>
          <a:xfrm>
            <a:off x="1933956"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4" name="Text 12"/>
          <p:cNvSpPr/>
          <p:nvPr/>
        </p:nvSpPr>
        <p:spPr>
          <a:xfrm>
            <a:off x="612648" y="2889504"/>
            <a:ext cx="3172968" cy="365760"/>
          </a:xfrm>
          <a:prstGeom prst="rect">
            <a:avLst/>
          </a:prstGeom>
          <a:noFill/>
          <a:ln/>
        </p:spPr>
        <p:txBody>
          <a:bodyPr wrap="square" lIns="0" tIns="0" rIns="0" bIns="0" rtlCol="0" anchor="ctr"/>
          <a:lstStyle/>
          <a:p>
            <a:pPr algn="ctr" indent="0" marL="0">
              <a:buNone/>
            </a:pPr>
            <a:r>
              <a:rPr lang="en-US" sz="1600" b="1" dirty="0">
                <a:solidFill>
                  <a:srgbClr val="1F4899"/>
                </a:solidFill>
                <a:latin typeface="Calibri" pitchFamily="34" charset="0"/>
                <a:ea typeface="Calibri" pitchFamily="34" charset="-122"/>
                <a:cs typeface="Calibri" pitchFamily="34" charset="-120"/>
              </a:rPr>
              <a:t>Investors</a:t>
            </a:r>
            <a:endParaRPr lang="en-US" sz="1600" dirty="0"/>
          </a:p>
        </p:txBody>
      </p:sp>
      <p:sp>
        <p:nvSpPr>
          <p:cNvPr id="15" name="Text 13"/>
          <p:cNvSpPr/>
          <p:nvPr/>
        </p:nvSpPr>
        <p:spPr>
          <a:xfrm>
            <a:off x="685800" y="3310128"/>
            <a:ext cx="3026664" cy="91440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투자 위험과</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성장 잠재력 평가</a:t>
            </a:r>
            <a:endParaRPr lang="en-US" sz="1250" dirty="0"/>
          </a:p>
        </p:txBody>
      </p:sp>
      <p:sp>
        <p:nvSpPr>
          <p:cNvPr id="16" name="Shape 14"/>
          <p:cNvSpPr/>
          <p:nvPr/>
        </p:nvSpPr>
        <p:spPr>
          <a:xfrm>
            <a:off x="4325112" y="2487168"/>
            <a:ext cx="3538728" cy="1847088"/>
          </a:xfrm>
          <a:prstGeom prst="rect">
            <a:avLst/>
          </a:prstGeom>
          <a:solidFill>
            <a:srgbClr val="FFFFFF"/>
          </a:solidFill>
          <a:ln w="12700">
            <a:solidFill>
              <a:srgbClr val="DCE3EE"/>
            </a:solidFill>
            <a:prstDash val="solid"/>
          </a:ln>
        </p:spPr>
      </p:sp>
      <p:sp>
        <p:nvSpPr>
          <p:cNvPr id="17" name="Shape 15"/>
          <p:cNvSpPr/>
          <p:nvPr/>
        </p:nvSpPr>
        <p:spPr>
          <a:xfrm>
            <a:off x="4325112" y="2487168"/>
            <a:ext cx="82296" cy="1847088"/>
          </a:xfrm>
          <a:prstGeom prst="rect">
            <a:avLst/>
          </a:prstGeom>
          <a:solidFill>
            <a:srgbClr val="0F6E7A"/>
          </a:solidFill>
          <a:ln/>
        </p:spPr>
      </p:sp>
      <p:sp>
        <p:nvSpPr>
          <p:cNvPr id="18" name="Shape 16"/>
          <p:cNvSpPr/>
          <p:nvPr/>
        </p:nvSpPr>
        <p:spPr>
          <a:xfrm>
            <a:off x="5829300" y="2212848"/>
            <a:ext cx="530352" cy="530352"/>
          </a:xfrm>
          <a:prstGeom prst="ellipse">
            <a:avLst/>
          </a:prstGeom>
          <a:solidFill>
            <a:srgbClr val="0F6E7A"/>
          </a:solidFill>
          <a:ln/>
        </p:spPr>
      </p:sp>
      <p:sp>
        <p:nvSpPr>
          <p:cNvPr id="19" name="Text 17"/>
          <p:cNvSpPr/>
          <p:nvPr/>
        </p:nvSpPr>
        <p:spPr>
          <a:xfrm>
            <a:off x="5829300"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0" name="Text 18"/>
          <p:cNvSpPr/>
          <p:nvPr/>
        </p:nvSpPr>
        <p:spPr>
          <a:xfrm>
            <a:off x="4507992" y="2889504"/>
            <a:ext cx="3172968" cy="365760"/>
          </a:xfrm>
          <a:prstGeom prst="rect">
            <a:avLst/>
          </a:prstGeom>
          <a:noFill/>
          <a:ln/>
        </p:spPr>
        <p:txBody>
          <a:bodyPr wrap="square" lIns="0" tIns="0" rIns="0" bIns="0" rtlCol="0" anchor="ctr"/>
          <a:lstStyle/>
          <a:p>
            <a:pPr algn="ctr" indent="0" marL="0">
              <a:buNone/>
            </a:pPr>
            <a:r>
              <a:rPr lang="en-US" sz="1600" b="1" dirty="0">
                <a:solidFill>
                  <a:srgbClr val="0F6E7A"/>
                </a:solidFill>
                <a:latin typeface="Calibri" pitchFamily="34" charset="0"/>
                <a:ea typeface="Calibri" pitchFamily="34" charset="-122"/>
                <a:cs typeface="Calibri" pitchFamily="34" charset="-120"/>
              </a:rPr>
              <a:t>Creditors</a:t>
            </a:r>
            <a:endParaRPr lang="en-US" sz="1600" dirty="0"/>
          </a:p>
        </p:txBody>
      </p:sp>
      <p:sp>
        <p:nvSpPr>
          <p:cNvPr id="21" name="Text 19"/>
          <p:cNvSpPr/>
          <p:nvPr/>
        </p:nvSpPr>
        <p:spPr>
          <a:xfrm>
            <a:off x="4581144" y="3310128"/>
            <a:ext cx="3026664" cy="91440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신용 위험과</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상환 능력 평가</a:t>
            </a:r>
            <a:endParaRPr lang="en-US" sz="1250" dirty="0"/>
          </a:p>
        </p:txBody>
      </p:sp>
      <p:sp>
        <p:nvSpPr>
          <p:cNvPr id="22" name="Shape 20"/>
          <p:cNvSpPr/>
          <p:nvPr/>
        </p:nvSpPr>
        <p:spPr>
          <a:xfrm>
            <a:off x="8220456" y="2487168"/>
            <a:ext cx="3538728" cy="1847088"/>
          </a:xfrm>
          <a:prstGeom prst="rect">
            <a:avLst/>
          </a:prstGeom>
          <a:solidFill>
            <a:srgbClr val="FFFFFF"/>
          </a:solidFill>
          <a:ln w="12700">
            <a:solidFill>
              <a:srgbClr val="DCE3EE"/>
            </a:solidFill>
            <a:prstDash val="solid"/>
          </a:ln>
        </p:spPr>
      </p:sp>
      <p:sp>
        <p:nvSpPr>
          <p:cNvPr id="23" name="Shape 21"/>
          <p:cNvSpPr/>
          <p:nvPr/>
        </p:nvSpPr>
        <p:spPr>
          <a:xfrm>
            <a:off x="8220456" y="2487168"/>
            <a:ext cx="82296" cy="1847088"/>
          </a:xfrm>
          <a:prstGeom prst="rect">
            <a:avLst/>
          </a:prstGeom>
          <a:solidFill>
            <a:srgbClr val="9A6600"/>
          </a:solidFill>
          <a:ln/>
        </p:spPr>
      </p:sp>
      <p:sp>
        <p:nvSpPr>
          <p:cNvPr id="24" name="Shape 22"/>
          <p:cNvSpPr/>
          <p:nvPr/>
        </p:nvSpPr>
        <p:spPr>
          <a:xfrm>
            <a:off x="9724644" y="2212848"/>
            <a:ext cx="530352" cy="530352"/>
          </a:xfrm>
          <a:prstGeom prst="ellipse">
            <a:avLst/>
          </a:prstGeom>
          <a:solidFill>
            <a:srgbClr val="9A6600"/>
          </a:solidFill>
          <a:ln/>
        </p:spPr>
      </p:sp>
      <p:sp>
        <p:nvSpPr>
          <p:cNvPr id="25" name="Text 23"/>
          <p:cNvSpPr/>
          <p:nvPr/>
        </p:nvSpPr>
        <p:spPr>
          <a:xfrm>
            <a:off x="9724644"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p:nvPr/>
        </p:nvSpPr>
        <p:spPr>
          <a:xfrm>
            <a:off x="8403336" y="2889504"/>
            <a:ext cx="3172968" cy="365760"/>
          </a:xfrm>
          <a:prstGeom prst="rect">
            <a:avLst/>
          </a:prstGeom>
          <a:noFill/>
          <a:ln/>
        </p:spPr>
        <p:txBody>
          <a:bodyPr wrap="square" lIns="0" tIns="0" rIns="0" bIns="0" rtlCol="0" anchor="ctr"/>
          <a:lstStyle/>
          <a:p>
            <a:pPr algn="ctr" indent="0" marL="0">
              <a:buNone/>
            </a:pPr>
            <a:r>
              <a:rPr lang="en-US" sz="1600" b="1" dirty="0">
                <a:solidFill>
                  <a:srgbClr val="9A6600"/>
                </a:solidFill>
                <a:latin typeface="Calibri" pitchFamily="34" charset="0"/>
                <a:ea typeface="Calibri" pitchFamily="34" charset="-122"/>
                <a:cs typeface="Calibri" pitchFamily="34" charset="-120"/>
              </a:rPr>
              <a:t>Managers</a:t>
            </a:r>
            <a:endParaRPr lang="en-US" sz="1600" dirty="0"/>
          </a:p>
        </p:txBody>
      </p:sp>
      <p:sp>
        <p:nvSpPr>
          <p:cNvPr id="27" name="Text 25"/>
          <p:cNvSpPr/>
          <p:nvPr/>
        </p:nvSpPr>
        <p:spPr>
          <a:xfrm>
            <a:off x="8476488" y="3310128"/>
            <a:ext cx="3026664" cy="91440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성과를 모니터링하고</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의사결정 수행</a:t>
            </a:r>
            <a:endParaRPr lang="en-US" sz="1250" dirty="0"/>
          </a:p>
        </p:txBody>
      </p:sp>
      <p:sp>
        <p:nvSpPr>
          <p:cNvPr id="28" name="Shape 26"/>
          <p:cNvSpPr/>
          <p:nvPr/>
        </p:nvSpPr>
        <p:spPr>
          <a:xfrm>
            <a:off x="429768" y="4590288"/>
            <a:ext cx="11329416" cy="1737360"/>
          </a:xfrm>
          <a:prstGeom prst="rect">
            <a:avLst/>
          </a:prstGeom>
          <a:solidFill>
            <a:srgbClr val="FFFFFF"/>
          </a:solidFill>
          <a:ln w="12700">
            <a:solidFill>
              <a:srgbClr val="DCE3EE"/>
            </a:solidFill>
            <a:prstDash val="solid"/>
          </a:ln>
        </p:spPr>
      </p:sp>
      <p:sp>
        <p:nvSpPr>
          <p:cNvPr id="29" name="Shape 27"/>
          <p:cNvSpPr/>
          <p:nvPr/>
        </p:nvSpPr>
        <p:spPr>
          <a:xfrm>
            <a:off x="429768" y="4590288"/>
            <a:ext cx="82296" cy="1737360"/>
          </a:xfrm>
          <a:prstGeom prst="rect">
            <a:avLst/>
          </a:prstGeom>
          <a:solidFill>
            <a:srgbClr val="1F4899"/>
          </a:solidFill>
          <a:ln/>
        </p:spPr>
      </p:sp>
      <p:sp>
        <p:nvSpPr>
          <p:cNvPr id="30" name="Shape 28"/>
          <p:cNvSpPr/>
          <p:nvPr/>
        </p:nvSpPr>
        <p:spPr>
          <a:xfrm>
            <a:off x="429768" y="4590288"/>
            <a:ext cx="11329416" cy="420624"/>
          </a:xfrm>
          <a:prstGeom prst="rect">
            <a:avLst/>
          </a:prstGeom>
          <a:solidFill>
            <a:srgbClr val="1F4899"/>
          </a:solidFill>
          <a:ln/>
        </p:spPr>
      </p:sp>
      <p:sp>
        <p:nvSpPr>
          <p:cNvPr id="31" name="Text 29"/>
          <p:cNvSpPr/>
          <p:nvPr/>
        </p:nvSpPr>
        <p:spPr>
          <a:xfrm>
            <a:off x="630936" y="4590288"/>
            <a:ext cx="11018520"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분석 전에 — 사업의 맥락을 먼저 이해할 것</a:t>
            </a:r>
            <a:endParaRPr lang="en-US" sz="1500" dirty="0"/>
          </a:p>
        </p:txBody>
      </p:sp>
      <p:sp>
        <p:nvSpPr>
          <p:cNvPr id="32" name="Text 30"/>
          <p:cNvSpPr/>
          <p:nvPr/>
        </p:nvSpPr>
        <p:spPr>
          <a:xfrm>
            <a:off x="649224" y="5193792"/>
            <a:ext cx="10908792" cy="100584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Life cycle stage — 창업기·성장기·성숙기 중 어디인가?</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Competitive position — 경쟁사와 비교하면 어떤가?</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Capital structure &amp; Regulatory — 부채·자기자본 의존도와 규제 환경은?</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Vertical Analysis — Common-Size Statement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5</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각 항목을 지정된 기준 금액에 대한 백분율로 표시합니다.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1</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29768" y="2487168"/>
          <a:ext cx="5486400" cy="914400"/>
        </p:xfrm>
        <a:graphic>
          <a:graphicData uri="http://schemas.openxmlformats.org/drawingml/2006/table">
            <a:tbl>
              <a:tblPr/>
              <a:tblGrid>
                <a:gridCol w="4023360"/>
                <a:gridCol w="14630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Income Statement</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Base = Net Sales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r>
              <a:tr h="402336">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Net Sales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COGS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Gross Profit</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Operating Expenses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35%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Net Income</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72784" y="2487168"/>
          <a:ext cx="5486400" cy="914400"/>
        </p:xfrm>
        <a:graphic>
          <a:graphicData uri="http://schemas.openxmlformats.org/drawingml/2006/table">
            <a:tbl>
              <a:tblPr/>
              <a:tblGrid>
                <a:gridCol w="4023360"/>
                <a:gridCol w="14630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Balance Sheet</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Base = Total Assets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Cash</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Receivables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Inventory</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02336">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PP&amp;E</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 Assets</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63500" marR="635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bl>
          </a:graphicData>
        </a:graphic>
      </p:graphicFrame>
      <p:sp>
        <p:nvSpPr>
          <p:cNvPr id="12" name="Shape 8"/>
          <p:cNvSpPr/>
          <p:nvPr/>
        </p:nvSpPr>
        <p:spPr>
          <a:xfrm>
            <a:off x="429768" y="5614416"/>
            <a:ext cx="11329416" cy="475488"/>
          </a:xfrm>
          <a:prstGeom prst="rect">
            <a:avLst/>
          </a:prstGeom>
          <a:solidFill>
            <a:srgbClr val="14306B"/>
          </a:solidFill>
          <a:ln/>
        </p:spPr>
      </p:sp>
      <p:sp>
        <p:nvSpPr>
          <p:cNvPr id="13" name="Text 9"/>
          <p:cNvSpPr/>
          <p:nvPr/>
        </p:nvSpPr>
        <p:spPr>
          <a:xfrm>
            <a:off x="685800" y="5614416"/>
            <a:ext cx="10817352"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왜 쓰는가:  규모가 다른 기업 비교  ·  원가 구조 분석  ·  기간 간 비교  ·  자산/부채 구성 파악.</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Horizontal Analysis — Trend Analysis Over Time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6</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기간에 걸친 추세를 파악합니다 — 전년 대비 또는 전분기 대비 재무 데이터를 비교합니다.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1</a:t>
            </a:r>
            <a:endParaRPr lang="en-US" sz="1050" dirty="0"/>
          </a:p>
        </p:txBody>
      </p:sp>
      <p:sp>
        <p:nvSpPr>
          <p:cNvPr id="10" name="Shape 8"/>
          <p:cNvSpPr/>
          <p:nvPr/>
        </p:nvSpPr>
        <p:spPr>
          <a:xfrm>
            <a:off x="356616" y="2139696"/>
            <a:ext cx="5907024" cy="2298075"/>
          </a:xfrm>
          <a:prstGeom prst="rect">
            <a:avLst/>
          </a:prstGeom>
          <a:solidFill>
            <a:srgbClr val="FFFFFF"/>
          </a:solidFill>
          <a:ln w="12700">
            <a:solidFill>
              <a:srgbClr val="DCE3EE"/>
            </a:solidFill>
            <a:prstDash val="solid"/>
          </a:ln>
        </p:spPr>
      </p:sp>
      <p:pic>
        <p:nvPicPr>
          <p:cNvPr id="11" name="Image 0" descr="assets/s07_1.png">    </p:cNvPr>
          <p:cNvPicPr>
            <a:picLocks noChangeAspect="1"/>
          </p:cNvPicPr>
          <p:nvPr/>
        </p:nvPicPr>
        <p:blipFill>
          <a:blip r:embed="rId1"/>
          <a:stretch>
            <a:fillRect/>
          </a:stretch>
        </p:blipFill>
        <p:spPr>
          <a:xfrm>
            <a:off x="429768" y="2212848"/>
            <a:ext cx="5760720" cy="2151771"/>
          </a:xfrm>
          <a:prstGeom prst="rect">
            <a:avLst/>
          </a:prstGeom>
        </p:spPr>
      </p:pic>
      <p:sp>
        <p:nvSpPr>
          <p:cNvPr id="12" name="Shape 9"/>
          <p:cNvSpPr/>
          <p:nvPr/>
        </p:nvSpPr>
        <p:spPr>
          <a:xfrm>
            <a:off x="6400800" y="2212848"/>
            <a:ext cx="5358384" cy="1170432"/>
          </a:xfrm>
          <a:prstGeom prst="rect">
            <a:avLst/>
          </a:prstGeom>
          <a:solidFill>
            <a:srgbClr val="FFFFFF"/>
          </a:solidFill>
          <a:ln w="12700">
            <a:solidFill>
              <a:srgbClr val="DCE3EE"/>
            </a:solidFill>
            <a:prstDash val="solid"/>
          </a:ln>
        </p:spPr>
      </p:sp>
      <p:sp>
        <p:nvSpPr>
          <p:cNvPr id="13" name="Shape 10"/>
          <p:cNvSpPr/>
          <p:nvPr/>
        </p:nvSpPr>
        <p:spPr>
          <a:xfrm>
            <a:off x="6400800" y="2212848"/>
            <a:ext cx="82296" cy="1170432"/>
          </a:xfrm>
          <a:prstGeom prst="rect">
            <a:avLst/>
          </a:prstGeom>
          <a:solidFill>
            <a:srgbClr val="1F4899"/>
          </a:solidFill>
          <a:ln/>
        </p:spPr>
      </p:sp>
      <p:sp>
        <p:nvSpPr>
          <p:cNvPr id="14" name="Shape 11"/>
          <p:cNvSpPr/>
          <p:nvPr/>
        </p:nvSpPr>
        <p:spPr>
          <a:xfrm>
            <a:off x="6400800" y="2212848"/>
            <a:ext cx="5358384" cy="365760"/>
          </a:xfrm>
          <a:prstGeom prst="rect">
            <a:avLst/>
          </a:prstGeom>
          <a:solidFill>
            <a:srgbClr val="1F4899"/>
          </a:solidFill>
          <a:ln/>
        </p:spPr>
      </p:sp>
      <p:sp>
        <p:nvSpPr>
          <p:cNvPr id="15" name="Text 12"/>
          <p:cNvSpPr/>
          <p:nvPr/>
        </p:nvSpPr>
        <p:spPr>
          <a:xfrm>
            <a:off x="6601968" y="2212848"/>
            <a:ext cx="504748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Dollar Change</a:t>
            </a:r>
            <a:endParaRPr lang="en-US" sz="1500" dirty="0"/>
          </a:p>
        </p:txBody>
      </p:sp>
      <p:sp>
        <p:nvSpPr>
          <p:cNvPr id="16" name="Text 13"/>
          <p:cNvSpPr/>
          <p:nvPr/>
        </p:nvSpPr>
        <p:spPr>
          <a:xfrm>
            <a:off x="6620256" y="2761488"/>
            <a:ext cx="4937760" cy="493776"/>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Current Year − Prior Year.</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$70,372 − $67,161 = $3,211.</a:t>
            </a:r>
            <a:endParaRPr lang="en-US" sz="1250" dirty="0"/>
          </a:p>
        </p:txBody>
      </p:sp>
      <p:sp>
        <p:nvSpPr>
          <p:cNvPr id="17" name="Shape 14"/>
          <p:cNvSpPr/>
          <p:nvPr/>
        </p:nvSpPr>
        <p:spPr>
          <a:xfrm>
            <a:off x="6400800" y="3511296"/>
            <a:ext cx="5358384" cy="1170432"/>
          </a:xfrm>
          <a:prstGeom prst="rect">
            <a:avLst/>
          </a:prstGeom>
          <a:solidFill>
            <a:srgbClr val="FFFFFF"/>
          </a:solidFill>
          <a:ln w="12700">
            <a:solidFill>
              <a:srgbClr val="DCE3EE"/>
            </a:solidFill>
            <a:prstDash val="solid"/>
          </a:ln>
        </p:spPr>
      </p:sp>
      <p:sp>
        <p:nvSpPr>
          <p:cNvPr id="18" name="Shape 15"/>
          <p:cNvSpPr/>
          <p:nvPr/>
        </p:nvSpPr>
        <p:spPr>
          <a:xfrm>
            <a:off x="6400800" y="3511296"/>
            <a:ext cx="82296" cy="1170432"/>
          </a:xfrm>
          <a:prstGeom prst="rect">
            <a:avLst/>
          </a:prstGeom>
          <a:solidFill>
            <a:srgbClr val="0F6E7A"/>
          </a:solidFill>
          <a:ln/>
        </p:spPr>
      </p:sp>
      <p:sp>
        <p:nvSpPr>
          <p:cNvPr id="19" name="Shape 16"/>
          <p:cNvSpPr/>
          <p:nvPr/>
        </p:nvSpPr>
        <p:spPr>
          <a:xfrm>
            <a:off x="6400800" y="3511296"/>
            <a:ext cx="5358384" cy="365760"/>
          </a:xfrm>
          <a:prstGeom prst="rect">
            <a:avLst/>
          </a:prstGeom>
          <a:solidFill>
            <a:srgbClr val="0F6E7A"/>
          </a:solidFill>
          <a:ln/>
        </p:spPr>
      </p:sp>
      <p:sp>
        <p:nvSpPr>
          <p:cNvPr id="20" name="Text 17"/>
          <p:cNvSpPr/>
          <p:nvPr/>
        </p:nvSpPr>
        <p:spPr>
          <a:xfrm>
            <a:off x="6601968" y="3511296"/>
            <a:ext cx="504748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Percent Change</a:t>
            </a:r>
            <a:endParaRPr lang="en-US" sz="1500" dirty="0"/>
          </a:p>
        </p:txBody>
      </p:sp>
      <p:sp>
        <p:nvSpPr>
          <p:cNvPr id="21" name="Text 18"/>
          <p:cNvSpPr/>
          <p:nvPr/>
        </p:nvSpPr>
        <p:spPr>
          <a:xfrm>
            <a:off x="6620256" y="4059936"/>
            <a:ext cx="4937760" cy="493776"/>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(Current − Prior) / Prior.</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 4.8%.</a:t>
            </a:r>
            <a:endParaRPr lang="en-US" sz="1250" dirty="0"/>
          </a:p>
        </p:txBody>
      </p:sp>
      <p:sp>
        <p:nvSpPr>
          <p:cNvPr id="22" name="Shape 19"/>
          <p:cNvSpPr/>
          <p:nvPr/>
        </p:nvSpPr>
        <p:spPr>
          <a:xfrm>
            <a:off x="6400800" y="4809744"/>
            <a:ext cx="5358384" cy="914400"/>
          </a:xfrm>
          <a:prstGeom prst="rect">
            <a:avLst/>
          </a:prstGeom>
          <a:solidFill>
            <a:srgbClr val="FCEDEC"/>
          </a:solidFill>
          <a:ln w="12700">
            <a:solidFill>
              <a:srgbClr val="B3261E"/>
            </a:solidFill>
            <a:prstDash val="solid"/>
          </a:ln>
        </p:spPr>
      </p:sp>
      <p:sp>
        <p:nvSpPr>
          <p:cNvPr id="23" name="Text 20"/>
          <p:cNvSpPr/>
          <p:nvPr/>
        </p:nvSpPr>
        <p:spPr>
          <a:xfrm>
            <a:off x="6583680" y="4809744"/>
            <a:ext cx="4992624" cy="914400"/>
          </a:xfrm>
          <a:prstGeom prst="rect">
            <a:avLst/>
          </a:prstGeom>
          <a:noFill/>
          <a:ln/>
        </p:spPr>
        <p:txBody>
          <a:bodyPr wrap="square" lIns="0" tIns="0" rIns="0" bIns="0" rtlCol="0" anchor="ctr"/>
          <a:lstStyle/>
          <a:p>
            <a:pPr indent="0" marL="0">
              <a:lnSpc>
                <a:spcPct val="100000"/>
              </a:lnSpc>
              <a:buNone/>
            </a:pPr>
            <a:r>
              <a:rPr lang="en-US" sz="1200" b="1" dirty="0">
                <a:solidFill>
                  <a:srgbClr val="B3261E"/>
                </a:solidFill>
                <a:latin typeface="Calibri" pitchFamily="34" charset="0"/>
                <a:ea typeface="Calibri" pitchFamily="34" charset="-122"/>
                <a:cs typeface="Calibri" pitchFamily="34" charset="-120"/>
              </a:rPr>
              <a:t>Caution:  </a:t>
            </a:r>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 변동과 $ 변동을 함께 볼 것 — 기준 금액이 작으면 %가 왜곡될 수 있음.</a:t>
            </a:r>
            <a:endParaRPr lang="en-US" sz="1200" dirty="0"/>
          </a:p>
        </p:txBody>
      </p:sp>
      <p:sp>
        <p:nvSpPr>
          <p:cNvPr id="24" name="Shape 21"/>
          <p:cNvSpPr/>
          <p:nvPr/>
        </p:nvSpPr>
        <p:spPr>
          <a:xfrm>
            <a:off x="429768" y="5870448"/>
            <a:ext cx="11329416" cy="457200"/>
          </a:xfrm>
          <a:prstGeom prst="rect">
            <a:avLst/>
          </a:prstGeom>
          <a:solidFill>
            <a:srgbClr val="14306B"/>
          </a:solidFill>
          <a:ln/>
        </p:spPr>
      </p:sp>
      <p:sp>
        <p:nvSpPr>
          <p:cNvPr id="25" name="Text 22"/>
          <p:cNvSpPr/>
          <p:nvPr/>
        </p:nvSpPr>
        <p:spPr>
          <a:xfrm>
            <a:off x="685800" y="5870448"/>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예: Revenue $70,372 (yr 2) vs. $67,161 (yr 1) → +$3,211, +4.8%.</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2</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Return on Investment</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투자수익률  ·  ROE · ROA · ROFL · DuPont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Return on Equity (ROE)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8</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Light" pitchFamily="34" charset="0"/>
                <a:ea typeface="Calibri Light" pitchFamily="34" charset="-122"/>
                <a:cs typeface="Calibri Light" pitchFamily="34" charset="-120"/>
              </a:rPr>
              <a:t>ROE   =   Net Income   ÷   Average Stockholders' Equity</a:t>
            </a:r>
            <a:endParaRPr lang="en-US" sz="2000" dirty="0"/>
          </a:p>
        </p:txBody>
      </p:sp>
      <p:sp>
        <p:nvSpPr>
          <p:cNvPr id="8" name="Text 6"/>
          <p:cNvSpPr/>
          <p:nvPr/>
        </p:nvSpPr>
        <p:spPr>
          <a:xfrm>
            <a:off x="429768" y="2212848"/>
            <a:ext cx="11329416" cy="329184"/>
          </a:xfrm>
          <a:prstGeom prst="rect">
            <a:avLst/>
          </a:prstGeom>
          <a:noFill/>
          <a:ln/>
        </p:spPr>
        <p:txBody>
          <a:bodyPr wrap="square" lIns="0" tIns="0" rIns="0" bIns="0" rtlCol="0" anchor="ctr"/>
          <a:lstStyle/>
          <a:p>
            <a:pPr indent="0" marL="0">
              <a:buNone/>
            </a:pPr>
            <a:r>
              <a:rPr lang="en-US" sz="1300" i="1" dirty="0">
                <a:solidFill>
                  <a:srgbClr val="5A6474"/>
                </a:solidFill>
                <a:latin typeface="Calibri" pitchFamily="34" charset="0"/>
                <a:ea typeface="Calibri" pitchFamily="34" charset="-122"/>
                <a:cs typeface="Calibri" pitchFamily="34" charset="-120"/>
              </a:rPr>
              <a:t>주주 투자액 대비 이익을 얼마나 효과적으로 창출하는지 측정합니다.</a:t>
            </a:r>
            <a:endParaRPr lang="en-US" sz="1300" dirty="0"/>
          </a:p>
        </p:txBody>
      </p:sp>
      <p:sp>
        <p:nvSpPr>
          <p:cNvPr id="9" name="Shape 7"/>
          <p:cNvSpPr/>
          <p:nvPr/>
        </p:nvSpPr>
        <p:spPr>
          <a:xfrm>
            <a:off x="429768" y="2651760"/>
            <a:ext cx="5486400" cy="2103120"/>
          </a:xfrm>
          <a:prstGeom prst="rect">
            <a:avLst/>
          </a:prstGeom>
          <a:solidFill>
            <a:srgbClr val="FFFFFF"/>
          </a:solidFill>
          <a:ln w="12700">
            <a:solidFill>
              <a:srgbClr val="DCE3EE"/>
            </a:solidFill>
            <a:prstDash val="solid"/>
          </a:ln>
        </p:spPr>
      </p:sp>
      <p:sp>
        <p:nvSpPr>
          <p:cNvPr id="10" name="Shape 8"/>
          <p:cNvSpPr/>
          <p:nvPr/>
        </p:nvSpPr>
        <p:spPr>
          <a:xfrm>
            <a:off x="429768" y="2651760"/>
            <a:ext cx="82296" cy="2103120"/>
          </a:xfrm>
          <a:prstGeom prst="rect">
            <a:avLst/>
          </a:prstGeom>
          <a:solidFill>
            <a:srgbClr val="1F4899"/>
          </a:solidFill>
          <a:ln/>
        </p:spPr>
      </p:sp>
      <p:sp>
        <p:nvSpPr>
          <p:cNvPr id="11" name="Shape 9"/>
          <p:cNvSpPr/>
          <p:nvPr/>
        </p:nvSpPr>
        <p:spPr>
          <a:xfrm>
            <a:off x="429768" y="2651760"/>
            <a:ext cx="5486400" cy="420624"/>
          </a:xfrm>
          <a:prstGeom prst="rect">
            <a:avLst/>
          </a:prstGeom>
          <a:solidFill>
            <a:srgbClr val="1F4899"/>
          </a:solidFill>
          <a:ln/>
        </p:spPr>
      </p:sp>
      <p:sp>
        <p:nvSpPr>
          <p:cNvPr id="12" name="Text 10"/>
          <p:cNvSpPr/>
          <p:nvPr/>
        </p:nvSpPr>
        <p:spPr>
          <a:xfrm>
            <a:off x="630936" y="265176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Warren Buffett's Focus</a:t>
            </a:r>
            <a:endParaRPr lang="en-US" sz="1500" dirty="0"/>
          </a:p>
        </p:txBody>
      </p:sp>
      <p:sp>
        <p:nvSpPr>
          <p:cNvPr id="13" name="Text 11"/>
          <p:cNvSpPr/>
          <p:nvPr/>
        </p:nvSpPr>
        <p:spPr>
          <a:xfrm>
            <a:off x="649224" y="3255264"/>
            <a:ext cx="5065776" cy="1371600"/>
          </a:xfrm>
          <a:prstGeom prst="rect">
            <a:avLst/>
          </a:prstGeom>
          <a:noFill/>
          <a:ln/>
        </p:spPr>
        <p:txBody>
          <a:bodyPr wrap="square" lIns="0" tIns="0" rIns="0" bIns="0" rtlCol="0" anchor="t"/>
          <a:lstStyle/>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ROE가 높으면서 부채가 낮거나 적정한 기업.</a:t>
            </a:r>
            <a:endParaRPr lang="en-US" sz="1350" dirty="0"/>
          </a:p>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높은 부채는 ROE를 인위적으로 부풀릴 수 있음.</a:t>
            </a:r>
            <a:endParaRPr lang="en-US" sz="1350" dirty="0"/>
          </a:p>
        </p:txBody>
      </p:sp>
      <p:sp>
        <p:nvSpPr>
          <p:cNvPr id="14" name="Shape 12"/>
          <p:cNvSpPr/>
          <p:nvPr/>
        </p:nvSpPr>
        <p:spPr>
          <a:xfrm>
            <a:off x="6272784" y="2651760"/>
            <a:ext cx="5486400" cy="2103120"/>
          </a:xfrm>
          <a:prstGeom prst="rect">
            <a:avLst/>
          </a:prstGeom>
          <a:solidFill>
            <a:srgbClr val="FFFFFF"/>
          </a:solidFill>
          <a:ln w="12700">
            <a:solidFill>
              <a:srgbClr val="DCE3EE"/>
            </a:solidFill>
            <a:prstDash val="solid"/>
          </a:ln>
        </p:spPr>
      </p:sp>
      <p:sp>
        <p:nvSpPr>
          <p:cNvPr id="15" name="Shape 13"/>
          <p:cNvSpPr/>
          <p:nvPr/>
        </p:nvSpPr>
        <p:spPr>
          <a:xfrm>
            <a:off x="6272784" y="2651760"/>
            <a:ext cx="82296" cy="2103120"/>
          </a:xfrm>
          <a:prstGeom prst="rect">
            <a:avLst/>
          </a:prstGeom>
          <a:solidFill>
            <a:srgbClr val="B3261E"/>
          </a:solidFill>
          <a:ln/>
        </p:spPr>
      </p:sp>
      <p:sp>
        <p:nvSpPr>
          <p:cNvPr id="16" name="Shape 14"/>
          <p:cNvSpPr/>
          <p:nvPr/>
        </p:nvSpPr>
        <p:spPr>
          <a:xfrm>
            <a:off x="6272784" y="2651760"/>
            <a:ext cx="5486400" cy="420624"/>
          </a:xfrm>
          <a:prstGeom prst="rect">
            <a:avLst/>
          </a:prstGeom>
          <a:solidFill>
            <a:srgbClr val="B3261E"/>
          </a:solidFill>
          <a:ln/>
        </p:spPr>
      </p:sp>
      <p:sp>
        <p:nvSpPr>
          <p:cNvPr id="17" name="Text 15"/>
          <p:cNvSpPr/>
          <p:nvPr/>
        </p:nvSpPr>
        <p:spPr>
          <a:xfrm>
            <a:off x="6473952" y="265176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Cautions</a:t>
            </a:r>
            <a:endParaRPr lang="en-US" sz="1500" dirty="0"/>
          </a:p>
        </p:txBody>
      </p:sp>
      <p:sp>
        <p:nvSpPr>
          <p:cNvPr id="18" name="Text 16"/>
          <p:cNvSpPr/>
          <p:nvPr/>
        </p:nvSpPr>
        <p:spPr>
          <a:xfrm>
            <a:off x="6492240" y="3255264"/>
            <a:ext cx="5065776" cy="1371600"/>
          </a:xfrm>
          <a:prstGeom prst="rect">
            <a:avLst/>
          </a:prstGeom>
          <a:noFill/>
          <a:ln/>
        </p:spPr>
        <p:txBody>
          <a:bodyPr wrap="square" lIns="0" tIns="0" rIns="0" bIns="0" rtlCol="0" anchor="t"/>
          <a:lstStyle/>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부채를 늘리면 ROE를 높일 수 있음.</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과도한 부채는 파산 위험을 높임.</a:t>
            </a:r>
            <a:endParaRPr lang="en-US" sz="1350" dirty="0"/>
          </a:p>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High ROE ≠ 항상 좋음 (레버리지에 의한 경우).</a:t>
            </a:r>
            <a:endParaRPr lang="en-US" sz="1350" dirty="0"/>
          </a:p>
        </p:txBody>
      </p:sp>
      <p:sp>
        <p:nvSpPr>
          <p:cNvPr id="19" name="Shape 17"/>
          <p:cNvSpPr/>
          <p:nvPr/>
        </p:nvSpPr>
        <p:spPr>
          <a:xfrm>
            <a:off x="429768" y="4956048"/>
            <a:ext cx="11329416" cy="548640"/>
          </a:xfrm>
          <a:prstGeom prst="rect">
            <a:avLst/>
          </a:prstGeom>
          <a:solidFill>
            <a:srgbClr val="E9F5EE"/>
          </a:solidFill>
          <a:ln w="12700">
            <a:solidFill>
              <a:srgbClr val="1E7A4C"/>
            </a:solidFill>
            <a:prstDash val="solid"/>
          </a:ln>
        </p:spPr>
      </p:sp>
      <p:sp>
        <p:nvSpPr>
          <p:cNvPr id="20" name="Text 18"/>
          <p:cNvSpPr/>
          <p:nvPr/>
        </p:nvSpPr>
        <p:spPr>
          <a:xfrm>
            <a:off x="667512" y="4956048"/>
            <a:ext cx="10853928" cy="548640"/>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평균 잔액: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BS 금액을 IS 금액과 비교할 때는 평균 잔액 (기초 + 기말) ÷ 2 를 사용합니다.</a:t>
            </a:r>
            <a:endParaRPr lang="en-US" sz="1300" dirty="0"/>
          </a:p>
        </p:txBody>
      </p:sp>
      <p:sp>
        <p:nvSpPr>
          <p:cNvPr id="21" name="Shape 19"/>
          <p:cNvSpPr/>
          <p:nvPr/>
        </p:nvSpPr>
        <p:spPr>
          <a:xfrm>
            <a:off x="429768" y="5614416"/>
            <a:ext cx="11329416" cy="457200"/>
          </a:xfrm>
          <a:prstGeom prst="rect">
            <a:avLst/>
          </a:prstGeom>
          <a:solidFill>
            <a:srgbClr val="14306B"/>
          </a:solidFill>
          <a:ln/>
        </p:spPr>
      </p:sp>
      <p:sp>
        <p:nvSpPr>
          <p:cNvPr id="22" name="Text 20"/>
          <p:cNvSpPr/>
          <p:nvPr/>
        </p:nvSpPr>
        <p:spPr>
          <a:xfrm>
            <a:off x="685800" y="5614416"/>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ROE는 주주 자본이 얼마나 효율적으로 수익을 내는지를 말해줍니다.</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Return on Assets (ROA) — De-Levered ROA</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9</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ROA   =   [ Net Income + Interest × (1 − Tax) ]   ÷   Average Total Assets</a:t>
            </a:r>
            <a:endParaRPr lang="en-US" sz="1700" dirty="0"/>
          </a:p>
        </p:txBody>
      </p:sp>
      <p:sp>
        <p:nvSpPr>
          <p:cNvPr id="8" name="Shape 6"/>
          <p:cNvSpPr/>
          <p:nvPr/>
        </p:nvSpPr>
        <p:spPr>
          <a:xfrm>
            <a:off x="356616" y="2212848"/>
            <a:ext cx="4261104" cy="3722525"/>
          </a:xfrm>
          <a:prstGeom prst="rect">
            <a:avLst/>
          </a:prstGeom>
          <a:solidFill>
            <a:srgbClr val="FFFFFF"/>
          </a:solidFill>
          <a:ln w="12700">
            <a:solidFill>
              <a:srgbClr val="DCE3EE"/>
            </a:solidFill>
            <a:prstDash val="solid"/>
          </a:ln>
        </p:spPr>
      </p:sp>
      <p:pic>
        <p:nvPicPr>
          <p:cNvPr id="9" name="Image 0" descr="assets/s10_1.png">    </p:cNvPr>
          <p:cNvPicPr>
            <a:picLocks noChangeAspect="1"/>
          </p:cNvPicPr>
          <p:nvPr/>
        </p:nvPicPr>
        <p:blipFill>
          <a:blip r:embed="rId1"/>
          <a:stretch>
            <a:fillRect/>
          </a:stretch>
        </p:blipFill>
        <p:spPr>
          <a:xfrm>
            <a:off x="429768" y="2286000"/>
            <a:ext cx="4114800" cy="3576221"/>
          </a:xfrm>
          <a:prstGeom prst="rect">
            <a:avLst/>
          </a:prstGeom>
        </p:spPr>
      </p:pic>
      <p:sp>
        <p:nvSpPr>
          <p:cNvPr id="10" name="Shape 7"/>
          <p:cNvSpPr/>
          <p:nvPr/>
        </p:nvSpPr>
        <p:spPr>
          <a:xfrm>
            <a:off x="4846320" y="2286000"/>
            <a:ext cx="6912864" cy="1280160"/>
          </a:xfrm>
          <a:prstGeom prst="rect">
            <a:avLst/>
          </a:prstGeom>
          <a:solidFill>
            <a:srgbClr val="FFFFFF"/>
          </a:solidFill>
          <a:ln w="12700">
            <a:solidFill>
              <a:srgbClr val="DCE3EE"/>
            </a:solidFill>
            <a:prstDash val="solid"/>
          </a:ln>
        </p:spPr>
      </p:sp>
      <p:sp>
        <p:nvSpPr>
          <p:cNvPr id="11" name="Shape 8"/>
          <p:cNvSpPr/>
          <p:nvPr/>
        </p:nvSpPr>
        <p:spPr>
          <a:xfrm>
            <a:off x="4846320" y="2286000"/>
            <a:ext cx="82296" cy="1280160"/>
          </a:xfrm>
          <a:prstGeom prst="rect">
            <a:avLst/>
          </a:prstGeom>
          <a:solidFill>
            <a:srgbClr val="1F4899"/>
          </a:solidFill>
          <a:ln/>
        </p:spPr>
      </p:sp>
      <p:sp>
        <p:nvSpPr>
          <p:cNvPr id="12" name="Shape 9"/>
          <p:cNvSpPr/>
          <p:nvPr/>
        </p:nvSpPr>
        <p:spPr>
          <a:xfrm>
            <a:off x="4846320" y="2286000"/>
            <a:ext cx="6912864" cy="365760"/>
          </a:xfrm>
          <a:prstGeom prst="rect">
            <a:avLst/>
          </a:prstGeom>
          <a:solidFill>
            <a:srgbClr val="1F4899"/>
          </a:solidFill>
          <a:ln/>
        </p:spPr>
      </p:sp>
      <p:sp>
        <p:nvSpPr>
          <p:cNvPr id="13" name="Text 10"/>
          <p:cNvSpPr/>
          <p:nvPr/>
        </p:nvSpPr>
        <p:spPr>
          <a:xfrm>
            <a:off x="5047488" y="2286000"/>
            <a:ext cx="660196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무엇을 측정하는가</a:t>
            </a:r>
            <a:endParaRPr lang="en-US" sz="1500" dirty="0"/>
          </a:p>
        </p:txBody>
      </p:sp>
      <p:sp>
        <p:nvSpPr>
          <p:cNvPr id="14" name="Text 11"/>
          <p:cNvSpPr/>
          <p:nvPr/>
        </p:nvSpPr>
        <p:spPr>
          <a:xfrm>
            <a:off x="5065776" y="2834640"/>
            <a:ext cx="6492240" cy="603504"/>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자금조달 방식과 무관하게, 자산을 얼마나 효율적으로 사용해 이익을 창출하는지 측정.</a:t>
            </a:r>
            <a:endParaRPr lang="en-US" sz="1250" dirty="0"/>
          </a:p>
        </p:txBody>
      </p:sp>
      <p:sp>
        <p:nvSpPr>
          <p:cNvPr id="15" name="Shape 12"/>
          <p:cNvSpPr/>
          <p:nvPr/>
        </p:nvSpPr>
        <p:spPr>
          <a:xfrm>
            <a:off x="4846320" y="3694176"/>
            <a:ext cx="6912864" cy="1975104"/>
          </a:xfrm>
          <a:prstGeom prst="rect">
            <a:avLst/>
          </a:prstGeom>
          <a:solidFill>
            <a:srgbClr val="FFFFFF"/>
          </a:solidFill>
          <a:ln w="12700">
            <a:solidFill>
              <a:srgbClr val="DCE3EE"/>
            </a:solidFill>
            <a:prstDash val="solid"/>
          </a:ln>
        </p:spPr>
      </p:sp>
      <p:sp>
        <p:nvSpPr>
          <p:cNvPr id="16" name="Shape 13"/>
          <p:cNvSpPr/>
          <p:nvPr/>
        </p:nvSpPr>
        <p:spPr>
          <a:xfrm>
            <a:off x="4846320" y="3694176"/>
            <a:ext cx="82296" cy="1975104"/>
          </a:xfrm>
          <a:prstGeom prst="rect">
            <a:avLst/>
          </a:prstGeom>
          <a:solidFill>
            <a:srgbClr val="0F6E7A"/>
          </a:solidFill>
          <a:ln/>
        </p:spPr>
      </p:sp>
      <p:sp>
        <p:nvSpPr>
          <p:cNvPr id="17" name="Shape 14"/>
          <p:cNvSpPr/>
          <p:nvPr/>
        </p:nvSpPr>
        <p:spPr>
          <a:xfrm>
            <a:off x="4846320" y="3694176"/>
            <a:ext cx="6912864" cy="365760"/>
          </a:xfrm>
          <a:prstGeom prst="rect">
            <a:avLst/>
          </a:prstGeom>
          <a:solidFill>
            <a:srgbClr val="0F6E7A"/>
          </a:solidFill>
          <a:ln/>
        </p:spPr>
      </p:sp>
      <p:sp>
        <p:nvSpPr>
          <p:cNvPr id="18" name="Text 15"/>
          <p:cNvSpPr/>
          <p:nvPr/>
        </p:nvSpPr>
        <p:spPr>
          <a:xfrm>
            <a:off x="5047488" y="3694176"/>
            <a:ext cx="660196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세후 이자를 왜 다시 더하는가?</a:t>
            </a:r>
            <a:endParaRPr lang="en-US" sz="1500" dirty="0"/>
          </a:p>
        </p:txBody>
      </p:sp>
      <p:sp>
        <p:nvSpPr>
          <p:cNvPr id="19" name="Text 16"/>
          <p:cNvSpPr/>
          <p:nvPr/>
        </p:nvSpPr>
        <p:spPr>
          <a:xfrm>
            <a:off x="5065776" y="4242816"/>
            <a:ext cx="6492240" cy="1298448"/>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Net income에는 이미 interest expense가 반영됨.</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Interest는 자금조달 비용이지 영업 결함이 아님 → 부채 영향을 제거.</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자본구조가 다른 기업들끼리도 비교 가능해짐.</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Standard ROA vs. De-Levered ROA</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10</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29768" y="1554480"/>
          <a:ext cx="5577840" cy="914400"/>
        </p:xfrm>
        <a:graphic>
          <a:graphicData uri="http://schemas.openxmlformats.org/drawingml/2006/table">
            <a:tbl>
              <a:tblPr/>
              <a:tblGrid>
                <a:gridCol w="1737360"/>
                <a:gridCol w="1920240"/>
                <a:gridCol w="192024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Term</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ROA (standard)</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De-levered ROA</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1F4899"/>
                    </a:solidFill>
                  </a:tcPr>
                </a:tc>
              </a:tr>
              <a:tr h="457200">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Includes debt impact?</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예</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아니오</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457200">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What it shows</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이자비용 반영 후 수익성</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영업만의 자산 수익률</a:t>
                      </a:r>
                      <a:endParaRPr lang="en-US" sz="1100" dirty="0">
                        <a:latin typeface="Calibri" charset="0"/>
                        <a:ea typeface="Calibri" charset="0"/>
                        <a:cs typeface="Calibri" charset="0"/>
                      </a:endParaRPr>
                    </a:p>
                  </a:txBody>
                  <a:tcPr marL="50800" marR="50800" marT="25400" marB="254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72784" y="1554480"/>
          <a:ext cx="5486400" cy="914400"/>
        </p:xfrm>
        <a:graphic>
          <a:graphicData uri="http://schemas.openxmlformats.org/drawingml/2006/table">
            <a:tbl>
              <a:tblPr/>
              <a:tblGrid>
                <a:gridCol w="2743200"/>
                <a:gridCol w="1371600"/>
                <a:gridCol w="13716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(illustration)</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No debt</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Some debt</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0F6E7A"/>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Pretax, pre-interest income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$300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$300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Interest expense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Pretax income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300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Taxes (35%)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(87.5)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income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162.5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EAF0FB"/>
                    </a:solidFill>
                  </a:tcPr>
                </a:tc>
              </a:tr>
              <a:tr h="329184">
                <a:tc>
                  <a:txBody>
                    <a:bodyPr/>
                    <a:lstStyle/>
                    <a:p>
                      <a:pPr algn="l" indent="0" marL="0">
                        <a:buNone/>
                      </a:pPr>
                      <a:r>
                        <a:rPr lang="en-US" sz="1050" b="1" dirty="0">
                          <a:solidFill>
                            <a:srgbClr val="1A1A1A"/>
                          </a:solidFill>
                          <a:latin typeface="Calibri" pitchFamily="34" charset="0"/>
                          <a:ea typeface="Calibri" pitchFamily="34" charset="-122"/>
                          <a:cs typeface="Calibri" pitchFamily="34" charset="-120"/>
                        </a:rPr>
                        <a:t>De-levered Net Income</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A1A1A"/>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A1A1A"/>
                          </a:solidFill>
                          <a:latin typeface="Calibri" pitchFamily="34" charset="0"/>
                          <a:ea typeface="Calibri" pitchFamily="34" charset="-122"/>
                          <a:cs typeface="Calibri" pitchFamily="34" charset="-120"/>
                        </a:rPr>
                        <a:t>$195 ᵃ</a:t>
                      </a:r>
                      <a:endParaRPr lang="en-US" sz="1050" dirty="0">
                        <a:latin typeface="Calibri" charset="0"/>
                        <a:ea typeface="Calibri" charset="0"/>
                        <a:cs typeface="Calibri" charset="0"/>
                      </a:endParaRPr>
                    </a:p>
                  </a:txBody>
                  <a:tcPr marL="50800" marR="50800" marT="12700" marB="12700" anchor="ctr">
                    <a:lnL w="6350" cap="flat" cmpd="sng" algn="ctr">
                      <a:solidFill>
                        <a:srgbClr val="DCE3EE"/>
                      </a:solidFill>
                      <a:prstDash val="solid"/>
                      <a:round/>
                      <a:headEnd type="none" w="med" len="med"/>
                      <a:tailEnd type="none" w="med" len="med"/>
                    </a:lnL>
                    <a:lnR w="6350" cap="flat" cmpd="sng" algn="ctr">
                      <a:solidFill>
                        <a:srgbClr val="DCE3EE"/>
                      </a:solidFill>
                      <a:prstDash val="solid"/>
                      <a:round/>
                      <a:headEnd type="none" w="med" len="med"/>
                      <a:tailEnd type="none" w="med" len="med"/>
                    </a:lnR>
                    <a:lnT w="6350" cap="flat" cmpd="sng" algn="ctr">
                      <a:solidFill>
                        <a:srgbClr val="DCE3EE"/>
                      </a:solidFill>
                      <a:prstDash val="solid"/>
                      <a:round/>
                      <a:headEnd type="none" w="med" len="med"/>
                      <a:tailEnd type="none" w="med" len="med"/>
                    </a:lnT>
                    <a:lnB w="6350" cap="flat" cmpd="sng" algn="ctr">
                      <a:solidFill>
                        <a:srgbClr val="DCE3EE"/>
                      </a:solidFill>
                      <a:prstDash val="solid"/>
                      <a:round/>
                      <a:headEnd type="none" w="med" len="med"/>
                      <a:tailEnd type="none" w="med" len="med"/>
                    </a:lnB>
                    <a:solidFill>
                      <a:srgbClr val="FFFFFF"/>
                    </a:solidFill>
                  </a:tcPr>
                </a:tc>
              </a:tr>
            </a:tbl>
          </a:graphicData>
        </a:graphic>
      </p:graphicFrame>
      <p:sp>
        <p:nvSpPr>
          <p:cNvPr id="8" name="Shape 4"/>
          <p:cNvSpPr/>
          <p:nvPr/>
        </p:nvSpPr>
        <p:spPr>
          <a:xfrm>
            <a:off x="429768" y="4828032"/>
            <a:ext cx="11329416" cy="566928"/>
          </a:xfrm>
          <a:prstGeom prst="rect">
            <a:avLst/>
          </a:prstGeom>
          <a:solidFill>
            <a:srgbClr val="E9F5EE"/>
          </a:solidFill>
          <a:ln w="12700">
            <a:solidFill>
              <a:srgbClr val="1E7A4C"/>
            </a:solidFill>
            <a:prstDash val="solid"/>
          </a:ln>
        </p:spPr>
      </p:sp>
      <p:sp>
        <p:nvSpPr>
          <p:cNvPr id="9" name="Text 5"/>
          <p:cNvSpPr/>
          <p:nvPr/>
        </p:nvSpPr>
        <p:spPr>
          <a:xfrm>
            <a:off x="667512" y="4828032"/>
            <a:ext cx="10853928" cy="56692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ᵃ after-tax effect: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NI + Interest × (1 − Tax) = 162.5 + 50 × (1 − .35) = $195.</a:t>
            </a:r>
            <a:endParaRPr lang="en-US" sz="1300" dirty="0"/>
          </a:p>
        </p:txBody>
      </p:sp>
      <p:sp>
        <p:nvSpPr>
          <p:cNvPr id="10" name="Shape 6"/>
          <p:cNvSpPr/>
          <p:nvPr/>
        </p:nvSpPr>
        <p:spPr>
          <a:xfrm>
            <a:off x="429768" y="5541264"/>
            <a:ext cx="11329416" cy="457200"/>
          </a:xfrm>
          <a:prstGeom prst="rect">
            <a:avLst/>
          </a:prstGeom>
          <a:solidFill>
            <a:srgbClr val="14306B"/>
          </a:solidFill>
          <a:ln/>
        </p:spPr>
      </p:sp>
      <p:sp>
        <p:nvSpPr>
          <p:cNvPr id="11" name="Text 7"/>
          <p:cNvSpPr/>
          <p:nvPr/>
        </p:nvSpPr>
        <p:spPr>
          <a:xfrm>
            <a:off x="685800" y="5541264"/>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Illustration: de-levering으로 자본구조의 영향을 제거해 순수한 영업 자산 수익률을 드러냅니다.</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Return on Financial Leverage (ROFL)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11</a:t>
            </a:r>
            <a:endParaRPr lang="en-US" sz="1050" dirty="0"/>
          </a:p>
        </p:txBody>
      </p:sp>
      <p:sp>
        <p:nvSpPr>
          <p:cNvPr id="6" name="Shape 4"/>
          <p:cNvSpPr/>
          <p:nvPr/>
        </p:nvSpPr>
        <p:spPr>
          <a:xfrm>
            <a:off x="429768" y="1481328"/>
            <a:ext cx="11329416" cy="548640"/>
          </a:xfrm>
          <a:prstGeom prst="rect">
            <a:avLst/>
          </a:prstGeom>
          <a:solidFill>
            <a:srgbClr val="14306B"/>
          </a:solidFill>
          <a:ln/>
        </p:spPr>
      </p:sp>
      <p:sp>
        <p:nvSpPr>
          <p:cNvPr id="7" name="Text 5"/>
          <p:cNvSpPr/>
          <p:nvPr/>
        </p:nvSpPr>
        <p:spPr>
          <a:xfrm>
            <a:off x="429768" y="1481328"/>
            <a:ext cx="11329416"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Light" pitchFamily="34" charset="0"/>
                <a:ea typeface="Calibri Light" pitchFamily="34" charset="-122"/>
                <a:cs typeface="Calibri Light" pitchFamily="34" charset="-120"/>
              </a:rPr>
              <a:t>ROFL   =   ROE   −   ROA</a:t>
            </a:r>
            <a:endParaRPr lang="en-US" sz="2000" dirty="0"/>
          </a:p>
        </p:txBody>
      </p:sp>
      <p:sp>
        <p:nvSpPr>
          <p:cNvPr id="8" name="Shape 6"/>
          <p:cNvSpPr/>
          <p:nvPr/>
        </p:nvSpPr>
        <p:spPr>
          <a:xfrm>
            <a:off x="429768" y="2194560"/>
            <a:ext cx="11329416" cy="1371600"/>
          </a:xfrm>
          <a:prstGeom prst="rect">
            <a:avLst/>
          </a:prstGeom>
          <a:solidFill>
            <a:srgbClr val="FFFFFF"/>
          </a:solidFill>
          <a:ln w="12700">
            <a:solidFill>
              <a:srgbClr val="DCE3EE"/>
            </a:solidFill>
            <a:prstDash val="solid"/>
          </a:ln>
        </p:spPr>
      </p:sp>
      <p:sp>
        <p:nvSpPr>
          <p:cNvPr id="9" name="Shape 7"/>
          <p:cNvSpPr/>
          <p:nvPr/>
        </p:nvSpPr>
        <p:spPr>
          <a:xfrm>
            <a:off x="429768" y="2194560"/>
            <a:ext cx="82296" cy="1371600"/>
          </a:xfrm>
          <a:prstGeom prst="rect">
            <a:avLst/>
          </a:prstGeom>
          <a:solidFill>
            <a:srgbClr val="9A6600"/>
          </a:solidFill>
          <a:ln/>
        </p:spPr>
      </p:sp>
      <p:sp>
        <p:nvSpPr>
          <p:cNvPr id="10" name="Shape 8"/>
          <p:cNvSpPr/>
          <p:nvPr/>
        </p:nvSpPr>
        <p:spPr>
          <a:xfrm>
            <a:off x="429768" y="2194560"/>
            <a:ext cx="11329416" cy="365760"/>
          </a:xfrm>
          <a:prstGeom prst="rect">
            <a:avLst/>
          </a:prstGeom>
          <a:solidFill>
            <a:srgbClr val="9A6600"/>
          </a:solidFill>
          <a:ln/>
        </p:spPr>
      </p:sp>
      <p:sp>
        <p:nvSpPr>
          <p:cNvPr id="11" name="Text 9"/>
          <p:cNvSpPr/>
          <p:nvPr/>
        </p:nvSpPr>
        <p:spPr>
          <a:xfrm>
            <a:off x="630936" y="2194560"/>
            <a:ext cx="1101852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PepsiCo 2020 — 핵심 개념</a:t>
            </a:r>
            <a:endParaRPr lang="en-US" sz="1500" dirty="0"/>
          </a:p>
        </p:txBody>
      </p:sp>
      <p:sp>
        <p:nvSpPr>
          <p:cNvPr id="12" name="Text 10"/>
          <p:cNvSpPr/>
          <p:nvPr/>
        </p:nvSpPr>
        <p:spPr>
          <a:xfrm>
            <a:off x="649224" y="2743200"/>
            <a:ext cx="10908792" cy="69494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ROE = 50.5%  — 자금조달 비용 차감 후 (부채 효과 포함).</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ROA = 9.5%  — de-levered (부채 효과 제외).</a:t>
            </a:r>
            <a:endParaRPr lang="en-US" sz="1200" dirty="0"/>
          </a:p>
          <a:p>
            <a:pPr marL="342900" indent="-342900">
              <a:lnSpc>
                <a:spcPct val="105000"/>
              </a:lnSpc>
              <a:buSzPct val="100000"/>
              <a:buChar char="▪"/>
            </a:pPr>
            <a:r>
              <a:rPr lang="en-US" sz="1200" b="1" dirty="0">
                <a:solidFill>
                  <a:srgbClr val="1E7A4C"/>
                </a:solidFill>
                <a:latin typeface="Calibri" pitchFamily="34" charset="0"/>
                <a:ea typeface="Calibri" pitchFamily="34" charset="-122"/>
                <a:cs typeface="Calibri" pitchFamily="34" charset="-120"/>
              </a:rPr>
              <a:t>ROFL = 41.0%  — 주주 수익률에 대한 레버리지의 기여.</a:t>
            </a:r>
            <a:endParaRPr lang="en-US" sz="1200" dirty="0"/>
          </a:p>
        </p:txBody>
      </p:sp>
      <p:sp>
        <p:nvSpPr>
          <p:cNvPr id="13" name="Shape 11"/>
          <p:cNvSpPr/>
          <p:nvPr/>
        </p:nvSpPr>
        <p:spPr>
          <a:xfrm>
            <a:off x="429768" y="3913632"/>
            <a:ext cx="3538728" cy="2139696"/>
          </a:xfrm>
          <a:prstGeom prst="rect">
            <a:avLst/>
          </a:prstGeom>
          <a:solidFill>
            <a:srgbClr val="FFFFFF"/>
          </a:solidFill>
          <a:ln w="12700">
            <a:solidFill>
              <a:srgbClr val="DCE3EE"/>
            </a:solidFill>
            <a:prstDash val="solid"/>
          </a:ln>
        </p:spPr>
      </p:sp>
      <p:sp>
        <p:nvSpPr>
          <p:cNvPr id="14" name="Shape 12"/>
          <p:cNvSpPr/>
          <p:nvPr/>
        </p:nvSpPr>
        <p:spPr>
          <a:xfrm>
            <a:off x="429768" y="3913632"/>
            <a:ext cx="82296" cy="2139696"/>
          </a:xfrm>
          <a:prstGeom prst="rect">
            <a:avLst/>
          </a:prstGeom>
          <a:solidFill>
            <a:srgbClr val="1E7A4C"/>
          </a:solidFill>
          <a:ln/>
        </p:spPr>
      </p:sp>
      <p:sp>
        <p:nvSpPr>
          <p:cNvPr id="15" name="Shape 13"/>
          <p:cNvSpPr/>
          <p:nvPr/>
        </p:nvSpPr>
        <p:spPr>
          <a:xfrm>
            <a:off x="1933956" y="3639312"/>
            <a:ext cx="530352" cy="530352"/>
          </a:xfrm>
          <a:prstGeom prst="ellipse">
            <a:avLst/>
          </a:prstGeom>
          <a:solidFill>
            <a:srgbClr val="1E7A4C"/>
          </a:solidFill>
          <a:ln/>
        </p:spPr>
      </p:sp>
      <p:sp>
        <p:nvSpPr>
          <p:cNvPr id="16" name="Text 14"/>
          <p:cNvSpPr/>
          <p:nvPr/>
        </p:nvSpPr>
        <p:spPr>
          <a:xfrm>
            <a:off x="1933956" y="3639312"/>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612648" y="4315968"/>
            <a:ext cx="3172968" cy="365760"/>
          </a:xfrm>
          <a:prstGeom prst="rect">
            <a:avLst/>
          </a:prstGeom>
          <a:noFill/>
          <a:ln/>
        </p:spPr>
        <p:txBody>
          <a:bodyPr wrap="square" lIns="0" tIns="0" rIns="0" bIns="0" rtlCol="0" anchor="ctr"/>
          <a:lstStyle/>
          <a:p>
            <a:pPr algn="ctr" indent="0" marL="0">
              <a:buNone/>
            </a:pPr>
            <a:r>
              <a:rPr lang="en-US" sz="1500" b="1" dirty="0">
                <a:solidFill>
                  <a:srgbClr val="1E7A4C"/>
                </a:solidFill>
                <a:latin typeface="Calibri" pitchFamily="34" charset="0"/>
                <a:ea typeface="Calibri" pitchFamily="34" charset="-122"/>
                <a:cs typeface="Calibri" pitchFamily="34" charset="-120"/>
              </a:rPr>
              <a:t>Positive ROFL</a:t>
            </a:r>
            <a:endParaRPr lang="en-US" sz="1500" dirty="0"/>
          </a:p>
        </p:txBody>
      </p:sp>
      <p:sp>
        <p:nvSpPr>
          <p:cNvPr id="18" name="Text 16"/>
          <p:cNvSpPr/>
          <p:nvPr/>
        </p:nvSpPr>
        <p:spPr>
          <a:xfrm>
            <a:off x="685800" y="4718304"/>
            <a:ext cx="3026664" cy="118872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레버리지가 ROE를 높임.</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부채가 효과적으로 활용됨.</a:t>
            </a:r>
            <a:endParaRPr lang="en-US" sz="1250" dirty="0"/>
          </a:p>
        </p:txBody>
      </p:sp>
      <p:sp>
        <p:nvSpPr>
          <p:cNvPr id="19" name="Shape 17"/>
          <p:cNvSpPr/>
          <p:nvPr/>
        </p:nvSpPr>
        <p:spPr>
          <a:xfrm>
            <a:off x="4325112" y="3913632"/>
            <a:ext cx="3538728" cy="2139696"/>
          </a:xfrm>
          <a:prstGeom prst="rect">
            <a:avLst/>
          </a:prstGeom>
          <a:solidFill>
            <a:srgbClr val="FFFFFF"/>
          </a:solidFill>
          <a:ln w="12700">
            <a:solidFill>
              <a:srgbClr val="DCE3EE"/>
            </a:solidFill>
            <a:prstDash val="solid"/>
          </a:ln>
        </p:spPr>
      </p:sp>
      <p:sp>
        <p:nvSpPr>
          <p:cNvPr id="20" name="Shape 18"/>
          <p:cNvSpPr/>
          <p:nvPr/>
        </p:nvSpPr>
        <p:spPr>
          <a:xfrm>
            <a:off x="4325112" y="3913632"/>
            <a:ext cx="82296" cy="2139696"/>
          </a:xfrm>
          <a:prstGeom prst="rect">
            <a:avLst/>
          </a:prstGeom>
          <a:solidFill>
            <a:srgbClr val="B3261E"/>
          </a:solidFill>
          <a:ln/>
        </p:spPr>
      </p:sp>
      <p:sp>
        <p:nvSpPr>
          <p:cNvPr id="21" name="Shape 19"/>
          <p:cNvSpPr/>
          <p:nvPr/>
        </p:nvSpPr>
        <p:spPr>
          <a:xfrm>
            <a:off x="5829300" y="3639312"/>
            <a:ext cx="530352" cy="530352"/>
          </a:xfrm>
          <a:prstGeom prst="ellipse">
            <a:avLst/>
          </a:prstGeom>
          <a:solidFill>
            <a:srgbClr val="B3261E"/>
          </a:solidFill>
          <a:ln/>
        </p:spPr>
      </p:sp>
      <p:sp>
        <p:nvSpPr>
          <p:cNvPr id="22" name="Text 20"/>
          <p:cNvSpPr/>
          <p:nvPr/>
        </p:nvSpPr>
        <p:spPr>
          <a:xfrm>
            <a:off x="5829300" y="3639312"/>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23" name="Text 21"/>
          <p:cNvSpPr/>
          <p:nvPr/>
        </p:nvSpPr>
        <p:spPr>
          <a:xfrm>
            <a:off x="4507992" y="4315968"/>
            <a:ext cx="3172968" cy="365760"/>
          </a:xfrm>
          <a:prstGeom prst="rect">
            <a:avLst/>
          </a:prstGeom>
          <a:noFill/>
          <a:ln/>
        </p:spPr>
        <p:txBody>
          <a:bodyPr wrap="square" lIns="0" tIns="0" rIns="0" bIns="0" rtlCol="0" anchor="ctr"/>
          <a:lstStyle/>
          <a:p>
            <a:pPr algn="ctr" indent="0" marL="0">
              <a:buNone/>
            </a:pPr>
            <a:r>
              <a:rPr lang="en-US" sz="1500" b="1" dirty="0">
                <a:solidFill>
                  <a:srgbClr val="B3261E"/>
                </a:solidFill>
                <a:latin typeface="Calibri" pitchFamily="34" charset="0"/>
                <a:ea typeface="Calibri" pitchFamily="34" charset="-122"/>
                <a:cs typeface="Calibri" pitchFamily="34" charset="-120"/>
              </a:rPr>
              <a:t>Negative ROFL</a:t>
            </a:r>
            <a:endParaRPr lang="en-US" sz="1500" dirty="0"/>
          </a:p>
        </p:txBody>
      </p:sp>
      <p:sp>
        <p:nvSpPr>
          <p:cNvPr id="24" name="Text 22"/>
          <p:cNvSpPr/>
          <p:nvPr/>
        </p:nvSpPr>
        <p:spPr>
          <a:xfrm>
            <a:off x="4581144" y="4718304"/>
            <a:ext cx="3026664" cy="118872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레버리지가 ROE를 낮춤.</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부채 비용이 편익을 초과.</a:t>
            </a:r>
            <a:endParaRPr lang="en-US" sz="1250" dirty="0"/>
          </a:p>
        </p:txBody>
      </p:sp>
      <p:sp>
        <p:nvSpPr>
          <p:cNvPr id="25" name="Shape 23"/>
          <p:cNvSpPr/>
          <p:nvPr/>
        </p:nvSpPr>
        <p:spPr>
          <a:xfrm>
            <a:off x="8220456" y="3913632"/>
            <a:ext cx="3538728" cy="2139696"/>
          </a:xfrm>
          <a:prstGeom prst="rect">
            <a:avLst/>
          </a:prstGeom>
          <a:solidFill>
            <a:srgbClr val="FFFFFF"/>
          </a:solidFill>
          <a:ln w="12700">
            <a:solidFill>
              <a:srgbClr val="DCE3EE"/>
            </a:solidFill>
            <a:prstDash val="solid"/>
          </a:ln>
        </p:spPr>
      </p:sp>
      <p:sp>
        <p:nvSpPr>
          <p:cNvPr id="26" name="Shape 24"/>
          <p:cNvSpPr/>
          <p:nvPr/>
        </p:nvSpPr>
        <p:spPr>
          <a:xfrm>
            <a:off x="8220456" y="3913632"/>
            <a:ext cx="82296" cy="2139696"/>
          </a:xfrm>
          <a:prstGeom prst="rect">
            <a:avLst/>
          </a:prstGeom>
          <a:solidFill>
            <a:srgbClr val="9A6600"/>
          </a:solidFill>
          <a:ln/>
        </p:spPr>
      </p:sp>
      <p:sp>
        <p:nvSpPr>
          <p:cNvPr id="27" name="Shape 25"/>
          <p:cNvSpPr/>
          <p:nvPr/>
        </p:nvSpPr>
        <p:spPr>
          <a:xfrm>
            <a:off x="9724644" y="3639312"/>
            <a:ext cx="530352" cy="530352"/>
          </a:xfrm>
          <a:prstGeom prst="ellipse">
            <a:avLst/>
          </a:prstGeom>
          <a:solidFill>
            <a:srgbClr val="9A6600"/>
          </a:solidFill>
          <a:ln/>
        </p:spPr>
      </p:sp>
      <p:sp>
        <p:nvSpPr>
          <p:cNvPr id="28" name="Text 26"/>
          <p:cNvSpPr/>
          <p:nvPr/>
        </p:nvSpPr>
        <p:spPr>
          <a:xfrm>
            <a:off x="9724644" y="3639312"/>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29" name="Text 27"/>
          <p:cNvSpPr/>
          <p:nvPr/>
        </p:nvSpPr>
        <p:spPr>
          <a:xfrm>
            <a:off x="8403336" y="4315968"/>
            <a:ext cx="3172968" cy="365760"/>
          </a:xfrm>
          <a:prstGeom prst="rect">
            <a:avLst/>
          </a:prstGeom>
          <a:noFill/>
          <a:ln/>
        </p:spPr>
        <p:txBody>
          <a:bodyPr wrap="square" lIns="0" tIns="0" rIns="0" bIns="0" rtlCol="0" anchor="ctr"/>
          <a:lstStyle/>
          <a:p>
            <a:pPr algn="ctr" indent="0" marL="0">
              <a:buNone/>
            </a:pPr>
            <a:r>
              <a:rPr lang="en-US" sz="1500" b="1" dirty="0">
                <a:solidFill>
                  <a:srgbClr val="9A6600"/>
                </a:solidFill>
                <a:latin typeface="Calibri" pitchFamily="34" charset="0"/>
                <a:ea typeface="Calibri" pitchFamily="34" charset="-122"/>
                <a:cs typeface="Calibri" pitchFamily="34" charset="-120"/>
              </a:rPr>
              <a:t>Higher ROFL</a:t>
            </a:r>
            <a:endParaRPr lang="en-US" sz="1500" dirty="0"/>
          </a:p>
        </p:txBody>
      </p:sp>
      <p:sp>
        <p:nvSpPr>
          <p:cNvPr id="30" name="Text 28"/>
          <p:cNvSpPr/>
          <p:nvPr/>
        </p:nvSpPr>
        <p:spPr>
          <a:xfrm>
            <a:off x="8476488" y="4718304"/>
            <a:ext cx="3026664" cy="118872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위험도 상승.</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이익과 손실을 모두 증폭.</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Trade-Off Between Profit Margin &amp; Asset Turnover</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12</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ROA   =   Profit Margin (Profitability)   ×   Asset Turnover (Efficiency)</a:t>
            </a:r>
            <a:endParaRPr lang="en-US" sz="1700" dirty="0"/>
          </a:p>
        </p:txBody>
      </p:sp>
      <p:sp>
        <p:nvSpPr>
          <p:cNvPr id="8" name="Shape 6"/>
          <p:cNvSpPr/>
          <p:nvPr/>
        </p:nvSpPr>
        <p:spPr>
          <a:xfrm>
            <a:off x="429768" y="2377440"/>
            <a:ext cx="5486400" cy="2103120"/>
          </a:xfrm>
          <a:prstGeom prst="rect">
            <a:avLst/>
          </a:prstGeom>
          <a:solidFill>
            <a:srgbClr val="FFFFFF"/>
          </a:solidFill>
          <a:ln w="12700">
            <a:solidFill>
              <a:srgbClr val="DCE3EE"/>
            </a:solidFill>
            <a:prstDash val="solid"/>
          </a:ln>
        </p:spPr>
      </p:sp>
      <p:sp>
        <p:nvSpPr>
          <p:cNvPr id="9" name="Shape 7"/>
          <p:cNvSpPr/>
          <p:nvPr/>
        </p:nvSpPr>
        <p:spPr>
          <a:xfrm>
            <a:off x="429768" y="2377440"/>
            <a:ext cx="82296" cy="2103120"/>
          </a:xfrm>
          <a:prstGeom prst="rect">
            <a:avLst/>
          </a:prstGeom>
          <a:solidFill>
            <a:srgbClr val="1F4899"/>
          </a:solidFill>
          <a:ln/>
        </p:spPr>
      </p:sp>
      <p:sp>
        <p:nvSpPr>
          <p:cNvPr id="10" name="Shape 8"/>
          <p:cNvSpPr/>
          <p:nvPr/>
        </p:nvSpPr>
        <p:spPr>
          <a:xfrm>
            <a:off x="429768" y="2377440"/>
            <a:ext cx="5486400" cy="420624"/>
          </a:xfrm>
          <a:prstGeom prst="rect">
            <a:avLst/>
          </a:prstGeom>
          <a:solidFill>
            <a:srgbClr val="1F4899"/>
          </a:solidFill>
          <a:ln/>
        </p:spPr>
      </p:sp>
      <p:sp>
        <p:nvSpPr>
          <p:cNvPr id="11" name="Text 9"/>
          <p:cNvSpPr/>
          <p:nvPr/>
        </p:nvSpPr>
        <p:spPr>
          <a:xfrm>
            <a:off x="630936" y="237744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High PM Strategy</a:t>
            </a:r>
            <a:endParaRPr lang="en-US" sz="1500" dirty="0"/>
          </a:p>
        </p:txBody>
      </p:sp>
      <p:sp>
        <p:nvSpPr>
          <p:cNvPr id="12" name="Text 10"/>
          <p:cNvSpPr/>
          <p:nvPr/>
        </p:nvSpPr>
        <p:spPr>
          <a:xfrm>
            <a:off x="649224" y="2980944"/>
            <a:ext cx="5065776" cy="1371600"/>
          </a:xfrm>
          <a:prstGeom prst="rect">
            <a:avLst/>
          </a:prstGeom>
          <a:noFill/>
          <a:ln/>
        </p:spPr>
        <p:txBody>
          <a:bodyPr wrap="square" lIns="0" tIns="0" rIns="0" bIns="0" rtlCol="0" anchor="t"/>
          <a:lstStyle/>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프리미엄 가격, 낮은 물량.</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높은 자산 투자.</a:t>
            </a:r>
            <a:endParaRPr lang="en-US" sz="1350" dirty="0"/>
          </a:p>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예: Utilities.</a:t>
            </a:r>
            <a:endParaRPr lang="en-US" sz="1350" dirty="0"/>
          </a:p>
        </p:txBody>
      </p:sp>
      <p:sp>
        <p:nvSpPr>
          <p:cNvPr id="13" name="Shape 11"/>
          <p:cNvSpPr/>
          <p:nvPr/>
        </p:nvSpPr>
        <p:spPr>
          <a:xfrm>
            <a:off x="6272784" y="2377440"/>
            <a:ext cx="5486400" cy="2103120"/>
          </a:xfrm>
          <a:prstGeom prst="rect">
            <a:avLst/>
          </a:prstGeom>
          <a:solidFill>
            <a:srgbClr val="FFFFFF"/>
          </a:solidFill>
          <a:ln w="12700">
            <a:solidFill>
              <a:srgbClr val="DCE3EE"/>
            </a:solidFill>
            <a:prstDash val="solid"/>
          </a:ln>
        </p:spPr>
      </p:sp>
      <p:sp>
        <p:nvSpPr>
          <p:cNvPr id="14" name="Shape 12"/>
          <p:cNvSpPr/>
          <p:nvPr/>
        </p:nvSpPr>
        <p:spPr>
          <a:xfrm>
            <a:off x="6272784" y="2377440"/>
            <a:ext cx="82296" cy="2103120"/>
          </a:xfrm>
          <a:prstGeom prst="rect">
            <a:avLst/>
          </a:prstGeom>
          <a:solidFill>
            <a:srgbClr val="0F6E7A"/>
          </a:solidFill>
          <a:ln/>
        </p:spPr>
      </p:sp>
      <p:sp>
        <p:nvSpPr>
          <p:cNvPr id="15" name="Shape 13"/>
          <p:cNvSpPr/>
          <p:nvPr/>
        </p:nvSpPr>
        <p:spPr>
          <a:xfrm>
            <a:off x="6272784" y="2377440"/>
            <a:ext cx="5486400" cy="420624"/>
          </a:xfrm>
          <a:prstGeom prst="rect">
            <a:avLst/>
          </a:prstGeom>
          <a:solidFill>
            <a:srgbClr val="0F6E7A"/>
          </a:solidFill>
          <a:ln/>
        </p:spPr>
      </p:sp>
      <p:sp>
        <p:nvSpPr>
          <p:cNvPr id="16" name="Text 14"/>
          <p:cNvSpPr/>
          <p:nvPr/>
        </p:nvSpPr>
        <p:spPr>
          <a:xfrm>
            <a:off x="6473952" y="237744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High AT Strategy</a:t>
            </a:r>
            <a:endParaRPr lang="en-US" sz="1500" dirty="0"/>
          </a:p>
        </p:txBody>
      </p:sp>
      <p:sp>
        <p:nvSpPr>
          <p:cNvPr id="17" name="Text 15"/>
          <p:cNvSpPr/>
          <p:nvPr/>
        </p:nvSpPr>
        <p:spPr>
          <a:xfrm>
            <a:off x="6492240" y="2980944"/>
            <a:ext cx="5065776" cy="1371600"/>
          </a:xfrm>
          <a:prstGeom prst="rect">
            <a:avLst/>
          </a:prstGeom>
          <a:noFill/>
          <a:ln/>
        </p:spPr>
        <p:txBody>
          <a:bodyPr wrap="square" lIns="0" tIns="0" rIns="0" bIns="0" rtlCol="0" anchor="t"/>
          <a:lstStyle/>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낮은 마진, 높은 물량.</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효율적 자산 활용.</a:t>
            </a:r>
            <a:endParaRPr lang="en-US" sz="1350" dirty="0"/>
          </a:p>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예: Retail.</a:t>
            </a:r>
            <a:endParaRPr lang="en-US" sz="1350" dirty="0"/>
          </a:p>
        </p:txBody>
      </p:sp>
      <p:sp>
        <p:nvSpPr>
          <p:cNvPr id="18" name="Shape 16"/>
          <p:cNvSpPr/>
          <p:nvPr/>
        </p:nvSpPr>
        <p:spPr>
          <a:xfrm>
            <a:off x="429768" y="4700016"/>
            <a:ext cx="11329416" cy="548640"/>
          </a:xfrm>
          <a:prstGeom prst="rect">
            <a:avLst/>
          </a:prstGeom>
          <a:solidFill>
            <a:srgbClr val="E9F5EE"/>
          </a:solidFill>
          <a:ln w="12700">
            <a:solidFill>
              <a:srgbClr val="1E7A4C"/>
            </a:solidFill>
            <a:prstDash val="solid"/>
          </a:ln>
        </p:spPr>
      </p:sp>
      <p:sp>
        <p:nvSpPr>
          <p:cNvPr id="19" name="Text 17"/>
          <p:cNvSpPr/>
          <p:nvPr/>
        </p:nvSpPr>
        <p:spPr>
          <a:xfrm>
            <a:off x="667512" y="4700016"/>
            <a:ext cx="10853928" cy="548640"/>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iso-ROA 곡선: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곡선을 따라 이동 = 전략의 변화 (성과 아님).  더 높은 곡선으로 이동 = 영업 성과의 개선.</a:t>
            </a:r>
            <a:endParaRPr lang="en-US" sz="1300" dirty="0"/>
          </a:p>
        </p:txBody>
      </p:sp>
      <p:sp>
        <p:nvSpPr>
          <p:cNvPr id="20" name="Shape 18"/>
          <p:cNvSpPr/>
          <p:nvPr/>
        </p:nvSpPr>
        <p:spPr>
          <a:xfrm>
            <a:off x="429768" y="5358384"/>
            <a:ext cx="11329416" cy="457200"/>
          </a:xfrm>
          <a:prstGeom prst="rect">
            <a:avLst/>
          </a:prstGeom>
          <a:solidFill>
            <a:srgbClr val="14306B"/>
          </a:solidFill>
          <a:ln/>
        </p:spPr>
      </p:sp>
      <p:sp>
        <p:nvSpPr>
          <p:cNvPr id="21" name="Text 19"/>
          <p:cNvSpPr/>
          <p:nvPr/>
        </p:nvSpPr>
        <p:spPr>
          <a:xfrm>
            <a:off x="685800" y="5358384"/>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서로 다른 PM–AT 조합으로도 동일한 ROA를 달성할 수 있습니다 — 최적 조합은 사업 모델에 달렸습니다.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Further Disaggregation of Profit Margin (PM)</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13</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Profit Margin은 총이익률(GPM)과 비용-매출 비율(ETS)로 나누어 볼 수 있습니다.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2</a:t>
            </a:r>
            <a:endParaRPr lang="en-US" sz="1050" dirty="0"/>
          </a:p>
        </p:txBody>
      </p:sp>
      <p:sp>
        <p:nvSpPr>
          <p:cNvPr id="10" name="Shape 8"/>
          <p:cNvSpPr/>
          <p:nvPr/>
        </p:nvSpPr>
        <p:spPr>
          <a:xfrm>
            <a:off x="429768" y="2286000"/>
            <a:ext cx="5486400" cy="2286000"/>
          </a:xfrm>
          <a:prstGeom prst="rect">
            <a:avLst/>
          </a:prstGeom>
          <a:solidFill>
            <a:srgbClr val="FFFFFF"/>
          </a:solidFill>
          <a:ln w="12700">
            <a:solidFill>
              <a:srgbClr val="DCE3EE"/>
            </a:solidFill>
            <a:prstDash val="solid"/>
          </a:ln>
        </p:spPr>
      </p:sp>
      <p:sp>
        <p:nvSpPr>
          <p:cNvPr id="11" name="Shape 9"/>
          <p:cNvSpPr/>
          <p:nvPr/>
        </p:nvSpPr>
        <p:spPr>
          <a:xfrm>
            <a:off x="429768" y="2286000"/>
            <a:ext cx="82296" cy="2286000"/>
          </a:xfrm>
          <a:prstGeom prst="rect">
            <a:avLst/>
          </a:prstGeom>
          <a:solidFill>
            <a:srgbClr val="1F4899"/>
          </a:solidFill>
          <a:ln/>
        </p:spPr>
      </p:sp>
      <p:sp>
        <p:nvSpPr>
          <p:cNvPr id="12" name="Shape 10"/>
          <p:cNvSpPr/>
          <p:nvPr/>
        </p:nvSpPr>
        <p:spPr>
          <a:xfrm>
            <a:off x="429768" y="2286000"/>
            <a:ext cx="5486400" cy="420624"/>
          </a:xfrm>
          <a:prstGeom prst="rect">
            <a:avLst/>
          </a:prstGeom>
          <a:solidFill>
            <a:srgbClr val="1F4899"/>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 Gross Profit Margin (GPM)</a:t>
            </a:r>
            <a:endParaRPr lang="en-US" sz="1500" dirty="0"/>
          </a:p>
        </p:txBody>
      </p:sp>
      <p:sp>
        <p:nvSpPr>
          <p:cNvPr id="14" name="Text 12"/>
          <p:cNvSpPr/>
          <p:nvPr/>
        </p:nvSpPr>
        <p:spPr>
          <a:xfrm>
            <a:off x="649224" y="2889504"/>
            <a:ext cx="5065776" cy="155448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(Sales − COGS) / Sales.</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제품 가격, 생산 효율, 원가 통제를 반영.</a:t>
            </a:r>
            <a:endParaRPr lang="en-US" sz="1200" dirty="0"/>
          </a:p>
          <a:p>
            <a:pPr marL="342900" indent="-342900">
              <a:lnSpc>
                <a:spcPct val="105000"/>
              </a:lnSpc>
              <a:buSzPct val="100000"/>
              <a:buChar char="▪"/>
            </a:pPr>
            <a:r>
              <a:rPr lang="en-US" sz="1200" b="1" dirty="0">
                <a:solidFill>
                  <a:srgbClr val="1E7A4C"/>
                </a:solidFill>
                <a:latin typeface="Calibri" pitchFamily="34" charset="0"/>
                <a:ea typeface="Calibri" pitchFamily="34" charset="-122"/>
                <a:cs typeface="Calibri" pitchFamily="34" charset="-120"/>
              </a:rPr>
              <a:t>PepsiCo 2020: 54.8%</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매출 1달러 중 55￠가 생산 후 남음 → R&amp;D·마케팅 재원.</a:t>
            </a:r>
            <a:endParaRPr lang="en-US" sz="1200" dirty="0"/>
          </a:p>
        </p:txBody>
      </p:sp>
      <p:sp>
        <p:nvSpPr>
          <p:cNvPr id="15" name="Shape 13"/>
          <p:cNvSpPr/>
          <p:nvPr/>
        </p:nvSpPr>
        <p:spPr>
          <a:xfrm>
            <a:off x="6272784" y="2286000"/>
            <a:ext cx="5486400" cy="228600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286000"/>
          </a:xfrm>
          <a:prstGeom prst="rect">
            <a:avLst/>
          </a:prstGeom>
          <a:solidFill>
            <a:srgbClr val="0F6E7A"/>
          </a:solidFill>
          <a:ln/>
        </p:spPr>
      </p:sp>
      <p:sp>
        <p:nvSpPr>
          <p:cNvPr id="17" name="Shape 15"/>
          <p:cNvSpPr/>
          <p:nvPr/>
        </p:nvSpPr>
        <p:spPr>
          <a:xfrm>
            <a:off x="6272784" y="2286000"/>
            <a:ext cx="5486400" cy="420624"/>
          </a:xfrm>
          <a:prstGeom prst="rect">
            <a:avLst/>
          </a:prstGeom>
          <a:solidFill>
            <a:srgbClr val="0F6E7A"/>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2. Expense-to-Sales Ratio (ETS)</a:t>
            </a:r>
            <a:endParaRPr lang="en-US" sz="1500" dirty="0"/>
          </a:p>
        </p:txBody>
      </p:sp>
      <p:sp>
        <p:nvSpPr>
          <p:cNvPr id="19" name="Text 17"/>
          <p:cNvSpPr/>
          <p:nvPr/>
        </p:nvSpPr>
        <p:spPr>
          <a:xfrm>
            <a:off x="6492240" y="2889504"/>
            <a:ext cx="5065776" cy="155448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Operating Expenses / Sales.</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SG&amp;A, 마케팅, R&amp;D, 광고비를 포함.</a:t>
            </a:r>
            <a:endParaRPr lang="en-US" sz="1200" dirty="0"/>
          </a:p>
          <a:p>
            <a:pPr marL="342900" indent="-342900">
              <a:lnSpc>
                <a:spcPct val="105000"/>
              </a:lnSpc>
              <a:buSzPct val="100000"/>
              <a:buChar char="▪"/>
            </a:pPr>
            <a:r>
              <a:rPr lang="en-US" sz="1200" b="1" dirty="0">
                <a:solidFill>
                  <a:srgbClr val="9A6600"/>
                </a:solidFill>
                <a:latin typeface="Calibri" pitchFamily="34" charset="0"/>
                <a:ea typeface="Calibri" pitchFamily="34" charset="-122"/>
                <a:cs typeface="Calibri" pitchFamily="34" charset="-120"/>
              </a:rPr>
              <a:t>PepsiCo 2020: 40.5%</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매출 1달러 중 41￠가 판매·관리·간접비로 쓰임.</a:t>
            </a:r>
            <a:endParaRPr lang="en-US" sz="1200" dirty="0"/>
          </a:p>
        </p:txBody>
      </p:sp>
      <p:sp>
        <p:nvSpPr>
          <p:cNvPr id="20" name="Shape 18"/>
          <p:cNvSpPr/>
          <p:nvPr/>
        </p:nvSpPr>
        <p:spPr>
          <a:xfrm>
            <a:off x="429768" y="4828032"/>
            <a:ext cx="11329416" cy="566928"/>
          </a:xfrm>
          <a:prstGeom prst="rect">
            <a:avLst/>
          </a:prstGeom>
          <a:solidFill>
            <a:srgbClr val="14306B"/>
          </a:solidFill>
          <a:ln/>
        </p:spPr>
      </p:sp>
      <p:sp>
        <p:nvSpPr>
          <p:cNvPr id="21" name="Text 19"/>
          <p:cNvSpPr/>
          <p:nvPr/>
        </p:nvSpPr>
        <p:spPr>
          <a:xfrm>
            <a:off x="685800" y="4828032"/>
            <a:ext cx="10817352" cy="5669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매출 $1.00  −  COGS $0.45  =  Gross $0.55   −  SG&amp;A/R&amp;D/Mktg $0.41  =  Op Income $0.04   −  이자·세금 $0.02  =  Net Income $0.02.</a:t>
            </a:r>
            <a:endParaRPr lang="en-US" sz="1200" dirty="0"/>
          </a:p>
        </p:txBody>
      </p:sp>
      <p:sp>
        <p:nvSpPr>
          <p:cNvPr id="22" name="Shape 20"/>
          <p:cNvSpPr/>
          <p:nvPr/>
        </p:nvSpPr>
        <p:spPr>
          <a:xfrm>
            <a:off x="429768" y="5541264"/>
            <a:ext cx="11329416" cy="512064"/>
          </a:xfrm>
          <a:prstGeom prst="rect">
            <a:avLst/>
          </a:prstGeom>
          <a:solidFill>
            <a:srgbClr val="E9F5EE"/>
          </a:solidFill>
          <a:ln w="12700">
            <a:solidFill>
              <a:srgbClr val="1E7A4C"/>
            </a:solidFill>
            <a:prstDash val="solid"/>
          </a:ln>
        </p:spPr>
      </p:sp>
      <p:sp>
        <p:nvSpPr>
          <p:cNvPr id="23" name="Text 21"/>
          <p:cNvSpPr/>
          <p:nvPr/>
        </p:nvSpPr>
        <p:spPr>
          <a:xfrm>
            <a:off x="667512" y="5541264"/>
            <a:ext cx="10853928" cy="51206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핵심: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높은 GPM은 혁신과 마케팅에 투자할 재원을 만들고, 낮은 ETS는 그 이익을 지켜냅니다.</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ROA Disaggregation</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14</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Light" pitchFamily="34" charset="0"/>
                <a:ea typeface="Calibri Light" pitchFamily="34" charset="-122"/>
                <a:cs typeface="Calibri Light" pitchFamily="34" charset="-120"/>
              </a:rPr>
              <a:t>ROA   =   ( Earnings ÷ Sales )   ×   ( Sales ÷ Avg Total Assets )   =   PM × AT</a:t>
            </a:r>
            <a:endParaRPr lang="en-US" sz="1600" dirty="0"/>
          </a:p>
        </p:txBody>
      </p:sp>
      <p:sp>
        <p:nvSpPr>
          <p:cNvPr id="8" name="Shape 6"/>
          <p:cNvSpPr/>
          <p:nvPr/>
        </p:nvSpPr>
        <p:spPr>
          <a:xfrm>
            <a:off x="429768" y="2286000"/>
            <a:ext cx="5486400" cy="2468880"/>
          </a:xfrm>
          <a:prstGeom prst="rect">
            <a:avLst/>
          </a:prstGeom>
          <a:solidFill>
            <a:srgbClr val="FFFFFF"/>
          </a:solidFill>
          <a:ln w="12700">
            <a:solidFill>
              <a:srgbClr val="DCE3EE"/>
            </a:solidFill>
            <a:prstDash val="solid"/>
          </a:ln>
        </p:spPr>
      </p:sp>
      <p:sp>
        <p:nvSpPr>
          <p:cNvPr id="9" name="Shape 7"/>
          <p:cNvSpPr/>
          <p:nvPr/>
        </p:nvSpPr>
        <p:spPr>
          <a:xfrm>
            <a:off x="429768" y="2286000"/>
            <a:ext cx="82296" cy="2468880"/>
          </a:xfrm>
          <a:prstGeom prst="rect">
            <a:avLst/>
          </a:prstGeom>
          <a:solidFill>
            <a:srgbClr val="1F4899"/>
          </a:solidFill>
          <a:ln/>
        </p:spPr>
      </p:sp>
      <p:sp>
        <p:nvSpPr>
          <p:cNvPr id="10" name="Shape 8"/>
          <p:cNvSpPr/>
          <p:nvPr/>
        </p:nvSpPr>
        <p:spPr>
          <a:xfrm>
            <a:off x="429768" y="2286000"/>
            <a:ext cx="5486400" cy="420624"/>
          </a:xfrm>
          <a:prstGeom prst="rect">
            <a:avLst/>
          </a:prstGeom>
          <a:solidFill>
            <a:srgbClr val="1F4899"/>
          </a:solidFill>
          <a:ln/>
        </p:spPr>
      </p:sp>
      <p:sp>
        <p:nvSpPr>
          <p:cNvPr id="11" name="Text 9"/>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Profit Margin (PM)  ·  Earnings / Net Sales</a:t>
            </a:r>
            <a:endParaRPr lang="en-US" sz="1500" dirty="0"/>
          </a:p>
        </p:txBody>
      </p:sp>
      <p:sp>
        <p:nvSpPr>
          <p:cNvPr id="12" name="Text 10"/>
          <p:cNvSpPr/>
          <p:nvPr/>
        </p:nvSpPr>
        <p:spPr>
          <a:xfrm>
            <a:off x="649224"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Measures: 매출 1달러당 이익 (Profitability).</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영향 요인: Gross profit (가격 vs. COGS).</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Operating expenses (영업비용).</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가격 결정력과 원가 통제.</a:t>
            </a:r>
            <a:endParaRPr lang="en-US" sz="1200" dirty="0"/>
          </a:p>
        </p:txBody>
      </p:sp>
      <p:sp>
        <p:nvSpPr>
          <p:cNvPr id="13" name="Shape 11"/>
          <p:cNvSpPr/>
          <p:nvPr/>
        </p:nvSpPr>
        <p:spPr>
          <a:xfrm>
            <a:off x="6272784" y="2286000"/>
            <a:ext cx="5486400" cy="2468880"/>
          </a:xfrm>
          <a:prstGeom prst="rect">
            <a:avLst/>
          </a:prstGeom>
          <a:solidFill>
            <a:srgbClr val="FFFFFF"/>
          </a:solidFill>
          <a:ln w="12700">
            <a:solidFill>
              <a:srgbClr val="DCE3EE"/>
            </a:solidFill>
            <a:prstDash val="solid"/>
          </a:ln>
        </p:spPr>
      </p:sp>
      <p:sp>
        <p:nvSpPr>
          <p:cNvPr id="14" name="Shape 12"/>
          <p:cNvSpPr/>
          <p:nvPr/>
        </p:nvSpPr>
        <p:spPr>
          <a:xfrm>
            <a:off x="6272784" y="2286000"/>
            <a:ext cx="82296" cy="2468880"/>
          </a:xfrm>
          <a:prstGeom prst="rect">
            <a:avLst/>
          </a:prstGeom>
          <a:solidFill>
            <a:srgbClr val="0F6E7A"/>
          </a:solidFill>
          <a:ln/>
        </p:spPr>
      </p:sp>
      <p:sp>
        <p:nvSpPr>
          <p:cNvPr id="15" name="Shape 13"/>
          <p:cNvSpPr/>
          <p:nvPr/>
        </p:nvSpPr>
        <p:spPr>
          <a:xfrm>
            <a:off x="6272784" y="2286000"/>
            <a:ext cx="5486400" cy="420624"/>
          </a:xfrm>
          <a:prstGeom prst="rect">
            <a:avLst/>
          </a:prstGeom>
          <a:solidFill>
            <a:srgbClr val="0F6E7A"/>
          </a:solidFill>
          <a:ln/>
        </p:spPr>
      </p:sp>
      <p:sp>
        <p:nvSpPr>
          <p:cNvPr id="16" name="Text 14"/>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Asset Turnover (AT)  ·  Net Sales / Avg TA</a:t>
            </a:r>
            <a:endParaRPr lang="en-US" sz="1500" dirty="0"/>
          </a:p>
        </p:txBody>
      </p:sp>
      <p:sp>
        <p:nvSpPr>
          <p:cNvPr id="17" name="Text 15"/>
          <p:cNvSpPr/>
          <p:nvPr/>
        </p:nvSpPr>
        <p:spPr>
          <a:xfrm>
            <a:off x="6492240"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Measures: 자산 1달러당 매출 (Efficiency).</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결정 요인: Inventory 관리.</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Receivables 회수.</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자산 집약도 (산업 특성).</a:t>
            </a:r>
            <a:endParaRPr lang="en-US" sz="1200" dirty="0"/>
          </a:p>
        </p:txBody>
      </p:sp>
      <p:sp>
        <p:nvSpPr>
          <p:cNvPr id="18" name="Shape 16"/>
          <p:cNvSpPr/>
          <p:nvPr/>
        </p:nvSpPr>
        <p:spPr>
          <a:xfrm>
            <a:off x="429768" y="4956048"/>
            <a:ext cx="11329416" cy="457200"/>
          </a:xfrm>
          <a:prstGeom prst="rect">
            <a:avLst/>
          </a:prstGeom>
          <a:solidFill>
            <a:srgbClr val="14306B"/>
          </a:solidFill>
          <a:ln/>
        </p:spPr>
      </p:sp>
      <p:sp>
        <p:nvSpPr>
          <p:cNvPr id="19" name="Text 17"/>
          <p:cNvSpPr/>
          <p:nvPr/>
        </p:nvSpPr>
        <p:spPr>
          <a:xfrm>
            <a:off x="685800" y="4956048"/>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ROA는 기업이 높은 이익을 낼 때 (high PM) 또는 자산을 효율적으로 사용할 때 (high AT) 상승합니다.</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ROE Decomposition — The DuPont Model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15</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ROE   =   Profit Margin   ×   Asset Turnover   ×   Financial Leverage</a:t>
            </a:r>
            <a:endParaRPr lang="en-US" sz="1700" dirty="0"/>
          </a:p>
        </p:txBody>
      </p:sp>
      <p:sp>
        <p:nvSpPr>
          <p:cNvPr id="8" name="Shape 6"/>
          <p:cNvSpPr/>
          <p:nvPr/>
        </p:nvSpPr>
        <p:spPr>
          <a:xfrm>
            <a:off x="429768" y="2615184"/>
            <a:ext cx="3538728" cy="2377440"/>
          </a:xfrm>
          <a:prstGeom prst="rect">
            <a:avLst/>
          </a:prstGeom>
          <a:solidFill>
            <a:srgbClr val="FFFFFF"/>
          </a:solidFill>
          <a:ln w="12700">
            <a:solidFill>
              <a:srgbClr val="DCE3EE"/>
            </a:solidFill>
            <a:prstDash val="solid"/>
          </a:ln>
        </p:spPr>
      </p:sp>
      <p:sp>
        <p:nvSpPr>
          <p:cNvPr id="9" name="Shape 7"/>
          <p:cNvSpPr/>
          <p:nvPr/>
        </p:nvSpPr>
        <p:spPr>
          <a:xfrm>
            <a:off x="429768" y="2615184"/>
            <a:ext cx="82296" cy="2377440"/>
          </a:xfrm>
          <a:prstGeom prst="rect">
            <a:avLst/>
          </a:prstGeom>
          <a:solidFill>
            <a:srgbClr val="1F4899"/>
          </a:solidFill>
          <a:ln/>
        </p:spPr>
      </p:sp>
      <p:sp>
        <p:nvSpPr>
          <p:cNvPr id="10" name="Shape 8"/>
          <p:cNvSpPr/>
          <p:nvPr/>
        </p:nvSpPr>
        <p:spPr>
          <a:xfrm>
            <a:off x="1933956" y="2340864"/>
            <a:ext cx="530352" cy="530352"/>
          </a:xfrm>
          <a:prstGeom prst="ellipse">
            <a:avLst/>
          </a:prstGeom>
          <a:solidFill>
            <a:srgbClr val="1F4899"/>
          </a:solidFill>
          <a:ln/>
        </p:spPr>
      </p:sp>
      <p:sp>
        <p:nvSpPr>
          <p:cNvPr id="11" name="Text 9"/>
          <p:cNvSpPr/>
          <p:nvPr/>
        </p:nvSpPr>
        <p:spPr>
          <a:xfrm>
            <a:off x="1933956"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2" name="Text 10"/>
          <p:cNvSpPr/>
          <p:nvPr/>
        </p:nvSpPr>
        <p:spPr>
          <a:xfrm>
            <a:off x="557784" y="3017520"/>
            <a:ext cx="3282696" cy="365760"/>
          </a:xfrm>
          <a:prstGeom prst="rect">
            <a:avLst/>
          </a:prstGeom>
          <a:noFill/>
          <a:ln/>
        </p:spPr>
        <p:txBody>
          <a:bodyPr wrap="square" lIns="0" tIns="0" rIns="0" bIns="0" rtlCol="0" anchor="ctr"/>
          <a:lstStyle/>
          <a:p>
            <a:pPr algn="ctr" indent="0" marL="0">
              <a:buNone/>
            </a:pPr>
            <a:r>
              <a:rPr lang="en-US" sz="1450" b="1" dirty="0">
                <a:solidFill>
                  <a:srgbClr val="1F4899"/>
                </a:solidFill>
                <a:latin typeface="Calibri" pitchFamily="34" charset="0"/>
                <a:ea typeface="Calibri" pitchFamily="34" charset="-122"/>
                <a:cs typeface="Calibri" pitchFamily="34" charset="-120"/>
              </a:rPr>
              <a:t>Profit Margin</a:t>
            </a:r>
            <a:endParaRPr lang="en-US" sz="1450" dirty="0"/>
          </a:p>
        </p:txBody>
      </p:sp>
      <p:sp>
        <p:nvSpPr>
          <p:cNvPr id="13" name="Text 11"/>
          <p:cNvSpPr/>
          <p:nvPr/>
        </p:nvSpPr>
        <p:spPr>
          <a:xfrm>
            <a:off x="667512" y="3419856"/>
            <a:ext cx="3063240" cy="146304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Earnings / Net Sales.</a:t>
            </a:r>
            <a:endParaRPr lang="en-US" sz="1200" dirty="0"/>
          </a:p>
          <a:p>
            <a:pPr algn="ctr" indent="0" marL="0">
              <a:lnSpc>
                <a:spcPct val="100000"/>
              </a:lnSpc>
              <a:buNone/>
            </a:pP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매출 1달러당 이익</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(Profitability).</a:t>
            </a:r>
            <a:endParaRPr lang="en-US" sz="1200" dirty="0"/>
          </a:p>
        </p:txBody>
      </p:sp>
      <p:sp>
        <p:nvSpPr>
          <p:cNvPr id="14" name="Shape 12"/>
          <p:cNvSpPr/>
          <p:nvPr/>
        </p:nvSpPr>
        <p:spPr>
          <a:xfrm>
            <a:off x="4325112" y="2615184"/>
            <a:ext cx="3538728" cy="2377440"/>
          </a:xfrm>
          <a:prstGeom prst="rect">
            <a:avLst/>
          </a:prstGeom>
          <a:solidFill>
            <a:srgbClr val="FFFFFF"/>
          </a:solidFill>
          <a:ln w="12700">
            <a:solidFill>
              <a:srgbClr val="DCE3EE"/>
            </a:solidFill>
            <a:prstDash val="solid"/>
          </a:ln>
        </p:spPr>
      </p:sp>
      <p:sp>
        <p:nvSpPr>
          <p:cNvPr id="15" name="Shape 13"/>
          <p:cNvSpPr/>
          <p:nvPr/>
        </p:nvSpPr>
        <p:spPr>
          <a:xfrm>
            <a:off x="4325112" y="2615184"/>
            <a:ext cx="82296" cy="2377440"/>
          </a:xfrm>
          <a:prstGeom prst="rect">
            <a:avLst/>
          </a:prstGeom>
          <a:solidFill>
            <a:srgbClr val="0F6E7A"/>
          </a:solidFill>
          <a:ln/>
        </p:spPr>
      </p:sp>
      <p:sp>
        <p:nvSpPr>
          <p:cNvPr id="16" name="Shape 14"/>
          <p:cNvSpPr/>
          <p:nvPr/>
        </p:nvSpPr>
        <p:spPr>
          <a:xfrm>
            <a:off x="5829300" y="2340864"/>
            <a:ext cx="530352" cy="530352"/>
          </a:xfrm>
          <a:prstGeom prst="ellipse">
            <a:avLst/>
          </a:prstGeom>
          <a:solidFill>
            <a:srgbClr val="0F6E7A"/>
          </a:solidFill>
          <a:ln/>
        </p:spPr>
      </p:sp>
      <p:sp>
        <p:nvSpPr>
          <p:cNvPr id="17" name="Text 15"/>
          <p:cNvSpPr/>
          <p:nvPr/>
        </p:nvSpPr>
        <p:spPr>
          <a:xfrm>
            <a:off x="5829300"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p:nvPr/>
        </p:nvSpPr>
        <p:spPr>
          <a:xfrm>
            <a:off x="4453128" y="3017520"/>
            <a:ext cx="3282696" cy="365760"/>
          </a:xfrm>
          <a:prstGeom prst="rect">
            <a:avLst/>
          </a:prstGeom>
          <a:noFill/>
          <a:ln/>
        </p:spPr>
        <p:txBody>
          <a:bodyPr wrap="square" lIns="0" tIns="0" rIns="0" bIns="0" rtlCol="0" anchor="ctr"/>
          <a:lstStyle/>
          <a:p>
            <a:pPr algn="ctr" indent="0" marL="0">
              <a:buNone/>
            </a:pPr>
            <a:r>
              <a:rPr lang="en-US" sz="1450" b="1" dirty="0">
                <a:solidFill>
                  <a:srgbClr val="0F6E7A"/>
                </a:solidFill>
                <a:latin typeface="Calibri" pitchFamily="34" charset="0"/>
                <a:ea typeface="Calibri" pitchFamily="34" charset="-122"/>
                <a:cs typeface="Calibri" pitchFamily="34" charset="-120"/>
              </a:rPr>
              <a:t>Asset Turnover</a:t>
            </a:r>
            <a:endParaRPr lang="en-US" sz="1450" dirty="0"/>
          </a:p>
        </p:txBody>
      </p:sp>
      <p:sp>
        <p:nvSpPr>
          <p:cNvPr id="19" name="Text 17"/>
          <p:cNvSpPr/>
          <p:nvPr/>
        </p:nvSpPr>
        <p:spPr>
          <a:xfrm>
            <a:off x="4562856" y="3419856"/>
            <a:ext cx="3063240" cy="146304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Net Sales / Avg TA.</a:t>
            </a:r>
            <a:endParaRPr lang="en-US" sz="1200" dirty="0"/>
          </a:p>
          <a:p>
            <a:pPr algn="ctr" indent="0" marL="0">
              <a:lnSpc>
                <a:spcPct val="100000"/>
              </a:lnSpc>
              <a:buNone/>
            </a:pP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자산 1달러당 매출</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(Efficiency).</a:t>
            </a:r>
            <a:endParaRPr lang="en-US" sz="1200" dirty="0"/>
          </a:p>
        </p:txBody>
      </p:sp>
      <p:sp>
        <p:nvSpPr>
          <p:cNvPr id="20" name="Shape 18"/>
          <p:cNvSpPr/>
          <p:nvPr/>
        </p:nvSpPr>
        <p:spPr>
          <a:xfrm>
            <a:off x="8220456" y="2615184"/>
            <a:ext cx="3538728" cy="2377440"/>
          </a:xfrm>
          <a:prstGeom prst="rect">
            <a:avLst/>
          </a:prstGeom>
          <a:solidFill>
            <a:srgbClr val="FFFFFF"/>
          </a:solidFill>
          <a:ln w="12700">
            <a:solidFill>
              <a:srgbClr val="DCE3EE"/>
            </a:solidFill>
            <a:prstDash val="solid"/>
          </a:ln>
        </p:spPr>
      </p:sp>
      <p:sp>
        <p:nvSpPr>
          <p:cNvPr id="21" name="Shape 19"/>
          <p:cNvSpPr/>
          <p:nvPr/>
        </p:nvSpPr>
        <p:spPr>
          <a:xfrm>
            <a:off x="8220456" y="2615184"/>
            <a:ext cx="82296" cy="2377440"/>
          </a:xfrm>
          <a:prstGeom prst="rect">
            <a:avLst/>
          </a:prstGeom>
          <a:solidFill>
            <a:srgbClr val="9A6600"/>
          </a:solidFill>
          <a:ln/>
        </p:spPr>
      </p:sp>
      <p:sp>
        <p:nvSpPr>
          <p:cNvPr id="22" name="Shape 20"/>
          <p:cNvSpPr/>
          <p:nvPr/>
        </p:nvSpPr>
        <p:spPr>
          <a:xfrm>
            <a:off x="9724644" y="2340864"/>
            <a:ext cx="530352" cy="530352"/>
          </a:xfrm>
          <a:prstGeom prst="ellipse">
            <a:avLst/>
          </a:prstGeom>
          <a:solidFill>
            <a:srgbClr val="9A6600"/>
          </a:solidFill>
          <a:ln/>
        </p:spPr>
      </p:sp>
      <p:sp>
        <p:nvSpPr>
          <p:cNvPr id="23" name="Text 21"/>
          <p:cNvSpPr/>
          <p:nvPr/>
        </p:nvSpPr>
        <p:spPr>
          <a:xfrm>
            <a:off x="9724644"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4" name="Text 22"/>
          <p:cNvSpPr/>
          <p:nvPr/>
        </p:nvSpPr>
        <p:spPr>
          <a:xfrm>
            <a:off x="8348472" y="3017520"/>
            <a:ext cx="3282696" cy="365760"/>
          </a:xfrm>
          <a:prstGeom prst="rect">
            <a:avLst/>
          </a:prstGeom>
          <a:noFill/>
          <a:ln/>
        </p:spPr>
        <p:txBody>
          <a:bodyPr wrap="square" lIns="0" tIns="0" rIns="0" bIns="0" rtlCol="0" anchor="ctr"/>
          <a:lstStyle/>
          <a:p>
            <a:pPr algn="ctr" indent="0" marL="0">
              <a:buNone/>
            </a:pPr>
            <a:r>
              <a:rPr lang="en-US" sz="1450" b="1" dirty="0">
                <a:solidFill>
                  <a:srgbClr val="9A6600"/>
                </a:solidFill>
                <a:latin typeface="Calibri" pitchFamily="34" charset="0"/>
                <a:ea typeface="Calibri" pitchFamily="34" charset="-122"/>
                <a:cs typeface="Calibri" pitchFamily="34" charset="-120"/>
              </a:rPr>
              <a:t>Financial Leverage</a:t>
            </a:r>
            <a:endParaRPr lang="en-US" sz="1450" dirty="0"/>
          </a:p>
        </p:txBody>
      </p:sp>
      <p:sp>
        <p:nvSpPr>
          <p:cNvPr id="25" name="Text 23"/>
          <p:cNvSpPr/>
          <p:nvPr/>
        </p:nvSpPr>
        <p:spPr>
          <a:xfrm>
            <a:off x="8458200" y="3419856"/>
            <a:ext cx="3063240" cy="146304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Avg TA / Avg Equity.</a:t>
            </a:r>
            <a:endParaRPr lang="en-US" sz="1200" dirty="0"/>
          </a:p>
          <a:p>
            <a:pPr algn="ctr" indent="0" marL="0">
              <a:lnSpc>
                <a:spcPct val="100000"/>
              </a:lnSpc>
              <a:buNone/>
            </a:pP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부채 사용 정도</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(Use of Debt).</a:t>
            </a:r>
            <a:endParaRPr lang="en-US" sz="1200" dirty="0"/>
          </a:p>
        </p:txBody>
      </p:sp>
      <p:sp>
        <p:nvSpPr>
          <p:cNvPr id="26" name="Shape 24"/>
          <p:cNvSpPr/>
          <p:nvPr/>
        </p:nvSpPr>
        <p:spPr>
          <a:xfrm>
            <a:off x="429768" y="5212080"/>
            <a:ext cx="11329416" cy="457200"/>
          </a:xfrm>
          <a:prstGeom prst="rect">
            <a:avLst/>
          </a:prstGeom>
          <a:solidFill>
            <a:srgbClr val="14306B"/>
          </a:solidFill>
          <a:ln/>
        </p:spPr>
      </p:sp>
      <p:sp>
        <p:nvSpPr>
          <p:cNvPr id="27" name="Text 25"/>
          <p:cNvSpPr/>
          <p:nvPr/>
        </p:nvSpPr>
        <p:spPr>
          <a:xfrm>
            <a:off x="685800" y="5212080"/>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ROE는 매출당 이익(↑PM), 자산 효율(↑AT), 또는 레버리지(↑FL)가 늘 때 상승합니다.</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DuPont Model — Structure &amp; Limitations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16</a:t>
            </a:r>
            <a:endParaRPr lang="en-US" sz="1050" dirty="0"/>
          </a:p>
        </p:txBody>
      </p:sp>
      <p:sp>
        <p:nvSpPr>
          <p:cNvPr id="6" name="Shape 4"/>
          <p:cNvSpPr/>
          <p:nvPr/>
        </p:nvSpPr>
        <p:spPr>
          <a:xfrm>
            <a:off x="1098130" y="1444752"/>
            <a:ext cx="9992691" cy="2615184"/>
          </a:xfrm>
          <a:prstGeom prst="rect">
            <a:avLst/>
          </a:prstGeom>
          <a:solidFill>
            <a:srgbClr val="FFFFFF"/>
          </a:solidFill>
          <a:ln w="12700">
            <a:solidFill>
              <a:srgbClr val="DCE3EE"/>
            </a:solidFill>
            <a:prstDash val="solid"/>
          </a:ln>
        </p:spPr>
      </p:sp>
      <p:pic>
        <p:nvPicPr>
          <p:cNvPr id="7" name="Image 0" descr="assets/s17_1.png">    </p:cNvPr>
          <p:cNvPicPr>
            <a:picLocks noChangeAspect="1"/>
          </p:cNvPicPr>
          <p:nvPr/>
        </p:nvPicPr>
        <p:blipFill>
          <a:blip r:embed="rId1"/>
          <a:stretch>
            <a:fillRect/>
          </a:stretch>
        </p:blipFill>
        <p:spPr>
          <a:xfrm>
            <a:off x="1171282" y="1517904"/>
            <a:ext cx="9846387" cy="2468880"/>
          </a:xfrm>
          <a:prstGeom prst="rect">
            <a:avLst/>
          </a:prstGeom>
        </p:spPr>
      </p:pic>
      <p:sp>
        <p:nvSpPr>
          <p:cNvPr id="8" name="Shape 5"/>
          <p:cNvSpPr/>
          <p:nvPr/>
        </p:nvSpPr>
        <p:spPr>
          <a:xfrm>
            <a:off x="429768" y="4443984"/>
            <a:ext cx="5486400" cy="1810512"/>
          </a:xfrm>
          <a:prstGeom prst="rect">
            <a:avLst/>
          </a:prstGeom>
          <a:solidFill>
            <a:srgbClr val="FFFFFF"/>
          </a:solidFill>
          <a:ln w="12700">
            <a:solidFill>
              <a:srgbClr val="DCE3EE"/>
            </a:solidFill>
            <a:prstDash val="solid"/>
          </a:ln>
        </p:spPr>
      </p:sp>
      <p:sp>
        <p:nvSpPr>
          <p:cNvPr id="9" name="Shape 6"/>
          <p:cNvSpPr/>
          <p:nvPr/>
        </p:nvSpPr>
        <p:spPr>
          <a:xfrm>
            <a:off x="429768" y="4443984"/>
            <a:ext cx="82296" cy="1810512"/>
          </a:xfrm>
          <a:prstGeom prst="rect">
            <a:avLst/>
          </a:prstGeom>
          <a:solidFill>
            <a:srgbClr val="1F4899"/>
          </a:solidFill>
          <a:ln/>
        </p:spPr>
      </p:sp>
      <p:sp>
        <p:nvSpPr>
          <p:cNvPr id="10" name="Shape 7"/>
          <p:cNvSpPr/>
          <p:nvPr/>
        </p:nvSpPr>
        <p:spPr>
          <a:xfrm>
            <a:off x="429768" y="4443984"/>
            <a:ext cx="5486400" cy="365760"/>
          </a:xfrm>
          <a:prstGeom prst="rect">
            <a:avLst/>
          </a:prstGeom>
          <a:solidFill>
            <a:srgbClr val="1F4899"/>
          </a:solidFill>
          <a:ln/>
        </p:spPr>
      </p:sp>
      <p:sp>
        <p:nvSpPr>
          <p:cNvPr id="11" name="Text 8"/>
          <p:cNvSpPr/>
          <p:nvPr/>
        </p:nvSpPr>
        <p:spPr>
          <a:xfrm>
            <a:off x="630936" y="4443984"/>
            <a:ext cx="5175504"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성과의 원천을 식별</a:t>
            </a:r>
            <a:endParaRPr lang="en-US" sz="1500" dirty="0"/>
          </a:p>
        </p:txBody>
      </p:sp>
      <p:sp>
        <p:nvSpPr>
          <p:cNvPr id="12" name="Text 9"/>
          <p:cNvSpPr/>
          <p:nvPr/>
        </p:nvSpPr>
        <p:spPr>
          <a:xfrm>
            <a:off x="649224" y="4992624"/>
            <a:ext cx="5065776" cy="1133856"/>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영업 역량 (수익성, 효율성),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또는 재무 구조 (부채 사용).</a:t>
            </a:r>
            <a:endParaRPr lang="en-US" sz="1250" dirty="0"/>
          </a:p>
        </p:txBody>
      </p:sp>
      <p:sp>
        <p:nvSpPr>
          <p:cNvPr id="13" name="Shape 10"/>
          <p:cNvSpPr/>
          <p:nvPr/>
        </p:nvSpPr>
        <p:spPr>
          <a:xfrm>
            <a:off x="6272784" y="4443984"/>
            <a:ext cx="5486400" cy="1810512"/>
          </a:xfrm>
          <a:prstGeom prst="rect">
            <a:avLst/>
          </a:prstGeom>
          <a:solidFill>
            <a:srgbClr val="FFFFFF"/>
          </a:solidFill>
          <a:ln w="12700">
            <a:solidFill>
              <a:srgbClr val="DCE3EE"/>
            </a:solidFill>
            <a:prstDash val="solid"/>
          </a:ln>
        </p:spPr>
      </p:sp>
      <p:sp>
        <p:nvSpPr>
          <p:cNvPr id="14" name="Shape 11"/>
          <p:cNvSpPr/>
          <p:nvPr/>
        </p:nvSpPr>
        <p:spPr>
          <a:xfrm>
            <a:off x="6272784" y="4443984"/>
            <a:ext cx="82296" cy="1810512"/>
          </a:xfrm>
          <a:prstGeom prst="rect">
            <a:avLst/>
          </a:prstGeom>
          <a:solidFill>
            <a:srgbClr val="9A6600"/>
          </a:solidFill>
          <a:ln/>
        </p:spPr>
      </p:sp>
      <p:sp>
        <p:nvSpPr>
          <p:cNvPr id="15" name="Shape 12"/>
          <p:cNvSpPr/>
          <p:nvPr/>
        </p:nvSpPr>
        <p:spPr>
          <a:xfrm>
            <a:off x="6272784" y="4443984"/>
            <a:ext cx="5486400" cy="365760"/>
          </a:xfrm>
          <a:prstGeom prst="rect">
            <a:avLst/>
          </a:prstGeom>
          <a:solidFill>
            <a:srgbClr val="9A6600"/>
          </a:solidFill>
          <a:ln/>
        </p:spPr>
      </p:sp>
      <p:sp>
        <p:nvSpPr>
          <p:cNvPr id="16" name="Text 13"/>
          <p:cNvSpPr/>
          <p:nvPr/>
        </p:nvSpPr>
        <p:spPr>
          <a:xfrm>
            <a:off x="6473952" y="4443984"/>
            <a:ext cx="5175504"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a:t>
            </a:r>
            <a:endParaRPr lang="en-US" sz="1500" dirty="0"/>
          </a:p>
        </p:txBody>
      </p:sp>
      <p:sp>
        <p:nvSpPr>
          <p:cNvPr id="17" name="Text 14"/>
          <p:cNvSpPr/>
          <p:nvPr/>
        </p:nvSpPr>
        <p:spPr>
          <a:xfrm>
            <a:off x="6492240" y="4992624"/>
            <a:ext cx="5065776" cy="1133856"/>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Net income 사용 (EWI 아님) → 레버리지가 PM과 ROE 모두에 영향.</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영업 성과만 분리하긴 어렵지만, 널리 사용됨.</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How Debt Can Increase ROE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17</a:t>
            </a:r>
            <a:endParaRPr lang="en-US" sz="1050" dirty="0"/>
          </a:p>
        </p:txBody>
      </p:sp>
      <p:sp>
        <p:nvSpPr>
          <p:cNvPr id="6" name="Shape 4"/>
          <p:cNvSpPr/>
          <p:nvPr/>
        </p:nvSpPr>
        <p:spPr>
          <a:xfrm>
            <a:off x="429768" y="1481328"/>
            <a:ext cx="11329416" cy="548640"/>
          </a:xfrm>
          <a:prstGeom prst="rect">
            <a:avLst/>
          </a:prstGeom>
          <a:solidFill>
            <a:srgbClr val="14306B"/>
          </a:solidFill>
          <a:ln/>
        </p:spPr>
      </p:sp>
      <p:sp>
        <p:nvSpPr>
          <p:cNvPr id="7" name="Text 5"/>
          <p:cNvSpPr/>
          <p:nvPr/>
        </p:nvSpPr>
        <p:spPr>
          <a:xfrm>
            <a:off x="429768" y="1481328"/>
            <a:ext cx="11329416"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Light" pitchFamily="34" charset="0"/>
                <a:ea typeface="Calibri Light" pitchFamily="34" charset="-122"/>
                <a:cs typeface="Calibri Light" pitchFamily="34" charset="-120"/>
              </a:rPr>
              <a:t>ROE   =   ROA   +   ROFL          (영업 엔진  +  자금조달 엔진)</a:t>
            </a:r>
            <a:endParaRPr lang="en-US" sz="1600" dirty="0"/>
          </a:p>
        </p:txBody>
      </p:sp>
      <p:sp>
        <p:nvSpPr>
          <p:cNvPr id="8" name="Shape 6"/>
          <p:cNvSpPr/>
          <p:nvPr/>
        </p:nvSpPr>
        <p:spPr>
          <a:xfrm>
            <a:off x="356616" y="2139696"/>
            <a:ext cx="4169664" cy="3520757"/>
          </a:xfrm>
          <a:prstGeom prst="rect">
            <a:avLst/>
          </a:prstGeom>
          <a:solidFill>
            <a:srgbClr val="FFFFFF"/>
          </a:solidFill>
          <a:ln w="12700">
            <a:solidFill>
              <a:srgbClr val="DCE3EE"/>
            </a:solidFill>
            <a:prstDash val="solid"/>
          </a:ln>
        </p:spPr>
      </p:sp>
      <p:pic>
        <p:nvPicPr>
          <p:cNvPr id="9" name="Image 0" descr="assets/s18_1.png">    </p:cNvPr>
          <p:cNvPicPr>
            <a:picLocks noChangeAspect="1"/>
          </p:cNvPicPr>
          <p:nvPr/>
        </p:nvPicPr>
        <p:blipFill>
          <a:blip r:embed="rId1"/>
          <a:stretch>
            <a:fillRect/>
          </a:stretch>
        </p:blipFill>
        <p:spPr>
          <a:xfrm>
            <a:off x="429768" y="2212848"/>
            <a:ext cx="4023360" cy="3374453"/>
          </a:xfrm>
          <a:prstGeom prst="rect">
            <a:avLst/>
          </a:prstGeom>
        </p:spPr>
      </p:pic>
      <p:sp>
        <p:nvSpPr>
          <p:cNvPr id="10" name="Shape 7"/>
          <p:cNvSpPr/>
          <p:nvPr/>
        </p:nvSpPr>
        <p:spPr>
          <a:xfrm>
            <a:off x="4754880" y="2212848"/>
            <a:ext cx="7004304" cy="1371600"/>
          </a:xfrm>
          <a:prstGeom prst="rect">
            <a:avLst/>
          </a:prstGeom>
          <a:solidFill>
            <a:srgbClr val="FFFFFF"/>
          </a:solidFill>
          <a:ln w="12700">
            <a:solidFill>
              <a:srgbClr val="DCE3EE"/>
            </a:solidFill>
            <a:prstDash val="solid"/>
          </a:ln>
        </p:spPr>
      </p:sp>
      <p:sp>
        <p:nvSpPr>
          <p:cNvPr id="11" name="Shape 8"/>
          <p:cNvSpPr/>
          <p:nvPr/>
        </p:nvSpPr>
        <p:spPr>
          <a:xfrm>
            <a:off x="4754880" y="2212848"/>
            <a:ext cx="82296" cy="1371600"/>
          </a:xfrm>
          <a:prstGeom prst="rect">
            <a:avLst/>
          </a:prstGeom>
          <a:solidFill>
            <a:srgbClr val="1F4899"/>
          </a:solidFill>
          <a:ln/>
        </p:spPr>
      </p:sp>
      <p:sp>
        <p:nvSpPr>
          <p:cNvPr id="12" name="Shape 9"/>
          <p:cNvSpPr/>
          <p:nvPr/>
        </p:nvSpPr>
        <p:spPr>
          <a:xfrm>
            <a:off x="4754880" y="2212848"/>
            <a:ext cx="7004304" cy="365760"/>
          </a:xfrm>
          <a:prstGeom prst="rect">
            <a:avLst/>
          </a:prstGeom>
          <a:solidFill>
            <a:srgbClr val="1F4899"/>
          </a:solidFill>
          <a:ln/>
        </p:spPr>
      </p:sp>
      <p:sp>
        <p:nvSpPr>
          <p:cNvPr id="13" name="Text 10"/>
          <p:cNvSpPr/>
          <p:nvPr/>
        </p:nvSpPr>
        <p:spPr>
          <a:xfrm>
            <a:off x="4956048" y="2212848"/>
            <a:ext cx="669340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수익의 두 엔진</a:t>
            </a:r>
            <a:endParaRPr lang="en-US" sz="1500" dirty="0"/>
          </a:p>
        </p:txBody>
      </p:sp>
      <p:sp>
        <p:nvSpPr>
          <p:cNvPr id="14" name="Text 11"/>
          <p:cNvSpPr/>
          <p:nvPr/>
        </p:nvSpPr>
        <p:spPr>
          <a:xfrm>
            <a:off x="4974336" y="2761488"/>
            <a:ext cx="6583680" cy="694944"/>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Operating Efficiency (ROA) — 핵심 사업에서 창출.</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Financing Strategy (ROFL) — 부채에서 창출.</a:t>
            </a:r>
            <a:endParaRPr lang="en-US" sz="1250" dirty="0"/>
          </a:p>
        </p:txBody>
      </p:sp>
      <p:sp>
        <p:nvSpPr>
          <p:cNvPr id="15" name="Shape 12"/>
          <p:cNvSpPr/>
          <p:nvPr/>
        </p:nvSpPr>
        <p:spPr>
          <a:xfrm>
            <a:off x="4754880" y="3712464"/>
            <a:ext cx="7004304" cy="1956816"/>
          </a:xfrm>
          <a:prstGeom prst="rect">
            <a:avLst/>
          </a:prstGeom>
          <a:solidFill>
            <a:srgbClr val="FFFFFF"/>
          </a:solidFill>
          <a:ln w="12700">
            <a:solidFill>
              <a:srgbClr val="DCE3EE"/>
            </a:solidFill>
            <a:prstDash val="solid"/>
          </a:ln>
        </p:spPr>
      </p:sp>
      <p:sp>
        <p:nvSpPr>
          <p:cNvPr id="16" name="Shape 13"/>
          <p:cNvSpPr/>
          <p:nvPr/>
        </p:nvSpPr>
        <p:spPr>
          <a:xfrm>
            <a:off x="4754880" y="3712464"/>
            <a:ext cx="82296" cy="1956816"/>
          </a:xfrm>
          <a:prstGeom prst="rect">
            <a:avLst/>
          </a:prstGeom>
          <a:solidFill>
            <a:srgbClr val="0F6E7A"/>
          </a:solidFill>
          <a:ln/>
        </p:spPr>
      </p:sp>
      <p:sp>
        <p:nvSpPr>
          <p:cNvPr id="17" name="Shape 14"/>
          <p:cNvSpPr/>
          <p:nvPr/>
        </p:nvSpPr>
        <p:spPr>
          <a:xfrm>
            <a:off x="4754880" y="3712464"/>
            <a:ext cx="7004304" cy="365760"/>
          </a:xfrm>
          <a:prstGeom prst="rect">
            <a:avLst/>
          </a:prstGeom>
          <a:solidFill>
            <a:srgbClr val="0F6E7A"/>
          </a:solidFill>
          <a:ln/>
        </p:spPr>
      </p:sp>
      <p:sp>
        <p:nvSpPr>
          <p:cNvPr id="18" name="Text 15"/>
          <p:cNvSpPr/>
          <p:nvPr/>
        </p:nvSpPr>
        <p:spPr>
          <a:xfrm>
            <a:off x="4956048" y="3712464"/>
            <a:ext cx="669340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부채가 ROE를 높이는 이유</a:t>
            </a:r>
            <a:endParaRPr lang="en-US" sz="1500" dirty="0"/>
          </a:p>
        </p:txBody>
      </p:sp>
      <p:sp>
        <p:nvSpPr>
          <p:cNvPr id="19" name="Text 16"/>
          <p:cNvSpPr/>
          <p:nvPr/>
        </p:nvSpPr>
        <p:spPr>
          <a:xfrm>
            <a:off x="4974336" y="4261104"/>
            <a:ext cx="6583680" cy="1280160"/>
          </a:xfrm>
          <a:prstGeom prst="rect">
            <a:avLst/>
          </a:prstGeom>
          <a:noFill/>
          <a:ln/>
        </p:spPr>
        <p:txBody>
          <a:bodyPr wrap="square" lIns="0" tIns="0" rIns="0" bIns="0" rtlCol="0" anchor="t"/>
          <a:lstStyle/>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Tax Shield: </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Interest는 세금 공제 (세율 25%면 이자 $1의 실질 부담 $0.75).</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Lower Cost: </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부채는 자기자본보다 저렴 (대출자 우선 변제).</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Leverage Effect: </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신주 발행 없이 더 많은 이익 창출.</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Capital Structure and ROE — When Leverage Helps vs. Hurts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18</a:t>
            </a:r>
            <a:endParaRPr lang="en-US" sz="1050" dirty="0"/>
          </a:p>
        </p:txBody>
      </p:sp>
      <p:sp>
        <p:nvSpPr>
          <p:cNvPr id="6" name="Shape 4"/>
          <p:cNvSpPr/>
          <p:nvPr/>
        </p:nvSpPr>
        <p:spPr>
          <a:xfrm>
            <a:off x="4318016" y="1408176"/>
            <a:ext cx="3552919" cy="1883664"/>
          </a:xfrm>
          <a:prstGeom prst="rect">
            <a:avLst/>
          </a:prstGeom>
          <a:solidFill>
            <a:srgbClr val="FFFFFF"/>
          </a:solidFill>
          <a:ln w="12700">
            <a:solidFill>
              <a:srgbClr val="DCE3EE"/>
            </a:solidFill>
            <a:prstDash val="solid"/>
          </a:ln>
        </p:spPr>
      </p:sp>
      <p:pic>
        <p:nvPicPr>
          <p:cNvPr id="7" name="Image 0" descr="assets/s20_1.png">    </p:cNvPr>
          <p:cNvPicPr>
            <a:picLocks noChangeAspect="1"/>
          </p:cNvPicPr>
          <p:nvPr/>
        </p:nvPicPr>
        <p:blipFill>
          <a:blip r:embed="rId1"/>
          <a:stretch>
            <a:fillRect/>
          </a:stretch>
        </p:blipFill>
        <p:spPr>
          <a:xfrm>
            <a:off x="4391168" y="1481328"/>
            <a:ext cx="3406615" cy="1737360"/>
          </a:xfrm>
          <a:prstGeom prst="rect">
            <a:avLst/>
          </a:prstGeom>
        </p:spPr>
      </p:pic>
      <p:sp>
        <p:nvSpPr>
          <p:cNvPr id="8" name="Shape 5"/>
          <p:cNvSpPr/>
          <p:nvPr/>
        </p:nvSpPr>
        <p:spPr>
          <a:xfrm>
            <a:off x="429768" y="3310128"/>
            <a:ext cx="5486400" cy="2926080"/>
          </a:xfrm>
          <a:prstGeom prst="rect">
            <a:avLst/>
          </a:prstGeom>
          <a:solidFill>
            <a:srgbClr val="FFFFFF"/>
          </a:solidFill>
          <a:ln w="12700">
            <a:solidFill>
              <a:srgbClr val="DCE3EE"/>
            </a:solidFill>
            <a:prstDash val="solid"/>
          </a:ln>
        </p:spPr>
      </p:sp>
      <p:sp>
        <p:nvSpPr>
          <p:cNvPr id="9" name="Shape 6"/>
          <p:cNvSpPr/>
          <p:nvPr/>
        </p:nvSpPr>
        <p:spPr>
          <a:xfrm>
            <a:off x="429768" y="3310128"/>
            <a:ext cx="82296" cy="2926080"/>
          </a:xfrm>
          <a:prstGeom prst="rect">
            <a:avLst/>
          </a:prstGeom>
          <a:solidFill>
            <a:srgbClr val="1E7A4C"/>
          </a:solidFill>
          <a:ln/>
        </p:spPr>
      </p:sp>
      <p:sp>
        <p:nvSpPr>
          <p:cNvPr id="10" name="Shape 7"/>
          <p:cNvSpPr/>
          <p:nvPr/>
        </p:nvSpPr>
        <p:spPr>
          <a:xfrm>
            <a:off x="429768" y="3310128"/>
            <a:ext cx="5486400" cy="420624"/>
          </a:xfrm>
          <a:prstGeom prst="rect">
            <a:avLst/>
          </a:prstGeom>
          <a:solidFill>
            <a:srgbClr val="1E7A4C"/>
          </a:solidFill>
          <a:ln/>
        </p:spPr>
      </p:sp>
      <p:sp>
        <p:nvSpPr>
          <p:cNvPr id="11" name="Text 8"/>
          <p:cNvSpPr/>
          <p:nvPr/>
        </p:nvSpPr>
        <p:spPr>
          <a:xfrm>
            <a:off x="630936" y="3310128"/>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레버리지가 유리할 때  ·  ROA 10% &gt; Interest 4%</a:t>
            </a:r>
            <a:endParaRPr lang="en-US" sz="1500" dirty="0"/>
          </a:p>
        </p:txBody>
      </p:sp>
      <p:sp>
        <p:nvSpPr>
          <p:cNvPr id="12" name="Text 9"/>
          <p:cNvSpPr/>
          <p:nvPr/>
        </p:nvSpPr>
        <p:spPr>
          <a:xfrm>
            <a:off x="649224" y="3913632"/>
            <a:ext cx="5065776" cy="21945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사업이 잘될 때 레버리지는 수익을 증폭.</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No Debt:  ROE 10% = ROA 10% + ROFL 0%.</a:t>
            </a:r>
            <a:endParaRPr lang="en-US" sz="1250" dirty="0"/>
          </a:p>
          <a:p>
            <a:pPr marL="342900" indent="-342900">
              <a:lnSpc>
                <a:spcPct val="105000"/>
              </a:lnSpc>
              <a:buSzPct val="100000"/>
              <a:buChar char="▪"/>
            </a:pPr>
            <a:r>
              <a:rPr lang="en-US" sz="1250" b="1" dirty="0">
                <a:solidFill>
                  <a:srgbClr val="1E7A4C"/>
                </a:solidFill>
                <a:latin typeface="Calibri" pitchFamily="34" charset="0"/>
                <a:ea typeface="Calibri" pitchFamily="34" charset="-122"/>
                <a:cs typeface="Calibri" pitchFamily="34" charset="-120"/>
              </a:rPr>
              <a:t>50% Debt:  ROE 16% = ROA 10% + ROFL 6%.</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 ROA는 unlevered ROA임.</a:t>
            </a:r>
            <a:endParaRPr lang="en-US" sz="1250" dirty="0"/>
          </a:p>
        </p:txBody>
      </p:sp>
      <p:sp>
        <p:nvSpPr>
          <p:cNvPr id="13" name="Shape 10"/>
          <p:cNvSpPr/>
          <p:nvPr/>
        </p:nvSpPr>
        <p:spPr>
          <a:xfrm>
            <a:off x="6272784" y="3310128"/>
            <a:ext cx="5486400" cy="2926080"/>
          </a:xfrm>
          <a:prstGeom prst="rect">
            <a:avLst/>
          </a:prstGeom>
          <a:solidFill>
            <a:srgbClr val="FFFFFF"/>
          </a:solidFill>
          <a:ln w="12700">
            <a:solidFill>
              <a:srgbClr val="DCE3EE"/>
            </a:solidFill>
            <a:prstDash val="solid"/>
          </a:ln>
        </p:spPr>
      </p:sp>
      <p:sp>
        <p:nvSpPr>
          <p:cNvPr id="14" name="Shape 11"/>
          <p:cNvSpPr/>
          <p:nvPr/>
        </p:nvSpPr>
        <p:spPr>
          <a:xfrm>
            <a:off x="6272784" y="3310128"/>
            <a:ext cx="82296" cy="2926080"/>
          </a:xfrm>
          <a:prstGeom prst="rect">
            <a:avLst/>
          </a:prstGeom>
          <a:solidFill>
            <a:srgbClr val="B3261E"/>
          </a:solidFill>
          <a:ln/>
        </p:spPr>
      </p:sp>
      <p:sp>
        <p:nvSpPr>
          <p:cNvPr id="15" name="Shape 12"/>
          <p:cNvSpPr/>
          <p:nvPr/>
        </p:nvSpPr>
        <p:spPr>
          <a:xfrm>
            <a:off x="6272784" y="3310128"/>
            <a:ext cx="5486400" cy="420624"/>
          </a:xfrm>
          <a:prstGeom prst="rect">
            <a:avLst/>
          </a:prstGeom>
          <a:solidFill>
            <a:srgbClr val="B3261E"/>
          </a:solidFill>
          <a:ln/>
        </p:spPr>
      </p:sp>
      <p:sp>
        <p:nvSpPr>
          <p:cNvPr id="16" name="Text 13"/>
          <p:cNvSpPr/>
          <p:nvPr/>
        </p:nvSpPr>
        <p:spPr>
          <a:xfrm>
            <a:off x="6473952" y="3310128"/>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레버리지가 불리할 때  ·  ROA 3% &lt; Interest 4%</a:t>
            </a:r>
            <a:endParaRPr lang="en-US" sz="1500" dirty="0"/>
          </a:p>
        </p:txBody>
      </p:sp>
      <p:sp>
        <p:nvSpPr>
          <p:cNvPr id="17" name="Text 14"/>
          <p:cNvSpPr/>
          <p:nvPr/>
        </p:nvSpPr>
        <p:spPr>
          <a:xfrm>
            <a:off x="6492240" y="3913632"/>
            <a:ext cx="5065776" cy="21945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시장 부진 시 고정 이자 지급이 가치를 잠식.</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No Debt:  ROE 3% = ROA 3% + ROFL 0%.</a:t>
            </a:r>
            <a:endParaRPr lang="en-US" sz="1250" dirty="0"/>
          </a:p>
          <a:p>
            <a:pPr marL="342900" indent="-342900">
              <a:lnSpc>
                <a:spcPct val="105000"/>
              </a:lnSpc>
              <a:buSzPct val="100000"/>
              <a:buChar char="▪"/>
            </a:pPr>
            <a:r>
              <a:rPr lang="en-US" sz="1250" b="1" dirty="0">
                <a:solidFill>
                  <a:srgbClr val="B3261E"/>
                </a:solidFill>
                <a:latin typeface="Calibri" pitchFamily="34" charset="0"/>
                <a:ea typeface="Calibri" pitchFamily="34" charset="-122"/>
                <a:cs typeface="Calibri" pitchFamily="34" charset="-120"/>
              </a:rPr>
              <a:t>50% Debt:  ROE 2% = ROA 3% + ROFL (−1%).</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레버리지는 손실도 함께 증폭.</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Downside Risk of Leverage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19</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레버리지의 대가 — 레버리지는 수익만이 아니라 변동성도 함께 증폭시킵니다.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2</a:t>
            </a:r>
            <a:endParaRPr lang="en-US" sz="1050" dirty="0"/>
          </a:p>
        </p:txBody>
      </p:sp>
      <p:sp>
        <p:nvSpPr>
          <p:cNvPr id="10" name="Shape 8"/>
          <p:cNvSpPr/>
          <p:nvPr/>
        </p:nvSpPr>
        <p:spPr>
          <a:xfrm>
            <a:off x="356616" y="2212848"/>
            <a:ext cx="5998464" cy="3354901"/>
          </a:xfrm>
          <a:prstGeom prst="rect">
            <a:avLst/>
          </a:prstGeom>
          <a:solidFill>
            <a:srgbClr val="FFFFFF"/>
          </a:solidFill>
          <a:ln w="12700">
            <a:solidFill>
              <a:srgbClr val="DCE3EE"/>
            </a:solidFill>
            <a:prstDash val="solid"/>
          </a:ln>
        </p:spPr>
      </p:sp>
      <p:pic>
        <p:nvPicPr>
          <p:cNvPr id="11" name="Image 0" descr="assets/s21_1.png">    </p:cNvPr>
          <p:cNvPicPr>
            <a:picLocks noChangeAspect="1"/>
          </p:cNvPicPr>
          <p:nvPr/>
        </p:nvPicPr>
        <p:blipFill>
          <a:blip r:embed="rId1"/>
          <a:stretch>
            <a:fillRect/>
          </a:stretch>
        </p:blipFill>
        <p:spPr>
          <a:xfrm>
            <a:off x="429768" y="2286000"/>
            <a:ext cx="5852160" cy="3208597"/>
          </a:xfrm>
          <a:prstGeom prst="rect">
            <a:avLst/>
          </a:prstGeom>
        </p:spPr>
      </p:pic>
      <p:sp>
        <p:nvSpPr>
          <p:cNvPr id="12" name="Shape 9"/>
          <p:cNvSpPr/>
          <p:nvPr/>
        </p:nvSpPr>
        <p:spPr>
          <a:xfrm>
            <a:off x="6492240" y="2286000"/>
            <a:ext cx="5266944" cy="1133856"/>
          </a:xfrm>
          <a:prstGeom prst="rect">
            <a:avLst/>
          </a:prstGeom>
          <a:solidFill>
            <a:srgbClr val="FFFFFF"/>
          </a:solidFill>
          <a:ln w="12700">
            <a:solidFill>
              <a:srgbClr val="DCE3EE"/>
            </a:solidFill>
            <a:prstDash val="solid"/>
          </a:ln>
        </p:spPr>
      </p:sp>
      <p:sp>
        <p:nvSpPr>
          <p:cNvPr id="13" name="Shape 10"/>
          <p:cNvSpPr/>
          <p:nvPr/>
        </p:nvSpPr>
        <p:spPr>
          <a:xfrm>
            <a:off x="6492240" y="2286000"/>
            <a:ext cx="82296" cy="1133856"/>
          </a:xfrm>
          <a:prstGeom prst="rect">
            <a:avLst/>
          </a:prstGeom>
          <a:solidFill>
            <a:srgbClr val="9A6600"/>
          </a:solidFill>
          <a:ln/>
        </p:spPr>
      </p:sp>
      <p:sp>
        <p:nvSpPr>
          <p:cNvPr id="14" name="Text 11"/>
          <p:cNvSpPr/>
          <p:nvPr/>
        </p:nvSpPr>
        <p:spPr>
          <a:xfrm>
            <a:off x="6748272" y="2395728"/>
            <a:ext cx="4809744" cy="329184"/>
          </a:xfrm>
          <a:prstGeom prst="rect">
            <a:avLst/>
          </a:prstGeom>
          <a:noFill/>
          <a:ln/>
        </p:spPr>
        <p:txBody>
          <a:bodyPr wrap="square" lIns="0" tIns="0" rIns="0" bIns="0" rtlCol="0" anchor="ctr"/>
          <a:lstStyle/>
          <a:p>
            <a:pPr indent="0" marL="0">
              <a:buNone/>
            </a:pPr>
            <a:r>
              <a:rPr lang="en-US" sz="1400" b="1" dirty="0">
                <a:solidFill>
                  <a:srgbClr val="9A6600"/>
                </a:solidFill>
                <a:latin typeface="Calibri" pitchFamily="34" charset="0"/>
                <a:ea typeface="Calibri" pitchFamily="34" charset="-122"/>
                <a:cs typeface="Calibri" pitchFamily="34" charset="-120"/>
              </a:rPr>
              <a:t>Default Risk</a:t>
            </a:r>
            <a:endParaRPr lang="en-US" sz="1400" dirty="0"/>
          </a:p>
        </p:txBody>
      </p:sp>
      <p:sp>
        <p:nvSpPr>
          <p:cNvPr id="15" name="Text 12"/>
          <p:cNvSpPr/>
          <p:nvPr/>
        </p:nvSpPr>
        <p:spPr>
          <a:xfrm>
            <a:off x="6748272" y="2743200"/>
            <a:ext cx="480974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이자·원금을 지급하지 못할 위험 증가 (부채 약정 위반).</a:t>
            </a:r>
            <a:endParaRPr lang="en-US" sz="1200" dirty="0"/>
          </a:p>
        </p:txBody>
      </p:sp>
      <p:sp>
        <p:nvSpPr>
          <p:cNvPr id="16" name="Shape 13"/>
          <p:cNvSpPr/>
          <p:nvPr/>
        </p:nvSpPr>
        <p:spPr>
          <a:xfrm>
            <a:off x="6492240" y="3529584"/>
            <a:ext cx="5266944" cy="1133856"/>
          </a:xfrm>
          <a:prstGeom prst="rect">
            <a:avLst/>
          </a:prstGeom>
          <a:solidFill>
            <a:srgbClr val="FFFFFF"/>
          </a:solidFill>
          <a:ln w="12700">
            <a:solidFill>
              <a:srgbClr val="DCE3EE"/>
            </a:solidFill>
            <a:prstDash val="solid"/>
          </a:ln>
        </p:spPr>
      </p:sp>
      <p:sp>
        <p:nvSpPr>
          <p:cNvPr id="17" name="Shape 14"/>
          <p:cNvSpPr/>
          <p:nvPr/>
        </p:nvSpPr>
        <p:spPr>
          <a:xfrm>
            <a:off x="6492240" y="3529584"/>
            <a:ext cx="82296" cy="1133856"/>
          </a:xfrm>
          <a:prstGeom prst="rect">
            <a:avLst/>
          </a:prstGeom>
          <a:solidFill>
            <a:srgbClr val="B3261E"/>
          </a:solidFill>
          <a:ln/>
        </p:spPr>
      </p:sp>
      <p:sp>
        <p:nvSpPr>
          <p:cNvPr id="18" name="Text 15"/>
          <p:cNvSpPr/>
          <p:nvPr/>
        </p:nvSpPr>
        <p:spPr>
          <a:xfrm>
            <a:off x="6748272" y="3639312"/>
            <a:ext cx="4809744" cy="329184"/>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Amplification</a:t>
            </a:r>
            <a:endParaRPr lang="en-US" sz="1400" dirty="0"/>
          </a:p>
        </p:txBody>
      </p:sp>
      <p:sp>
        <p:nvSpPr>
          <p:cNvPr id="19" name="Text 16"/>
          <p:cNvSpPr/>
          <p:nvPr/>
        </p:nvSpPr>
        <p:spPr>
          <a:xfrm>
            <a:off x="6748272" y="3986784"/>
            <a:ext cx="480974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침체기에 손실이 더 빠르게 확대됨.</a:t>
            </a:r>
            <a:endParaRPr lang="en-US" sz="1200" dirty="0"/>
          </a:p>
        </p:txBody>
      </p:sp>
      <p:sp>
        <p:nvSpPr>
          <p:cNvPr id="20" name="Shape 17"/>
          <p:cNvSpPr/>
          <p:nvPr/>
        </p:nvSpPr>
        <p:spPr>
          <a:xfrm>
            <a:off x="6492240" y="4773168"/>
            <a:ext cx="5266944" cy="1133856"/>
          </a:xfrm>
          <a:prstGeom prst="rect">
            <a:avLst/>
          </a:prstGeom>
          <a:solidFill>
            <a:srgbClr val="FFFFFF"/>
          </a:solidFill>
          <a:ln w="12700">
            <a:solidFill>
              <a:srgbClr val="DCE3EE"/>
            </a:solidFill>
            <a:prstDash val="solid"/>
          </a:ln>
        </p:spPr>
      </p:sp>
      <p:sp>
        <p:nvSpPr>
          <p:cNvPr id="21" name="Shape 18"/>
          <p:cNvSpPr/>
          <p:nvPr/>
        </p:nvSpPr>
        <p:spPr>
          <a:xfrm>
            <a:off x="6492240" y="4773168"/>
            <a:ext cx="82296" cy="1133856"/>
          </a:xfrm>
          <a:prstGeom prst="rect">
            <a:avLst/>
          </a:prstGeom>
          <a:solidFill>
            <a:srgbClr val="B3261E"/>
          </a:solidFill>
          <a:ln/>
        </p:spPr>
      </p:sp>
      <p:sp>
        <p:nvSpPr>
          <p:cNvPr id="22" name="Text 19"/>
          <p:cNvSpPr/>
          <p:nvPr/>
        </p:nvSpPr>
        <p:spPr>
          <a:xfrm>
            <a:off x="6748272" y="4882896"/>
            <a:ext cx="4809744" cy="329184"/>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Ultimate Cost</a:t>
            </a:r>
            <a:endParaRPr lang="en-US" sz="1400" dirty="0"/>
          </a:p>
        </p:txBody>
      </p:sp>
      <p:sp>
        <p:nvSpPr>
          <p:cNvPr id="23" name="Text 20"/>
          <p:cNvSpPr/>
          <p:nvPr/>
        </p:nvSpPr>
        <p:spPr>
          <a:xfrm>
            <a:off x="6748272" y="5230368"/>
            <a:ext cx="480974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과도한 부채는 자기자본을 완전히 잠식할 수 있음.</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Matching Capital Structure to Strategy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20</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자본 구조는 사업의 현금흐름 특성과 전략에 맞춰야 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2</a:t>
            </a:r>
            <a:endParaRPr lang="en-US" sz="1050" dirty="0"/>
          </a:p>
        </p:txBody>
      </p:sp>
      <p:sp>
        <p:nvSpPr>
          <p:cNvPr id="10" name="Shape 8"/>
          <p:cNvSpPr/>
          <p:nvPr/>
        </p:nvSpPr>
        <p:spPr>
          <a:xfrm>
            <a:off x="429768" y="2468880"/>
            <a:ext cx="5486400" cy="2743200"/>
          </a:xfrm>
          <a:prstGeom prst="rect">
            <a:avLst/>
          </a:prstGeom>
          <a:solidFill>
            <a:srgbClr val="FFFFFF"/>
          </a:solidFill>
          <a:ln w="12700">
            <a:solidFill>
              <a:srgbClr val="DCE3EE"/>
            </a:solidFill>
            <a:prstDash val="solid"/>
          </a:ln>
        </p:spPr>
      </p:sp>
      <p:sp>
        <p:nvSpPr>
          <p:cNvPr id="11" name="Shape 9"/>
          <p:cNvSpPr/>
          <p:nvPr/>
        </p:nvSpPr>
        <p:spPr>
          <a:xfrm>
            <a:off x="429768" y="2468880"/>
            <a:ext cx="82296" cy="2743200"/>
          </a:xfrm>
          <a:prstGeom prst="rect">
            <a:avLst/>
          </a:prstGeom>
          <a:solidFill>
            <a:srgbClr val="1E7A4C"/>
          </a:solidFill>
          <a:ln/>
        </p:spPr>
      </p:sp>
      <p:sp>
        <p:nvSpPr>
          <p:cNvPr id="12" name="Shape 10"/>
          <p:cNvSpPr/>
          <p:nvPr/>
        </p:nvSpPr>
        <p:spPr>
          <a:xfrm>
            <a:off x="429768" y="2468880"/>
            <a:ext cx="5486400" cy="420624"/>
          </a:xfrm>
          <a:prstGeom prst="rect">
            <a:avLst/>
          </a:prstGeom>
          <a:solidFill>
            <a:srgbClr val="1E7A4C"/>
          </a:solidFill>
          <a:ln/>
        </p:spPr>
      </p:sp>
      <p:sp>
        <p:nvSpPr>
          <p:cNvPr id="13" name="Text 11"/>
          <p:cNvSpPr/>
          <p:nvPr/>
        </p:nvSpPr>
        <p:spPr>
          <a:xfrm>
            <a:off x="630936" y="246888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부채 수용력 높음</a:t>
            </a:r>
            <a:endParaRPr lang="en-US" sz="1500" dirty="0"/>
          </a:p>
        </p:txBody>
      </p:sp>
      <p:sp>
        <p:nvSpPr>
          <p:cNvPr id="14" name="Text 12"/>
          <p:cNvSpPr/>
          <p:nvPr/>
        </p:nvSpPr>
        <p:spPr>
          <a:xfrm>
            <a:off x="649224" y="3072384"/>
            <a:ext cx="5065776" cy="2011680"/>
          </a:xfrm>
          <a:prstGeom prst="rect">
            <a:avLst/>
          </a:prstGeom>
          <a:noFill/>
          <a:ln/>
        </p:spPr>
        <p:txBody>
          <a:bodyPr wrap="square" lIns="0" tIns="0" rIns="0" bIns="0" rtlCol="0" anchor="t"/>
          <a:lstStyle/>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현금흐름이 예측 가능한 기업.</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안정적 수익 → 더 많은 부채를 안전하게 감당.</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예: 유틸리티, 성숙한 소비재.</a:t>
            </a:r>
            <a:endParaRPr lang="en-US" sz="1350" dirty="0"/>
          </a:p>
        </p:txBody>
      </p:sp>
      <p:sp>
        <p:nvSpPr>
          <p:cNvPr id="15" name="Shape 13"/>
          <p:cNvSpPr/>
          <p:nvPr/>
        </p:nvSpPr>
        <p:spPr>
          <a:xfrm>
            <a:off x="6272784" y="2468880"/>
            <a:ext cx="5486400" cy="2743200"/>
          </a:xfrm>
          <a:prstGeom prst="rect">
            <a:avLst/>
          </a:prstGeom>
          <a:solidFill>
            <a:srgbClr val="FFFFFF"/>
          </a:solidFill>
          <a:ln w="12700">
            <a:solidFill>
              <a:srgbClr val="DCE3EE"/>
            </a:solidFill>
            <a:prstDash val="solid"/>
          </a:ln>
        </p:spPr>
      </p:sp>
      <p:sp>
        <p:nvSpPr>
          <p:cNvPr id="16" name="Shape 14"/>
          <p:cNvSpPr/>
          <p:nvPr/>
        </p:nvSpPr>
        <p:spPr>
          <a:xfrm>
            <a:off x="6272784" y="2468880"/>
            <a:ext cx="82296" cy="2743200"/>
          </a:xfrm>
          <a:prstGeom prst="rect">
            <a:avLst/>
          </a:prstGeom>
          <a:solidFill>
            <a:srgbClr val="9A6600"/>
          </a:solidFill>
          <a:ln/>
        </p:spPr>
      </p:sp>
      <p:sp>
        <p:nvSpPr>
          <p:cNvPr id="17" name="Shape 15"/>
          <p:cNvSpPr/>
          <p:nvPr/>
        </p:nvSpPr>
        <p:spPr>
          <a:xfrm>
            <a:off x="6272784" y="2468880"/>
            <a:ext cx="5486400" cy="420624"/>
          </a:xfrm>
          <a:prstGeom prst="rect">
            <a:avLst/>
          </a:prstGeom>
          <a:solidFill>
            <a:srgbClr val="9A6600"/>
          </a:solidFill>
          <a:ln/>
        </p:spPr>
      </p:sp>
      <p:sp>
        <p:nvSpPr>
          <p:cNvPr id="18" name="Text 16"/>
          <p:cNvSpPr/>
          <p:nvPr/>
        </p:nvSpPr>
        <p:spPr>
          <a:xfrm>
            <a:off x="6473952" y="246888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부채 수용력 낮음</a:t>
            </a:r>
            <a:endParaRPr lang="en-US" sz="1500" dirty="0"/>
          </a:p>
        </p:txBody>
      </p:sp>
      <p:sp>
        <p:nvSpPr>
          <p:cNvPr id="19" name="Text 17"/>
          <p:cNvSpPr/>
          <p:nvPr/>
        </p:nvSpPr>
        <p:spPr>
          <a:xfrm>
            <a:off x="6492240" y="3072384"/>
            <a:ext cx="5065776" cy="2011680"/>
          </a:xfrm>
          <a:prstGeom prst="rect">
            <a:avLst/>
          </a:prstGeom>
          <a:noFill/>
          <a:ln/>
        </p:spPr>
        <p:txBody>
          <a:bodyPr wrap="square" lIns="0" tIns="0" rIns="0" bIns="0" rtlCol="0" anchor="t"/>
          <a:lstStyle/>
          <a:p>
            <a:pPr marL="342900" indent="-342900">
              <a:lnSpc>
                <a:spcPct val="105000"/>
              </a:lnSpc>
              <a:buSzPct val="100000"/>
              <a:buChar char="▪"/>
            </a:pPr>
            <a:r>
              <a:rPr lang="en-US" sz="1350" b="1" dirty="0">
                <a:solidFill>
                  <a:srgbClr val="1A1A1A"/>
                </a:solidFill>
                <a:latin typeface="Calibri" pitchFamily="34" charset="0"/>
                <a:ea typeface="Calibri" pitchFamily="34" charset="-122"/>
                <a:cs typeface="Calibri" pitchFamily="34" charset="-120"/>
              </a:rPr>
              <a:t>혁신·무형자산에 의존하는 기업.</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변동성 큰 수익 → 자기자본에 더 의존해야 함.</a:t>
            </a:r>
            <a:endParaRPr lang="en-US" sz="1350" dirty="0"/>
          </a:p>
          <a:p>
            <a:pPr marL="342900" indent="-342900">
              <a:lnSpc>
                <a:spcPct val="105000"/>
              </a:lnSpc>
              <a:buSzPct val="100000"/>
              <a:buChar char="▪"/>
            </a:pPr>
            <a:r>
              <a:rPr lang="en-US" sz="1350" dirty="0">
                <a:solidFill>
                  <a:srgbClr val="1A1A1A"/>
                </a:solidFill>
                <a:latin typeface="Calibri" pitchFamily="34" charset="0"/>
                <a:ea typeface="Calibri" pitchFamily="34" charset="-122"/>
                <a:cs typeface="Calibri" pitchFamily="34" charset="-120"/>
              </a:rPr>
              <a:t>예: 초기 기술기업, R&amp;D 집약 산업.</a:t>
            </a:r>
            <a:endParaRPr lang="en-US" sz="1350" dirty="0"/>
          </a:p>
        </p:txBody>
      </p:sp>
      <p:sp>
        <p:nvSpPr>
          <p:cNvPr id="20" name="Shape 18"/>
          <p:cNvSpPr/>
          <p:nvPr/>
        </p:nvSpPr>
        <p:spPr>
          <a:xfrm>
            <a:off x="429768" y="5486400"/>
            <a:ext cx="11329416" cy="457200"/>
          </a:xfrm>
          <a:prstGeom prst="rect">
            <a:avLst/>
          </a:prstGeom>
          <a:solidFill>
            <a:srgbClr val="14306B"/>
          </a:solidFill>
          <a:ln/>
        </p:spPr>
      </p:sp>
      <p:sp>
        <p:nvSpPr>
          <p:cNvPr id="21" name="Text 19"/>
          <p:cNvSpPr/>
          <p:nvPr/>
        </p:nvSpPr>
        <p:spPr>
          <a:xfrm>
            <a:off x="685800" y="5486400"/>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예측 가능한 현금흐름은 부채를 감당하고, 무형자산 의존 기업은 자기자본으로 유연성을 확보합니다.</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3</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Liquidity &amp; Solvency</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유동성·지급능력  ·  단기·장기 재무 건전성</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Liquidity Analysis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22</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단기(SHORT-TERM) 채무를 이행할 수 있는가?</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286000"/>
            <a:ext cx="5486400" cy="1426464"/>
          </a:xfrm>
          <a:prstGeom prst="rect">
            <a:avLst/>
          </a:prstGeom>
          <a:solidFill>
            <a:srgbClr val="FFFFFF"/>
          </a:solidFill>
          <a:ln w="12700">
            <a:solidFill>
              <a:srgbClr val="DCE3EE"/>
            </a:solidFill>
            <a:prstDash val="solid"/>
          </a:ln>
        </p:spPr>
      </p:sp>
      <p:sp>
        <p:nvSpPr>
          <p:cNvPr id="11" name="Shape 9"/>
          <p:cNvSpPr/>
          <p:nvPr/>
        </p:nvSpPr>
        <p:spPr>
          <a:xfrm>
            <a:off x="429768" y="2286000"/>
            <a:ext cx="82296" cy="1426464"/>
          </a:xfrm>
          <a:prstGeom prst="rect">
            <a:avLst/>
          </a:prstGeom>
          <a:solidFill>
            <a:srgbClr val="1F4899"/>
          </a:solidFill>
          <a:ln/>
        </p:spPr>
      </p:sp>
      <p:sp>
        <p:nvSpPr>
          <p:cNvPr id="12" name="Text 10"/>
          <p:cNvSpPr/>
          <p:nvPr/>
        </p:nvSpPr>
        <p:spPr>
          <a:xfrm>
            <a:off x="685800" y="2414016"/>
            <a:ext cx="5029200" cy="329184"/>
          </a:xfrm>
          <a:prstGeom prst="rect">
            <a:avLst/>
          </a:prstGeom>
          <a:noFill/>
          <a:ln/>
        </p:spPr>
        <p:txBody>
          <a:bodyPr wrap="square" lIns="0" tIns="0" rIns="0" bIns="0" rtlCol="0" anchor="ctr"/>
          <a:lstStyle/>
          <a:p>
            <a:pPr indent="0" marL="0">
              <a:buNone/>
            </a:pPr>
            <a:r>
              <a:rPr lang="en-US" sz="1500" b="1" dirty="0">
                <a:solidFill>
                  <a:srgbClr val="1F4899"/>
                </a:solidFill>
                <a:latin typeface="Calibri" pitchFamily="34" charset="0"/>
                <a:ea typeface="Calibri" pitchFamily="34" charset="-122"/>
                <a:cs typeface="Calibri" pitchFamily="34" charset="-120"/>
              </a:rPr>
              <a:t>Current Ratio</a:t>
            </a:r>
            <a:endParaRPr lang="en-US" sz="1500" dirty="0"/>
          </a:p>
        </p:txBody>
      </p:sp>
      <p:sp>
        <p:nvSpPr>
          <p:cNvPr id="13" name="Text 11"/>
          <p:cNvSpPr/>
          <p:nvPr/>
        </p:nvSpPr>
        <p:spPr>
          <a:xfrm>
            <a:off x="685800" y="2779776"/>
            <a:ext cx="5029200" cy="310896"/>
          </a:xfrm>
          <a:prstGeom prst="rect">
            <a:avLst/>
          </a:prstGeom>
          <a:noFill/>
          <a:ln/>
        </p:spPr>
        <p:txBody>
          <a:bodyPr wrap="square" lIns="0" tIns="0" rIns="0" bIns="0" rtlCol="0" anchor="ctr"/>
          <a:lstStyle/>
          <a:p>
            <a:pPr indent="0" marL="0">
              <a:buNone/>
            </a:pPr>
            <a:r>
              <a:rPr lang="en-US" sz="1200" i="1" dirty="0">
                <a:solidFill>
                  <a:srgbClr val="5A6474"/>
                </a:solidFill>
                <a:latin typeface="Calibri" pitchFamily="34" charset="0"/>
                <a:ea typeface="Calibri" pitchFamily="34" charset="-122"/>
                <a:cs typeface="Calibri" pitchFamily="34" charset="-120"/>
              </a:rPr>
              <a:t>Current Assets / Current Liabilities</a:t>
            </a:r>
            <a:endParaRPr lang="en-US" sz="1200" dirty="0"/>
          </a:p>
        </p:txBody>
      </p:sp>
      <p:sp>
        <p:nvSpPr>
          <p:cNvPr id="14" name="Text 12"/>
          <p:cNvSpPr/>
          <p:nvPr/>
        </p:nvSpPr>
        <p:spPr>
          <a:xfrm>
            <a:off x="685800" y="3145536"/>
            <a:ext cx="5029200"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1.0 초과 = Working Capital 양(+).</a:t>
            </a:r>
            <a:endParaRPr lang="en-US" sz="1250" dirty="0"/>
          </a:p>
        </p:txBody>
      </p:sp>
      <p:sp>
        <p:nvSpPr>
          <p:cNvPr id="15" name="Shape 13"/>
          <p:cNvSpPr/>
          <p:nvPr/>
        </p:nvSpPr>
        <p:spPr>
          <a:xfrm>
            <a:off x="6272784" y="2286000"/>
            <a:ext cx="5486400" cy="1426464"/>
          </a:xfrm>
          <a:prstGeom prst="rect">
            <a:avLst/>
          </a:prstGeom>
          <a:solidFill>
            <a:srgbClr val="FFFFFF"/>
          </a:solidFill>
          <a:ln w="12700">
            <a:solidFill>
              <a:srgbClr val="DCE3EE"/>
            </a:solidFill>
            <a:prstDash val="solid"/>
          </a:ln>
        </p:spPr>
      </p:sp>
      <p:sp>
        <p:nvSpPr>
          <p:cNvPr id="16" name="Shape 14"/>
          <p:cNvSpPr/>
          <p:nvPr/>
        </p:nvSpPr>
        <p:spPr>
          <a:xfrm>
            <a:off x="6272784" y="2286000"/>
            <a:ext cx="82296" cy="1426464"/>
          </a:xfrm>
          <a:prstGeom prst="rect">
            <a:avLst/>
          </a:prstGeom>
          <a:solidFill>
            <a:srgbClr val="0F6E7A"/>
          </a:solidFill>
          <a:ln/>
        </p:spPr>
      </p:sp>
      <p:sp>
        <p:nvSpPr>
          <p:cNvPr id="17" name="Text 15"/>
          <p:cNvSpPr/>
          <p:nvPr/>
        </p:nvSpPr>
        <p:spPr>
          <a:xfrm>
            <a:off x="6528816" y="2414016"/>
            <a:ext cx="5029200" cy="329184"/>
          </a:xfrm>
          <a:prstGeom prst="rect">
            <a:avLst/>
          </a:prstGeom>
          <a:noFill/>
          <a:ln/>
        </p:spPr>
        <p:txBody>
          <a:bodyPr wrap="square" lIns="0" tIns="0" rIns="0" bIns="0" rtlCol="0" anchor="ctr"/>
          <a:lstStyle/>
          <a:p>
            <a:pPr indent="0" marL="0">
              <a:buNone/>
            </a:pPr>
            <a:r>
              <a:rPr lang="en-US" sz="1500" b="1" dirty="0">
                <a:solidFill>
                  <a:srgbClr val="0F6E7A"/>
                </a:solidFill>
                <a:latin typeface="Calibri" pitchFamily="34" charset="0"/>
                <a:ea typeface="Calibri" pitchFamily="34" charset="-122"/>
                <a:cs typeface="Calibri" pitchFamily="34" charset="-120"/>
              </a:rPr>
              <a:t>Quick Ratio</a:t>
            </a:r>
            <a:endParaRPr lang="en-US" sz="1500" dirty="0"/>
          </a:p>
        </p:txBody>
      </p:sp>
      <p:sp>
        <p:nvSpPr>
          <p:cNvPr id="18" name="Text 16"/>
          <p:cNvSpPr/>
          <p:nvPr/>
        </p:nvSpPr>
        <p:spPr>
          <a:xfrm>
            <a:off x="6528816" y="2779776"/>
            <a:ext cx="5029200" cy="310896"/>
          </a:xfrm>
          <a:prstGeom prst="rect">
            <a:avLst/>
          </a:prstGeom>
          <a:noFill/>
          <a:ln/>
        </p:spPr>
        <p:txBody>
          <a:bodyPr wrap="square" lIns="0" tIns="0" rIns="0" bIns="0" rtlCol="0" anchor="ctr"/>
          <a:lstStyle/>
          <a:p>
            <a:pPr indent="0" marL="0">
              <a:buNone/>
            </a:pPr>
            <a:r>
              <a:rPr lang="en-US" sz="1200" i="1" dirty="0">
                <a:solidFill>
                  <a:srgbClr val="5A6474"/>
                </a:solidFill>
                <a:latin typeface="Calibri" pitchFamily="34" charset="0"/>
                <a:ea typeface="Calibri" pitchFamily="34" charset="-122"/>
                <a:cs typeface="Calibri" pitchFamily="34" charset="-120"/>
              </a:rPr>
              <a:t>(Cash + AR) / Current Liabilities</a:t>
            </a:r>
            <a:endParaRPr lang="en-US" sz="1200" dirty="0"/>
          </a:p>
        </p:txBody>
      </p:sp>
      <p:sp>
        <p:nvSpPr>
          <p:cNvPr id="19" name="Text 17"/>
          <p:cNvSpPr/>
          <p:nvPr/>
        </p:nvSpPr>
        <p:spPr>
          <a:xfrm>
            <a:off x="6528816" y="3145536"/>
            <a:ext cx="5029200"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Inventory를 제외.</a:t>
            </a:r>
            <a:endParaRPr lang="en-US" sz="1250" dirty="0"/>
          </a:p>
        </p:txBody>
      </p:sp>
      <p:sp>
        <p:nvSpPr>
          <p:cNvPr id="20" name="Shape 18"/>
          <p:cNvSpPr/>
          <p:nvPr/>
        </p:nvSpPr>
        <p:spPr>
          <a:xfrm>
            <a:off x="429768" y="3877056"/>
            <a:ext cx="5486400" cy="1426464"/>
          </a:xfrm>
          <a:prstGeom prst="rect">
            <a:avLst/>
          </a:prstGeom>
          <a:solidFill>
            <a:srgbClr val="FFFFFF"/>
          </a:solidFill>
          <a:ln w="12700">
            <a:solidFill>
              <a:srgbClr val="DCE3EE"/>
            </a:solidFill>
            <a:prstDash val="solid"/>
          </a:ln>
        </p:spPr>
      </p:sp>
      <p:sp>
        <p:nvSpPr>
          <p:cNvPr id="21" name="Shape 19"/>
          <p:cNvSpPr/>
          <p:nvPr/>
        </p:nvSpPr>
        <p:spPr>
          <a:xfrm>
            <a:off x="429768" y="3877056"/>
            <a:ext cx="82296" cy="1426464"/>
          </a:xfrm>
          <a:prstGeom prst="rect">
            <a:avLst/>
          </a:prstGeom>
          <a:solidFill>
            <a:srgbClr val="9A6600"/>
          </a:solidFill>
          <a:ln/>
        </p:spPr>
      </p:sp>
      <p:sp>
        <p:nvSpPr>
          <p:cNvPr id="22" name="Text 20"/>
          <p:cNvSpPr/>
          <p:nvPr/>
        </p:nvSpPr>
        <p:spPr>
          <a:xfrm>
            <a:off x="685800" y="4005072"/>
            <a:ext cx="5029200" cy="329184"/>
          </a:xfrm>
          <a:prstGeom prst="rect">
            <a:avLst/>
          </a:prstGeom>
          <a:noFill/>
          <a:ln/>
        </p:spPr>
        <p:txBody>
          <a:bodyPr wrap="square" lIns="0" tIns="0" rIns="0" bIns="0" rtlCol="0" anchor="ctr"/>
          <a:lstStyle/>
          <a:p>
            <a:pPr indent="0" marL="0">
              <a:buNone/>
            </a:pPr>
            <a:r>
              <a:rPr lang="en-US" sz="1500" b="1" dirty="0">
                <a:solidFill>
                  <a:srgbClr val="9A6600"/>
                </a:solidFill>
                <a:latin typeface="Calibri" pitchFamily="34" charset="0"/>
                <a:ea typeface="Calibri" pitchFamily="34" charset="-122"/>
                <a:cs typeface="Calibri" pitchFamily="34" charset="-120"/>
              </a:rPr>
              <a:t>OCF to CL</a:t>
            </a:r>
            <a:endParaRPr lang="en-US" sz="1500" dirty="0"/>
          </a:p>
        </p:txBody>
      </p:sp>
      <p:sp>
        <p:nvSpPr>
          <p:cNvPr id="23" name="Text 21"/>
          <p:cNvSpPr/>
          <p:nvPr/>
        </p:nvSpPr>
        <p:spPr>
          <a:xfrm>
            <a:off x="685800" y="4370832"/>
            <a:ext cx="5029200" cy="310896"/>
          </a:xfrm>
          <a:prstGeom prst="rect">
            <a:avLst/>
          </a:prstGeom>
          <a:noFill/>
          <a:ln/>
        </p:spPr>
        <p:txBody>
          <a:bodyPr wrap="square" lIns="0" tIns="0" rIns="0" bIns="0" rtlCol="0" anchor="ctr"/>
          <a:lstStyle/>
          <a:p>
            <a:pPr indent="0" marL="0">
              <a:buNone/>
            </a:pPr>
            <a:r>
              <a:rPr lang="en-US" sz="1200" i="1" dirty="0">
                <a:solidFill>
                  <a:srgbClr val="5A6474"/>
                </a:solidFill>
                <a:latin typeface="Calibri" pitchFamily="34" charset="0"/>
                <a:ea typeface="Calibri" pitchFamily="34" charset="-122"/>
                <a:cs typeface="Calibri" pitchFamily="34" charset="-120"/>
              </a:rPr>
              <a:t>Operating Cash Flow / Current Liab.</a:t>
            </a:r>
            <a:endParaRPr lang="en-US" sz="1200" dirty="0"/>
          </a:p>
        </p:txBody>
      </p:sp>
      <p:sp>
        <p:nvSpPr>
          <p:cNvPr id="24" name="Text 22"/>
          <p:cNvSpPr/>
          <p:nvPr/>
        </p:nvSpPr>
        <p:spPr>
          <a:xfrm>
            <a:off x="685800" y="4736592"/>
            <a:ext cx="5029200"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영업으로 단기 부채 감당?</a:t>
            </a:r>
            <a:endParaRPr lang="en-US" sz="1250" dirty="0"/>
          </a:p>
        </p:txBody>
      </p:sp>
      <p:sp>
        <p:nvSpPr>
          <p:cNvPr id="25" name="Shape 23"/>
          <p:cNvSpPr/>
          <p:nvPr/>
        </p:nvSpPr>
        <p:spPr>
          <a:xfrm>
            <a:off x="6272784" y="3877056"/>
            <a:ext cx="5486400" cy="1426464"/>
          </a:xfrm>
          <a:prstGeom prst="rect">
            <a:avLst/>
          </a:prstGeom>
          <a:solidFill>
            <a:srgbClr val="FFFFFF"/>
          </a:solidFill>
          <a:ln w="12700">
            <a:solidFill>
              <a:srgbClr val="DCE3EE"/>
            </a:solidFill>
            <a:prstDash val="solid"/>
          </a:ln>
        </p:spPr>
      </p:sp>
      <p:sp>
        <p:nvSpPr>
          <p:cNvPr id="26" name="Shape 24"/>
          <p:cNvSpPr/>
          <p:nvPr/>
        </p:nvSpPr>
        <p:spPr>
          <a:xfrm>
            <a:off x="6272784" y="3877056"/>
            <a:ext cx="82296" cy="1426464"/>
          </a:xfrm>
          <a:prstGeom prst="rect">
            <a:avLst/>
          </a:prstGeom>
          <a:solidFill>
            <a:srgbClr val="1E7A4C"/>
          </a:solidFill>
          <a:ln/>
        </p:spPr>
      </p:sp>
      <p:sp>
        <p:nvSpPr>
          <p:cNvPr id="27" name="Text 25"/>
          <p:cNvSpPr/>
          <p:nvPr/>
        </p:nvSpPr>
        <p:spPr>
          <a:xfrm>
            <a:off x="6528816" y="4005072"/>
            <a:ext cx="5029200" cy="329184"/>
          </a:xfrm>
          <a:prstGeom prst="rect">
            <a:avLst/>
          </a:prstGeom>
          <a:noFill/>
          <a:ln/>
        </p:spPr>
        <p:txBody>
          <a:bodyPr wrap="square" lIns="0" tIns="0" rIns="0" bIns="0" rtlCol="0" anchor="ctr"/>
          <a:lstStyle/>
          <a:p>
            <a:pPr indent="0" marL="0">
              <a:buNone/>
            </a:pPr>
            <a:r>
              <a:rPr lang="en-US" sz="1500" b="1" dirty="0">
                <a:solidFill>
                  <a:srgbClr val="1E7A4C"/>
                </a:solidFill>
                <a:latin typeface="Calibri" pitchFamily="34" charset="0"/>
                <a:ea typeface="Calibri" pitchFamily="34" charset="-122"/>
                <a:cs typeface="Calibri" pitchFamily="34" charset="-120"/>
              </a:rPr>
              <a:t>Cash Burn Rate</a:t>
            </a:r>
            <a:endParaRPr lang="en-US" sz="1500" dirty="0"/>
          </a:p>
        </p:txBody>
      </p:sp>
      <p:sp>
        <p:nvSpPr>
          <p:cNvPr id="28" name="Text 26"/>
          <p:cNvSpPr/>
          <p:nvPr/>
        </p:nvSpPr>
        <p:spPr>
          <a:xfrm>
            <a:off x="6528816" y="4370832"/>
            <a:ext cx="5029200" cy="310896"/>
          </a:xfrm>
          <a:prstGeom prst="rect">
            <a:avLst/>
          </a:prstGeom>
          <a:noFill/>
          <a:ln/>
        </p:spPr>
        <p:txBody>
          <a:bodyPr wrap="square" lIns="0" tIns="0" rIns="0" bIns="0" rtlCol="0" anchor="ctr"/>
          <a:lstStyle/>
          <a:p>
            <a:pPr indent="0" marL="0">
              <a:buNone/>
            </a:pPr>
            <a:r>
              <a:rPr lang="en-US" sz="1200" i="1" dirty="0">
                <a:solidFill>
                  <a:srgbClr val="5A6474"/>
                </a:solidFill>
                <a:latin typeface="Calibri" pitchFamily="34" charset="0"/>
                <a:ea typeface="Calibri" pitchFamily="34" charset="-122"/>
                <a:cs typeface="Calibri" pitchFamily="34" charset="-120"/>
              </a:rPr>
              <a:t>Free Cash Flow / 365</a:t>
            </a:r>
            <a:endParaRPr lang="en-US" sz="1200" dirty="0"/>
          </a:p>
        </p:txBody>
      </p:sp>
      <p:sp>
        <p:nvSpPr>
          <p:cNvPr id="29" name="Text 27"/>
          <p:cNvSpPr/>
          <p:nvPr/>
        </p:nvSpPr>
        <p:spPr>
          <a:xfrm>
            <a:off x="6528816" y="4736592"/>
            <a:ext cx="5029200" cy="45720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현금이 소진되는 속도.</a:t>
            </a:r>
            <a:endParaRPr lang="en-US" sz="1250" dirty="0"/>
          </a:p>
        </p:txBody>
      </p:sp>
      <p:sp>
        <p:nvSpPr>
          <p:cNvPr id="30" name="Shape 28"/>
          <p:cNvSpPr/>
          <p:nvPr/>
        </p:nvSpPr>
        <p:spPr>
          <a:xfrm>
            <a:off x="429768" y="5486400"/>
            <a:ext cx="11329416" cy="457200"/>
          </a:xfrm>
          <a:prstGeom prst="rect">
            <a:avLst/>
          </a:prstGeom>
          <a:solidFill>
            <a:srgbClr val="14306B"/>
          </a:solidFill>
          <a:ln/>
        </p:spPr>
      </p:sp>
      <p:sp>
        <p:nvSpPr>
          <p:cNvPr id="31" name="Text 29"/>
          <p:cNvSpPr/>
          <p:nvPr/>
        </p:nvSpPr>
        <p:spPr>
          <a:xfrm>
            <a:off x="685800" y="5486400"/>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유동성이 너무 낮으면 = 채무불이행 위험,  너무 높으면 = 비효율적 자산 운용.</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Solvency Analysis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23</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장기(LONG-TERM) 채무를 이행할 수 있는가?</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286000"/>
            <a:ext cx="5486400" cy="2468880"/>
          </a:xfrm>
          <a:prstGeom prst="rect">
            <a:avLst/>
          </a:prstGeom>
          <a:solidFill>
            <a:srgbClr val="FFFFFF"/>
          </a:solidFill>
          <a:ln w="12700">
            <a:solidFill>
              <a:srgbClr val="DCE3EE"/>
            </a:solidFill>
            <a:prstDash val="solid"/>
          </a:ln>
        </p:spPr>
      </p:sp>
      <p:sp>
        <p:nvSpPr>
          <p:cNvPr id="11" name="Shape 9"/>
          <p:cNvSpPr/>
          <p:nvPr/>
        </p:nvSpPr>
        <p:spPr>
          <a:xfrm>
            <a:off x="429768" y="2286000"/>
            <a:ext cx="82296" cy="2468880"/>
          </a:xfrm>
          <a:prstGeom prst="rect">
            <a:avLst/>
          </a:prstGeom>
          <a:solidFill>
            <a:srgbClr val="1F4899"/>
          </a:solidFill>
          <a:ln/>
        </p:spPr>
      </p:sp>
      <p:sp>
        <p:nvSpPr>
          <p:cNvPr id="12" name="Shape 10"/>
          <p:cNvSpPr/>
          <p:nvPr/>
        </p:nvSpPr>
        <p:spPr>
          <a:xfrm>
            <a:off x="429768" y="2286000"/>
            <a:ext cx="5486400" cy="420624"/>
          </a:xfrm>
          <a:prstGeom prst="rect">
            <a:avLst/>
          </a:prstGeom>
          <a:solidFill>
            <a:srgbClr val="1F4899"/>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Debt-to-Equity (D/E)</a:t>
            </a:r>
            <a:endParaRPr lang="en-US" sz="1500" dirty="0"/>
          </a:p>
        </p:txBody>
      </p:sp>
      <p:sp>
        <p:nvSpPr>
          <p:cNvPr id="14" name="Text 12"/>
          <p:cNvSpPr/>
          <p:nvPr/>
        </p:nvSpPr>
        <p:spPr>
          <a:xfrm>
            <a:off x="649224"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Total Liabilities / Stockholders' Equity.</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부채와 자기자본에 대한 의존도.</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높음 = 부채 많음, 지급능력 낮음.</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낮음 = 보수적, 더 안정적.</a:t>
            </a:r>
            <a:endParaRPr lang="en-US" sz="1250" dirty="0"/>
          </a:p>
        </p:txBody>
      </p:sp>
      <p:sp>
        <p:nvSpPr>
          <p:cNvPr id="15" name="Shape 13"/>
          <p:cNvSpPr/>
          <p:nvPr/>
        </p:nvSpPr>
        <p:spPr>
          <a:xfrm>
            <a:off x="6272784" y="2286000"/>
            <a:ext cx="5486400" cy="246888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468880"/>
          </a:xfrm>
          <a:prstGeom prst="rect">
            <a:avLst/>
          </a:prstGeom>
          <a:solidFill>
            <a:srgbClr val="0F6E7A"/>
          </a:solidFill>
          <a:ln/>
        </p:spPr>
      </p:sp>
      <p:sp>
        <p:nvSpPr>
          <p:cNvPr id="17" name="Shape 15"/>
          <p:cNvSpPr/>
          <p:nvPr/>
        </p:nvSpPr>
        <p:spPr>
          <a:xfrm>
            <a:off x="6272784" y="2286000"/>
            <a:ext cx="5486400" cy="420624"/>
          </a:xfrm>
          <a:prstGeom prst="rect">
            <a:avLst/>
          </a:prstGeom>
          <a:solidFill>
            <a:srgbClr val="0F6E7A"/>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Times Interest Earned (TIE)</a:t>
            </a:r>
            <a:endParaRPr lang="en-US" sz="1500" dirty="0"/>
          </a:p>
        </p:txBody>
      </p:sp>
      <p:sp>
        <p:nvSpPr>
          <p:cNvPr id="19" name="Text 17"/>
          <p:cNvSpPr/>
          <p:nvPr/>
        </p:nvSpPr>
        <p:spPr>
          <a:xfrm>
            <a:off x="6492240"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(Operating Income + Int Exp) / Int Exp.</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영업이익으로 이자를 감당할 수 있는가?</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높음 = 이자를 여유 있게 감당.</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낮음 = 이자 지급에 어려움 가능.</a:t>
            </a:r>
            <a:endParaRPr lang="en-US" sz="1250" dirty="0"/>
          </a:p>
        </p:txBody>
      </p:sp>
      <p:sp>
        <p:nvSpPr>
          <p:cNvPr id="20" name="Shape 18"/>
          <p:cNvSpPr/>
          <p:nvPr/>
        </p:nvSpPr>
        <p:spPr>
          <a:xfrm>
            <a:off x="429768" y="4956048"/>
            <a:ext cx="11329416" cy="548640"/>
          </a:xfrm>
          <a:prstGeom prst="rect">
            <a:avLst/>
          </a:prstGeom>
          <a:solidFill>
            <a:srgbClr val="E9F5EE"/>
          </a:solidFill>
          <a:ln w="12700">
            <a:solidFill>
              <a:srgbClr val="1E7A4C"/>
            </a:solidFill>
            <a:prstDash val="solid"/>
          </a:ln>
        </p:spPr>
      </p:sp>
      <p:sp>
        <p:nvSpPr>
          <p:cNvPr id="21" name="Text 19"/>
          <p:cNvSpPr/>
          <p:nvPr/>
        </p:nvSpPr>
        <p:spPr>
          <a:xfrm>
            <a:off x="667512" y="4956048"/>
            <a:ext cx="10853928" cy="548640"/>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지급능력이 우수하면: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장기 채무 이행 가능  ·  신용 위험 낮음  ·  향후 차입 여력 큼.</a:t>
            </a:r>
            <a:endParaRPr lang="en-US" sz="1300" dirty="0"/>
          </a:p>
        </p:txBody>
      </p:sp>
      <p:sp>
        <p:nvSpPr>
          <p:cNvPr id="22" name="Shape 20"/>
          <p:cNvSpPr/>
          <p:nvPr/>
        </p:nvSpPr>
        <p:spPr>
          <a:xfrm>
            <a:off x="429768" y="5614416"/>
            <a:ext cx="11329416" cy="457200"/>
          </a:xfrm>
          <a:prstGeom prst="rect">
            <a:avLst/>
          </a:prstGeom>
          <a:solidFill>
            <a:srgbClr val="14306B"/>
          </a:solidFill>
          <a:ln/>
        </p:spPr>
      </p:sp>
      <p:sp>
        <p:nvSpPr>
          <p:cNvPr id="23" name="Text 21"/>
          <p:cNvSpPr/>
          <p:nvPr/>
        </p:nvSpPr>
        <p:spPr>
          <a:xfrm>
            <a:off x="685800" y="5614416"/>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유동성은 '지금 갚을 수 있는가', 지급능력은 '끝까지 갚을 수 있는가'를 묻습니다.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Altman Z-Score (1968)</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24</a:t>
            </a:r>
            <a:endParaRPr lang="en-US" sz="1050" dirty="0"/>
          </a:p>
        </p:txBody>
      </p:sp>
      <p:sp>
        <p:nvSpPr>
          <p:cNvPr id="6" name="Shape 4"/>
          <p:cNvSpPr/>
          <p:nvPr/>
        </p:nvSpPr>
        <p:spPr>
          <a:xfrm>
            <a:off x="429768" y="1481328"/>
            <a:ext cx="11329416" cy="548640"/>
          </a:xfrm>
          <a:prstGeom prst="rect">
            <a:avLst/>
          </a:prstGeom>
          <a:solidFill>
            <a:srgbClr val="14306B"/>
          </a:solidFill>
          <a:ln/>
        </p:spPr>
      </p:sp>
      <p:sp>
        <p:nvSpPr>
          <p:cNvPr id="7" name="Text 5"/>
          <p:cNvSpPr/>
          <p:nvPr/>
        </p:nvSpPr>
        <p:spPr>
          <a:xfrm>
            <a:off x="429768" y="1481328"/>
            <a:ext cx="11329416"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Light" pitchFamily="34" charset="0"/>
                <a:ea typeface="Calibri Light" pitchFamily="34" charset="-122"/>
                <a:cs typeface="Calibri Light" pitchFamily="34" charset="-120"/>
              </a:rPr>
              <a:t>Z  =  1.2(WC/TA) + 1.4(RE/TA) + 3.3(EBIT/TA) + 0.6(MVE/TL) + 1.0(Sales/TA)</a:t>
            </a:r>
            <a:endParaRPr lang="en-US" sz="1500" dirty="0"/>
          </a:p>
        </p:txBody>
      </p:sp>
      <p:sp>
        <p:nvSpPr>
          <p:cNvPr id="8" name="Shape 6"/>
          <p:cNvSpPr/>
          <p:nvPr/>
        </p:nvSpPr>
        <p:spPr>
          <a:xfrm>
            <a:off x="429768" y="2194560"/>
            <a:ext cx="5943600" cy="2651760"/>
          </a:xfrm>
          <a:prstGeom prst="rect">
            <a:avLst/>
          </a:prstGeom>
          <a:solidFill>
            <a:srgbClr val="FFFFFF"/>
          </a:solidFill>
          <a:ln w="12700">
            <a:solidFill>
              <a:srgbClr val="DCE3EE"/>
            </a:solidFill>
            <a:prstDash val="solid"/>
          </a:ln>
        </p:spPr>
      </p:sp>
      <p:sp>
        <p:nvSpPr>
          <p:cNvPr id="9" name="Shape 7"/>
          <p:cNvSpPr/>
          <p:nvPr/>
        </p:nvSpPr>
        <p:spPr>
          <a:xfrm>
            <a:off x="429768" y="2194560"/>
            <a:ext cx="82296" cy="2651760"/>
          </a:xfrm>
          <a:prstGeom prst="rect">
            <a:avLst/>
          </a:prstGeom>
          <a:solidFill>
            <a:srgbClr val="1F4899"/>
          </a:solidFill>
          <a:ln/>
        </p:spPr>
      </p:sp>
      <p:sp>
        <p:nvSpPr>
          <p:cNvPr id="10" name="Shape 8"/>
          <p:cNvSpPr/>
          <p:nvPr/>
        </p:nvSpPr>
        <p:spPr>
          <a:xfrm>
            <a:off x="429768" y="2194560"/>
            <a:ext cx="5943600" cy="420624"/>
          </a:xfrm>
          <a:prstGeom prst="rect">
            <a:avLst/>
          </a:prstGeom>
          <a:solidFill>
            <a:srgbClr val="1F4899"/>
          </a:solidFill>
          <a:ln/>
        </p:spPr>
      </p:sp>
      <p:sp>
        <p:nvSpPr>
          <p:cNvPr id="11" name="Text 9"/>
          <p:cNvSpPr/>
          <p:nvPr/>
        </p:nvSpPr>
        <p:spPr>
          <a:xfrm>
            <a:off x="630936" y="2194560"/>
            <a:ext cx="56327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변수</a:t>
            </a:r>
            <a:endParaRPr lang="en-US" sz="1500" dirty="0"/>
          </a:p>
        </p:txBody>
      </p:sp>
      <p:sp>
        <p:nvSpPr>
          <p:cNvPr id="12" name="Text 10"/>
          <p:cNvSpPr/>
          <p:nvPr/>
        </p:nvSpPr>
        <p:spPr>
          <a:xfrm>
            <a:off x="649224" y="2798064"/>
            <a:ext cx="5522976" cy="1920240"/>
          </a:xfrm>
          <a:prstGeom prst="rect">
            <a:avLst/>
          </a:prstGeom>
          <a:noFill/>
          <a:ln/>
        </p:spPr>
        <p:txBody>
          <a:bodyPr wrap="square" lIns="0" tIns="0" rIns="0" bIns="0" rtlCol="0" anchor="t"/>
          <a:lstStyle/>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WC/TA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유동성.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RE/TA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장기 수익성.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EBIT/TA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효율성.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MVE/TL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자본 건전성.</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Sales/TA — </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자산회전율.</a:t>
            </a:r>
            <a:endParaRPr lang="en-US" sz="1250" dirty="0"/>
          </a:p>
        </p:txBody>
      </p:sp>
      <p:sp>
        <p:nvSpPr>
          <p:cNvPr id="13" name="Shape 11"/>
          <p:cNvSpPr/>
          <p:nvPr/>
        </p:nvSpPr>
        <p:spPr>
          <a:xfrm>
            <a:off x="6583680" y="2194560"/>
            <a:ext cx="5175504" cy="786384"/>
          </a:xfrm>
          <a:prstGeom prst="rect">
            <a:avLst/>
          </a:prstGeom>
          <a:solidFill>
            <a:srgbClr val="FFFFFF"/>
          </a:solidFill>
          <a:ln w="12700">
            <a:solidFill>
              <a:srgbClr val="DCE3EE"/>
            </a:solidFill>
            <a:prstDash val="solid"/>
          </a:ln>
        </p:spPr>
      </p:sp>
      <p:sp>
        <p:nvSpPr>
          <p:cNvPr id="14" name="Shape 12"/>
          <p:cNvSpPr/>
          <p:nvPr/>
        </p:nvSpPr>
        <p:spPr>
          <a:xfrm>
            <a:off x="6583680" y="2194560"/>
            <a:ext cx="82296" cy="786384"/>
          </a:xfrm>
          <a:prstGeom prst="rect">
            <a:avLst/>
          </a:prstGeom>
          <a:solidFill>
            <a:srgbClr val="1E7A4C"/>
          </a:solidFill>
          <a:ln/>
        </p:spPr>
      </p:sp>
      <p:sp>
        <p:nvSpPr>
          <p:cNvPr id="15" name="Text 13"/>
          <p:cNvSpPr/>
          <p:nvPr/>
        </p:nvSpPr>
        <p:spPr>
          <a:xfrm>
            <a:off x="6784848" y="2194560"/>
            <a:ext cx="1737360" cy="786384"/>
          </a:xfrm>
          <a:prstGeom prst="rect">
            <a:avLst/>
          </a:prstGeom>
          <a:noFill/>
          <a:ln/>
        </p:spPr>
        <p:txBody>
          <a:bodyPr wrap="square" lIns="0" tIns="0" rIns="0" bIns="0" rtlCol="0" anchor="ctr"/>
          <a:lstStyle/>
          <a:p>
            <a:pPr indent="0" marL="0">
              <a:buNone/>
            </a:pPr>
            <a:r>
              <a:rPr lang="en-US" sz="1400" b="1" dirty="0">
                <a:solidFill>
                  <a:srgbClr val="1E7A4C"/>
                </a:solidFill>
                <a:latin typeface="Calibri" pitchFamily="34" charset="0"/>
                <a:ea typeface="Calibri" pitchFamily="34" charset="-122"/>
                <a:cs typeface="Calibri" pitchFamily="34" charset="-120"/>
              </a:rPr>
              <a:t>Z &gt; 3.0</a:t>
            </a:r>
            <a:endParaRPr lang="en-US" sz="1400" dirty="0"/>
          </a:p>
        </p:txBody>
      </p:sp>
      <p:sp>
        <p:nvSpPr>
          <p:cNvPr id="16" name="Text 14"/>
          <p:cNvSpPr/>
          <p:nvPr/>
        </p:nvSpPr>
        <p:spPr>
          <a:xfrm>
            <a:off x="8549640" y="2194560"/>
            <a:ext cx="3108960" cy="786384"/>
          </a:xfrm>
          <a:prstGeom prst="rect">
            <a:avLst/>
          </a:prstGeom>
          <a:noFill/>
          <a:ln/>
        </p:spPr>
        <p:txBody>
          <a:bodyPr wrap="square" lIns="0" tIns="0" rIns="0" bIns="0" rtlCol="0" anchor="ctr"/>
          <a:lstStyle/>
          <a:p>
            <a:pPr indent="0" marL="0">
              <a:lnSpc>
                <a:spcPct val="95000"/>
              </a:lnSpc>
              <a:buNone/>
            </a:pPr>
            <a:r>
              <a:rPr lang="en-US" sz="1200" dirty="0">
                <a:solidFill>
                  <a:srgbClr val="1A1A1A"/>
                </a:solidFill>
                <a:latin typeface="Calibri" pitchFamily="34" charset="0"/>
                <a:ea typeface="Calibri" pitchFamily="34" charset="-122"/>
                <a:cs typeface="Calibri" pitchFamily="34" charset="-120"/>
              </a:rPr>
              <a:t>건전 · 파산 위험 낮음</a:t>
            </a:r>
            <a:endParaRPr lang="en-US" sz="1200" dirty="0"/>
          </a:p>
        </p:txBody>
      </p:sp>
      <p:sp>
        <p:nvSpPr>
          <p:cNvPr id="17" name="Shape 15"/>
          <p:cNvSpPr/>
          <p:nvPr/>
        </p:nvSpPr>
        <p:spPr>
          <a:xfrm>
            <a:off x="6583680" y="3090672"/>
            <a:ext cx="5175504" cy="786384"/>
          </a:xfrm>
          <a:prstGeom prst="rect">
            <a:avLst/>
          </a:prstGeom>
          <a:solidFill>
            <a:srgbClr val="FFFFFF"/>
          </a:solidFill>
          <a:ln w="12700">
            <a:solidFill>
              <a:srgbClr val="DCE3EE"/>
            </a:solidFill>
            <a:prstDash val="solid"/>
          </a:ln>
        </p:spPr>
      </p:sp>
      <p:sp>
        <p:nvSpPr>
          <p:cNvPr id="18" name="Shape 16"/>
          <p:cNvSpPr/>
          <p:nvPr/>
        </p:nvSpPr>
        <p:spPr>
          <a:xfrm>
            <a:off x="6583680" y="3090672"/>
            <a:ext cx="82296" cy="786384"/>
          </a:xfrm>
          <a:prstGeom prst="rect">
            <a:avLst/>
          </a:prstGeom>
          <a:solidFill>
            <a:srgbClr val="9A6600"/>
          </a:solidFill>
          <a:ln/>
        </p:spPr>
      </p:sp>
      <p:sp>
        <p:nvSpPr>
          <p:cNvPr id="19" name="Text 17"/>
          <p:cNvSpPr/>
          <p:nvPr/>
        </p:nvSpPr>
        <p:spPr>
          <a:xfrm>
            <a:off x="6784848" y="3090672"/>
            <a:ext cx="1737360" cy="786384"/>
          </a:xfrm>
          <a:prstGeom prst="rect">
            <a:avLst/>
          </a:prstGeom>
          <a:noFill/>
          <a:ln/>
        </p:spPr>
        <p:txBody>
          <a:bodyPr wrap="square" lIns="0" tIns="0" rIns="0" bIns="0" rtlCol="0" anchor="ctr"/>
          <a:lstStyle/>
          <a:p>
            <a:pPr indent="0" marL="0">
              <a:buNone/>
            </a:pPr>
            <a:r>
              <a:rPr lang="en-US" sz="1400" b="1" dirty="0">
                <a:solidFill>
                  <a:srgbClr val="9A6600"/>
                </a:solidFill>
                <a:latin typeface="Calibri" pitchFamily="34" charset="0"/>
                <a:ea typeface="Calibri" pitchFamily="34" charset="-122"/>
                <a:cs typeface="Calibri" pitchFamily="34" charset="-120"/>
              </a:rPr>
              <a:t>Z = 1.8 – 3.0</a:t>
            </a:r>
            <a:endParaRPr lang="en-US" sz="1400" dirty="0"/>
          </a:p>
        </p:txBody>
      </p:sp>
      <p:sp>
        <p:nvSpPr>
          <p:cNvPr id="20" name="Text 18"/>
          <p:cNvSpPr/>
          <p:nvPr/>
        </p:nvSpPr>
        <p:spPr>
          <a:xfrm>
            <a:off x="8549640" y="3090672"/>
            <a:ext cx="3108960" cy="786384"/>
          </a:xfrm>
          <a:prstGeom prst="rect">
            <a:avLst/>
          </a:prstGeom>
          <a:noFill/>
          <a:ln/>
        </p:spPr>
        <p:txBody>
          <a:bodyPr wrap="square" lIns="0" tIns="0" rIns="0" bIns="0" rtlCol="0" anchor="ctr"/>
          <a:lstStyle/>
          <a:p>
            <a:pPr indent="0" marL="0">
              <a:lnSpc>
                <a:spcPct val="95000"/>
              </a:lnSpc>
              <a:buNone/>
            </a:pPr>
            <a:r>
              <a:rPr lang="en-US" sz="1200" dirty="0">
                <a:solidFill>
                  <a:srgbClr val="1A1A1A"/>
                </a:solidFill>
                <a:latin typeface="Calibri" pitchFamily="34" charset="0"/>
                <a:ea typeface="Calibri" pitchFamily="34" charset="-122"/>
                <a:cs typeface="Calibri" pitchFamily="34" charset="-120"/>
              </a:rPr>
              <a:t>Gray Zone (회색 지대) · 위험 보통</a:t>
            </a:r>
            <a:endParaRPr lang="en-US" sz="1200" dirty="0"/>
          </a:p>
        </p:txBody>
      </p:sp>
      <p:sp>
        <p:nvSpPr>
          <p:cNvPr id="21" name="Shape 19"/>
          <p:cNvSpPr/>
          <p:nvPr/>
        </p:nvSpPr>
        <p:spPr>
          <a:xfrm>
            <a:off x="6583680" y="3986784"/>
            <a:ext cx="5175504" cy="786384"/>
          </a:xfrm>
          <a:prstGeom prst="rect">
            <a:avLst/>
          </a:prstGeom>
          <a:solidFill>
            <a:srgbClr val="FFFFFF"/>
          </a:solidFill>
          <a:ln w="12700">
            <a:solidFill>
              <a:srgbClr val="DCE3EE"/>
            </a:solidFill>
            <a:prstDash val="solid"/>
          </a:ln>
        </p:spPr>
      </p:sp>
      <p:sp>
        <p:nvSpPr>
          <p:cNvPr id="22" name="Shape 20"/>
          <p:cNvSpPr/>
          <p:nvPr/>
        </p:nvSpPr>
        <p:spPr>
          <a:xfrm>
            <a:off x="6583680" y="3986784"/>
            <a:ext cx="82296" cy="786384"/>
          </a:xfrm>
          <a:prstGeom prst="rect">
            <a:avLst/>
          </a:prstGeom>
          <a:solidFill>
            <a:srgbClr val="B3261E"/>
          </a:solidFill>
          <a:ln/>
        </p:spPr>
      </p:sp>
      <p:sp>
        <p:nvSpPr>
          <p:cNvPr id="23" name="Text 21"/>
          <p:cNvSpPr/>
          <p:nvPr/>
        </p:nvSpPr>
        <p:spPr>
          <a:xfrm>
            <a:off x="6784848" y="3986784"/>
            <a:ext cx="1737360" cy="786384"/>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Z &lt; 1.8</a:t>
            </a:r>
            <a:endParaRPr lang="en-US" sz="1400" dirty="0"/>
          </a:p>
        </p:txBody>
      </p:sp>
      <p:sp>
        <p:nvSpPr>
          <p:cNvPr id="24" name="Text 22"/>
          <p:cNvSpPr/>
          <p:nvPr/>
        </p:nvSpPr>
        <p:spPr>
          <a:xfrm>
            <a:off x="8549640" y="3986784"/>
            <a:ext cx="3108960" cy="786384"/>
          </a:xfrm>
          <a:prstGeom prst="rect">
            <a:avLst/>
          </a:prstGeom>
          <a:noFill/>
          <a:ln/>
        </p:spPr>
        <p:txBody>
          <a:bodyPr wrap="square" lIns="0" tIns="0" rIns="0" bIns="0" rtlCol="0" anchor="ctr"/>
          <a:lstStyle/>
          <a:p>
            <a:pPr indent="0" marL="0">
              <a:lnSpc>
                <a:spcPct val="95000"/>
              </a:lnSpc>
              <a:buNone/>
            </a:pPr>
            <a:r>
              <a:rPr lang="en-US" sz="1200" dirty="0">
                <a:solidFill>
                  <a:srgbClr val="1A1A1A"/>
                </a:solidFill>
                <a:latin typeface="Calibri" pitchFamily="34" charset="0"/>
                <a:ea typeface="Calibri" pitchFamily="34" charset="-122"/>
                <a:cs typeface="Calibri" pitchFamily="34" charset="-120"/>
              </a:rPr>
              <a:t>부실 · 파산 위험 높음</a:t>
            </a:r>
            <a:endParaRPr lang="en-US" sz="1200" dirty="0"/>
          </a:p>
        </p:txBody>
      </p:sp>
      <p:sp>
        <p:nvSpPr>
          <p:cNvPr id="25" name="Shape 23"/>
          <p:cNvSpPr/>
          <p:nvPr/>
        </p:nvSpPr>
        <p:spPr>
          <a:xfrm>
            <a:off x="429768" y="5029200"/>
            <a:ext cx="11329416" cy="457200"/>
          </a:xfrm>
          <a:prstGeom prst="rect">
            <a:avLst/>
          </a:prstGeom>
          <a:solidFill>
            <a:srgbClr val="14306B"/>
          </a:solidFill>
          <a:ln/>
        </p:spPr>
      </p:sp>
      <p:sp>
        <p:nvSpPr>
          <p:cNvPr id="26" name="Text 24"/>
          <p:cNvSpPr/>
          <p:nvPr/>
        </p:nvSpPr>
        <p:spPr>
          <a:xfrm>
            <a:off x="685800" y="5029200"/>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최초 발표 시 파산 1년 전 예측 정확도 95% — 은행과 신용분석가들이 지금도 널리 사용합니다.</a:t>
            </a:r>
            <a:endParaRPr lang="en-US" sz="1250" dirty="0"/>
          </a:p>
        </p:txBody>
      </p:sp>
      <p:sp>
        <p:nvSpPr>
          <p:cNvPr id="27" name="Shape 25"/>
          <p:cNvSpPr/>
          <p:nvPr/>
        </p:nvSpPr>
        <p:spPr>
          <a:xfrm>
            <a:off x="429768" y="5687568"/>
            <a:ext cx="11329416" cy="512064"/>
          </a:xfrm>
          <a:prstGeom prst="rect">
            <a:avLst/>
          </a:prstGeom>
          <a:solidFill>
            <a:srgbClr val="E9F5EE"/>
          </a:solidFill>
          <a:ln w="12700">
            <a:solidFill>
              <a:srgbClr val="1E7A4C"/>
            </a:solidFill>
            <a:prstDash val="solid"/>
          </a:ln>
        </p:spPr>
      </p:sp>
      <p:sp>
        <p:nvSpPr>
          <p:cNvPr id="28" name="Text 26"/>
          <p:cNvSpPr/>
          <p:nvPr/>
        </p:nvSpPr>
        <p:spPr>
          <a:xfrm>
            <a:off x="667512" y="5687568"/>
            <a:ext cx="10853928" cy="51206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Altman Z-Score는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다섯 개 비율을 가중 합산해 파산 위험을 하나의 점수로 예측합니다.</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3  ·  DEEP DIVE</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Working Capital Requirements</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운전자본 — 유동성인가, 자금조달 요구인가</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Traditional View — Working Capital as Liquidity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26</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Working capital management은 유동성을 유지하기 위해 현금과 current assets를 효율적으로 통제하는 것을 다룹니다.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139696"/>
            <a:ext cx="11329416" cy="548640"/>
          </a:xfrm>
          <a:prstGeom prst="rect">
            <a:avLst/>
          </a:prstGeom>
          <a:solidFill>
            <a:srgbClr val="14306B"/>
          </a:solidFill>
          <a:ln/>
        </p:spPr>
      </p:sp>
      <p:sp>
        <p:nvSpPr>
          <p:cNvPr id="11" name="Text 9"/>
          <p:cNvSpPr/>
          <p:nvPr/>
        </p:nvSpPr>
        <p:spPr>
          <a:xfrm>
            <a:off x="429768" y="2139696"/>
            <a:ext cx="11329416"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Net Current Assets   =   Current Assets   −   Current Liabilities</a:t>
            </a:r>
            <a:endParaRPr lang="en-US" sz="1700" dirty="0"/>
          </a:p>
        </p:txBody>
      </p:sp>
      <p:sp>
        <p:nvSpPr>
          <p:cNvPr id="12" name="Shape 10"/>
          <p:cNvSpPr/>
          <p:nvPr/>
        </p:nvSpPr>
        <p:spPr>
          <a:xfrm>
            <a:off x="429768" y="2962656"/>
            <a:ext cx="5486400" cy="1554480"/>
          </a:xfrm>
          <a:prstGeom prst="rect">
            <a:avLst/>
          </a:prstGeom>
          <a:solidFill>
            <a:srgbClr val="FFFFFF"/>
          </a:solidFill>
          <a:ln w="12700">
            <a:solidFill>
              <a:srgbClr val="DCE3EE"/>
            </a:solidFill>
            <a:prstDash val="solid"/>
          </a:ln>
        </p:spPr>
      </p:sp>
      <p:sp>
        <p:nvSpPr>
          <p:cNvPr id="13" name="Shape 11"/>
          <p:cNvSpPr/>
          <p:nvPr/>
        </p:nvSpPr>
        <p:spPr>
          <a:xfrm>
            <a:off x="429768" y="2962656"/>
            <a:ext cx="82296" cy="1554480"/>
          </a:xfrm>
          <a:prstGeom prst="rect">
            <a:avLst/>
          </a:prstGeom>
          <a:solidFill>
            <a:srgbClr val="1F4899"/>
          </a:solidFill>
          <a:ln/>
        </p:spPr>
      </p:sp>
      <p:sp>
        <p:nvSpPr>
          <p:cNvPr id="14" name="Shape 12"/>
          <p:cNvSpPr/>
          <p:nvPr/>
        </p:nvSpPr>
        <p:spPr>
          <a:xfrm>
            <a:off x="429768" y="2962656"/>
            <a:ext cx="5486400" cy="420624"/>
          </a:xfrm>
          <a:prstGeom prst="rect">
            <a:avLst/>
          </a:prstGeom>
          <a:solidFill>
            <a:srgbClr val="1F4899"/>
          </a:solidFill>
          <a:ln/>
        </p:spPr>
      </p:sp>
      <p:sp>
        <p:nvSpPr>
          <p:cNvPr id="15" name="Text 13"/>
          <p:cNvSpPr/>
          <p:nvPr/>
        </p:nvSpPr>
        <p:spPr>
          <a:xfrm>
            <a:off x="630936" y="2962656"/>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Interpretation</a:t>
            </a:r>
            <a:endParaRPr lang="en-US" sz="1500" dirty="0"/>
          </a:p>
        </p:txBody>
      </p:sp>
      <p:sp>
        <p:nvSpPr>
          <p:cNvPr id="16" name="Text 14"/>
          <p:cNvSpPr/>
          <p:nvPr/>
        </p:nvSpPr>
        <p:spPr>
          <a:xfrm>
            <a:off x="649224" y="3566160"/>
            <a:ext cx="5065776" cy="8229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양(+)의 값은 단기 지급능력과</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영업의 안정성을 의미.</a:t>
            </a:r>
            <a:endParaRPr lang="en-US" sz="1250" dirty="0"/>
          </a:p>
        </p:txBody>
      </p:sp>
      <p:sp>
        <p:nvSpPr>
          <p:cNvPr id="17" name="Shape 15"/>
          <p:cNvSpPr/>
          <p:nvPr/>
        </p:nvSpPr>
        <p:spPr>
          <a:xfrm>
            <a:off x="6272784" y="2962656"/>
            <a:ext cx="5486400" cy="1554480"/>
          </a:xfrm>
          <a:prstGeom prst="rect">
            <a:avLst/>
          </a:prstGeom>
          <a:solidFill>
            <a:srgbClr val="FFFFFF"/>
          </a:solidFill>
          <a:ln w="12700">
            <a:solidFill>
              <a:srgbClr val="DCE3EE"/>
            </a:solidFill>
            <a:prstDash val="solid"/>
          </a:ln>
        </p:spPr>
      </p:sp>
      <p:sp>
        <p:nvSpPr>
          <p:cNvPr id="18" name="Shape 16"/>
          <p:cNvSpPr/>
          <p:nvPr/>
        </p:nvSpPr>
        <p:spPr>
          <a:xfrm>
            <a:off x="6272784" y="2962656"/>
            <a:ext cx="82296" cy="1554480"/>
          </a:xfrm>
          <a:prstGeom prst="rect">
            <a:avLst/>
          </a:prstGeom>
          <a:solidFill>
            <a:srgbClr val="0F6E7A"/>
          </a:solidFill>
          <a:ln/>
        </p:spPr>
      </p:sp>
      <p:sp>
        <p:nvSpPr>
          <p:cNvPr id="19" name="Shape 17"/>
          <p:cNvSpPr/>
          <p:nvPr/>
        </p:nvSpPr>
        <p:spPr>
          <a:xfrm>
            <a:off x="6272784" y="2962656"/>
            <a:ext cx="5486400" cy="420624"/>
          </a:xfrm>
          <a:prstGeom prst="rect">
            <a:avLst/>
          </a:prstGeom>
          <a:solidFill>
            <a:srgbClr val="0F6E7A"/>
          </a:solidFill>
          <a:ln/>
        </p:spPr>
      </p:sp>
      <p:sp>
        <p:nvSpPr>
          <p:cNvPr id="20" name="Text 18"/>
          <p:cNvSpPr/>
          <p:nvPr/>
        </p:nvSpPr>
        <p:spPr>
          <a:xfrm>
            <a:off x="6473952" y="2962656"/>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Key Insight</a:t>
            </a:r>
            <a:endParaRPr lang="en-US" sz="1500" dirty="0"/>
          </a:p>
        </p:txBody>
      </p:sp>
      <p:sp>
        <p:nvSpPr>
          <p:cNvPr id="21" name="Text 19"/>
          <p:cNvSpPr/>
          <p:nvPr/>
        </p:nvSpPr>
        <p:spPr>
          <a:xfrm>
            <a:off x="6492240" y="3566160"/>
            <a:ext cx="5065776" cy="8229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전통적으로 유동성 지표로 인식 — 만기 도래 채무 이행 여부 확인.</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그러나 이는 하나의 관점일 뿐...</a:t>
            </a:r>
            <a:endParaRPr lang="en-US" sz="1250" dirty="0"/>
          </a:p>
        </p:txBody>
      </p:sp>
      <p:sp>
        <p:nvSpPr>
          <p:cNvPr id="22" name="Shape 20"/>
          <p:cNvSpPr/>
          <p:nvPr/>
        </p:nvSpPr>
        <p:spPr>
          <a:xfrm>
            <a:off x="429768" y="4791456"/>
            <a:ext cx="11329416" cy="457200"/>
          </a:xfrm>
          <a:prstGeom prst="rect">
            <a:avLst/>
          </a:prstGeom>
          <a:solidFill>
            <a:srgbClr val="14306B"/>
          </a:solidFill>
          <a:ln/>
        </p:spPr>
      </p:sp>
      <p:sp>
        <p:nvSpPr>
          <p:cNvPr id="23" name="Text 21"/>
          <p:cNvSpPr/>
          <p:nvPr/>
        </p:nvSpPr>
        <p:spPr>
          <a:xfrm>
            <a:off x="685800" y="4791456"/>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다음 슬라이드: working capital을 '유동성'이 아니라 '자금조달 요구'로 다시 봅니다.</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Source-of-Funds View — The Working Capital Requirement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27</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Working capital은 현재의 영업을 유지하기 위해 필요한 장기 자금조달 규모로도 이해할 수 있습니다.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356616" y="2139696"/>
            <a:ext cx="4261104" cy="3320569"/>
          </a:xfrm>
          <a:prstGeom prst="rect">
            <a:avLst/>
          </a:prstGeom>
          <a:solidFill>
            <a:srgbClr val="FFFFFF"/>
          </a:solidFill>
          <a:ln w="12700">
            <a:solidFill>
              <a:srgbClr val="DCE3EE"/>
            </a:solidFill>
            <a:prstDash val="solid"/>
          </a:ln>
        </p:spPr>
      </p:sp>
      <p:pic>
        <p:nvPicPr>
          <p:cNvPr id="11" name="Image 0" descr="assets/s29_1.png">    </p:cNvPr>
          <p:cNvPicPr>
            <a:picLocks noChangeAspect="1"/>
          </p:cNvPicPr>
          <p:nvPr/>
        </p:nvPicPr>
        <p:blipFill>
          <a:blip r:embed="rId1"/>
          <a:stretch>
            <a:fillRect/>
          </a:stretch>
        </p:blipFill>
        <p:spPr>
          <a:xfrm>
            <a:off x="429768" y="2212848"/>
            <a:ext cx="4114800" cy="3174265"/>
          </a:xfrm>
          <a:prstGeom prst="rect">
            <a:avLst/>
          </a:prstGeom>
        </p:spPr>
      </p:pic>
      <p:sp>
        <p:nvSpPr>
          <p:cNvPr id="12" name="Shape 9"/>
          <p:cNvSpPr/>
          <p:nvPr/>
        </p:nvSpPr>
        <p:spPr>
          <a:xfrm>
            <a:off x="4846320" y="2212848"/>
            <a:ext cx="6912864" cy="2286000"/>
          </a:xfrm>
          <a:prstGeom prst="rect">
            <a:avLst/>
          </a:prstGeom>
          <a:solidFill>
            <a:srgbClr val="FFFFFF"/>
          </a:solidFill>
          <a:ln w="12700">
            <a:solidFill>
              <a:srgbClr val="DCE3EE"/>
            </a:solidFill>
            <a:prstDash val="solid"/>
          </a:ln>
        </p:spPr>
      </p:sp>
      <p:sp>
        <p:nvSpPr>
          <p:cNvPr id="13" name="Shape 10"/>
          <p:cNvSpPr/>
          <p:nvPr/>
        </p:nvSpPr>
        <p:spPr>
          <a:xfrm>
            <a:off x="4846320" y="2212848"/>
            <a:ext cx="82296" cy="2286000"/>
          </a:xfrm>
          <a:prstGeom prst="rect">
            <a:avLst/>
          </a:prstGeom>
          <a:solidFill>
            <a:srgbClr val="1F4899"/>
          </a:solidFill>
          <a:ln/>
        </p:spPr>
      </p:sp>
      <p:sp>
        <p:nvSpPr>
          <p:cNvPr id="14" name="Shape 11"/>
          <p:cNvSpPr/>
          <p:nvPr/>
        </p:nvSpPr>
        <p:spPr>
          <a:xfrm>
            <a:off x="4846320" y="2212848"/>
            <a:ext cx="6912864" cy="365760"/>
          </a:xfrm>
          <a:prstGeom prst="rect">
            <a:avLst/>
          </a:prstGeom>
          <a:solidFill>
            <a:srgbClr val="1F4899"/>
          </a:solidFill>
          <a:ln/>
        </p:spPr>
      </p:sp>
      <p:sp>
        <p:nvSpPr>
          <p:cNvPr id="15" name="Text 12"/>
          <p:cNvSpPr/>
          <p:nvPr/>
        </p:nvSpPr>
        <p:spPr>
          <a:xfrm>
            <a:off x="5047488" y="2212848"/>
            <a:ext cx="660196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Key Points</a:t>
            </a:r>
            <a:endParaRPr lang="en-US" sz="1500" dirty="0"/>
          </a:p>
        </p:txBody>
      </p:sp>
      <p:sp>
        <p:nvSpPr>
          <p:cNvPr id="16" name="Text 13"/>
          <p:cNvSpPr/>
          <p:nvPr/>
        </p:nvSpPr>
        <p:spPr>
          <a:xfrm>
            <a:off x="5065776" y="2761488"/>
            <a:ext cx="6492240" cy="160934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Net current assets는 working capital requirement를 발생: $12 bn (= $191 − $179).</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Current liabilities(공급업체)로 조달되지 않은 current assets 부분.</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기업은 이 부족분을 장기 자금(자기자본·장기부채)으로 메워야 함.</a:t>
            </a:r>
            <a:endParaRPr lang="en-US" sz="1200" dirty="0"/>
          </a:p>
        </p:txBody>
      </p:sp>
      <p:sp>
        <p:nvSpPr>
          <p:cNvPr id="17" name="Shape 14"/>
          <p:cNvSpPr/>
          <p:nvPr/>
        </p:nvSpPr>
        <p:spPr>
          <a:xfrm>
            <a:off x="4846320" y="4626864"/>
            <a:ext cx="6912864" cy="1042416"/>
          </a:xfrm>
          <a:prstGeom prst="rect">
            <a:avLst/>
          </a:prstGeom>
          <a:solidFill>
            <a:srgbClr val="E9F5EE"/>
          </a:solidFill>
          <a:ln w="12700">
            <a:solidFill>
              <a:srgbClr val="1E7A4C"/>
            </a:solidFill>
            <a:prstDash val="solid"/>
          </a:ln>
        </p:spPr>
      </p:sp>
      <p:sp>
        <p:nvSpPr>
          <p:cNvPr id="18" name="Text 15"/>
          <p:cNvSpPr/>
          <p:nvPr/>
        </p:nvSpPr>
        <p:spPr>
          <a:xfrm>
            <a:off x="5029200" y="4626864"/>
            <a:ext cx="6547104" cy="1042416"/>
          </a:xfrm>
          <a:prstGeom prst="rect">
            <a:avLst/>
          </a:prstGeom>
          <a:noFill/>
          <a:ln/>
        </p:spPr>
        <p:txBody>
          <a:bodyPr wrap="square" lIns="0" tIns="0" rIns="0" bIns="0" rtlCol="0" anchor="ctr"/>
          <a:lstStyle/>
          <a:p>
            <a:pPr indent="0" marL="0">
              <a:lnSpc>
                <a:spcPct val="100000"/>
              </a:lnSpc>
              <a:buNone/>
            </a:pPr>
            <a:r>
              <a:rPr lang="en-US" sz="1200" b="1" dirty="0">
                <a:solidFill>
                  <a:srgbClr val="1E7A4C"/>
                </a:solidFill>
                <a:latin typeface="Calibri" pitchFamily="34" charset="0"/>
                <a:ea typeface="Calibri" pitchFamily="34" charset="-122"/>
                <a:cs typeface="Calibri" pitchFamily="34" charset="-120"/>
              </a:rPr>
              <a:t>핵심:  </a:t>
            </a:r>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CA &gt; CL일 때 그 격차는 장기 자본으로 조달해야 하며 — 이것이 진정한 “working capital requirement”입니다.</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Cycle of Cash Lag</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28</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현금은 재고 매입에서 판매·회수까지 시차를 두고 순환합니다 — 그 간극이 운전자본 수요를 만듭니다.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1004295" y="2121408"/>
            <a:ext cx="10180363" cy="2980944"/>
          </a:xfrm>
          <a:prstGeom prst="rect">
            <a:avLst/>
          </a:prstGeom>
          <a:solidFill>
            <a:srgbClr val="FFFFFF"/>
          </a:solidFill>
          <a:ln w="12700">
            <a:solidFill>
              <a:srgbClr val="DCE3EE"/>
            </a:solidFill>
            <a:prstDash val="solid"/>
          </a:ln>
        </p:spPr>
      </p:sp>
      <p:pic>
        <p:nvPicPr>
          <p:cNvPr id="11" name="Image 0" descr="assets/s30_1.png">    </p:cNvPr>
          <p:cNvPicPr>
            <a:picLocks noChangeAspect="1"/>
          </p:cNvPicPr>
          <p:nvPr/>
        </p:nvPicPr>
        <p:blipFill>
          <a:blip r:embed="rId1"/>
          <a:stretch>
            <a:fillRect/>
          </a:stretch>
        </p:blipFill>
        <p:spPr>
          <a:xfrm>
            <a:off x="1077447" y="2194560"/>
            <a:ext cx="10034059" cy="2834640"/>
          </a:xfrm>
          <a:prstGeom prst="rect">
            <a:avLst/>
          </a:prstGeom>
        </p:spPr>
      </p:pic>
      <p:sp>
        <p:nvSpPr>
          <p:cNvPr id="12" name="Shape 9"/>
          <p:cNvSpPr/>
          <p:nvPr/>
        </p:nvSpPr>
        <p:spPr>
          <a:xfrm>
            <a:off x="429768" y="5230368"/>
            <a:ext cx="11329416" cy="457200"/>
          </a:xfrm>
          <a:prstGeom prst="rect">
            <a:avLst/>
          </a:prstGeom>
          <a:solidFill>
            <a:srgbClr val="14306B"/>
          </a:solidFill>
          <a:ln/>
        </p:spPr>
      </p:sp>
      <p:sp>
        <p:nvSpPr>
          <p:cNvPr id="13" name="Text 10"/>
          <p:cNvSpPr/>
          <p:nvPr/>
        </p:nvSpPr>
        <p:spPr>
          <a:xfrm>
            <a:off x="685800" y="5230368"/>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Purchase → Produce → Sell → Collect. 현금이 다시 들어올 때까지의 간극을 장기 자본이 메웁니다.</a:t>
            </a:r>
            <a:endParaRPr lang="en-US" sz="1300" dirty="0"/>
          </a:p>
        </p:txBody>
      </p:sp>
      <p:sp>
        <p:nvSpPr>
          <p:cNvPr id="14" name="Shape 11"/>
          <p:cNvSpPr/>
          <p:nvPr/>
        </p:nvSpPr>
        <p:spPr>
          <a:xfrm>
            <a:off x="429768" y="5888736"/>
            <a:ext cx="11329416" cy="475488"/>
          </a:xfrm>
          <a:prstGeom prst="rect">
            <a:avLst/>
          </a:prstGeom>
          <a:solidFill>
            <a:srgbClr val="E9F5EE"/>
          </a:solidFill>
          <a:ln w="12700">
            <a:solidFill>
              <a:srgbClr val="1E7A4C"/>
            </a:solidFill>
            <a:prstDash val="solid"/>
          </a:ln>
        </p:spPr>
      </p:sp>
      <p:sp>
        <p:nvSpPr>
          <p:cNvPr id="15" name="Text 12"/>
          <p:cNvSpPr/>
          <p:nvPr/>
        </p:nvSpPr>
        <p:spPr>
          <a:xfrm>
            <a:off x="667512" y="5888736"/>
            <a:ext cx="10853928" cy="47548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함의: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현금 회수 주기가 길수록 더 많은 운전자본 자금조달이 필요합니다.</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Negative Working Capital — Risk vs. the 'Walmart' Advantage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29</a:t>
            </a:r>
            <a:endParaRPr lang="en-US" sz="1050" dirty="0"/>
          </a:p>
        </p:txBody>
      </p:sp>
      <p:sp>
        <p:nvSpPr>
          <p:cNvPr id="6" name="Shape 4"/>
          <p:cNvSpPr/>
          <p:nvPr/>
        </p:nvSpPr>
        <p:spPr>
          <a:xfrm>
            <a:off x="356616" y="1408176"/>
            <a:ext cx="3712464" cy="3976766"/>
          </a:xfrm>
          <a:prstGeom prst="rect">
            <a:avLst/>
          </a:prstGeom>
          <a:solidFill>
            <a:srgbClr val="FFFFFF"/>
          </a:solidFill>
          <a:ln w="12700">
            <a:solidFill>
              <a:srgbClr val="DCE3EE"/>
            </a:solidFill>
            <a:prstDash val="solid"/>
          </a:ln>
        </p:spPr>
      </p:sp>
      <p:pic>
        <p:nvPicPr>
          <p:cNvPr id="7" name="Image 0" descr="assets/s31_1.png">    </p:cNvPr>
          <p:cNvPicPr>
            <a:picLocks noChangeAspect="1"/>
          </p:cNvPicPr>
          <p:nvPr/>
        </p:nvPicPr>
        <p:blipFill>
          <a:blip r:embed="rId1"/>
          <a:stretch>
            <a:fillRect/>
          </a:stretch>
        </p:blipFill>
        <p:spPr>
          <a:xfrm>
            <a:off x="429768" y="1481328"/>
            <a:ext cx="3566160" cy="3830462"/>
          </a:xfrm>
          <a:prstGeom prst="rect">
            <a:avLst/>
          </a:prstGeom>
        </p:spPr>
      </p:pic>
      <p:sp>
        <p:nvSpPr>
          <p:cNvPr id="8" name="Shape 5"/>
          <p:cNvSpPr/>
          <p:nvPr/>
        </p:nvSpPr>
        <p:spPr>
          <a:xfrm>
            <a:off x="4206240" y="1517904"/>
            <a:ext cx="7552944" cy="1371600"/>
          </a:xfrm>
          <a:prstGeom prst="rect">
            <a:avLst/>
          </a:prstGeom>
          <a:solidFill>
            <a:srgbClr val="FFFFFF"/>
          </a:solidFill>
          <a:ln w="12700">
            <a:solidFill>
              <a:srgbClr val="DCE3EE"/>
            </a:solidFill>
            <a:prstDash val="solid"/>
          </a:ln>
        </p:spPr>
      </p:sp>
      <p:sp>
        <p:nvSpPr>
          <p:cNvPr id="9" name="Shape 6"/>
          <p:cNvSpPr/>
          <p:nvPr/>
        </p:nvSpPr>
        <p:spPr>
          <a:xfrm>
            <a:off x="4206240" y="1517904"/>
            <a:ext cx="82296" cy="1371600"/>
          </a:xfrm>
          <a:prstGeom prst="rect">
            <a:avLst/>
          </a:prstGeom>
          <a:solidFill>
            <a:srgbClr val="B3261E"/>
          </a:solidFill>
          <a:ln/>
        </p:spPr>
      </p:sp>
      <p:sp>
        <p:nvSpPr>
          <p:cNvPr id="10" name="Shape 7"/>
          <p:cNvSpPr/>
          <p:nvPr/>
        </p:nvSpPr>
        <p:spPr>
          <a:xfrm>
            <a:off x="4206240" y="1517904"/>
            <a:ext cx="7552944" cy="365760"/>
          </a:xfrm>
          <a:prstGeom prst="rect">
            <a:avLst/>
          </a:prstGeom>
          <a:solidFill>
            <a:srgbClr val="B3261E"/>
          </a:solidFill>
          <a:ln/>
        </p:spPr>
      </p:sp>
      <p:sp>
        <p:nvSpPr>
          <p:cNvPr id="11" name="Text 8"/>
          <p:cNvSpPr/>
          <p:nvPr/>
        </p:nvSpPr>
        <p:spPr>
          <a:xfrm>
            <a:off x="4407408" y="1517904"/>
            <a:ext cx="724204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It Means  ·  CL &gt; CA</a:t>
            </a:r>
            <a:endParaRPr lang="en-US" sz="1500" dirty="0"/>
          </a:p>
        </p:txBody>
      </p:sp>
      <p:sp>
        <p:nvSpPr>
          <p:cNvPr id="12" name="Text 9"/>
          <p:cNvSpPr/>
          <p:nvPr/>
        </p:nvSpPr>
        <p:spPr>
          <a:xfrm>
            <a:off x="4425696" y="2066544"/>
            <a:ext cx="7132320" cy="69494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Current liabilities가 current assets를 초과할 때 발생.</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종종 유동성 위험 신호 — 단기 채무 이행에 어려움 가능.</a:t>
            </a:r>
            <a:endParaRPr lang="en-US" sz="1200" dirty="0"/>
          </a:p>
        </p:txBody>
      </p:sp>
      <p:sp>
        <p:nvSpPr>
          <p:cNvPr id="13" name="Shape 10"/>
          <p:cNvSpPr/>
          <p:nvPr/>
        </p:nvSpPr>
        <p:spPr>
          <a:xfrm>
            <a:off x="4206240" y="2999232"/>
            <a:ext cx="7552944" cy="1280160"/>
          </a:xfrm>
          <a:prstGeom prst="rect">
            <a:avLst/>
          </a:prstGeom>
          <a:solidFill>
            <a:srgbClr val="FFFFFF"/>
          </a:solidFill>
          <a:ln w="12700">
            <a:solidFill>
              <a:srgbClr val="DCE3EE"/>
            </a:solidFill>
            <a:prstDash val="solid"/>
          </a:ln>
        </p:spPr>
      </p:sp>
      <p:sp>
        <p:nvSpPr>
          <p:cNvPr id="14" name="Shape 11"/>
          <p:cNvSpPr/>
          <p:nvPr/>
        </p:nvSpPr>
        <p:spPr>
          <a:xfrm>
            <a:off x="4206240" y="2999232"/>
            <a:ext cx="82296" cy="1280160"/>
          </a:xfrm>
          <a:prstGeom prst="rect">
            <a:avLst/>
          </a:prstGeom>
          <a:solidFill>
            <a:srgbClr val="9A6600"/>
          </a:solidFill>
          <a:ln/>
        </p:spPr>
      </p:sp>
      <p:sp>
        <p:nvSpPr>
          <p:cNvPr id="15" name="Shape 12"/>
          <p:cNvSpPr/>
          <p:nvPr/>
        </p:nvSpPr>
        <p:spPr>
          <a:xfrm>
            <a:off x="4206240" y="2999232"/>
            <a:ext cx="7552944" cy="365760"/>
          </a:xfrm>
          <a:prstGeom prst="rect">
            <a:avLst/>
          </a:prstGeom>
          <a:solidFill>
            <a:srgbClr val="9A6600"/>
          </a:solidFill>
          <a:ln/>
        </p:spPr>
      </p:sp>
      <p:sp>
        <p:nvSpPr>
          <p:cNvPr id="16" name="Text 13"/>
          <p:cNvSpPr/>
          <p:nvPr/>
        </p:nvSpPr>
        <p:spPr>
          <a:xfrm>
            <a:off x="4407408" y="2999232"/>
            <a:ext cx="724204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Remedies</a:t>
            </a:r>
            <a:endParaRPr lang="en-US" sz="1500" dirty="0"/>
          </a:p>
        </p:txBody>
      </p:sp>
      <p:sp>
        <p:nvSpPr>
          <p:cNvPr id="17" name="Text 14"/>
          <p:cNvSpPr/>
          <p:nvPr/>
        </p:nvSpPr>
        <p:spPr>
          <a:xfrm>
            <a:off x="4425696" y="3547872"/>
            <a:ext cx="7132320" cy="60350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비유동자산을 매각해 current assets를 늘리거나,</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추가 장기 자본을 조달해 양(+)의 WC 회복.</a:t>
            </a:r>
            <a:endParaRPr lang="en-US" sz="1200" dirty="0"/>
          </a:p>
        </p:txBody>
      </p:sp>
      <p:sp>
        <p:nvSpPr>
          <p:cNvPr id="18" name="Shape 15"/>
          <p:cNvSpPr/>
          <p:nvPr/>
        </p:nvSpPr>
        <p:spPr>
          <a:xfrm>
            <a:off x="4206240" y="4389120"/>
            <a:ext cx="7552944" cy="1280160"/>
          </a:xfrm>
          <a:prstGeom prst="rect">
            <a:avLst/>
          </a:prstGeom>
          <a:solidFill>
            <a:srgbClr val="E9F5EE"/>
          </a:solidFill>
          <a:ln w="12700">
            <a:solidFill>
              <a:srgbClr val="1E7A4C"/>
            </a:solidFill>
            <a:prstDash val="solid"/>
          </a:ln>
        </p:spPr>
      </p:sp>
      <p:sp>
        <p:nvSpPr>
          <p:cNvPr id="19" name="Text 16"/>
          <p:cNvSpPr/>
          <p:nvPr/>
        </p:nvSpPr>
        <p:spPr>
          <a:xfrm>
            <a:off x="4389120" y="4389120"/>
            <a:ext cx="7187184" cy="1280160"/>
          </a:xfrm>
          <a:prstGeom prst="rect">
            <a:avLst/>
          </a:prstGeom>
          <a:noFill/>
          <a:ln/>
        </p:spPr>
        <p:txBody>
          <a:bodyPr wrap="square" lIns="0" tIns="0" rIns="0" bIns="0" rtlCol="0" anchor="ctr"/>
          <a:lstStyle/>
          <a:p>
            <a:pPr indent="0" marL="0">
              <a:lnSpc>
                <a:spcPct val="100000"/>
              </a:lnSpc>
              <a:buNone/>
            </a:pPr>
            <a:r>
              <a:rPr lang="en-US" sz="1200" b="1" dirty="0">
                <a:solidFill>
                  <a:srgbClr val="1E7A4C"/>
                </a:solidFill>
                <a:latin typeface="Calibri" pitchFamily="34" charset="0"/>
                <a:ea typeface="Calibri" pitchFamily="34" charset="-122"/>
                <a:cs typeface="Calibri" pitchFamily="34" charset="-120"/>
              </a:rPr>
              <a:t>Walmart Example:  </a:t>
            </a:r>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CA $62 bn vs. CL $77 bn → Net current liabilities $15 bn. Walmart는 공급업체 자본으로 영업을 조달합니다 — 이것은 나쁜 것인가?</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Summary — Key Takeaways on Working Capital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30</a:t>
            </a:r>
            <a:endParaRPr lang="en-US" sz="1050" dirty="0"/>
          </a:p>
        </p:txBody>
      </p:sp>
      <p:sp>
        <p:nvSpPr>
          <p:cNvPr id="6" name="Shape 4"/>
          <p:cNvSpPr/>
          <p:nvPr/>
        </p:nvSpPr>
        <p:spPr>
          <a:xfrm>
            <a:off x="429768" y="1700784"/>
            <a:ext cx="11329416" cy="1280160"/>
          </a:xfrm>
          <a:prstGeom prst="rect">
            <a:avLst/>
          </a:prstGeom>
          <a:solidFill>
            <a:srgbClr val="FFFFFF"/>
          </a:solidFill>
          <a:ln w="12700">
            <a:solidFill>
              <a:srgbClr val="DCE3EE"/>
            </a:solidFill>
            <a:prstDash val="solid"/>
          </a:ln>
        </p:spPr>
      </p:sp>
      <p:sp>
        <p:nvSpPr>
          <p:cNvPr id="7" name="Shape 5"/>
          <p:cNvSpPr/>
          <p:nvPr/>
        </p:nvSpPr>
        <p:spPr>
          <a:xfrm>
            <a:off x="429768" y="1700784"/>
            <a:ext cx="82296" cy="1280160"/>
          </a:xfrm>
          <a:prstGeom prst="rect">
            <a:avLst/>
          </a:prstGeom>
          <a:solidFill>
            <a:srgbClr val="1E7A4C"/>
          </a:solidFill>
          <a:ln/>
        </p:spPr>
      </p:sp>
      <p:sp>
        <p:nvSpPr>
          <p:cNvPr id="8" name="Text 6"/>
          <p:cNvSpPr/>
          <p:nvPr/>
        </p:nvSpPr>
        <p:spPr>
          <a:xfrm>
            <a:off x="704088" y="1828800"/>
            <a:ext cx="10780776" cy="365760"/>
          </a:xfrm>
          <a:prstGeom prst="rect">
            <a:avLst/>
          </a:prstGeom>
          <a:noFill/>
          <a:ln/>
        </p:spPr>
        <p:txBody>
          <a:bodyPr wrap="square" lIns="0" tIns="0" rIns="0" bIns="0" rtlCol="0" anchor="ctr"/>
          <a:lstStyle/>
          <a:p>
            <a:pPr indent="0" marL="0">
              <a:buNone/>
            </a:pPr>
            <a:r>
              <a:rPr lang="en-US" sz="1500" b="1" dirty="0">
                <a:solidFill>
                  <a:srgbClr val="1E7A4C"/>
                </a:solidFill>
                <a:latin typeface="Calibri" pitchFamily="34" charset="0"/>
                <a:ea typeface="Calibri" pitchFamily="34" charset="-122"/>
                <a:cs typeface="Calibri" pitchFamily="34" charset="-120"/>
              </a:rPr>
              <a:t>Positive WC: Healthy (Not Always Good)</a:t>
            </a:r>
            <a:endParaRPr lang="en-US" sz="1500" dirty="0"/>
          </a:p>
        </p:txBody>
      </p:sp>
      <p:sp>
        <p:nvSpPr>
          <p:cNvPr id="9" name="Text 7"/>
          <p:cNvSpPr/>
          <p:nvPr/>
        </p:nvSpPr>
        <p:spPr>
          <a:xfrm>
            <a:off x="704088" y="2212848"/>
            <a:ext cx="10780776" cy="731520"/>
          </a:xfrm>
          <a:prstGeom prst="rect">
            <a:avLst/>
          </a:prstGeom>
          <a:noFill/>
          <a:ln/>
        </p:spPr>
        <p:txBody>
          <a:bodyPr wrap="square" lIns="0" tIns="0" rIns="0" bIns="0" rtlCol="0" anchor="ctr"/>
          <a:lstStyle/>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CA &gt; CL → 유동성·지급능력 우수.</a:t>
            </a:r>
            <a:endParaRPr lang="en-US" sz="1250" dirty="0"/>
          </a:p>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과도하면 = 저수익 자산에 자본이 묶임.</a:t>
            </a:r>
            <a:endParaRPr lang="en-US" sz="1250" dirty="0"/>
          </a:p>
        </p:txBody>
      </p:sp>
      <p:sp>
        <p:nvSpPr>
          <p:cNvPr id="10" name="Shape 8"/>
          <p:cNvSpPr/>
          <p:nvPr/>
        </p:nvSpPr>
        <p:spPr>
          <a:xfrm>
            <a:off x="429768" y="3072384"/>
            <a:ext cx="11329416" cy="1280160"/>
          </a:xfrm>
          <a:prstGeom prst="rect">
            <a:avLst/>
          </a:prstGeom>
          <a:solidFill>
            <a:srgbClr val="FFFFFF"/>
          </a:solidFill>
          <a:ln w="12700">
            <a:solidFill>
              <a:srgbClr val="DCE3EE"/>
            </a:solidFill>
            <a:prstDash val="solid"/>
          </a:ln>
        </p:spPr>
      </p:sp>
      <p:sp>
        <p:nvSpPr>
          <p:cNvPr id="11" name="Shape 9"/>
          <p:cNvSpPr/>
          <p:nvPr/>
        </p:nvSpPr>
        <p:spPr>
          <a:xfrm>
            <a:off x="429768" y="3072384"/>
            <a:ext cx="82296" cy="1280160"/>
          </a:xfrm>
          <a:prstGeom prst="rect">
            <a:avLst/>
          </a:prstGeom>
          <a:solidFill>
            <a:srgbClr val="1F4899"/>
          </a:solidFill>
          <a:ln/>
        </p:spPr>
      </p:sp>
      <p:sp>
        <p:nvSpPr>
          <p:cNvPr id="12" name="Text 10"/>
          <p:cNvSpPr/>
          <p:nvPr/>
        </p:nvSpPr>
        <p:spPr>
          <a:xfrm>
            <a:off x="704088" y="3200400"/>
            <a:ext cx="10780776" cy="365760"/>
          </a:xfrm>
          <a:prstGeom prst="rect">
            <a:avLst/>
          </a:prstGeom>
          <a:noFill/>
          <a:ln/>
        </p:spPr>
        <p:txBody>
          <a:bodyPr wrap="square" lIns="0" tIns="0" rIns="0" bIns="0" rtlCol="0" anchor="ctr"/>
          <a:lstStyle/>
          <a:p>
            <a:pPr indent="0" marL="0">
              <a:buNone/>
            </a:pPr>
            <a:r>
              <a:rPr lang="en-US" sz="1500" b="1" dirty="0">
                <a:solidFill>
                  <a:srgbClr val="1F4899"/>
                </a:solidFill>
                <a:latin typeface="Calibri" pitchFamily="34" charset="0"/>
                <a:ea typeface="Calibri" pitchFamily="34" charset="-122"/>
                <a:cs typeface="Calibri" pitchFamily="34" charset="-120"/>
              </a:rPr>
              <a:t>WC = Funding Requirement</a:t>
            </a:r>
            <a:endParaRPr lang="en-US" sz="1500" dirty="0"/>
          </a:p>
        </p:txBody>
      </p:sp>
      <p:sp>
        <p:nvSpPr>
          <p:cNvPr id="13" name="Text 11"/>
          <p:cNvSpPr/>
          <p:nvPr/>
        </p:nvSpPr>
        <p:spPr>
          <a:xfrm>
            <a:off x="704088" y="3584448"/>
            <a:ext cx="10780776" cy="731520"/>
          </a:xfrm>
          <a:prstGeom prst="rect">
            <a:avLst/>
          </a:prstGeom>
          <a:noFill/>
          <a:ln/>
        </p:spPr>
        <p:txBody>
          <a:bodyPr wrap="square" lIns="0" tIns="0" rIns="0" bIns="0" rtlCol="0" anchor="ctr"/>
          <a:lstStyle/>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영업을 유지하기 위해 필요한 장기 자본.</a:t>
            </a:r>
            <a:endParaRPr lang="en-US" sz="1250" dirty="0"/>
          </a:p>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단순 유동성이 아니라 자본 배분의 선택.</a:t>
            </a:r>
            <a:endParaRPr lang="en-US" sz="1250" dirty="0"/>
          </a:p>
        </p:txBody>
      </p:sp>
      <p:sp>
        <p:nvSpPr>
          <p:cNvPr id="14" name="Shape 12"/>
          <p:cNvSpPr/>
          <p:nvPr/>
        </p:nvSpPr>
        <p:spPr>
          <a:xfrm>
            <a:off x="429768" y="4443984"/>
            <a:ext cx="11329416" cy="1280160"/>
          </a:xfrm>
          <a:prstGeom prst="rect">
            <a:avLst/>
          </a:prstGeom>
          <a:solidFill>
            <a:srgbClr val="FFFFFF"/>
          </a:solidFill>
          <a:ln w="12700">
            <a:solidFill>
              <a:srgbClr val="DCE3EE"/>
            </a:solidFill>
            <a:prstDash val="solid"/>
          </a:ln>
        </p:spPr>
      </p:sp>
      <p:sp>
        <p:nvSpPr>
          <p:cNvPr id="15" name="Shape 13"/>
          <p:cNvSpPr/>
          <p:nvPr/>
        </p:nvSpPr>
        <p:spPr>
          <a:xfrm>
            <a:off x="429768" y="4443984"/>
            <a:ext cx="82296" cy="1280160"/>
          </a:xfrm>
          <a:prstGeom prst="rect">
            <a:avLst/>
          </a:prstGeom>
          <a:solidFill>
            <a:srgbClr val="9A6600"/>
          </a:solidFill>
          <a:ln/>
        </p:spPr>
      </p:sp>
      <p:sp>
        <p:nvSpPr>
          <p:cNvPr id="16" name="Text 14"/>
          <p:cNvSpPr/>
          <p:nvPr/>
        </p:nvSpPr>
        <p:spPr>
          <a:xfrm>
            <a:off x="704088" y="4572000"/>
            <a:ext cx="10780776" cy="365760"/>
          </a:xfrm>
          <a:prstGeom prst="rect">
            <a:avLst/>
          </a:prstGeom>
          <a:noFill/>
          <a:ln/>
        </p:spPr>
        <p:txBody>
          <a:bodyPr wrap="square" lIns="0" tIns="0" rIns="0" bIns="0" rtlCol="0" anchor="ctr"/>
          <a:lstStyle/>
          <a:p>
            <a:pPr indent="0" marL="0">
              <a:buNone/>
            </a:pPr>
            <a:r>
              <a:rPr lang="en-US" sz="1500" b="1" dirty="0">
                <a:solidFill>
                  <a:srgbClr val="9A6600"/>
                </a:solidFill>
                <a:latin typeface="Calibri" pitchFamily="34" charset="0"/>
                <a:ea typeface="Calibri" pitchFamily="34" charset="-122"/>
                <a:cs typeface="Calibri" pitchFamily="34" charset="-120"/>
              </a:rPr>
              <a:t>Negative WC: Risky (Not Always Bad)</a:t>
            </a:r>
            <a:endParaRPr lang="en-US" sz="1500" dirty="0"/>
          </a:p>
        </p:txBody>
      </p:sp>
      <p:sp>
        <p:nvSpPr>
          <p:cNvPr id="17" name="Text 15"/>
          <p:cNvSpPr/>
          <p:nvPr/>
        </p:nvSpPr>
        <p:spPr>
          <a:xfrm>
            <a:off x="704088" y="4956048"/>
            <a:ext cx="10780776" cy="731520"/>
          </a:xfrm>
          <a:prstGeom prst="rect">
            <a:avLst/>
          </a:prstGeom>
          <a:noFill/>
          <a:ln/>
        </p:spPr>
        <p:txBody>
          <a:bodyPr wrap="square" lIns="0" tIns="0" rIns="0" bIns="0" rtlCol="0" anchor="ctr"/>
          <a:lstStyle/>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CL &gt; CA → 유동성 압박 가능.</a:t>
            </a:r>
            <a:endParaRPr lang="en-US" sz="1250" dirty="0"/>
          </a:p>
          <a:p>
            <a:pPr indent="0" marL="0">
              <a:lnSpc>
                <a:spcPct val="100000"/>
              </a:lnSpc>
              <a:buNone/>
            </a:pPr>
            <a:r>
              <a:rPr lang="en-US" sz="1250" dirty="0">
                <a:solidFill>
                  <a:srgbClr val="1A1A1A"/>
                </a:solidFill>
                <a:latin typeface="Calibri" pitchFamily="34" charset="0"/>
                <a:ea typeface="Calibri" pitchFamily="34" charset="-122"/>
                <a:cs typeface="Calibri" pitchFamily="34" charset="-120"/>
              </a:rPr>
              <a:t>일부 모델에선 효율적 (예: Walmart).</a:t>
            </a:r>
            <a:endParaRPr lang="en-US" sz="1250" dirty="0"/>
          </a:p>
        </p:txBody>
      </p:sp>
      <p:sp>
        <p:nvSpPr>
          <p:cNvPr id="18" name="Shape 16"/>
          <p:cNvSpPr/>
          <p:nvPr/>
        </p:nvSpPr>
        <p:spPr>
          <a:xfrm>
            <a:off x="429768" y="5815584"/>
            <a:ext cx="11329416" cy="457200"/>
          </a:xfrm>
          <a:prstGeom prst="rect">
            <a:avLst/>
          </a:prstGeom>
          <a:solidFill>
            <a:srgbClr val="14306B"/>
          </a:solidFill>
          <a:ln/>
        </p:spPr>
      </p:sp>
      <p:sp>
        <p:nvSpPr>
          <p:cNvPr id="19" name="Text 17"/>
          <p:cNvSpPr/>
          <p:nvPr/>
        </p:nvSpPr>
        <p:spPr>
          <a:xfrm>
            <a:off x="685800" y="5815584"/>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Working capital은 유동성 점검이자 자본 배분의 선택 — 부호만으로 좋고 나쁨을 단정할 수 없습니다.</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PART 3  ·  CAVEATS</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Limitations of Ratio Analysis</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비율 분석의 한계 — GAAP·원가·비교가능성</a:t>
            </a:r>
            <a:endParaRPr lang="en-US" sz="14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Blind Spot 1: GAAP — Measurability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32</a:t>
            </a:r>
            <a:endParaRPr lang="en-US" sz="1050" dirty="0"/>
          </a:p>
        </p:txBody>
      </p:sp>
      <p:sp>
        <p:nvSpPr>
          <p:cNvPr id="6" name="Shape 4"/>
          <p:cNvSpPr/>
          <p:nvPr/>
        </p:nvSpPr>
        <p:spPr>
          <a:xfrm>
            <a:off x="356616" y="1444752"/>
            <a:ext cx="4078224" cy="3866894"/>
          </a:xfrm>
          <a:prstGeom prst="rect">
            <a:avLst/>
          </a:prstGeom>
          <a:solidFill>
            <a:srgbClr val="FFFFFF"/>
          </a:solidFill>
          <a:ln w="12700">
            <a:solidFill>
              <a:srgbClr val="DCE3EE"/>
            </a:solidFill>
            <a:prstDash val="solid"/>
          </a:ln>
        </p:spPr>
      </p:sp>
      <p:pic>
        <p:nvPicPr>
          <p:cNvPr id="7" name="Image 0" descr="assets/s34_1.png">    </p:cNvPr>
          <p:cNvPicPr>
            <a:picLocks noChangeAspect="1"/>
          </p:cNvPicPr>
          <p:nvPr/>
        </p:nvPicPr>
        <p:blipFill>
          <a:blip r:embed="rId1"/>
          <a:stretch>
            <a:fillRect/>
          </a:stretch>
        </p:blipFill>
        <p:spPr>
          <a:xfrm>
            <a:off x="429768" y="1517904"/>
            <a:ext cx="3931920" cy="3720590"/>
          </a:xfrm>
          <a:prstGeom prst="rect">
            <a:avLst/>
          </a:prstGeom>
        </p:spPr>
      </p:pic>
      <p:sp>
        <p:nvSpPr>
          <p:cNvPr id="8" name="Shape 5"/>
          <p:cNvSpPr/>
          <p:nvPr/>
        </p:nvSpPr>
        <p:spPr>
          <a:xfrm>
            <a:off x="4572000" y="1517904"/>
            <a:ext cx="7187184" cy="2286000"/>
          </a:xfrm>
          <a:prstGeom prst="rect">
            <a:avLst/>
          </a:prstGeom>
          <a:solidFill>
            <a:srgbClr val="FFFFFF"/>
          </a:solidFill>
          <a:ln w="12700">
            <a:solidFill>
              <a:srgbClr val="DCE3EE"/>
            </a:solidFill>
            <a:prstDash val="solid"/>
          </a:ln>
        </p:spPr>
      </p:sp>
      <p:sp>
        <p:nvSpPr>
          <p:cNvPr id="9" name="Shape 6"/>
          <p:cNvSpPr/>
          <p:nvPr/>
        </p:nvSpPr>
        <p:spPr>
          <a:xfrm>
            <a:off x="4572000" y="1517904"/>
            <a:ext cx="82296" cy="2286000"/>
          </a:xfrm>
          <a:prstGeom prst="rect">
            <a:avLst/>
          </a:prstGeom>
          <a:solidFill>
            <a:srgbClr val="1F4899"/>
          </a:solidFill>
          <a:ln/>
        </p:spPr>
      </p:sp>
      <p:sp>
        <p:nvSpPr>
          <p:cNvPr id="10" name="Shape 7"/>
          <p:cNvSpPr/>
          <p:nvPr/>
        </p:nvSpPr>
        <p:spPr>
          <a:xfrm>
            <a:off x="4572000" y="1517904"/>
            <a:ext cx="7187184" cy="365760"/>
          </a:xfrm>
          <a:prstGeom prst="rect">
            <a:avLst/>
          </a:prstGeom>
          <a:solidFill>
            <a:srgbClr val="1F4899"/>
          </a:solidFill>
          <a:ln/>
        </p:spPr>
      </p:sp>
      <p:sp>
        <p:nvSpPr>
          <p:cNvPr id="11" name="Text 8"/>
          <p:cNvSpPr/>
          <p:nvPr/>
        </p:nvSpPr>
        <p:spPr>
          <a:xfrm>
            <a:off x="4773168" y="1517904"/>
            <a:ext cx="687628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Measurability</a:t>
            </a:r>
            <a:endParaRPr lang="en-US" sz="1500" dirty="0"/>
          </a:p>
        </p:txBody>
      </p:sp>
      <p:sp>
        <p:nvSpPr>
          <p:cNvPr id="12" name="Text 9"/>
          <p:cNvSpPr/>
          <p:nvPr/>
        </p:nvSpPr>
        <p:spPr>
          <a:xfrm>
            <a:off x="4791456" y="2066544"/>
            <a:ext cx="6766560" cy="160934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재무제표에는 신뢰성 있게 측정 가능한 항목만 포함.</a:t>
            </a:r>
            <a:endParaRPr lang="en-US" sz="1200" dirty="0"/>
          </a:p>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브랜드 평판·임직원 전문성 같은 무형 자산은 종종 제외 → 자산 과소계상.</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따라서 ROA가 실제보다 높게 나타날 수 있음.</a:t>
            </a:r>
            <a:endParaRPr lang="en-US" sz="1200" dirty="0"/>
          </a:p>
        </p:txBody>
      </p:sp>
      <p:sp>
        <p:nvSpPr>
          <p:cNvPr id="13" name="Shape 10"/>
          <p:cNvSpPr/>
          <p:nvPr/>
        </p:nvSpPr>
        <p:spPr>
          <a:xfrm>
            <a:off x="4572000" y="3931920"/>
            <a:ext cx="7187184" cy="1737360"/>
          </a:xfrm>
          <a:prstGeom prst="rect">
            <a:avLst/>
          </a:prstGeom>
          <a:solidFill>
            <a:srgbClr val="FFFFFF"/>
          </a:solidFill>
          <a:ln w="12700">
            <a:solidFill>
              <a:srgbClr val="DCE3EE"/>
            </a:solidFill>
            <a:prstDash val="solid"/>
          </a:ln>
        </p:spPr>
      </p:sp>
      <p:sp>
        <p:nvSpPr>
          <p:cNvPr id="14" name="Shape 11"/>
          <p:cNvSpPr/>
          <p:nvPr/>
        </p:nvSpPr>
        <p:spPr>
          <a:xfrm>
            <a:off x="4572000" y="3931920"/>
            <a:ext cx="82296" cy="1737360"/>
          </a:xfrm>
          <a:prstGeom prst="rect">
            <a:avLst/>
          </a:prstGeom>
          <a:solidFill>
            <a:srgbClr val="0F6E7A"/>
          </a:solidFill>
          <a:ln/>
        </p:spPr>
      </p:sp>
      <p:sp>
        <p:nvSpPr>
          <p:cNvPr id="15" name="Shape 12"/>
          <p:cNvSpPr/>
          <p:nvPr/>
        </p:nvSpPr>
        <p:spPr>
          <a:xfrm>
            <a:off x="4572000" y="3931920"/>
            <a:ext cx="7187184" cy="365760"/>
          </a:xfrm>
          <a:prstGeom prst="rect">
            <a:avLst/>
          </a:prstGeom>
          <a:solidFill>
            <a:srgbClr val="0F6E7A"/>
          </a:solidFill>
          <a:ln/>
        </p:spPr>
      </p:sp>
      <p:sp>
        <p:nvSpPr>
          <p:cNvPr id="16" name="Text 13"/>
          <p:cNvSpPr/>
          <p:nvPr/>
        </p:nvSpPr>
        <p:spPr>
          <a:xfrm>
            <a:off x="4773168" y="3931920"/>
            <a:ext cx="6876288"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Non-Capitalized Costs</a:t>
            </a:r>
            <a:endParaRPr lang="en-US" sz="1500" dirty="0"/>
          </a:p>
        </p:txBody>
      </p:sp>
      <p:sp>
        <p:nvSpPr>
          <p:cNvPr id="17" name="Text 14"/>
          <p:cNvSpPr/>
          <p:nvPr/>
        </p:nvSpPr>
        <p:spPr>
          <a:xfrm>
            <a:off x="4791456" y="4480560"/>
            <a:ext cx="6766560" cy="1060704"/>
          </a:xfrm>
          <a:prstGeom prst="rect">
            <a:avLst/>
          </a:prstGeom>
          <a:noFill/>
          <a:ln/>
        </p:spPr>
        <p:txBody>
          <a:bodyPr wrap="square" lIns="0" tIns="0" rIns="0" bIns="0" rtlCol="0" anchor="t"/>
          <a:lstStyle/>
          <a:p>
            <a:pPr marL="342900" indent="-342900">
              <a:lnSpc>
                <a:spcPct val="105000"/>
              </a:lnSpc>
              <a:buSzPct val="100000"/>
              <a:buChar char="▪"/>
            </a:pPr>
            <a:r>
              <a:rPr lang="en-US" sz="1200" dirty="0">
                <a:solidFill>
                  <a:srgbClr val="1A1A1A"/>
                </a:solidFill>
                <a:latin typeface="Calibri" pitchFamily="34" charset="0"/>
                <a:ea typeface="Calibri" pitchFamily="34" charset="-122"/>
                <a:cs typeface="Calibri" pitchFamily="34" charset="-120"/>
              </a:rPr>
              <a:t>장기 가치를 더하는 지출(R&amp;D, 광고)이 자본화되지 않고 비용 처리.</a:t>
            </a:r>
            <a:endParaRPr lang="en-US" sz="1200" dirty="0"/>
          </a:p>
          <a:p>
            <a:pPr marL="342900" indent="-342900">
              <a:lnSpc>
                <a:spcPct val="105000"/>
              </a:lnSpc>
              <a:buSzPct val="100000"/>
              <a:buChar char="▪"/>
            </a:pPr>
            <a:r>
              <a:rPr lang="en-US" sz="1200" b="1" dirty="0">
                <a:solidFill>
                  <a:srgbClr val="1A1A1A"/>
                </a:solidFill>
                <a:latin typeface="Calibri" pitchFamily="34" charset="0"/>
                <a:ea typeface="Calibri" pitchFamily="34" charset="-122"/>
                <a:cs typeface="Calibri" pitchFamily="34" charset="-120"/>
              </a:rPr>
              <a:t>Balance sheet상 자산이 과소계상되는 결과.</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Blind Spot 2: Historical Cost vs. Market Reality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33</a:t>
            </a:r>
            <a:endParaRPr lang="en-US" sz="1050" dirty="0"/>
          </a:p>
        </p:txBody>
      </p:sp>
      <p:sp>
        <p:nvSpPr>
          <p:cNvPr id="6" name="Shape 4"/>
          <p:cNvSpPr/>
          <p:nvPr/>
        </p:nvSpPr>
        <p:spPr>
          <a:xfrm>
            <a:off x="356616" y="1444752"/>
            <a:ext cx="4078224" cy="3594449"/>
          </a:xfrm>
          <a:prstGeom prst="rect">
            <a:avLst/>
          </a:prstGeom>
          <a:solidFill>
            <a:srgbClr val="FFFFFF"/>
          </a:solidFill>
          <a:ln w="12700">
            <a:solidFill>
              <a:srgbClr val="DCE3EE"/>
            </a:solidFill>
            <a:prstDash val="solid"/>
          </a:ln>
        </p:spPr>
      </p:sp>
      <p:pic>
        <p:nvPicPr>
          <p:cNvPr id="7" name="Image 0" descr="assets/s35_1.png">    </p:cNvPr>
          <p:cNvPicPr>
            <a:picLocks noChangeAspect="1"/>
          </p:cNvPicPr>
          <p:nvPr/>
        </p:nvPicPr>
        <p:blipFill>
          <a:blip r:embed="rId1"/>
          <a:stretch>
            <a:fillRect/>
          </a:stretch>
        </p:blipFill>
        <p:spPr>
          <a:xfrm>
            <a:off x="429768" y="1517904"/>
            <a:ext cx="3931920" cy="3448145"/>
          </a:xfrm>
          <a:prstGeom prst="rect">
            <a:avLst/>
          </a:prstGeom>
        </p:spPr>
      </p:pic>
      <p:sp>
        <p:nvSpPr>
          <p:cNvPr id="8" name="Shape 5"/>
          <p:cNvSpPr/>
          <p:nvPr/>
        </p:nvSpPr>
        <p:spPr>
          <a:xfrm>
            <a:off x="4572000" y="1517904"/>
            <a:ext cx="7187184" cy="1133856"/>
          </a:xfrm>
          <a:prstGeom prst="rect">
            <a:avLst/>
          </a:prstGeom>
          <a:solidFill>
            <a:srgbClr val="FFFFFF"/>
          </a:solidFill>
          <a:ln w="12700">
            <a:solidFill>
              <a:srgbClr val="DCE3EE"/>
            </a:solidFill>
            <a:prstDash val="solid"/>
          </a:ln>
        </p:spPr>
      </p:sp>
      <p:sp>
        <p:nvSpPr>
          <p:cNvPr id="9" name="Shape 6"/>
          <p:cNvSpPr/>
          <p:nvPr/>
        </p:nvSpPr>
        <p:spPr>
          <a:xfrm>
            <a:off x="4572000" y="1517904"/>
            <a:ext cx="82296" cy="1133856"/>
          </a:xfrm>
          <a:prstGeom prst="rect">
            <a:avLst/>
          </a:prstGeom>
          <a:solidFill>
            <a:srgbClr val="1F4899"/>
          </a:solidFill>
          <a:ln/>
        </p:spPr>
      </p:sp>
      <p:sp>
        <p:nvSpPr>
          <p:cNvPr id="10" name="Text 7"/>
          <p:cNvSpPr/>
          <p:nvPr/>
        </p:nvSpPr>
        <p:spPr>
          <a:xfrm>
            <a:off x="4828032" y="1627632"/>
            <a:ext cx="6729984" cy="329184"/>
          </a:xfrm>
          <a:prstGeom prst="rect">
            <a:avLst/>
          </a:prstGeom>
          <a:noFill/>
          <a:ln/>
        </p:spPr>
        <p:txBody>
          <a:bodyPr wrap="square" lIns="0" tIns="0" rIns="0" bIns="0" rtlCol="0" anchor="ctr"/>
          <a:lstStyle/>
          <a:p>
            <a:pPr indent="0" marL="0">
              <a:buNone/>
            </a:pPr>
            <a:r>
              <a:rPr lang="en-US" sz="1400" b="1" dirty="0">
                <a:solidFill>
                  <a:srgbClr val="1F4899"/>
                </a:solidFill>
                <a:latin typeface="Calibri" pitchFamily="34" charset="0"/>
                <a:ea typeface="Calibri" pitchFamily="34" charset="-122"/>
                <a:cs typeface="Calibri" pitchFamily="34" charset="-120"/>
              </a:rPr>
              <a:t>The Rule</a:t>
            </a:r>
            <a:endParaRPr lang="en-US" sz="1400" dirty="0"/>
          </a:p>
        </p:txBody>
      </p:sp>
      <p:sp>
        <p:nvSpPr>
          <p:cNvPr id="11" name="Text 8"/>
          <p:cNvSpPr/>
          <p:nvPr/>
        </p:nvSpPr>
        <p:spPr>
          <a:xfrm>
            <a:off x="4828032" y="1975104"/>
            <a:ext cx="672998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자산은 최초 취득원가로 기록됨.</a:t>
            </a:r>
            <a:endParaRPr lang="en-US" sz="1200" dirty="0"/>
          </a:p>
        </p:txBody>
      </p:sp>
      <p:sp>
        <p:nvSpPr>
          <p:cNvPr id="12" name="Shape 9"/>
          <p:cNvSpPr/>
          <p:nvPr/>
        </p:nvSpPr>
        <p:spPr>
          <a:xfrm>
            <a:off x="4572000" y="2761488"/>
            <a:ext cx="7187184" cy="1133856"/>
          </a:xfrm>
          <a:prstGeom prst="rect">
            <a:avLst/>
          </a:prstGeom>
          <a:solidFill>
            <a:srgbClr val="FFFFFF"/>
          </a:solidFill>
          <a:ln w="12700">
            <a:solidFill>
              <a:srgbClr val="DCE3EE"/>
            </a:solidFill>
            <a:prstDash val="solid"/>
          </a:ln>
        </p:spPr>
      </p:sp>
      <p:sp>
        <p:nvSpPr>
          <p:cNvPr id="13" name="Shape 10"/>
          <p:cNvSpPr/>
          <p:nvPr/>
        </p:nvSpPr>
        <p:spPr>
          <a:xfrm>
            <a:off x="4572000" y="2761488"/>
            <a:ext cx="82296" cy="1133856"/>
          </a:xfrm>
          <a:prstGeom prst="rect">
            <a:avLst/>
          </a:prstGeom>
          <a:solidFill>
            <a:srgbClr val="9A6600"/>
          </a:solidFill>
          <a:ln/>
        </p:spPr>
      </p:sp>
      <p:sp>
        <p:nvSpPr>
          <p:cNvPr id="14" name="Text 11"/>
          <p:cNvSpPr/>
          <p:nvPr/>
        </p:nvSpPr>
        <p:spPr>
          <a:xfrm>
            <a:off x="4828032" y="2871216"/>
            <a:ext cx="6729984" cy="329184"/>
          </a:xfrm>
          <a:prstGeom prst="rect">
            <a:avLst/>
          </a:prstGeom>
          <a:noFill/>
          <a:ln/>
        </p:spPr>
        <p:txBody>
          <a:bodyPr wrap="square" lIns="0" tIns="0" rIns="0" bIns="0" rtlCol="0" anchor="ctr"/>
          <a:lstStyle/>
          <a:p>
            <a:pPr indent="0" marL="0">
              <a:buNone/>
            </a:pPr>
            <a:r>
              <a:rPr lang="en-US" sz="1400" b="1" dirty="0">
                <a:solidFill>
                  <a:srgbClr val="9A6600"/>
                </a:solidFill>
                <a:latin typeface="Calibri" pitchFamily="34" charset="0"/>
                <a:ea typeface="Calibri" pitchFamily="34" charset="-122"/>
                <a:cs typeface="Calibri" pitchFamily="34" charset="-120"/>
              </a:rPr>
              <a:t>The Distortion</a:t>
            </a:r>
            <a:endParaRPr lang="en-US" sz="1400" dirty="0"/>
          </a:p>
        </p:txBody>
      </p:sp>
      <p:sp>
        <p:nvSpPr>
          <p:cNvPr id="15" name="Text 12"/>
          <p:cNvSpPr/>
          <p:nvPr/>
        </p:nvSpPr>
        <p:spPr>
          <a:xfrm>
            <a:off x="4828032" y="3218688"/>
            <a:ext cx="672998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원가 기반 비율은 현재 시장가치를 반영하지 못함 (특히 부동산).</a:t>
            </a:r>
            <a:endParaRPr lang="en-US" sz="1200" dirty="0"/>
          </a:p>
        </p:txBody>
      </p:sp>
      <p:sp>
        <p:nvSpPr>
          <p:cNvPr id="16" name="Shape 13"/>
          <p:cNvSpPr/>
          <p:nvPr/>
        </p:nvSpPr>
        <p:spPr>
          <a:xfrm>
            <a:off x="4572000" y="4005072"/>
            <a:ext cx="7187184" cy="1133856"/>
          </a:xfrm>
          <a:prstGeom prst="rect">
            <a:avLst/>
          </a:prstGeom>
          <a:solidFill>
            <a:srgbClr val="FFFFFF"/>
          </a:solidFill>
          <a:ln w="12700">
            <a:solidFill>
              <a:srgbClr val="DCE3EE"/>
            </a:solidFill>
            <a:prstDash val="solid"/>
          </a:ln>
        </p:spPr>
      </p:sp>
      <p:sp>
        <p:nvSpPr>
          <p:cNvPr id="17" name="Shape 14"/>
          <p:cNvSpPr/>
          <p:nvPr/>
        </p:nvSpPr>
        <p:spPr>
          <a:xfrm>
            <a:off x="4572000" y="4005072"/>
            <a:ext cx="82296" cy="1133856"/>
          </a:xfrm>
          <a:prstGeom prst="rect">
            <a:avLst/>
          </a:prstGeom>
          <a:solidFill>
            <a:srgbClr val="B3261E"/>
          </a:solidFill>
          <a:ln/>
        </p:spPr>
      </p:sp>
      <p:sp>
        <p:nvSpPr>
          <p:cNvPr id="18" name="Text 15"/>
          <p:cNvSpPr/>
          <p:nvPr/>
        </p:nvSpPr>
        <p:spPr>
          <a:xfrm>
            <a:off x="4828032" y="4114800"/>
            <a:ext cx="6729984" cy="329184"/>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The Result</a:t>
            </a:r>
            <a:endParaRPr lang="en-US" sz="1400" dirty="0"/>
          </a:p>
        </p:txBody>
      </p:sp>
      <p:sp>
        <p:nvSpPr>
          <p:cNvPr id="19" name="Text 16"/>
          <p:cNvSpPr/>
          <p:nvPr/>
        </p:nvSpPr>
        <p:spPr>
          <a:xfrm>
            <a:off x="4828032" y="4462272"/>
            <a:ext cx="6729984" cy="603504"/>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재무비율이 성과가 아니라 회계 규칙 때문에 달라질 수 있음.</a:t>
            </a:r>
            <a:endParaRPr lang="en-US" sz="1200" dirty="0"/>
          </a:p>
        </p:txBody>
      </p:sp>
      <p:sp>
        <p:nvSpPr>
          <p:cNvPr id="20" name="Shape 17"/>
          <p:cNvSpPr/>
          <p:nvPr/>
        </p:nvSpPr>
        <p:spPr>
          <a:xfrm>
            <a:off x="4572000" y="5248656"/>
            <a:ext cx="7187184" cy="932688"/>
          </a:xfrm>
          <a:prstGeom prst="rect">
            <a:avLst/>
          </a:prstGeom>
          <a:solidFill>
            <a:srgbClr val="E9F5EE"/>
          </a:solidFill>
          <a:ln w="12700">
            <a:solidFill>
              <a:srgbClr val="1E7A4C"/>
            </a:solidFill>
            <a:prstDash val="solid"/>
          </a:ln>
        </p:spPr>
      </p:sp>
      <p:sp>
        <p:nvSpPr>
          <p:cNvPr id="21" name="Text 18"/>
          <p:cNvSpPr/>
          <p:nvPr/>
        </p:nvSpPr>
        <p:spPr>
          <a:xfrm>
            <a:off x="4754880" y="5248656"/>
            <a:ext cx="6821424" cy="932688"/>
          </a:xfrm>
          <a:prstGeom prst="rect">
            <a:avLst/>
          </a:prstGeom>
          <a:noFill/>
          <a:ln/>
        </p:spPr>
        <p:txBody>
          <a:bodyPr wrap="square" lIns="0" tIns="0" rIns="0" bIns="0" rtlCol="0" anchor="ctr"/>
          <a:lstStyle/>
          <a:p>
            <a:pPr indent="0" marL="0">
              <a:lnSpc>
                <a:spcPct val="100000"/>
              </a:lnSpc>
              <a:buNone/>
            </a:pPr>
            <a:r>
              <a:rPr lang="en-US" sz="1200" b="1" dirty="0">
                <a:solidFill>
                  <a:srgbClr val="1E7A4C"/>
                </a:solidFill>
                <a:latin typeface="Calibri" pitchFamily="34" charset="0"/>
                <a:ea typeface="Calibri" pitchFamily="34" charset="-122"/>
                <a:cs typeface="Calibri" pitchFamily="34" charset="-120"/>
              </a:rPr>
              <a:t>Example:  </a:t>
            </a:r>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20년 전 $1 million에 취득한 토지가 오늘날 시장가치로는 $10 million.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Structural Distortions — The Comparability Problem</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34</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구조적 요인은 기업 간·기간 간 비교를 왜곡합니다.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487168"/>
            <a:ext cx="3538728" cy="2194560"/>
          </a:xfrm>
          <a:prstGeom prst="rect">
            <a:avLst/>
          </a:prstGeom>
          <a:solidFill>
            <a:srgbClr val="FFFFFF"/>
          </a:solidFill>
          <a:ln w="12700">
            <a:solidFill>
              <a:srgbClr val="DCE3EE"/>
            </a:solidFill>
            <a:prstDash val="solid"/>
          </a:ln>
        </p:spPr>
      </p:sp>
      <p:sp>
        <p:nvSpPr>
          <p:cNvPr id="11" name="Shape 9"/>
          <p:cNvSpPr/>
          <p:nvPr/>
        </p:nvSpPr>
        <p:spPr>
          <a:xfrm>
            <a:off x="429768" y="2487168"/>
            <a:ext cx="82296" cy="2194560"/>
          </a:xfrm>
          <a:prstGeom prst="rect">
            <a:avLst/>
          </a:prstGeom>
          <a:solidFill>
            <a:srgbClr val="1F4899"/>
          </a:solidFill>
          <a:ln/>
        </p:spPr>
      </p:sp>
      <p:sp>
        <p:nvSpPr>
          <p:cNvPr id="12" name="Shape 10"/>
          <p:cNvSpPr/>
          <p:nvPr/>
        </p:nvSpPr>
        <p:spPr>
          <a:xfrm>
            <a:off x="1933956" y="2212848"/>
            <a:ext cx="530352" cy="530352"/>
          </a:xfrm>
          <a:prstGeom prst="ellipse">
            <a:avLst/>
          </a:prstGeom>
          <a:solidFill>
            <a:srgbClr val="1F4899"/>
          </a:solidFill>
          <a:ln/>
        </p:spPr>
      </p:sp>
      <p:sp>
        <p:nvSpPr>
          <p:cNvPr id="13" name="Text 11"/>
          <p:cNvSpPr/>
          <p:nvPr/>
        </p:nvSpPr>
        <p:spPr>
          <a:xfrm>
            <a:off x="1933956"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4" name="Text 12"/>
          <p:cNvSpPr/>
          <p:nvPr/>
        </p:nvSpPr>
        <p:spPr>
          <a:xfrm>
            <a:off x="557784" y="2889504"/>
            <a:ext cx="3282696" cy="457200"/>
          </a:xfrm>
          <a:prstGeom prst="rect">
            <a:avLst/>
          </a:prstGeom>
          <a:noFill/>
          <a:ln/>
        </p:spPr>
        <p:txBody>
          <a:bodyPr wrap="square" lIns="0" tIns="0" rIns="0" bIns="0" rtlCol="0" anchor="ctr"/>
          <a:lstStyle/>
          <a:p>
            <a:pPr algn="ctr" indent="0" marL="0">
              <a:buNone/>
            </a:pPr>
            <a:r>
              <a:rPr lang="en-US" sz="1400" b="1" dirty="0">
                <a:solidFill>
                  <a:srgbClr val="1F4899"/>
                </a:solidFill>
                <a:latin typeface="Calibri" pitchFamily="34" charset="0"/>
                <a:ea typeface="Calibri" pitchFamily="34" charset="-122"/>
                <a:cs typeface="Calibri" pitchFamily="34" charset="-120"/>
              </a:rPr>
              <a:t>Company Changes</a:t>
            </a:r>
            <a:endParaRPr lang="en-US" sz="1400" dirty="0"/>
          </a:p>
        </p:txBody>
      </p:sp>
      <p:sp>
        <p:nvSpPr>
          <p:cNvPr id="15" name="Text 13"/>
          <p:cNvSpPr/>
          <p:nvPr/>
        </p:nvSpPr>
        <p:spPr>
          <a:xfrm>
            <a:off x="667512" y="3419856"/>
            <a:ext cx="3063240" cy="109728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M&amp;A와 사업 매각은</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전년 대비 비교를 어렵게 함.</a:t>
            </a:r>
            <a:endParaRPr lang="en-US" sz="1200" dirty="0"/>
          </a:p>
        </p:txBody>
      </p:sp>
      <p:sp>
        <p:nvSpPr>
          <p:cNvPr id="16" name="Shape 14"/>
          <p:cNvSpPr/>
          <p:nvPr/>
        </p:nvSpPr>
        <p:spPr>
          <a:xfrm>
            <a:off x="4325112" y="2487168"/>
            <a:ext cx="3538728" cy="2194560"/>
          </a:xfrm>
          <a:prstGeom prst="rect">
            <a:avLst/>
          </a:prstGeom>
          <a:solidFill>
            <a:srgbClr val="FFFFFF"/>
          </a:solidFill>
          <a:ln w="12700">
            <a:solidFill>
              <a:srgbClr val="DCE3EE"/>
            </a:solidFill>
            <a:prstDash val="solid"/>
          </a:ln>
        </p:spPr>
      </p:sp>
      <p:sp>
        <p:nvSpPr>
          <p:cNvPr id="17" name="Shape 15"/>
          <p:cNvSpPr/>
          <p:nvPr/>
        </p:nvSpPr>
        <p:spPr>
          <a:xfrm>
            <a:off x="4325112" y="2487168"/>
            <a:ext cx="82296" cy="2194560"/>
          </a:xfrm>
          <a:prstGeom prst="rect">
            <a:avLst/>
          </a:prstGeom>
          <a:solidFill>
            <a:srgbClr val="0F6E7A"/>
          </a:solidFill>
          <a:ln/>
        </p:spPr>
      </p:sp>
      <p:sp>
        <p:nvSpPr>
          <p:cNvPr id="18" name="Shape 16"/>
          <p:cNvSpPr/>
          <p:nvPr/>
        </p:nvSpPr>
        <p:spPr>
          <a:xfrm>
            <a:off x="5829300" y="2212848"/>
            <a:ext cx="530352" cy="530352"/>
          </a:xfrm>
          <a:prstGeom prst="ellipse">
            <a:avLst/>
          </a:prstGeom>
          <a:solidFill>
            <a:srgbClr val="0F6E7A"/>
          </a:solidFill>
          <a:ln/>
        </p:spPr>
      </p:sp>
      <p:sp>
        <p:nvSpPr>
          <p:cNvPr id="19" name="Text 17"/>
          <p:cNvSpPr/>
          <p:nvPr/>
        </p:nvSpPr>
        <p:spPr>
          <a:xfrm>
            <a:off x="5829300"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0" name="Text 18"/>
          <p:cNvSpPr/>
          <p:nvPr/>
        </p:nvSpPr>
        <p:spPr>
          <a:xfrm>
            <a:off x="4453128" y="2889504"/>
            <a:ext cx="3282696" cy="457200"/>
          </a:xfrm>
          <a:prstGeom prst="rect">
            <a:avLst/>
          </a:prstGeom>
          <a:noFill/>
          <a:ln/>
        </p:spPr>
        <p:txBody>
          <a:bodyPr wrap="square" lIns="0" tIns="0" rIns="0" bIns="0" rtlCol="0" anchor="ctr"/>
          <a:lstStyle/>
          <a:p>
            <a:pPr algn="ctr" indent="0" marL="0">
              <a:buNone/>
            </a:pPr>
            <a:r>
              <a:rPr lang="en-US" sz="1400" b="1" dirty="0">
                <a:solidFill>
                  <a:srgbClr val="0F6E7A"/>
                </a:solidFill>
                <a:latin typeface="Calibri" pitchFamily="34" charset="0"/>
                <a:ea typeface="Calibri" pitchFamily="34" charset="-122"/>
                <a:cs typeface="Calibri" pitchFamily="34" charset="-120"/>
              </a:rPr>
              <a:t>Conglomerate Effects</a:t>
            </a:r>
            <a:endParaRPr lang="en-US" sz="1400" dirty="0"/>
          </a:p>
        </p:txBody>
      </p:sp>
      <p:sp>
        <p:nvSpPr>
          <p:cNvPr id="21" name="Text 19"/>
          <p:cNvSpPr/>
          <p:nvPr/>
        </p:nvSpPr>
        <p:spPr>
          <a:xfrm>
            <a:off x="4562856" y="3419856"/>
            <a:ext cx="3063240" cy="109728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대기업은 여러 산업에 걸침.</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연결재무제표는 부문별 위험을 가림.</a:t>
            </a:r>
            <a:endParaRPr lang="en-US" sz="1200" dirty="0"/>
          </a:p>
        </p:txBody>
      </p:sp>
      <p:sp>
        <p:nvSpPr>
          <p:cNvPr id="22" name="Shape 20"/>
          <p:cNvSpPr/>
          <p:nvPr/>
        </p:nvSpPr>
        <p:spPr>
          <a:xfrm>
            <a:off x="8220456" y="2487168"/>
            <a:ext cx="3538728" cy="2194560"/>
          </a:xfrm>
          <a:prstGeom prst="rect">
            <a:avLst/>
          </a:prstGeom>
          <a:solidFill>
            <a:srgbClr val="FFFFFF"/>
          </a:solidFill>
          <a:ln w="12700">
            <a:solidFill>
              <a:srgbClr val="DCE3EE"/>
            </a:solidFill>
            <a:prstDash val="solid"/>
          </a:ln>
        </p:spPr>
      </p:sp>
      <p:sp>
        <p:nvSpPr>
          <p:cNvPr id="23" name="Shape 21"/>
          <p:cNvSpPr/>
          <p:nvPr/>
        </p:nvSpPr>
        <p:spPr>
          <a:xfrm>
            <a:off x="8220456" y="2487168"/>
            <a:ext cx="82296" cy="2194560"/>
          </a:xfrm>
          <a:prstGeom prst="rect">
            <a:avLst/>
          </a:prstGeom>
          <a:solidFill>
            <a:srgbClr val="9A6600"/>
          </a:solidFill>
          <a:ln/>
        </p:spPr>
      </p:sp>
      <p:sp>
        <p:nvSpPr>
          <p:cNvPr id="24" name="Shape 22"/>
          <p:cNvSpPr/>
          <p:nvPr/>
        </p:nvSpPr>
        <p:spPr>
          <a:xfrm>
            <a:off x="9724644" y="2212848"/>
            <a:ext cx="530352" cy="530352"/>
          </a:xfrm>
          <a:prstGeom prst="ellipse">
            <a:avLst/>
          </a:prstGeom>
          <a:solidFill>
            <a:srgbClr val="9A6600"/>
          </a:solidFill>
          <a:ln/>
        </p:spPr>
      </p:sp>
      <p:sp>
        <p:nvSpPr>
          <p:cNvPr id="25" name="Text 23"/>
          <p:cNvSpPr/>
          <p:nvPr/>
        </p:nvSpPr>
        <p:spPr>
          <a:xfrm>
            <a:off x="9724644" y="221284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p:nvPr/>
        </p:nvSpPr>
        <p:spPr>
          <a:xfrm>
            <a:off x="8348472" y="2889504"/>
            <a:ext cx="3282696" cy="457200"/>
          </a:xfrm>
          <a:prstGeom prst="rect">
            <a:avLst/>
          </a:prstGeom>
          <a:noFill/>
          <a:ln/>
        </p:spPr>
        <p:txBody>
          <a:bodyPr wrap="square" lIns="0" tIns="0" rIns="0" bIns="0" rtlCol="0" anchor="ctr"/>
          <a:lstStyle/>
          <a:p>
            <a:pPr algn="ctr" indent="0" marL="0">
              <a:buNone/>
            </a:pPr>
            <a:r>
              <a:rPr lang="en-US" sz="1400" b="1" dirty="0">
                <a:solidFill>
                  <a:srgbClr val="9A6600"/>
                </a:solidFill>
                <a:latin typeface="Calibri" pitchFamily="34" charset="0"/>
                <a:ea typeface="Calibri" pitchFamily="34" charset="-122"/>
                <a:cs typeface="Calibri" pitchFamily="34" charset="-120"/>
              </a:rPr>
              <a:t>Timing Factors</a:t>
            </a:r>
            <a:endParaRPr lang="en-US" sz="1400" dirty="0"/>
          </a:p>
        </p:txBody>
      </p:sp>
      <p:sp>
        <p:nvSpPr>
          <p:cNvPr id="27" name="Text 25"/>
          <p:cNvSpPr/>
          <p:nvPr/>
        </p:nvSpPr>
        <p:spPr>
          <a:xfrm>
            <a:off x="8458200" y="3419856"/>
            <a:ext cx="3063240" cy="1097280"/>
          </a:xfrm>
          <a:prstGeom prst="rect">
            <a:avLst/>
          </a:prstGeom>
          <a:noFill/>
          <a:ln/>
        </p:spPr>
        <p:txBody>
          <a:bodyPr wrap="square" lIns="0" tIns="0" rIns="0" bIns="0" rtlCol="0" anchor="ctr"/>
          <a:lstStyle/>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계절성과 사업 수명주기.</a:t>
            </a:r>
            <a:endParaRPr lang="en-US" sz="1200" dirty="0"/>
          </a:p>
          <a:p>
            <a:pPr algn="ctr" indent="0" marL="0">
              <a:lnSpc>
                <a:spcPct val="100000"/>
              </a:lnSpc>
              <a:buNone/>
            </a:pPr>
            <a:r>
              <a:rPr lang="en-US" sz="1200" dirty="0">
                <a:solidFill>
                  <a:srgbClr val="1A1A1A"/>
                </a:solidFill>
                <a:latin typeface="Calibri" pitchFamily="34" charset="0"/>
                <a:ea typeface="Calibri" pitchFamily="34" charset="-122"/>
                <a:cs typeface="Calibri" pitchFamily="34" charset="-120"/>
              </a:rPr>
              <a:t>스타트업 vs. 성숙한 'cash cow'.</a:t>
            </a:r>
            <a:endParaRPr lang="en-US" sz="1200" dirty="0"/>
          </a:p>
        </p:txBody>
      </p:sp>
      <p:sp>
        <p:nvSpPr>
          <p:cNvPr id="28" name="Shape 26"/>
          <p:cNvSpPr/>
          <p:nvPr/>
        </p:nvSpPr>
        <p:spPr>
          <a:xfrm>
            <a:off x="429768" y="4882896"/>
            <a:ext cx="11329416" cy="658368"/>
          </a:xfrm>
          <a:prstGeom prst="rect">
            <a:avLst/>
          </a:prstGeom>
          <a:solidFill>
            <a:srgbClr val="E9F5EE"/>
          </a:solidFill>
          <a:ln w="12700">
            <a:solidFill>
              <a:srgbClr val="1E7A4C"/>
            </a:solidFill>
            <a:prstDash val="solid"/>
          </a:ln>
        </p:spPr>
      </p:sp>
      <p:sp>
        <p:nvSpPr>
          <p:cNvPr id="29" name="Text 27"/>
          <p:cNvSpPr/>
          <p:nvPr/>
        </p:nvSpPr>
        <p:spPr>
          <a:xfrm>
            <a:off x="667512" y="4882896"/>
            <a:ext cx="10853928" cy="65836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Example — Amazon: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e-commerce·AWS·광고·엔터가 섞임. 연결 비율은 마진이 다른 사업을 뒤섞으므로 부문별(segment) 분석이 필수.</a:t>
            </a:r>
            <a:endParaRPr lang="en-US" sz="1300" dirty="0"/>
          </a:p>
        </p:txBody>
      </p:sp>
      <p:sp>
        <p:nvSpPr>
          <p:cNvPr id="30" name="Shape 28"/>
          <p:cNvSpPr/>
          <p:nvPr/>
        </p:nvSpPr>
        <p:spPr>
          <a:xfrm>
            <a:off x="429768" y="5669280"/>
            <a:ext cx="11329416" cy="457200"/>
          </a:xfrm>
          <a:prstGeom prst="rect">
            <a:avLst/>
          </a:prstGeom>
          <a:solidFill>
            <a:srgbClr val="14306B"/>
          </a:solidFill>
          <a:ln/>
        </p:spPr>
      </p:sp>
      <p:sp>
        <p:nvSpPr>
          <p:cNvPr id="31" name="Text 29"/>
          <p:cNvSpPr/>
          <p:nvPr/>
        </p:nvSpPr>
        <p:spPr>
          <a:xfrm>
            <a:off x="685800" y="5669280"/>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M&amp;A, 복합기업 구조, 타이밍은 비율의 직접 비교를 어렵게 만듭니다.</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Ratios Are a Means to an End</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35</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비율은 복잡한 영업활동을 하나의 숫자로 압축하지만, 정성적 요인은 놓칩니다.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286000"/>
            <a:ext cx="5486400" cy="2651760"/>
          </a:xfrm>
          <a:prstGeom prst="rect">
            <a:avLst/>
          </a:prstGeom>
          <a:solidFill>
            <a:srgbClr val="FFFFFF"/>
          </a:solidFill>
          <a:ln w="12700">
            <a:solidFill>
              <a:srgbClr val="DCE3EE"/>
            </a:solidFill>
            <a:prstDash val="solid"/>
          </a:ln>
        </p:spPr>
      </p:sp>
      <p:sp>
        <p:nvSpPr>
          <p:cNvPr id="11" name="Shape 9"/>
          <p:cNvSpPr/>
          <p:nvPr/>
        </p:nvSpPr>
        <p:spPr>
          <a:xfrm>
            <a:off x="429768" y="2286000"/>
            <a:ext cx="82296" cy="2651760"/>
          </a:xfrm>
          <a:prstGeom prst="rect">
            <a:avLst/>
          </a:prstGeom>
          <a:solidFill>
            <a:srgbClr val="1E7A4C"/>
          </a:solidFill>
          <a:ln/>
        </p:spPr>
      </p:sp>
      <p:sp>
        <p:nvSpPr>
          <p:cNvPr id="12" name="Shape 10"/>
          <p:cNvSpPr/>
          <p:nvPr/>
        </p:nvSpPr>
        <p:spPr>
          <a:xfrm>
            <a:off x="429768" y="2286000"/>
            <a:ext cx="5486400" cy="420624"/>
          </a:xfrm>
          <a:prstGeom prst="rect">
            <a:avLst/>
          </a:prstGeom>
          <a:solidFill>
            <a:srgbClr val="1E7A4C"/>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Ratios CAN Tell You</a:t>
            </a:r>
            <a:endParaRPr lang="en-US" sz="1500" dirty="0"/>
          </a:p>
        </p:txBody>
      </p:sp>
      <p:sp>
        <p:nvSpPr>
          <p:cNvPr id="14" name="Text 12"/>
          <p:cNvSpPr/>
          <p:nvPr/>
        </p:nvSpPr>
        <p:spPr>
          <a:xfrm>
            <a:off x="649224" y="2889504"/>
            <a:ext cx="5065776" cy="192024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기간에 걸친 재무 성과의 추세.</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동종업계 대비 상대적 위치.</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잠재적 우려 영역 (유동성·레버리지·수익성).</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투자 분석을 위한 빠른 스크리닝.</a:t>
            </a:r>
            <a:endParaRPr lang="en-US" sz="1250" dirty="0"/>
          </a:p>
        </p:txBody>
      </p:sp>
      <p:sp>
        <p:nvSpPr>
          <p:cNvPr id="15" name="Shape 13"/>
          <p:cNvSpPr/>
          <p:nvPr/>
        </p:nvSpPr>
        <p:spPr>
          <a:xfrm>
            <a:off x="6272784" y="2286000"/>
            <a:ext cx="5486400" cy="265176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651760"/>
          </a:xfrm>
          <a:prstGeom prst="rect">
            <a:avLst/>
          </a:prstGeom>
          <a:solidFill>
            <a:srgbClr val="B3261E"/>
          </a:solidFill>
          <a:ln/>
        </p:spPr>
      </p:sp>
      <p:sp>
        <p:nvSpPr>
          <p:cNvPr id="17" name="Shape 15"/>
          <p:cNvSpPr/>
          <p:nvPr/>
        </p:nvSpPr>
        <p:spPr>
          <a:xfrm>
            <a:off x="6272784" y="2286000"/>
            <a:ext cx="5486400" cy="420624"/>
          </a:xfrm>
          <a:prstGeom prst="rect">
            <a:avLst/>
          </a:prstGeom>
          <a:solidFill>
            <a:srgbClr val="B3261E"/>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Ratios CANNOT Tell You</a:t>
            </a:r>
            <a:endParaRPr lang="en-US" sz="1500" dirty="0"/>
          </a:p>
        </p:txBody>
      </p:sp>
      <p:sp>
        <p:nvSpPr>
          <p:cNvPr id="19" name="Text 17"/>
          <p:cNvSpPr/>
          <p:nvPr/>
        </p:nvSpPr>
        <p:spPr>
          <a:xfrm>
            <a:off x="6492240" y="2889504"/>
            <a:ext cx="5065776" cy="192024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경영진의 역량과 기업 지배구조.</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전략적 방향과 경쟁우위.</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혁신 파이프라인과 브랜드 가치.</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고객 만족과 임직원 사기.</a:t>
            </a:r>
            <a:endParaRPr lang="en-US" sz="1250" dirty="0"/>
          </a:p>
        </p:txBody>
      </p:sp>
      <p:sp>
        <p:nvSpPr>
          <p:cNvPr id="20" name="Shape 18"/>
          <p:cNvSpPr/>
          <p:nvPr/>
        </p:nvSpPr>
        <p:spPr>
          <a:xfrm>
            <a:off x="429768" y="5138928"/>
            <a:ext cx="11329416" cy="512064"/>
          </a:xfrm>
          <a:prstGeom prst="rect">
            <a:avLst/>
          </a:prstGeom>
          <a:solidFill>
            <a:srgbClr val="E9F5EE"/>
          </a:solidFill>
          <a:ln w="12700">
            <a:solidFill>
              <a:srgbClr val="1E7A4C"/>
            </a:solidFill>
            <a:prstDash val="solid"/>
          </a:ln>
        </p:spPr>
      </p:sp>
      <p:sp>
        <p:nvSpPr>
          <p:cNvPr id="21" name="Text 19"/>
          <p:cNvSpPr/>
          <p:nvPr/>
        </p:nvSpPr>
        <p:spPr>
          <a:xfrm>
            <a:off x="667512" y="5138928"/>
            <a:ext cx="10853928" cy="51206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Best Practice: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비율은 심층 분석의 출발점으로 사용할 것 — 최종 답이 아닙니다.</a:t>
            </a:r>
            <a:endParaRPr lang="en-US" sz="1300" dirty="0"/>
          </a:p>
        </p:txBody>
      </p:sp>
      <p:sp>
        <p:nvSpPr>
          <p:cNvPr id="22" name="Shape 20"/>
          <p:cNvSpPr/>
          <p:nvPr/>
        </p:nvSpPr>
        <p:spPr>
          <a:xfrm>
            <a:off x="429768" y="5742432"/>
            <a:ext cx="11329416" cy="457200"/>
          </a:xfrm>
          <a:prstGeom prst="rect">
            <a:avLst/>
          </a:prstGeom>
          <a:solidFill>
            <a:srgbClr val="14306B"/>
          </a:solidFill>
          <a:ln/>
        </p:spPr>
      </p:sp>
      <p:sp>
        <p:nvSpPr>
          <p:cNvPr id="23" name="Text 21"/>
          <p:cNvSpPr/>
          <p:nvPr/>
        </p:nvSpPr>
        <p:spPr>
          <a:xfrm>
            <a:off x="685800" y="5742432"/>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효과적인 분석은 비율을 넘어 전반적 성과와 방향을 봅니다.</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Enlightened Analyst — Synthesis</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36</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성공적인 분석은 비율 너머를 보고 기업의 진정한 자금조달 구조와 전략적 방향을 이해할 것을 요구합니다.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SECTION 3</a:t>
            </a:r>
            <a:endParaRPr lang="en-US" sz="1050" dirty="0"/>
          </a:p>
        </p:txBody>
      </p:sp>
      <p:sp>
        <p:nvSpPr>
          <p:cNvPr id="10" name="Shape 8"/>
          <p:cNvSpPr/>
          <p:nvPr/>
        </p:nvSpPr>
        <p:spPr>
          <a:xfrm>
            <a:off x="429768" y="2377440"/>
            <a:ext cx="11329416" cy="896112"/>
          </a:xfrm>
          <a:prstGeom prst="rect">
            <a:avLst/>
          </a:prstGeom>
          <a:solidFill>
            <a:srgbClr val="FFFFFF"/>
          </a:solidFill>
          <a:ln w="12700">
            <a:solidFill>
              <a:srgbClr val="DCE3EE"/>
            </a:solidFill>
            <a:prstDash val="solid"/>
          </a:ln>
        </p:spPr>
      </p:sp>
      <p:sp>
        <p:nvSpPr>
          <p:cNvPr id="11" name="Shape 9"/>
          <p:cNvSpPr/>
          <p:nvPr/>
        </p:nvSpPr>
        <p:spPr>
          <a:xfrm>
            <a:off x="429768" y="2377440"/>
            <a:ext cx="82296" cy="896112"/>
          </a:xfrm>
          <a:prstGeom prst="rect">
            <a:avLst/>
          </a:prstGeom>
          <a:solidFill>
            <a:srgbClr val="1F4899"/>
          </a:solidFill>
          <a:ln/>
        </p:spPr>
      </p:sp>
      <p:sp>
        <p:nvSpPr>
          <p:cNvPr id="12" name="Shape 10"/>
          <p:cNvSpPr/>
          <p:nvPr/>
        </p:nvSpPr>
        <p:spPr>
          <a:xfrm>
            <a:off x="694944" y="2542032"/>
            <a:ext cx="566928" cy="566928"/>
          </a:xfrm>
          <a:prstGeom prst="ellipse">
            <a:avLst/>
          </a:prstGeom>
          <a:solidFill>
            <a:srgbClr val="1F4899"/>
          </a:solidFill>
          <a:ln/>
        </p:spPr>
      </p:sp>
      <p:sp>
        <p:nvSpPr>
          <p:cNvPr id="13" name="Text 11"/>
          <p:cNvSpPr/>
          <p:nvPr/>
        </p:nvSpPr>
        <p:spPr>
          <a:xfrm>
            <a:off x="694944" y="254203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2"/>
          <p:cNvSpPr/>
          <p:nvPr/>
        </p:nvSpPr>
        <p:spPr>
          <a:xfrm>
            <a:off x="1481328" y="2377440"/>
            <a:ext cx="4526280" cy="896112"/>
          </a:xfrm>
          <a:prstGeom prst="rect">
            <a:avLst/>
          </a:prstGeom>
          <a:noFill/>
          <a:ln/>
        </p:spPr>
        <p:txBody>
          <a:bodyPr wrap="square" lIns="0" tIns="0" rIns="0" bIns="0" rtlCol="0" anchor="ctr"/>
          <a:lstStyle/>
          <a:p>
            <a:pPr indent="0" marL="0">
              <a:buNone/>
            </a:pPr>
            <a:r>
              <a:rPr lang="en-US" sz="1500" b="1" dirty="0">
                <a:solidFill>
                  <a:srgbClr val="1F4899"/>
                </a:solidFill>
                <a:latin typeface="Calibri" pitchFamily="34" charset="0"/>
                <a:ea typeface="Calibri" pitchFamily="34" charset="-122"/>
                <a:cs typeface="Calibri" pitchFamily="34" charset="-120"/>
              </a:rPr>
              <a:t>Data has Structural Limits</a:t>
            </a:r>
            <a:endParaRPr lang="en-US" sz="1500" dirty="0"/>
          </a:p>
        </p:txBody>
      </p:sp>
      <p:sp>
        <p:nvSpPr>
          <p:cNvPr id="15" name="Text 13"/>
          <p:cNvSpPr/>
          <p:nvPr/>
        </p:nvSpPr>
        <p:spPr>
          <a:xfrm>
            <a:off x="6144768" y="2377440"/>
            <a:ext cx="5577840" cy="89611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GAAP은 무형자산을 제외하고 가치를 왜곡함.</a:t>
            </a:r>
            <a:endParaRPr lang="en-US" sz="1300" dirty="0"/>
          </a:p>
        </p:txBody>
      </p:sp>
      <p:sp>
        <p:nvSpPr>
          <p:cNvPr id="16" name="Shape 14"/>
          <p:cNvSpPr/>
          <p:nvPr/>
        </p:nvSpPr>
        <p:spPr>
          <a:xfrm>
            <a:off x="429768" y="3364992"/>
            <a:ext cx="11329416" cy="896112"/>
          </a:xfrm>
          <a:prstGeom prst="rect">
            <a:avLst/>
          </a:prstGeom>
          <a:solidFill>
            <a:srgbClr val="FFFFFF"/>
          </a:solidFill>
          <a:ln w="12700">
            <a:solidFill>
              <a:srgbClr val="DCE3EE"/>
            </a:solidFill>
            <a:prstDash val="solid"/>
          </a:ln>
        </p:spPr>
      </p:sp>
      <p:sp>
        <p:nvSpPr>
          <p:cNvPr id="17" name="Shape 15"/>
          <p:cNvSpPr/>
          <p:nvPr/>
        </p:nvSpPr>
        <p:spPr>
          <a:xfrm>
            <a:off x="429768" y="3364992"/>
            <a:ext cx="82296" cy="896112"/>
          </a:xfrm>
          <a:prstGeom prst="rect">
            <a:avLst/>
          </a:prstGeom>
          <a:solidFill>
            <a:srgbClr val="0F6E7A"/>
          </a:solidFill>
          <a:ln/>
        </p:spPr>
      </p:sp>
      <p:sp>
        <p:nvSpPr>
          <p:cNvPr id="18" name="Shape 16"/>
          <p:cNvSpPr/>
          <p:nvPr/>
        </p:nvSpPr>
        <p:spPr>
          <a:xfrm>
            <a:off x="694944" y="3529584"/>
            <a:ext cx="566928" cy="566928"/>
          </a:xfrm>
          <a:prstGeom prst="ellipse">
            <a:avLst/>
          </a:prstGeom>
          <a:solidFill>
            <a:srgbClr val="0F6E7A"/>
          </a:solidFill>
          <a:ln/>
        </p:spPr>
      </p:sp>
      <p:sp>
        <p:nvSpPr>
          <p:cNvPr id="19" name="Text 17"/>
          <p:cNvSpPr/>
          <p:nvPr/>
        </p:nvSpPr>
        <p:spPr>
          <a:xfrm>
            <a:off x="694944" y="3529584"/>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0" name="Text 18"/>
          <p:cNvSpPr/>
          <p:nvPr/>
        </p:nvSpPr>
        <p:spPr>
          <a:xfrm>
            <a:off x="1481328" y="3364992"/>
            <a:ext cx="4526280" cy="896112"/>
          </a:xfrm>
          <a:prstGeom prst="rect">
            <a:avLst/>
          </a:prstGeom>
          <a:noFill/>
          <a:ln/>
        </p:spPr>
        <p:txBody>
          <a:bodyPr wrap="square" lIns="0" tIns="0" rIns="0" bIns="0" rtlCol="0" anchor="ctr"/>
          <a:lstStyle/>
          <a:p>
            <a:pPr indent="0" marL="0">
              <a:buNone/>
            </a:pPr>
            <a:r>
              <a:rPr lang="en-US" sz="1500" b="1" dirty="0">
                <a:solidFill>
                  <a:srgbClr val="0F6E7A"/>
                </a:solidFill>
                <a:latin typeface="Calibri" pitchFamily="34" charset="0"/>
                <a:ea typeface="Calibri" pitchFamily="34" charset="-122"/>
                <a:cs typeface="Calibri" pitchFamily="34" charset="-120"/>
              </a:rPr>
              <a:t>WC is a Funding Requirement</a:t>
            </a:r>
            <a:endParaRPr lang="en-US" sz="1500" dirty="0"/>
          </a:p>
        </p:txBody>
      </p:sp>
      <p:sp>
        <p:nvSpPr>
          <p:cNvPr id="21" name="Text 19"/>
          <p:cNvSpPr/>
          <p:nvPr/>
        </p:nvSpPr>
        <p:spPr>
          <a:xfrm>
            <a:off x="6144768" y="3364992"/>
            <a:ext cx="5577840" cy="89611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단순한 유동성 점검이 아님.</a:t>
            </a:r>
            <a:endParaRPr lang="en-US" sz="1300" dirty="0"/>
          </a:p>
        </p:txBody>
      </p:sp>
      <p:sp>
        <p:nvSpPr>
          <p:cNvPr id="22" name="Shape 20"/>
          <p:cNvSpPr/>
          <p:nvPr/>
        </p:nvSpPr>
        <p:spPr>
          <a:xfrm>
            <a:off x="429768" y="4352544"/>
            <a:ext cx="11329416" cy="896112"/>
          </a:xfrm>
          <a:prstGeom prst="rect">
            <a:avLst/>
          </a:prstGeom>
          <a:solidFill>
            <a:srgbClr val="FFFFFF"/>
          </a:solidFill>
          <a:ln w="12700">
            <a:solidFill>
              <a:srgbClr val="DCE3EE"/>
            </a:solidFill>
            <a:prstDash val="solid"/>
          </a:ln>
        </p:spPr>
      </p:sp>
      <p:sp>
        <p:nvSpPr>
          <p:cNvPr id="23" name="Shape 21"/>
          <p:cNvSpPr/>
          <p:nvPr/>
        </p:nvSpPr>
        <p:spPr>
          <a:xfrm>
            <a:off x="429768" y="4352544"/>
            <a:ext cx="82296" cy="896112"/>
          </a:xfrm>
          <a:prstGeom prst="rect">
            <a:avLst/>
          </a:prstGeom>
          <a:solidFill>
            <a:srgbClr val="9A6600"/>
          </a:solidFill>
          <a:ln/>
        </p:spPr>
      </p:sp>
      <p:sp>
        <p:nvSpPr>
          <p:cNvPr id="24" name="Shape 22"/>
          <p:cNvSpPr/>
          <p:nvPr/>
        </p:nvSpPr>
        <p:spPr>
          <a:xfrm>
            <a:off x="694944" y="4517136"/>
            <a:ext cx="566928" cy="566928"/>
          </a:xfrm>
          <a:prstGeom prst="ellipse">
            <a:avLst/>
          </a:prstGeom>
          <a:solidFill>
            <a:srgbClr val="9A6600"/>
          </a:solidFill>
          <a:ln/>
        </p:spPr>
      </p:sp>
      <p:sp>
        <p:nvSpPr>
          <p:cNvPr id="25" name="Text 23"/>
          <p:cNvSpPr/>
          <p:nvPr/>
        </p:nvSpPr>
        <p:spPr>
          <a:xfrm>
            <a:off x="694944" y="451713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4"/>
          <p:cNvSpPr/>
          <p:nvPr/>
        </p:nvSpPr>
        <p:spPr>
          <a:xfrm>
            <a:off x="1481328" y="4352544"/>
            <a:ext cx="4526280" cy="896112"/>
          </a:xfrm>
          <a:prstGeom prst="rect">
            <a:avLst/>
          </a:prstGeom>
          <a:noFill/>
          <a:ln/>
        </p:spPr>
        <p:txBody>
          <a:bodyPr wrap="square" lIns="0" tIns="0" rIns="0" bIns="0" rtlCol="0" anchor="ctr"/>
          <a:lstStyle/>
          <a:p>
            <a:pPr indent="0" marL="0">
              <a:buNone/>
            </a:pPr>
            <a:r>
              <a:rPr lang="en-US" sz="1500" b="1" dirty="0">
                <a:solidFill>
                  <a:srgbClr val="9A6600"/>
                </a:solidFill>
                <a:latin typeface="Calibri" pitchFamily="34" charset="0"/>
                <a:ea typeface="Calibri" pitchFamily="34" charset="-122"/>
                <a:cs typeface="Calibri" pitchFamily="34" charset="-120"/>
              </a:rPr>
              <a:t>Ratios are a Means to an End</a:t>
            </a:r>
            <a:endParaRPr lang="en-US" sz="1500" dirty="0"/>
          </a:p>
        </p:txBody>
      </p:sp>
      <p:sp>
        <p:nvSpPr>
          <p:cNvPr id="27" name="Text 25"/>
          <p:cNvSpPr/>
          <p:nvPr/>
        </p:nvSpPr>
        <p:spPr>
          <a:xfrm>
            <a:off x="6144768" y="4352544"/>
            <a:ext cx="5577840" cy="896112"/>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경영진·혁신·전략은 담아내지 못함.</a:t>
            </a:r>
            <a:endParaRPr lang="en-US" sz="1300" dirty="0"/>
          </a:p>
        </p:txBody>
      </p:sp>
      <p:sp>
        <p:nvSpPr>
          <p:cNvPr id="28" name="Shape 26"/>
          <p:cNvSpPr/>
          <p:nvPr/>
        </p:nvSpPr>
        <p:spPr>
          <a:xfrm>
            <a:off x="429768" y="5376672"/>
            <a:ext cx="11329416" cy="512064"/>
          </a:xfrm>
          <a:prstGeom prst="rect">
            <a:avLst/>
          </a:prstGeom>
          <a:solidFill>
            <a:srgbClr val="14306B"/>
          </a:solidFill>
          <a:ln/>
        </p:spPr>
      </p:sp>
      <p:sp>
        <p:nvSpPr>
          <p:cNvPr id="29" name="Text 27"/>
          <p:cNvSpPr/>
          <p:nvPr/>
        </p:nvSpPr>
        <p:spPr>
          <a:xfrm>
            <a:off x="685800" y="5376672"/>
            <a:ext cx="10817352" cy="51206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진정한 통찰은 숫자와 서사(narrative) 사이의 간극에 있습니다.</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2798064"/>
            <a:ext cx="12191695" cy="50292"/>
          </a:xfrm>
          <a:prstGeom prst="rect">
            <a:avLst/>
          </a:prstGeom>
          <a:solidFill>
            <a:srgbClr val="FFFFFF"/>
          </a:solidFill>
          <a:ln/>
        </p:spPr>
      </p:sp>
      <p:sp>
        <p:nvSpPr>
          <p:cNvPr id="4" name="Text 2"/>
          <p:cNvSpPr/>
          <p:nvPr/>
        </p:nvSpPr>
        <p:spPr>
          <a:xfrm>
            <a:off x="0" y="2103120"/>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EXTRA</a:t>
            </a:r>
            <a:endParaRPr lang="en-US" sz="1600" dirty="0"/>
          </a:p>
        </p:txBody>
      </p:sp>
      <p:sp>
        <p:nvSpPr>
          <p:cNvPr id="5" name="Text 3"/>
          <p:cNvSpPr/>
          <p:nvPr/>
        </p:nvSpPr>
        <p:spPr>
          <a:xfrm>
            <a:off x="731520" y="3035808"/>
            <a:ext cx="10728655" cy="914400"/>
          </a:xfrm>
          <a:prstGeom prst="rect">
            <a:avLst/>
          </a:prstGeom>
          <a:noFill/>
          <a:ln/>
        </p:spPr>
        <p:txBody>
          <a:bodyPr wrap="square" rtlCol="0" anchor="ctr"/>
          <a:lstStyle/>
          <a:p>
            <a:pPr algn="ctr" indent="0" marL="0">
              <a:buNone/>
            </a:pPr>
            <a:r>
              <a:rPr lang="en-US" sz="4000" b="1" dirty="0">
                <a:solidFill>
                  <a:srgbClr val="FFFFFF"/>
                </a:solidFill>
                <a:latin typeface="Calibri Light" pitchFamily="34" charset="0"/>
                <a:ea typeface="Calibri Light" pitchFamily="34" charset="-122"/>
                <a:cs typeface="Calibri Light" pitchFamily="34" charset="-120"/>
              </a:rPr>
              <a:t>Analyzing Core Operating Activities</a:t>
            </a:r>
            <a:endParaRPr lang="en-US" sz="4000" dirty="0"/>
          </a:p>
        </p:txBody>
      </p:sp>
      <p:sp>
        <p:nvSpPr>
          <p:cNvPr id="6" name="Text 4"/>
          <p:cNvSpPr/>
          <p:nvPr/>
        </p:nvSpPr>
        <p:spPr>
          <a:xfrm>
            <a:off x="1280160" y="4023360"/>
            <a:ext cx="9631375" cy="457200"/>
          </a:xfrm>
          <a:prstGeom prst="rect">
            <a:avLst/>
          </a:prstGeom>
          <a:noFill/>
          <a:ln/>
        </p:spPr>
        <p:txBody>
          <a:bodyPr wrap="square" rtlCol="0" anchor="ctr"/>
          <a:lstStyle/>
          <a:p>
            <a:pPr algn="ctr" indent="0" marL="0">
              <a:buNone/>
            </a:pPr>
            <a:r>
              <a:rPr lang="en-US" sz="1450" dirty="0">
                <a:solidFill>
                  <a:srgbClr val="C8D6F0"/>
                </a:solidFill>
                <a:latin typeface="Calibri" pitchFamily="34" charset="0"/>
                <a:ea typeface="Calibri" pitchFamily="34" charset="-122"/>
                <a:cs typeface="Calibri" pitchFamily="34" charset="-120"/>
              </a:rPr>
              <a:t>핵심 영업활동 분석  ·  RNOA = NOPAT ÷ NOA</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Bifurcating the Business Model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38</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모든 기업은 두 개의 엔진으로 굴러갑니다 — 하나는 가치를 만들고, 다른 하나는 그것에 자금을 댑니다.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EXTRA</a:t>
            </a:r>
            <a:endParaRPr lang="en-US" sz="1050" dirty="0"/>
          </a:p>
        </p:txBody>
      </p:sp>
      <p:sp>
        <p:nvSpPr>
          <p:cNvPr id="10" name="Shape 8"/>
          <p:cNvSpPr/>
          <p:nvPr/>
        </p:nvSpPr>
        <p:spPr>
          <a:xfrm>
            <a:off x="429768" y="2286000"/>
            <a:ext cx="5486400" cy="2560320"/>
          </a:xfrm>
          <a:prstGeom prst="rect">
            <a:avLst/>
          </a:prstGeom>
          <a:solidFill>
            <a:srgbClr val="FFFFFF"/>
          </a:solidFill>
          <a:ln w="12700">
            <a:solidFill>
              <a:srgbClr val="DCE3EE"/>
            </a:solidFill>
            <a:prstDash val="solid"/>
          </a:ln>
        </p:spPr>
      </p:sp>
      <p:sp>
        <p:nvSpPr>
          <p:cNvPr id="11" name="Shape 9"/>
          <p:cNvSpPr/>
          <p:nvPr/>
        </p:nvSpPr>
        <p:spPr>
          <a:xfrm>
            <a:off x="429768" y="2286000"/>
            <a:ext cx="82296" cy="2560320"/>
          </a:xfrm>
          <a:prstGeom prst="rect">
            <a:avLst/>
          </a:prstGeom>
          <a:solidFill>
            <a:srgbClr val="1E7A4C"/>
          </a:solidFill>
          <a:ln/>
        </p:spPr>
      </p:sp>
      <p:sp>
        <p:nvSpPr>
          <p:cNvPr id="12" name="Shape 10"/>
          <p:cNvSpPr/>
          <p:nvPr/>
        </p:nvSpPr>
        <p:spPr>
          <a:xfrm>
            <a:off x="429768" y="2286000"/>
            <a:ext cx="5486400" cy="420624"/>
          </a:xfrm>
          <a:prstGeom prst="rect">
            <a:avLst/>
          </a:prstGeom>
          <a:solidFill>
            <a:srgbClr val="1E7A4C"/>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Operating Activities  ·  The Engine</a:t>
            </a:r>
            <a:endParaRPr lang="en-US" sz="1500" dirty="0"/>
          </a:p>
        </p:txBody>
      </p:sp>
      <p:sp>
        <p:nvSpPr>
          <p:cNvPr id="14" name="Text 12"/>
          <p:cNvSpPr/>
          <p:nvPr/>
        </p:nvSpPr>
        <p:spPr>
          <a:xfrm>
            <a:off x="649224" y="2889504"/>
            <a:ext cx="5065776" cy="182880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재화·용역을 생산·인도하는 핵심 거래.</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Drivers: Sales, 생산, R&amp;D, 마케팅.</a:t>
            </a:r>
            <a:endParaRPr lang="en-US" sz="1250" dirty="0"/>
          </a:p>
          <a:p>
            <a:pPr marL="342900" indent="-342900">
              <a:lnSpc>
                <a:spcPct val="105000"/>
              </a:lnSpc>
              <a:buSzPct val="100000"/>
              <a:buChar char="▪"/>
            </a:pPr>
            <a:r>
              <a:rPr lang="en-US" sz="1250" b="1" dirty="0">
                <a:solidFill>
                  <a:srgbClr val="1E7A4C"/>
                </a:solidFill>
                <a:latin typeface="Calibri" pitchFamily="34" charset="0"/>
                <a:ea typeface="Calibri" pitchFamily="34" charset="-122"/>
                <a:cs typeface="Calibri" pitchFamily="34" charset="-120"/>
              </a:rPr>
              <a:t>Primary Value Driver (핵심 가치 창출).</a:t>
            </a:r>
            <a:endParaRPr lang="en-US" sz="1250" dirty="0"/>
          </a:p>
        </p:txBody>
      </p:sp>
      <p:sp>
        <p:nvSpPr>
          <p:cNvPr id="15" name="Shape 13"/>
          <p:cNvSpPr/>
          <p:nvPr/>
        </p:nvSpPr>
        <p:spPr>
          <a:xfrm>
            <a:off x="6272784" y="2286000"/>
            <a:ext cx="5486400" cy="256032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560320"/>
          </a:xfrm>
          <a:prstGeom prst="rect">
            <a:avLst/>
          </a:prstGeom>
          <a:solidFill>
            <a:srgbClr val="5A6474"/>
          </a:solidFill>
          <a:ln/>
        </p:spPr>
      </p:sp>
      <p:sp>
        <p:nvSpPr>
          <p:cNvPr id="17" name="Shape 15"/>
          <p:cNvSpPr/>
          <p:nvPr/>
        </p:nvSpPr>
        <p:spPr>
          <a:xfrm>
            <a:off x="6272784" y="2286000"/>
            <a:ext cx="5486400" cy="420624"/>
          </a:xfrm>
          <a:prstGeom prst="rect">
            <a:avLst/>
          </a:prstGeom>
          <a:solidFill>
            <a:srgbClr val="5A6474"/>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Nonoperating Activities  ·  The Support</a:t>
            </a:r>
            <a:endParaRPr lang="en-US" sz="1500" dirty="0"/>
          </a:p>
        </p:txBody>
      </p:sp>
      <p:sp>
        <p:nvSpPr>
          <p:cNvPr id="19" name="Text 17"/>
          <p:cNvSpPr/>
          <p:nvPr/>
        </p:nvSpPr>
        <p:spPr>
          <a:xfrm>
            <a:off x="6492240" y="2889504"/>
            <a:ext cx="5065776" cy="182880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사업에 자금을 대는 재무·투자 활동.</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Drivers: 부채 관리, 투자.</a:t>
            </a:r>
            <a:endParaRPr lang="en-US" sz="1250" dirty="0"/>
          </a:p>
          <a:p>
            <a:pPr marL="342900" indent="-342900">
              <a:lnSpc>
                <a:spcPct val="105000"/>
              </a:lnSpc>
              <a:buSzPct val="100000"/>
              <a:buChar char="▪"/>
            </a:pPr>
            <a:r>
              <a:rPr lang="en-US" sz="1250" b="1" dirty="0">
                <a:solidFill>
                  <a:srgbClr val="5A6474"/>
                </a:solidFill>
                <a:latin typeface="Calibri" pitchFamily="34" charset="0"/>
                <a:ea typeface="Calibri" pitchFamily="34" charset="-122"/>
                <a:cs typeface="Calibri" pitchFamily="34" charset="-120"/>
              </a:rPr>
              <a:t>Secondary Driver (보조적 역할).</a:t>
            </a:r>
            <a:endParaRPr lang="en-US" sz="1250" dirty="0"/>
          </a:p>
        </p:txBody>
      </p:sp>
      <p:sp>
        <p:nvSpPr>
          <p:cNvPr id="20" name="Shape 18"/>
          <p:cNvSpPr/>
          <p:nvPr/>
        </p:nvSpPr>
        <p:spPr>
          <a:xfrm>
            <a:off x="429768" y="5029200"/>
            <a:ext cx="11329416" cy="512064"/>
          </a:xfrm>
          <a:prstGeom prst="rect">
            <a:avLst/>
          </a:prstGeom>
          <a:solidFill>
            <a:srgbClr val="14306B"/>
          </a:solidFill>
          <a:ln/>
        </p:spPr>
      </p:sp>
      <p:sp>
        <p:nvSpPr>
          <p:cNvPr id="21" name="Text 19"/>
          <p:cNvSpPr/>
          <p:nvPr/>
        </p:nvSpPr>
        <p:spPr>
          <a:xfrm>
            <a:off x="685800" y="5029200"/>
            <a:ext cx="10817352"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왜 중요한가:  RNOA는 첫 번째 엔진만 분리해, 성과가 자금조달과 뒤섞이지 않게 합니다.</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Metric of True Efficiency — RNOA</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39</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Light" pitchFamily="34" charset="0"/>
                <a:ea typeface="Calibri Light" pitchFamily="34" charset="-122"/>
                <a:cs typeface="Calibri Light" pitchFamily="34" charset="-120"/>
              </a:rPr>
              <a:t>RNOA   =   Net Operating Profit After Taxes (NOPAT)   ÷   Average Net Operating Assets (NOA)</a:t>
            </a:r>
            <a:endParaRPr lang="en-US" sz="1500" dirty="0"/>
          </a:p>
        </p:txBody>
      </p:sp>
      <p:sp>
        <p:nvSpPr>
          <p:cNvPr id="8" name="Shape 6"/>
          <p:cNvSpPr/>
          <p:nvPr/>
        </p:nvSpPr>
        <p:spPr>
          <a:xfrm>
            <a:off x="429768" y="2615184"/>
            <a:ext cx="3538728" cy="2103120"/>
          </a:xfrm>
          <a:prstGeom prst="rect">
            <a:avLst/>
          </a:prstGeom>
          <a:solidFill>
            <a:srgbClr val="FFFFFF"/>
          </a:solidFill>
          <a:ln w="12700">
            <a:solidFill>
              <a:srgbClr val="DCE3EE"/>
            </a:solidFill>
            <a:prstDash val="solid"/>
          </a:ln>
        </p:spPr>
      </p:sp>
      <p:sp>
        <p:nvSpPr>
          <p:cNvPr id="9" name="Shape 7"/>
          <p:cNvSpPr/>
          <p:nvPr/>
        </p:nvSpPr>
        <p:spPr>
          <a:xfrm>
            <a:off x="429768" y="2615184"/>
            <a:ext cx="82296" cy="2103120"/>
          </a:xfrm>
          <a:prstGeom prst="rect">
            <a:avLst/>
          </a:prstGeom>
          <a:solidFill>
            <a:srgbClr val="1F4899"/>
          </a:solidFill>
          <a:ln/>
        </p:spPr>
      </p:sp>
      <p:sp>
        <p:nvSpPr>
          <p:cNvPr id="10" name="Shape 8"/>
          <p:cNvSpPr/>
          <p:nvPr/>
        </p:nvSpPr>
        <p:spPr>
          <a:xfrm>
            <a:off x="1933956" y="2340864"/>
            <a:ext cx="530352" cy="530352"/>
          </a:xfrm>
          <a:prstGeom prst="ellipse">
            <a:avLst/>
          </a:prstGeom>
          <a:solidFill>
            <a:srgbClr val="1F4899"/>
          </a:solidFill>
          <a:ln/>
        </p:spPr>
      </p:sp>
      <p:sp>
        <p:nvSpPr>
          <p:cNvPr id="11" name="Text 9"/>
          <p:cNvSpPr/>
          <p:nvPr/>
        </p:nvSpPr>
        <p:spPr>
          <a:xfrm>
            <a:off x="1933956"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2" name="Text 10"/>
          <p:cNvSpPr/>
          <p:nvPr/>
        </p:nvSpPr>
        <p:spPr>
          <a:xfrm>
            <a:off x="557784" y="3017520"/>
            <a:ext cx="3282696" cy="365760"/>
          </a:xfrm>
          <a:prstGeom prst="rect">
            <a:avLst/>
          </a:prstGeom>
          <a:noFill/>
          <a:ln/>
        </p:spPr>
        <p:txBody>
          <a:bodyPr wrap="square" lIns="0" tIns="0" rIns="0" bIns="0" rtlCol="0" anchor="ctr"/>
          <a:lstStyle/>
          <a:p>
            <a:pPr algn="ctr" indent="0" marL="0">
              <a:buNone/>
            </a:pPr>
            <a:r>
              <a:rPr lang="en-US" sz="1450" b="1" dirty="0">
                <a:solidFill>
                  <a:srgbClr val="1F4899"/>
                </a:solidFill>
                <a:latin typeface="Calibri" pitchFamily="34" charset="0"/>
                <a:ea typeface="Calibri" pitchFamily="34" charset="-122"/>
                <a:cs typeface="Calibri" pitchFamily="34" charset="-120"/>
              </a:rPr>
              <a:t>Measures Return</a:t>
            </a:r>
            <a:endParaRPr lang="en-US" sz="1450" dirty="0"/>
          </a:p>
        </p:txBody>
      </p:sp>
      <p:sp>
        <p:nvSpPr>
          <p:cNvPr id="13" name="Text 11"/>
          <p:cNvSpPr/>
          <p:nvPr/>
        </p:nvSpPr>
        <p:spPr>
          <a:xfrm>
            <a:off x="667512" y="3419856"/>
            <a:ext cx="3063240" cy="109728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영업활동만으로</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창출된 수익을 포착.</a:t>
            </a:r>
            <a:endParaRPr lang="en-US" sz="1250" dirty="0"/>
          </a:p>
        </p:txBody>
      </p:sp>
      <p:sp>
        <p:nvSpPr>
          <p:cNvPr id="14" name="Shape 12"/>
          <p:cNvSpPr/>
          <p:nvPr/>
        </p:nvSpPr>
        <p:spPr>
          <a:xfrm>
            <a:off x="4325112" y="2615184"/>
            <a:ext cx="3538728" cy="2103120"/>
          </a:xfrm>
          <a:prstGeom prst="rect">
            <a:avLst/>
          </a:prstGeom>
          <a:solidFill>
            <a:srgbClr val="FFFFFF"/>
          </a:solidFill>
          <a:ln w="12700">
            <a:solidFill>
              <a:srgbClr val="DCE3EE"/>
            </a:solidFill>
            <a:prstDash val="solid"/>
          </a:ln>
        </p:spPr>
      </p:sp>
      <p:sp>
        <p:nvSpPr>
          <p:cNvPr id="15" name="Shape 13"/>
          <p:cNvSpPr/>
          <p:nvPr/>
        </p:nvSpPr>
        <p:spPr>
          <a:xfrm>
            <a:off x="4325112" y="2615184"/>
            <a:ext cx="82296" cy="2103120"/>
          </a:xfrm>
          <a:prstGeom prst="rect">
            <a:avLst/>
          </a:prstGeom>
          <a:solidFill>
            <a:srgbClr val="0F6E7A"/>
          </a:solidFill>
          <a:ln/>
        </p:spPr>
      </p:sp>
      <p:sp>
        <p:nvSpPr>
          <p:cNvPr id="16" name="Shape 14"/>
          <p:cNvSpPr/>
          <p:nvPr/>
        </p:nvSpPr>
        <p:spPr>
          <a:xfrm>
            <a:off x="5829300" y="2340864"/>
            <a:ext cx="530352" cy="530352"/>
          </a:xfrm>
          <a:prstGeom prst="ellipse">
            <a:avLst/>
          </a:prstGeom>
          <a:solidFill>
            <a:srgbClr val="0F6E7A"/>
          </a:solidFill>
          <a:ln/>
        </p:spPr>
      </p:sp>
      <p:sp>
        <p:nvSpPr>
          <p:cNvPr id="17" name="Text 15"/>
          <p:cNvSpPr/>
          <p:nvPr/>
        </p:nvSpPr>
        <p:spPr>
          <a:xfrm>
            <a:off x="5829300"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p:nvPr/>
        </p:nvSpPr>
        <p:spPr>
          <a:xfrm>
            <a:off x="4453128" y="3017520"/>
            <a:ext cx="3282696" cy="365760"/>
          </a:xfrm>
          <a:prstGeom prst="rect">
            <a:avLst/>
          </a:prstGeom>
          <a:noFill/>
          <a:ln/>
        </p:spPr>
        <p:txBody>
          <a:bodyPr wrap="square" lIns="0" tIns="0" rIns="0" bIns="0" rtlCol="0" anchor="ctr"/>
          <a:lstStyle/>
          <a:p>
            <a:pPr algn="ctr" indent="0" marL="0">
              <a:buNone/>
            </a:pPr>
            <a:r>
              <a:rPr lang="en-US" sz="1450" b="1" dirty="0">
                <a:solidFill>
                  <a:srgbClr val="0F6E7A"/>
                </a:solidFill>
                <a:latin typeface="Calibri" pitchFamily="34" charset="0"/>
                <a:ea typeface="Calibri" pitchFamily="34" charset="-122"/>
                <a:cs typeface="Calibri" pitchFamily="34" charset="-120"/>
              </a:rPr>
              <a:t>Compares to Capital</a:t>
            </a:r>
            <a:endParaRPr lang="en-US" sz="1450" dirty="0"/>
          </a:p>
        </p:txBody>
      </p:sp>
      <p:sp>
        <p:nvSpPr>
          <p:cNvPr id="19" name="Text 17"/>
          <p:cNvSpPr/>
          <p:nvPr/>
        </p:nvSpPr>
        <p:spPr>
          <a:xfrm>
            <a:off x="4562856" y="3419856"/>
            <a:ext cx="3063240" cy="109728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그 수익을 실제로</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투입된 영업 자본과 연결.</a:t>
            </a:r>
            <a:endParaRPr lang="en-US" sz="1250" dirty="0"/>
          </a:p>
        </p:txBody>
      </p:sp>
      <p:sp>
        <p:nvSpPr>
          <p:cNvPr id="20" name="Shape 18"/>
          <p:cNvSpPr/>
          <p:nvPr/>
        </p:nvSpPr>
        <p:spPr>
          <a:xfrm>
            <a:off x="8220456" y="2615184"/>
            <a:ext cx="3538728" cy="2103120"/>
          </a:xfrm>
          <a:prstGeom prst="rect">
            <a:avLst/>
          </a:prstGeom>
          <a:solidFill>
            <a:srgbClr val="FFFFFF"/>
          </a:solidFill>
          <a:ln w="12700">
            <a:solidFill>
              <a:srgbClr val="DCE3EE"/>
            </a:solidFill>
            <a:prstDash val="solid"/>
          </a:ln>
        </p:spPr>
      </p:sp>
      <p:sp>
        <p:nvSpPr>
          <p:cNvPr id="21" name="Shape 19"/>
          <p:cNvSpPr/>
          <p:nvPr/>
        </p:nvSpPr>
        <p:spPr>
          <a:xfrm>
            <a:off x="8220456" y="2615184"/>
            <a:ext cx="82296" cy="2103120"/>
          </a:xfrm>
          <a:prstGeom prst="rect">
            <a:avLst/>
          </a:prstGeom>
          <a:solidFill>
            <a:srgbClr val="9A6600"/>
          </a:solidFill>
          <a:ln/>
        </p:spPr>
      </p:sp>
      <p:sp>
        <p:nvSpPr>
          <p:cNvPr id="22" name="Shape 20"/>
          <p:cNvSpPr/>
          <p:nvPr/>
        </p:nvSpPr>
        <p:spPr>
          <a:xfrm>
            <a:off x="9724644" y="2340864"/>
            <a:ext cx="530352" cy="530352"/>
          </a:xfrm>
          <a:prstGeom prst="ellipse">
            <a:avLst/>
          </a:prstGeom>
          <a:solidFill>
            <a:srgbClr val="9A6600"/>
          </a:solidFill>
          <a:ln/>
        </p:spPr>
      </p:sp>
      <p:sp>
        <p:nvSpPr>
          <p:cNvPr id="23" name="Text 21"/>
          <p:cNvSpPr/>
          <p:nvPr/>
        </p:nvSpPr>
        <p:spPr>
          <a:xfrm>
            <a:off x="9724644" y="2340864"/>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4" name="Text 22"/>
          <p:cNvSpPr/>
          <p:nvPr/>
        </p:nvSpPr>
        <p:spPr>
          <a:xfrm>
            <a:off x="8348472" y="3017520"/>
            <a:ext cx="3282696" cy="365760"/>
          </a:xfrm>
          <a:prstGeom prst="rect">
            <a:avLst/>
          </a:prstGeom>
          <a:noFill/>
          <a:ln/>
        </p:spPr>
        <p:txBody>
          <a:bodyPr wrap="square" lIns="0" tIns="0" rIns="0" bIns="0" rtlCol="0" anchor="ctr"/>
          <a:lstStyle/>
          <a:p>
            <a:pPr algn="ctr" indent="0" marL="0">
              <a:buNone/>
            </a:pPr>
            <a:r>
              <a:rPr lang="en-US" sz="1450" b="1" dirty="0">
                <a:solidFill>
                  <a:srgbClr val="9A6600"/>
                </a:solidFill>
                <a:latin typeface="Calibri" pitchFamily="34" charset="0"/>
                <a:ea typeface="Calibri" pitchFamily="34" charset="-122"/>
                <a:cs typeface="Calibri" pitchFamily="34" charset="-120"/>
              </a:rPr>
              <a:t>Removes Distortion</a:t>
            </a:r>
            <a:endParaRPr lang="en-US" sz="1450" dirty="0"/>
          </a:p>
        </p:txBody>
      </p:sp>
      <p:sp>
        <p:nvSpPr>
          <p:cNvPr id="25" name="Text 23"/>
          <p:cNvSpPr/>
          <p:nvPr/>
        </p:nvSpPr>
        <p:spPr>
          <a:xfrm>
            <a:off x="8458200" y="3419856"/>
            <a:ext cx="3063240" cy="1097280"/>
          </a:xfrm>
          <a:prstGeom prst="rect">
            <a:avLst/>
          </a:prstGeom>
          <a:noFill/>
          <a:ln/>
        </p:spPr>
        <p:txBody>
          <a:bodyPr wrap="square" lIns="0" tIns="0" rIns="0" bIns="0" rtlCol="0" anchor="ctr"/>
          <a:lstStyle/>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자금조달 의사결정이</a:t>
            </a:r>
            <a:endParaRPr lang="en-US" sz="1250" dirty="0"/>
          </a:p>
          <a:p>
            <a:pPr algn="ctr" indent="0" marL="0">
              <a:lnSpc>
                <a:spcPct val="100000"/>
              </a:lnSpc>
              <a:buNone/>
            </a:pPr>
            <a:r>
              <a:rPr lang="en-US" sz="1250" dirty="0">
                <a:solidFill>
                  <a:srgbClr val="1A1A1A"/>
                </a:solidFill>
                <a:latin typeface="Calibri" pitchFamily="34" charset="0"/>
                <a:ea typeface="Calibri" pitchFamily="34" charset="-122"/>
                <a:cs typeface="Calibri" pitchFamily="34" charset="-120"/>
              </a:rPr>
              <a:t>만드는 왜곡을 제거.</a:t>
            </a:r>
            <a:endParaRPr lang="en-US" sz="1250" dirty="0"/>
          </a:p>
        </p:txBody>
      </p:sp>
      <p:sp>
        <p:nvSpPr>
          <p:cNvPr id="26" name="Shape 24"/>
          <p:cNvSpPr/>
          <p:nvPr/>
        </p:nvSpPr>
        <p:spPr>
          <a:xfrm>
            <a:off x="429768" y="4974336"/>
            <a:ext cx="11329416" cy="512064"/>
          </a:xfrm>
          <a:prstGeom prst="rect">
            <a:avLst/>
          </a:prstGeom>
          <a:solidFill>
            <a:srgbClr val="14306B"/>
          </a:solidFill>
          <a:ln/>
        </p:spPr>
      </p:sp>
      <p:sp>
        <p:nvSpPr>
          <p:cNvPr id="27" name="Text 25"/>
          <p:cNvSpPr/>
          <p:nvPr/>
        </p:nvSpPr>
        <p:spPr>
          <a:xfrm>
            <a:off x="685800" y="4974336"/>
            <a:ext cx="10817352"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In short:  ROE는 영업 역량과 자금조달 선택을 뒤섞지만, RNOA는 영업 엔진만 따로 보여줍니다.</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Numerator — Purifying the Profit (NOPAT)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40</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Goal: Net Income에서 출발해, 영업이 아닌 것을 모두 걷어냅니다.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EXTRA</a:t>
            </a:r>
            <a:endParaRPr lang="en-US" sz="1050" dirty="0"/>
          </a:p>
        </p:txBody>
      </p:sp>
      <p:sp>
        <p:nvSpPr>
          <p:cNvPr id="10" name="Shape 8"/>
          <p:cNvSpPr/>
          <p:nvPr/>
        </p:nvSpPr>
        <p:spPr>
          <a:xfrm>
            <a:off x="429768" y="2286000"/>
            <a:ext cx="5486400" cy="2468880"/>
          </a:xfrm>
          <a:prstGeom prst="rect">
            <a:avLst/>
          </a:prstGeom>
          <a:solidFill>
            <a:srgbClr val="FFFFFF"/>
          </a:solidFill>
          <a:ln w="12700">
            <a:solidFill>
              <a:srgbClr val="DCE3EE"/>
            </a:solidFill>
            <a:prstDash val="solid"/>
          </a:ln>
        </p:spPr>
      </p:sp>
      <p:sp>
        <p:nvSpPr>
          <p:cNvPr id="11" name="Shape 9"/>
          <p:cNvSpPr/>
          <p:nvPr/>
        </p:nvSpPr>
        <p:spPr>
          <a:xfrm>
            <a:off x="429768" y="2286000"/>
            <a:ext cx="82296" cy="2468880"/>
          </a:xfrm>
          <a:prstGeom prst="rect">
            <a:avLst/>
          </a:prstGeom>
          <a:solidFill>
            <a:srgbClr val="1E7A4C"/>
          </a:solidFill>
          <a:ln/>
        </p:spPr>
      </p:sp>
      <p:sp>
        <p:nvSpPr>
          <p:cNvPr id="12" name="Shape 10"/>
          <p:cNvSpPr/>
          <p:nvPr/>
        </p:nvSpPr>
        <p:spPr>
          <a:xfrm>
            <a:off x="429768" y="2286000"/>
            <a:ext cx="5486400" cy="420624"/>
          </a:xfrm>
          <a:prstGeom prst="rect">
            <a:avLst/>
          </a:prstGeom>
          <a:solidFill>
            <a:srgbClr val="1E7A4C"/>
          </a:solidFill>
          <a:ln/>
        </p:spPr>
      </p:sp>
      <p:sp>
        <p:nvSpPr>
          <p:cNvPr id="13" name="Text 11"/>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Keep  (Operating)</a:t>
            </a:r>
            <a:endParaRPr lang="en-US" sz="1500" dirty="0"/>
          </a:p>
        </p:txBody>
      </p:sp>
      <p:sp>
        <p:nvSpPr>
          <p:cNvPr id="14" name="Text 12"/>
          <p:cNvSpPr/>
          <p:nvPr/>
        </p:nvSpPr>
        <p:spPr>
          <a:xfrm>
            <a:off x="649224"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Sales Revenue.</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Cost of Goods Sold.</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SG&amp;A.</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R&amp;D.</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Depreciation.</a:t>
            </a:r>
            <a:endParaRPr lang="en-US" sz="1250" dirty="0"/>
          </a:p>
        </p:txBody>
      </p:sp>
      <p:sp>
        <p:nvSpPr>
          <p:cNvPr id="15" name="Shape 13"/>
          <p:cNvSpPr/>
          <p:nvPr/>
        </p:nvSpPr>
        <p:spPr>
          <a:xfrm>
            <a:off x="6272784" y="2286000"/>
            <a:ext cx="5486400" cy="2468880"/>
          </a:xfrm>
          <a:prstGeom prst="rect">
            <a:avLst/>
          </a:prstGeom>
          <a:solidFill>
            <a:srgbClr val="FFFFFF"/>
          </a:solidFill>
          <a:ln w="12700">
            <a:solidFill>
              <a:srgbClr val="DCE3EE"/>
            </a:solidFill>
            <a:prstDash val="solid"/>
          </a:ln>
        </p:spPr>
      </p:sp>
      <p:sp>
        <p:nvSpPr>
          <p:cNvPr id="16" name="Shape 14"/>
          <p:cNvSpPr/>
          <p:nvPr/>
        </p:nvSpPr>
        <p:spPr>
          <a:xfrm>
            <a:off x="6272784" y="2286000"/>
            <a:ext cx="82296" cy="2468880"/>
          </a:xfrm>
          <a:prstGeom prst="rect">
            <a:avLst/>
          </a:prstGeom>
          <a:solidFill>
            <a:srgbClr val="B3261E"/>
          </a:solidFill>
          <a:ln/>
        </p:spPr>
      </p:sp>
      <p:sp>
        <p:nvSpPr>
          <p:cNvPr id="17" name="Shape 15"/>
          <p:cNvSpPr/>
          <p:nvPr/>
        </p:nvSpPr>
        <p:spPr>
          <a:xfrm>
            <a:off x="6272784" y="2286000"/>
            <a:ext cx="5486400" cy="420624"/>
          </a:xfrm>
          <a:prstGeom prst="rect">
            <a:avLst/>
          </a:prstGeom>
          <a:solidFill>
            <a:srgbClr val="B3261E"/>
          </a:solidFill>
          <a:ln/>
        </p:spPr>
      </p:sp>
      <p:sp>
        <p:nvSpPr>
          <p:cNvPr id="18" name="Text 16"/>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Remove  (Nonoperating)</a:t>
            </a:r>
            <a:endParaRPr lang="en-US" sz="1500" dirty="0"/>
          </a:p>
        </p:txBody>
      </p:sp>
      <p:sp>
        <p:nvSpPr>
          <p:cNvPr id="19" name="Text 17"/>
          <p:cNvSpPr/>
          <p:nvPr/>
        </p:nvSpPr>
        <p:spPr>
          <a:xfrm>
            <a:off x="6492240" y="2889504"/>
            <a:ext cx="5065776" cy="173736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Interest Income.</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Interest Expense.</a:t>
            </a:r>
            <a:endParaRPr lang="en-US" sz="1250" dirty="0"/>
          </a:p>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Investment Gains / Losses (투자 손익).</a:t>
            </a:r>
            <a:endParaRPr lang="en-US" sz="1250" dirty="0"/>
          </a:p>
        </p:txBody>
      </p:sp>
      <p:sp>
        <p:nvSpPr>
          <p:cNvPr id="20" name="Shape 18"/>
          <p:cNvSpPr/>
          <p:nvPr/>
        </p:nvSpPr>
        <p:spPr>
          <a:xfrm>
            <a:off x="429768" y="4956048"/>
            <a:ext cx="11329416" cy="512064"/>
          </a:xfrm>
          <a:prstGeom prst="rect">
            <a:avLst/>
          </a:prstGeom>
          <a:solidFill>
            <a:srgbClr val="14306B"/>
          </a:solidFill>
          <a:ln/>
        </p:spPr>
      </p:sp>
      <p:sp>
        <p:nvSpPr>
          <p:cNvPr id="21" name="Text 19"/>
          <p:cNvSpPr/>
          <p:nvPr/>
        </p:nvSpPr>
        <p:spPr>
          <a:xfrm>
            <a:off x="685800" y="4956048"/>
            <a:ext cx="10817352"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Result — NOPAT:  부채도 없고 투자수익도 없을 때 사업이 벌어들일 이익.</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Calculating NOPAT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41</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Light" pitchFamily="34" charset="0"/>
                <a:ea typeface="Calibri Light" pitchFamily="34" charset="-122"/>
                <a:cs typeface="Calibri Light" pitchFamily="34" charset="-120"/>
              </a:rPr>
              <a:t>NOPAT   =   Net Income   −   (Nonoperating Revenues − Nonoperating Expenses) × (1 − Tax Rate)</a:t>
            </a:r>
            <a:endParaRPr lang="en-US" sz="1400" dirty="0"/>
          </a:p>
        </p:txBody>
      </p:sp>
      <p:sp>
        <p:nvSpPr>
          <p:cNvPr id="8" name="Shape 6"/>
          <p:cNvSpPr/>
          <p:nvPr/>
        </p:nvSpPr>
        <p:spPr>
          <a:xfrm>
            <a:off x="429768" y="2286000"/>
            <a:ext cx="5486400" cy="2286000"/>
          </a:xfrm>
          <a:prstGeom prst="rect">
            <a:avLst/>
          </a:prstGeom>
          <a:solidFill>
            <a:srgbClr val="FFFFFF"/>
          </a:solidFill>
          <a:ln w="12700">
            <a:solidFill>
              <a:srgbClr val="DCE3EE"/>
            </a:solidFill>
            <a:prstDash val="solid"/>
          </a:ln>
        </p:spPr>
      </p:sp>
      <p:sp>
        <p:nvSpPr>
          <p:cNvPr id="9" name="Shape 7"/>
          <p:cNvSpPr/>
          <p:nvPr/>
        </p:nvSpPr>
        <p:spPr>
          <a:xfrm>
            <a:off x="429768" y="2286000"/>
            <a:ext cx="82296" cy="2286000"/>
          </a:xfrm>
          <a:prstGeom prst="rect">
            <a:avLst/>
          </a:prstGeom>
          <a:solidFill>
            <a:srgbClr val="0F6E7A"/>
          </a:solidFill>
          <a:ln/>
        </p:spPr>
      </p:sp>
      <p:sp>
        <p:nvSpPr>
          <p:cNvPr id="10" name="Shape 8"/>
          <p:cNvSpPr/>
          <p:nvPr/>
        </p:nvSpPr>
        <p:spPr>
          <a:xfrm>
            <a:off x="429768" y="2286000"/>
            <a:ext cx="5486400" cy="420624"/>
          </a:xfrm>
          <a:prstGeom prst="rect">
            <a:avLst/>
          </a:prstGeom>
          <a:solidFill>
            <a:srgbClr val="0F6E7A"/>
          </a:solidFill>
          <a:ln/>
        </p:spPr>
      </p:sp>
      <p:sp>
        <p:nvSpPr>
          <p:cNvPr id="11" name="Text 9"/>
          <p:cNvSpPr/>
          <p:nvPr/>
        </p:nvSpPr>
        <p:spPr>
          <a:xfrm>
            <a:off x="630936"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Nonoperating Revenues</a:t>
            </a:r>
            <a:endParaRPr lang="en-US" sz="1500" dirty="0"/>
          </a:p>
        </p:txBody>
      </p:sp>
      <p:sp>
        <p:nvSpPr>
          <p:cNvPr id="12" name="Text 10"/>
          <p:cNvSpPr/>
          <p:nvPr/>
        </p:nvSpPr>
        <p:spPr>
          <a:xfrm>
            <a:off x="649224" y="2889504"/>
            <a:ext cx="5065776" cy="155448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Interest·investment income.</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영업에서 나온 것이 아니므로 제거.</a:t>
            </a:r>
            <a:endParaRPr lang="en-US" sz="1250" dirty="0"/>
          </a:p>
        </p:txBody>
      </p:sp>
      <p:sp>
        <p:nvSpPr>
          <p:cNvPr id="13" name="Shape 11"/>
          <p:cNvSpPr/>
          <p:nvPr/>
        </p:nvSpPr>
        <p:spPr>
          <a:xfrm>
            <a:off x="6272784" y="2286000"/>
            <a:ext cx="5486400" cy="2286000"/>
          </a:xfrm>
          <a:prstGeom prst="rect">
            <a:avLst/>
          </a:prstGeom>
          <a:solidFill>
            <a:srgbClr val="FFFFFF"/>
          </a:solidFill>
          <a:ln w="12700">
            <a:solidFill>
              <a:srgbClr val="DCE3EE"/>
            </a:solidFill>
            <a:prstDash val="solid"/>
          </a:ln>
        </p:spPr>
      </p:sp>
      <p:sp>
        <p:nvSpPr>
          <p:cNvPr id="14" name="Shape 12"/>
          <p:cNvSpPr/>
          <p:nvPr/>
        </p:nvSpPr>
        <p:spPr>
          <a:xfrm>
            <a:off x="6272784" y="2286000"/>
            <a:ext cx="82296" cy="2286000"/>
          </a:xfrm>
          <a:prstGeom prst="rect">
            <a:avLst/>
          </a:prstGeom>
          <a:solidFill>
            <a:srgbClr val="9A6600"/>
          </a:solidFill>
          <a:ln/>
        </p:spPr>
      </p:sp>
      <p:sp>
        <p:nvSpPr>
          <p:cNvPr id="15" name="Shape 13"/>
          <p:cNvSpPr/>
          <p:nvPr/>
        </p:nvSpPr>
        <p:spPr>
          <a:xfrm>
            <a:off x="6272784" y="2286000"/>
            <a:ext cx="5486400" cy="420624"/>
          </a:xfrm>
          <a:prstGeom prst="rect">
            <a:avLst/>
          </a:prstGeom>
          <a:solidFill>
            <a:srgbClr val="9A6600"/>
          </a:solidFill>
          <a:ln/>
        </p:spPr>
      </p:sp>
      <p:sp>
        <p:nvSpPr>
          <p:cNvPr id="16" name="Text 14"/>
          <p:cNvSpPr/>
          <p:nvPr/>
        </p:nvSpPr>
        <p:spPr>
          <a:xfrm>
            <a:off x="6473952" y="2286000"/>
            <a:ext cx="5175504" cy="42062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Nonoperating Expenses</a:t>
            </a:r>
            <a:endParaRPr lang="en-US" sz="1500" dirty="0"/>
          </a:p>
        </p:txBody>
      </p:sp>
      <p:sp>
        <p:nvSpPr>
          <p:cNvPr id="17" name="Text 15"/>
          <p:cNvSpPr/>
          <p:nvPr/>
        </p:nvSpPr>
        <p:spPr>
          <a:xfrm>
            <a:off x="6492240" y="2889504"/>
            <a:ext cx="5065776" cy="1554480"/>
          </a:xfrm>
          <a:prstGeom prst="rect">
            <a:avLst/>
          </a:prstGeom>
          <a:noFill/>
          <a:ln/>
        </p:spPr>
        <p:txBody>
          <a:bodyPr wrap="square" lIns="0" tIns="0" rIns="0" bIns="0" rtlCol="0" anchor="t"/>
          <a:lstStyle/>
          <a:p>
            <a:pPr marL="342900" indent="-342900">
              <a:lnSpc>
                <a:spcPct val="105000"/>
              </a:lnSpc>
              <a:buSzPct val="100000"/>
              <a:buChar char="▪"/>
            </a:pPr>
            <a:r>
              <a:rPr lang="en-US" sz="1250" dirty="0">
                <a:solidFill>
                  <a:srgbClr val="1A1A1A"/>
                </a:solidFill>
                <a:latin typeface="Calibri" pitchFamily="34" charset="0"/>
                <a:ea typeface="Calibri" pitchFamily="34" charset="-122"/>
                <a:cs typeface="Calibri" pitchFamily="34" charset="-120"/>
              </a:rPr>
              <a:t>부채의 이자 비용.</a:t>
            </a:r>
            <a:endParaRPr lang="en-US" sz="1250" dirty="0"/>
          </a:p>
          <a:p>
            <a:pPr marL="342900" indent="-342900">
              <a:lnSpc>
                <a:spcPct val="105000"/>
              </a:lnSpc>
              <a:buSzPct val="100000"/>
              <a:buChar char="▪"/>
            </a:pPr>
            <a:r>
              <a:rPr lang="en-US" sz="1250" b="1" dirty="0">
                <a:solidFill>
                  <a:srgbClr val="1A1A1A"/>
                </a:solidFill>
                <a:latin typeface="Calibri" pitchFamily="34" charset="0"/>
                <a:ea typeface="Calibri" pitchFamily="34" charset="-122"/>
                <a:cs typeface="Calibri" pitchFamily="34" charset="-120"/>
              </a:rPr>
              <a:t>자금조달 선택이므로 다시 더함.</a:t>
            </a:r>
            <a:endParaRPr lang="en-US" sz="1250" dirty="0"/>
          </a:p>
        </p:txBody>
      </p:sp>
      <p:sp>
        <p:nvSpPr>
          <p:cNvPr id="18" name="Shape 16"/>
          <p:cNvSpPr/>
          <p:nvPr/>
        </p:nvSpPr>
        <p:spPr>
          <a:xfrm>
            <a:off x="429768" y="4791456"/>
            <a:ext cx="11329416" cy="658368"/>
          </a:xfrm>
          <a:prstGeom prst="rect">
            <a:avLst/>
          </a:prstGeom>
          <a:solidFill>
            <a:srgbClr val="E9F5EE"/>
          </a:solidFill>
          <a:ln w="12700">
            <a:solidFill>
              <a:srgbClr val="1E7A4C"/>
            </a:solidFill>
            <a:prstDash val="solid"/>
          </a:ln>
        </p:spPr>
      </p:sp>
      <p:sp>
        <p:nvSpPr>
          <p:cNvPr id="19" name="Text 17"/>
          <p:cNvSpPr/>
          <p:nvPr/>
        </p:nvSpPr>
        <p:spPr>
          <a:xfrm>
            <a:off x="667512" y="4791456"/>
            <a:ext cx="10853928" cy="65836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Key Insight: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사실상 부채의 세후 비용을 다시 더하는 것 — 부채도 투자수익도 없다면 회사가 보고했을 이익을 보려는 것입니다.</a:t>
            </a:r>
            <a:endParaRPr lang="en-US" sz="1300" dirty="0"/>
          </a:p>
        </p:txBody>
      </p:sp>
      <p:sp>
        <p:nvSpPr>
          <p:cNvPr id="20" name="Shape 18"/>
          <p:cNvSpPr/>
          <p:nvPr/>
        </p:nvSpPr>
        <p:spPr>
          <a:xfrm>
            <a:off x="429768" y="5559552"/>
            <a:ext cx="11329416" cy="457200"/>
          </a:xfrm>
          <a:prstGeom prst="rect">
            <a:avLst/>
          </a:prstGeom>
          <a:solidFill>
            <a:srgbClr val="14306B"/>
          </a:solidFill>
          <a:ln/>
        </p:spPr>
      </p:sp>
      <p:sp>
        <p:nvSpPr>
          <p:cNvPr id="21" name="Text 19"/>
          <p:cNvSpPr/>
          <p:nvPr/>
        </p:nvSpPr>
        <p:spPr>
          <a:xfrm>
            <a:off x="685800" y="5559552"/>
            <a:ext cx="10817352"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NOPAT은 자금조달의 잡음을 제거한, 영업만의 세후 이익입니다.</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Case Study: PepsiCo (2020)</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42</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Objective: 자본구조와 분리해, 핵심 사업의 효율성을 판단합니다.</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EXTRA</a:t>
            </a:r>
            <a:endParaRPr lang="en-US" sz="1050" dirty="0"/>
          </a:p>
        </p:txBody>
      </p:sp>
      <p:sp>
        <p:nvSpPr>
          <p:cNvPr id="10" name="Shape 8"/>
          <p:cNvSpPr/>
          <p:nvPr/>
        </p:nvSpPr>
        <p:spPr>
          <a:xfrm>
            <a:off x="429768" y="2377440"/>
            <a:ext cx="2258568" cy="1737360"/>
          </a:xfrm>
          <a:prstGeom prst="rect">
            <a:avLst/>
          </a:prstGeom>
          <a:solidFill>
            <a:srgbClr val="FFFFFF"/>
          </a:solidFill>
          <a:ln w="12700">
            <a:solidFill>
              <a:srgbClr val="DCE3EE"/>
            </a:solidFill>
            <a:prstDash val="solid"/>
          </a:ln>
        </p:spPr>
      </p:sp>
      <p:sp>
        <p:nvSpPr>
          <p:cNvPr id="11" name="Shape 9"/>
          <p:cNvSpPr/>
          <p:nvPr/>
        </p:nvSpPr>
        <p:spPr>
          <a:xfrm>
            <a:off x="429768" y="2377440"/>
            <a:ext cx="2258568" cy="82296"/>
          </a:xfrm>
          <a:prstGeom prst="rect">
            <a:avLst/>
          </a:prstGeom>
          <a:solidFill>
            <a:srgbClr val="1F4899"/>
          </a:solidFill>
          <a:ln/>
        </p:spPr>
      </p:sp>
      <p:sp>
        <p:nvSpPr>
          <p:cNvPr id="12" name="Text 10"/>
          <p:cNvSpPr/>
          <p:nvPr/>
        </p:nvSpPr>
        <p:spPr>
          <a:xfrm>
            <a:off x="475488" y="2615184"/>
            <a:ext cx="2167128" cy="731520"/>
          </a:xfrm>
          <a:prstGeom prst="rect">
            <a:avLst/>
          </a:prstGeom>
          <a:noFill/>
          <a:ln/>
        </p:spPr>
        <p:txBody>
          <a:bodyPr wrap="square" lIns="0" tIns="0" rIns="0" bIns="0" rtlCol="0" anchor="ctr"/>
          <a:lstStyle/>
          <a:p>
            <a:pPr algn="ctr" indent="0" marL="0">
              <a:buNone/>
            </a:pPr>
            <a:r>
              <a:rPr lang="en-US" sz="2600" b="1" dirty="0">
                <a:solidFill>
                  <a:srgbClr val="1F4899"/>
                </a:solidFill>
                <a:latin typeface="Calibri" pitchFamily="34" charset="0"/>
                <a:ea typeface="Calibri" pitchFamily="34" charset="-122"/>
                <a:cs typeface="Calibri" pitchFamily="34" charset="-120"/>
              </a:rPr>
              <a:t>$7,175M</a:t>
            </a:r>
            <a:endParaRPr lang="en-US" sz="2600" dirty="0"/>
          </a:p>
        </p:txBody>
      </p:sp>
      <p:sp>
        <p:nvSpPr>
          <p:cNvPr id="13" name="Text 11"/>
          <p:cNvSpPr/>
          <p:nvPr/>
        </p:nvSpPr>
        <p:spPr>
          <a:xfrm>
            <a:off x="502920" y="3419856"/>
            <a:ext cx="2112264" cy="603504"/>
          </a:xfrm>
          <a:prstGeom prst="rect">
            <a:avLst/>
          </a:prstGeom>
          <a:noFill/>
          <a:ln/>
        </p:spPr>
        <p:txBody>
          <a:bodyPr wrap="square" lIns="0" tIns="0" rIns="0" bIns="0" rtlCol="0" anchor="t"/>
          <a:lstStyle/>
          <a:p>
            <a:pPr algn="ctr" indent="0" marL="0">
              <a:lnSpc>
                <a:spcPct val="95000"/>
              </a:lnSpc>
              <a:buNone/>
            </a:pPr>
            <a:r>
              <a:rPr lang="en-US" sz="1200" b="1" dirty="0">
                <a:solidFill>
                  <a:srgbClr val="1A1A1A"/>
                </a:solidFill>
                <a:latin typeface="Calibri" pitchFamily="34" charset="0"/>
                <a:ea typeface="Calibri" pitchFamily="34" charset="-122"/>
                <a:cs typeface="Calibri" pitchFamily="34" charset="-120"/>
              </a:rPr>
              <a:t>Net Income</a:t>
            </a:r>
            <a:endParaRPr lang="en-US" sz="1200" dirty="0"/>
          </a:p>
        </p:txBody>
      </p:sp>
      <p:sp>
        <p:nvSpPr>
          <p:cNvPr id="14" name="Shape 12"/>
          <p:cNvSpPr/>
          <p:nvPr/>
        </p:nvSpPr>
        <p:spPr>
          <a:xfrm>
            <a:off x="3310128" y="2377440"/>
            <a:ext cx="2258568" cy="1737360"/>
          </a:xfrm>
          <a:prstGeom prst="rect">
            <a:avLst/>
          </a:prstGeom>
          <a:solidFill>
            <a:srgbClr val="FFFFFF"/>
          </a:solidFill>
          <a:ln w="12700">
            <a:solidFill>
              <a:srgbClr val="DCE3EE"/>
            </a:solidFill>
            <a:prstDash val="solid"/>
          </a:ln>
        </p:spPr>
      </p:sp>
      <p:sp>
        <p:nvSpPr>
          <p:cNvPr id="15" name="Shape 13"/>
          <p:cNvSpPr/>
          <p:nvPr/>
        </p:nvSpPr>
        <p:spPr>
          <a:xfrm>
            <a:off x="3310128" y="2377440"/>
            <a:ext cx="2258568" cy="82296"/>
          </a:xfrm>
          <a:prstGeom prst="rect">
            <a:avLst/>
          </a:prstGeom>
          <a:solidFill>
            <a:srgbClr val="0F6E7A"/>
          </a:solidFill>
          <a:ln/>
        </p:spPr>
      </p:sp>
      <p:sp>
        <p:nvSpPr>
          <p:cNvPr id="16" name="Text 14"/>
          <p:cNvSpPr/>
          <p:nvPr/>
        </p:nvSpPr>
        <p:spPr>
          <a:xfrm>
            <a:off x="3355848" y="2615184"/>
            <a:ext cx="2167128" cy="731520"/>
          </a:xfrm>
          <a:prstGeom prst="rect">
            <a:avLst/>
          </a:prstGeom>
          <a:noFill/>
          <a:ln/>
        </p:spPr>
        <p:txBody>
          <a:bodyPr wrap="square" lIns="0" tIns="0" rIns="0" bIns="0" rtlCol="0" anchor="ctr"/>
          <a:lstStyle/>
          <a:p>
            <a:pPr algn="ctr" indent="0" marL="0">
              <a:buNone/>
            </a:pPr>
            <a:r>
              <a:rPr lang="en-US" sz="2600" b="1" dirty="0">
                <a:solidFill>
                  <a:srgbClr val="0F6E7A"/>
                </a:solidFill>
                <a:latin typeface="Calibri" pitchFamily="34" charset="0"/>
                <a:ea typeface="Calibri" pitchFamily="34" charset="-122"/>
                <a:cs typeface="Calibri" pitchFamily="34" charset="-120"/>
              </a:rPr>
              <a:t>$117M</a:t>
            </a:r>
            <a:endParaRPr lang="en-US" sz="2600" dirty="0"/>
          </a:p>
        </p:txBody>
      </p:sp>
      <p:sp>
        <p:nvSpPr>
          <p:cNvPr id="17" name="Text 15"/>
          <p:cNvSpPr/>
          <p:nvPr/>
        </p:nvSpPr>
        <p:spPr>
          <a:xfrm>
            <a:off x="3383280" y="3419856"/>
            <a:ext cx="2112264" cy="603504"/>
          </a:xfrm>
          <a:prstGeom prst="rect">
            <a:avLst/>
          </a:prstGeom>
          <a:noFill/>
          <a:ln/>
        </p:spPr>
        <p:txBody>
          <a:bodyPr wrap="square" lIns="0" tIns="0" rIns="0" bIns="0" rtlCol="0" anchor="t"/>
          <a:lstStyle/>
          <a:p>
            <a:pPr algn="ctr" indent="0" marL="0">
              <a:lnSpc>
                <a:spcPct val="95000"/>
              </a:lnSpc>
              <a:buNone/>
            </a:pPr>
            <a:r>
              <a:rPr lang="en-US" sz="1200" b="1" dirty="0">
                <a:solidFill>
                  <a:srgbClr val="1A1A1A"/>
                </a:solidFill>
                <a:latin typeface="Calibri" pitchFamily="34" charset="0"/>
                <a:ea typeface="Calibri" pitchFamily="34" charset="-122"/>
                <a:cs typeface="Calibri" pitchFamily="34" charset="-120"/>
              </a:rPr>
              <a:t>Nonoperating Revenues</a:t>
            </a:r>
            <a:endParaRPr lang="en-US" sz="1200" dirty="0"/>
          </a:p>
        </p:txBody>
      </p:sp>
      <p:sp>
        <p:nvSpPr>
          <p:cNvPr id="18" name="Shape 16"/>
          <p:cNvSpPr/>
          <p:nvPr/>
        </p:nvSpPr>
        <p:spPr>
          <a:xfrm>
            <a:off x="6190488" y="2377440"/>
            <a:ext cx="2258568" cy="1737360"/>
          </a:xfrm>
          <a:prstGeom prst="rect">
            <a:avLst/>
          </a:prstGeom>
          <a:solidFill>
            <a:srgbClr val="FFFFFF"/>
          </a:solidFill>
          <a:ln w="12700">
            <a:solidFill>
              <a:srgbClr val="DCE3EE"/>
            </a:solidFill>
            <a:prstDash val="solid"/>
          </a:ln>
        </p:spPr>
      </p:sp>
      <p:sp>
        <p:nvSpPr>
          <p:cNvPr id="19" name="Shape 17"/>
          <p:cNvSpPr/>
          <p:nvPr/>
        </p:nvSpPr>
        <p:spPr>
          <a:xfrm>
            <a:off x="6190488" y="2377440"/>
            <a:ext cx="2258568" cy="82296"/>
          </a:xfrm>
          <a:prstGeom prst="rect">
            <a:avLst/>
          </a:prstGeom>
          <a:solidFill>
            <a:srgbClr val="9A6600"/>
          </a:solidFill>
          <a:ln/>
        </p:spPr>
      </p:sp>
      <p:sp>
        <p:nvSpPr>
          <p:cNvPr id="20" name="Text 18"/>
          <p:cNvSpPr/>
          <p:nvPr/>
        </p:nvSpPr>
        <p:spPr>
          <a:xfrm>
            <a:off x="6236208" y="2615184"/>
            <a:ext cx="2167128" cy="731520"/>
          </a:xfrm>
          <a:prstGeom prst="rect">
            <a:avLst/>
          </a:prstGeom>
          <a:noFill/>
          <a:ln/>
        </p:spPr>
        <p:txBody>
          <a:bodyPr wrap="square" lIns="0" tIns="0" rIns="0" bIns="0" rtlCol="0" anchor="ctr"/>
          <a:lstStyle/>
          <a:p>
            <a:pPr algn="ctr" indent="0" marL="0">
              <a:buNone/>
            </a:pPr>
            <a:r>
              <a:rPr lang="en-US" sz="2600" b="1" dirty="0">
                <a:solidFill>
                  <a:srgbClr val="9A6600"/>
                </a:solidFill>
                <a:latin typeface="Calibri" pitchFamily="34" charset="0"/>
                <a:ea typeface="Calibri" pitchFamily="34" charset="-122"/>
                <a:cs typeface="Calibri" pitchFamily="34" charset="-120"/>
              </a:rPr>
              <a:t>$1,128M</a:t>
            </a:r>
            <a:endParaRPr lang="en-US" sz="2600" dirty="0"/>
          </a:p>
        </p:txBody>
      </p:sp>
      <p:sp>
        <p:nvSpPr>
          <p:cNvPr id="21" name="Text 19"/>
          <p:cNvSpPr/>
          <p:nvPr/>
        </p:nvSpPr>
        <p:spPr>
          <a:xfrm>
            <a:off x="6263640" y="3419856"/>
            <a:ext cx="2112264" cy="603504"/>
          </a:xfrm>
          <a:prstGeom prst="rect">
            <a:avLst/>
          </a:prstGeom>
          <a:noFill/>
          <a:ln/>
        </p:spPr>
        <p:txBody>
          <a:bodyPr wrap="square" lIns="0" tIns="0" rIns="0" bIns="0" rtlCol="0" anchor="t"/>
          <a:lstStyle/>
          <a:p>
            <a:pPr algn="ctr" indent="0" marL="0">
              <a:lnSpc>
                <a:spcPct val="95000"/>
              </a:lnSpc>
              <a:buNone/>
            </a:pPr>
            <a:r>
              <a:rPr lang="en-US" sz="1200" b="1" dirty="0">
                <a:solidFill>
                  <a:srgbClr val="1A1A1A"/>
                </a:solidFill>
                <a:latin typeface="Calibri" pitchFamily="34" charset="0"/>
                <a:ea typeface="Calibri" pitchFamily="34" charset="-122"/>
                <a:cs typeface="Calibri" pitchFamily="34" charset="-120"/>
              </a:rPr>
              <a:t>Nonoperating Expenses</a:t>
            </a:r>
            <a:endParaRPr lang="en-US" sz="1200" dirty="0"/>
          </a:p>
        </p:txBody>
      </p:sp>
      <p:sp>
        <p:nvSpPr>
          <p:cNvPr id="22" name="Shape 20"/>
          <p:cNvSpPr/>
          <p:nvPr/>
        </p:nvSpPr>
        <p:spPr>
          <a:xfrm>
            <a:off x="9070848" y="2377440"/>
            <a:ext cx="2258568" cy="1737360"/>
          </a:xfrm>
          <a:prstGeom prst="rect">
            <a:avLst/>
          </a:prstGeom>
          <a:solidFill>
            <a:srgbClr val="FFFFFF"/>
          </a:solidFill>
          <a:ln w="12700">
            <a:solidFill>
              <a:srgbClr val="DCE3EE"/>
            </a:solidFill>
            <a:prstDash val="solid"/>
          </a:ln>
        </p:spPr>
      </p:sp>
      <p:sp>
        <p:nvSpPr>
          <p:cNvPr id="23" name="Shape 21"/>
          <p:cNvSpPr/>
          <p:nvPr/>
        </p:nvSpPr>
        <p:spPr>
          <a:xfrm>
            <a:off x="9070848" y="2377440"/>
            <a:ext cx="2258568" cy="82296"/>
          </a:xfrm>
          <a:prstGeom prst="rect">
            <a:avLst/>
          </a:prstGeom>
          <a:solidFill>
            <a:srgbClr val="1E7A4C"/>
          </a:solidFill>
          <a:ln/>
        </p:spPr>
      </p:sp>
      <p:sp>
        <p:nvSpPr>
          <p:cNvPr id="24" name="Text 22"/>
          <p:cNvSpPr/>
          <p:nvPr/>
        </p:nvSpPr>
        <p:spPr>
          <a:xfrm>
            <a:off x="9116568" y="2615184"/>
            <a:ext cx="2167128" cy="731520"/>
          </a:xfrm>
          <a:prstGeom prst="rect">
            <a:avLst/>
          </a:prstGeom>
          <a:noFill/>
          <a:ln/>
        </p:spPr>
        <p:txBody>
          <a:bodyPr wrap="square" lIns="0" tIns="0" rIns="0" bIns="0" rtlCol="0" anchor="ctr"/>
          <a:lstStyle/>
          <a:p>
            <a:pPr algn="ctr" indent="0" marL="0">
              <a:buNone/>
            </a:pPr>
            <a:r>
              <a:rPr lang="en-US" sz="2600" b="1" dirty="0">
                <a:solidFill>
                  <a:srgbClr val="1E7A4C"/>
                </a:solidFill>
                <a:latin typeface="Calibri" pitchFamily="34" charset="0"/>
                <a:ea typeface="Calibri" pitchFamily="34" charset="-122"/>
                <a:cs typeface="Calibri" pitchFamily="34" charset="-120"/>
              </a:rPr>
              <a:t>25%</a:t>
            </a:r>
            <a:endParaRPr lang="en-US" sz="2600" dirty="0"/>
          </a:p>
        </p:txBody>
      </p:sp>
      <p:sp>
        <p:nvSpPr>
          <p:cNvPr id="25" name="Text 23"/>
          <p:cNvSpPr/>
          <p:nvPr/>
        </p:nvSpPr>
        <p:spPr>
          <a:xfrm>
            <a:off x="9144000" y="3419856"/>
            <a:ext cx="2112264" cy="603504"/>
          </a:xfrm>
          <a:prstGeom prst="rect">
            <a:avLst/>
          </a:prstGeom>
          <a:noFill/>
          <a:ln/>
        </p:spPr>
        <p:txBody>
          <a:bodyPr wrap="square" lIns="0" tIns="0" rIns="0" bIns="0" rtlCol="0" anchor="t"/>
          <a:lstStyle/>
          <a:p>
            <a:pPr algn="ctr" indent="0" marL="0">
              <a:lnSpc>
                <a:spcPct val="95000"/>
              </a:lnSpc>
              <a:buNone/>
            </a:pPr>
            <a:r>
              <a:rPr lang="en-US" sz="1200" b="1" dirty="0">
                <a:solidFill>
                  <a:srgbClr val="1A1A1A"/>
                </a:solidFill>
                <a:latin typeface="Calibri" pitchFamily="34" charset="0"/>
                <a:ea typeface="Calibri" pitchFamily="34" charset="-122"/>
                <a:cs typeface="Calibri" pitchFamily="34" charset="-120"/>
              </a:rPr>
              <a:t>Tax Rate</a:t>
            </a:r>
            <a:endParaRPr lang="en-US" sz="1200" dirty="0"/>
          </a:p>
        </p:txBody>
      </p:sp>
      <p:sp>
        <p:nvSpPr>
          <p:cNvPr id="26" name="Shape 24"/>
          <p:cNvSpPr/>
          <p:nvPr/>
        </p:nvSpPr>
        <p:spPr>
          <a:xfrm>
            <a:off x="429768" y="4443984"/>
            <a:ext cx="11329416" cy="566928"/>
          </a:xfrm>
          <a:prstGeom prst="rect">
            <a:avLst/>
          </a:prstGeom>
          <a:solidFill>
            <a:srgbClr val="E9F5EE"/>
          </a:solidFill>
          <a:ln w="12700">
            <a:solidFill>
              <a:srgbClr val="1E7A4C"/>
            </a:solidFill>
            <a:prstDash val="solid"/>
          </a:ln>
        </p:spPr>
      </p:sp>
      <p:sp>
        <p:nvSpPr>
          <p:cNvPr id="27" name="Text 25"/>
          <p:cNvSpPr/>
          <p:nvPr/>
        </p:nvSpPr>
        <p:spPr>
          <a:xfrm>
            <a:off x="667512" y="4443984"/>
            <a:ext cx="10853928" cy="56692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Note: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모든 금액은 백만 달러 단위. 25%는 NOPAT 조정에 사용된 유효세율입니다.</a:t>
            </a:r>
            <a:endParaRPr lang="en-US" sz="1300" dirty="0"/>
          </a:p>
        </p:txBody>
      </p:sp>
      <p:sp>
        <p:nvSpPr>
          <p:cNvPr id="28" name="Shape 26"/>
          <p:cNvSpPr/>
          <p:nvPr/>
        </p:nvSpPr>
        <p:spPr>
          <a:xfrm>
            <a:off x="429768" y="5175504"/>
            <a:ext cx="11329416" cy="457200"/>
          </a:xfrm>
          <a:prstGeom prst="rect">
            <a:avLst/>
          </a:prstGeom>
          <a:solidFill>
            <a:srgbClr val="14306B"/>
          </a:solidFill>
          <a:ln/>
        </p:spPr>
      </p:sp>
      <p:sp>
        <p:nvSpPr>
          <p:cNvPr id="29" name="Text 27"/>
          <p:cNvSpPr/>
          <p:nvPr/>
        </p:nvSpPr>
        <p:spPr>
          <a:xfrm>
            <a:off x="685800" y="5175504"/>
            <a:ext cx="10817352"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Why adjust:  Net Income만으로는 자금조달 구조가 섞여 있음 — NOPAT과 NOA가 이를 제거합니다.</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PepsiCo — The NOPAT Adjustment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43</a:t>
            </a:r>
            <a:endParaRPr lang="en-US" sz="1050" dirty="0"/>
          </a:p>
        </p:txBody>
      </p:sp>
      <p:sp>
        <p:nvSpPr>
          <p:cNvPr id="6" name="Shape 4"/>
          <p:cNvSpPr/>
          <p:nvPr/>
        </p:nvSpPr>
        <p:spPr>
          <a:xfrm>
            <a:off x="429768" y="1645920"/>
            <a:ext cx="11329416" cy="841248"/>
          </a:xfrm>
          <a:prstGeom prst="rect">
            <a:avLst/>
          </a:prstGeom>
          <a:solidFill>
            <a:srgbClr val="FFFFFF"/>
          </a:solidFill>
          <a:ln w="12700">
            <a:solidFill>
              <a:srgbClr val="DCE3EE"/>
            </a:solidFill>
            <a:prstDash val="solid"/>
          </a:ln>
        </p:spPr>
      </p:sp>
      <p:sp>
        <p:nvSpPr>
          <p:cNvPr id="7" name="Shape 5"/>
          <p:cNvSpPr/>
          <p:nvPr/>
        </p:nvSpPr>
        <p:spPr>
          <a:xfrm>
            <a:off x="429768" y="1645920"/>
            <a:ext cx="82296" cy="841248"/>
          </a:xfrm>
          <a:prstGeom prst="rect">
            <a:avLst/>
          </a:prstGeom>
          <a:solidFill>
            <a:srgbClr val="1F4899"/>
          </a:solidFill>
          <a:ln/>
        </p:spPr>
      </p:sp>
      <p:sp>
        <p:nvSpPr>
          <p:cNvPr id="8" name="Text 6"/>
          <p:cNvSpPr/>
          <p:nvPr/>
        </p:nvSpPr>
        <p:spPr>
          <a:xfrm>
            <a:off x="722376" y="1645920"/>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Net Income</a:t>
            </a:r>
            <a:endParaRPr lang="en-US" sz="1500" dirty="0"/>
          </a:p>
        </p:txBody>
      </p:sp>
      <p:sp>
        <p:nvSpPr>
          <p:cNvPr id="9" name="Text 7"/>
          <p:cNvSpPr/>
          <p:nvPr/>
        </p:nvSpPr>
        <p:spPr>
          <a:xfrm>
            <a:off x="8503920" y="1645920"/>
            <a:ext cx="3108960" cy="841248"/>
          </a:xfrm>
          <a:prstGeom prst="rect">
            <a:avLst/>
          </a:prstGeom>
          <a:noFill/>
          <a:ln/>
        </p:spPr>
        <p:txBody>
          <a:bodyPr wrap="square" lIns="0" tIns="0" rIns="0" bIns="0" rtlCol="0" anchor="ctr"/>
          <a:lstStyle/>
          <a:p>
            <a:pPr algn="r" indent="0" marL="0">
              <a:buNone/>
            </a:pPr>
            <a:r>
              <a:rPr lang="en-US" sz="2200" b="1" dirty="0">
                <a:solidFill>
                  <a:srgbClr val="1F4899"/>
                </a:solidFill>
                <a:latin typeface="Calibri" pitchFamily="34" charset="0"/>
                <a:ea typeface="Calibri" pitchFamily="34" charset="-122"/>
                <a:cs typeface="Calibri" pitchFamily="34" charset="-120"/>
              </a:rPr>
              <a:t>$7,175.0</a:t>
            </a:r>
            <a:endParaRPr lang="en-US" sz="2200" dirty="0"/>
          </a:p>
        </p:txBody>
      </p:sp>
      <p:sp>
        <p:nvSpPr>
          <p:cNvPr id="10" name="Shape 8"/>
          <p:cNvSpPr/>
          <p:nvPr/>
        </p:nvSpPr>
        <p:spPr>
          <a:xfrm>
            <a:off x="429768" y="2578608"/>
            <a:ext cx="11329416" cy="841248"/>
          </a:xfrm>
          <a:prstGeom prst="rect">
            <a:avLst/>
          </a:prstGeom>
          <a:solidFill>
            <a:srgbClr val="FFFFFF"/>
          </a:solidFill>
          <a:ln w="12700">
            <a:solidFill>
              <a:srgbClr val="DCE3EE"/>
            </a:solidFill>
            <a:prstDash val="solid"/>
          </a:ln>
        </p:spPr>
      </p:sp>
      <p:sp>
        <p:nvSpPr>
          <p:cNvPr id="11" name="Shape 9"/>
          <p:cNvSpPr/>
          <p:nvPr/>
        </p:nvSpPr>
        <p:spPr>
          <a:xfrm>
            <a:off x="429768" y="2578608"/>
            <a:ext cx="82296" cy="841248"/>
          </a:xfrm>
          <a:prstGeom prst="rect">
            <a:avLst/>
          </a:prstGeom>
          <a:solidFill>
            <a:srgbClr val="B3261E"/>
          </a:solidFill>
          <a:ln/>
        </p:spPr>
      </p:sp>
      <p:sp>
        <p:nvSpPr>
          <p:cNvPr id="12" name="Text 10"/>
          <p:cNvSpPr/>
          <p:nvPr/>
        </p:nvSpPr>
        <p:spPr>
          <a:xfrm>
            <a:off x="722376" y="2578608"/>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Less: After-Tax Nonoperating Net</a:t>
            </a:r>
            <a:endParaRPr lang="en-US" sz="1500" dirty="0"/>
          </a:p>
        </p:txBody>
      </p:sp>
      <p:sp>
        <p:nvSpPr>
          <p:cNvPr id="13" name="Text 11"/>
          <p:cNvSpPr/>
          <p:nvPr/>
        </p:nvSpPr>
        <p:spPr>
          <a:xfrm>
            <a:off x="8503920" y="2578608"/>
            <a:ext cx="3108960" cy="841248"/>
          </a:xfrm>
          <a:prstGeom prst="rect">
            <a:avLst/>
          </a:prstGeom>
          <a:noFill/>
          <a:ln/>
        </p:spPr>
        <p:txBody>
          <a:bodyPr wrap="square" lIns="0" tIns="0" rIns="0" bIns="0" rtlCol="0" anchor="ctr"/>
          <a:lstStyle/>
          <a:p>
            <a:pPr algn="r" indent="0" marL="0">
              <a:buNone/>
            </a:pPr>
            <a:r>
              <a:rPr lang="en-US" sz="2200" b="1" dirty="0">
                <a:solidFill>
                  <a:srgbClr val="B3261E"/>
                </a:solidFill>
                <a:latin typeface="Calibri" pitchFamily="34" charset="0"/>
                <a:ea typeface="Calibri" pitchFamily="34" charset="-122"/>
                <a:cs typeface="Calibri" pitchFamily="34" charset="-120"/>
              </a:rPr>
              <a:t>−$758.3</a:t>
            </a:r>
            <a:endParaRPr lang="en-US" sz="2200" dirty="0"/>
          </a:p>
        </p:txBody>
      </p:sp>
      <p:sp>
        <p:nvSpPr>
          <p:cNvPr id="14" name="Shape 12"/>
          <p:cNvSpPr/>
          <p:nvPr/>
        </p:nvSpPr>
        <p:spPr>
          <a:xfrm>
            <a:off x="429768" y="3511296"/>
            <a:ext cx="11329416" cy="841248"/>
          </a:xfrm>
          <a:prstGeom prst="rect">
            <a:avLst/>
          </a:prstGeom>
          <a:solidFill>
            <a:srgbClr val="FFFFFF"/>
          </a:solidFill>
          <a:ln w="12700">
            <a:solidFill>
              <a:srgbClr val="DCE3EE"/>
            </a:solidFill>
            <a:prstDash val="solid"/>
          </a:ln>
        </p:spPr>
      </p:sp>
      <p:sp>
        <p:nvSpPr>
          <p:cNvPr id="15" name="Shape 13"/>
          <p:cNvSpPr/>
          <p:nvPr/>
        </p:nvSpPr>
        <p:spPr>
          <a:xfrm>
            <a:off x="429768" y="3511296"/>
            <a:ext cx="82296" cy="841248"/>
          </a:xfrm>
          <a:prstGeom prst="rect">
            <a:avLst/>
          </a:prstGeom>
          <a:solidFill>
            <a:srgbClr val="1E7A4C"/>
          </a:solidFill>
          <a:ln/>
        </p:spPr>
      </p:sp>
      <p:sp>
        <p:nvSpPr>
          <p:cNvPr id="16" name="Text 14"/>
          <p:cNvSpPr/>
          <p:nvPr/>
        </p:nvSpPr>
        <p:spPr>
          <a:xfrm>
            <a:off x="722376" y="3511296"/>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NOPAT</a:t>
            </a:r>
            <a:endParaRPr lang="en-US" sz="1500" dirty="0"/>
          </a:p>
        </p:txBody>
      </p:sp>
      <p:sp>
        <p:nvSpPr>
          <p:cNvPr id="17" name="Text 15"/>
          <p:cNvSpPr/>
          <p:nvPr/>
        </p:nvSpPr>
        <p:spPr>
          <a:xfrm>
            <a:off x="8503920" y="3511296"/>
            <a:ext cx="3108960" cy="841248"/>
          </a:xfrm>
          <a:prstGeom prst="rect">
            <a:avLst/>
          </a:prstGeom>
          <a:noFill/>
          <a:ln/>
        </p:spPr>
        <p:txBody>
          <a:bodyPr wrap="square" lIns="0" tIns="0" rIns="0" bIns="0" rtlCol="0" anchor="ctr"/>
          <a:lstStyle/>
          <a:p>
            <a:pPr algn="r" indent="0" marL="0">
              <a:buNone/>
            </a:pPr>
            <a:r>
              <a:rPr lang="en-US" sz="2200" b="1" dirty="0">
                <a:solidFill>
                  <a:srgbClr val="1E7A4C"/>
                </a:solidFill>
                <a:latin typeface="Calibri" pitchFamily="34" charset="0"/>
                <a:ea typeface="Calibri" pitchFamily="34" charset="-122"/>
                <a:cs typeface="Calibri" pitchFamily="34" charset="-120"/>
              </a:rPr>
              <a:t>$7,933.3</a:t>
            </a:r>
            <a:endParaRPr lang="en-US" sz="2200" dirty="0"/>
          </a:p>
        </p:txBody>
      </p:sp>
      <p:sp>
        <p:nvSpPr>
          <p:cNvPr id="18" name="Shape 16"/>
          <p:cNvSpPr/>
          <p:nvPr/>
        </p:nvSpPr>
        <p:spPr>
          <a:xfrm>
            <a:off x="429768" y="4462272"/>
            <a:ext cx="11329416" cy="548640"/>
          </a:xfrm>
          <a:prstGeom prst="rect">
            <a:avLst/>
          </a:prstGeom>
          <a:solidFill>
            <a:srgbClr val="14306B"/>
          </a:solidFill>
          <a:ln/>
        </p:spPr>
      </p:sp>
      <p:sp>
        <p:nvSpPr>
          <p:cNvPr id="19" name="Text 17"/>
          <p:cNvSpPr/>
          <p:nvPr/>
        </p:nvSpPr>
        <p:spPr>
          <a:xfrm>
            <a:off x="429768" y="4462272"/>
            <a:ext cx="11329416"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Light" pitchFamily="34" charset="0"/>
                <a:ea typeface="Calibri Light" pitchFamily="34" charset="-122"/>
                <a:cs typeface="Calibri Light" pitchFamily="34" charset="-120"/>
              </a:rPr>
              <a:t>($117 − $1,128) × (1 − 0.25) = −$758.3     →     $7,175.0 − (−$758.3) = $7,933.3</a:t>
            </a:r>
            <a:endParaRPr lang="en-US" sz="1400" dirty="0"/>
          </a:p>
        </p:txBody>
      </p:sp>
      <p:sp>
        <p:nvSpPr>
          <p:cNvPr id="20" name="Shape 18"/>
          <p:cNvSpPr/>
          <p:nvPr/>
        </p:nvSpPr>
        <p:spPr>
          <a:xfrm>
            <a:off x="429768" y="5120640"/>
            <a:ext cx="11329416" cy="658368"/>
          </a:xfrm>
          <a:prstGeom prst="rect">
            <a:avLst/>
          </a:prstGeom>
          <a:solidFill>
            <a:srgbClr val="E9F5EE"/>
          </a:solidFill>
          <a:ln w="12700">
            <a:solidFill>
              <a:srgbClr val="1E7A4C"/>
            </a:solidFill>
            <a:prstDash val="solid"/>
          </a:ln>
        </p:spPr>
      </p:sp>
      <p:sp>
        <p:nvSpPr>
          <p:cNvPr id="21" name="Text 19"/>
          <p:cNvSpPr/>
          <p:nvPr/>
        </p:nvSpPr>
        <p:spPr>
          <a:xfrm>
            <a:off x="667512" y="5120640"/>
            <a:ext cx="10853928" cy="65836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Observation: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NOPAT이 Net Income보다 큽니다. 이자 지급이라는 “drag”를 제거하면 모든 자본 제공자에게 귀속되는 영업의 진정한 수익력이 드러납니다.</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Denominator — Capital at Work (NOA)</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44</a:t>
            </a:r>
            <a:endParaRPr lang="en-US" sz="1050" dirty="0"/>
          </a:p>
        </p:txBody>
      </p:sp>
      <p:sp>
        <p:nvSpPr>
          <p:cNvPr id="6" name="Shape 4"/>
          <p:cNvSpPr/>
          <p:nvPr/>
        </p:nvSpPr>
        <p:spPr>
          <a:xfrm>
            <a:off x="429768" y="1444752"/>
            <a:ext cx="64008" cy="420624"/>
          </a:xfrm>
          <a:prstGeom prst="rect">
            <a:avLst/>
          </a:prstGeom>
          <a:solidFill>
            <a:srgbClr val="1F4899"/>
          </a:solidFill>
          <a:ln/>
        </p:spPr>
      </p:sp>
      <p:sp>
        <p:nvSpPr>
          <p:cNvPr id="7" name="Shape 5"/>
          <p:cNvSpPr/>
          <p:nvPr/>
        </p:nvSpPr>
        <p:spPr>
          <a:xfrm>
            <a:off x="493776" y="1444752"/>
            <a:ext cx="11265408" cy="420624"/>
          </a:xfrm>
          <a:prstGeom prst="rect">
            <a:avLst/>
          </a:prstGeom>
          <a:solidFill>
            <a:srgbClr val="EAF0FB"/>
          </a:solidFill>
          <a:ln/>
        </p:spPr>
      </p:sp>
      <p:sp>
        <p:nvSpPr>
          <p:cNvPr id="8" name="Text 6"/>
          <p:cNvSpPr/>
          <p:nvPr/>
        </p:nvSpPr>
        <p:spPr>
          <a:xfrm>
            <a:off x="649224" y="1444752"/>
            <a:ext cx="10917936" cy="420624"/>
          </a:xfrm>
          <a:prstGeom prst="rect">
            <a:avLst/>
          </a:prstGeom>
          <a:noFill/>
          <a:ln/>
        </p:spPr>
        <p:txBody>
          <a:bodyPr wrap="square" lIns="0" tIns="0" rIns="0" bIns="0" rtlCol="0" anchor="ctr"/>
          <a:lstStyle/>
          <a:p>
            <a:pPr indent="0" marL="0">
              <a:buNone/>
            </a:pPr>
            <a:r>
              <a:rPr lang="en-US" sz="1450" b="1" dirty="0">
                <a:solidFill>
                  <a:srgbClr val="1F4899"/>
                </a:solidFill>
                <a:latin typeface="Calibri" pitchFamily="34" charset="0"/>
                <a:ea typeface="Calibri" pitchFamily="34" charset="-122"/>
                <a:cs typeface="Calibri" pitchFamily="34" charset="-120"/>
              </a:rPr>
              <a:t>Balance sheet를 나눠 봅니다 — 실제로 사업을 굴리는 항목은 무엇인가?</a:t>
            </a:r>
            <a:endParaRPr lang="en-US" sz="1450" dirty="0"/>
          </a:p>
        </p:txBody>
      </p:sp>
      <p:sp>
        <p:nvSpPr>
          <p:cNvPr id="9" name="Text 7"/>
          <p:cNvSpPr/>
          <p:nvPr/>
        </p:nvSpPr>
        <p:spPr>
          <a:xfrm>
            <a:off x="429768" y="1133856"/>
            <a:ext cx="5486400" cy="256032"/>
          </a:xfrm>
          <a:prstGeom prst="rect">
            <a:avLst/>
          </a:prstGeom>
          <a:noFill/>
          <a:ln/>
        </p:spPr>
        <p:txBody>
          <a:bodyPr wrap="square" lIns="0" tIns="0" rIns="0" bIns="0" rtlCol="0" anchor="ctr"/>
          <a:lstStyle/>
          <a:p>
            <a:pPr indent="0" marL="0">
              <a:buNone/>
            </a:pPr>
            <a:r>
              <a:rPr lang="en-US" sz="1050" b="1" spc="120" kern="0" dirty="0">
                <a:solidFill>
                  <a:srgbClr val="5A6474"/>
                </a:solidFill>
                <a:latin typeface="Calibri" pitchFamily="34" charset="0"/>
                <a:ea typeface="Calibri" pitchFamily="34" charset="-122"/>
                <a:cs typeface="Calibri" pitchFamily="34" charset="-120"/>
              </a:rPr>
              <a:t>EXTRA</a:t>
            </a:r>
            <a:endParaRPr lang="en-US" sz="1050" dirty="0"/>
          </a:p>
        </p:txBody>
      </p:sp>
      <p:sp>
        <p:nvSpPr>
          <p:cNvPr id="10" name="Shape 8"/>
          <p:cNvSpPr/>
          <p:nvPr/>
        </p:nvSpPr>
        <p:spPr>
          <a:xfrm>
            <a:off x="429768" y="2286000"/>
            <a:ext cx="5486400" cy="1298448"/>
          </a:xfrm>
          <a:prstGeom prst="rect">
            <a:avLst/>
          </a:prstGeom>
          <a:solidFill>
            <a:srgbClr val="FFFFFF"/>
          </a:solidFill>
          <a:ln w="12700">
            <a:solidFill>
              <a:srgbClr val="DCE3EE"/>
            </a:solidFill>
            <a:prstDash val="solid"/>
          </a:ln>
        </p:spPr>
      </p:sp>
      <p:sp>
        <p:nvSpPr>
          <p:cNvPr id="11" name="Shape 9"/>
          <p:cNvSpPr/>
          <p:nvPr/>
        </p:nvSpPr>
        <p:spPr>
          <a:xfrm>
            <a:off x="429768" y="2286000"/>
            <a:ext cx="82296" cy="1298448"/>
          </a:xfrm>
          <a:prstGeom prst="rect">
            <a:avLst/>
          </a:prstGeom>
          <a:solidFill>
            <a:srgbClr val="1E7A4C"/>
          </a:solidFill>
          <a:ln/>
        </p:spPr>
      </p:sp>
      <p:sp>
        <p:nvSpPr>
          <p:cNvPr id="12" name="Text 10"/>
          <p:cNvSpPr/>
          <p:nvPr/>
        </p:nvSpPr>
        <p:spPr>
          <a:xfrm>
            <a:off x="685800" y="2395728"/>
            <a:ext cx="5029200" cy="329184"/>
          </a:xfrm>
          <a:prstGeom prst="rect">
            <a:avLst/>
          </a:prstGeom>
          <a:noFill/>
          <a:ln/>
        </p:spPr>
        <p:txBody>
          <a:bodyPr wrap="square" lIns="0" tIns="0" rIns="0" bIns="0" rtlCol="0" anchor="ctr"/>
          <a:lstStyle/>
          <a:p>
            <a:pPr indent="0" marL="0">
              <a:buNone/>
            </a:pPr>
            <a:r>
              <a:rPr lang="en-US" sz="1400" b="1" dirty="0">
                <a:solidFill>
                  <a:srgbClr val="1E7A4C"/>
                </a:solidFill>
                <a:latin typeface="Calibri" pitchFamily="34" charset="0"/>
                <a:ea typeface="Calibri" pitchFamily="34" charset="-122"/>
                <a:cs typeface="Calibri" pitchFamily="34" charset="-120"/>
              </a:rPr>
              <a:t>Operating Assets</a:t>
            </a:r>
            <a:endParaRPr lang="en-US" sz="1400" dirty="0"/>
          </a:p>
        </p:txBody>
      </p:sp>
      <p:sp>
        <p:nvSpPr>
          <p:cNvPr id="13" name="Text 11"/>
          <p:cNvSpPr/>
          <p:nvPr/>
        </p:nvSpPr>
        <p:spPr>
          <a:xfrm>
            <a:off x="685800" y="2761488"/>
            <a:ext cx="5029200" cy="731520"/>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Cash · Receivables · Inventory</a:t>
            </a:r>
            <a:endParaRPr lang="en-US" sz="1200" dirty="0"/>
          </a:p>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PP&amp;E · Intangibles.</a:t>
            </a:r>
            <a:endParaRPr lang="en-US" sz="1200" dirty="0"/>
          </a:p>
        </p:txBody>
      </p:sp>
      <p:sp>
        <p:nvSpPr>
          <p:cNvPr id="14" name="Shape 12"/>
          <p:cNvSpPr/>
          <p:nvPr/>
        </p:nvSpPr>
        <p:spPr>
          <a:xfrm>
            <a:off x="6272784" y="2286000"/>
            <a:ext cx="5486400" cy="1298448"/>
          </a:xfrm>
          <a:prstGeom prst="rect">
            <a:avLst/>
          </a:prstGeom>
          <a:solidFill>
            <a:srgbClr val="FFFFFF"/>
          </a:solidFill>
          <a:ln w="12700">
            <a:solidFill>
              <a:srgbClr val="DCE3EE"/>
            </a:solidFill>
            <a:prstDash val="solid"/>
          </a:ln>
        </p:spPr>
      </p:sp>
      <p:sp>
        <p:nvSpPr>
          <p:cNvPr id="15" name="Shape 13"/>
          <p:cNvSpPr/>
          <p:nvPr/>
        </p:nvSpPr>
        <p:spPr>
          <a:xfrm>
            <a:off x="6272784" y="2286000"/>
            <a:ext cx="82296" cy="1298448"/>
          </a:xfrm>
          <a:prstGeom prst="rect">
            <a:avLst/>
          </a:prstGeom>
          <a:solidFill>
            <a:srgbClr val="0F6E7A"/>
          </a:solidFill>
          <a:ln/>
        </p:spPr>
      </p:sp>
      <p:sp>
        <p:nvSpPr>
          <p:cNvPr id="16" name="Text 14"/>
          <p:cNvSpPr/>
          <p:nvPr/>
        </p:nvSpPr>
        <p:spPr>
          <a:xfrm>
            <a:off x="6528816" y="2395728"/>
            <a:ext cx="5029200" cy="329184"/>
          </a:xfrm>
          <a:prstGeom prst="rect">
            <a:avLst/>
          </a:prstGeom>
          <a:noFill/>
          <a:ln/>
        </p:spPr>
        <p:txBody>
          <a:bodyPr wrap="square" lIns="0" tIns="0" rIns="0" bIns="0" rtlCol="0" anchor="ctr"/>
          <a:lstStyle/>
          <a:p>
            <a:pPr indent="0" marL="0">
              <a:buNone/>
            </a:pPr>
            <a:r>
              <a:rPr lang="en-US" sz="1400" b="1" dirty="0">
                <a:solidFill>
                  <a:srgbClr val="0F6E7A"/>
                </a:solidFill>
                <a:latin typeface="Calibri" pitchFamily="34" charset="0"/>
                <a:ea typeface="Calibri" pitchFamily="34" charset="-122"/>
                <a:cs typeface="Calibri" pitchFamily="34" charset="-120"/>
              </a:rPr>
              <a:t>Operating Liabilities</a:t>
            </a:r>
            <a:endParaRPr lang="en-US" sz="1400" dirty="0"/>
          </a:p>
        </p:txBody>
      </p:sp>
      <p:sp>
        <p:nvSpPr>
          <p:cNvPr id="17" name="Text 15"/>
          <p:cNvSpPr/>
          <p:nvPr/>
        </p:nvSpPr>
        <p:spPr>
          <a:xfrm>
            <a:off x="6528816" y="2761488"/>
            <a:ext cx="5029200" cy="731520"/>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Accounts Payable · Accrued Exp.</a:t>
            </a:r>
            <a:endParaRPr lang="en-US" sz="1200" dirty="0"/>
          </a:p>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Employee Benefits.</a:t>
            </a:r>
            <a:endParaRPr lang="en-US" sz="1200" dirty="0"/>
          </a:p>
        </p:txBody>
      </p:sp>
      <p:sp>
        <p:nvSpPr>
          <p:cNvPr id="18" name="Shape 16"/>
          <p:cNvSpPr/>
          <p:nvPr/>
        </p:nvSpPr>
        <p:spPr>
          <a:xfrm>
            <a:off x="429768" y="3712464"/>
            <a:ext cx="5486400" cy="1298448"/>
          </a:xfrm>
          <a:prstGeom prst="rect">
            <a:avLst/>
          </a:prstGeom>
          <a:solidFill>
            <a:srgbClr val="FFFFFF"/>
          </a:solidFill>
          <a:ln w="12700">
            <a:solidFill>
              <a:srgbClr val="DCE3EE"/>
            </a:solidFill>
            <a:prstDash val="solid"/>
          </a:ln>
        </p:spPr>
      </p:sp>
      <p:sp>
        <p:nvSpPr>
          <p:cNvPr id="19" name="Shape 17"/>
          <p:cNvSpPr/>
          <p:nvPr/>
        </p:nvSpPr>
        <p:spPr>
          <a:xfrm>
            <a:off x="429768" y="3712464"/>
            <a:ext cx="82296" cy="1298448"/>
          </a:xfrm>
          <a:prstGeom prst="rect">
            <a:avLst/>
          </a:prstGeom>
          <a:solidFill>
            <a:srgbClr val="5A6474"/>
          </a:solidFill>
          <a:ln/>
        </p:spPr>
      </p:sp>
      <p:sp>
        <p:nvSpPr>
          <p:cNvPr id="20" name="Text 18"/>
          <p:cNvSpPr/>
          <p:nvPr/>
        </p:nvSpPr>
        <p:spPr>
          <a:xfrm>
            <a:off x="685800" y="3822192"/>
            <a:ext cx="5029200" cy="329184"/>
          </a:xfrm>
          <a:prstGeom prst="rect">
            <a:avLst/>
          </a:prstGeom>
          <a:noFill/>
          <a:ln/>
        </p:spPr>
        <p:txBody>
          <a:bodyPr wrap="square" lIns="0" tIns="0" rIns="0" bIns="0" rtlCol="0" anchor="ctr"/>
          <a:lstStyle/>
          <a:p>
            <a:pPr indent="0" marL="0">
              <a:buNone/>
            </a:pPr>
            <a:r>
              <a:rPr lang="en-US" sz="1400" b="1" dirty="0">
                <a:solidFill>
                  <a:srgbClr val="5A6474"/>
                </a:solidFill>
                <a:latin typeface="Calibri" pitchFamily="34" charset="0"/>
                <a:ea typeface="Calibri" pitchFamily="34" charset="-122"/>
                <a:cs typeface="Calibri" pitchFamily="34" charset="-120"/>
              </a:rPr>
              <a:t>Nonoperating Assets</a:t>
            </a:r>
            <a:endParaRPr lang="en-US" sz="1400" dirty="0"/>
          </a:p>
        </p:txBody>
      </p:sp>
      <p:sp>
        <p:nvSpPr>
          <p:cNvPr id="21" name="Text 19"/>
          <p:cNvSpPr/>
          <p:nvPr/>
        </p:nvSpPr>
        <p:spPr>
          <a:xfrm>
            <a:off x="685800" y="4187952"/>
            <a:ext cx="5029200" cy="731520"/>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관계기업 투자와</a:t>
            </a:r>
            <a:endParaRPr lang="en-US" sz="1200" dirty="0"/>
          </a:p>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시장성 유가증권.</a:t>
            </a:r>
            <a:endParaRPr lang="en-US" sz="1200" dirty="0"/>
          </a:p>
        </p:txBody>
      </p:sp>
      <p:sp>
        <p:nvSpPr>
          <p:cNvPr id="22" name="Shape 20"/>
          <p:cNvSpPr/>
          <p:nvPr/>
        </p:nvSpPr>
        <p:spPr>
          <a:xfrm>
            <a:off x="6272784" y="3712464"/>
            <a:ext cx="5486400" cy="1298448"/>
          </a:xfrm>
          <a:prstGeom prst="rect">
            <a:avLst/>
          </a:prstGeom>
          <a:solidFill>
            <a:srgbClr val="FFFFFF"/>
          </a:solidFill>
          <a:ln w="12700">
            <a:solidFill>
              <a:srgbClr val="DCE3EE"/>
            </a:solidFill>
            <a:prstDash val="solid"/>
          </a:ln>
        </p:spPr>
      </p:sp>
      <p:sp>
        <p:nvSpPr>
          <p:cNvPr id="23" name="Shape 21"/>
          <p:cNvSpPr/>
          <p:nvPr/>
        </p:nvSpPr>
        <p:spPr>
          <a:xfrm>
            <a:off x="6272784" y="3712464"/>
            <a:ext cx="82296" cy="1298448"/>
          </a:xfrm>
          <a:prstGeom prst="rect">
            <a:avLst/>
          </a:prstGeom>
          <a:solidFill>
            <a:srgbClr val="9A6600"/>
          </a:solidFill>
          <a:ln/>
        </p:spPr>
      </p:sp>
      <p:sp>
        <p:nvSpPr>
          <p:cNvPr id="24" name="Text 22"/>
          <p:cNvSpPr/>
          <p:nvPr/>
        </p:nvSpPr>
        <p:spPr>
          <a:xfrm>
            <a:off x="6528816" y="3822192"/>
            <a:ext cx="5029200" cy="329184"/>
          </a:xfrm>
          <a:prstGeom prst="rect">
            <a:avLst/>
          </a:prstGeom>
          <a:noFill/>
          <a:ln/>
        </p:spPr>
        <p:txBody>
          <a:bodyPr wrap="square" lIns="0" tIns="0" rIns="0" bIns="0" rtlCol="0" anchor="ctr"/>
          <a:lstStyle/>
          <a:p>
            <a:pPr indent="0" marL="0">
              <a:buNone/>
            </a:pPr>
            <a:r>
              <a:rPr lang="en-US" sz="1400" b="1" dirty="0">
                <a:solidFill>
                  <a:srgbClr val="9A6600"/>
                </a:solidFill>
                <a:latin typeface="Calibri" pitchFamily="34" charset="0"/>
                <a:ea typeface="Calibri" pitchFamily="34" charset="-122"/>
                <a:cs typeface="Calibri" pitchFamily="34" charset="-120"/>
              </a:rPr>
              <a:t>Nonoperating Liab. &amp; Equity</a:t>
            </a:r>
            <a:endParaRPr lang="en-US" sz="1400" dirty="0"/>
          </a:p>
        </p:txBody>
      </p:sp>
      <p:sp>
        <p:nvSpPr>
          <p:cNvPr id="25" name="Text 23"/>
          <p:cNvSpPr/>
          <p:nvPr/>
        </p:nvSpPr>
        <p:spPr>
          <a:xfrm>
            <a:off x="6528816" y="4187952"/>
            <a:ext cx="5029200" cy="731520"/>
          </a:xfrm>
          <a:prstGeom prst="rect">
            <a:avLst/>
          </a:prstGeom>
          <a:noFill/>
          <a:ln/>
        </p:spPr>
        <p:txBody>
          <a:bodyPr wrap="square" lIns="0" tIns="0" rIns="0" bIns="0" rtlCol="0" anchor="ctr"/>
          <a:lstStyle/>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Debt와 이자부 부채.</a:t>
            </a:r>
            <a:endParaRPr lang="en-US" sz="1200" dirty="0"/>
          </a:p>
          <a:p>
            <a:pPr indent="0" marL="0">
              <a:lnSpc>
                <a:spcPct val="100000"/>
              </a:lnSpc>
              <a:buNone/>
            </a:pPr>
            <a:r>
              <a:rPr lang="en-US" sz="1200" dirty="0">
                <a:solidFill>
                  <a:srgbClr val="1A1A1A"/>
                </a:solidFill>
                <a:latin typeface="Calibri" pitchFamily="34" charset="0"/>
                <a:ea typeface="Calibri" pitchFamily="34" charset="-122"/>
                <a:cs typeface="Calibri" pitchFamily="34" charset="-120"/>
              </a:rPr>
              <a:t>Equity.</a:t>
            </a:r>
            <a:endParaRPr lang="en-US" sz="1200" dirty="0"/>
          </a:p>
        </p:txBody>
      </p:sp>
      <p:sp>
        <p:nvSpPr>
          <p:cNvPr id="26" name="Shape 24"/>
          <p:cNvSpPr/>
          <p:nvPr/>
        </p:nvSpPr>
        <p:spPr>
          <a:xfrm>
            <a:off x="429768" y="5175504"/>
            <a:ext cx="11329416" cy="548640"/>
          </a:xfrm>
          <a:prstGeom prst="rect">
            <a:avLst/>
          </a:prstGeom>
          <a:solidFill>
            <a:srgbClr val="14306B"/>
          </a:solidFill>
          <a:ln/>
        </p:spPr>
      </p:sp>
      <p:sp>
        <p:nvSpPr>
          <p:cNvPr id="27" name="Text 25"/>
          <p:cNvSpPr/>
          <p:nvPr/>
        </p:nvSpPr>
        <p:spPr>
          <a:xfrm>
            <a:off x="429768" y="5175504"/>
            <a:ext cx="11329416"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Light" pitchFamily="34" charset="0"/>
                <a:ea typeface="Calibri Light" pitchFamily="34" charset="-122"/>
                <a:cs typeface="Calibri Light" pitchFamily="34" charset="-120"/>
              </a:rPr>
              <a:t>NOA   =   Operating Assets   −   Operating Liabilities</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PepsiCo — Isolating Operating Capital</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45</a:t>
            </a:r>
            <a:endParaRPr lang="en-US" sz="1050" dirty="0"/>
          </a:p>
        </p:txBody>
      </p:sp>
      <p:sp>
        <p:nvSpPr>
          <p:cNvPr id="6" name="Shape 4"/>
          <p:cNvSpPr/>
          <p:nvPr/>
        </p:nvSpPr>
        <p:spPr>
          <a:xfrm>
            <a:off x="429768" y="1645920"/>
            <a:ext cx="11329416" cy="841248"/>
          </a:xfrm>
          <a:prstGeom prst="rect">
            <a:avLst/>
          </a:prstGeom>
          <a:solidFill>
            <a:srgbClr val="FFFFFF"/>
          </a:solidFill>
          <a:ln w="12700">
            <a:solidFill>
              <a:srgbClr val="DCE3EE"/>
            </a:solidFill>
            <a:prstDash val="solid"/>
          </a:ln>
        </p:spPr>
      </p:sp>
      <p:sp>
        <p:nvSpPr>
          <p:cNvPr id="7" name="Shape 5"/>
          <p:cNvSpPr/>
          <p:nvPr/>
        </p:nvSpPr>
        <p:spPr>
          <a:xfrm>
            <a:off x="429768" y="1645920"/>
            <a:ext cx="82296" cy="841248"/>
          </a:xfrm>
          <a:prstGeom prst="rect">
            <a:avLst/>
          </a:prstGeom>
          <a:solidFill>
            <a:srgbClr val="1F4899"/>
          </a:solidFill>
          <a:ln/>
        </p:spPr>
      </p:sp>
      <p:sp>
        <p:nvSpPr>
          <p:cNvPr id="8" name="Text 6"/>
          <p:cNvSpPr/>
          <p:nvPr/>
        </p:nvSpPr>
        <p:spPr>
          <a:xfrm>
            <a:off x="722376" y="1645920"/>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Total Operating Assets</a:t>
            </a:r>
            <a:endParaRPr lang="en-US" sz="1500" dirty="0"/>
          </a:p>
        </p:txBody>
      </p:sp>
      <p:sp>
        <p:nvSpPr>
          <p:cNvPr id="9" name="Text 7"/>
          <p:cNvSpPr/>
          <p:nvPr/>
        </p:nvSpPr>
        <p:spPr>
          <a:xfrm>
            <a:off x="8503920" y="1645920"/>
            <a:ext cx="3108960" cy="841248"/>
          </a:xfrm>
          <a:prstGeom prst="rect">
            <a:avLst/>
          </a:prstGeom>
          <a:noFill/>
          <a:ln/>
        </p:spPr>
        <p:txBody>
          <a:bodyPr wrap="square" lIns="0" tIns="0" rIns="0" bIns="0" rtlCol="0" anchor="ctr"/>
          <a:lstStyle/>
          <a:p>
            <a:pPr algn="r" indent="0" marL="0">
              <a:buNone/>
            </a:pPr>
            <a:r>
              <a:rPr lang="en-US" sz="2200" b="1" dirty="0">
                <a:solidFill>
                  <a:srgbClr val="1F4899"/>
                </a:solidFill>
                <a:latin typeface="Calibri" pitchFamily="34" charset="0"/>
                <a:ea typeface="Calibri" pitchFamily="34" charset="-122"/>
                <a:cs typeface="Calibri" pitchFamily="34" charset="-120"/>
              </a:rPr>
              <a:t>$91,059</a:t>
            </a:r>
            <a:endParaRPr lang="en-US" sz="2200" dirty="0"/>
          </a:p>
        </p:txBody>
      </p:sp>
      <p:sp>
        <p:nvSpPr>
          <p:cNvPr id="10" name="Shape 8"/>
          <p:cNvSpPr/>
          <p:nvPr/>
        </p:nvSpPr>
        <p:spPr>
          <a:xfrm>
            <a:off x="429768" y="2578608"/>
            <a:ext cx="11329416" cy="841248"/>
          </a:xfrm>
          <a:prstGeom prst="rect">
            <a:avLst/>
          </a:prstGeom>
          <a:solidFill>
            <a:srgbClr val="FFFFFF"/>
          </a:solidFill>
          <a:ln w="12700">
            <a:solidFill>
              <a:srgbClr val="DCE3EE"/>
            </a:solidFill>
            <a:prstDash val="solid"/>
          </a:ln>
        </p:spPr>
      </p:sp>
      <p:sp>
        <p:nvSpPr>
          <p:cNvPr id="11" name="Shape 9"/>
          <p:cNvSpPr/>
          <p:nvPr/>
        </p:nvSpPr>
        <p:spPr>
          <a:xfrm>
            <a:off x="429768" y="2578608"/>
            <a:ext cx="82296" cy="841248"/>
          </a:xfrm>
          <a:prstGeom prst="rect">
            <a:avLst/>
          </a:prstGeom>
          <a:solidFill>
            <a:srgbClr val="B3261E"/>
          </a:solidFill>
          <a:ln/>
        </p:spPr>
      </p:sp>
      <p:sp>
        <p:nvSpPr>
          <p:cNvPr id="12" name="Text 10"/>
          <p:cNvSpPr/>
          <p:nvPr/>
        </p:nvSpPr>
        <p:spPr>
          <a:xfrm>
            <a:off x="722376" y="2578608"/>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Minus Operating Liabilities</a:t>
            </a:r>
            <a:endParaRPr lang="en-US" sz="1500" dirty="0"/>
          </a:p>
        </p:txBody>
      </p:sp>
      <p:sp>
        <p:nvSpPr>
          <p:cNvPr id="13" name="Text 11"/>
          <p:cNvSpPr/>
          <p:nvPr/>
        </p:nvSpPr>
        <p:spPr>
          <a:xfrm>
            <a:off x="8503920" y="2578608"/>
            <a:ext cx="3108960" cy="841248"/>
          </a:xfrm>
          <a:prstGeom prst="rect">
            <a:avLst/>
          </a:prstGeom>
          <a:noFill/>
          <a:ln/>
        </p:spPr>
        <p:txBody>
          <a:bodyPr wrap="square" lIns="0" tIns="0" rIns="0" bIns="0" rtlCol="0" anchor="ctr"/>
          <a:lstStyle/>
          <a:p>
            <a:pPr algn="r" indent="0" marL="0">
              <a:buNone/>
            </a:pPr>
            <a:r>
              <a:rPr lang="en-US" sz="2200" b="1" dirty="0">
                <a:solidFill>
                  <a:srgbClr val="B3261E"/>
                </a:solidFill>
                <a:latin typeface="Calibri" pitchFamily="34" charset="0"/>
                <a:ea typeface="Calibri" pitchFamily="34" charset="-122"/>
                <a:cs typeface="Calibri" pitchFamily="34" charset="-120"/>
              </a:rPr>
              <a:t>−$35,216</a:t>
            </a:r>
            <a:endParaRPr lang="en-US" sz="2200" dirty="0"/>
          </a:p>
        </p:txBody>
      </p:sp>
      <p:sp>
        <p:nvSpPr>
          <p:cNvPr id="14" name="Shape 12"/>
          <p:cNvSpPr/>
          <p:nvPr/>
        </p:nvSpPr>
        <p:spPr>
          <a:xfrm>
            <a:off x="429768" y="3511296"/>
            <a:ext cx="11329416" cy="841248"/>
          </a:xfrm>
          <a:prstGeom prst="rect">
            <a:avLst/>
          </a:prstGeom>
          <a:solidFill>
            <a:srgbClr val="FFFFFF"/>
          </a:solidFill>
          <a:ln w="12700">
            <a:solidFill>
              <a:srgbClr val="DCE3EE"/>
            </a:solidFill>
            <a:prstDash val="solid"/>
          </a:ln>
        </p:spPr>
      </p:sp>
      <p:sp>
        <p:nvSpPr>
          <p:cNvPr id="15" name="Shape 13"/>
          <p:cNvSpPr/>
          <p:nvPr/>
        </p:nvSpPr>
        <p:spPr>
          <a:xfrm>
            <a:off x="429768" y="3511296"/>
            <a:ext cx="82296" cy="841248"/>
          </a:xfrm>
          <a:prstGeom prst="rect">
            <a:avLst/>
          </a:prstGeom>
          <a:solidFill>
            <a:srgbClr val="1E7A4C"/>
          </a:solidFill>
          <a:ln/>
        </p:spPr>
      </p:sp>
      <p:sp>
        <p:nvSpPr>
          <p:cNvPr id="16" name="Text 14"/>
          <p:cNvSpPr/>
          <p:nvPr/>
        </p:nvSpPr>
        <p:spPr>
          <a:xfrm>
            <a:off x="722376" y="3511296"/>
            <a:ext cx="7498080" cy="841248"/>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Net Operating Assets (NOA)</a:t>
            </a:r>
            <a:endParaRPr lang="en-US" sz="1500" dirty="0"/>
          </a:p>
        </p:txBody>
      </p:sp>
      <p:sp>
        <p:nvSpPr>
          <p:cNvPr id="17" name="Text 15"/>
          <p:cNvSpPr/>
          <p:nvPr/>
        </p:nvSpPr>
        <p:spPr>
          <a:xfrm>
            <a:off x="8503920" y="3511296"/>
            <a:ext cx="3108960" cy="841248"/>
          </a:xfrm>
          <a:prstGeom prst="rect">
            <a:avLst/>
          </a:prstGeom>
          <a:noFill/>
          <a:ln/>
        </p:spPr>
        <p:txBody>
          <a:bodyPr wrap="square" lIns="0" tIns="0" rIns="0" bIns="0" rtlCol="0" anchor="ctr"/>
          <a:lstStyle/>
          <a:p>
            <a:pPr algn="r" indent="0" marL="0">
              <a:buNone/>
            </a:pPr>
            <a:r>
              <a:rPr lang="en-US" sz="2200" b="1" dirty="0">
                <a:solidFill>
                  <a:srgbClr val="1E7A4C"/>
                </a:solidFill>
                <a:latin typeface="Calibri" pitchFamily="34" charset="0"/>
                <a:ea typeface="Calibri" pitchFamily="34" charset="-122"/>
                <a:cs typeface="Calibri" pitchFamily="34" charset="-120"/>
              </a:rPr>
              <a:t>$55,843</a:t>
            </a:r>
            <a:endParaRPr lang="en-US" sz="2200" dirty="0"/>
          </a:p>
        </p:txBody>
      </p:sp>
      <p:sp>
        <p:nvSpPr>
          <p:cNvPr id="18" name="Shape 16"/>
          <p:cNvSpPr/>
          <p:nvPr/>
        </p:nvSpPr>
        <p:spPr>
          <a:xfrm>
            <a:off x="429768" y="4462272"/>
            <a:ext cx="11329416" cy="548640"/>
          </a:xfrm>
          <a:prstGeom prst="rect">
            <a:avLst/>
          </a:prstGeom>
          <a:solidFill>
            <a:srgbClr val="14306B"/>
          </a:solidFill>
          <a:ln/>
        </p:spPr>
      </p:sp>
      <p:sp>
        <p:nvSpPr>
          <p:cNvPr id="19" name="Text 17"/>
          <p:cNvSpPr/>
          <p:nvPr/>
        </p:nvSpPr>
        <p:spPr>
          <a:xfrm>
            <a:off x="429768" y="4462272"/>
            <a:ext cx="11329416"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Light" pitchFamily="34" charset="0"/>
                <a:ea typeface="Calibri Light" pitchFamily="34" charset="-122"/>
                <a:cs typeface="Calibri Light" pitchFamily="34" charset="-120"/>
              </a:rPr>
              <a:t>$91,059   −   $35,216   =   $55,843</a:t>
            </a:r>
            <a:endParaRPr lang="en-US" sz="1800" dirty="0"/>
          </a:p>
        </p:txBody>
      </p:sp>
      <p:sp>
        <p:nvSpPr>
          <p:cNvPr id="20" name="Shape 18"/>
          <p:cNvSpPr/>
          <p:nvPr/>
        </p:nvSpPr>
        <p:spPr>
          <a:xfrm>
            <a:off x="429768" y="5120640"/>
            <a:ext cx="11329416" cy="658368"/>
          </a:xfrm>
          <a:prstGeom prst="rect">
            <a:avLst/>
          </a:prstGeom>
          <a:solidFill>
            <a:srgbClr val="E9F5EE"/>
          </a:solidFill>
          <a:ln w="12700">
            <a:solidFill>
              <a:srgbClr val="1E7A4C"/>
            </a:solidFill>
            <a:prstDash val="solid"/>
          </a:ln>
        </p:spPr>
      </p:sp>
      <p:sp>
        <p:nvSpPr>
          <p:cNvPr id="21" name="Text 19"/>
          <p:cNvSpPr/>
          <p:nvPr/>
        </p:nvSpPr>
        <p:spPr>
          <a:xfrm>
            <a:off x="667512" y="5120640"/>
            <a:ext cx="10853928" cy="658368"/>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What it means: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이 $55.8 billion은 PepsiCo의 설비·재고·브랜드에 실제로 투입된 자기자본·부채 자본 — 영업 엔진이 굴리고 있는 자본입니다.</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Verdict — PepsiCo's Operating Efficiency</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46</a:t>
            </a:r>
            <a:endParaRPr lang="en-US" sz="1050" dirty="0"/>
          </a:p>
        </p:txBody>
      </p:sp>
      <p:sp>
        <p:nvSpPr>
          <p:cNvPr id="6" name="Shape 4"/>
          <p:cNvSpPr/>
          <p:nvPr/>
        </p:nvSpPr>
        <p:spPr>
          <a:xfrm>
            <a:off x="429768" y="1481328"/>
            <a:ext cx="11329416" cy="603504"/>
          </a:xfrm>
          <a:prstGeom prst="rect">
            <a:avLst/>
          </a:prstGeom>
          <a:solidFill>
            <a:srgbClr val="14306B"/>
          </a:solidFill>
          <a:ln/>
        </p:spPr>
      </p:sp>
      <p:sp>
        <p:nvSpPr>
          <p:cNvPr id="7" name="Text 5"/>
          <p:cNvSpPr/>
          <p:nvPr/>
        </p:nvSpPr>
        <p:spPr>
          <a:xfrm>
            <a:off x="429768" y="1481328"/>
            <a:ext cx="11329416" cy="60350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Light" pitchFamily="34" charset="0"/>
                <a:ea typeface="Calibri Light" pitchFamily="34" charset="-122"/>
                <a:cs typeface="Calibri Light" pitchFamily="34" charset="-120"/>
              </a:rPr>
              <a:t>RNOA   =   NOPAT ÷ Average NOA   =   $7,933.3 ÷ $51,082.5   =   15.5%</a:t>
            </a:r>
            <a:endParaRPr lang="en-US" sz="1600" dirty="0"/>
          </a:p>
        </p:txBody>
      </p:sp>
      <p:sp>
        <p:nvSpPr>
          <p:cNvPr id="8" name="Shape 6"/>
          <p:cNvSpPr/>
          <p:nvPr/>
        </p:nvSpPr>
        <p:spPr>
          <a:xfrm>
            <a:off x="429768" y="2377440"/>
            <a:ext cx="3383280" cy="2286000"/>
          </a:xfrm>
          <a:prstGeom prst="rect">
            <a:avLst/>
          </a:prstGeom>
          <a:solidFill>
            <a:srgbClr val="FFFFFF"/>
          </a:solidFill>
          <a:ln w="12700">
            <a:solidFill>
              <a:srgbClr val="DCE3EE"/>
            </a:solidFill>
            <a:prstDash val="solid"/>
          </a:ln>
        </p:spPr>
      </p:sp>
      <p:sp>
        <p:nvSpPr>
          <p:cNvPr id="9" name="Shape 7"/>
          <p:cNvSpPr/>
          <p:nvPr/>
        </p:nvSpPr>
        <p:spPr>
          <a:xfrm>
            <a:off x="429768" y="2377440"/>
            <a:ext cx="3383280" cy="82296"/>
          </a:xfrm>
          <a:prstGeom prst="rect">
            <a:avLst/>
          </a:prstGeom>
          <a:solidFill>
            <a:srgbClr val="1F4899"/>
          </a:solidFill>
          <a:ln/>
        </p:spPr>
      </p:sp>
      <p:sp>
        <p:nvSpPr>
          <p:cNvPr id="10" name="Text 8"/>
          <p:cNvSpPr/>
          <p:nvPr/>
        </p:nvSpPr>
        <p:spPr>
          <a:xfrm>
            <a:off x="521208" y="2651760"/>
            <a:ext cx="3200400" cy="960120"/>
          </a:xfrm>
          <a:prstGeom prst="rect">
            <a:avLst/>
          </a:prstGeom>
          <a:noFill/>
          <a:ln/>
        </p:spPr>
        <p:txBody>
          <a:bodyPr wrap="square" lIns="0" tIns="0" rIns="0" bIns="0" rtlCol="0" anchor="ctr"/>
          <a:lstStyle/>
          <a:p>
            <a:pPr algn="ctr" indent="0" marL="0">
              <a:buNone/>
            </a:pPr>
            <a:r>
              <a:rPr lang="en-US" sz="4600" b="1" dirty="0">
                <a:solidFill>
                  <a:srgbClr val="1F4899"/>
                </a:solidFill>
                <a:latin typeface="Calibri" pitchFamily="34" charset="0"/>
                <a:ea typeface="Calibri" pitchFamily="34" charset="-122"/>
                <a:cs typeface="Calibri" pitchFamily="34" charset="-120"/>
              </a:rPr>
              <a:t>$7.93B</a:t>
            </a:r>
            <a:endParaRPr lang="en-US" sz="4600" dirty="0"/>
          </a:p>
        </p:txBody>
      </p:sp>
      <p:sp>
        <p:nvSpPr>
          <p:cNvPr id="11" name="Text 9"/>
          <p:cNvSpPr/>
          <p:nvPr/>
        </p:nvSpPr>
        <p:spPr>
          <a:xfrm>
            <a:off x="521208" y="3602736"/>
            <a:ext cx="320040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NOPAT</a:t>
            </a:r>
            <a:endParaRPr lang="en-US" sz="1500" dirty="0"/>
          </a:p>
        </p:txBody>
      </p:sp>
      <p:sp>
        <p:nvSpPr>
          <p:cNvPr id="12" name="Text 10"/>
          <p:cNvSpPr/>
          <p:nvPr/>
        </p:nvSpPr>
        <p:spPr>
          <a:xfrm>
            <a:off x="566928" y="3931920"/>
            <a:ext cx="3108960" cy="62179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영업만의 세후 이익.</a:t>
            </a:r>
            <a:endParaRPr lang="en-US" sz="1200" dirty="0"/>
          </a:p>
        </p:txBody>
      </p:sp>
      <p:sp>
        <p:nvSpPr>
          <p:cNvPr id="13" name="Shape 11"/>
          <p:cNvSpPr/>
          <p:nvPr/>
        </p:nvSpPr>
        <p:spPr>
          <a:xfrm>
            <a:off x="4114800" y="2377440"/>
            <a:ext cx="3657600" cy="2286000"/>
          </a:xfrm>
          <a:prstGeom prst="rect">
            <a:avLst/>
          </a:prstGeom>
          <a:solidFill>
            <a:srgbClr val="FFFFFF"/>
          </a:solidFill>
          <a:ln w="12700">
            <a:solidFill>
              <a:srgbClr val="DCE3EE"/>
            </a:solidFill>
            <a:prstDash val="solid"/>
          </a:ln>
        </p:spPr>
      </p:sp>
      <p:sp>
        <p:nvSpPr>
          <p:cNvPr id="14" name="Shape 12"/>
          <p:cNvSpPr/>
          <p:nvPr/>
        </p:nvSpPr>
        <p:spPr>
          <a:xfrm>
            <a:off x="4114800" y="2377440"/>
            <a:ext cx="3657600" cy="82296"/>
          </a:xfrm>
          <a:prstGeom prst="rect">
            <a:avLst/>
          </a:prstGeom>
          <a:solidFill>
            <a:srgbClr val="0F6E7A"/>
          </a:solidFill>
          <a:ln/>
        </p:spPr>
      </p:sp>
      <p:sp>
        <p:nvSpPr>
          <p:cNvPr id="15" name="Text 13"/>
          <p:cNvSpPr/>
          <p:nvPr/>
        </p:nvSpPr>
        <p:spPr>
          <a:xfrm>
            <a:off x="4206240" y="2651760"/>
            <a:ext cx="3474720" cy="960120"/>
          </a:xfrm>
          <a:prstGeom prst="rect">
            <a:avLst/>
          </a:prstGeom>
          <a:noFill/>
          <a:ln/>
        </p:spPr>
        <p:txBody>
          <a:bodyPr wrap="square" lIns="0" tIns="0" rIns="0" bIns="0" rtlCol="0" anchor="ctr"/>
          <a:lstStyle/>
          <a:p>
            <a:pPr algn="ctr" indent="0" marL="0">
              <a:buNone/>
            </a:pPr>
            <a:r>
              <a:rPr lang="en-US" sz="4600" b="1" dirty="0">
                <a:solidFill>
                  <a:srgbClr val="0F6E7A"/>
                </a:solidFill>
                <a:latin typeface="Calibri" pitchFamily="34" charset="0"/>
                <a:ea typeface="Calibri" pitchFamily="34" charset="-122"/>
                <a:cs typeface="Calibri" pitchFamily="34" charset="-120"/>
              </a:rPr>
              <a:t>$51.1B</a:t>
            </a:r>
            <a:endParaRPr lang="en-US" sz="4600" dirty="0"/>
          </a:p>
        </p:txBody>
      </p:sp>
      <p:sp>
        <p:nvSpPr>
          <p:cNvPr id="16" name="Text 14"/>
          <p:cNvSpPr/>
          <p:nvPr/>
        </p:nvSpPr>
        <p:spPr>
          <a:xfrm>
            <a:off x="4206240" y="3602736"/>
            <a:ext cx="347472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Average NOA</a:t>
            </a:r>
            <a:endParaRPr lang="en-US" sz="1500" dirty="0"/>
          </a:p>
        </p:txBody>
      </p:sp>
      <p:sp>
        <p:nvSpPr>
          <p:cNvPr id="17" name="Text 15"/>
          <p:cNvSpPr/>
          <p:nvPr/>
        </p:nvSpPr>
        <p:spPr>
          <a:xfrm>
            <a:off x="4251960" y="3931920"/>
            <a:ext cx="3383280" cy="62179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($55,843 + $46,322) ÷ 2.</a:t>
            </a:r>
            <a:endParaRPr lang="en-US" sz="1200" dirty="0"/>
          </a:p>
        </p:txBody>
      </p:sp>
      <p:sp>
        <p:nvSpPr>
          <p:cNvPr id="18" name="Shape 16"/>
          <p:cNvSpPr/>
          <p:nvPr/>
        </p:nvSpPr>
        <p:spPr>
          <a:xfrm>
            <a:off x="8046720" y="2377440"/>
            <a:ext cx="3712464" cy="2286000"/>
          </a:xfrm>
          <a:prstGeom prst="rect">
            <a:avLst/>
          </a:prstGeom>
          <a:solidFill>
            <a:srgbClr val="FFFFFF"/>
          </a:solidFill>
          <a:ln w="12700">
            <a:solidFill>
              <a:srgbClr val="DCE3EE"/>
            </a:solidFill>
            <a:prstDash val="solid"/>
          </a:ln>
        </p:spPr>
      </p:sp>
      <p:sp>
        <p:nvSpPr>
          <p:cNvPr id="19" name="Shape 17"/>
          <p:cNvSpPr/>
          <p:nvPr/>
        </p:nvSpPr>
        <p:spPr>
          <a:xfrm>
            <a:off x="8046720" y="2377440"/>
            <a:ext cx="3712464" cy="82296"/>
          </a:xfrm>
          <a:prstGeom prst="rect">
            <a:avLst/>
          </a:prstGeom>
          <a:solidFill>
            <a:srgbClr val="1E7A4C"/>
          </a:solidFill>
          <a:ln/>
        </p:spPr>
      </p:sp>
      <p:sp>
        <p:nvSpPr>
          <p:cNvPr id="20" name="Text 18"/>
          <p:cNvSpPr/>
          <p:nvPr/>
        </p:nvSpPr>
        <p:spPr>
          <a:xfrm>
            <a:off x="8138160" y="2651760"/>
            <a:ext cx="3529584" cy="960120"/>
          </a:xfrm>
          <a:prstGeom prst="rect">
            <a:avLst/>
          </a:prstGeom>
          <a:noFill/>
          <a:ln/>
        </p:spPr>
        <p:txBody>
          <a:bodyPr wrap="square" lIns="0" tIns="0" rIns="0" bIns="0" rtlCol="0" anchor="ctr"/>
          <a:lstStyle/>
          <a:p>
            <a:pPr algn="ctr" indent="0" marL="0">
              <a:buNone/>
            </a:pPr>
            <a:r>
              <a:rPr lang="en-US" sz="4600" b="1" dirty="0">
                <a:solidFill>
                  <a:srgbClr val="1E7A4C"/>
                </a:solidFill>
                <a:latin typeface="Calibri" pitchFamily="34" charset="0"/>
                <a:ea typeface="Calibri" pitchFamily="34" charset="-122"/>
                <a:cs typeface="Calibri" pitchFamily="34" charset="-120"/>
              </a:rPr>
              <a:t>15.5%</a:t>
            </a:r>
            <a:endParaRPr lang="en-US" sz="4600" dirty="0"/>
          </a:p>
        </p:txBody>
      </p:sp>
      <p:sp>
        <p:nvSpPr>
          <p:cNvPr id="21" name="Text 19"/>
          <p:cNvSpPr/>
          <p:nvPr/>
        </p:nvSpPr>
        <p:spPr>
          <a:xfrm>
            <a:off x="8138160" y="3602736"/>
            <a:ext cx="3529584"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RNOA</a:t>
            </a:r>
            <a:endParaRPr lang="en-US" sz="1500" dirty="0"/>
          </a:p>
        </p:txBody>
      </p:sp>
      <p:sp>
        <p:nvSpPr>
          <p:cNvPr id="22" name="Text 20"/>
          <p:cNvSpPr/>
          <p:nvPr/>
        </p:nvSpPr>
        <p:spPr>
          <a:xfrm>
            <a:off x="8183880" y="3931920"/>
            <a:ext cx="3438144" cy="62179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영업 자본 1달러당 15.5￠.</a:t>
            </a:r>
            <a:endParaRPr lang="en-US" sz="1200" dirty="0"/>
          </a:p>
        </p:txBody>
      </p:sp>
      <p:sp>
        <p:nvSpPr>
          <p:cNvPr id="23" name="Shape 21"/>
          <p:cNvSpPr/>
          <p:nvPr/>
        </p:nvSpPr>
        <p:spPr>
          <a:xfrm>
            <a:off x="429768" y="4974336"/>
            <a:ext cx="11329416" cy="512064"/>
          </a:xfrm>
          <a:prstGeom prst="rect">
            <a:avLst/>
          </a:prstGeom>
          <a:solidFill>
            <a:srgbClr val="14306B"/>
          </a:solidFill>
          <a:ln/>
        </p:spPr>
      </p:sp>
      <p:sp>
        <p:nvSpPr>
          <p:cNvPr id="24" name="Text 22"/>
          <p:cNvSpPr/>
          <p:nvPr/>
        </p:nvSpPr>
        <p:spPr>
          <a:xfrm>
            <a:off x="685800" y="4974336"/>
            <a:ext cx="10817352"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Strong operating efficiency:  핵심 영업에 투자된 1달러당 PepsiCo는 세후 이익 15.5￠를 창출합니다.</a:t>
            </a:r>
            <a:endParaRPr lang="en-US" sz="1300" dirty="0"/>
          </a:p>
        </p:txBody>
      </p:sp>
      <p:sp>
        <p:nvSpPr>
          <p:cNvPr id="25" name="Shape 23"/>
          <p:cNvSpPr/>
          <p:nvPr/>
        </p:nvSpPr>
        <p:spPr>
          <a:xfrm>
            <a:off x="429768" y="5705856"/>
            <a:ext cx="11329416" cy="512064"/>
          </a:xfrm>
          <a:prstGeom prst="rect">
            <a:avLst/>
          </a:prstGeom>
          <a:solidFill>
            <a:srgbClr val="E9F5EE"/>
          </a:solidFill>
          <a:ln w="12700">
            <a:solidFill>
              <a:srgbClr val="1E7A4C"/>
            </a:solidFill>
            <a:prstDash val="solid"/>
          </a:ln>
        </p:spPr>
      </p:sp>
      <p:sp>
        <p:nvSpPr>
          <p:cNvPr id="26" name="Text 24"/>
          <p:cNvSpPr/>
          <p:nvPr/>
        </p:nvSpPr>
        <p:spPr>
          <a:xfrm>
            <a:off x="667512" y="5705856"/>
            <a:ext cx="10853928" cy="51206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해석: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RNOA는 자금조달과 분리된, 순수한 영업 자본의 수익률입니다.</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Signal vs. Noise — RNOA vs. ROE</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47</a:t>
            </a:r>
            <a:endParaRPr lang="en-US" sz="1050" dirty="0"/>
          </a:p>
        </p:txBody>
      </p:sp>
      <p:sp>
        <p:nvSpPr>
          <p:cNvPr id="6" name="Shape 4"/>
          <p:cNvSpPr/>
          <p:nvPr/>
        </p:nvSpPr>
        <p:spPr>
          <a:xfrm>
            <a:off x="429768" y="1828800"/>
            <a:ext cx="3566160" cy="2194560"/>
          </a:xfrm>
          <a:prstGeom prst="rect">
            <a:avLst/>
          </a:prstGeom>
          <a:solidFill>
            <a:srgbClr val="FFFFFF"/>
          </a:solidFill>
          <a:ln w="12700">
            <a:solidFill>
              <a:srgbClr val="DCE3EE"/>
            </a:solidFill>
            <a:prstDash val="solid"/>
          </a:ln>
        </p:spPr>
      </p:sp>
      <p:sp>
        <p:nvSpPr>
          <p:cNvPr id="7" name="Shape 5"/>
          <p:cNvSpPr/>
          <p:nvPr/>
        </p:nvSpPr>
        <p:spPr>
          <a:xfrm>
            <a:off x="429768" y="1828800"/>
            <a:ext cx="3566160" cy="82296"/>
          </a:xfrm>
          <a:prstGeom prst="rect">
            <a:avLst/>
          </a:prstGeom>
          <a:solidFill>
            <a:srgbClr val="1E7A4C"/>
          </a:solidFill>
          <a:ln/>
        </p:spPr>
      </p:sp>
      <p:sp>
        <p:nvSpPr>
          <p:cNvPr id="8" name="Text 6"/>
          <p:cNvSpPr/>
          <p:nvPr/>
        </p:nvSpPr>
        <p:spPr>
          <a:xfrm>
            <a:off x="521208" y="2103120"/>
            <a:ext cx="3383280" cy="960120"/>
          </a:xfrm>
          <a:prstGeom prst="rect">
            <a:avLst/>
          </a:prstGeom>
          <a:noFill/>
          <a:ln/>
        </p:spPr>
        <p:txBody>
          <a:bodyPr wrap="square" lIns="0" tIns="0" rIns="0" bIns="0" rtlCol="0" anchor="ctr"/>
          <a:lstStyle/>
          <a:p>
            <a:pPr algn="ctr" indent="0" marL="0">
              <a:buNone/>
            </a:pPr>
            <a:r>
              <a:rPr lang="en-US" sz="4600" b="1" dirty="0">
                <a:solidFill>
                  <a:srgbClr val="1E7A4C"/>
                </a:solidFill>
                <a:latin typeface="Calibri" pitchFamily="34" charset="0"/>
                <a:ea typeface="Calibri" pitchFamily="34" charset="-122"/>
                <a:cs typeface="Calibri" pitchFamily="34" charset="-120"/>
              </a:rPr>
              <a:t>15.5%</a:t>
            </a:r>
            <a:endParaRPr lang="en-US" sz="4600" dirty="0"/>
          </a:p>
        </p:txBody>
      </p:sp>
      <p:sp>
        <p:nvSpPr>
          <p:cNvPr id="9" name="Text 7"/>
          <p:cNvSpPr/>
          <p:nvPr/>
        </p:nvSpPr>
        <p:spPr>
          <a:xfrm>
            <a:off x="521208" y="3054096"/>
            <a:ext cx="338328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RNOA</a:t>
            </a:r>
            <a:endParaRPr lang="en-US" sz="1500" dirty="0"/>
          </a:p>
        </p:txBody>
      </p:sp>
      <p:sp>
        <p:nvSpPr>
          <p:cNvPr id="10" name="Text 8"/>
          <p:cNvSpPr/>
          <p:nvPr/>
        </p:nvSpPr>
        <p:spPr>
          <a:xfrm>
            <a:off x="566928" y="3383280"/>
            <a:ext cx="3291840" cy="53035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핵심 영업 성과.</a:t>
            </a:r>
            <a:endParaRPr lang="en-US" sz="1200" dirty="0"/>
          </a:p>
        </p:txBody>
      </p:sp>
      <p:sp>
        <p:nvSpPr>
          <p:cNvPr id="11" name="Shape 9"/>
          <p:cNvSpPr/>
          <p:nvPr/>
        </p:nvSpPr>
        <p:spPr>
          <a:xfrm>
            <a:off x="4315968" y="1828800"/>
            <a:ext cx="3566160" cy="2194560"/>
          </a:xfrm>
          <a:prstGeom prst="rect">
            <a:avLst/>
          </a:prstGeom>
          <a:solidFill>
            <a:srgbClr val="FFFFFF"/>
          </a:solidFill>
          <a:ln w="12700">
            <a:solidFill>
              <a:srgbClr val="DCE3EE"/>
            </a:solidFill>
            <a:prstDash val="solid"/>
          </a:ln>
        </p:spPr>
      </p:sp>
      <p:sp>
        <p:nvSpPr>
          <p:cNvPr id="12" name="Shape 10"/>
          <p:cNvSpPr/>
          <p:nvPr/>
        </p:nvSpPr>
        <p:spPr>
          <a:xfrm>
            <a:off x="4315968" y="1828800"/>
            <a:ext cx="3566160" cy="82296"/>
          </a:xfrm>
          <a:prstGeom prst="rect">
            <a:avLst/>
          </a:prstGeom>
          <a:solidFill>
            <a:srgbClr val="9A6600"/>
          </a:solidFill>
          <a:ln/>
        </p:spPr>
      </p:sp>
      <p:sp>
        <p:nvSpPr>
          <p:cNvPr id="13" name="Text 11"/>
          <p:cNvSpPr/>
          <p:nvPr/>
        </p:nvSpPr>
        <p:spPr>
          <a:xfrm>
            <a:off x="4407408" y="2103120"/>
            <a:ext cx="3383280" cy="960120"/>
          </a:xfrm>
          <a:prstGeom prst="rect">
            <a:avLst/>
          </a:prstGeom>
          <a:noFill/>
          <a:ln/>
        </p:spPr>
        <p:txBody>
          <a:bodyPr wrap="square" lIns="0" tIns="0" rIns="0" bIns="0" rtlCol="0" anchor="ctr"/>
          <a:lstStyle/>
          <a:p>
            <a:pPr algn="ctr" indent="0" marL="0">
              <a:buNone/>
            </a:pPr>
            <a:r>
              <a:rPr lang="en-US" sz="4600" b="1" dirty="0">
                <a:solidFill>
                  <a:srgbClr val="9A6600"/>
                </a:solidFill>
                <a:latin typeface="Calibri" pitchFamily="34" charset="0"/>
                <a:ea typeface="Calibri" pitchFamily="34" charset="-122"/>
                <a:cs typeface="Calibri" pitchFamily="34" charset="-120"/>
              </a:rPr>
              <a:t>+35.0%p</a:t>
            </a:r>
            <a:endParaRPr lang="en-US" sz="4600" dirty="0"/>
          </a:p>
        </p:txBody>
      </p:sp>
      <p:sp>
        <p:nvSpPr>
          <p:cNvPr id="14" name="Text 12"/>
          <p:cNvSpPr/>
          <p:nvPr/>
        </p:nvSpPr>
        <p:spPr>
          <a:xfrm>
            <a:off x="4407408" y="3054096"/>
            <a:ext cx="338328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레버리지 효과</a:t>
            </a:r>
            <a:endParaRPr lang="en-US" sz="1500" dirty="0"/>
          </a:p>
        </p:txBody>
      </p:sp>
      <p:sp>
        <p:nvSpPr>
          <p:cNvPr id="15" name="Text 13"/>
          <p:cNvSpPr/>
          <p:nvPr/>
        </p:nvSpPr>
        <p:spPr>
          <a:xfrm>
            <a:off x="4453128" y="3383280"/>
            <a:ext cx="3291840" cy="53035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재무 레버리지 기여.</a:t>
            </a:r>
            <a:endParaRPr lang="en-US" sz="1200" dirty="0"/>
          </a:p>
        </p:txBody>
      </p:sp>
      <p:sp>
        <p:nvSpPr>
          <p:cNvPr id="16" name="Shape 14"/>
          <p:cNvSpPr/>
          <p:nvPr/>
        </p:nvSpPr>
        <p:spPr>
          <a:xfrm>
            <a:off x="8193024" y="1828800"/>
            <a:ext cx="3566160" cy="2194560"/>
          </a:xfrm>
          <a:prstGeom prst="rect">
            <a:avLst/>
          </a:prstGeom>
          <a:solidFill>
            <a:srgbClr val="FFFFFF"/>
          </a:solidFill>
          <a:ln w="12700">
            <a:solidFill>
              <a:srgbClr val="DCE3EE"/>
            </a:solidFill>
            <a:prstDash val="solid"/>
          </a:ln>
        </p:spPr>
      </p:sp>
      <p:sp>
        <p:nvSpPr>
          <p:cNvPr id="17" name="Shape 15"/>
          <p:cNvSpPr/>
          <p:nvPr/>
        </p:nvSpPr>
        <p:spPr>
          <a:xfrm>
            <a:off x="8193024" y="1828800"/>
            <a:ext cx="3566160" cy="82296"/>
          </a:xfrm>
          <a:prstGeom prst="rect">
            <a:avLst/>
          </a:prstGeom>
          <a:solidFill>
            <a:srgbClr val="1F4899"/>
          </a:solidFill>
          <a:ln/>
        </p:spPr>
      </p:sp>
      <p:sp>
        <p:nvSpPr>
          <p:cNvPr id="18" name="Text 16"/>
          <p:cNvSpPr/>
          <p:nvPr/>
        </p:nvSpPr>
        <p:spPr>
          <a:xfrm>
            <a:off x="8284464" y="2103120"/>
            <a:ext cx="3383280" cy="960120"/>
          </a:xfrm>
          <a:prstGeom prst="rect">
            <a:avLst/>
          </a:prstGeom>
          <a:noFill/>
          <a:ln/>
        </p:spPr>
        <p:txBody>
          <a:bodyPr wrap="square" lIns="0" tIns="0" rIns="0" bIns="0" rtlCol="0" anchor="ctr"/>
          <a:lstStyle/>
          <a:p>
            <a:pPr algn="ctr" indent="0" marL="0">
              <a:buNone/>
            </a:pPr>
            <a:r>
              <a:rPr lang="en-US" sz="4600" b="1" dirty="0">
                <a:solidFill>
                  <a:srgbClr val="1F4899"/>
                </a:solidFill>
                <a:latin typeface="Calibri" pitchFamily="34" charset="0"/>
                <a:ea typeface="Calibri" pitchFamily="34" charset="-122"/>
                <a:cs typeface="Calibri" pitchFamily="34" charset="-120"/>
              </a:rPr>
              <a:t>50.5%</a:t>
            </a:r>
            <a:endParaRPr lang="en-US" sz="4600" dirty="0"/>
          </a:p>
        </p:txBody>
      </p:sp>
      <p:sp>
        <p:nvSpPr>
          <p:cNvPr id="19" name="Text 17"/>
          <p:cNvSpPr/>
          <p:nvPr/>
        </p:nvSpPr>
        <p:spPr>
          <a:xfrm>
            <a:off x="8284464" y="3054096"/>
            <a:ext cx="3383280" cy="310896"/>
          </a:xfrm>
          <a:prstGeom prst="rect">
            <a:avLst/>
          </a:prstGeom>
          <a:noFill/>
          <a:ln/>
        </p:spPr>
        <p:txBody>
          <a:bodyPr wrap="square" lIns="0" tIns="0" rIns="0" bIns="0" rtlCol="0" anchor="ctr"/>
          <a:lstStyle/>
          <a:p>
            <a:pPr algn="ctr" indent="0" marL="0">
              <a:buNone/>
            </a:pPr>
            <a:r>
              <a:rPr lang="en-US" sz="1500" b="1" dirty="0">
                <a:solidFill>
                  <a:srgbClr val="1A1A1A"/>
                </a:solidFill>
                <a:latin typeface="Calibri" pitchFamily="34" charset="0"/>
                <a:ea typeface="Calibri" pitchFamily="34" charset="-122"/>
                <a:cs typeface="Calibri" pitchFamily="34" charset="-120"/>
              </a:rPr>
              <a:t>ROE</a:t>
            </a:r>
            <a:endParaRPr lang="en-US" sz="1500" dirty="0"/>
          </a:p>
        </p:txBody>
      </p:sp>
      <p:sp>
        <p:nvSpPr>
          <p:cNvPr id="20" name="Text 18"/>
          <p:cNvSpPr/>
          <p:nvPr/>
        </p:nvSpPr>
        <p:spPr>
          <a:xfrm>
            <a:off x="8330184" y="3383280"/>
            <a:ext cx="3291840" cy="530352"/>
          </a:xfrm>
          <a:prstGeom prst="rect">
            <a:avLst/>
          </a:prstGeom>
          <a:noFill/>
          <a:ln/>
        </p:spPr>
        <p:txBody>
          <a:bodyPr wrap="square" lIns="0" tIns="0" rIns="0" bIns="0" rtlCol="0" anchor="ctr"/>
          <a:lstStyle/>
          <a:p>
            <a:pPr algn="ctr" indent="0" marL="0">
              <a:buNone/>
            </a:pPr>
            <a:r>
              <a:rPr lang="en-US" sz="1200" dirty="0">
                <a:solidFill>
                  <a:srgbClr val="5A6474"/>
                </a:solidFill>
                <a:latin typeface="Calibri" pitchFamily="34" charset="0"/>
                <a:ea typeface="Calibri" pitchFamily="34" charset="-122"/>
                <a:cs typeface="Calibri" pitchFamily="34" charset="-120"/>
              </a:rPr>
              <a:t>주주 수익률.</a:t>
            </a:r>
            <a:endParaRPr lang="en-US" sz="1200" dirty="0"/>
          </a:p>
        </p:txBody>
      </p:sp>
      <p:sp>
        <p:nvSpPr>
          <p:cNvPr id="21" name="Text 19"/>
          <p:cNvSpPr/>
          <p:nvPr/>
        </p:nvSpPr>
        <p:spPr>
          <a:xfrm>
            <a:off x="429768" y="4169664"/>
            <a:ext cx="11329416" cy="365760"/>
          </a:xfrm>
          <a:prstGeom prst="rect">
            <a:avLst/>
          </a:prstGeom>
          <a:noFill/>
          <a:ln/>
        </p:spPr>
        <p:txBody>
          <a:bodyPr wrap="square" lIns="0" tIns="0" rIns="0" bIns="0" rtlCol="0" anchor="ctr"/>
          <a:lstStyle/>
          <a:p>
            <a:pPr algn="ctr" indent="0" marL="0">
              <a:buNone/>
            </a:pPr>
            <a:r>
              <a:rPr lang="en-US" sz="1400" b="1" dirty="0">
                <a:solidFill>
                  <a:srgbClr val="5A6474"/>
                </a:solidFill>
                <a:latin typeface="Calibri" pitchFamily="34" charset="0"/>
                <a:ea typeface="Calibri" pitchFamily="34" charset="-122"/>
                <a:cs typeface="Calibri" pitchFamily="34" charset="-120"/>
              </a:rPr>
              <a:t>영업 엔진   +   재무 레버리지 효과   =   주주 수익률</a:t>
            </a:r>
            <a:endParaRPr lang="en-US" sz="1400" dirty="0"/>
          </a:p>
        </p:txBody>
      </p:sp>
      <p:sp>
        <p:nvSpPr>
          <p:cNvPr id="22" name="Shape 20"/>
          <p:cNvSpPr/>
          <p:nvPr/>
        </p:nvSpPr>
        <p:spPr>
          <a:xfrm>
            <a:off x="429768" y="4700016"/>
            <a:ext cx="11329416" cy="786384"/>
          </a:xfrm>
          <a:prstGeom prst="rect">
            <a:avLst/>
          </a:prstGeom>
          <a:solidFill>
            <a:srgbClr val="E9F5EE"/>
          </a:solidFill>
          <a:ln w="12700">
            <a:solidFill>
              <a:srgbClr val="1E7A4C"/>
            </a:solidFill>
            <a:prstDash val="solid"/>
          </a:ln>
        </p:spPr>
      </p:sp>
      <p:sp>
        <p:nvSpPr>
          <p:cNvPr id="23" name="Text 21"/>
          <p:cNvSpPr/>
          <p:nvPr/>
        </p:nvSpPr>
        <p:spPr>
          <a:xfrm>
            <a:off x="667512" y="4700016"/>
            <a:ext cx="10853928" cy="786384"/>
          </a:xfrm>
          <a:prstGeom prst="rect">
            <a:avLst/>
          </a:prstGeom>
          <a:noFill/>
          <a:ln/>
        </p:spPr>
        <p:txBody>
          <a:bodyPr wrap="square" lIns="0" tIns="0" rIns="0" bIns="0" rtlCol="0" anchor="ctr"/>
          <a:lstStyle/>
          <a:p>
            <a:pPr indent="0" marL="0">
              <a:lnSpc>
                <a:spcPct val="100000"/>
              </a:lnSpc>
              <a:buNone/>
            </a:pPr>
            <a:r>
              <a:rPr lang="en-US" sz="1300" b="1" dirty="0">
                <a:solidFill>
                  <a:srgbClr val="1E7A4C"/>
                </a:solidFill>
                <a:latin typeface="Calibri" pitchFamily="34" charset="0"/>
                <a:ea typeface="Calibri" pitchFamily="34" charset="-122"/>
                <a:cs typeface="Calibri" pitchFamily="34" charset="-120"/>
              </a:rPr>
              <a:t>Reading the Gap:  </a:t>
            </a:r>
            <a:pPr indent="0" marL="0">
              <a:lnSpc>
                <a:spcPct val="100000"/>
              </a:lnSpc>
              <a:buNone/>
            </a:pPr>
            <a:r>
              <a:rPr lang="en-US" sz="1300" dirty="0">
                <a:solidFill>
                  <a:srgbClr val="1A1A1A"/>
                </a:solidFill>
                <a:latin typeface="Calibri" pitchFamily="34" charset="0"/>
                <a:ea typeface="Calibri" pitchFamily="34" charset="-122"/>
                <a:cs typeface="Calibri" pitchFamily="34" charset="-120"/>
              </a:rPr>
              <a:t>주주 수익률의 상당 부분은 레버리지(nonoperating)로 만들어진 것이지, 제품을 더 많이 팔아서(operating) 얻은 것이 아닙니다.</a:t>
            </a:r>
            <a:endParaRPr lang="en-US" sz="1300" dirty="0"/>
          </a:p>
        </p:txBody>
      </p:sp>
      <p:sp>
        <p:nvSpPr>
          <p:cNvPr id="24" name="Shape 22"/>
          <p:cNvSpPr/>
          <p:nvPr/>
        </p:nvSpPr>
        <p:spPr>
          <a:xfrm>
            <a:off x="429768" y="5632704"/>
            <a:ext cx="11329416" cy="457200"/>
          </a:xfrm>
          <a:prstGeom prst="rect">
            <a:avLst/>
          </a:prstGeom>
          <a:solidFill>
            <a:srgbClr val="14306B"/>
          </a:solidFill>
          <a:ln/>
        </p:spPr>
      </p:sp>
      <p:sp>
        <p:nvSpPr>
          <p:cNvPr id="25" name="Text 23"/>
          <p:cNvSpPr/>
          <p:nvPr/>
        </p:nvSpPr>
        <p:spPr>
          <a:xfrm>
            <a:off x="685800" y="5632704"/>
            <a:ext cx="10817352"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사업 자체는 RNOA로, 자본구조는 ROE로 판단하십시오.</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9FB"/>
        </a:solidFill>
      </p:bgPr>
    </p:bg>
    <p:spTree>
      <p:nvGrpSpPr>
        <p:cNvPr id="1" name=""/>
        <p:cNvGrpSpPr/>
        <p:nvPr/>
      </p:nvGrpSpPr>
      <p:grpSpPr>
        <a:xfrm>
          <a:off x="0" y="0"/>
          <a:ext cx="0" cy="0"/>
          <a:chOff x="0" y="0"/>
          <a:chExt cx="0" cy="0"/>
        </a:xfrm>
      </p:grpSpPr>
      <p:sp>
        <p:nvSpPr>
          <p:cNvPr id="2" name="Shape 0"/>
          <p:cNvSpPr/>
          <p:nvPr/>
        </p:nvSpPr>
        <p:spPr>
          <a:xfrm>
            <a:off x="0" y="0"/>
            <a:ext cx="12191695" cy="1197864"/>
          </a:xfrm>
          <a:prstGeom prst="rect">
            <a:avLst/>
          </a:prstGeom>
          <a:solidFill>
            <a:srgbClr val="1F4899"/>
          </a:solidFill>
          <a:ln/>
        </p:spPr>
      </p:sp>
      <p:sp>
        <p:nvSpPr>
          <p:cNvPr id="3" name="Text 1"/>
          <p:cNvSpPr/>
          <p:nvPr/>
        </p:nvSpPr>
        <p:spPr>
          <a:xfrm>
            <a:off x="365760" y="54864"/>
            <a:ext cx="11430000" cy="1088136"/>
          </a:xfrm>
          <a:prstGeom prst="rect">
            <a:avLst/>
          </a:prstGeom>
          <a:noFill/>
          <a:ln/>
        </p:spPr>
        <p:txBody>
          <a:bodyPr wrap="square" rtlCol="0" anchor="ctr"/>
          <a:lstStyle/>
          <a:p>
            <a:pPr indent="0" marL="0">
              <a:buNone/>
            </a:pPr>
            <a:r>
              <a:rPr lang="en-US" sz="3400" b="1" dirty="0">
                <a:solidFill>
                  <a:srgbClr val="FFFFFF"/>
                </a:solidFill>
                <a:latin typeface="Calibri Light" pitchFamily="34" charset="0"/>
                <a:ea typeface="Calibri Light" pitchFamily="34" charset="-122"/>
                <a:cs typeface="Calibri Light" pitchFamily="34" charset="-120"/>
              </a:rPr>
              <a:t>The Analyst's Checklist</a:t>
            </a:r>
            <a:endParaRPr lang="en-US" sz="3400" dirty="0"/>
          </a:p>
        </p:txBody>
      </p:sp>
      <p:sp>
        <p:nvSpPr>
          <p:cNvPr id="4" name="Text 2"/>
          <p:cNvSpPr/>
          <p:nvPr/>
        </p:nvSpPr>
        <p:spPr>
          <a:xfrm>
            <a:off x="429768" y="6528816"/>
            <a:ext cx="6400800" cy="256032"/>
          </a:xfrm>
          <a:prstGeom prst="rect">
            <a:avLst/>
          </a:prstGeom>
          <a:noFill/>
          <a:ln/>
        </p:spPr>
        <p:txBody>
          <a:bodyPr wrap="square" rtlCol="0" anchor="ctr"/>
          <a:lstStyle/>
          <a:p>
            <a:pPr indent="0" marL="0">
              <a:buNone/>
            </a:pPr>
            <a:r>
              <a:rPr lang="en-US" sz="1050" dirty="0">
                <a:solidFill>
                  <a:srgbClr val="8494AC"/>
                </a:solidFill>
                <a:latin typeface="Calibri" pitchFamily="34" charset="0"/>
                <a:ea typeface="Calibri" pitchFamily="34" charset="-122"/>
                <a:cs typeface="Calibri" pitchFamily="34" charset="-120"/>
              </a:rPr>
              <a:t>Ch 5  ·  Ratio Analysis</a:t>
            </a:r>
            <a:endParaRPr lang="en-US" sz="1050" dirty="0"/>
          </a:p>
        </p:txBody>
      </p:sp>
      <p:sp>
        <p:nvSpPr>
          <p:cNvPr id="5" name="Text 3"/>
          <p:cNvSpPr/>
          <p:nvPr/>
        </p:nvSpPr>
        <p:spPr>
          <a:xfrm>
            <a:off x="10424160" y="6528816"/>
            <a:ext cx="1335024" cy="256032"/>
          </a:xfrm>
          <a:prstGeom prst="rect">
            <a:avLst/>
          </a:prstGeom>
          <a:noFill/>
          <a:ln/>
        </p:spPr>
        <p:txBody>
          <a:bodyPr wrap="square" rtlCol="0" anchor="ctr"/>
          <a:lstStyle/>
          <a:p>
            <a:pPr algn="r" indent="0" marL="0">
              <a:buNone/>
            </a:pPr>
            <a:r>
              <a:rPr lang="en-US" sz="1050" dirty="0">
                <a:solidFill>
                  <a:srgbClr val="8494AC"/>
                </a:solidFill>
                <a:latin typeface="Calibri" pitchFamily="34" charset="0"/>
                <a:ea typeface="Calibri" pitchFamily="34" charset="-122"/>
                <a:cs typeface="Calibri" pitchFamily="34" charset="-120"/>
              </a:rPr>
              <a:t>48</a:t>
            </a:r>
            <a:endParaRPr lang="en-US" sz="1050" dirty="0"/>
          </a:p>
        </p:txBody>
      </p:sp>
      <p:sp>
        <p:nvSpPr>
          <p:cNvPr id="6" name="Shape 4"/>
          <p:cNvSpPr/>
          <p:nvPr/>
        </p:nvSpPr>
        <p:spPr>
          <a:xfrm>
            <a:off x="429768" y="1737360"/>
            <a:ext cx="11329416" cy="822960"/>
          </a:xfrm>
          <a:prstGeom prst="rect">
            <a:avLst/>
          </a:prstGeom>
          <a:solidFill>
            <a:srgbClr val="FFFFFF"/>
          </a:solidFill>
          <a:ln w="12700">
            <a:solidFill>
              <a:srgbClr val="DCE3EE"/>
            </a:solidFill>
            <a:prstDash val="solid"/>
          </a:ln>
        </p:spPr>
      </p:sp>
      <p:sp>
        <p:nvSpPr>
          <p:cNvPr id="7" name="Shape 5"/>
          <p:cNvSpPr/>
          <p:nvPr/>
        </p:nvSpPr>
        <p:spPr>
          <a:xfrm>
            <a:off x="429768" y="1737360"/>
            <a:ext cx="82296" cy="822960"/>
          </a:xfrm>
          <a:prstGeom prst="rect">
            <a:avLst/>
          </a:prstGeom>
          <a:solidFill>
            <a:srgbClr val="1F4899"/>
          </a:solidFill>
          <a:ln/>
        </p:spPr>
      </p:sp>
      <p:sp>
        <p:nvSpPr>
          <p:cNvPr id="8" name="Shape 6"/>
          <p:cNvSpPr/>
          <p:nvPr/>
        </p:nvSpPr>
        <p:spPr>
          <a:xfrm>
            <a:off x="676656" y="1865376"/>
            <a:ext cx="566928" cy="566928"/>
          </a:xfrm>
          <a:prstGeom prst="ellipse">
            <a:avLst/>
          </a:prstGeom>
          <a:solidFill>
            <a:srgbClr val="1F4899"/>
          </a:solidFill>
          <a:ln/>
        </p:spPr>
      </p:sp>
      <p:sp>
        <p:nvSpPr>
          <p:cNvPr id="9" name="Text 7"/>
          <p:cNvSpPr/>
          <p:nvPr/>
        </p:nvSpPr>
        <p:spPr>
          <a:xfrm>
            <a:off x="676656" y="18653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8"/>
          <p:cNvSpPr/>
          <p:nvPr/>
        </p:nvSpPr>
        <p:spPr>
          <a:xfrm>
            <a:off x="1481328" y="1737360"/>
            <a:ext cx="2926080" cy="822960"/>
          </a:xfrm>
          <a:prstGeom prst="rect">
            <a:avLst/>
          </a:prstGeom>
          <a:noFill/>
          <a:ln/>
        </p:spPr>
        <p:txBody>
          <a:bodyPr wrap="square" lIns="0" tIns="0" rIns="0" bIns="0" rtlCol="0" anchor="ctr"/>
          <a:lstStyle/>
          <a:p>
            <a:pPr indent="0" marL="0">
              <a:buNone/>
            </a:pPr>
            <a:r>
              <a:rPr lang="en-US" sz="1500" b="1" dirty="0">
                <a:solidFill>
                  <a:srgbClr val="1F4899"/>
                </a:solidFill>
                <a:latin typeface="Calibri" pitchFamily="34" charset="0"/>
                <a:ea typeface="Calibri" pitchFamily="34" charset="-122"/>
                <a:cs typeface="Calibri" pitchFamily="34" charset="-120"/>
              </a:rPr>
              <a:t>Distinguish</a:t>
            </a:r>
            <a:endParaRPr lang="en-US" sz="1500" dirty="0"/>
          </a:p>
        </p:txBody>
      </p:sp>
      <p:sp>
        <p:nvSpPr>
          <p:cNvPr id="11" name="Text 9"/>
          <p:cNvSpPr/>
          <p:nvPr/>
        </p:nvSpPr>
        <p:spPr>
          <a:xfrm>
            <a:off x="4453128" y="1737360"/>
            <a:ext cx="7498080" cy="82296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Operating(가치 창출)과 nonoperating(자금조달)을 분리한다.</a:t>
            </a:r>
            <a:endParaRPr lang="en-US" sz="1250" dirty="0"/>
          </a:p>
        </p:txBody>
      </p:sp>
      <p:sp>
        <p:nvSpPr>
          <p:cNvPr id="12" name="Shape 10"/>
          <p:cNvSpPr/>
          <p:nvPr/>
        </p:nvSpPr>
        <p:spPr>
          <a:xfrm>
            <a:off x="429768" y="2651760"/>
            <a:ext cx="11329416" cy="822960"/>
          </a:xfrm>
          <a:prstGeom prst="rect">
            <a:avLst/>
          </a:prstGeom>
          <a:solidFill>
            <a:srgbClr val="FFFFFF"/>
          </a:solidFill>
          <a:ln w="12700">
            <a:solidFill>
              <a:srgbClr val="DCE3EE"/>
            </a:solidFill>
            <a:prstDash val="solid"/>
          </a:ln>
        </p:spPr>
      </p:sp>
      <p:sp>
        <p:nvSpPr>
          <p:cNvPr id="13" name="Shape 11"/>
          <p:cNvSpPr/>
          <p:nvPr/>
        </p:nvSpPr>
        <p:spPr>
          <a:xfrm>
            <a:off x="429768" y="2651760"/>
            <a:ext cx="82296" cy="822960"/>
          </a:xfrm>
          <a:prstGeom prst="rect">
            <a:avLst/>
          </a:prstGeom>
          <a:solidFill>
            <a:srgbClr val="0F6E7A"/>
          </a:solidFill>
          <a:ln/>
        </p:spPr>
      </p:sp>
      <p:sp>
        <p:nvSpPr>
          <p:cNvPr id="14" name="Shape 12"/>
          <p:cNvSpPr/>
          <p:nvPr/>
        </p:nvSpPr>
        <p:spPr>
          <a:xfrm>
            <a:off x="676656" y="2779776"/>
            <a:ext cx="566928" cy="566928"/>
          </a:xfrm>
          <a:prstGeom prst="ellipse">
            <a:avLst/>
          </a:prstGeom>
          <a:solidFill>
            <a:srgbClr val="0F6E7A"/>
          </a:solidFill>
          <a:ln/>
        </p:spPr>
      </p:sp>
      <p:sp>
        <p:nvSpPr>
          <p:cNvPr id="15" name="Text 13"/>
          <p:cNvSpPr/>
          <p:nvPr/>
        </p:nvSpPr>
        <p:spPr>
          <a:xfrm>
            <a:off x="676656" y="27797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1481328" y="2651760"/>
            <a:ext cx="2926080" cy="822960"/>
          </a:xfrm>
          <a:prstGeom prst="rect">
            <a:avLst/>
          </a:prstGeom>
          <a:noFill/>
          <a:ln/>
        </p:spPr>
        <p:txBody>
          <a:bodyPr wrap="square" lIns="0" tIns="0" rIns="0" bIns="0" rtlCol="0" anchor="ctr"/>
          <a:lstStyle/>
          <a:p>
            <a:pPr indent="0" marL="0">
              <a:buNone/>
            </a:pPr>
            <a:r>
              <a:rPr lang="en-US" sz="1500" b="1" dirty="0">
                <a:solidFill>
                  <a:srgbClr val="0F6E7A"/>
                </a:solidFill>
                <a:latin typeface="Calibri" pitchFamily="34" charset="0"/>
                <a:ea typeface="Calibri" pitchFamily="34" charset="-122"/>
                <a:cs typeface="Calibri" pitchFamily="34" charset="-120"/>
              </a:rPr>
              <a:t>Adjust Income</a:t>
            </a:r>
            <a:endParaRPr lang="en-US" sz="1500" dirty="0"/>
          </a:p>
        </p:txBody>
      </p:sp>
      <p:sp>
        <p:nvSpPr>
          <p:cNvPr id="17" name="Text 15"/>
          <p:cNvSpPr/>
          <p:nvPr/>
        </p:nvSpPr>
        <p:spPr>
          <a:xfrm>
            <a:off x="4453128" y="2651760"/>
            <a:ext cx="7498080" cy="82296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Net Income에서 이자·투자 손익을 제거해 NOPAT으로 전환한다.</a:t>
            </a:r>
            <a:endParaRPr lang="en-US" sz="1250" dirty="0"/>
          </a:p>
        </p:txBody>
      </p:sp>
      <p:sp>
        <p:nvSpPr>
          <p:cNvPr id="18" name="Shape 16"/>
          <p:cNvSpPr/>
          <p:nvPr/>
        </p:nvSpPr>
        <p:spPr>
          <a:xfrm>
            <a:off x="429768" y="3566160"/>
            <a:ext cx="11329416" cy="822960"/>
          </a:xfrm>
          <a:prstGeom prst="rect">
            <a:avLst/>
          </a:prstGeom>
          <a:solidFill>
            <a:srgbClr val="FFFFFF"/>
          </a:solidFill>
          <a:ln w="12700">
            <a:solidFill>
              <a:srgbClr val="DCE3EE"/>
            </a:solidFill>
            <a:prstDash val="solid"/>
          </a:ln>
        </p:spPr>
      </p:sp>
      <p:sp>
        <p:nvSpPr>
          <p:cNvPr id="19" name="Shape 17"/>
          <p:cNvSpPr/>
          <p:nvPr/>
        </p:nvSpPr>
        <p:spPr>
          <a:xfrm>
            <a:off x="429768" y="3566160"/>
            <a:ext cx="82296" cy="822960"/>
          </a:xfrm>
          <a:prstGeom prst="rect">
            <a:avLst/>
          </a:prstGeom>
          <a:solidFill>
            <a:srgbClr val="9A6600"/>
          </a:solidFill>
          <a:ln/>
        </p:spPr>
      </p:sp>
      <p:sp>
        <p:nvSpPr>
          <p:cNvPr id="20" name="Shape 18"/>
          <p:cNvSpPr/>
          <p:nvPr/>
        </p:nvSpPr>
        <p:spPr>
          <a:xfrm>
            <a:off x="676656" y="3694176"/>
            <a:ext cx="566928" cy="566928"/>
          </a:xfrm>
          <a:prstGeom prst="ellipse">
            <a:avLst/>
          </a:prstGeom>
          <a:solidFill>
            <a:srgbClr val="9A6600"/>
          </a:solidFill>
          <a:ln/>
        </p:spPr>
      </p:sp>
      <p:sp>
        <p:nvSpPr>
          <p:cNvPr id="21" name="Text 19"/>
          <p:cNvSpPr/>
          <p:nvPr/>
        </p:nvSpPr>
        <p:spPr>
          <a:xfrm>
            <a:off x="676656" y="36941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2" name="Text 20"/>
          <p:cNvSpPr/>
          <p:nvPr/>
        </p:nvSpPr>
        <p:spPr>
          <a:xfrm>
            <a:off x="1481328" y="3566160"/>
            <a:ext cx="2926080" cy="822960"/>
          </a:xfrm>
          <a:prstGeom prst="rect">
            <a:avLst/>
          </a:prstGeom>
          <a:noFill/>
          <a:ln/>
        </p:spPr>
        <p:txBody>
          <a:bodyPr wrap="square" lIns="0" tIns="0" rIns="0" bIns="0" rtlCol="0" anchor="ctr"/>
          <a:lstStyle/>
          <a:p>
            <a:pPr indent="0" marL="0">
              <a:buNone/>
            </a:pPr>
            <a:r>
              <a:rPr lang="en-US" sz="1500" b="1" dirty="0">
                <a:solidFill>
                  <a:srgbClr val="9A6600"/>
                </a:solidFill>
                <a:latin typeface="Calibri" pitchFamily="34" charset="0"/>
                <a:ea typeface="Calibri" pitchFamily="34" charset="-122"/>
                <a:cs typeface="Calibri" pitchFamily="34" charset="-120"/>
              </a:rPr>
              <a:t>Adjust Capital</a:t>
            </a:r>
            <a:endParaRPr lang="en-US" sz="1500" dirty="0"/>
          </a:p>
        </p:txBody>
      </p:sp>
      <p:sp>
        <p:nvSpPr>
          <p:cNvPr id="23" name="Text 21"/>
          <p:cNvSpPr/>
          <p:nvPr/>
        </p:nvSpPr>
        <p:spPr>
          <a:xfrm>
            <a:off x="4453128" y="3566160"/>
            <a:ext cx="7498080" cy="82296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Total Assets에서 운전자본과 PP&amp;E를 분리해 NOA로 전환한다.</a:t>
            </a:r>
            <a:endParaRPr lang="en-US" sz="1250" dirty="0"/>
          </a:p>
        </p:txBody>
      </p:sp>
      <p:sp>
        <p:nvSpPr>
          <p:cNvPr id="24" name="Shape 22"/>
          <p:cNvSpPr/>
          <p:nvPr/>
        </p:nvSpPr>
        <p:spPr>
          <a:xfrm>
            <a:off x="429768" y="4480560"/>
            <a:ext cx="11329416" cy="822960"/>
          </a:xfrm>
          <a:prstGeom prst="rect">
            <a:avLst/>
          </a:prstGeom>
          <a:solidFill>
            <a:srgbClr val="FFFFFF"/>
          </a:solidFill>
          <a:ln w="12700">
            <a:solidFill>
              <a:srgbClr val="DCE3EE"/>
            </a:solidFill>
            <a:prstDash val="solid"/>
          </a:ln>
        </p:spPr>
      </p:sp>
      <p:sp>
        <p:nvSpPr>
          <p:cNvPr id="25" name="Shape 23"/>
          <p:cNvSpPr/>
          <p:nvPr/>
        </p:nvSpPr>
        <p:spPr>
          <a:xfrm>
            <a:off x="429768" y="4480560"/>
            <a:ext cx="82296" cy="822960"/>
          </a:xfrm>
          <a:prstGeom prst="rect">
            <a:avLst/>
          </a:prstGeom>
          <a:solidFill>
            <a:srgbClr val="1E7A4C"/>
          </a:solidFill>
          <a:ln/>
        </p:spPr>
      </p:sp>
      <p:sp>
        <p:nvSpPr>
          <p:cNvPr id="26" name="Shape 24"/>
          <p:cNvSpPr/>
          <p:nvPr/>
        </p:nvSpPr>
        <p:spPr>
          <a:xfrm>
            <a:off x="676656" y="4608576"/>
            <a:ext cx="566928" cy="566928"/>
          </a:xfrm>
          <a:prstGeom prst="ellipse">
            <a:avLst/>
          </a:prstGeom>
          <a:solidFill>
            <a:srgbClr val="1E7A4C"/>
          </a:solidFill>
          <a:ln/>
        </p:spPr>
      </p:sp>
      <p:sp>
        <p:nvSpPr>
          <p:cNvPr id="27" name="Text 25"/>
          <p:cNvSpPr/>
          <p:nvPr/>
        </p:nvSpPr>
        <p:spPr>
          <a:xfrm>
            <a:off x="676656" y="46085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8" name="Text 26"/>
          <p:cNvSpPr/>
          <p:nvPr/>
        </p:nvSpPr>
        <p:spPr>
          <a:xfrm>
            <a:off x="1481328" y="4480560"/>
            <a:ext cx="2926080" cy="822960"/>
          </a:xfrm>
          <a:prstGeom prst="rect">
            <a:avLst/>
          </a:prstGeom>
          <a:noFill/>
          <a:ln/>
        </p:spPr>
        <p:txBody>
          <a:bodyPr wrap="square" lIns="0" tIns="0" rIns="0" bIns="0" rtlCol="0" anchor="ctr"/>
          <a:lstStyle/>
          <a:p>
            <a:pPr indent="0" marL="0">
              <a:buNone/>
            </a:pPr>
            <a:r>
              <a:rPr lang="en-US" sz="1500" b="1" dirty="0">
                <a:solidFill>
                  <a:srgbClr val="1E7A4C"/>
                </a:solidFill>
                <a:latin typeface="Calibri" pitchFamily="34" charset="0"/>
                <a:ea typeface="Calibri" pitchFamily="34" charset="-122"/>
                <a:cs typeface="Calibri" pitchFamily="34" charset="-120"/>
              </a:rPr>
              <a:t>Interpret</a:t>
            </a:r>
            <a:endParaRPr lang="en-US" sz="1500" dirty="0"/>
          </a:p>
        </p:txBody>
      </p:sp>
      <p:sp>
        <p:nvSpPr>
          <p:cNvPr id="29" name="Text 27"/>
          <p:cNvSpPr/>
          <p:nvPr/>
        </p:nvSpPr>
        <p:spPr>
          <a:xfrm>
            <a:off x="4453128" y="4480560"/>
            <a:ext cx="7498080" cy="82296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경영자는 RNOA로, 자본구조는 ROE로 판단한다.</a:t>
            </a:r>
            <a:endParaRPr lang="en-US" sz="1250" dirty="0"/>
          </a:p>
        </p:txBody>
      </p:sp>
      <p:sp>
        <p:nvSpPr>
          <p:cNvPr id="30" name="Shape 28"/>
          <p:cNvSpPr/>
          <p:nvPr/>
        </p:nvSpPr>
        <p:spPr>
          <a:xfrm>
            <a:off x="429768" y="5431536"/>
            <a:ext cx="11329416" cy="512064"/>
          </a:xfrm>
          <a:prstGeom prst="rect">
            <a:avLst/>
          </a:prstGeom>
          <a:solidFill>
            <a:srgbClr val="14306B"/>
          </a:solidFill>
          <a:ln/>
        </p:spPr>
      </p:sp>
      <p:sp>
        <p:nvSpPr>
          <p:cNvPr id="31" name="Text 29"/>
          <p:cNvSpPr/>
          <p:nvPr/>
        </p:nvSpPr>
        <p:spPr>
          <a:xfrm>
            <a:off x="685800" y="5431536"/>
            <a:ext cx="10817352" cy="512064"/>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두 질문:  RNOA는 “사업 자체가 얼마나 좋은가?”, ROE는 “자금조달까지 더하면 얼마나 좋은가?”에 답합니다.</a:t>
            </a:r>
            <a:endParaRPr lang="en-US" sz="12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4899"/>
          </a:solidFill>
          <a:ln/>
        </p:spPr>
      </p:sp>
      <p:sp>
        <p:nvSpPr>
          <p:cNvPr id="3" name="Shape 1"/>
          <p:cNvSpPr/>
          <p:nvPr/>
        </p:nvSpPr>
        <p:spPr>
          <a:xfrm>
            <a:off x="0" y="3017520"/>
            <a:ext cx="12191695" cy="50292"/>
          </a:xfrm>
          <a:prstGeom prst="rect">
            <a:avLst/>
          </a:prstGeom>
          <a:solidFill>
            <a:srgbClr val="FFFFFF"/>
          </a:solidFill>
          <a:ln/>
        </p:spPr>
      </p:sp>
      <p:sp>
        <p:nvSpPr>
          <p:cNvPr id="4" name="Text 2"/>
          <p:cNvSpPr/>
          <p:nvPr/>
        </p:nvSpPr>
        <p:spPr>
          <a:xfrm>
            <a:off x="0" y="2304288"/>
            <a:ext cx="12191695" cy="457200"/>
          </a:xfrm>
          <a:prstGeom prst="rect">
            <a:avLst/>
          </a:prstGeom>
          <a:noFill/>
          <a:ln/>
        </p:spPr>
        <p:txBody>
          <a:bodyPr wrap="square" rtlCol="0" anchor="ctr"/>
          <a:lstStyle/>
          <a:p>
            <a:pPr algn="ctr" indent="0" marL="0">
              <a:buNone/>
            </a:pPr>
            <a:r>
              <a:rPr lang="en-US" sz="1600" b="1" spc="400" kern="0" dirty="0">
                <a:solidFill>
                  <a:srgbClr val="FFFFFF"/>
                </a:solidFill>
                <a:latin typeface="Calibri" pitchFamily="34" charset="0"/>
                <a:ea typeface="Calibri" pitchFamily="34" charset="-122"/>
                <a:cs typeface="Calibri" pitchFamily="34" charset="-120"/>
              </a:rPr>
              <a:t>END OF CHAPTER 5</a:t>
            </a:r>
            <a:endParaRPr lang="en-US" sz="1600" dirty="0"/>
          </a:p>
        </p:txBody>
      </p:sp>
      <p:sp>
        <p:nvSpPr>
          <p:cNvPr id="5" name="Text 3"/>
          <p:cNvSpPr/>
          <p:nvPr/>
        </p:nvSpPr>
        <p:spPr>
          <a:xfrm>
            <a:off x="731520" y="3255264"/>
            <a:ext cx="10728655" cy="841248"/>
          </a:xfrm>
          <a:prstGeom prst="rect">
            <a:avLst/>
          </a:prstGeom>
          <a:noFill/>
          <a:ln/>
        </p:spPr>
        <p:txBody>
          <a:bodyPr wrap="square" rtlCol="0" anchor="ctr"/>
          <a:lstStyle/>
          <a:p>
            <a:pPr algn="ctr" indent="0" marL="0">
              <a:buNone/>
            </a:pPr>
            <a:r>
              <a:rPr lang="en-US" sz="3800" b="1" dirty="0">
                <a:solidFill>
                  <a:srgbClr val="FFFFFF"/>
                </a:solidFill>
                <a:latin typeface="Calibri Light" pitchFamily="34" charset="0"/>
                <a:ea typeface="Calibri Light" pitchFamily="34" charset="-122"/>
                <a:cs typeface="Calibri Light" pitchFamily="34" charset="-120"/>
              </a:rPr>
              <a:t>Clarity in Capital</a:t>
            </a:r>
            <a:endParaRPr lang="en-US" sz="3800" dirty="0"/>
          </a:p>
        </p:txBody>
      </p:sp>
      <p:sp>
        <p:nvSpPr>
          <p:cNvPr id="6" name="Text 4"/>
          <p:cNvSpPr/>
          <p:nvPr/>
        </p:nvSpPr>
        <p:spPr>
          <a:xfrm>
            <a:off x="731520" y="4206240"/>
            <a:ext cx="10728655" cy="365760"/>
          </a:xfrm>
          <a:prstGeom prst="rect">
            <a:avLst/>
          </a:prstGeom>
          <a:noFill/>
          <a:ln/>
        </p:spPr>
        <p:txBody>
          <a:bodyPr wrap="square" rtlCol="0" anchor="ctr"/>
          <a:lstStyle/>
          <a:p>
            <a:pPr algn="ctr" indent="0" marL="0">
              <a:buNone/>
            </a:pPr>
            <a:r>
              <a:rPr lang="en-US" sz="1500" dirty="0">
                <a:solidFill>
                  <a:srgbClr val="C8D6F0"/>
                </a:solidFill>
                <a:latin typeface="Calibri" pitchFamily="34" charset="0"/>
                <a:ea typeface="Calibri" pitchFamily="34" charset="-122"/>
                <a:cs typeface="Calibri" pitchFamily="34" charset="-120"/>
              </a:rPr>
              <a:t>영업활동을 분리해냄으로써, 재무제표를 읽는 단계에서 사업의 엔진을 이해하는 단계로 나아갑니다.</a:t>
            </a:r>
            <a:endParaRPr lang="en-US" sz="1500" dirty="0"/>
          </a:p>
        </p:txBody>
      </p:sp>
      <p:sp>
        <p:nvSpPr>
          <p:cNvPr id="7" name="Text 5"/>
          <p:cNvSpPr/>
          <p:nvPr/>
        </p:nvSpPr>
        <p:spPr>
          <a:xfrm>
            <a:off x="731520" y="4736592"/>
            <a:ext cx="10728655" cy="365760"/>
          </a:xfrm>
          <a:prstGeom prst="rect">
            <a:avLst/>
          </a:prstGeom>
          <a:noFill/>
          <a:ln/>
        </p:spPr>
        <p:txBody>
          <a:bodyPr wrap="square" rtlCol="0" anchor="ctr"/>
          <a:lstStyle/>
          <a:p>
            <a:pPr algn="ctr" indent="0" marL="0">
              <a:buNone/>
            </a:pPr>
            <a:r>
              <a:rPr lang="en-US" sz="1300" dirty="0">
                <a:solidFill>
                  <a:srgbClr val="9FB4DC"/>
                </a:solidFill>
                <a:latin typeface="Calibri" pitchFamily="34" charset="0"/>
                <a:ea typeface="Calibri" pitchFamily="34" charset="-122"/>
                <a:cs typeface="Calibri" pitchFamily="34" charset="-120"/>
              </a:rPr>
              <a:t>Distinguish  ·  Adjust (NOPAT &amp; NOA)  ·  Interpret (RNOA vs. ROE)</a:t>
            </a:r>
            <a:endParaRPr lang="en-US" sz="1300" dirty="0"/>
          </a:p>
        </p:txBody>
      </p:sp>
      <p:sp>
        <p:nvSpPr>
          <p:cNvPr id="8" name="Text 6"/>
          <p:cNvSpPr/>
          <p:nvPr/>
        </p:nvSpPr>
        <p:spPr>
          <a:xfrm>
            <a:off x="731520" y="6126480"/>
            <a:ext cx="10728655" cy="310896"/>
          </a:xfrm>
          <a:prstGeom prst="rect">
            <a:avLst/>
          </a:prstGeom>
          <a:noFill/>
          <a:ln/>
        </p:spPr>
        <p:txBody>
          <a:bodyPr wrap="square" rtlCol="0" anchor="ctr"/>
          <a:lstStyle/>
          <a:p>
            <a:pPr algn="ctr" indent="0" marL="0">
              <a:buNone/>
            </a:pPr>
            <a:r>
              <a:rPr lang="en-US" sz="1200" dirty="0">
                <a:solidFill>
                  <a:srgbClr val="8FA8D6"/>
                </a:solidFill>
                <a:latin typeface="Calibri" pitchFamily="34" charset="0"/>
                <a:ea typeface="Calibri" pitchFamily="34" charset="-122"/>
                <a:cs typeface="Calibri" pitchFamily="34" charset="-120"/>
              </a:rPr>
              <a:t>Financial Statement Analysis   |   KAIST College of Business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Financial Statement Analysis · KAIST College of Business</dc:subject>
  <dc:creator/>
  <cp:lastModifiedBy/>
  <cp:revision>1</cp:revision>
  <dcterms:created xsi:type="dcterms:W3CDTF">2026-07-24T08:49:22Z</dcterms:created>
  <dcterms:modified xsi:type="dcterms:W3CDTF">2026-07-24T08:49:22Z</dcterms:modified>
</cp:coreProperties>
</file>