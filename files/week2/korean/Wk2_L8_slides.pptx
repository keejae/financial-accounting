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89" r:id="rId1"/>
  </p:sldMasterIdLst>
  <p:notesMasterIdLst>
    <p:notesMasterId r:id="rId35"/>
  </p:notesMasterIdLst>
  <p:sldIdLst>
    <p:sldId id="256" r:id="rId2"/>
    <p:sldId id="460" r:id="rId3"/>
    <p:sldId id="461" r:id="rId4"/>
    <p:sldId id="474" r:id="rId5"/>
    <p:sldId id="527" r:id="rId6"/>
    <p:sldId id="260" r:id="rId7"/>
    <p:sldId id="528" r:id="rId8"/>
    <p:sldId id="529" r:id="rId9"/>
    <p:sldId id="530" r:id="rId10"/>
    <p:sldId id="475" r:id="rId11"/>
    <p:sldId id="479" r:id="rId12"/>
    <p:sldId id="531" r:id="rId13"/>
    <p:sldId id="497" r:id="rId14"/>
    <p:sldId id="498" r:id="rId15"/>
    <p:sldId id="532" r:id="rId16"/>
    <p:sldId id="499" r:id="rId17"/>
    <p:sldId id="496" r:id="rId18"/>
    <p:sldId id="533" r:id="rId19"/>
    <p:sldId id="534" r:id="rId20"/>
    <p:sldId id="545" r:id="rId21"/>
    <p:sldId id="273" r:id="rId22"/>
    <p:sldId id="274" r:id="rId23"/>
    <p:sldId id="275" r:id="rId24"/>
    <p:sldId id="276" r:id="rId25"/>
    <p:sldId id="544" r:id="rId26"/>
    <p:sldId id="501" r:id="rId27"/>
    <p:sldId id="507" r:id="rId28"/>
    <p:sldId id="509" r:id="rId29"/>
    <p:sldId id="542" r:id="rId30"/>
    <p:sldId id="543" r:id="rId31"/>
    <p:sldId id="546" r:id="rId32"/>
    <p:sldId id="548" r:id="rId33"/>
    <p:sldId id="54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C8D0DD-D71B-46A6-B267-C400D1B4EA80}">
          <p14:sldIdLst>
            <p14:sldId id="256"/>
          </p14:sldIdLst>
        </p14:section>
        <p14:section name="2.5" id="{3F299E8A-D097-4AEE-BBB1-25AF1F23F6E3}">
          <p14:sldIdLst>
            <p14:sldId id="460"/>
            <p14:sldId id="461"/>
            <p14:sldId id="474"/>
            <p14:sldId id="527"/>
            <p14:sldId id="260"/>
            <p14:sldId id="528"/>
            <p14:sldId id="529"/>
            <p14:sldId id="530"/>
            <p14:sldId id="475"/>
            <p14:sldId id="479"/>
            <p14:sldId id="531"/>
            <p14:sldId id="497"/>
            <p14:sldId id="498"/>
            <p14:sldId id="532"/>
            <p14:sldId id="499"/>
            <p14:sldId id="496"/>
            <p14:sldId id="533"/>
            <p14:sldId id="534"/>
            <p14:sldId id="545"/>
            <p14:sldId id="273"/>
            <p14:sldId id="274"/>
            <p14:sldId id="275"/>
            <p14:sldId id="276"/>
            <p14:sldId id="544"/>
            <p14:sldId id="501"/>
            <p14:sldId id="507"/>
            <p14:sldId id="509"/>
            <p14:sldId id="542"/>
            <p14:sldId id="543"/>
            <p14:sldId id="546"/>
            <p14:sldId id="548"/>
            <p14:sldId id="547"/>
          </p14:sldIdLst>
        </p14:section>
      </p14:sectionLst>
    </p:ext>
    <p:ext uri="{EFAFB233-063F-42B5-8137-9DF3F51BA10A}">
      <p15:sldGuideLst xmlns:p15="http://schemas.microsoft.com/office/powerpoint/2012/main">
        <p15:guide id="1" orient="horz" pos="22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2F2"/>
    <a:srgbClr val="1F4899"/>
    <a:srgbClr val="E8F5E9"/>
    <a:srgbClr val="DCFCE7"/>
    <a:srgbClr val="EF4444"/>
    <a:srgbClr val="854D0E"/>
    <a:srgbClr val="E9D5FF"/>
    <a:srgbClr val="2563EB"/>
    <a:srgbClr val="1E40AF"/>
    <a:srgbClr val="DBEAF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73" autoAdjust="0"/>
    <p:restoredTop sz="79389" autoAdjust="0"/>
  </p:normalViewPr>
  <p:slideViewPr>
    <p:cSldViewPr snapToGrid="0" snapToObjects="1" showGuides="1">
      <p:cViewPr varScale="1">
        <p:scale>
          <a:sx n="84" d="100"/>
          <a:sy n="84" d="100"/>
        </p:scale>
        <p:origin x="738" y="72"/>
      </p:cViewPr>
      <p:guideLst>
        <p:guide orient="horz" pos="2260"/>
        <p:guide pos="3840"/>
      </p:guideLst>
    </p:cSldViewPr>
  </p:slideViewPr>
  <p:outlineViewPr>
    <p:cViewPr>
      <p:scale>
        <a:sx n="33" d="100"/>
        <a:sy n="33" d="100"/>
      </p:scale>
      <p:origin x="0" y="-30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4E029D-4975-9049-A4B2-065531108780}" type="datetimeFigureOut">
              <a:rPr lang="en-US" smtClean="0"/>
              <a:t>8/7/2026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E3E56B-C3C4-8E4F-B314-D5C81CC34EEF}" type="slidenum">
              <a:rPr lang="en-US" smtClean="0"/>
              <a:t>‹#›</a:t>
            </a:fld>
            <a:endParaRPr lang="en-US"/>
          </a:p>
        </p:txBody>
      </p:sp>
    </p:spTree>
    <p:extLst>
      <p:ext uri="{BB962C8B-B14F-4D97-AF65-F5344CB8AC3E}">
        <p14:creationId xmlns:p14="http://schemas.microsoft.com/office/powerpoint/2010/main" val="427407859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move through six sections, starting with why we need accounting information, moving through the mechanics of the statements, and finishing with how to analyze those statements using ratios like ROE.</a:t>
            </a:r>
          </a:p>
        </p:txBody>
      </p:sp>
      <p:sp>
        <p:nvSpPr>
          <p:cNvPr id="4" name="Slide Number Placeholder 3"/>
          <p:cNvSpPr>
            <a:spLocks noGrp="1"/>
          </p:cNvSpPr>
          <p:nvPr>
            <p:ph type="sldNum" sz="quarter" idx="5"/>
          </p:nvPr>
        </p:nvSpPr>
        <p:spPr/>
        <p:txBody>
          <a:bodyPr/>
          <a:lstStyle/>
          <a:p>
            <a:fld id="{D0E3E56B-C3C4-8E4F-B314-D5C81CC34EEF}" type="slidenum">
              <a:rPr lang="en-US" smtClean="0"/>
              <a:t>2</a:t>
            </a:fld>
            <a:endParaRPr lang="en-US"/>
          </a:p>
        </p:txBody>
      </p:sp>
    </p:spTree>
    <p:extLst>
      <p:ext uri="{BB962C8B-B14F-4D97-AF65-F5344CB8AC3E}">
        <p14:creationId xmlns:p14="http://schemas.microsoft.com/office/powerpoint/2010/main" val="3747766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090E7-0C1E-CAA0-4E4C-7B5608616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A0CBB-D610-1099-99E2-510375DDE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76C09-CC5D-1195-A6A4-3B0F2BB0B7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5FC374-48EC-8E86-96E8-DECFB6B2599B}"/>
              </a:ext>
            </a:extLst>
          </p:cNvPr>
          <p:cNvSpPr>
            <a:spLocks noGrp="1"/>
          </p:cNvSpPr>
          <p:nvPr>
            <p:ph type="sldNum" sz="quarter" idx="5"/>
          </p:nvPr>
        </p:nvSpPr>
        <p:spPr/>
        <p:txBody>
          <a:bodyPr/>
          <a:lstStyle/>
          <a:p>
            <a:fld id="{D0E3E56B-C3C4-8E4F-B314-D5C81CC34EEF}" type="slidenum">
              <a:rPr lang="en-US" smtClean="0"/>
              <a:t>4</a:t>
            </a:fld>
            <a:endParaRPr lang="en-US"/>
          </a:p>
        </p:txBody>
      </p:sp>
    </p:spTree>
    <p:extLst>
      <p:ext uri="{BB962C8B-B14F-4D97-AF65-F5344CB8AC3E}">
        <p14:creationId xmlns:p14="http://schemas.microsoft.com/office/powerpoint/2010/main" val="256606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09499-6577-15DD-CCDB-4D59804B3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A25D8-868F-4374-B809-1EC8C724F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8FF954-4255-5649-ACBD-AF9428F26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D78319-87D0-F742-EC17-A577CC09B07B}"/>
              </a:ext>
            </a:extLst>
          </p:cNvPr>
          <p:cNvSpPr>
            <a:spLocks noGrp="1"/>
          </p:cNvSpPr>
          <p:nvPr>
            <p:ph type="sldNum" sz="quarter" idx="5"/>
          </p:nvPr>
        </p:nvSpPr>
        <p:spPr/>
        <p:txBody>
          <a:bodyPr/>
          <a:lstStyle/>
          <a:p>
            <a:fld id="{D0E3E56B-C3C4-8E4F-B314-D5C81CC34EEF}" type="slidenum">
              <a:rPr lang="en-US" smtClean="0"/>
              <a:t>5</a:t>
            </a:fld>
            <a:endParaRPr lang="en-US"/>
          </a:p>
        </p:txBody>
      </p:sp>
    </p:spTree>
    <p:extLst>
      <p:ext uri="{BB962C8B-B14F-4D97-AF65-F5344CB8AC3E}">
        <p14:creationId xmlns:p14="http://schemas.microsoft.com/office/powerpoint/2010/main" val="532790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8066-49DA-31F9-52DF-531FE17B5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0E9D8-B60E-E326-F497-1F88A3AC3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F720E-5A3C-6F63-1CCB-BA7E610EE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506AF9-9975-A986-4FF5-411B3F8543C0}"/>
              </a:ext>
            </a:extLst>
          </p:cNvPr>
          <p:cNvSpPr>
            <a:spLocks noGrp="1"/>
          </p:cNvSpPr>
          <p:nvPr>
            <p:ph type="sldNum" sz="quarter" idx="5"/>
          </p:nvPr>
        </p:nvSpPr>
        <p:spPr/>
        <p:txBody>
          <a:bodyPr/>
          <a:lstStyle/>
          <a:p>
            <a:fld id="{D0E3E56B-C3C4-8E4F-B314-D5C81CC34EEF}" type="slidenum">
              <a:rPr lang="en-US" smtClean="0"/>
              <a:t>7</a:t>
            </a:fld>
            <a:endParaRPr lang="en-US"/>
          </a:p>
        </p:txBody>
      </p:sp>
    </p:spTree>
    <p:extLst>
      <p:ext uri="{BB962C8B-B14F-4D97-AF65-F5344CB8AC3E}">
        <p14:creationId xmlns:p14="http://schemas.microsoft.com/office/powerpoint/2010/main" val="2478918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F107-D795-358F-1B4B-5922B2499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59FF9-98AF-FBE3-E22D-341DD6DB0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1D2BF-E57F-3501-255E-D0073F9A04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37E38D-F7C8-33D3-C049-E1C459E35DC9}"/>
              </a:ext>
            </a:extLst>
          </p:cNvPr>
          <p:cNvSpPr>
            <a:spLocks noGrp="1"/>
          </p:cNvSpPr>
          <p:nvPr>
            <p:ph type="sldNum" sz="quarter" idx="5"/>
          </p:nvPr>
        </p:nvSpPr>
        <p:spPr/>
        <p:txBody>
          <a:bodyPr/>
          <a:lstStyle/>
          <a:p>
            <a:fld id="{D0E3E56B-C3C4-8E4F-B314-D5C81CC34EEF}" type="slidenum">
              <a:rPr lang="en-US" smtClean="0"/>
              <a:t>8</a:t>
            </a:fld>
            <a:endParaRPr lang="en-US"/>
          </a:p>
        </p:txBody>
      </p:sp>
    </p:spTree>
    <p:extLst>
      <p:ext uri="{BB962C8B-B14F-4D97-AF65-F5344CB8AC3E}">
        <p14:creationId xmlns:p14="http://schemas.microsoft.com/office/powerpoint/2010/main" val="2273907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D47B-8E8F-51C9-C9BC-E5F4E9FA8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CD74B-783F-E7A0-8E55-CA12D8996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B1628-A78F-A69A-497C-357E02D344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3ABDAF-D325-CAB0-3169-611E237CFF7D}"/>
              </a:ext>
            </a:extLst>
          </p:cNvPr>
          <p:cNvSpPr>
            <a:spLocks noGrp="1"/>
          </p:cNvSpPr>
          <p:nvPr>
            <p:ph type="sldNum" sz="quarter" idx="5"/>
          </p:nvPr>
        </p:nvSpPr>
        <p:spPr/>
        <p:txBody>
          <a:bodyPr/>
          <a:lstStyle/>
          <a:p>
            <a:fld id="{D0E3E56B-C3C4-8E4F-B314-D5C81CC34EEF}" type="slidenum">
              <a:rPr lang="en-US" smtClean="0"/>
              <a:t>10</a:t>
            </a:fld>
            <a:endParaRPr lang="en-US"/>
          </a:p>
        </p:txBody>
      </p:sp>
    </p:spTree>
    <p:extLst>
      <p:ext uri="{BB962C8B-B14F-4D97-AF65-F5344CB8AC3E}">
        <p14:creationId xmlns:p14="http://schemas.microsoft.com/office/powerpoint/2010/main" val="186270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ADB6F-AA4C-073D-8FBB-5D28544C3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420B8-FCAB-780F-F38A-E29B3BCA4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F339C-38E9-C585-DFF7-CA6658F28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C008DE-778A-AF11-8BE9-F29FCB9B0C1D}"/>
              </a:ext>
            </a:extLst>
          </p:cNvPr>
          <p:cNvSpPr>
            <a:spLocks noGrp="1"/>
          </p:cNvSpPr>
          <p:nvPr>
            <p:ph type="sldNum" sz="quarter" idx="5"/>
          </p:nvPr>
        </p:nvSpPr>
        <p:spPr/>
        <p:txBody>
          <a:bodyPr/>
          <a:lstStyle/>
          <a:p>
            <a:fld id="{D0E3E56B-C3C4-8E4F-B314-D5C81CC34EEF}" type="slidenum">
              <a:rPr lang="en-US" smtClean="0"/>
              <a:t>11</a:t>
            </a:fld>
            <a:endParaRPr lang="en-US"/>
          </a:p>
        </p:txBody>
      </p:sp>
    </p:spTree>
    <p:extLst>
      <p:ext uri="{BB962C8B-B14F-4D97-AF65-F5344CB8AC3E}">
        <p14:creationId xmlns:p14="http://schemas.microsoft.com/office/powerpoint/2010/main" val="1074157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32F72-5EAB-CE28-60D3-CDB4B0294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6B58A-D940-BEF3-7DED-8E54DC091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7B09C-381B-7625-12D1-4E9B17F1BF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2DBEF4-E497-CBF8-7288-86AE457718F6}"/>
              </a:ext>
            </a:extLst>
          </p:cNvPr>
          <p:cNvSpPr>
            <a:spLocks noGrp="1"/>
          </p:cNvSpPr>
          <p:nvPr>
            <p:ph type="sldNum" sz="quarter" idx="5"/>
          </p:nvPr>
        </p:nvSpPr>
        <p:spPr/>
        <p:txBody>
          <a:bodyPr/>
          <a:lstStyle/>
          <a:p>
            <a:fld id="{D0E3E56B-C3C4-8E4F-B314-D5C81CC34EEF}" type="slidenum">
              <a:rPr lang="en-US" smtClean="0"/>
              <a:t>12</a:t>
            </a:fld>
            <a:endParaRPr lang="en-US"/>
          </a:p>
        </p:txBody>
      </p:sp>
    </p:spTree>
    <p:extLst>
      <p:ext uri="{BB962C8B-B14F-4D97-AF65-F5344CB8AC3E}">
        <p14:creationId xmlns:p14="http://schemas.microsoft.com/office/powerpoint/2010/main" val="266716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EFB7A-4266-39F6-1462-B44745A37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8E008-4B7A-7588-DE02-18E1BC8B2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BE9F9-5BDE-99ED-6DB9-CB5D59739A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144CE5-59A5-5D42-3ECD-DA25495D9225}"/>
              </a:ext>
            </a:extLst>
          </p:cNvPr>
          <p:cNvSpPr>
            <a:spLocks noGrp="1"/>
          </p:cNvSpPr>
          <p:nvPr>
            <p:ph type="sldNum" sz="quarter" idx="5"/>
          </p:nvPr>
        </p:nvSpPr>
        <p:spPr/>
        <p:txBody>
          <a:bodyPr/>
          <a:lstStyle/>
          <a:p>
            <a:fld id="{D0E3E56B-C3C4-8E4F-B314-D5C81CC34EEF}" type="slidenum">
              <a:rPr lang="en-US" smtClean="0"/>
              <a:t>13</a:t>
            </a:fld>
            <a:endParaRPr lang="en-US"/>
          </a:p>
        </p:txBody>
      </p:sp>
    </p:spTree>
    <p:extLst>
      <p:ext uri="{BB962C8B-B14F-4D97-AF65-F5344CB8AC3E}">
        <p14:creationId xmlns:p14="http://schemas.microsoft.com/office/powerpoint/2010/main" val="1248852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00D7-44A8-76FB-C6AD-EDB21D236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ABA82-9755-DA43-9C02-0FDB56817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53F23-BEF1-4B92-24EF-C2BD4E8E4C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5A960A-2099-59F2-A7FE-7653100581CB}"/>
              </a:ext>
            </a:extLst>
          </p:cNvPr>
          <p:cNvSpPr>
            <a:spLocks noGrp="1"/>
          </p:cNvSpPr>
          <p:nvPr>
            <p:ph type="sldNum" sz="quarter" idx="5"/>
          </p:nvPr>
        </p:nvSpPr>
        <p:spPr/>
        <p:txBody>
          <a:bodyPr/>
          <a:lstStyle/>
          <a:p>
            <a:fld id="{D0E3E56B-C3C4-8E4F-B314-D5C81CC34EEF}" type="slidenum">
              <a:rPr lang="en-US" smtClean="0"/>
              <a:t>14</a:t>
            </a:fld>
            <a:endParaRPr lang="en-US"/>
          </a:p>
        </p:txBody>
      </p:sp>
    </p:spTree>
    <p:extLst>
      <p:ext uri="{BB962C8B-B14F-4D97-AF65-F5344CB8AC3E}">
        <p14:creationId xmlns:p14="http://schemas.microsoft.com/office/powerpoint/2010/main" val="2585159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EBDA-146C-5036-30BE-FE7BF082D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F55C22-1945-8583-5F59-67C221AB9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A5CB04-68DB-5AC6-0F5C-575435751A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74A322-DC3C-26A0-7FC5-BDB52858D481}"/>
              </a:ext>
            </a:extLst>
          </p:cNvPr>
          <p:cNvSpPr>
            <a:spLocks noGrp="1"/>
          </p:cNvSpPr>
          <p:nvPr>
            <p:ph type="sldNum" sz="quarter" idx="5"/>
          </p:nvPr>
        </p:nvSpPr>
        <p:spPr/>
        <p:txBody>
          <a:bodyPr/>
          <a:lstStyle/>
          <a:p>
            <a:fld id="{D0E3E56B-C3C4-8E4F-B314-D5C81CC34EEF}" type="slidenum">
              <a:rPr lang="en-US" smtClean="0"/>
              <a:t>16</a:t>
            </a:fld>
            <a:endParaRPr lang="en-US"/>
          </a:p>
        </p:txBody>
      </p:sp>
    </p:spTree>
    <p:extLst>
      <p:ext uri="{BB962C8B-B14F-4D97-AF65-F5344CB8AC3E}">
        <p14:creationId xmlns:p14="http://schemas.microsoft.com/office/powerpoint/2010/main" val="1493847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41E14-2F01-FF52-1774-0469D34A1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66A70-3C0F-B1AC-999B-6BF3AA12A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58FE3-3E98-7F9B-ADAA-45E63EB16C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E235F7-5C5B-EC6D-A701-05111781358B}"/>
              </a:ext>
            </a:extLst>
          </p:cNvPr>
          <p:cNvSpPr>
            <a:spLocks noGrp="1"/>
          </p:cNvSpPr>
          <p:nvPr>
            <p:ph type="sldNum" sz="quarter" idx="5"/>
          </p:nvPr>
        </p:nvSpPr>
        <p:spPr/>
        <p:txBody>
          <a:bodyPr/>
          <a:lstStyle/>
          <a:p>
            <a:fld id="{D0E3E56B-C3C4-8E4F-B314-D5C81CC34EEF}" type="slidenum">
              <a:rPr lang="en-US" smtClean="0"/>
              <a:t>17</a:t>
            </a:fld>
            <a:endParaRPr lang="en-US"/>
          </a:p>
        </p:txBody>
      </p:sp>
    </p:spTree>
    <p:extLst>
      <p:ext uri="{BB962C8B-B14F-4D97-AF65-F5344CB8AC3E}">
        <p14:creationId xmlns:p14="http://schemas.microsoft.com/office/powerpoint/2010/main" val="996226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58A19-5058-B136-1248-81F287D59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F391C-B19C-5078-D1AE-E0098A3AC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5E15A-6854-D979-E548-9831910FB0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814E8-7756-FBDB-C9CD-288D5058D54D}"/>
              </a:ext>
            </a:extLst>
          </p:cNvPr>
          <p:cNvSpPr>
            <a:spLocks noGrp="1"/>
          </p:cNvSpPr>
          <p:nvPr>
            <p:ph type="sldNum" sz="quarter" idx="5"/>
          </p:nvPr>
        </p:nvSpPr>
        <p:spPr/>
        <p:txBody>
          <a:bodyPr/>
          <a:lstStyle/>
          <a:p>
            <a:fld id="{D0E3E56B-C3C4-8E4F-B314-D5C81CC34EEF}" type="slidenum">
              <a:rPr lang="en-US" smtClean="0"/>
              <a:t>18</a:t>
            </a:fld>
            <a:endParaRPr lang="en-US"/>
          </a:p>
        </p:txBody>
      </p:sp>
    </p:spTree>
    <p:extLst>
      <p:ext uri="{BB962C8B-B14F-4D97-AF65-F5344CB8AC3E}">
        <p14:creationId xmlns:p14="http://schemas.microsoft.com/office/powerpoint/2010/main" val="1641671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1A9A6-6DDE-8A63-6775-E9EB9C332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14AA2-E45B-0816-D434-D24D2DB96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37607-FC06-3D81-A551-5095ECDBE3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3E6717-A496-06CF-9FDB-F7D3B23CC531}"/>
              </a:ext>
            </a:extLst>
          </p:cNvPr>
          <p:cNvSpPr>
            <a:spLocks noGrp="1"/>
          </p:cNvSpPr>
          <p:nvPr>
            <p:ph type="sldNum" sz="quarter" idx="5"/>
          </p:nvPr>
        </p:nvSpPr>
        <p:spPr/>
        <p:txBody>
          <a:bodyPr/>
          <a:lstStyle/>
          <a:p>
            <a:fld id="{D0E3E56B-C3C4-8E4F-B314-D5C81CC34EEF}" type="slidenum">
              <a:rPr lang="en-US" smtClean="0"/>
              <a:t>19</a:t>
            </a:fld>
            <a:endParaRPr lang="en-US"/>
          </a:p>
        </p:txBody>
      </p:sp>
    </p:spTree>
    <p:extLst>
      <p:ext uri="{BB962C8B-B14F-4D97-AF65-F5344CB8AC3E}">
        <p14:creationId xmlns:p14="http://schemas.microsoft.com/office/powerpoint/2010/main" val="1214230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9EDC1-19EF-8AB7-CC59-37A6A3221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BFF76-C29C-8E8F-9747-6A647B3DB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0AECA-ABF6-5D25-A869-0839E2250D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9583A4-6BE5-E0CE-090E-B0DC7BFB5E4D}"/>
              </a:ext>
            </a:extLst>
          </p:cNvPr>
          <p:cNvSpPr>
            <a:spLocks noGrp="1"/>
          </p:cNvSpPr>
          <p:nvPr>
            <p:ph type="sldNum" sz="quarter" idx="5"/>
          </p:nvPr>
        </p:nvSpPr>
        <p:spPr/>
        <p:txBody>
          <a:bodyPr/>
          <a:lstStyle/>
          <a:p>
            <a:fld id="{D0E3E56B-C3C4-8E4F-B314-D5C81CC34EEF}" type="slidenum">
              <a:rPr lang="en-US" smtClean="0"/>
              <a:t>26</a:t>
            </a:fld>
            <a:endParaRPr lang="en-US"/>
          </a:p>
        </p:txBody>
      </p:sp>
    </p:spTree>
    <p:extLst>
      <p:ext uri="{BB962C8B-B14F-4D97-AF65-F5344CB8AC3E}">
        <p14:creationId xmlns:p14="http://schemas.microsoft.com/office/powerpoint/2010/main" val="45642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7DC0B-5BFA-170A-68FF-AD26835F1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0F78C-4457-32CF-929B-A67A8E9BD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0247D-3FB4-2A10-269C-0B0936125C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A6DF8-D530-A69E-6B65-E5593922AA10}"/>
              </a:ext>
            </a:extLst>
          </p:cNvPr>
          <p:cNvSpPr>
            <a:spLocks noGrp="1"/>
          </p:cNvSpPr>
          <p:nvPr>
            <p:ph type="sldNum" sz="quarter" idx="5"/>
          </p:nvPr>
        </p:nvSpPr>
        <p:spPr/>
        <p:txBody>
          <a:bodyPr/>
          <a:lstStyle/>
          <a:p>
            <a:fld id="{D0E3E56B-C3C4-8E4F-B314-D5C81CC34EEF}" type="slidenum">
              <a:rPr lang="en-US" smtClean="0"/>
              <a:t>27</a:t>
            </a:fld>
            <a:endParaRPr lang="en-US"/>
          </a:p>
        </p:txBody>
      </p:sp>
    </p:spTree>
    <p:extLst>
      <p:ext uri="{BB962C8B-B14F-4D97-AF65-F5344CB8AC3E}">
        <p14:creationId xmlns:p14="http://schemas.microsoft.com/office/powerpoint/2010/main" val="50274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ABA0B-3956-49A6-35CC-965A23C7D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8DD04-72B8-0612-07CF-587EF114D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AD635-205C-DAAC-5013-605C452D1B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E2C16-8286-D656-1AA8-159C95A42F56}"/>
              </a:ext>
            </a:extLst>
          </p:cNvPr>
          <p:cNvSpPr>
            <a:spLocks noGrp="1"/>
          </p:cNvSpPr>
          <p:nvPr>
            <p:ph type="sldNum" sz="quarter" idx="5"/>
          </p:nvPr>
        </p:nvSpPr>
        <p:spPr/>
        <p:txBody>
          <a:bodyPr/>
          <a:lstStyle/>
          <a:p>
            <a:fld id="{D0E3E56B-C3C4-8E4F-B314-D5C81CC34EEF}" type="slidenum">
              <a:rPr lang="en-US" smtClean="0"/>
              <a:t>28</a:t>
            </a:fld>
            <a:endParaRPr lang="en-US"/>
          </a:p>
        </p:txBody>
      </p:sp>
    </p:spTree>
    <p:extLst>
      <p:ext uri="{BB962C8B-B14F-4D97-AF65-F5344CB8AC3E}">
        <p14:creationId xmlns:p14="http://schemas.microsoft.com/office/powerpoint/2010/main" val="22634734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D00A-21CA-0298-4EB8-EFF171779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51DD6-EA65-7120-FFB3-3E9EA2D08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E251C-D5AA-8848-7E13-107861677C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ABE486-E572-CECF-05E5-39082AC0CF51}"/>
              </a:ext>
            </a:extLst>
          </p:cNvPr>
          <p:cNvSpPr>
            <a:spLocks noGrp="1"/>
          </p:cNvSpPr>
          <p:nvPr>
            <p:ph type="sldNum" sz="quarter" idx="5"/>
          </p:nvPr>
        </p:nvSpPr>
        <p:spPr/>
        <p:txBody>
          <a:bodyPr/>
          <a:lstStyle/>
          <a:p>
            <a:fld id="{D0E3E56B-C3C4-8E4F-B314-D5C81CC34EEF}" type="slidenum">
              <a:rPr lang="en-US" smtClean="0"/>
              <a:t>29</a:t>
            </a:fld>
            <a:endParaRPr lang="en-US"/>
          </a:p>
        </p:txBody>
      </p:sp>
    </p:spTree>
    <p:extLst>
      <p:ext uri="{BB962C8B-B14F-4D97-AF65-F5344CB8AC3E}">
        <p14:creationId xmlns:p14="http://schemas.microsoft.com/office/powerpoint/2010/main" val="3130844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E0210-90EB-E0CF-BDB8-29BCC7EC2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F345F-A44A-648D-62DF-D2E33D8C9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9523D-3329-F3EA-F7D8-758DCA734D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D91F29-8EE2-626B-776B-0FED8AF44725}"/>
              </a:ext>
            </a:extLst>
          </p:cNvPr>
          <p:cNvSpPr>
            <a:spLocks noGrp="1"/>
          </p:cNvSpPr>
          <p:nvPr>
            <p:ph type="sldNum" sz="quarter" idx="5"/>
          </p:nvPr>
        </p:nvSpPr>
        <p:spPr/>
        <p:txBody>
          <a:bodyPr/>
          <a:lstStyle/>
          <a:p>
            <a:fld id="{D0E3E56B-C3C4-8E4F-B314-D5C81CC34EEF}" type="slidenum">
              <a:rPr lang="en-US" smtClean="0"/>
              <a:t>30</a:t>
            </a:fld>
            <a:endParaRPr lang="en-US"/>
          </a:p>
        </p:txBody>
      </p:sp>
    </p:spTree>
    <p:extLst>
      <p:ext uri="{BB962C8B-B14F-4D97-AF65-F5344CB8AC3E}">
        <p14:creationId xmlns:p14="http://schemas.microsoft.com/office/powerpoint/2010/main" val="1548942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C9F0D-7786-6A9E-296C-039AF6059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02918-1C40-3E19-D4C2-6B8268161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806BC-8181-6BF3-D309-EFEE94711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E1CB0C-C304-6498-8EA5-5DE34D319404}"/>
              </a:ext>
            </a:extLst>
          </p:cNvPr>
          <p:cNvSpPr>
            <a:spLocks noGrp="1"/>
          </p:cNvSpPr>
          <p:nvPr>
            <p:ph type="sldNum" sz="quarter" idx="5"/>
          </p:nvPr>
        </p:nvSpPr>
        <p:spPr/>
        <p:txBody>
          <a:bodyPr/>
          <a:lstStyle/>
          <a:p>
            <a:fld id="{D0E3E56B-C3C4-8E4F-B314-D5C81CC34EEF}" type="slidenum">
              <a:rPr lang="en-US" smtClean="0"/>
              <a:t>32</a:t>
            </a:fld>
            <a:endParaRPr lang="en-US"/>
          </a:p>
        </p:txBody>
      </p:sp>
    </p:spTree>
    <p:extLst>
      <p:ext uri="{BB962C8B-B14F-4D97-AF65-F5344CB8AC3E}">
        <p14:creationId xmlns:p14="http://schemas.microsoft.com/office/powerpoint/2010/main" val="685127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3261C-27D0-C16E-1E64-9E3957666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7FBA3-1C82-F876-FC6D-CC32C1C56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09B4C-EC05-372D-34F8-F6EFED333F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D88E84-E705-5B62-B36A-1E35632DE0CB}"/>
              </a:ext>
            </a:extLst>
          </p:cNvPr>
          <p:cNvSpPr>
            <a:spLocks noGrp="1"/>
          </p:cNvSpPr>
          <p:nvPr>
            <p:ph type="sldNum" sz="quarter" idx="5"/>
          </p:nvPr>
        </p:nvSpPr>
        <p:spPr/>
        <p:txBody>
          <a:bodyPr/>
          <a:lstStyle/>
          <a:p>
            <a:fld id="{D0E3E56B-C3C4-8E4F-B314-D5C81CC34EEF}" type="slidenum">
              <a:rPr lang="en-US" smtClean="0"/>
              <a:t>33</a:t>
            </a:fld>
            <a:endParaRPr lang="en-US"/>
          </a:p>
        </p:txBody>
      </p:sp>
    </p:spTree>
    <p:extLst>
      <p:ext uri="{BB962C8B-B14F-4D97-AF65-F5344CB8AC3E}">
        <p14:creationId xmlns:p14="http://schemas.microsoft.com/office/powerpoint/2010/main" val="567020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rgbClr val="1F4899"/>
                </a:solidFill>
              </a:defRPr>
            </a:lvl1pPr>
          </a:lstStyle>
          <a:p>
            <a:r>
              <a:rPr lang="en-US" dirty="0"/>
              <a:t>Click to edit Master title style</a:t>
            </a:r>
          </a:p>
        </p:txBody>
      </p:sp>
      <p:sp>
        <p:nvSpPr>
          <p:cNvPr id="3" name="Content Placeholder 2"/>
          <p:cNvSpPr>
            <a:spLocks noGrp="1"/>
          </p:cNvSpPr>
          <p:nvPr>
            <p:ph idx="1" hasCustomPrompt="1"/>
          </p:nvPr>
        </p:nvSpPr>
        <p:spPr>
          <a:xfrm>
            <a:off x="609600" y="1600201"/>
            <a:ext cx="10972800" cy="498316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AD136BD2-9C07-2E33-7016-48C3AB8CE1D7}"/>
              </a:ext>
            </a:extLst>
          </p:cNvPr>
          <p:cNvSpPr/>
          <p:nvPr userDrawn="1"/>
        </p:nvSpPr>
        <p:spPr>
          <a:xfrm>
            <a:off x="11681927" y="0"/>
            <a:ext cx="510073" cy="6858000"/>
          </a:xfrm>
          <a:prstGeom prst="rect">
            <a:avLst/>
          </a:prstGeo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Slide Number Field"/>
          <p:cNvSpPr txBox="1"/>
          <p:nvPr/>
        </p:nvSpPr>
        <p:spPr>
          <a:xfrm>
            <a:off x="11681927" y="6515100"/>
            <a:ext cx="510073" cy="279400"/>
          </a:xfrm>
          <a:prstGeom prst="rect">
            <a:avLst/>
          </a:prstGeom>
          <a:noFill/>
          <a:ln>
            <a:noFill/>
          </a:ln>
        </p:spPr>
        <p:txBody>
          <a:bodyPr wrap="none" lIns="0" tIns="0" rIns="0" bIns="0" anchor="ctr" anchorCtr="0"/>
          <a:lstStyle/>
          <a:p>
            <a:pPr algn="ctr"/>
            <a:fld id="{9C3D2A1B-7E4F-4B6A-8C0D-1A2B3C4D5011}" type="slidenum">
              <a:rPr lang="en-US" sz="1400" dirty="0">
                <a:solidFill>
                  <a:srgbClr val="FFFFFF"/>
                </a:solidFill>
              </a:rPr>
              <a:t>‹#›</a:t>
            </a:fld>
            <a:endParaRPr lang="en-US" sz="1400" dirty="0">
              <a:solidFill>
                <a:srgbClr val="7F7F7F"/>
              </a:solidFill>
            </a:endParaRPr>
          </a:p>
        </p:txBody>
      </p:sp>
    </p:spTree>
    <p:extLst>
      <p:ext uri="{BB962C8B-B14F-4D97-AF65-F5344CB8AC3E}">
        <p14:creationId xmlns:p14="http://schemas.microsoft.com/office/powerpoint/2010/main" val="218595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500"/>
            <a:ext cx="12191999" cy="1143000"/>
          </a:xfr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3500000" scaled="1"/>
            <a:tileRect/>
          </a:gradFill>
        </p:spPr>
        <p:txBody>
          <a:bodyPr/>
          <a:lstStyle>
            <a:lvl1pPr>
              <a:defRPr>
                <a:solidFill>
                  <a:schemeClr val="bg1"/>
                </a:solidFill>
              </a:defRPr>
            </a:lvl1pPr>
          </a:lstStyle>
          <a:p>
            <a:r>
              <a:rPr lang="en-US" dirty="0"/>
              <a:t>Click to edit Master title style</a:t>
            </a:r>
          </a:p>
        </p:txBody>
      </p:sp>
      <p:sp>
        <p:nvSpPr>
          <p:cNvPr id="3" name="Slide Number Field"/>
          <p:cNvSpPr txBox="1"/>
          <p:nvPr/>
        </p:nvSpPr>
        <p:spPr>
          <a:xfrm>
            <a:off x="10922000" y="6515100"/>
            <a:ext cx="698500" cy="279400"/>
          </a:xfrm>
          <a:prstGeom prst="rect">
            <a:avLst/>
          </a:prstGeom>
          <a:noFill/>
          <a:ln>
            <a:noFill/>
          </a:ln>
        </p:spPr>
        <p:txBody>
          <a:bodyPr wrap="none" lIns="0" tIns="0" rIns="0" bIns="0" anchor="ctr" anchorCtr="0"/>
          <a:lstStyle/>
          <a:p>
            <a:pPr algn="r"/>
            <a:fld id="{9C3D2A1B-7E4F-4B6A-8C0D-1A2B3C4D5012}" type="slidenum">
              <a:rPr lang="en-US" sz="1400" dirty="0">
                <a:solidFill>
                  <a:srgbClr val="595959"/>
                </a:solidFill>
              </a:rPr>
              <a:t>‹#›</a:t>
            </a:fld>
            <a:endParaRPr lang="en-US" sz="1400" dirty="0">
              <a:solidFill>
                <a:srgbClr val="7F7F7F"/>
              </a:solidFill>
            </a:endParaRPr>
          </a:p>
        </p:txBody>
      </p:sp>
    </p:spTree>
    <p:extLst>
      <p:ext uri="{BB962C8B-B14F-4D97-AF65-F5344CB8AC3E}">
        <p14:creationId xmlns:p14="http://schemas.microsoft.com/office/powerpoint/2010/main" val="534690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9E3CA0E-A3BA-AE5E-2446-BAF8B0EE6046}"/>
              </a:ext>
            </a:extLst>
          </p:cNvPr>
          <p:cNvSpPr/>
          <p:nvPr userDrawn="1"/>
        </p:nvSpPr>
        <p:spPr>
          <a:xfrm>
            <a:off x="11681927" y="0"/>
            <a:ext cx="510073" cy="6858000"/>
          </a:xfrm>
          <a:prstGeom prst="rect">
            <a:avLst/>
          </a:prstGeom>
          <a:solidFill>
            <a:srgbClr val="1F48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lide Number Field"/>
          <p:cNvSpPr txBox="1"/>
          <p:nvPr/>
        </p:nvSpPr>
        <p:spPr>
          <a:xfrm>
            <a:off x="11681927" y="6515100"/>
            <a:ext cx="510073" cy="279400"/>
          </a:xfrm>
          <a:prstGeom prst="rect">
            <a:avLst/>
          </a:prstGeom>
          <a:noFill/>
          <a:ln>
            <a:noFill/>
          </a:ln>
        </p:spPr>
        <p:txBody>
          <a:bodyPr wrap="none" lIns="0" tIns="0" rIns="0" bIns="0" anchor="ctr" anchorCtr="0"/>
          <a:lstStyle/>
          <a:p>
            <a:pPr algn="ctr"/>
            <a:fld id="{9C3D2A1B-7E4F-4B6A-8C0D-1A2B3C4D5013}" type="slidenum">
              <a:rPr lang="en-US" sz="1400" dirty="0">
                <a:solidFill>
                  <a:srgbClr val="FFFFFF"/>
                </a:solidFill>
              </a:rPr>
              <a:t>‹#›</a:t>
            </a:fld>
            <a:endParaRPr lang="en-US" sz="1400" dirty="0">
              <a:solidFill>
                <a:srgbClr val="7F7F7F"/>
              </a:solidFill>
            </a:endParaRPr>
          </a:p>
        </p:txBody>
      </p:sp>
    </p:spTree>
    <p:extLst>
      <p:ext uri="{BB962C8B-B14F-4D97-AF65-F5344CB8AC3E}">
        <p14:creationId xmlns:p14="http://schemas.microsoft.com/office/powerpoint/2010/main" val="194486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pic>
        <p:nvPicPr>
          <p:cNvPr id="10" name="Picture 9" descr="secondary-foot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84738"/>
            <a:ext cx="12192000" cy="996696"/>
          </a:xfrm>
          <a:prstGeom prst="rect">
            <a:avLst/>
          </a:prstGeom>
        </p:spPr>
      </p:pic>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Field"/>
          <p:cNvSpPr txBox="1"/>
          <p:nvPr/>
        </p:nvSpPr>
        <p:spPr>
          <a:xfrm>
            <a:off x="10922000" y="6515100"/>
            <a:ext cx="698500" cy="279400"/>
          </a:xfrm>
          <a:prstGeom prst="rect">
            <a:avLst/>
          </a:prstGeom>
          <a:noFill/>
          <a:ln>
            <a:noFill/>
          </a:ln>
        </p:spPr>
        <p:txBody>
          <a:bodyPr wrap="none" lIns="0" tIns="0" rIns="0" bIns="0" anchor="ctr" anchorCtr="0"/>
          <a:lstStyle/>
          <a:p>
            <a:pPr algn="r"/>
            <a:fld id="{9C3D2A1B-7E4F-4B6A-8C0D-1A2B3C4D5014}" type="slidenum">
              <a:rPr lang="en-US" sz="1400" dirty="0">
                <a:solidFill>
                  <a:srgbClr val="595959"/>
                </a:solidFill>
              </a:rPr>
              <a:t>‹#›</a:t>
            </a:fld>
            <a:endParaRPr lang="en-US" sz="1400" dirty="0">
              <a:solidFill>
                <a:srgbClr val="7F7F7F"/>
              </a:solidFill>
            </a:endParaRPr>
          </a:p>
        </p:txBody>
      </p:sp>
    </p:spTree>
    <p:extLst>
      <p:ext uri="{BB962C8B-B14F-4D97-AF65-F5344CB8AC3E}">
        <p14:creationId xmlns:p14="http://schemas.microsoft.com/office/powerpoint/2010/main" val="278087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3877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D96C1F-A62A-E649-96ED-1A90FB2BF938}" type="slidenum">
              <a:rPr lang="en-US" smtClean="0"/>
              <a:t>‹#›</a:t>
            </a:fld>
            <a:endParaRPr lang="en-US"/>
          </a:p>
        </p:txBody>
      </p:sp>
    </p:spTree>
    <p:extLst>
      <p:ext uri="{BB962C8B-B14F-4D97-AF65-F5344CB8AC3E}">
        <p14:creationId xmlns:p14="http://schemas.microsoft.com/office/powerpoint/2010/main" val="369842686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oot/val_kaist.pn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4114800"/>
            <a:ext cx="12191695" cy="1737360"/>
          </a:xfrm>
          <a:prstGeom prst="rect">
            <a:avLst/>
          </a:prstGeom>
          <a:solidFill>
            <a:srgbClr val="0B1E3F">
              <a:alpha val="80000"/>
            </a:srgbClr>
          </a:solidFill>
          <a:ln/>
        </p:spPr>
        <p:txBody>
          <a:bodyPr/>
          <a:lstStyle/>
          <a:p>
            <a:endParaRPr lang="en-US">
              <a:ea typeface="맑은 고딕"/>
            </a:endParaRPr>
          </a:p>
        </p:txBody>
      </p:sp>
      <p:sp>
        <p:nvSpPr>
          <p:cNvPr id="4" name="Text 1"/>
          <p:cNvSpPr/>
          <p:nvPr/>
        </p:nvSpPr>
        <p:spPr>
          <a:xfrm>
            <a:off x="640080" y="4206240"/>
            <a:ext cx="10881360" cy="457200"/>
          </a:xfrm>
          <a:prstGeom prst="rect">
            <a:avLst/>
          </a:prstGeom>
          <a:noFill/>
          <a:ln/>
        </p:spPr>
        <p:txBody>
          <a:bodyPr wrap="square" rtlCol="0" anchor="ctr"/>
          <a:lstStyle/>
          <a:p>
            <a:pPr marL="0" indent="0">
              <a:buNone/>
            </a:pPr>
            <a:r>
              <a:rPr lang="ko-KR" altLang="en-US" sz="1700" b="1" dirty="0">
                <a:solidFill>
                  <a:srgbClr val="CADCFC"/>
                </a:solidFill>
                <a:latin typeface="Calibri" pitchFamily="34" charset="0"/>
                <a:ea typeface="맑은 고딕" pitchFamily="34" charset="-122"/>
                <a:cs typeface="Calibri" pitchFamily="34" charset="-120"/>
              </a:rPr>
              <a:t>재무회계 입문(Introduction to Financial Accounting)</a:t>
            </a:r>
            <a:endParaRPr lang="en-US" sz="1700" dirty="0">
              <a:ea typeface="맑은 고딕"/>
            </a:endParaRPr>
          </a:p>
        </p:txBody>
      </p:sp>
      <p:sp>
        <p:nvSpPr>
          <p:cNvPr id="5" name="Text 2"/>
          <p:cNvSpPr/>
          <p:nvPr/>
        </p:nvSpPr>
        <p:spPr>
          <a:xfrm>
            <a:off x="640080" y="4617720"/>
            <a:ext cx="10881360" cy="914400"/>
          </a:xfrm>
          <a:prstGeom prst="rect">
            <a:avLst/>
          </a:prstGeom>
          <a:noFill/>
          <a:ln/>
        </p:spPr>
        <p:txBody>
          <a:bodyPr wrap="square" rtlCol="0" anchor="ctr"/>
          <a:lstStyle/>
          <a:p>
            <a:pPr marL="0" indent="0">
              <a:buNone/>
            </a:pPr>
            <a:r>
              <a:rPr lang="ko-KR" altLang="en-US" sz="4000" b="1" dirty="0">
                <a:solidFill>
                  <a:srgbClr val="FFFFFF"/>
                </a:solidFill>
                <a:latin typeface="Calibri" pitchFamily="34" charset="0"/>
                <a:ea typeface="맑은 고딕" pitchFamily="34" charset="-122"/>
                <a:cs typeface="Calibri" pitchFamily="34" charset="-120"/>
              </a:rPr>
              <a:t>가치평가 입문(Introduction to Valuation)</a:t>
            </a:r>
            <a:endParaRPr lang="en-US" sz="4000" dirty="0">
              <a:ea typeface="맑은 고딕"/>
            </a:endParaRPr>
          </a:p>
        </p:txBody>
      </p:sp>
      <p:sp>
        <p:nvSpPr>
          <p:cNvPr id="6" name="Text 3"/>
          <p:cNvSpPr/>
          <p:nvPr/>
        </p:nvSpPr>
        <p:spPr>
          <a:xfrm>
            <a:off x="640080" y="5532120"/>
            <a:ext cx="10881360" cy="365760"/>
          </a:xfrm>
          <a:prstGeom prst="rect">
            <a:avLst/>
          </a:prstGeom>
          <a:noFill/>
          <a:ln/>
        </p:spPr>
        <p:txBody>
          <a:bodyPr wrap="square" rtlCol="0" anchor="ctr"/>
          <a:lstStyle/>
          <a:p>
            <a:pPr marL="0" indent="0">
              <a:buNone/>
            </a:pPr>
            <a:r>
              <a:rPr lang="ko-KR" altLang="en-US" sz="1400" i="1" dirty="0">
                <a:solidFill>
                  <a:srgbClr val="E5EDF9"/>
                </a:solidFill>
                <a:latin typeface="Calibri" pitchFamily="34" charset="0"/>
                <a:ea typeface="맑은 고딕" pitchFamily="34" charset="-122"/>
                <a:cs typeface="Calibri" pitchFamily="34" charset="-120"/>
              </a:rPr>
              <a:t>화폐의 시간가치(Time Value)  ·  현금흐름할인(DCF)  ·  자본비용(Cost of Capital)  ·  배수(Multiples)  ·  안전마진(Margin of Safety)</a:t>
            </a:r>
            <a:endParaRPr lang="en-US" sz="1400" dirty="0">
              <a:ea typeface="맑은 고딕"/>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781E-35ED-245C-F85D-64F5555F6948}"/>
              </a:ext>
            </a:extLst>
          </p:cNvPr>
          <p:cNvSpPr>
            <a:spLocks noGrp="1"/>
          </p:cNvSpPr>
          <p:nvPr>
            <p:ph type="title"/>
          </p:nvPr>
        </p:nvSpPr>
        <p:spPr/>
        <p:txBody>
          <a:bodyPr/>
          <a:lstStyle/>
          <a:p>
            <a:r>
              <a:rPr lang="ko-KR" altLang="en-US" dirty="0">
                <a:latin typeface="+mn-lt"/>
                <a:ea typeface="맑은 고딕"/>
              </a:rPr>
              <a:t>목차(Table of Contents)</a:t>
            </a:r>
          </a:p>
        </p:txBody>
      </p:sp>
      <p:sp>
        <p:nvSpPr>
          <p:cNvPr id="3" name="Content Placeholder 2">
            <a:extLst>
              <a:ext uri="{FF2B5EF4-FFF2-40B4-BE49-F238E27FC236}">
                <a16:creationId xmlns:a16="http://schemas.microsoft.com/office/drawing/2014/main" id="{3475B7FB-EB2C-CA4B-1C14-339864FDB75E}"/>
              </a:ext>
            </a:extLst>
          </p:cNvPr>
          <p:cNvSpPr>
            <a:spLocks noGrp="1"/>
          </p:cNvSpPr>
          <p:nvPr>
            <p:ph idx="1"/>
          </p:nvPr>
        </p:nvSpPr>
        <p:spPr/>
        <p:txBody>
          <a:bodyPr>
            <a:normAutofit fontScale="92500" lnSpcReduction="10000"/>
          </a:bodyPr>
          <a:lstStyle/>
          <a:p>
            <a:pPr marL="0" indent="0">
              <a:lnSpc>
                <a:spcPct val="150000"/>
              </a:lnSpc>
              <a:buNone/>
            </a:pPr>
            <a:r>
              <a:rPr lang="ko-KR" altLang="en-US" sz="2400" dirty="0">
                <a:latin typeface="+mn-lt"/>
                <a:ea typeface="맑은 고딕"/>
              </a:rPr>
              <a:t>Topic 1:	화폐의 시간가치(time value of money) — 가치평가의 엔진</a:t>
            </a:r>
          </a:p>
          <a:p>
            <a:pPr marL="0" indent="0">
              <a:lnSpc>
                <a:spcPct val="150000"/>
              </a:lnSpc>
              <a:buNone/>
            </a:pPr>
            <a:r>
              <a:rPr lang="ko-KR" altLang="en-US" sz="2400" dirty="0">
                <a:latin typeface="+mn-lt"/>
                <a:ea typeface="맑은 고딕"/>
              </a:rPr>
              <a:t>Topic 2:	미스터 마켓(Mr. Market)을 만나다 — 가격 대 가치</a:t>
            </a:r>
          </a:p>
          <a:p>
            <a:pPr marL="0" indent="0">
              <a:lnSpc>
                <a:spcPct val="150000"/>
              </a:lnSpc>
              <a:buNone/>
            </a:pPr>
            <a:r>
              <a:rPr lang="ko-KR" altLang="en-US" sz="2400" dirty="0">
                <a:latin typeface="+mn-lt"/>
                <a:ea typeface="맑은 고딕"/>
              </a:rPr>
              <a:t>Topic 3:	할인된 잉여현금흐름(discounted free cash flow, DCF) 가치평가</a:t>
            </a:r>
          </a:p>
          <a:p>
            <a:pPr marL="0" indent="0">
              <a:lnSpc>
                <a:spcPct val="150000"/>
              </a:lnSpc>
              <a:buNone/>
            </a:pPr>
            <a:r>
              <a:rPr lang="ko-KR" altLang="en-US" sz="2400" dirty="0">
                <a:latin typeface="+mn-lt"/>
                <a:ea typeface="맑은 고딕"/>
              </a:rPr>
              <a:t>Topic 4:	자기자본비용(cost of equity)</a:t>
            </a:r>
          </a:p>
          <a:p>
            <a:pPr marL="0" indent="0">
              <a:lnSpc>
                <a:spcPct val="150000"/>
              </a:lnSpc>
              <a:buNone/>
            </a:pPr>
            <a:r>
              <a:rPr lang="ko-KR" altLang="en-US" sz="2400" dirty="0">
                <a:ea typeface="맑은 고딕"/>
              </a:rPr>
              <a:t>Topic 5:	</a:t>
            </a:r>
            <a:r>
              <a:rPr lang="ko-KR" altLang="en-US" sz="2400" dirty="0">
                <a:latin typeface="+mn-lt"/>
                <a:ea typeface="맑은 고딕"/>
              </a:rPr>
              <a:t>주가수익비율(price-earnings ratio, P/E)</a:t>
            </a:r>
          </a:p>
          <a:p>
            <a:pPr marL="0" indent="0">
              <a:lnSpc>
                <a:spcPct val="150000"/>
              </a:lnSpc>
              <a:buNone/>
            </a:pPr>
            <a:r>
              <a:rPr lang="ko-KR" altLang="en-US" sz="2400" dirty="0">
                <a:latin typeface="+mn-lt"/>
                <a:ea typeface="맑은 고딕"/>
              </a:rPr>
              <a:t>Topic </a:t>
            </a:r>
            <a:r>
              <a:rPr lang="ko-KR" altLang="en-US" sz="2400" dirty="0">
                <a:ea typeface="맑은 고딕"/>
              </a:rPr>
              <a:t>6</a:t>
            </a:r>
            <a:r>
              <a:rPr lang="ko-KR" altLang="en-US" sz="2400" dirty="0">
                <a:latin typeface="+mn-lt"/>
                <a:ea typeface="맑은 고딕"/>
              </a:rPr>
              <a:t>:   	가치평가 투입변수로서 잉여현금흐름(free cash flow) 대 당기순이익(net income)</a:t>
            </a:r>
          </a:p>
          <a:p>
            <a:pPr marL="0" indent="0">
              <a:lnSpc>
                <a:spcPct val="150000"/>
              </a:lnSpc>
              <a:buNone/>
            </a:pPr>
            <a:r>
              <a:rPr lang="ko-KR" altLang="en-US" sz="2400" dirty="0" err="1">
                <a:latin typeface="+mn-lt"/>
                <a:ea typeface="맑은 고딕"/>
              </a:rPr>
              <a:t>Topic</a:t>
            </a:r>
            <a:r>
              <a:rPr lang="ko-KR" altLang="en-US" sz="2400" dirty="0">
                <a:latin typeface="+mn-lt"/>
                <a:ea typeface="맑은 고딕"/>
              </a:rPr>
              <a:t> 8:	안전마진(margin of safety)</a:t>
            </a:r>
          </a:p>
          <a:p>
            <a:pPr marL="0" indent="0">
              <a:lnSpc>
                <a:spcPct val="150000"/>
              </a:lnSpc>
              <a:buNone/>
            </a:pPr>
            <a:r>
              <a:rPr lang="ko-KR" altLang="en-US" sz="2400" dirty="0" err="1">
                <a:latin typeface="+mn-lt"/>
                <a:ea typeface="맑은 고딕"/>
              </a:rPr>
              <a:t>Topic</a:t>
            </a:r>
            <a:r>
              <a:rPr lang="ko-KR" altLang="en-US" sz="2400" dirty="0">
                <a:latin typeface="+mn-lt"/>
                <a:ea typeface="맑은 고딕"/>
              </a:rPr>
              <a:t> </a:t>
            </a:r>
            <a:r>
              <a:rPr lang="en-US" altLang="ko-KR" sz="2400" dirty="0">
                <a:latin typeface="+mn-lt"/>
                <a:ea typeface="맑은 고딕"/>
              </a:rPr>
              <a:t>9</a:t>
            </a:r>
            <a:r>
              <a:rPr lang="ko-KR" altLang="en-US" sz="2400" dirty="0">
                <a:latin typeface="+mn-lt"/>
                <a:ea typeface="맑은 고딕"/>
              </a:rPr>
              <a:t>:	이익의 질(earnings quality)</a:t>
            </a:r>
          </a:p>
        </p:txBody>
      </p:sp>
    </p:spTree>
    <p:extLst>
      <p:ext uri="{BB962C8B-B14F-4D97-AF65-F5344CB8AC3E}">
        <p14:creationId xmlns:p14="http://schemas.microsoft.com/office/powerpoint/2010/main" val="1695484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31E1-DCCD-AECB-5CC6-A6A28CC98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70150-E3CD-D6F5-4134-EB4ADB857847}"/>
              </a:ext>
            </a:extLst>
          </p:cNvPr>
          <p:cNvSpPr>
            <a:spLocks noGrp="1"/>
          </p:cNvSpPr>
          <p:nvPr>
            <p:ph type="title"/>
          </p:nvPr>
        </p:nvSpPr>
        <p:spPr/>
        <p:txBody>
          <a:bodyPr/>
          <a:lstStyle/>
          <a:p>
            <a:r>
              <a:rPr lang="ko-KR" altLang="en-US" dirty="0">
                <a:latin typeface="+mn-lt"/>
                <a:ea typeface="맑은 고딕"/>
              </a:rPr>
              <a:t>1. 화폐의 시간가치(The Time Value of Money)</a:t>
            </a:r>
          </a:p>
        </p:txBody>
      </p:sp>
    </p:spTree>
    <p:extLst>
      <p:ext uri="{BB962C8B-B14F-4D97-AF65-F5344CB8AC3E}">
        <p14:creationId xmlns:p14="http://schemas.microsoft.com/office/powerpoint/2010/main" val="4098012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7D0B3-6AEB-5A95-5010-B115F554D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8DBAD-8402-100A-C419-820C9C46CD7A}"/>
              </a:ext>
            </a:extLst>
          </p:cNvPr>
          <p:cNvSpPr>
            <a:spLocks noGrp="1"/>
          </p:cNvSpPr>
          <p:nvPr>
            <p:ph type="title"/>
          </p:nvPr>
        </p:nvSpPr>
        <p:spPr/>
        <p:txBody>
          <a:bodyPr anchor="ctr">
            <a:normAutofit/>
          </a:bodyPr>
          <a:lstStyle/>
          <a:p>
            <a:r>
              <a:rPr lang="ko-KR" altLang="en-US" dirty="0">
                <a:latin typeface="+mn-lt"/>
                <a:ea typeface="맑은 고딕"/>
              </a:rPr>
              <a:t>미래가치(future value) – 1년 후</a:t>
            </a:r>
          </a:p>
        </p:txBody>
      </p:sp>
      <p:pic>
        <p:nvPicPr>
          <p:cNvPr id="5" name="Picture 4">
            <a:extLst>
              <a:ext uri="{FF2B5EF4-FFF2-40B4-BE49-F238E27FC236}">
                <a16:creationId xmlns:a16="http://schemas.microsoft.com/office/drawing/2014/main" id="{8B289316-2613-9217-2008-1C663A224151}"/>
              </a:ext>
            </a:extLst>
          </p:cNvPr>
          <p:cNvPicPr>
            <a:picLocks noChangeAspect="1"/>
          </p:cNvPicPr>
          <p:nvPr/>
        </p:nvPicPr>
        <p:blipFill>
          <a:blip r:embed="rId3"/>
          <a:stretch>
            <a:fillRect/>
          </a:stretch>
        </p:blipFill>
        <p:spPr>
          <a:xfrm>
            <a:off x="1072334" y="1417638"/>
            <a:ext cx="9723239" cy="4983161"/>
          </a:xfrm>
          <a:prstGeom prst="rect">
            <a:avLst/>
          </a:prstGeom>
          <a:noFill/>
        </p:spPr>
      </p:pic>
    </p:spTree>
    <p:extLst>
      <p:ext uri="{BB962C8B-B14F-4D97-AF65-F5344CB8AC3E}">
        <p14:creationId xmlns:p14="http://schemas.microsoft.com/office/powerpoint/2010/main" val="634367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4EDED-DE21-35CF-EB42-D925775F0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5E8B3-9354-8F15-1438-08557833464B}"/>
              </a:ext>
            </a:extLst>
          </p:cNvPr>
          <p:cNvSpPr>
            <a:spLocks noGrp="1"/>
          </p:cNvSpPr>
          <p:nvPr>
            <p:ph type="title"/>
          </p:nvPr>
        </p:nvSpPr>
        <p:spPr/>
        <p:txBody>
          <a:bodyPr anchor="ctr">
            <a:normAutofit/>
          </a:bodyPr>
          <a:lstStyle/>
          <a:p>
            <a:r>
              <a:rPr lang="ko-KR" altLang="en-US" dirty="0">
                <a:latin typeface="+mn-lt"/>
                <a:ea typeface="맑은 고딕"/>
              </a:rPr>
              <a:t>미래가치(future value) – 5년 후</a:t>
            </a:r>
          </a:p>
        </p:txBody>
      </p:sp>
      <p:sp>
        <p:nvSpPr>
          <p:cNvPr id="6" name="Content Placeholder 5">
            <a:extLst>
              <a:ext uri="{FF2B5EF4-FFF2-40B4-BE49-F238E27FC236}">
                <a16:creationId xmlns:a16="http://schemas.microsoft.com/office/drawing/2014/main" id="{45F19EF7-86D5-1CEC-62A9-584A00853DAD}"/>
              </a:ext>
            </a:extLst>
          </p:cNvPr>
          <p:cNvSpPr>
            <a:spLocks noGrp="1"/>
          </p:cNvSpPr>
          <p:nvPr>
            <p:ph idx="1"/>
          </p:nvPr>
        </p:nvSpPr>
        <p:spPr/>
        <p:txBody>
          <a:bodyPr/>
          <a:lstStyle/>
          <a:p>
            <a:endParaRPr lang="en-US">
              <a:ea typeface="맑은 고딕"/>
            </a:endParaRPr>
          </a:p>
        </p:txBody>
      </p:sp>
      <p:pic>
        <p:nvPicPr>
          <p:cNvPr id="4" name="Picture 3">
            <a:extLst>
              <a:ext uri="{FF2B5EF4-FFF2-40B4-BE49-F238E27FC236}">
                <a16:creationId xmlns:a16="http://schemas.microsoft.com/office/drawing/2014/main" id="{748F422B-13B1-1C49-0056-CC381E17EA5B}"/>
              </a:ext>
            </a:extLst>
          </p:cNvPr>
          <p:cNvPicPr>
            <a:picLocks noChangeAspect="1"/>
          </p:cNvPicPr>
          <p:nvPr/>
        </p:nvPicPr>
        <p:blipFill>
          <a:blip r:embed="rId3"/>
          <a:stretch>
            <a:fillRect/>
          </a:stretch>
        </p:blipFill>
        <p:spPr>
          <a:xfrm>
            <a:off x="609600" y="1773777"/>
            <a:ext cx="10972800" cy="4636008"/>
          </a:xfrm>
          <a:prstGeom prst="rect">
            <a:avLst/>
          </a:prstGeom>
          <a:noFill/>
        </p:spPr>
      </p:pic>
    </p:spTree>
    <p:extLst>
      <p:ext uri="{BB962C8B-B14F-4D97-AF65-F5344CB8AC3E}">
        <p14:creationId xmlns:p14="http://schemas.microsoft.com/office/powerpoint/2010/main" val="3950105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ea typeface="맑은 고딕"/>
            </a:endParaRPr>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ko-KR" altLang="en-US" sz="2700" b="1" dirty="0">
                <a:solidFill>
                  <a:srgbClr val="1F4899"/>
                </a:solidFill>
                <a:latin typeface="Calibri" pitchFamily="34" charset="0"/>
                <a:ea typeface="맑은 고딕" pitchFamily="34" charset="-122"/>
                <a:cs typeface="Calibri" pitchFamily="34" charset="-120"/>
              </a:rPr>
              <a:t>1.  미래가치(Future Value)와 현재가치(Present Value)</a:t>
            </a:r>
            <a:endParaRPr lang="en-US" sz="2700" dirty="0">
              <a:ea typeface="맑은 고딕"/>
            </a:endParaRPr>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1</a:t>
            </a:r>
            <a:endParaRPr lang="en-US" sz="1100" dirty="0">
              <a:ea typeface="맑은 고딕"/>
            </a:endParaRPr>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5</a:t>
            </a:r>
            <a:endParaRPr lang="en-US" sz="1100" dirty="0">
              <a:ea typeface="맑은 고딕"/>
            </a:endParaRPr>
          </a:p>
        </p:txBody>
      </p:sp>
      <p:sp>
        <p:nvSpPr>
          <p:cNvPr id="6" name="Shape 4"/>
          <p:cNvSpPr/>
          <p:nvPr/>
        </p:nvSpPr>
        <p:spPr>
          <a:xfrm>
            <a:off x="502920" y="1234440"/>
            <a:ext cx="5349240" cy="1828800"/>
          </a:xfrm>
          <a:prstGeom prst="roundRect">
            <a:avLst>
              <a:gd name="adj" fmla="val 2500"/>
            </a:avLst>
          </a:prstGeom>
          <a:solidFill>
            <a:srgbClr val="E5FCED"/>
          </a:solidFill>
          <a:ln w="15875">
            <a:solidFill>
              <a:srgbClr val="63B84B"/>
            </a:solidFill>
            <a:prstDash val="solid"/>
          </a:ln>
        </p:spPr>
        <p:txBody>
          <a:bodyPr/>
          <a:lstStyle/>
          <a:p>
            <a:endParaRPr lang="en-US" sz="2800">
              <a:ea typeface="맑은 고딕"/>
            </a:endParaRPr>
          </a:p>
        </p:txBody>
      </p:sp>
      <p:sp>
        <p:nvSpPr>
          <p:cNvPr id="7" name="Text 5"/>
          <p:cNvSpPr/>
          <p:nvPr/>
        </p:nvSpPr>
        <p:spPr>
          <a:xfrm>
            <a:off x="630936" y="1325880"/>
            <a:ext cx="5093208" cy="274320"/>
          </a:xfrm>
          <a:prstGeom prst="rect">
            <a:avLst/>
          </a:prstGeom>
          <a:noFill/>
          <a:ln/>
        </p:spPr>
        <p:txBody>
          <a:bodyPr wrap="square" lIns="0" tIns="0" rIns="0" bIns="0" rtlCol="0" anchor="ctr"/>
          <a:lstStyle/>
          <a:p>
            <a:pPr marL="0" indent="0" algn="l">
              <a:buNone/>
            </a:pPr>
            <a:r>
              <a:rPr lang="ko-KR" altLang="en-US" b="1" dirty="0">
                <a:solidFill>
                  <a:srgbClr val="15803D"/>
                </a:solidFill>
                <a:latin typeface="Calibri" pitchFamily="34" charset="0"/>
                <a:ea typeface="맑은 고딕" pitchFamily="34" charset="-122"/>
                <a:cs typeface="Calibri" pitchFamily="34" charset="-120"/>
              </a:rPr>
              <a:t>미래가치 — 복리계산(compounding)</a:t>
            </a:r>
            <a:endParaRPr lang="en-US" dirty="0">
              <a:ea typeface="맑은 고딕"/>
            </a:endParaRPr>
          </a:p>
        </p:txBody>
      </p:sp>
      <p:sp>
        <p:nvSpPr>
          <p:cNvPr id="8" name="Text 6"/>
          <p:cNvSpPr/>
          <p:nvPr/>
        </p:nvSpPr>
        <p:spPr>
          <a:xfrm>
            <a:off x="649224" y="1655064"/>
            <a:ext cx="5056632" cy="1298448"/>
          </a:xfrm>
          <a:prstGeom prst="rect">
            <a:avLst/>
          </a:prstGeom>
          <a:noFill/>
          <a:ln/>
        </p:spPr>
        <p:txBody>
          <a:bodyPr wrap="square" lIns="0" tIns="0" rIns="0" bIns="0" rtlCol="0" anchor="ctr"/>
          <a:lstStyle/>
          <a:p>
            <a:pPr marL="0" indent="0" algn="ctr">
              <a:lnSpc>
                <a:spcPct val="102000"/>
              </a:lnSpc>
              <a:buNone/>
            </a:pPr>
            <a:r>
              <a:rPr lang="en-US" sz="2800" b="1" dirty="0">
                <a:solidFill>
                  <a:srgbClr val="15803D"/>
                </a:solidFill>
                <a:latin typeface="Cambria" pitchFamily="34" charset="0"/>
                <a:ea typeface="Cambria" pitchFamily="34" charset="-122"/>
                <a:cs typeface="Cambria" pitchFamily="34" charset="-120"/>
              </a:rPr>
              <a:t>FV = PV × (1 + r)ⁿ</a:t>
            </a:r>
            <a:endParaRPr lang="en-US" dirty="0">
              <a:ea typeface="맑은 고딕"/>
            </a:endParaRPr>
          </a:p>
          <a:p>
            <a:pPr marL="0" indent="0" algn="ctr">
              <a:lnSpc>
                <a:spcPct val="102000"/>
              </a:lnSpc>
              <a:buNone/>
            </a:pPr>
            <a:r>
              <a:rPr lang="ko-KR" altLang="en-US" dirty="0">
                <a:solidFill>
                  <a:srgbClr val="6B7280"/>
                </a:solidFill>
                <a:latin typeface="Calibri" pitchFamily="34" charset="0"/>
                <a:ea typeface="맑은 고딕" pitchFamily="34" charset="-122"/>
                <a:cs typeface="Calibri" pitchFamily="34" charset="-120"/>
              </a:rPr>
              <a:t>오늘의 금액이 미래에 얼마로 불어나는가.</a:t>
            </a:r>
            <a:endParaRPr lang="en-US" dirty="0">
              <a:ea typeface="맑은 고딕"/>
            </a:endParaRPr>
          </a:p>
        </p:txBody>
      </p:sp>
      <p:sp>
        <p:nvSpPr>
          <p:cNvPr id="9" name="Shape 7"/>
          <p:cNvSpPr/>
          <p:nvPr/>
        </p:nvSpPr>
        <p:spPr>
          <a:xfrm>
            <a:off x="6126480" y="1234440"/>
            <a:ext cx="5349240" cy="1828800"/>
          </a:xfrm>
          <a:prstGeom prst="roundRect">
            <a:avLst>
              <a:gd name="adj" fmla="val 2500"/>
            </a:avLst>
          </a:prstGeom>
          <a:solidFill>
            <a:srgbClr val="EFF6FF"/>
          </a:solidFill>
          <a:ln w="15875">
            <a:solidFill>
              <a:srgbClr val="3B82F6"/>
            </a:solidFill>
            <a:prstDash val="solid"/>
          </a:ln>
        </p:spPr>
        <p:txBody>
          <a:bodyPr/>
          <a:lstStyle/>
          <a:p>
            <a:endParaRPr lang="en-US" sz="2800">
              <a:ea typeface="맑은 고딕"/>
            </a:endParaRPr>
          </a:p>
        </p:txBody>
      </p:sp>
      <p:sp>
        <p:nvSpPr>
          <p:cNvPr id="10" name="Text 8"/>
          <p:cNvSpPr/>
          <p:nvPr/>
        </p:nvSpPr>
        <p:spPr>
          <a:xfrm>
            <a:off x="6254496" y="1325880"/>
            <a:ext cx="5093208" cy="274320"/>
          </a:xfrm>
          <a:prstGeom prst="rect">
            <a:avLst/>
          </a:prstGeom>
          <a:noFill/>
          <a:ln/>
        </p:spPr>
        <p:txBody>
          <a:bodyPr wrap="square" lIns="0" tIns="0" rIns="0" bIns="0" rtlCol="0" anchor="ctr"/>
          <a:lstStyle/>
          <a:p>
            <a:pPr marL="0" indent="0" algn="l">
              <a:buNone/>
            </a:pPr>
            <a:r>
              <a:rPr lang="ko-KR" altLang="en-US" b="1" dirty="0">
                <a:solidFill>
                  <a:srgbClr val="1E40AF"/>
                </a:solidFill>
                <a:latin typeface="Calibri" pitchFamily="34" charset="0"/>
                <a:ea typeface="맑은 고딕" pitchFamily="34" charset="-122"/>
                <a:cs typeface="Calibri" pitchFamily="34" charset="-120"/>
              </a:rPr>
              <a:t>현재가치 — 할인계산(discounting)</a:t>
            </a:r>
            <a:endParaRPr lang="en-US" dirty="0">
              <a:ea typeface="맑은 고딕"/>
            </a:endParaRPr>
          </a:p>
        </p:txBody>
      </p:sp>
      <p:sp>
        <p:nvSpPr>
          <p:cNvPr id="11" name="Text 9"/>
          <p:cNvSpPr/>
          <p:nvPr/>
        </p:nvSpPr>
        <p:spPr>
          <a:xfrm>
            <a:off x="6272784" y="1655064"/>
            <a:ext cx="5056632" cy="1298448"/>
          </a:xfrm>
          <a:prstGeom prst="rect">
            <a:avLst/>
          </a:prstGeom>
          <a:noFill/>
          <a:ln/>
        </p:spPr>
        <p:txBody>
          <a:bodyPr wrap="square" lIns="0" tIns="0" rIns="0" bIns="0" rtlCol="0" anchor="ctr"/>
          <a:lstStyle/>
          <a:p>
            <a:pPr marL="0" indent="0" algn="ctr">
              <a:lnSpc>
                <a:spcPct val="102000"/>
              </a:lnSpc>
              <a:buNone/>
            </a:pPr>
            <a:r>
              <a:rPr lang="en-US" sz="2800" b="1" dirty="0">
                <a:solidFill>
                  <a:srgbClr val="1E40AF"/>
                </a:solidFill>
                <a:latin typeface="Cambria" pitchFamily="34" charset="0"/>
                <a:ea typeface="Cambria" pitchFamily="34" charset="-122"/>
                <a:cs typeface="Cambria" pitchFamily="34" charset="-120"/>
              </a:rPr>
              <a:t>PV = FV ÷ (1 + r)ⁿ</a:t>
            </a:r>
            <a:endParaRPr lang="en-US" dirty="0">
              <a:ea typeface="맑은 고딕"/>
            </a:endParaRPr>
          </a:p>
          <a:p>
            <a:pPr marL="0" indent="0" algn="ctr">
              <a:lnSpc>
                <a:spcPct val="102000"/>
              </a:lnSpc>
              <a:buNone/>
            </a:pPr>
            <a:r>
              <a:rPr lang="ko-KR" altLang="en-US" dirty="0">
                <a:solidFill>
                  <a:srgbClr val="6B7280"/>
                </a:solidFill>
                <a:latin typeface="Calibri" pitchFamily="34" charset="0"/>
                <a:ea typeface="맑은 고딕" pitchFamily="34" charset="-122"/>
                <a:cs typeface="Calibri" pitchFamily="34" charset="-120"/>
              </a:rPr>
              <a:t>미래의 금액이 오늘 얼마의 가치를 갖는가.</a:t>
            </a:r>
            <a:endParaRPr lang="en-US" dirty="0">
              <a:ea typeface="맑은 고딕"/>
            </a:endParaRPr>
          </a:p>
        </p:txBody>
      </p:sp>
      <p:sp>
        <p:nvSpPr>
          <p:cNvPr id="12" name="Shape 10"/>
          <p:cNvSpPr/>
          <p:nvPr/>
        </p:nvSpPr>
        <p:spPr>
          <a:xfrm>
            <a:off x="502920" y="3337560"/>
            <a:ext cx="10972800" cy="2743200"/>
          </a:xfrm>
          <a:prstGeom prst="roundRect">
            <a:avLst>
              <a:gd name="adj" fmla="val 1667"/>
            </a:avLst>
          </a:prstGeom>
          <a:solidFill>
            <a:srgbClr val="F8FAFC"/>
          </a:solidFill>
          <a:ln w="12700">
            <a:solidFill>
              <a:srgbClr val="D1D5DB"/>
            </a:solidFill>
            <a:prstDash val="solid"/>
          </a:ln>
        </p:spPr>
        <p:txBody>
          <a:bodyPr/>
          <a:lstStyle/>
          <a:p>
            <a:endParaRPr lang="en-US" sz="2800">
              <a:ea typeface="맑은 고딕"/>
            </a:endParaRPr>
          </a:p>
        </p:txBody>
      </p:sp>
      <p:sp>
        <p:nvSpPr>
          <p:cNvPr id="13" name="Text 11"/>
          <p:cNvSpPr/>
          <p:nvPr/>
        </p:nvSpPr>
        <p:spPr>
          <a:xfrm>
            <a:off x="777240" y="3520440"/>
            <a:ext cx="10424160" cy="320040"/>
          </a:xfrm>
          <a:prstGeom prst="rect">
            <a:avLst/>
          </a:prstGeom>
          <a:noFill/>
          <a:ln/>
        </p:spPr>
        <p:txBody>
          <a:bodyPr wrap="square" rtlCol="0" anchor="ctr"/>
          <a:lstStyle/>
          <a:p>
            <a:pPr marL="0" indent="0">
              <a:buNone/>
            </a:pPr>
            <a:r>
              <a:rPr lang="ko-KR" altLang="en-US" sz="2000" b="1" dirty="0">
                <a:solidFill>
                  <a:srgbClr val="1F4899"/>
                </a:solidFill>
                <a:latin typeface="Calibri" pitchFamily="34" charset="0"/>
                <a:ea typeface="맑은 고딕" pitchFamily="34" charset="-122"/>
                <a:cs typeface="Calibri" pitchFamily="34" charset="-120"/>
              </a:rPr>
              <a:t>예시  ·  r = 10%</a:t>
            </a:r>
            <a:endParaRPr lang="en-US" sz="2000" dirty="0">
              <a:ea typeface="맑은 고딕"/>
            </a:endParaRPr>
          </a:p>
        </p:txBody>
      </p:sp>
      <p:sp>
        <p:nvSpPr>
          <p:cNvPr id="14" name="Text 12"/>
          <p:cNvSpPr/>
          <p:nvPr/>
        </p:nvSpPr>
        <p:spPr>
          <a:xfrm>
            <a:off x="1188720" y="3977640"/>
            <a:ext cx="2743200" cy="640080"/>
          </a:xfrm>
          <a:prstGeom prst="rect">
            <a:avLst/>
          </a:prstGeom>
          <a:noFill/>
          <a:ln/>
        </p:spPr>
        <p:txBody>
          <a:bodyPr wrap="square" lIns="0" tIns="0" rIns="0" bIns="0" rtlCol="0" anchor="ctr"/>
          <a:lstStyle/>
          <a:p>
            <a:pPr marL="0" indent="0" algn="ctr">
              <a:buNone/>
            </a:pPr>
            <a:r>
              <a:rPr lang="en-US" sz="4000" b="1" dirty="0">
                <a:solidFill>
                  <a:srgbClr val="1F4899"/>
                </a:solidFill>
                <a:latin typeface="Calibri" pitchFamily="34" charset="0"/>
                <a:ea typeface="Calibri" pitchFamily="34" charset="-122"/>
                <a:cs typeface="Calibri" pitchFamily="34" charset="-120"/>
              </a:rPr>
              <a:t>$10,000</a:t>
            </a:r>
            <a:endParaRPr lang="en-US" sz="4000" dirty="0">
              <a:ea typeface="맑은 고딕"/>
            </a:endParaRPr>
          </a:p>
        </p:txBody>
      </p:sp>
      <p:sp>
        <p:nvSpPr>
          <p:cNvPr id="15" name="Text 13"/>
          <p:cNvSpPr/>
          <p:nvPr/>
        </p:nvSpPr>
        <p:spPr>
          <a:xfrm>
            <a:off x="1188720" y="4544568"/>
            <a:ext cx="2743200" cy="365760"/>
          </a:xfrm>
          <a:prstGeom prst="rect">
            <a:avLst/>
          </a:prstGeom>
          <a:noFill/>
          <a:ln/>
        </p:spPr>
        <p:txBody>
          <a:bodyPr wrap="square" lIns="0" tIns="0" rIns="0" bIns="0" rtlCol="0" anchor="ctr"/>
          <a:lstStyle/>
          <a:p>
            <a:pPr marL="0" indent="0" algn="ctr">
              <a:buNone/>
            </a:pPr>
            <a:r>
              <a:rPr lang="ko-KR" altLang="en-US" dirty="0">
                <a:solidFill>
                  <a:srgbClr val="6B7280"/>
                </a:solidFill>
                <a:latin typeface="Calibri" pitchFamily="34" charset="0"/>
                <a:ea typeface="맑은 고딕" pitchFamily="34" charset="-122"/>
                <a:cs typeface="Calibri" pitchFamily="34" charset="-120"/>
              </a:rPr>
              <a:t>오늘 (t = 0)</a:t>
            </a:r>
            <a:endParaRPr lang="en-US" dirty="0">
              <a:ea typeface="맑은 고딕"/>
            </a:endParaRPr>
          </a:p>
        </p:txBody>
      </p:sp>
      <p:sp>
        <p:nvSpPr>
          <p:cNvPr id="16" name="Shape 14"/>
          <p:cNvSpPr/>
          <p:nvPr/>
        </p:nvSpPr>
        <p:spPr>
          <a:xfrm>
            <a:off x="4114800" y="4297680"/>
            <a:ext cx="1371600" cy="0"/>
          </a:xfrm>
          <a:prstGeom prst="line">
            <a:avLst/>
          </a:prstGeom>
          <a:noFill/>
          <a:ln w="25400">
            <a:solidFill>
              <a:srgbClr val="15803D"/>
            </a:solidFill>
            <a:prstDash val="solid"/>
            <a:tailEnd type="triangle"/>
          </a:ln>
        </p:spPr>
        <p:txBody>
          <a:bodyPr/>
          <a:lstStyle/>
          <a:p>
            <a:endParaRPr lang="en-US" sz="2800">
              <a:ea typeface="맑은 고딕"/>
            </a:endParaRPr>
          </a:p>
        </p:txBody>
      </p:sp>
      <p:sp>
        <p:nvSpPr>
          <p:cNvPr id="17" name="Text 15"/>
          <p:cNvSpPr/>
          <p:nvPr/>
        </p:nvSpPr>
        <p:spPr>
          <a:xfrm>
            <a:off x="4114800" y="3977640"/>
            <a:ext cx="1371600" cy="274320"/>
          </a:xfrm>
          <a:prstGeom prst="rect">
            <a:avLst/>
          </a:prstGeom>
          <a:noFill/>
          <a:ln/>
        </p:spPr>
        <p:txBody>
          <a:bodyPr wrap="square" lIns="0" tIns="0" rIns="0" bIns="0" rtlCol="0" anchor="ctr"/>
          <a:lstStyle/>
          <a:p>
            <a:pPr marL="0" indent="0" algn="ctr">
              <a:buNone/>
            </a:pPr>
            <a:r>
              <a:rPr lang="en-US" dirty="0">
                <a:solidFill>
                  <a:srgbClr val="15803D"/>
                </a:solidFill>
                <a:latin typeface="Calibri" pitchFamily="34" charset="0"/>
                <a:ea typeface="Calibri" pitchFamily="34" charset="-122"/>
                <a:cs typeface="Calibri" pitchFamily="34" charset="-120"/>
              </a:rPr>
              <a:t>× 1.10</a:t>
            </a:r>
            <a:endParaRPr lang="en-US" dirty="0">
              <a:ea typeface="맑은 고딕"/>
            </a:endParaRPr>
          </a:p>
        </p:txBody>
      </p:sp>
      <p:sp>
        <p:nvSpPr>
          <p:cNvPr id="18" name="Text 16"/>
          <p:cNvSpPr/>
          <p:nvPr/>
        </p:nvSpPr>
        <p:spPr>
          <a:xfrm>
            <a:off x="5577840" y="3977640"/>
            <a:ext cx="2743200" cy="640080"/>
          </a:xfrm>
          <a:prstGeom prst="rect">
            <a:avLst/>
          </a:prstGeom>
          <a:noFill/>
          <a:ln/>
        </p:spPr>
        <p:txBody>
          <a:bodyPr wrap="square" lIns="0" tIns="0" rIns="0" bIns="0" rtlCol="0" anchor="ctr"/>
          <a:lstStyle/>
          <a:p>
            <a:pPr marL="0" indent="0" algn="ctr">
              <a:buNone/>
            </a:pPr>
            <a:r>
              <a:rPr lang="en-US" sz="4000" b="1" dirty="0">
                <a:solidFill>
                  <a:srgbClr val="15803D"/>
                </a:solidFill>
                <a:latin typeface="Calibri" pitchFamily="34" charset="0"/>
                <a:ea typeface="Calibri" pitchFamily="34" charset="-122"/>
                <a:cs typeface="Calibri" pitchFamily="34" charset="-120"/>
              </a:rPr>
              <a:t>$11,000</a:t>
            </a:r>
            <a:endParaRPr lang="en-US" sz="4000" dirty="0">
              <a:ea typeface="맑은 고딕"/>
            </a:endParaRPr>
          </a:p>
        </p:txBody>
      </p:sp>
      <p:sp>
        <p:nvSpPr>
          <p:cNvPr id="19" name="Text 17"/>
          <p:cNvSpPr/>
          <p:nvPr/>
        </p:nvSpPr>
        <p:spPr>
          <a:xfrm>
            <a:off x="5577840" y="4544568"/>
            <a:ext cx="2743200" cy="365760"/>
          </a:xfrm>
          <a:prstGeom prst="rect">
            <a:avLst/>
          </a:prstGeom>
          <a:noFill/>
          <a:ln/>
        </p:spPr>
        <p:txBody>
          <a:bodyPr wrap="square" lIns="0" tIns="0" rIns="0" bIns="0" rtlCol="0" anchor="ctr"/>
          <a:lstStyle/>
          <a:p>
            <a:pPr marL="0" indent="0" algn="ctr">
              <a:buNone/>
            </a:pPr>
            <a:r>
              <a:rPr lang="ko-KR" altLang="en-US" dirty="0">
                <a:solidFill>
                  <a:srgbClr val="6B7280"/>
                </a:solidFill>
                <a:latin typeface="Calibri" pitchFamily="34" charset="0"/>
                <a:ea typeface="맑은 고딕" pitchFamily="34" charset="-122"/>
                <a:cs typeface="Calibri" pitchFamily="34" charset="-120"/>
              </a:rPr>
              <a:t>1년 후</a:t>
            </a:r>
            <a:endParaRPr lang="en-US" dirty="0">
              <a:ea typeface="맑은 고딕"/>
            </a:endParaRPr>
          </a:p>
        </p:txBody>
      </p:sp>
      <p:sp>
        <p:nvSpPr>
          <p:cNvPr id="20" name="Shape 18"/>
          <p:cNvSpPr/>
          <p:nvPr/>
        </p:nvSpPr>
        <p:spPr>
          <a:xfrm>
            <a:off x="8503920" y="4297680"/>
            <a:ext cx="1371600" cy="0"/>
          </a:xfrm>
          <a:prstGeom prst="line">
            <a:avLst/>
          </a:prstGeom>
          <a:noFill/>
          <a:ln w="25400">
            <a:solidFill>
              <a:srgbClr val="15803D"/>
            </a:solidFill>
            <a:prstDash val="solid"/>
            <a:tailEnd type="triangle"/>
          </a:ln>
        </p:spPr>
        <p:txBody>
          <a:bodyPr/>
          <a:lstStyle/>
          <a:p>
            <a:endParaRPr lang="en-US" sz="2800">
              <a:ea typeface="맑은 고딕"/>
            </a:endParaRPr>
          </a:p>
        </p:txBody>
      </p:sp>
      <p:sp>
        <p:nvSpPr>
          <p:cNvPr id="21" name="Text 19"/>
          <p:cNvSpPr/>
          <p:nvPr/>
        </p:nvSpPr>
        <p:spPr>
          <a:xfrm>
            <a:off x="8503920" y="3977640"/>
            <a:ext cx="1371600" cy="274320"/>
          </a:xfrm>
          <a:prstGeom prst="rect">
            <a:avLst/>
          </a:prstGeom>
          <a:noFill/>
          <a:ln/>
        </p:spPr>
        <p:txBody>
          <a:bodyPr wrap="square" lIns="0" tIns="0" rIns="0" bIns="0" rtlCol="0" anchor="ctr"/>
          <a:lstStyle/>
          <a:p>
            <a:pPr marL="0" indent="0" algn="ctr">
              <a:buNone/>
            </a:pPr>
            <a:r>
              <a:rPr lang="en-US" dirty="0">
                <a:solidFill>
                  <a:srgbClr val="15803D"/>
                </a:solidFill>
                <a:latin typeface="Calibri" pitchFamily="34" charset="0"/>
                <a:ea typeface="Calibri" pitchFamily="34" charset="-122"/>
                <a:cs typeface="Calibri" pitchFamily="34" charset="-120"/>
              </a:rPr>
              <a:t>× 1.10⁵</a:t>
            </a:r>
            <a:endParaRPr lang="en-US" dirty="0">
              <a:ea typeface="맑은 고딕"/>
            </a:endParaRPr>
          </a:p>
        </p:txBody>
      </p:sp>
      <p:sp>
        <p:nvSpPr>
          <p:cNvPr id="22" name="Text 20"/>
          <p:cNvSpPr/>
          <p:nvPr/>
        </p:nvSpPr>
        <p:spPr>
          <a:xfrm>
            <a:off x="9601200" y="3977640"/>
            <a:ext cx="2011680" cy="640080"/>
          </a:xfrm>
          <a:prstGeom prst="rect">
            <a:avLst/>
          </a:prstGeom>
          <a:noFill/>
          <a:ln/>
        </p:spPr>
        <p:txBody>
          <a:bodyPr wrap="square" lIns="0" tIns="0" rIns="0" bIns="0" rtlCol="0" anchor="ctr"/>
          <a:lstStyle/>
          <a:p>
            <a:pPr marL="0" indent="0" algn="ctr">
              <a:buNone/>
            </a:pPr>
            <a:r>
              <a:rPr lang="en-US" sz="4000" b="1" dirty="0">
                <a:solidFill>
                  <a:srgbClr val="15803D"/>
                </a:solidFill>
                <a:latin typeface="Calibri" pitchFamily="34" charset="0"/>
                <a:ea typeface="Calibri" pitchFamily="34" charset="-122"/>
                <a:cs typeface="Calibri" pitchFamily="34" charset="-120"/>
              </a:rPr>
              <a:t>$16,105</a:t>
            </a:r>
            <a:endParaRPr lang="en-US" sz="4000" dirty="0">
              <a:ea typeface="맑은 고딕"/>
            </a:endParaRPr>
          </a:p>
        </p:txBody>
      </p:sp>
      <p:sp>
        <p:nvSpPr>
          <p:cNvPr id="23" name="Text 21"/>
          <p:cNvSpPr/>
          <p:nvPr/>
        </p:nvSpPr>
        <p:spPr>
          <a:xfrm>
            <a:off x="9601200" y="4544568"/>
            <a:ext cx="2011680" cy="365760"/>
          </a:xfrm>
          <a:prstGeom prst="rect">
            <a:avLst/>
          </a:prstGeom>
          <a:noFill/>
          <a:ln/>
        </p:spPr>
        <p:txBody>
          <a:bodyPr wrap="square" lIns="0" tIns="0" rIns="0" bIns="0" rtlCol="0" anchor="ctr"/>
          <a:lstStyle/>
          <a:p>
            <a:pPr marL="0" indent="0" algn="ctr">
              <a:buNone/>
            </a:pPr>
            <a:r>
              <a:rPr lang="ko-KR" altLang="en-US" dirty="0">
                <a:solidFill>
                  <a:srgbClr val="6B7280"/>
                </a:solidFill>
                <a:latin typeface="Calibri" pitchFamily="34" charset="0"/>
                <a:ea typeface="맑은 고딕" pitchFamily="34" charset="-122"/>
                <a:cs typeface="Calibri" pitchFamily="34" charset="-120"/>
              </a:rPr>
              <a:t>5년 후</a:t>
            </a:r>
            <a:endParaRPr lang="en-US" dirty="0">
              <a:ea typeface="맑은 고딕"/>
            </a:endParaRPr>
          </a:p>
        </p:txBody>
      </p:sp>
      <p:sp>
        <p:nvSpPr>
          <p:cNvPr id="24" name="Text 22"/>
          <p:cNvSpPr/>
          <p:nvPr/>
        </p:nvSpPr>
        <p:spPr>
          <a:xfrm>
            <a:off x="777240" y="5440680"/>
            <a:ext cx="10424160" cy="457200"/>
          </a:xfrm>
          <a:prstGeom prst="rect">
            <a:avLst/>
          </a:prstGeom>
          <a:noFill/>
          <a:ln/>
        </p:spPr>
        <p:txBody>
          <a:bodyPr wrap="square" rtlCol="0" anchor="ctr"/>
          <a:lstStyle/>
          <a:p>
            <a:pPr marL="0" indent="0">
              <a:buNone/>
            </a:pPr>
            <a:r>
              <a:rPr lang="ko-KR" altLang="en-US" i="1" dirty="0">
                <a:solidFill>
                  <a:srgbClr val="6B7280"/>
                </a:solidFill>
                <a:latin typeface="Calibri" pitchFamily="34" charset="0"/>
                <a:ea typeface="맑은 고딕" pitchFamily="34" charset="-122"/>
                <a:cs typeface="Calibri" pitchFamily="34" charset="-120"/>
              </a:rPr>
              <a:t>거꾸로 계산하면 — 할인(discounting) — 5년 후의 $16,105는 오늘 정확히 $10,000의 가치를 갖는다.</a:t>
            </a:r>
            <a:endParaRPr lang="en-US" dirty="0">
              <a:ea typeface="맑은 고딕"/>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912D-5100-C337-006B-22467B0BF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3A8C6-8264-E4A9-3201-B11EC2302F7E}"/>
              </a:ext>
            </a:extLst>
          </p:cNvPr>
          <p:cNvSpPr>
            <a:spLocks noGrp="1"/>
          </p:cNvSpPr>
          <p:nvPr>
            <p:ph type="title"/>
          </p:nvPr>
        </p:nvSpPr>
        <p:spPr/>
        <p:txBody>
          <a:bodyPr anchor="ctr">
            <a:normAutofit/>
          </a:bodyPr>
          <a:lstStyle/>
          <a:p>
            <a:r>
              <a:rPr lang="ko-KR" altLang="en-US" dirty="0">
                <a:latin typeface="+mn-lt"/>
                <a:ea typeface="맑은 고딕"/>
              </a:rPr>
              <a:t>연금(annuity)</a:t>
            </a:r>
          </a:p>
        </p:txBody>
      </p:sp>
      <p:pic>
        <p:nvPicPr>
          <p:cNvPr id="5" name="Picture 4">
            <a:extLst>
              <a:ext uri="{FF2B5EF4-FFF2-40B4-BE49-F238E27FC236}">
                <a16:creationId xmlns:a16="http://schemas.microsoft.com/office/drawing/2014/main" id="{107309DC-0961-736C-8D25-EF7B36949564}"/>
              </a:ext>
            </a:extLst>
          </p:cNvPr>
          <p:cNvPicPr>
            <a:picLocks noChangeAspect="1"/>
          </p:cNvPicPr>
          <p:nvPr/>
        </p:nvPicPr>
        <p:blipFill>
          <a:blip r:embed="rId3"/>
          <a:stretch>
            <a:fillRect/>
          </a:stretch>
        </p:blipFill>
        <p:spPr>
          <a:xfrm>
            <a:off x="1835843" y="1229032"/>
            <a:ext cx="7731067" cy="5504378"/>
          </a:xfrm>
          <a:prstGeom prst="rect">
            <a:avLst/>
          </a:prstGeom>
        </p:spPr>
      </p:pic>
    </p:spTree>
    <p:extLst>
      <p:ext uri="{BB962C8B-B14F-4D97-AF65-F5344CB8AC3E}">
        <p14:creationId xmlns:p14="http://schemas.microsoft.com/office/powerpoint/2010/main" val="352304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6ECA-870D-DEAE-E1D2-5F9707A81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7B4A6-9AA6-03D9-351E-95E182C2B190}"/>
              </a:ext>
            </a:extLst>
          </p:cNvPr>
          <p:cNvSpPr>
            <a:spLocks noGrp="1"/>
          </p:cNvSpPr>
          <p:nvPr>
            <p:ph type="title"/>
          </p:nvPr>
        </p:nvSpPr>
        <p:spPr/>
        <p:txBody>
          <a:bodyPr anchor="ctr">
            <a:normAutofit/>
          </a:bodyPr>
          <a:lstStyle/>
          <a:p>
            <a:r>
              <a:rPr lang="ko-KR" altLang="en-US" dirty="0">
                <a:latin typeface="+mn-lt"/>
                <a:ea typeface="맑은 고딕"/>
              </a:rPr>
              <a:t>영구연금(perpetuity)</a:t>
            </a:r>
          </a:p>
        </p:txBody>
      </p:sp>
      <p:pic>
        <p:nvPicPr>
          <p:cNvPr id="5" name="Picture 4">
            <a:extLst>
              <a:ext uri="{FF2B5EF4-FFF2-40B4-BE49-F238E27FC236}">
                <a16:creationId xmlns:a16="http://schemas.microsoft.com/office/drawing/2014/main" id="{FEE4D5BE-9F68-5868-FF4F-5091D8AB86EE}"/>
              </a:ext>
            </a:extLst>
          </p:cNvPr>
          <p:cNvPicPr>
            <a:picLocks noChangeAspect="1"/>
          </p:cNvPicPr>
          <p:nvPr/>
        </p:nvPicPr>
        <p:blipFill>
          <a:blip r:embed="rId3"/>
          <a:stretch>
            <a:fillRect/>
          </a:stretch>
        </p:blipFill>
        <p:spPr>
          <a:xfrm>
            <a:off x="1528125" y="1173584"/>
            <a:ext cx="8518845" cy="5409778"/>
          </a:xfrm>
          <a:prstGeom prst="rect">
            <a:avLst/>
          </a:prstGeom>
        </p:spPr>
      </p:pic>
    </p:spTree>
    <p:extLst>
      <p:ext uri="{BB962C8B-B14F-4D97-AF65-F5344CB8AC3E}">
        <p14:creationId xmlns:p14="http://schemas.microsoft.com/office/powerpoint/2010/main" val="1486874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4169-BEEB-BD26-8462-F36138417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05527-06FA-6411-2815-0ADA9779BAF8}"/>
              </a:ext>
            </a:extLst>
          </p:cNvPr>
          <p:cNvSpPr>
            <a:spLocks noGrp="1"/>
          </p:cNvSpPr>
          <p:nvPr>
            <p:ph type="title"/>
          </p:nvPr>
        </p:nvSpPr>
        <p:spPr/>
        <p:txBody>
          <a:bodyPr/>
          <a:lstStyle/>
          <a:p>
            <a:r>
              <a:rPr lang="ko-KR" altLang="en-US" dirty="0">
                <a:latin typeface="+mn-lt"/>
                <a:ea typeface="맑은 고딕"/>
              </a:rPr>
              <a:t>2. 미스터 마켓(Mr. Market) – 가격 대 가치</a:t>
            </a:r>
          </a:p>
        </p:txBody>
      </p:sp>
    </p:spTree>
    <p:extLst>
      <p:ext uri="{BB962C8B-B14F-4D97-AF65-F5344CB8AC3E}">
        <p14:creationId xmlns:p14="http://schemas.microsoft.com/office/powerpoint/2010/main" val="351643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67123-BA79-6371-69D8-601CA6105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0BC4E-2693-1987-DD5D-94A0ACAC795B}"/>
              </a:ext>
            </a:extLst>
          </p:cNvPr>
          <p:cNvSpPr>
            <a:spLocks noGrp="1"/>
          </p:cNvSpPr>
          <p:nvPr>
            <p:ph type="title"/>
          </p:nvPr>
        </p:nvSpPr>
        <p:spPr/>
        <p:txBody>
          <a:bodyPr>
            <a:normAutofit/>
          </a:bodyPr>
          <a:lstStyle/>
          <a:p>
            <a:r>
              <a:rPr lang="ko-KR" altLang="en-US" dirty="0">
                <a:latin typeface="+mn-lt"/>
                <a:ea typeface="맑은 고딕"/>
              </a:rPr>
              <a:t>미스터 마켓(Mr. Market)은 누구인가? </a:t>
            </a:r>
          </a:p>
        </p:txBody>
      </p:sp>
      <p:sp>
        <p:nvSpPr>
          <p:cNvPr id="8" name="Text 4">
            <a:extLst>
              <a:ext uri="{FF2B5EF4-FFF2-40B4-BE49-F238E27FC236}">
                <a16:creationId xmlns:a16="http://schemas.microsoft.com/office/drawing/2014/main" id="{DA1FD122-9FA1-7603-938E-E631EF76BF28}"/>
              </a:ext>
            </a:extLst>
          </p:cNvPr>
          <p:cNvSpPr/>
          <p:nvPr/>
        </p:nvSpPr>
        <p:spPr>
          <a:xfrm>
            <a:off x="508000" y="2841626"/>
            <a:ext cx="10751676" cy="3489726"/>
          </a:xfrm>
          <a:prstGeom prst="roundRect">
            <a:avLst>
              <a:gd name="adj" fmla="val 0"/>
            </a:avLst>
          </a:prstGeom>
          <a:solidFill>
            <a:srgbClr val="EFF6FF"/>
          </a:solidFill>
          <a:ln w="12700">
            <a:solidFill>
              <a:srgbClr val="3B82F6"/>
            </a:solidFill>
          </a:ln>
        </p:spPr>
        <p:txBody>
          <a:bodyPr wrap="square" rtlCol="0" anchor="ctr"/>
          <a:lstStyle/>
          <a:p>
            <a:pPr marL="285750" lvl="0" indent="-285750">
              <a:buFont typeface="Arial" panose="020B0604020202020204" pitchFamily="34" charset="0"/>
              <a:buChar char="•"/>
            </a:pPr>
            <a:endParaRPr lang="en-US" sz="2000" dirty="0">
              <a:ea typeface="맑은 고딕"/>
            </a:endParaRPr>
          </a:p>
          <a:p>
            <a:pPr marL="285750" lvl="0" indent="-285750">
              <a:buFont typeface="Arial" panose="020B0604020202020204" pitchFamily="34" charset="0"/>
              <a:buChar char="•"/>
            </a:pPr>
            <a:r>
              <a:rPr lang="ko-KR" altLang="en-US" sz="2000" dirty="0">
                <a:ea typeface="맑은 고딕"/>
              </a:rPr>
              <a:t>당신이 미스터 마켓이라는 동업자와 함께 작은 사업체를 소유하고 있다고 상상해 보라. 그는 하루도 빠짐없이 당신의 지분을 사겠다거나 자기 지분을 팔겠다고 제안하며, 그때마다 가격을 제시한다.</a:t>
            </a:r>
          </a:p>
          <a:p>
            <a:pPr marL="285750" lvl="0" indent="-285750">
              <a:buFont typeface="Arial" panose="020B0604020202020204" pitchFamily="34" charset="0"/>
              <a:buChar char="•"/>
            </a:pPr>
            <a:r>
              <a:rPr lang="ko-KR" altLang="en-US" sz="2000" dirty="0">
                <a:ea typeface="맑은 고딕"/>
              </a:rPr>
              <a:t>미스터 마켓은 감정적이다. 어떤 날은 도취되어 터무니없이 높은 가격을 부르고, 어떤 날은 낙담하여 사업의 가치에 크게 못 미치는 가격을 부른다. 그의 호가를 움직이는 것은 사업이 아니라 그의 </a:t>
            </a:r>
            <a:r>
              <a:rPr lang="ko-KR" altLang="en-US" sz="2000" i="1" dirty="0">
                <a:ea typeface="맑은 고딕"/>
              </a:rPr>
              <a:t>기분(mood)</a:t>
            </a:r>
            <a:r>
              <a:rPr lang="ko-KR" altLang="en-US" sz="2000" dirty="0">
                <a:ea typeface="맑은 고딕"/>
              </a:rPr>
              <a:t>이다.</a:t>
            </a:r>
          </a:p>
          <a:p>
            <a:pPr marL="285750" lvl="0" indent="-285750">
              <a:buFont typeface="Arial" panose="020B0604020202020204" pitchFamily="34" charset="0"/>
              <a:buChar char="•"/>
            </a:pPr>
            <a:r>
              <a:rPr lang="ko-KR" altLang="en-US" sz="2000" dirty="0">
                <a:ea typeface="맑은 고딕"/>
              </a:rPr>
              <a:t>핵심은 이것이다: 미스터 마켓은 당신을 </a:t>
            </a:r>
            <a:r>
              <a:rPr lang="ko-KR" altLang="en-US" sz="2000" b="1" dirty="0">
                <a:ea typeface="맑은 고딕"/>
              </a:rPr>
              <a:t>섬기기(serve)</a:t>
            </a:r>
            <a:r>
              <a:rPr lang="ko-KR" altLang="en-US" sz="2000" dirty="0">
                <a:ea typeface="맑은 고딕"/>
              </a:rPr>
              <a:t> 위해 있는 것이지 당신을 </a:t>
            </a:r>
            <a:r>
              <a:rPr lang="ko-KR" altLang="en-US" sz="2000" b="1" dirty="0">
                <a:ea typeface="맑은 고딕"/>
              </a:rPr>
              <a:t>가르치기(instruct)</a:t>
            </a:r>
            <a:r>
              <a:rPr lang="ko-KR" altLang="en-US" sz="2000" dirty="0">
                <a:ea typeface="맑은 고딕"/>
              </a:rPr>
              <a:t> 위해 있는 것이 아니다. 그의 가격이 매력적일 때 거래하고, 그렇지 않으면 무시하면 된다. 그는 내일 새로운 호가를 들고 다시 올 것이다.</a:t>
            </a:r>
          </a:p>
        </p:txBody>
      </p:sp>
      <p:sp>
        <p:nvSpPr>
          <p:cNvPr id="9" name="Text 5">
            <a:extLst>
              <a:ext uri="{FF2B5EF4-FFF2-40B4-BE49-F238E27FC236}">
                <a16:creationId xmlns:a16="http://schemas.microsoft.com/office/drawing/2014/main" id="{2D75BFC6-0CA1-108F-67A4-D00356289994}"/>
              </a:ext>
            </a:extLst>
          </p:cNvPr>
          <p:cNvSpPr/>
          <p:nvPr/>
        </p:nvSpPr>
        <p:spPr>
          <a:xfrm>
            <a:off x="736601" y="3070226"/>
            <a:ext cx="5155692" cy="284361"/>
          </a:xfrm>
          <a:prstGeom prst="rect">
            <a:avLst/>
          </a:prstGeom>
          <a:noFill/>
          <a:ln/>
        </p:spPr>
        <p:txBody>
          <a:bodyPr wrap="square" lIns="0" tIns="0" rIns="0" bIns="0" rtlCol="0" anchor="t"/>
          <a:lstStyle/>
          <a:p>
            <a:pPr>
              <a:lnSpc>
                <a:spcPts val="2240"/>
              </a:lnSpc>
              <a:spcAft>
                <a:spcPts val="800"/>
              </a:spcAft>
            </a:pPr>
            <a:r>
              <a:rPr lang="en-US" sz="1600" b="1" dirty="0">
                <a:solidFill>
                  <a:srgbClr val="1E40AF"/>
                </a:solidFill>
                <a:latin typeface="Arial" pitchFamily="34" charset="0"/>
                <a:ea typeface="Arial" pitchFamily="34" charset="-122"/>
                <a:cs typeface="Arial" pitchFamily="34" charset="-120"/>
              </a:rPr>
              <a:t> </a:t>
            </a:r>
            <a:r>
              <a:rPr lang="ko-KR" altLang="en-US" sz="2000" b="1" dirty="0">
                <a:solidFill>
                  <a:srgbClr val="1E40AF"/>
                </a:solidFill>
                <a:latin typeface="Arial" pitchFamily="34" charset="0"/>
                <a:ea typeface="맑은 고딕" pitchFamily="34" charset="-122"/>
                <a:cs typeface="Arial" pitchFamily="34" charset="-120"/>
              </a:rPr>
              <a:t>우화 요약(The Parable in brief)</a:t>
            </a:r>
            <a:endParaRPr lang="en-US" sz="1600" dirty="0">
              <a:ea typeface="맑은 고딕"/>
            </a:endParaRPr>
          </a:p>
        </p:txBody>
      </p:sp>
      <p:sp>
        <p:nvSpPr>
          <p:cNvPr id="5" name="Text 1">
            <a:extLst>
              <a:ext uri="{FF2B5EF4-FFF2-40B4-BE49-F238E27FC236}">
                <a16:creationId xmlns:a16="http://schemas.microsoft.com/office/drawing/2014/main" id="{2C2F89D8-F085-FF05-F186-F412B4D0FFFC}"/>
              </a:ext>
            </a:extLst>
          </p:cNvPr>
          <p:cNvSpPr/>
          <p:nvPr/>
        </p:nvSpPr>
        <p:spPr>
          <a:xfrm>
            <a:off x="508000" y="1416128"/>
            <a:ext cx="10733936" cy="1006407"/>
          </a:xfrm>
          <a:prstGeom prst="roundRect">
            <a:avLst>
              <a:gd name="adj" fmla="val 0"/>
            </a:avLst>
          </a:prstGeom>
          <a:solidFill>
            <a:srgbClr val="E8F5E9"/>
          </a:solidFill>
          <a:ln w="12700">
            <a:solidFill>
              <a:srgbClr val="92D050"/>
            </a:solidFill>
          </a:ln>
        </p:spPr>
        <p:txBody>
          <a:bodyPr wrap="square" rtlCol="0" anchor="ctr"/>
          <a:lstStyle/>
          <a:p>
            <a:endParaRPr lang="en-US" sz="2000" dirty="0">
              <a:ea typeface="맑은 고딕"/>
            </a:endParaRPr>
          </a:p>
        </p:txBody>
      </p:sp>
      <p:sp>
        <p:nvSpPr>
          <p:cNvPr id="13" name="Text 3">
            <a:extLst>
              <a:ext uri="{FF2B5EF4-FFF2-40B4-BE49-F238E27FC236}">
                <a16:creationId xmlns:a16="http://schemas.microsoft.com/office/drawing/2014/main" id="{0B39A343-157E-E738-C9C6-1117DA679946}"/>
              </a:ext>
            </a:extLst>
          </p:cNvPr>
          <p:cNvSpPr/>
          <p:nvPr/>
        </p:nvSpPr>
        <p:spPr>
          <a:xfrm>
            <a:off x="684999" y="1589137"/>
            <a:ext cx="10574676" cy="282748"/>
          </a:xfrm>
          <a:prstGeom prst="rect">
            <a:avLst/>
          </a:prstGeom>
          <a:noFill/>
          <a:ln/>
        </p:spPr>
        <p:txBody>
          <a:bodyPr wrap="square" lIns="0" tIns="0" rIns="0" bIns="0" rtlCol="0" anchor="t"/>
          <a:lstStyle/>
          <a:p>
            <a:pPr>
              <a:lnSpc>
                <a:spcPts val="1540"/>
              </a:lnSpc>
              <a:spcAft>
                <a:spcPts val="400"/>
              </a:spcAft>
            </a:pPr>
            <a:r>
              <a:rPr lang="ko-KR" altLang="en-US" sz="2000" b="1" dirty="0">
                <a:solidFill>
                  <a:srgbClr val="15803D"/>
                </a:solidFill>
                <a:latin typeface="Arial" pitchFamily="34" charset="0"/>
                <a:ea typeface="맑은 고딕" pitchFamily="34" charset="-122"/>
                <a:cs typeface="Arial" pitchFamily="34" charset="-120"/>
              </a:rPr>
              <a:t>벤저민 그레이엄의 우화 — </a:t>
            </a:r>
            <a:r>
              <a:rPr lang="ko-KR" altLang="en-US" sz="2000" b="1" i="1" dirty="0">
                <a:solidFill>
                  <a:srgbClr val="15803D"/>
                </a:solidFill>
                <a:latin typeface="Arial" pitchFamily="34" charset="0"/>
                <a:ea typeface="맑은 고딕" pitchFamily="34" charset="-122"/>
                <a:cs typeface="Arial" pitchFamily="34" charset="-120"/>
              </a:rPr>
              <a:t>『현명한 투자자(The Intelligent Investor)』</a:t>
            </a:r>
            <a:endParaRPr lang="en-US" sz="2000" i="1" dirty="0">
              <a:ea typeface="맑은 고딕"/>
            </a:endParaRPr>
          </a:p>
        </p:txBody>
      </p:sp>
      <p:sp>
        <p:nvSpPr>
          <p:cNvPr id="15" name="Text 4">
            <a:extLst>
              <a:ext uri="{FF2B5EF4-FFF2-40B4-BE49-F238E27FC236}">
                <a16:creationId xmlns:a16="http://schemas.microsoft.com/office/drawing/2014/main" id="{5EC90E31-D517-B517-03DD-6385C92653BB}"/>
              </a:ext>
            </a:extLst>
          </p:cNvPr>
          <p:cNvSpPr/>
          <p:nvPr/>
        </p:nvSpPr>
        <p:spPr>
          <a:xfrm>
            <a:off x="968870" y="1919331"/>
            <a:ext cx="9957631" cy="497006"/>
          </a:xfrm>
          <a:prstGeom prst="rect">
            <a:avLst/>
          </a:prstGeom>
          <a:noFill/>
          <a:ln/>
        </p:spPr>
        <p:txBody>
          <a:bodyPr wrap="square" lIns="0" tIns="0" rIns="0" bIns="0" rtlCol="0" anchor="t"/>
          <a:lstStyle/>
          <a:p>
            <a:pPr marL="342900" indent="-342900">
              <a:lnSpc>
                <a:spcPts val="2551"/>
              </a:lnSpc>
              <a:buFont typeface="Arial" panose="020B0604020202020204" pitchFamily="34" charset="0"/>
              <a:buChar char="•"/>
            </a:pPr>
            <a:r>
              <a:rPr lang="ko-KR" altLang="en-US" sz="2000" dirty="0">
                <a:ea typeface="맑은 고딕"/>
              </a:rPr>
              <a:t>워런 버핏(Warren Buffett)이 1987년 버크셔 해서웨이 주주서한에서 재소개.</a:t>
            </a:r>
            <a:endParaRPr lang="en-US" sz="1600" dirty="0">
              <a:ea typeface="맑은 고딕"/>
            </a:endParaRPr>
          </a:p>
        </p:txBody>
      </p:sp>
    </p:spTree>
    <p:extLst>
      <p:ext uri="{BB962C8B-B14F-4D97-AF65-F5344CB8AC3E}">
        <p14:creationId xmlns:p14="http://schemas.microsoft.com/office/powerpoint/2010/main" val="282174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374A6-ECD7-C05B-EF44-CBA40EE91F3D}"/>
            </a:ext>
          </a:extLst>
        </p:cNvPr>
        <p:cNvGrpSpPr/>
        <p:nvPr/>
      </p:nvGrpSpPr>
      <p:grpSpPr>
        <a:xfrm>
          <a:off x="0" y="0"/>
          <a:ext cx="0" cy="0"/>
          <a:chOff x="0" y="0"/>
          <a:chExt cx="0" cy="0"/>
        </a:xfrm>
      </p:grpSpPr>
      <p:sp>
        <p:nvSpPr>
          <p:cNvPr id="7" name="Text 26">
            <a:extLst>
              <a:ext uri="{FF2B5EF4-FFF2-40B4-BE49-F238E27FC236}">
                <a16:creationId xmlns:a16="http://schemas.microsoft.com/office/drawing/2014/main" id="{B7CFD5E7-A455-92BA-E309-DA46105C01E3}"/>
              </a:ext>
            </a:extLst>
          </p:cNvPr>
          <p:cNvSpPr/>
          <p:nvPr/>
        </p:nvSpPr>
        <p:spPr>
          <a:xfrm>
            <a:off x="387353" y="1817369"/>
            <a:ext cx="10972800" cy="4103053"/>
          </a:xfrm>
          <a:prstGeom prst="roundRect">
            <a:avLst>
              <a:gd name="adj" fmla="val 0"/>
            </a:avLst>
          </a:prstGeom>
          <a:solidFill>
            <a:srgbClr val="FEF2F2"/>
          </a:solidFill>
          <a:ln w="9525">
            <a:solidFill>
              <a:srgbClr val="EF4444"/>
            </a:solidFill>
          </a:ln>
        </p:spPr>
        <p:txBody>
          <a:bodyPr wrap="square" rtlCol="0" anchor="ctr"/>
          <a:lstStyle/>
          <a:p>
            <a:pPr marL="342900" lvl="0" indent="-342900">
              <a:buFont typeface="Arial" panose="020B0604020202020204" pitchFamily="34" charset="0"/>
              <a:buChar char="•"/>
            </a:pPr>
            <a:r>
              <a:rPr lang="ko-KR" altLang="en-US" sz="2000" b="1" dirty="0">
                <a:ea typeface="맑은 고딕"/>
              </a:rPr>
              <a:t>가격(price)</a:t>
            </a:r>
            <a:r>
              <a:rPr lang="ko-KR" altLang="en-US" sz="2000" dirty="0">
                <a:ea typeface="맑은 고딕"/>
              </a:rPr>
              <a:t>은 미스터 마켓이 오늘 부르는 호가이고, </a:t>
            </a:r>
            <a:r>
              <a:rPr lang="ko-KR" altLang="en-US" sz="2000" b="1" dirty="0">
                <a:ea typeface="맑은 고딕"/>
              </a:rPr>
              <a:t>가치(value)</a:t>
            </a:r>
            <a:r>
              <a:rPr lang="ko-KR" altLang="en-US" sz="2000" dirty="0">
                <a:ea typeface="맑은 고딕"/>
              </a:rPr>
              <a:t>는 그 사업이 실제로 지니는 값어치다. 단기적으로 가격은 군중심리에 의해 결정되기 때문에 둘은 끊임없이 괴리된다.</a:t>
            </a:r>
          </a:p>
          <a:p>
            <a:pPr marL="342900" lvl="0" indent="-342900">
              <a:buFont typeface="Arial" panose="020B0604020202020204" pitchFamily="34" charset="0"/>
              <a:buChar char="•"/>
            </a:pPr>
            <a:endParaRPr lang="en-US" sz="2000" dirty="0">
              <a:ea typeface="맑은 고딕"/>
            </a:endParaRPr>
          </a:p>
          <a:p>
            <a:pPr marL="342900" lvl="0" indent="-342900">
              <a:buFont typeface="Arial" panose="020B0604020202020204" pitchFamily="34" charset="0"/>
              <a:buChar char="•"/>
            </a:pPr>
            <a:r>
              <a:rPr lang="ko-KR" altLang="en-US" sz="2000" dirty="0">
                <a:ea typeface="맑은 고딕"/>
              </a:rPr>
              <a:t>그레이엄의 유명한 표현: 단기적으로 시장은 </a:t>
            </a:r>
            <a:r>
              <a:rPr lang="ko-KR" altLang="en-US" sz="2000" i="1" dirty="0">
                <a:ea typeface="맑은 고딕"/>
              </a:rPr>
              <a:t>투표기(voting machine)</a:t>
            </a:r>
            <a:r>
              <a:rPr lang="ko-KR" altLang="en-US" sz="2000" dirty="0">
                <a:ea typeface="맑은 고딕"/>
              </a:rPr>
              <a:t>이고, 장기적으로는 </a:t>
            </a:r>
            <a:r>
              <a:rPr lang="ko-KR" altLang="en-US" sz="2000" i="1" dirty="0">
                <a:ea typeface="맑은 고딕"/>
              </a:rPr>
              <a:t>저울(weighing machine)</a:t>
            </a:r>
            <a:r>
              <a:rPr lang="ko-KR" altLang="en-US" sz="2000" dirty="0">
                <a:ea typeface="맑은 고딕"/>
              </a:rPr>
              <a:t>이다. 매일의 가격은 시장심리가 정하지만, 시간이 지나면 펀더멘털(fundamentals)이 정한다.</a:t>
            </a:r>
          </a:p>
          <a:p>
            <a:pPr marL="342900" lvl="0" indent="-342900">
              <a:buFont typeface="Arial" panose="020B0604020202020204" pitchFamily="34" charset="0"/>
              <a:buChar char="•"/>
            </a:pPr>
            <a:endParaRPr lang="en-US" sz="2000" dirty="0">
              <a:ea typeface="맑은 고딕"/>
            </a:endParaRPr>
          </a:p>
          <a:p>
            <a:pPr marL="342900" lvl="0" indent="-342900">
              <a:buFont typeface="Arial" panose="020B0604020202020204" pitchFamily="34" charset="0"/>
              <a:buChar char="•"/>
            </a:pPr>
            <a:r>
              <a:rPr lang="ko-KR" altLang="en-US" sz="2000" dirty="0">
                <a:ea typeface="맑은 고딕"/>
              </a:rPr>
              <a:t>따라서 투자자가 할 일은 미스터 마켓의 기분을 예측하는 것이 아니라, (a) 가치에 대한 독자적인 추정치를 세우고, (b) 가격이 가치에서 충분히 멀어져 </a:t>
            </a:r>
            <a:r>
              <a:rPr lang="ko-KR" altLang="en-US" sz="2000" b="1" u="sng" dirty="0">
                <a:ea typeface="맑은 고딕"/>
              </a:rPr>
              <a:t>안전마진(margin of safety)</a:t>
            </a:r>
            <a:r>
              <a:rPr lang="ko-KR" altLang="en-US" sz="2000" dirty="0">
                <a:ea typeface="맑은 고딕"/>
              </a:rPr>
              <a:t>을 제공할 때에만 행동하는 것이다 (Topic 5).</a:t>
            </a:r>
          </a:p>
        </p:txBody>
      </p:sp>
      <p:sp>
        <p:nvSpPr>
          <p:cNvPr id="2" name="Title 1">
            <a:extLst>
              <a:ext uri="{FF2B5EF4-FFF2-40B4-BE49-F238E27FC236}">
                <a16:creationId xmlns:a16="http://schemas.microsoft.com/office/drawing/2014/main" id="{52744CB9-B2F7-168C-9147-81505536EC72}"/>
              </a:ext>
            </a:extLst>
          </p:cNvPr>
          <p:cNvSpPr>
            <a:spLocks noGrp="1"/>
          </p:cNvSpPr>
          <p:nvPr>
            <p:ph type="title"/>
          </p:nvPr>
        </p:nvSpPr>
        <p:spPr/>
        <p:txBody>
          <a:bodyPr>
            <a:normAutofit/>
          </a:bodyPr>
          <a:lstStyle/>
          <a:p>
            <a:r>
              <a:rPr lang="ko-KR" altLang="en-US" dirty="0">
                <a:latin typeface="+mn-lt"/>
                <a:ea typeface="맑은 고딕"/>
              </a:rPr>
              <a:t>교훈: 가격(price) ≠ 가치(value) </a:t>
            </a:r>
          </a:p>
        </p:txBody>
      </p:sp>
    </p:spTree>
    <p:extLst>
      <p:ext uri="{BB962C8B-B14F-4D97-AF65-F5344CB8AC3E}">
        <p14:creationId xmlns:p14="http://schemas.microsoft.com/office/powerpoint/2010/main" val="3442784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FF7CE-91EB-E9B7-FB98-24B1FBD3B398}"/>
            </a:ext>
          </a:extLst>
        </p:cNvPr>
        <p:cNvGrpSpPr/>
        <p:nvPr/>
      </p:nvGrpSpPr>
      <p:grpSpPr>
        <a:xfrm>
          <a:off x="0" y="0"/>
          <a:ext cx="0" cy="0"/>
          <a:chOff x="0" y="0"/>
          <a:chExt cx="0" cy="0"/>
        </a:xfrm>
      </p:grpSpPr>
      <p:sp>
        <p:nvSpPr>
          <p:cNvPr id="3" name="Text 12">
            <a:extLst>
              <a:ext uri="{FF2B5EF4-FFF2-40B4-BE49-F238E27FC236}">
                <a16:creationId xmlns:a16="http://schemas.microsoft.com/office/drawing/2014/main" id="{40F1B31E-78E5-013A-43D1-234BFBDDFC9C}"/>
              </a:ext>
            </a:extLst>
          </p:cNvPr>
          <p:cNvSpPr/>
          <p:nvPr/>
        </p:nvSpPr>
        <p:spPr>
          <a:xfrm>
            <a:off x="444502" y="1428878"/>
            <a:ext cx="10768277" cy="1665702"/>
          </a:xfrm>
          <a:prstGeom prst="roundRect">
            <a:avLst>
              <a:gd name="adj" fmla="val 0"/>
            </a:avLst>
          </a:prstGeom>
          <a:solidFill>
            <a:srgbClr val="EFF6FF"/>
          </a:solidFill>
          <a:ln>
            <a:solidFill>
              <a:srgbClr val="3B82F6"/>
            </a:solidFill>
          </a:ln>
        </p:spPr>
        <p:txBody>
          <a:bodyPr wrap="square" rtlCol="0" anchor="ctr"/>
          <a:lstStyle/>
          <a:p>
            <a:endParaRPr lang="en-US" sz="3200" dirty="0">
              <a:ea typeface="맑은 고딕"/>
            </a:endParaRPr>
          </a:p>
        </p:txBody>
      </p:sp>
      <p:sp>
        <p:nvSpPr>
          <p:cNvPr id="6" name="Text 26">
            <a:extLst>
              <a:ext uri="{FF2B5EF4-FFF2-40B4-BE49-F238E27FC236}">
                <a16:creationId xmlns:a16="http://schemas.microsoft.com/office/drawing/2014/main" id="{983C4111-C7BB-6A62-D904-F6E425CC0088}"/>
              </a:ext>
            </a:extLst>
          </p:cNvPr>
          <p:cNvSpPr/>
          <p:nvPr/>
        </p:nvSpPr>
        <p:spPr>
          <a:xfrm>
            <a:off x="444502" y="3318965"/>
            <a:ext cx="10768277" cy="1516261"/>
          </a:xfrm>
          <a:prstGeom prst="roundRect">
            <a:avLst>
              <a:gd name="adj" fmla="val 0"/>
            </a:avLst>
          </a:prstGeom>
          <a:solidFill>
            <a:srgbClr val="FEF2F2"/>
          </a:solidFill>
          <a:ln w="9525">
            <a:solidFill>
              <a:srgbClr val="EF4444"/>
            </a:solidFill>
          </a:ln>
        </p:spPr>
        <p:txBody>
          <a:bodyPr wrap="square" rtlCol="0" anchor="ctr"/>
          <a:lstStyle/>
          <a:p>
            <a:endParaRPr lang="en-US" sz="3200" dirty="0">
              <a:ea typeface="맑은 고딕"/>
            </a:endParaRPr>
          </a:p>
        </p:txBody>
      </p:sp>
      <p:sp>
        <p:nvSpPr>
          <p:cNvPr id="2" name="Title 1">
            <a:extLst>
              <a:ext uri="{FF2B5EF4-FFF2-40B4-BE49-F238E27FC236}">
                <a16:creationId xmlns:a16="http://schemas.microsoft.com/office/drawing/2014/main" id="{8DF6B302-2F52-BF37-97D2-0C4A54D27E6A}"/>
              </a:ext>
            </a:extLst>
          </p:cNvPr>
          <p:cNvSpPr>
            <a:spLocks noGrp="1"/>
          </p:cNvSpPr>
          <p:nvPr>
            <p:ph type="title"/>
          </p:nvPr>
        </p:nvSpPr>
        <p:spPr/>
        <p:txBody>
          <a:bodyPr>
            <a:normAutofit/>
          </a:bodyPr>
          <a:lstStyle/>
          <a:p>
            <a:r>
              <a:rPr lang="ko-KR" altLang="en-US" dirty="0">
                <a:latin typeface="+mn-lt"/>
                <a:ea typeface="맑은 고딕"/>
              </a:rPr>
              <a:t>시장을 이기려는 두 가지 접근법</a:t>
            </a:r>
          </a:p>
        </p:txBody>
      </p:sp>
      <p:sp>
        <p:nvSpPr>
          <p:cNvPr id="4" name="Text 2">
            <a:extLst>
              <a:ext uri="{FF2B5EF4-FFF2-40B4-BE49-F238E27FC236}">
                <a16:creationId xmlns:a16="http://schemas.microsoft.com/office/drawing/2014/main" id="{ECC91803-364B-9754-D1C9-58FE292D1E13}"/>
              </a:ext>
            </a:extLst>
          </p:cNvPr>
          <p:cNvSpPr/>
          <p:nvPr/>
        </p:nvSpPr>
        <p:spPr>
          <a:xfrm>
            <a:off x="736600" y="1727581"/>
            <a:ext cx="10534312" cy="505422"/>
          </a:xfrm>
          <a:prstGeom prst="rect">
            <a:avLst/>
          </a:prstGeom>
          <a:noFill/>
          <a:ln/>
        </p:spPr>
        <p:txBody>
          <a:bodyPr wrap="square" lIns="0" tIns="0" rIns="0" bIns="0" rtlCol="0" anchor="t"/>
          <a:lstStyle/>
          <a:p>
            <a:pPr>
              <a:lnSpc>
                <a:spcPts val="2380"/>
              </a:lnSpc>
              <a:spcAft>
                <a:spcPts val="1000"/>
              </a:spcAft>
            </a:pPr>
            <a:r>
              <a:rPr lang="ko-KR" altLang="en-US" sz="2800" b="1" dirty="0">
                <a:solidFill>
                  <a:srgbClr val="1E40AF"/>
                </a:solidFill>
                <a:latin typeface="Arial" pitchFamily="34" charset="0"/>
                <a:ea typeface="맑은 고딕" pitchFamily="34" charset="-122"/>
                <a:cs typeface="Arial" pitchFamily="34" charset="-120"/>
              </a:rPr>
              <a:t>기본적 분석(Fundamental Analysis)</a:t>
            </a:r>
            <a:endParaRPr lang="en-US" sz="2800" dirty="0">
              <a:ea typeface="맑은 고딕"/>
            </a:endParaRPr>
          </a:p>
        </p:txBody>
      </p:sp>
      <p:sp>
        <p:nvSpPr>
          <p:cNvPr id="5" name="Text 3">
            <a:extLst>
              <a:ext uri="{FF2B5EF4-FFF2-40B4-BE49-F238E27FC236}">
                <a16:creationId xmlns:a16="http://schemas.microsoft.com/office/drawing/2014/main" id="{FBDE9463-50B5-529F-8574-105EB7CE0D71}"/>
              </a:ext>
            </a:extLst>
          </p:cNvPr>
          <p:cNvSpPr/>
          <p:nvPr/>
        </p:nvSpPr>
        <p:spPr>
          <a:xfrm>
            <a:off x="838580" y="2163911"/>
            <a:ext cx="10064772" cy="686929"/>
          </a:xfrm>
          <a:prstGeom prst="rect">
            <a:avLst/>
          </a:prstGeom>
          <a:noFill/>
          <a:ln/>
        </p:spPr>
        <p:txBody>
          <a:bodyPr wrap="square" lIns="0" tIns="0" rIns="0" bIns="0" rtlCol="0" anchor="t"/>
          <a:lstStyle/>
          <a:p>
            <a:pPr marL="342900" indent="-342900">
              <a:lnSpc>
                <a:spcPts val="2800"/>
              </a:lnSpc>
              <a:spcBef>
                <a:spcPts val="400"/>
              </a:spcBef>
              <a:spcAft>
                <a:spcPts val="400"/>
              </a:spcAft>
              <a:buFont typeface="Arial" panose="020B0604020202020204" pitchFamily="34" charset="0"/>
              <a:buChar char="•"/>
            </a:pPr>
            <a:r>
              <a:rPr lang="ko-KR" altLang="en-US" sz="2000" dirty="0">
                <a:ea typeface="맑은 고딕"/>
              </a:rPr>
              <a:t>기업의 현금흐름(cash flows)과 재무제표(financial statements)로부터 내재가치(intrinsic value)를 추정하고(본 과목의 접근법), 가격이 가치보다 낮을 때 매수한다.</a:t>
            </a:r>
            <a:endParaRPr lang="en-US" dirty="0">
              <a:ea typeface="맑은 고딕"/>
            </a:endParaRPr>
          </a:p>
        </p:txBody>
      </p:sp>
      <p:sp>
        <p:nvSpPr>
          <p:cNvPr id="20" name="Text 6">
            <a:extLst>
              <a:ext uri="{FF2B5EF4-FFF2-40B4-BE49-F238E27FC236}">
                <a16:creationId xmlns:a16="http://schemas.microsoft.com/office/drawing/2014/main" id="{0B9B7A6B-B3E3-30CA-CD67-B732291E40E1}"/>
              </a:ext>
            </a:extLst>
          </p:cNvPr>
          <p:cNvSpPr/>
          <p:nvPr/>
        </p:nvSpPr>
        <p:spPr>
          <a:xfrm>
            <a:off x="716280" y="3505954"/>
            <a:ext cx="10534312" cy="284361"/>
          </a:xfrm>
          <a:prstGeom prst="rect">
            <a:avLst/>
          </a:prstGeom>
          <a:noFill/>
          <a:ln/>
        </p:spPr>
        <p:txBody>
          <a:bodyPr wrap="square" lIns="0" tIns="0" rIns="0" bIns="0" rtlCol="0" anchor="t"/>
          <a:lstStyle/>
          <a:p>
            <a:pPr>
              <a:lnSpc>
                <a:spcPts val="2240"/>
              </a:lnSpc>
              <a:spcAft>
                <a:spcPts val="800"/>
              </a:spcAft>
            </a:pPr>
            <a:r>
              <a:rPr lang="ko-KR" altLang="en-US" sz="2800" b="1" dirty="0">
                <a:solidFill>
                  <a:srgbClr val="991B1B"/>
                </a:solidFill>
                <a:latin typeface="Arial" pitchFamily="34" charset="0"/>
                <a:ea typeface="맑은 고딕" pitchFamily="34" charset="-122"/>
                <a:cs typeface="Arial" pitchFamily="34" charset="-120"/>
              </a:rPr>
              <a:t> 기술적 분석(Technical Analysis)</a:t>
            </a:r>
            <a:endParaRPr lang="en-US" sz="2800" dirty="0">
              <a:ea typeface="맑은 고딕"/>
            </a:endParaRPr>
          </a:p>
        </p:txBody>
      </p:sp>
      <p:sp>
        <p:nvSpPr>
          <p:cNvPr id="21" name="Text 7">
            <a:extLst>
              <a:ext uri="{FF2B5EF4-FFF2-40B4-BE49-F238E27FC236}">
                <a16:creationId xmlns:a16="http://schemas.microsoft.com/office/drawing/2014/main" id="{11DEF085-2D9B-C35E-AB19-3B3808728469}"/>
              </a:ext>
            </a:extLst>
          </p:cNvPr>
          <p:cNvSpPr/>
          <p:nvPr/>
        </p:nvSpPr>
        <p:spPr>
          <a:xfrm>
            <a:off x="762000" y="3891913"/>
            <a:ext cx="10141352" cy="566664"/>
          </a:xfrm>
          <a:prstGeom prst="rect">
            <a:avLst/>
          </a:prstGeom>
          <a:noFill/>
          <a:ln/>
        </p:spPr>
        <p:txBody>
          <a:bodyPr wrap="square" lIns="0" tIns="0" rIns="0" bIns="0" rtlCol="0" anchor="t"/>
          <a:lstStyle/>
          <a:p>
            <a:pPr marL="342900" lvl="0" indent="-342900">
              <a:buFont typeface="Arial" panose="020B0604020202020204" pitchFamily="34" charset="0"/>
              <a:buChar char="•"/>
            </a:pPr>
            <a:r>
              <a:rPr lang="ko-KR" altLang="en-US" sz="2000" dirty="0">
                <a:ea typeface="맑은 고딕"/>
              </a:rPr>
              <a:t>과거의 가격과 거래량 패턴을 연구하여 미래 가격을 예측한다. 내재가치는 고려하지 않고 미스터 마켓의 기분 변화 자체에 집중한다.</a:t>
            </a:r>
          </a:p>
        </p:txBody>
      </p:sp>
    </p:spTree>
    <p:extLst>
      <p:ext uri="{BB962C8B-B14F-4D97-AF65-F5344CB8AC3E}">
        <p14:creationId xmlns:p14="http://schemas.microsoft.com/office/powerpoint/2010/main" val="312764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46F7C-ED2B-16D4-7618-5BF05EADB610}"/>
            </a:ext>
          </a:extLst>
        </p:cNvPr>
        <p:cNvGrpSpPr/>
        <p:nvPr/>
      </p:nvGrpSpPr>
      <p:grpSpPr>
        <a:xfrm>
          <a:off x="0" y="0"/>
          <a:ext cx="0" cy="0"/>
          <a:chOff x="0" y="0"/>
          <a:chExt cx="0" cy="0"/>
        </a:xfrm>
      </p:grpSpPr>
      <p:sp>
        <p:nvSpPr>
          <p:cNvPr id="9" name="Text 2">
            <a:extLst>
              <a:ext uri="{FF2B5EF4-FFF2-40B4-BE49-F238E27FC236}">
                <a16:creationId xmlns:a16="http://schemas.microsoft.com/office/drawing/2014/main" id="{F2161E04-555D-FCE9-85E8-848B4DBC2F97}"/>
              </a:ext>
            </a:extLst>
          </p:cNvPr>
          <p:cNvSpPr/>
          <p:nvPr/>
        </p:nvSpPr>
        <p:spPr>
          <a:xfrm>
            <a:off x="374557" y="1253735"/>
            <a:ext cx="11176000" cy="1878085"/>
          </a:xfrm>
          <a:prstGeom prst="roundRect">
            <a:avLst>
              <a:gd name="adj" fmla="val 578"/>
            </a:avLst>
          </a:prstGeom>
          <a:solidFill>
            <a:srgbClr val="E8F5E9"/>
          </a:solidFill>
          <a:ln w="9525">
            <a:solidFill>
              <a:schemeClr val="accent3">
                <a:lumMod val="40000"/>
                <a:lumOff val="60000"/>
              </a:schemeClr>
            </a:solidFill>
          </a:ln>
        </p:spPr>
        <p:txBody>
          <a:bodyPr wrap="square" rtlCol="0" anchor="ctr"/>
          <a:lstStyle/>
          <a:p>
            <a:endParaRPr lang="en-US" sz="2400" dirty="0">
              <a:ea typeface="맑은 고딕"/>
            </a:endParaRPr>
          </a:p>
        </p:txBody>
      </p:sp>
      <p:sp>
        <p:nvSpPr>
          <p:cNvPr id="7" name="Text 26">
            <a:extLst>
              <a:ext uri="{FF2B5EF4-FFF2-40B4-BE49-F238E27FC236}">
                <a16:creationId xmlns:a16="http://schemas.microsoft.com/office/drawing/2014/main" id="{8B2B9224-9007-0896-908F-DDBCF22DF8C3}"/>
              </a:ext>
            </a:extLst>
          </p:cNvPr>
          <p:cNvSpPr/>
          <p:nvPr/>
        </p:nvSpPr>
        <p:spPr>
          <a:xfrm>
            <a:off x="374557" y="3561077"/>
            <a:ext cx="11176000" cy="1922796"/>
          </a:xfrm>
          <a:prstGeom prst="roundRect">
            <a:avLst>
              <a:gd name="adj" fmla="val 0"/>
            </a:avLst>
          </a:prstGeom>
          <a:solidFill>
            <a:srgbClr val="FEF2F2"/>
          </a:solidFill>
          <a:ln w="9525">
            <a:solidFill>
              <a:srgbClr val="EF4444"/>
            </a:solidFill>
          </a:ln>
        </p:spPr>
        <p:txBody>
          <a:bodyPr wrap="square" rtlCol="0" anchor="ctr"/>
          <a:lstStyle/>
          <a:p>
            <a:endParaRPr lang="en-US" sz="2400" dirty="0">
              <a:latin typeface="Arial" panose="020B0604020202020204" pitchFamily="34" charset="0"/>
              <a:ea typeface="맑은 고딕"/>
              <a:cs typeface="Arial" panose="020B0604020202020204" pitchFamily="34" charset="0"/>
            </a:endParaRPr>
          </a:p>
        </p:txBody>
      </p:sp>
      <p:sp>
        <p:nvSpPr>
          <p:cNvPr id="2" name="Title 1">
            <a:extLst>
              <a:ext uri="{FF2B5EF4-FFF2-40B4-BE49-F238E27FC236}">
                <a16:creationId xmlns:a16="http://schemas.microsoft.com/office/drawing/2014/main" id="{0364BD60-1D55-C917-9347-EF7110E9528B}"/>
              </a:ext>
            </a:extLst>
          </p:cNvPr>
          <p:cNvSpPr>
            <a:spLocks noGrp="1"/>
          </p:cNvSpPr>
          <p:nvPr>
            <p:ph type="title"/>
          </p:nvPr>
        </p:nvSpPr>
        <p:spPr/>
        <p:txBody>
          <a:bodyPr>
            <a:normAutofit/>
          </a:bodyPr>
          <a:lstStyle/>
          <a:p>
            <a:r>
              <a:rPr lang="ko-KR" altLang="en-US" dirty="0">
                <a:latin typeface="+mn-lt"/>
                <a:ea typeface="맑은 고딕"/>
              </a:rPr>
              <a:t>시장효율성(market efficiency)에 관한 참고</a:t>
            </a:r>
          </a:p>
        </p:txBody>
      </p:sp>
      <p:sp>
        <p:nvSpPr>
          <p:cNvPr id="4" name="Text 3">
            <a:extLst>
              <a:ext uri="{FF2B5EF4-FFF2-40B4-BE49-F238E27FC236}">
                <a16:creationId xmlns:a16="http://schemas.microsoft.com/office/drawing/2014/main" id="{0162C6DD-C6BB-02B0-1F97-AF54033B03D2}"/>
              </a:ext>
            </a:extLst>
          </p:cNvPr>
          <p:cNvSpPr/>
          <p:nvPr/>
        </p:nvSpPr>
        <p:spPr>
          <a:xfrm>
            <a:off x="736600" y="1374128"/>
            <a:ext cx="10933176" cy="319881"/>
          </a:xfrm>
          <a:prstGeom prst="rect">
            <a:avLst/>
          </a:prstGeom>
          <a:noFill/>
          <a:ln/>
        </p:spPr>
        <p:txBody>
          <a:bodyPr wrap="square" lIns="0" tIns="0" rIns="0" bIns="0" rtlCol="0" anchor="t"/>
          <a:lstStyle/>
          <a:p>
            <a:pPr>
              <a:lnSpc>
                <a:spcPts val="2520"/>
              </a:lnSpc>
              <a:spcAft>
                <a:spcPts val="1200"/>
              </a:spcAft>
            </a:pPr>
            <a:r>
              <a:rPr lang="ko-KR" altLang="en-US" b="1" dirty="0">
                <a:solidFill>
                  <a:srgbClr val="15803D"/>
                </a:solidFill>
                <a:latin typeface="Arial" pitchFamily="34" charset="0"/>
                <a:ea typeface="맑은 고딕"/>
                <a:cs typeface="Arial" pitchFamily="34" charset="-120"/>
              </a:rPr>
              <a:t>효율적 시장가설(efficient market hypothesis) </a:t>
            </a:r>
          </a:p>
          <a:p>
            <a:pPr>
              <a:lnSpc>
                <a:spcPts val="2520"/>
              </a:lnSpc>
              <a:spcAft>
                <a:spcPts val="1200"/>
              </a:spcAft>
            </a:pPr>
            <a:endParaRPr lang="en-US" dirty="0">
              <a:ea typeface="맑은 고딕"/>
            </a:endParaRPr>
          </a:p>
        </p:txBody>
      </p:sp>
      <p:sp>
        <p:nvSpPr>
          <p:cNvPr id="13" name="Text 6">
            <a:extLst>
              <a:ext uri="{FF2B5EF4-FFF2-40B4-BE49-F238E27FC236}">
                <a16:creationId xmlns:a16="http://schemas.microsoft.com/office/drawing/2014/main" id="{8F6E518D-53B7-0621-8585-6D2898E7A423}"/>
              </a:ext>
            </a:extLst>
          </p:cNvPr>
          <p:cNvSpPr/>
          <p:nvPr/>
        </p:nvSpPr>
        <p:spPr>
          <a:xfrm>
            <a:off x="1129030" y="1846409"/>
            <a:ext cx="10140950" cy="612520"/>
          </a:xfrm>
          <a:prstGeom prst="rect">
            <a:avLst/>
          </a:prstGeom>
          <a:solidFill>
            <a:srgbClr val="E8F5E9"/>
          </a:solidFill>
          <a:ln/>
        </p:spPr>
        <p:txBody>
          <a:bodyPr wrap="square" lIns="0" tIns="0" rIns="0" bIns="0" rtlCol="0" anchor="t"/>
          <a:lstStyle/>
          <a:p>
            <a:pPr marL="285750" lvl="0" indent="-285750">
              <a:buFont typeface="Arial" panose="020B0604020202020204" pitchFamily="34" charset="0"/>
              <a:buChar char="•"/>
            </a:pPr>
            <a:r>
              <a:rPr lang="ko-KR" altLang="en-US" sz="2000" dirty="0">
                <a:ea typeface="맑은 고딕"/>
              </a:rPr>
              <a:t>가격은 이미 이용 가능한 모든 정보를 반영하고 있으므로 미스터 마켓이 “틀리는” 일은 드물다는 주장이다. 현실은 더 미묘하다. 시장은 대체로 효율적이지만, 감정과 거래마찰, 정보격차가 주기적으로 </a:t>
            </a:r>
            <a:r>
              <a:rPr lang="ko-KR" altLang="en-US" sz="2000" dirty="0" err="1">
                <a:ea typeface="맑은 고딕"/>
              </a:rPr>
              <a:t>가격오류(mispricing)</a:t>
            </a:r>
            <a:r>
              <a:rPr lang="ko-KR" altLang="en-US" sz="2000" dirty="0">
                <a:ea typeface="맑은 고딕"/>
              </a:rPr>
              <a:t>를 만들어 낸다.</a:t>
            </a:r>
          </a:p>
          <a:p>
            <a:pPr>
              <a:lnSpc>
                <a:spcPts val="1960"/>
              </a:lnSpc>
              <a:spcAft>
                <a:spcPts val="400"/>
              </a:spcAft>
            </a:pPr>
            <a:endParaRPr lang="en-US" dirty="0">
              <a:ea typeface="맑은 고딕"/>
            </a:endParaRPr>
          </a:p>
        </p:txBody>
      </p:sp>
      <p:sp>
        <p:nvSpPr>
          <p:cNvPr id="23" name="Text 10">
            <a:extLst>
              <a:ext uri="{FF2B5EF4-FFF2-40B4-BE49-F238E27FC236}">
                <a16:creationId xmlns:a16="http://schemas.microsoft.com/office/drawing/2014/main" id="{B899E562-7AE7-6105-5881-C343CEEAEF08}"/>
              </a:ext>
            </a:extLst>
          </p:cNvPr>
          <p:cNvSpPr/>
          <p:nvPr/>
        </p:nvSpPr>
        <p:spPr>
          <a:xfrm>
            <a:off x="1130269" y="2214310"/>
            <a:ext cx="5711206" cy="434581"/>
          </a:xfrm>
          <a:prstGeom prst="rect">
            <a:avLst/>
          </a:prstGeom>
          <a:noFill/>
          <a:ln/>
        </p:spPr>
        <p:txBody>
          <a:bodyPr wrap="square" lIns="0" tIns="0" rIns="0" bIns="0" rtlCol="0" anchor="t"/>
          <a:lstStyle/>
          <a:p>
            <a:pPr>
              <a:lnSpc>
                <a:spcPts val="1960"/>
              </a:lnSpc>
              <a:spcAft>
                <a:spcPts val="400"/>
              </a:spcAft>
            </a:pPr>
            <a:endParaRPr lang="en-US" dirty="0">
              <a:ea typeface="맑은 고딕"/>
            </a:endParaRPr>
          </a:p>
        </p:txBody>
      </p:sp>
      <p:sp>
        <p:nvSpPr>
          <p:cNvPr id="5" name="TextBox 4">
            <a:extLst>
              <a:ext uri="{FF2B5EF4-FFF2-40B4-BE49-F238E27FC236}">
                <a16:creationId xmlns:a16="http://schemas.microsoft.com/office/drawing/2014/main" id="{AB5DB2D7-4DDE-EF15-3DB5-DC697D0B416F}"/>
              </a:ext>
            </a:extLst>
          </p:cNvPr>
          <p:cNvSpPr txBox="1"/>
          <p:nvPr/>
        </p:nvSpPr>
        <p:spPr>
          <a:xfrm>
            <a:off x="736600" y="3685740"/>
            <a:ext cx="3787899" cy="323165"/>
          </a:xfrm>
          <a:prstGeom prst="rect">
            <a:avLst/>
          </a:prstGeom>
          <a:noFill/>
        </p:spPr>
        <p:txBody>
          <a:bodyPr wrap="square">
            <a:spAutoFit/>
          </a:bodyPr>
          <a:lstStyle/>
          <a:p>
            <a:pPr>
              <a:lnSpc>
                <a:spcPts val="1800"/>
              </a:lnSpc>
              <a:spcAft>
                <a:spcPts val="1000"/>
              </a:spcAft>
            </a:pPr>
            <a:r>
              <a:rPr lang="ko-KR" altLang="en-US" b="1" dirty="0">
                <a:solidFill>
                  <a:srgbClr val="991B1B"/>
                </a:solidFill>
                <a:latin typeface="Arial" pitchFamily="34" charset="0"/>
                <a:ea typeface="맑은 고딕"/>
                <a:cs typeface="Arial" pitchFamily="34" charset="-120"/>
              </a:rPr>
              <a:t>투자자에 대한 시사점</a:t>
            </a:r>
            <a:endParaRPr lang="en-US" sz="1400" kern="100" dirty="0">
              <a:effectLst/>
              <a:latin typeface="Arial" panose="020B0604020202020204" pitchFamily="34" charset="0"/>
              <a:ea typeface="맑은 고딕" panose="020B0503020000020004" pitchFamily="34" charset="-127"/>
              <a:cs typeface="Arial" panose="020B0604020202020204" pitchFamily="34" charset="0"/>
            </a:endParaRPr>
          </a:p>
        </p:txBody>
      </p:sp>
      <p:graphicFrame>
        <p:nvGraphicFramePr>
          <p:cNvPr id="11" name="Table 10">
            <a:extLst>
              <a:ext uri="{FF2B5EF4-FFF2-40B4-BE49-F238E27FC236}">
                <a16:creationId xmlns:a16="http://schemas.microsoft.com/office/drawing/2014/main" id="{3CB6FF7B-1800-30CD-96CE-ABDDFEEA6C17}"/>
              </a:ext>
            </a:extLst>
          </p:cNvPr>
          <p:cNvGraphicFramePr>
            <a:graphicFrameLocks noGrp="1"/>
          </p:cNvGraphicFramePr>
          <p:nvPr/>
        </p:nvGraphicFramePr>
        <p:xfrm>
          <a:off x="984158" y="4202208"/>
          <a:ext cx="10285821" cy="976376"/>
        </p:xfrm>
        <a:graphic>
          <a:graphicData uri="http://schemas.openxmlformats.org/drawingml/2006/table">
            <a:tbl>
              <a:tblPr firstRow="1" bandRow="1">
                <a:tableStyleId>{2D5ABB26-0587-4C30-8999-92F81FD0307C}</a:tableStyleId>
              </a:tblPr>
              <a:tblGrid>
                <a:gridCol w="10285821">
                  <a:extLst>
                    <a:ext uri="{9D8B030D-6E8A-4147-A177-3AD203B41FA5}">
                      <a16:colId xmlns:a16="http://schemas.microsoft.com/office/drawing/2014/main" val="1436725066"/>
                    </a:ext>
                  </a:extLst>
                </a:gridCol>
              </a:tblGrid>
              <a:tr h="381660">
                <a:tc>
                  <a:txBody>
                    <a:bodyPr/>
                    <a:lstStyle/>
                    <a:p>
                      <a:pPr marL="342900" marR="0" lvl="0" indent="-342900">
                        <a:lnSpc>
                          <a:spcPct val="106000"/>
                        </a:lnSpc>
                        <a:spcAft>
                          <a:spcPts val="200"/>
                        </a:spcAft>
                        <a:buFont typeface="Arial" panose="020B0604020202020204" pitchFamily="34" charset="0"/>
                        <a:buChar char="▪"/>
                      </a:pPr>
                      <a:r>
                        <a:rPr lang="ko-KR" altLang="en-US" sz="2000" dirty="0">
                          <a:effectLst/>
                          <a:latin typeface="Calibri" panose="020F0502020204030204" pitchFamily="34" charset="0"/>
                          <a:ea typeface="맑은 고딕" panose="020F0502020204030204" pitchFamily="34" charset="0"/>
                          <a:cs typeface="Calibri" panose="020F0502020204030204" pitchFamily="34" charset="0"/>
                        </a:rPr>
                        <a:t>시장을 지속적으로 이길 수 있든 없든, 미스터 마켓의 규율 — 자신의 가치 추정치를 갖고 가격에 휘둘리지 않는 것 — 은 가장 흔하고 값비싼 투자 실수로부터 당신을 지켜 준다.</a:t>
                      </a:r>
                    </a:p>
                    <a:p>
                      <a:pPr marL="0" marR="0">
                        <a:spcAft>
                          <a:spcPts val="600"/>
                        </a:spcAft>
                        <a:buNone/>
                      </a:pPr>
                      <a:r>
                        <a:rPr lang="en-US" sz="2000" dirty="0">
                          <a:effectLst/>
                          <a:latin typeface="Calibri" panose="020F0502020204030204" pitchFamily="34" charset="0"/>
                          <a:ea typeface="Batang" panose="02030600000101010101" pitchFamily="18" charset="-127"/>
                        </a:rPr>
                        <a:t> </a:t>
                      </a:r>
                    </a:p>
                  </a:txBody>
                  <a:tcPr marL="68580" marR="68580" marT="0" marB="0"/>
                </a:tc>
                <a:extLst>
                  <a:ext uri="{0D108BD9-81ED-4DB2-BD59-A6C34878D82A}">
                    <a16:rowId xmlns:a16="http://schemas.microsoft.com/office/drawing/2014/main" val="1383349648"/>
                  </a:ext>
                </a:extLst>
              </a:tr>
            </a:tbl>
          </a:graphicData>
        </a:graphic>
      </p:graphicFrame>
    </p:spTree>
    <p:extLst>
      <p:ext uri="{BB962C8B-B14F-4D97-AF65-F5344CB8AC3E}">
        <p14:creationId xmlns:p14="http://schemas.microsoft.com/office/powerpoint/2010/main" val="32010481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43C0-692C-9A12-66C8-CE0915BCE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A0F94-CB86-C759-09EE-95E07B9E5AD0}"/>
              </a:ext>
            </a:extLst>
          </p:cNvPr>
          <p:cNvSpPr>
            <a:spLocks noGrp="1"/>
          </p:cNvSpPr>
          <p:nvPr>
            <p:ph type="title"/>
          </p:nvPr>
        </p:nvSpPr>
        <p:spPr/>
        <p:txBody>
          <a:bodyPr>
            <a:normAutofit/>
          </a:bodyPr>
          <a:lstStyle/>
          <a:p>
            <a:r>
              <a:rPr lang="ko-KR" altLang="en-US" dirty="0">
                <a:latin typeface="+mn-lt"/>
                <a:ea typeface="맑은 고딕"/>
              </a:rPr>
              <a:t>토론 문제(Discussion Questions)</a:t>
            </a:r>
          </a:p>
        </p:txBody>
      </p:sp>
      <p:sp>
        <p:nvSpPr>
          <p:cNvPr id="4" name="Text 3">
            <a:extLst>
              <a:ext uri="{FF2B5EF4-FFF2-40B4-BE49-F238E27FC236}">
                <a16:creationId xmlns:a16="http://schemas.microsoft.com/office/drawing/2014/main" id="{4269D060-1A78-76AC-8892-2DD9219C6390}"/>
              </a:ext>
            </a:extLst>
          </p:cNvPr>
          <p:cNvSpPr/>
          <p:nvPr/>
        </p:nvSpPr>
        <p:spPr>
          <a:xfrm>
            <a:off x="736600" y="1374128"/>
            <a:ext cx="10718800" cy="4398022"/>
          </a:xfrm>
          <a:prstGeom prst="rect">
            <a:avLst/>
          </a:prstGeom>
          <a:noFill/>
          <a:ln/>
        </p:spPr>
        <p:txBody>
          <a:bodyPr wrap="square" lIns="0" tIns="0" rIns="0" bIns="0" rtlCol="0" anchor="t"/>
          <a:lstStyle/>
          <a:p>
            <a:pPr>
              <a:lnSpc>
                <a:spcPts val="2520"/>
              </a:lnSpc>
              <a:spcAft>
                <a:spcPts val="1200"/>
              </a:spcAft>
            </a:pPr>
            <a:endParaRPr lang="en-US" b="1" dirty="0">
              <a:solidFill>
                <a:srgbClr val="1E40AF"/>
              </a:solidFill>
              <a:latin typeface="Arial" pitchFamily="34" charset="0"/>
              <a:ea typeface="맑은 고딕" pitchFamily="34" charset="-122"/>
              <a:cs typeface="Arial" pitchFamily="34" charset="-120"/>
            </a:endParaRPr>
          </a:p>
          <a:p>
            <a:r>
              <a:rPr lang="ko-KR" altLang="en-US" sz="2400" dirty="0">
                <a:ea typeface="맑은 고딕"/>
              </a:rPr>
              <a:t>a.	주식의 가격(price)과 그 기업의 가치(value)의 차이를 자신의 말로 설명하라. 두 가지는 왜 괴리되는가?</a:t>
            </a:r>
          </a:p>
          <a:p>
            <a:r>
              <a:rPr lang="en-US" sz="2400" dirty="0"/>
              <a:t> </a:t>
            </a:r>
          </a:p>
          <a:p>
            <a:r>
              <a:rPr lang="ko-KR" altLang="en-US" sz="2400" dirty="0">
                <a:ea typeface="맑은 고딕"/>
              </a:rPr>
              <a:t>b.	버핏은 미스터 마켓이 당신을 섬기기 위해 있는 것이지 가르치기 위해 있는 것이 아니라고 썼다. 이는 주가가 갑자기 20% 하락했을 때 투자자가 어떻게 반응해야 하는지에 대해 무엇을 시사하는가?</a:t>
            </a:r>
          </a:p>
          <a:p>
            <a:r>
              <a:rPr lang="en-US" sz="2400" dirty="0"/>
              <a:t> </a:t>
            </a:r>
          </a:p>
          <a:p>
            <a:r>
              <a:rPr lang="ko-KR" altLang="en-US" sz="2400" dirty="0">
                <a:ea typeface="맑은 고딕"/>
              </a:rPr>
              <a:t>c.	그레이엄은 투표기와 저울을 구분한다. 주가에 작용하는 두 힘 각각에 대해 (실제 또는 가상의) 예를 하나씩 제시하라.</a:t>
            </a:r>
          </a:p>
          <a:p>
            <a:r>
              <a:rPr lang="en-US" sz="2400" dirty="0"/>
              <a:t> </a:t>
            </a:r>
          </a:p>
          <a:p>
            <a:r>
              <a:rPr lang="ko-KR" altLang="en-US" sz="2400" dirty="0">
                <a:ea typeface="맑은 고딕"/>
              </a:rPr>
              <a:t>d.	시장이 완전히 효율적이라면 미스터 마켓 우화는 여전히 유용하겠는가? 설명하라.</a:t>
            </a:r>
          </a:p>
          <a:p>
            <a:pPr>
              <a:lnSpc>
                <a:spcPts val="2520"/>
              </a:lnSpc>
              <a:spcAft>
                <a:spcPts val="1200"/>
              </a:spcAft>
            </a:pPr>
            <a:endParaRPr lang="en-US" dirty="0">
              <a:solidFill>
                <a:srgbClr val="1F4899"/>
              </a:solidFill>
              <a:ea typeface="맑은 고딕"/>
            </a:endParaRPr>
          </a:p>
          <a:p>
            <a:pPr>
              <a:lnSpc>
                <a:spcPts val="2520"/>
              </a:lnSpc>
              <a:spcAft>
                <a:spcPts val="1200"/>
              </a:spcAft>
            </a:pPr>
            <a:endParaRPr lang="en-US" dirty="0">
              <a:ea typeface="맑은 고딕"/>
            </a:endParaRPr>
          </a:p>
        </p:txBody>
      </p:sp>
      <p:sp>
        <p:nvSpPr>
          <p:cNvPr id="23" name="Text 10">
            <a:extLst>
              <a:ext uri="{FF2B5EF4-FFF2-40B4-BE49-F238E27FC236}">
                <a16:creationId xmlns:a16="http://schemas.microsoft.com/office/drawing/2014/main" id="{D8AB7E1C-890D-FEA6-F25E-49135F31E7D9}"/>
              </a:ext>
            </a:extLst>
          </p:cNvPr>
          <p:cNvSpPr/>
          <p:nvPr/>
        </p:nvSpPr>
        <p:spPr>
          <a:xfrm>
            <a:off x="1130269" y="2214310"/>
            <a:ext cx="5711206" cy="434581"/>
          </a:xfrm>
          <a:prstGeom prst="rect">
            <a:avLst/>
          </a:prstGeom>
          <a:noFill/>
          <a:ln/>
        </p:spPr>
        <p:txBody>
          <a:bodyPr wrap="square" lIns="0" tIns="0" rIns="0" bIns="0" rtlCol="0" anchor="t"/>
          <a:lstStyle/>
          <a:p>
            <a:pPr>
              <a:lnSpc>
                <a:spcPts val="1960"/>
              </a:lnSpc>
              <a:spcAft>
                <a:spcPts val="400"/>
              </a:spcAft>
            </a:pPr>
            <a:endParaRPr lang="en-US" dirty="0">
              <a:ea typeface="맑은 고딕"/>
            </a:endParaRPr>
          </a:p>
        </p:txBody>
      </p:sp>
    </p:spTree>
    <p:extLst>
      <p:ext uri="{BB962C8B-B14F-4D97-AF65-F5344CB8AC3E}">
        <p14:creationId xmlns:p14="http://schemas.microsoft.com/office/powerpoint/2010/main" val="12909364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DFB39-E630-2465-7D10-5435CA220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50C5F-B439-9264-4F3C-FCA90E29647D}"/>
              </a:ext>
            </a:extLst>
          </p:cNvPr>
          <p:cNvSpPr>
            <a:spLocks noGrp="1"/>
          </p:cNvSpPr>
          <p:nvPr>
            <p:ph type="title"/>
          </p:nvPr>
        </p:nvSpPr>
        <p:spPr/>
        <p:txBody>
          <a:bodyPr/>
          <a:lstStyle/>
          <a:p>
            <a:r>
              <a:rPr lang="ko-KR" altLang="en-US" dirty="0">
                <a:latin typeface="+mn-lt"/>
                <a:ea typeface="맑은 고딕"/>
              </a:rPr>
              <a:t>3. 할인된 잉여현금흐름(DCF) 가치평가</a:t>
            </a:r>
          </a:p>
        </p:txBody>
      </p:sp>
    </p:spTree>
    <p:extLst>
      <p:ext uri="{BB962C8B-B14F-4D97-AF65-F5344CB8AC3E}">
        <p14:creationId xmlns:p14="http://schemas.microsoft.com/office/powerpoint/2010/main" val="1757640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1DCC-6889-F4DE-6734-6DB2C74211EB}"/>
            </a:ext>
          </a:extLst>
        </p:cNvPr>
        <p:cNvGrpSpPr/>
        <p:nvPr/>
      </p:nvGrpSpPr>
      <p:grpSpPr>
        <a:xfrm>
          <a:off x="0" y="0"/>
          <a:ext cx="0" cy="0"/>
          <a:chOff x="0" y="0"/>
          <a:chExt cx="0" cy="0"/>
        </a:xfrm>
      </p:grpSpPr>
      <p:sp>
        <p:nvSpPr>
          <p:cNvPr id="3" name="Text 12">
            <a:extLst>
              <a:ext uri="{FF2B5EF4-FFF2-40B4-BE49-F238E27FC236}">
                <a16:creationId xmlns:a16="http://schemas.microsoft.com/office/drawing/2014/main" id="{8BD17483-7BF9-B271-86E1-664DCBB11A68}"/>
              </a:ext>
            </a:extLst>
          </p:cNvPr>
          <p:cNvSpPr/>
          <p:nvPr/>
        </p:nvSpPr>
        <p:spPr>
          <a:xfrm>
            <a:off x="444502" y="1483422"/>
            <a:ext cx="11176000" cy="2000228"/>
          </a:xfrm>
          <a:prstGeom prst="roundRect">
            <a:avLst>
              <a:gd name="adj" fmla="val 0"/>
            </a:avLst>
          </a:prstGeom>
          <a:solidFill>
            <a:srgbClr val="EFF6FF"/>
          </a:solidFill>
          <a:ln>
            <a:solidFill>
              <a:srgbClr val="3B82F6"/>
            </a:solidFill>
          </a:ln>
        </p:spPr>
        <p:txBody>
          <a:bodyPr wrap="square" rtlCol="0" anchor="ctr"/>
          <a:lstStyle/>
          <a:p>
            <a:endParaRPr lang="en-US" sz="3200" dirty="0">
              <a:ea typeface="맑은 고딕"/>
            </a:endParaRPr>
          </a:p>
        </p:txBody>
      </p:sp>
      <p:sp>
        <p:nvSpPr>
          <p:cNvPr id="6" name="Text 26">
            <a:extLst>
              <a:ext uri="{FF2B5EF4-FFF2-40B4-BE49-F238E27FC236}">
                <a16:creationId xmlns:a16="http://schemas.microsoft.com/office/drawing/2014/main" id="{98BD21FB-1842-E13D-1AE5-37FEB2878354}"/>
              </a:ext>
            </a:extLst>
          </p:cNvPr>
          <p:cNvSpPr/>
          <p:nvPr/>
        </p:nvSpPr>
        <p:spPr>
          <a:xfrm>
            <a:off x="444502" y="5364939"/>
            <a:ext cx="11176000" cy="1139612"/>
          </a:xfrm>
          <a:prstGeom prst="roundRect">
            <a:avLst>
              <a:gd name="adj" fmla="val 4837"/>
            </a:avLst>
          </a:prstGeom>
          <a:solidFill>
            <a:srgbClr val="FEF2F2"/>
          </a:solidFill>
          <a:ln w="9525">
            <a:solidFill>
              <a:srgbClr val="EF4444"/>
            </a:solidFill>
          </a:ln>
        </p:spPr>
        <p:txBody>
          <a:bodyPr wrap="square" rtlCol="0" anchor="ctr"/>
          <a:lstStyle/>
          <a:p>
            <a:endParaRPr lang="en-US" sz="3200" dirty="0">
              <a:ea typeface="맑은 고딕"/>
            </a:endParaRPr>
          </a:p>
        </p:txBody>
      </p:sp>
      <p:sp>
        <p:nvSpPr>
          <p:cNvPr id="2" name="Title 1">
            <a:extLst>
              <a:ext uri="{FF2B5EF4-FFF2-40B4-BE49-F238E27FC236}">
                <a16:creationId xmlns:a16="http://schemas.microsoft.com/office/drawing/2014/main" id="{26DD1C73-306A-94C8-AD1E-71D996916C70}"/>
              </a:ext>
            </a:extLst>
          </p:cNvPr>
          <p:cNvSpPr>
            <a:spLocks noGrp="1"/>
          </p:cNvSpPr>
          <p:nvPr>
            <p:ph type="title"/>
          </p:nvPr>
        </p:nvSpPr>
        <p:spPr/>
        <p:txBody>
          <a:bodyPr>
            <a:normAutofit/>
          </a:bodyPr>
          <a:lstStyle/>
          <a:p>
            <a:r>
              <a:rPr lang="ko-KR" altLang="en-US" dirty="0">
                <a:latin typeface="+mn-lt"/>
                <a:ea typeface="맑은 고딕"/>
              </a:rPr>
              <a:t>현금흐름할인(DCF) 모형 </a:t>
            </a:r>
          </a:p>
        </p:txBody>
      </p:sp>
      <p:sp>
        <p:nvSpPr>
          <p:cNvPr id="4" name="Text 2">
            <a:extLst>
              <a:ext uri="{FF2B5EF4-FFF2-40B4-BE49-F238E27FC236}">
                <a16:creationId xmlns:a16="http://schemas.microsoft.com/office/drawing/2014/main" id="{44956044-7B15-35A6-79A3-6D8505790032}"/>
              </a:ext>
            </a:extLst>
          </p:cNvPr>
          <p:cNvSpPr/>
          <p:nvPr/>
        </p:nvSpPr>
        <p:spPr>
          <a:xfrm>
            <a:off x="736600" y="1782126"/>
            <a:ext cx="10933176" cy="505422"/>
          </a:xfrm>
          <a:prstGeom prst="rect">
            <a:avLst/>
          </a:prstGeom>
          <a:noFill/>
          <a:ln/>
        </p:spPr>
        <p:txBody>
          <a:bodyPr wrap="square" lIns="0" tIns="0" rIns="0" bIns="0" rtlCol="0" anchor="t"/>
          <a:lstStyle/>
          <a:p>
            <a:pPr>
              <a:lnSpc>
                <a:spcPts val="2380"/>
              </a:lnSpc>
              <a:spcAft>
                <a:spcPts val="1000"/>
              </a:spcAft>
            </a:pPr>
            <a:r>
              <a:rPr lang="ko-KR" altLang="en-US" sz="2800" b="1" dirty="0">
                <a:solidFill>
                  <a:srgbClr val="1E40AF"/>
                </a:solidFill>
                <a:latin typeface="Arial" pitchFamily="34" charset="0"/>
                <a:ea typeface="맑은 고딕" pitchFamily="34" charset="-122"/>
                <a:cs typeface="Arial" pitchFamily="34" charset="-120"/>
              </a:rPr>
              <a:t> </a:t>
            </a:r>
            <a:r>
              <a:rPr lang="ko-KR" altLang="en-US" sz="2800" b="1" u="sng" dirty="0">
                <a:solidFill>
                  <a:srgbClr val="1E40AF"/>
                </a:solidFill>
                <a:latin typeface="Arial" pitchFamily="34" charset="0"/>
                <a:ea typeface="맑은 고딕" pitchFamily="34" charset="-122"/>
                <a:cs typeface="Arial" pitchFamily="34" charset="-120"/>
              </a:rPr>
              <a:t>기업가치(a Business)</a:t>
            </a:r>
            <a:r>
              <a:rPr lang="ko-KR" altLang="en-US" sz="2800" b="1" dirty="0">
                <a:solidFill>
                  <a:srgbClr val="1E40AF"/>
                </a:solidFill>
                <a:latin typeface="Arial" pitchFamily="34" charset="0"/>
                <a:ea typeface="맑은 고딕" pitchFamily="34" charset="-122"/>
                <a:cs typeface="Arial" pitchFamily="34" charset="-120"/>
              </a:rPr>
              <a:t> 평가 → FCFF 사용</a:t>
            </a:r>
            <a:endParaRPr lang="en-US" sz="2800" u="sng" dirty="0">
              <a:ea typeface="맑은 고딕"/>
            </a:endParaRPr>
          </a:p>
        </p:txBody>
      </p:sp>
      <p:sp>
        <p:nvSpPr>
          <p:cNvPr id="5" name="Text 3">
            <a:extLst>
              <a:ext uri="{FF2B5EF4-FFF2-40B4-BE49-F238E27FC236}">
                <a16:creationId xmlns:a16="http://schemas.microsoft.com/office/drawing/2014/main" id="{D9961D8A-272D-677C-5AC2-29F3063DB3FA}"/>
              </a:ext>
            </a:extLst>
          </p:cNvPr>
          <p:cNvSpPr/>
          <p:nvPr/>
        </p:nvSpPr>
        <p:spPr>
          <a:xfrm>
            <a:off x="838580" y="2218456"/>
            <a:ext cx="10933176" cy="686929"/>
          </a:xfrm>
          <a:prstGeom prst="rect">
            <a:avLst/>
          </a:prstGeom>
          <a:noFill/>
          <a:ln/>
        </p:spPr>
        <p:txBody>
          <a:bodyPr wrap="square" lIns="0" tIns="0" rIns="0" bIns="0" rtlCol="0" anchor="t"/>
          <a:lstStyle/>
          <a:p>
            <a:pPr marL="342900" indent="-342900">
              <a:lnSpc>
                <a:spcPts val="2800"/>
              </a:lnSpc>
              <a:spcBef>
                <a:spcPts val="400"/>
              </a:spcBef>
              <a:spcAft>
                <a:spcPts val="400"/>
              </a:spcAft>
              <a:buFont typeface="Arial" panose="020B0604020202020204" pitchFamily="34" charset="0"/>
              <a:buChar char="•"/>
            </a:pPr>
            <a:r>
              <a:rPr lang="ko-KR" altLang="en-US" sz="2000" dirty="0">
                <a:latin typeface="Arial" pitchFamily="34" charset="0"/>
                <a:ea typeface="맑은 고딕" pitchFamily="34" charset="-122"/>
                <a:cs typeface="Arial" pitchFamily="34" charset="-120"/>
              </a:rPr>
              <a:t>기업의 가치는 그 기업이 창출할 </a:t>
            </a:r>
            <a:r>
              <a:rPr lang="ko-KR" altLang="en-US" sz="2000" u="sng" dirty="0">
                <a:solidFill>
                  <a:srgbClr val="C00000"/>
                </a:solidFill>
                <a:latin typeface="Arial" pitchFamily="34" charset="0"/>
                <a:ea typeface="맑은 고딕" pitchFamily="34" charset="-122"/>
                <a:cs typeface="Arial" pitchFamily="34" charset="-120"/>
              </a:rPr>
              <a:t>잉여현금흐름(free cash flow)</a:t>
            </a:r>
            <a:r>
              <a:rPr lang="ko-KR" altLang="en-US" sz="2000" dirty="0">
                <a:latin typeface="Arial" pitchFamily="34" charset="0"/>
                <a:ea typeface="맑은 고딕" pitchFamily="34" charset="-122"/>
                <a:cs typeface="Arial" pitchFamily="34" charset="-120"/>
              </a:rPr>
              <a:t>의 현재가치와 같다 — 귀속 주체는 </a:t>
            </a:r>
            <a:r>
              <a:rPr lang="ko-KR" altLang="en-US" sz="2000" b="1" dirty="0">
                <a:solidFill>
                  <a:srgbClr val="C00000"/>
                </a:solidFill>
                <a:latin typeface="Arial" pitchFamily="34" charset="0"/>
                <a:ea typeface="맑은 고딕" pitchFamily="34" charset="-122"/>
                <a:cs typeface="Arial" pitchFamily="34" charset="-120"/>
              </a:rPr>
              <a:t>기업 전체(the firm).</a:t>
            </a:r>
          </a:p>
          <a:p>
            <a:pPr marL="342900" indent="-342900">
              <a:lnSpc>
                <a:spcPts val="2800"/>
              </a:lnSpc>
              <a:spcBef>
                <a:spcPts val="400"/>
              </a:spcBef>
              <a:spcAft>
                <a:spcPts val="400"/>
              </a:spcAft>
              <a:buFont typeface="Arial" panose="020B0604020202020204" pitchFamily="34" charset="0"/>
              <a:buChar char="•"/>
            </a:pPr>
            <a:r>
              <a:rPr lang="ko-KR" altLang="en-US" sz="2000" dirty="0">
                <a:latin typeface="Arial" pitchFamily="34" charset="0"/>
                <a:ea typeface="맑은 고딕"/>
                <a:cs typeface="Arial" pitchFamily="34" charset="-120"/>
              </a:rPr>
              <a:t>기업잉여현금흐름(FCFF) = CFO + 이자비용 × (1−t) – </a:t>
            </a:r>
            <a:r>
              <a:rPr lang="ko-KR" altLang="en-US" sz="2000" dirty="0" err="1">
                <a:latin typeface="Arial" pitchFamily="34" charset="0"/>
                <a:ea typeface="맑은 고딕"/>
                <a:cs typeface="Arial" pitchFamily="34" charset="-120"/>
              </a:rPr>
              <a:t>자본적지출(CapEx)</a:t>
            </a:r>
            <a:endParaRPr lang="en-US" sz="2000" dirty="0">
              <a:latin typeface="Arial" pitchFamily="34" charset="0"/>
              <a:ea typeface="맑은 고딕"/>
              <a:cs typeface="Arial" pitchFamily="34" charset="-120"/>
            </a:endParaRPr>
          </a:p>
          <a:p>
            <a:pPr>
              <a:lnSpc>
                <a:spcPts val="2800"/>
              </a:lnSpc>
              <a:spcBef>
                <a:spcPts val="400"/>
              </a:spcBef>
              <a:spcAft>
                <a:spcPts val="400"/>
              </a:spcAft>
            </a:pPr>
            <a:endParaRPr lang="en-US" sz="2000" dirty="0">
              <a:ea typeface="맑은 고딕"/>
            </a:endParaRPr>
          </a:p>
          <a:p>
            <a:pPr marL="285750" indent="-285750">
              <a:lnSpc>
                <a:spcPts val="2080"/>
              </a:lnSpc>
              <a:buFont typeface="Arial" panose="020B0604020202020204" pitchFamily="34" charset="0"/>
              <a:buChar char="•"/>
            </a:pPr>
            <a:endParaRPr lang="en-US" sz="1600" dirty="0">
              <a:ea typeface="맑은 고딕"/>
            </a:endParaRPr>
          </a:p>
        </p:txBody>
      </p:sp>
      <p:sp>
        <p:nvSpPr>
          <p:cNvPr id="20" name="Text 6">
            <a:extLst>
              <a:ext uri="{FF2B5EF4-FFF2-40B4-BE49-F238E27FC236}">
                <a16:creationId xmlns:a16="http://schemas.microsoft.com/office/drawing/2014/main" id="{7F7DEA54-3393-ED43-7A80-AFAA6140959B}"/>
              </a:ext>
            </a:extLst>
          </p:cNvPr>
          <p:cNvSpPr/>
          <p:nvPr/>
        </p:nvSpPr>
        <p:spPr>
          <a:xfrm>
            <a:off x="716280" y="5551927"/>
            <a:ext cx="10933176" cy="284361"/>
          </a:xfrm>
          <a:prstGeom prst="rect">
            <a:avLst/>
          </a:prstGeom>
          <a:noFill/>
          <a:ln/>
        </p:spPr>
        <p:txBody>
          <a:bodyPr wrap="square" lIns="0" tIns="0" rIns="0" bIns="0" rtlCol="0" anchor="t"/>
          <a:lstStyle/>
          <a:p>
            <a:pPr>
              <a:lnSpc>
                <a:spcPts val="2240"/>
              </a:lnSpc>
              <a:spcAft>
                <a:spcPts val="800"/>
              </a:spcAft>
            </a:pPr>
            <a:r>
              <a:rPr lang="ko-KR" altLang="en-US" sz="2800" b="1" dirty="0">
                <a:solidFill>
                  <a:srgbClr val="991B1B"/>
                </a:solidFill>
                <a:latin typeface="Arial" pitchFamily="34" charset="0"/>
                <a:ea typeface="맑은 고딕" pitchFamily="34" charset="-122"/>
                <a:cs typeface="Arial" pitchFamily="34" charset="-120"/>
              </a:rPr>
              <a:t> 실무에서의 DCF 공식</a:t>
            </a:r>
            <a:endParaRPr lang="en-US" sz="2800" dirty="0">
              <a:ea typeface="맑은 고딕"/>
            </a:endParaRPr>
          </a:p>
        </p:txBody>
      </p:sp>
      <p:sp>
        <p:nvSpPr>
          <p:cNvPr id="21" name="Text 7">
            <a:extLst>
              <a:ext uri="{FF2B5EF4-FFF2-40B4-BE49-F238E27FC236}">
                <a16:creationId xmlns:a16="http://schemas.microsoft.com/office/drawing/2014/main" id="{B2031944-05EB-A1BA-C89B-20D3EC1013CB}"/>
              </a:ext>
            </a:extLst>
          </p:cNvPr>
          <p:cNvSpPr/>
          <p:nvPr/>
        </p:nvSpPr>
        <p:spPr>
          <a:xfrm>
            <a:off x="762000" y="5937886"/>
            <a:ext cx="10933176" cy="566664"/>
          </a:xfrm>
          <a:prstGeom prst="rect">
            <a:avLst/>
          </a:prstGeom>
          <a:noFill/>
          <a:ln/>
        </p:spPr>
        <p:txBody>
          <a:bodyPr wrap="square" lIns="0" tIns="0" rIns="0" bIns="0" rtlCol="0" anchor="t"/>
          <a:lstStyle/>
          <a:p>
            <a:pPr algn="ctr"/>
            <a:r>
              <a:rPr lang="ko-KR" altLang="en-US" sz="2800" b="1" dirty="0">
                <a:latin typeface="Calibri" panose="020F0502020204030204" pitchFamily="34" charset="0"/>
                <a:ea typeface="맑은 고딕" panose="020F0502020204030204" pitchFamily="34" charset="0"/>
                <a:cs typeface="Calibri" panose="020F0502020204030204" pitchFamily="34" charset="0"/>
              </a:rPr>
              <a:t>V₀  =  Σ  FCFₜ ÷ (1 + r)ᵗ   +   잔존가치(Terminal Value) ÷ (1 + r)ᴺ</a:t>
            </a:r>
            <a:endParaRPr lang="en-US" sz="2800" dirty="0">
              <a:latin typeface="Calibri" panose="020F0502020204030204" pitchFamily="34" charset="0"/>
              <a:ea typeface="맑은 고딕" panose="020F0502020204030204" pitchFamily="34" charset="0"/>
              <a:cs typeface="Calibri" panose="020F0502020204030204" pitchFamily="34" charset="0"/>
            </a:endParaRPr>
          </a:p>
        </p:txBody>
      </p:sp>
      <p:sp>
        <p:nvSpPr>
          <p:cNvPr id="7" name="Text 2">
            <a:extLst>
              <a:ext uri="{FF2B5EF4-FFF2-40B4-BE49-F238E27FC236}">
                <a16:creationId xmlns:a16="http://schemas.microsoft.com/office/drawing/2014/main" id="{7B952F7F-3C1F-31D4-9AEA-576DB16358A2}"/>
              </a:ext>
            </a:extLst>
          </p:cNvPr>
          <p:cNvSpPr/>
          <p:nvPr/>
        </p:nvSpPr>
        <p:spPr>
          <a:xfrm>
            <a:off x="406400" y="3670639"/>
            <a:ext cx="11176000" cy="1592702"/>
          </a:xfrm>
          <a:prstGeom prst="roundRect">
            <a:avLst>
              <a:gd name="adj" fmla="val 0"/>
            </a:avLst>
          </a:prstGeom>
          <a:solidFill>
            <a:srgbClr val="DCFCE7"/>
          </a:solidFill>
          <a:ln w="9525">
            <a:solidFill>
              <a:srgbClr val="22C55E"/>
            </a:solidFill>
          </a:ln>
        </p:spPr>
        <p:txBody>
          <a:bodyPr wrap="square" rtlCol="0" anchor="ctr"/>
          <a:lstStyle/>
          <a:p>
            <a:endParaRPr lang="en-US" sz="2400" dirty="0">
              <a:ea typeface="맑은 고딕"/>
            </a:endParaRPr>
          </a:p>
        </p:txBody>
      </p:sp>
      <p:sp>
        <p:nvSpPr>
          <p:cNvPr id="9" name="Text 6">
            <a:extLst>
              <a:ext uri="{FF2B5EF4-FFF2-40B4-BE49-F238E27FC236}">
                <a16:creationId xmlns:a16="http://schemas.microsoft.com/office/drawing/2014/main" id="{3F379083-37D2-DCC0-8FB1-6C143C355F99}"/>
              </a:ext>
            </a:extLst>
          </p:cNvPr>
          <p:cNvSpPr/>
          <p:nvPr/>
        </p:nvSpPr>
        <p:spPr>
          <a:xfrm>
            <a:off x="1129030" y="4094155"/>
            <a:ext cx="10209530" cy="406403"/>
          </a:xfrm>
          <a:prstGeom prst="rect">
            <a:avLst/>
          </a:prstGeom>
          <a:noFill/>
          <a:ln/>
        </p:spPr>
        <p:txBody>
          <a:bodyPr wrap="square" lIns="0" tIns="0" rIns="0" bIns="0" rtlCol="0" anchor="t"/>
          <a:lstStyle/>
          <a:p>
            <a:pPr>
              <a:lnSpc>
                <a:spcPts val="1960"/>
              </a:lnSpc>
              <a:spcAft>
                <a:spcPts val="400"/>
              </a:spcAft>
            </a:pPr>
            <a:endParaRPr lang="en-US" dirty="0">
              <a:ea typeface="맑은 고딕"/>
            </a:endParaRPr>
          </a:p>
        </p:txBody>
      </p:sp>
      <p:sp>
        <p:nvSpPr>
          <p:cNvPr id="10" name="Text 10">
            <a:extLst>
              <a:ext uri="{FF2B5EF4-FFF2-40B4-BE49-F238E27FC236}">
                <a16:creationId xmlns:a16="http://schemas.microsoft.com/office/drawing/2014/main" id="{6FF19DCE-DC26-22D3-BE4E-0A1D94CD83BB}"/>
              </a:ext>
            </a:extLst>
          </p:cNvPr>
          <p:cNvSpPr/>
          <p:nvPr/>
        </p:nvSpPr>
        <p:spPr>
          <a:xfrm>
            <a:off x="1130269" y="4434500"/>
            <a:ext cx="5711206" cy="288341"/>
          </a:xfrm>
          <a:prstGeom prst="rect">
            <a:avLst/>
          </a:prstGeom>
          <a:noFill/>
          <a:ln/>
        </p:spPr>
        <p:txBody>
          <a:bodyPr wrap="square" lIns="0" tIns="0" rIns="0" bIns="0" rtlCol="0" anchor="t"/>
          <a:lstStyle/>
          <a:p>
            <a:pPr>
              <a:lnSpc>
                <a:spcPts val="1960"/>
              </a:lnSpc>
              <a:spcAft>
                <a:spcPts val="400"/>
              </a:spcAft>
            </a:pPr>
            <a:endParaRPr lang="en-US" dirty="0">
              <a:ea typeface="맑은 고딕"/>
            </a:endParaRPr>
          </a:p>
        </p:txBody>
      </p:sp>
      <p:sp>
        <p:nvSpPr>
          <p:cNvPr id="14" name="Text 2">
            <a:extLst>
              <a:ext uri="{FF2B5EF4-FFF2-40B4-BE49-F238E27FC236}">
                <a16:creationId xmlns:a16="http://schemas.microsoft.com/office/drawing/2014/main" id="{4C1AF9F8-5CAA-89E7-E07C-3EAD3DD5802F}"/>
              </a:ext>
            </a:extLst>
          </p:cNvPr>
          <p:cNvSpPr/>
          <p:nvPr/>
        </p:nvSpPr>
        <p:spPr>
          <a:xfrm>
            <a:off x="634354" y="3821198"/>
            <a:ext cx="10933176" cy="505422"/>
          </a:xfrm>
          <a:prstGeom prst="rect">
            <a:avLst/>
          </a:prstGeom>
          <a:noFill/>
          <a:ln/>
        </p:spPr>
        <p:txBody>
          <a:bodyPr wrap="square" lIns="0" tIns="0" rIns="0" bIns="0" rtlCol="0" anchor="t"/>
          <a:lstStyle/>
          <a:p>
            <a:pPr>
              <a:lnSpc>
                <a:spcPts val="2380"/>
              </a:lnSpc>
              <a:spcAft>
                <a:spcPts val="1000"/>
              </a:spcAft>
            </a:pPr>
            <a:r>
              <a:rPr lang="ko-KR" altLang="en-US" sz="2800" b="1" dirty="0">
                <a:solidFill>
                  <a:srgbClr val="1E40AF"/>
                </a:solidFill>
                <a:latin typeface="Arial" pitchFamily="34" charset="0"/>
                <a:ea typeface="맑은 고딕" pitchFamily="34" charset="-122"/>
                <a:cs typeface="Arial" pitchFamily="34" charset="-120"/>
              </a:rPr>
              <a:t> </a:t>
            </a:r>
            <a:r>
              <a:rPr lang="ko-KR" altLang="en-US" sz="2800" b="1" u="sng" dirty="0">
                <a:solidFill>
                  <a:srgbClr val="1E40AF"/>
                </a:solidFill>
                <a:latin typeface="Arial" pitchFamily="34" charset="0"/>
                <a:ea typeface="맑은 고딕" pitchFamily="34" charset="-122"/>
                <a:cs typeface="Arial" pitchFamily="34" charset="-120"/>
              </a:rPr>
              <a:t>자기자본가치(Equity Value)</a:t>
            </a:r>
            <a:r>
              <a:rPr lang="ko-KR" altLang="en-US" sz="2800" b="1" dirty="0">
                <a:solidFill>
                  <a:srgbClr val="1E40AF"/>
                </a:solidFill>
                <a:latin typeface="Arial" pitchFamily="34" charset="0"/>
                <a:ea typeface="맑은 고딕" pitchFamily="34" charset="-122"/>
                <a:cs typeface="Arial" pitchFamily="34" charset="-120"/>
              </a:rPr>
              <a:t> 평가 → FCFE 사용</a:t>
            </a:r>
            <a:endParaRPr lang="en-US" sz="2800" u="sng" dirty="0">
              <a:ea typeface="맑은 고딕"/>
            </a:endParaRPr>
          </a:p>
        </p:txBody>
      </p:sp>
      <p:sp>
        <p:nvSpPr>
          <p:cNvPr id="16" name="Text 3">
            <a:extLst>
              <a:ext uri="{FF2B5EF4-FFF2-40B4-BE49-F238E27FC236}">
                <a16:creationId xmlns:a16="http://schemas.microsoft.com/office/drawing/2014/main" id="{70A6D455-FFB4-9515-5D35-0E9BCB1BB03C}"/>
              </a:ext>
            </a:extLst>
          </p:cNvPr>
          <p:cNvSpPr/>
          <p:nvPr/>
        </p:nvSpPr>
        <p:spPr>
          <a:xfrm>
            <a:off x="852081" y="4130206"/>
            <a:ext cx="10933176" cy="686929"/>
          </a:xfrm>
          <a:prstGeom prst="rect">
            <a:avLst/>
          </a:prstGeom>
          <a:noFill/>
          <a:ln/>
        </p:spPr>
        <p:txBody>
          <a:bodyPr wrap="square" lIns="0" tIns="0" rIns="0" bIns="0" rtlCol="0" anchor="t"/>
          <a:lstStyle/>
          <a:p>
            <a:pPr marL="342900" indent="-342900">
              <a:lnSpc>
                <a:spcPts val="2800"/>
              </a:lnSpc>
              <a:spcBef>
                <a:spcPts val="400"/>
              </a:spcBef>
              <a:spcAft>
                <a:spcPts val="400"/>
              </a:spcAft>
              <a:buFont typeface="Arial" panose="020B0604020202020204" pitchFamily="34" charset="0"/>
              <a:buChar char="•"/>
            </a:pPr>
            <a:r>
              <a:rPr lang="ko-KR" altLang="en-US" sz="2000" dirty="0">
                <a:latin typeface="Arial" pitchFamily="34" charset="0"/>
                <a:ea typeface="맑은 고딕" pitchFamily="34" charset="-122"/>
                <a:cs typeface="Arial" pitchFamily="34" charset="-120"/>
              </a:rPr>
              <a:t>기업의 가치는 그 기업이 창출할 </a:t>
            </a:r>
            <a:r>
              <a:rPr lang="ko-KR" altLang="en-US" sz="2000" u="sng" dirty="0">
                <a:solidFill>
                  <a:srgbClr val="C00000"/>
                </a:solidFill>
                <a:latin typeface="Arial" pitchFamily="34" charset="0"/>
                <a:ea typeface="맑은 고딕" pitchFamily="34" charset="-122"/>
                <a:cs typeface="Arial" pitchFamily="34" charset="-120"/>
              </a:rPr>
              <a:t>잉여현금흐름(free cash flow)</a:t>
            </a:r>
            <a:r>
              <a:rPr lang="ko-KR" altLang="en-US" sz="2000" dirty="0">
                <a:latin typeface="Arial" pitchFamily="34" charset="0"/>
                <a:ea typeface="맑은 고딕" pitchFamily="34" charset="-122"/>
                <a:cs typeface="Arial" pitchFamily="34" charset="-120"/>
              </a:rPr>
              <a:t>의 현재가치와 같다 — 귀속 주체는 </a:t>
            </a:r>
            <a:r>
              <a:rPr lang="ko-KR" altLang="en-US" sz="2000" b="1" dirty="0">
                <a:solidFill>
                  <a:srgbClr val="C00000"/>
                </a:solidFill>
                <a:latin typeface="Arial" pitchFamily="34" charset="0"/>
                <a:ea typeface="맑은 고딕" pitchFamily="34" charset="-122"/>
                <a:cs typeface="Arial" pitchFamily="34" charset="-120"/>
              </a:rPr>
              <a:t>주주(equity holder).</a:t>
            </a:r>
          </a:p>
          <a:p>
            <a:pPr marL="342900" indent="-342900">
              <a:lnSpc>
                <a:spcPts val="2800"/>
              </a:lnSpc>
              <a:spcBef>
                <a:spcPts val="400"/>
              </a:spcBef>
              <a:spcAft>
                <a:spcPts val="400"/>
              </a:spcAft>
              <a:buFont typeface="Arial" panose="020B0604020202020204" pitchFamily="34" charset="0"/>
              <a:buChar char="•"/>
            </a:pPr>
            <a:r>
              <a:rPr lang="ko-KR" altLang="en-US" sz="2000" dirty="0">
                <a:latin typeface="Arial" pitchFamily="34" charset="0"/>
                <a:ea typeface="맑은 고딕"/>
                <a:cs typeface="Arial" pitchFamily="34" charset="-120"/>
              </a:rPr>
              <a:t>주주잉여현금흐름(FCFE) = CFO – </a:t>
            </a:r>
            <a:r>
              <a:rPr lang="ko-KR" altLang="en-US" sz="2000" dirty="0" err="1">
                <a:latin typeface="Arial" pitchFamily="34" charset="0"/>
                <a:ea typeface="맑은 고딕"/>
                <a:cs typeface="Arial" pitchFamily="34" charset="-120"/>
              </a:rPr>
              <a:t>자본적지출(CapEx)</a:t>
            </a:r>
            <a:r>
              <a:rPr lang="ko-KR" altLang="en-US" sz="2000" dirty="0">
                <a:latin typeface="Arial" pitchFamily="34" charset="0"/>
                <a:ea typeface="맑은 고딕"/>
                <a:cs typeface="Arial" pitchFamily="34" charset="-120"/>
              </a:rPr>
              <a:t> + 순차입액(net borrowing)</a:t>
            </a:r>
          </a:p>
          <a:p>
            <a:pPr>
              <a:lnSpc>
                <a:spcPts val="2800"/>
              </a:lnSpc>
              <a:spcBef>
                <a:spcPts val="400"/>
              </a:spcBef>
              <a:spcAft>
                <a:spcPts val="400"/>
              </a:spcAft>
            </a:pPr>
            <a:endParaRPr lang="en-US" sz="2000" dirty="0">
              <a:ea typeface="맑은 고딕"/>
            </a:endParaRPr>
          </a:p>
          <a:p>
            <a:pPr marL="285750" indent="-285750">
              <a:lnSpc>
                <a:spcPts val="2080"/>
              </a:lnSpc>
              <a:buFont typeface="Arial" panose="020B0604020202020204" pitchFamily="34" charset="0"/>
              <a:buChar char="•"/>
            </a:pPr>
            <a:endParaRPr lang="en-US" sz="1600" dirty="0">
              <a:ea typeface="맑은 고딕"/>
            </a:endParaRPr>
          </a:p>
        </p:txBody>
      </p:sp>
    </p:spTree>
    <p:extLst>
      <p:ext uri="{BB962C8B-B14F-4D97-AF65-F5344CB8AC3E}">
        <p14:creationId xmlns:p14="http://schemas.microsoft.com/office/powerpoint/2010/main" val="134798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animBg="1"/>
      <p:bldP spid="10" grpId="0" animBg="1"/>
      <p:bldP spid="14"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F1B69-3171-3A94-6E9E-1DF768DA52D0}"/>
            </a:ext>
          </a:extLst>
        </p:cNvPr>
        <p:cNvGrpSpPr/>
        <p:nvPr/>
      </p:nvGrpSpPr>
      <p:grpSpPr>
        <a:xfrm>
          <a:off x="0" y="0"/>
          <a:ext cx="0" cy="0"/>
          <a:chOff x="0" y="0"/>
          <a:chExt cx="0" cy="0"/>
        </a:xfrm>
      </p:grpSpPr>
      <p:sp>
        <p:nvSpPr>
          <p:cNvPr id="9" name="Text 2">
            <a:extLst>
              <a:ext uri="{FF2B5EF4-FFF2-40B4-BE49-F238E27FC236}">
                <a16:creationId xmlns:a16="http://schemas.microsoft.com/office/drawing/2014/main" id="{736C1CD4-C9E3-9A4B-1342-2EEB63D43D70}"/>
              </a:ext>
            </a:extLst>
          </p:cNvPr>
          <p:cNvSpPr/>
          <p:nvPr/>
        </p:nvSpPr>
        <p:spPr>
          <a:xfrm>
            <a:off x="406400" y="1253735"/>
            <a:ext cx="11176000" cy="1704830"/>
          </a:xfrm>
          <a:prstGeom prst="roundRect">
            <a:avLst>
              <a:gd name="adj" fmla="val 5074"/>
            </a:avLst>
          </a:prstGeom>
          <a:solidFill>
            <a:srgbClr val="DCFCE7"/>
          </a:solidFill>
          <a:ln w="9525">
            <a:solidFill>
              <a:srgbClr val="22C55E"/>
            </a:solidFill>
          </a:ln>
        </p:spPr>
        <p:txBody>
          <a:bodyPr wrap="square" rtlCol="0" anchor="ctr"/>
          <a:lstStyle/>
          <a:p>
            <a:endParaRPr lang="en-US" sz="2400" dirty="0">
              <a:ea typeface="맑은 고딕"/>
            </a:endParaRPr>
          </a:p>
        </p:txBody>
      </p:sp>
      <p:sp>
        <p:nvSpPr>
          <p:cNvPr id="7" name="Text 26">
            <a:extLst>
              <a:ext uri="{FF2B5EF4-FFF2-40B4-BE49-F238E27FC236}">
                <a16:creationId xmlns:a16="http://schemas.microsoft.com/office/drawing/2014/main" id="{DB842C25-A2CB-E4C9-1259-725D44E05549}"/>
              </a:ext>
            </a:extLst>
          </p:cNvPr>
          <p:cNvSpPr/>
          <p:nvPr/>
        </p:nvSpPr>
        <p:spPr>
          <a:xfrm>
            <a:off x="387353" y="4200987"/>
            <a:ext cx="11176000" cy="1445433"/>
          </a:xfrm>
          <a:prstGeom prst="roundRect">
            <a:avLst>
              <a:gd name="adj" fmla="val 3101"/>
            </a:avLst>
          </a:prstGeom>
          <a:solidFill>
            <a:srgbClr val="FEF2F2"/>
          </a:solidFill>
          <a:ln w="9525">
            <a:solidFill>
              <a:srgbClr val="EF4444"/>
            </a:solidFill>
          </a:ln>
        </p:spPr>
        <p:txBody>
          <a:bodyPr wrap="square" rtlCol="0" anchor="ctr"/>
          <a:lstStyle/>
          <a:p>
            <a:endParaRPr lang="en-US" sz="2400" dirty="0">
              <a:latin typeface="Arial" panose="020B0604020202020204" pitchFamily="34" charset="0"/>
              <a:ea typeface="맑은 고딕"/>
              <a:cs typeface="Arial" panose="020B0604020202020204" pitchFamily="34" charset="0"/>
            </a:endParaRPr>
          </a:p>
        </p:txBody>
      </p:sp>
      <p:sp>
        <p:nvSpPr>
          <p:cNvPr id="2" name="Title 1">
            <a:extLst>
              <a:ext uri="{FF2B5EF4-FFF2-40B4-BE49-F238E27FC236}">
                <a16:creationId xmlns:a16="http://schemas.microsoft.com/office/drawing/2014/main" id="{7C24EDB2-A39B-D39E-74FA-8EE6DEFF302A}"/>
              </a:ext>
            </a:extLst>
          </p:cNvPr>
          <p:cNvSpPr>
            <a:spLocks noGrp="1"/>
          </p:cNvSpPr>
          <p:nvPr>
            <p:ph type="title"/>
          </p:nvPr>
        </p:nvSpPr>
        <p:spPr/>
        <p:txBody>
          <a:bodyPr>
            <a:normAutofit/>
          </a:bodyPr>
          <a:lstStyle/>
          <a:p>
            <a:r>
              <a:rPr lang="ko-KR" altLang="en-US" dirty="0">
                <a:latin typeface="+mn-lt"/>
                <a:ea typeface="맑은 고딕"/>
              </a:rPr>
              <a:t>실무에서의 DCF : 5단계 절차</a:t>
            </a:r>
          </a:p>
        </p:txBody>
      </p:sp>
      <p:sp>
        <p:nvSpPr>
          <p:cNvPr id="4" name="Text 3">
            <a:extLst>
              <a:ext uri="{FF2B5EF4-FFF2-40B4-BE49-F238E27FC236}">
                <a16:creationId xmlns:a16="http://schemas.microsoft.com/office/drawing/2014/main" id="{CBAECA5C-0E62-8392-6938-52AF9808572D}"/>
              </a:ext>
            </a:extLst>
          </p:cNvPr>
          <p:cNvSpPr/>
          <p:nvPr/>
        </p:nvSpPr>
        <p:spPr>
          <a:xfrm>
            <a:off x="736600" y="1374128"/>
            <a:ext cx="10933176" cy="319881"/>
          </a:xfrm>
          <a:prstGeom prst="rect">
            <a:avLst/>
          </a:prstGeom>
          <a:noFill/>
          <a:ln/>
        </p:spPr>
        <p:txBody>
          <a:bodyPr wrap="square" lIns="0" tIns="0" rIns="0" bIns="0" rtlCol="0" anchor="t"/>
          <a:lstStyle/>
          <a:p>
            <a:pPr>
              <a:lnSpc>
                <a:spcPts val="2520"/>
              </a:lnSpc>
              <a:spcAft>
                <a:spcPts val="1200"/>
              </a:spcAft>
            </a:pPr>
            <a:r>
              <a:rPr lang="ko-KR" altLang="en-US" b="1" dirty="0">
                <a:solidFill>
                  <a:srgbClr val="15803D"/>
                </a:solidFill>
                <a:latin typeface="Arial" pitchFamily="34" charset="0"/>
                <a:ea typeface="맑은 고딕" pitchFamily="34" charset="-122"/>
                <a:cs typeface="Arial" pitchFamily="34" charset="-120"/>
              </a:rPr>
              <a:t>1. 매출(Revenue) 예측</a:t>
            </a:r>
            <a:endParaRPr lang="en-US" dirty="0">
              <a:ea typeface="맑은 고딕"/>
            </a:endParaRPr>
          </a:p>
          <a:p>
            <a:pPr>
              <a:lnSpc>
                <a:spcPts val="2520"/>
              </a:lnSpc>
              <a:spcAft>
                <a:spcPts val="1200"/>
              </a:spcAft>
            </a:pPr>
            <a:endParaRPr lang="en-US" dirty="0">
              <a:ea typeface="맑은 고딕"/>
            </a:endParaRPr>
          </a:p>
        </p:txBody>
      </p:sp>
      <p:sp>
        <p:nvSpPr>
          <p:cNvPr id="13" name="Text 6">
            <a:extLst>
              <a:ext uri="{FF2B5EF4-FFF2-40B4-BE49-F238E27FC236}">
                <a16:creationId xmlns:a16="http://schemas.microsoft.com/office/drawing/2014/main" id="{8E4A4A39-9CEB-8237-4F93-C086FA358AE0}"/>
              </a:ext>
            </a:extLst>
          </p:cNvPr>
          <p:cNvSpPr/>
          <p:nvPr/>
        </p:nvSpPr>
        <p:spPr>
          <a:xfrm>
            <a:off x="1129030" y="1846409"/>
            <a:ext cx="10209530" cy="612520"/>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ko-KR" altLang="en-US" dirty="0">
                <a:solidFill>
                  <a:srgbClr val="1F2937"/>
                </a:solidFill>
                <a:latin typeface="Arial" pitchFamily="34" charset="0"/>
                <a:ea typeface="맑은 고딕" pitchFamily="34" charset="-122"/>
                <a:cs typeface="Arial" pitchFamily="34" charset="-120"/>
              </a:rPr>
              <a:t>가장 최근 실적을 기준점으로 삼아 명시적 예측기간에 대해 예측한다. </a:t>
            </a:r>
          </a:p>
          <a:p>
            <a:pPr>
              <a:lnSpc>
                <a:spcPts val="1960"/>
              </a:lnSpc>
              <a:spcAft>
                <a:spcPts val="400"/>
              </a:spcAft>
            </a:pPr>
            <a:endParaRPr lang="en-US" dirty="0">
              <a:ea typeface="맑은 고딕"/>
            </a:endParaRPr>
          </a:p>
        </p:txBody>
      </p:sp>
      <p:sp>
        <p:nvSpPr>
          <p:cNvPr id="23" name="Text 10">
            <a:extLst>
              <a:ext uri="{FF2B5EF4-FFF2-40B4-BE49-F238E27FC236}">
                <a16:creationId xmlns:a16="http://schemas.microsoft.com/office/drawing/2014/main" id="{3A2EA045-298E-8745-6015-8B632AF9FA89}"/>
              </a:ext>
            </a:extLst>
          </p:cNvPr>
          <p:cNvSpPr/>
          <p:nvPr/>
        </p:nvSpPr>
        <p:spPr>
          <a:xfrm>
            <a:off x="1130269" y="2214310"/>
            <a:ext cx="5711206" cy="434581"/>
          </a:xfrm>
          <a:prstGeom prst="rect">
            <a:avLst/>
          </a:prstGeom>
          <a:noFill/>
          <a:ln/>
        </p:spPr>
        <p:txBody>
          <a:bodyPr wrap="square" lIns="0" tIns="0" rIns="0" bIns="0" rtlCol="0" anchor="t"/>
          <a:lstStyle/>
          <a:p>
            <a:pPr>
              <a:lnSpc>
                <a:spcPts val="1960"/>
              </a:lnSpc>
              <a:spcAft>
                <a:spcPts val="400"/>
              </a:spcAft>
            </a:pPr>
            <a:endParaRPr lang="en-US" dirty="0">
              <a:ea typeface="맑은 고딕"/>
            </a:endParaRPr>
          </a:p>
        </p:txBody>
      </p:sp>
      <p:sp>
        <p:nvSpPr>
          <p:cNvPr id="25" name="Text 12">
            <a:extLst>
              <a:ext uri="{FF2B5EF4-FFF2-40B4-BE49-F238E27FC236}">
                <a16:creationId xmlns:a16="http://schemas.microsoft.com/office/drawing/2014/main" id="{43BB0082-A296-48C4-D180-6F89251D60C7}"/>
              </a:ext>
            </a:extLst>
          </p:cNvPr>
          <p:cNvSpPr/>
          <p:nvPr/>
        </p:nvSpPr>
        <p:spPr>
          <a:xfrm>
            <a:off x="385636" y="3012152"/>
            <a:ext cx="11176000" cy="1117655"/>
          </a:xfrm>
          <a:prstGeom prst="roundRect">
            <a:avLst>
              <a:gd name="adj" fmla="val 6701"/>
            </a:avLst>
          </a:prstGeom>
          <a:solidFill>
            <a:srgbClr val="EFF6FF"/>
          </a:solidFill>
          <a:ln>
            <a:solidFill>
              <a:srgbClr val="3B82F6"/>
            </a:solidFill>
          </a:ln>
        </p:spPr>
        <p:txBody>
          <a:bodyPr wrap="square" rtlCol="0" anchor="ctr"/>
          <a:lstStyle/>
          <a:p>
            <a:endParaRPr lang="en-US" sz="2400" dirty="0">
              <a:ea typeface="맑은 고딕"/>
            </a:endParaRPr>
          </a:p>
        </p:txBody>
      </p:sp>
      <p:sp>
        <p:nvSpPr>
          <p:cNvPr id="27" name="Text 13">
            <a:extLst>
              <a:ext uri="{FF2B5EF4-FFF2-40B4-BE49-F238E27FC236}">
                <a16:creationId xmlns:a16="http://schemas.microsoft.com/office/drawing/2014/main" id="{0E23926F-E63A-EBFC-90AF-495846778CB5}"/>
              </a:ext>
            </a:extLst>
          </p:cNvPr>
          <p:cNvSpPr/>
          <p:nvPr/>
        </p:nvSpPr>
        <p:spPr>
          <a:xfrm>
            <a:off x="783567" y="2110232"/>
            <a:ext cx="10984992" cy="302220"/>
          </a:xfrm>
          <a:prstGeom prst="rect">
            <a:avLst/>
          </a:prstGeom>
          <a:noFill/>
          <a:ln/>
        </p:spPr>
        <p:txBody>
          <a:bodyPr wrap="square" lIns="0" tIns="0" rIns="0" bIns="0" rtlCol="0" anchor="t"/>
          <a:lstStyle/>
          <a:p>
            <a:pPr>
              <a:lnSpc>
                <a:spcPts val="2520"/>
              </a:lnSpc>
              <a:spcAft>
                <a:spcPts val="1200"/>
              </a:spcAft>
            </a:pPr>
            <a:r>
              <a:rPr lang="ko-KR" altLang="en-US" b="1" dirty="0">
                <a:solidFill>
                  <a:srgbClr val="15803D"/>
                </a:solidFill>
                <a:latin typeface="Arial" pitchFamily="34" charset="0"/>
                <a:ea typeface="맑은 고딕" pitchFamily="34" charset="-122"/>
                <a:cs typeface="Arial" pitchFamily="34" charset="-120"/>
              </a:rPr>
              <a:t>2. 비용 추정</a:t>
            </a:r>
          </a:p>
        </p:txBody>
      </p:sp>
      <p:sp>
        <p:nvSpPr>
          <p:cNvPr id="42" name="Text 27">
            <a:extLst>
              <a:ext uri="{FF2B5EF4-FFF2-40B4-BE49-F238E27FC236}">
                <a16:creationId xmlns:a16="http://schemas.microsoft.com/office/drawing/2014/main" id="{E4B7B3E0-60F5-A088-4972-2248EA67A3B2}"/>
              </a:ext>
            </a:extLst>
          </p:cNvPr>
          <p:cNvSpPr/>
          <p:nvPr/>
        </p:nvSpPr>
        <p:spPr>
          <a:xfrm>
            <a:off x="711200" y="4340174"/>
            <a:ext cx="10984992" cy="284361"/>
          </a:xfrm>
          <a:prstGeom prst="rect">
            <a:avLst/>
          </a:prstGeom>
          <a:noFill/>
          <a:ln/>
        </p:spPr>
        <p:txBody>
          <a:bodyPr wrap="square" lIns="0" tIns="0" rIns="0" bIns="0" rtlCol="0" anchor="t"/>
          <a:lstStyle/>
          <a:p>
            <a:pPr>
              <a:lnSpc>
                <a:spcPts val="2240"/>
              </a:lnSpc>
              <a:spcAft>
                <a:spcPts val="800"/>
              </a:spcAft>
            </a:pPr>
            <a:r>
              <a:rPr lang="ko-KR" altLang="en-US" b="1" dirty="0">
                <a:solidFill>
                  <a:srgbClr val="991B1B"/>
                </a:solidFill>
                <a:latin typeface="Arial" panose="020B0604020202020204" pitchFamily="34" charset="0"/>
                <a:ea typeface="맑은 고딕" pitchFamily="34" charset="-122"/>
                <a:cs typeface="Arial" panose="020B0604020202020204" pitchFamily="34" charset="0"/>
              </a:rPr>
              <a:t>4. 잔존가치(Terminal Value, TV) 추정</a:t>
            </a:r>
            <a:endParaRPr lang="en-US" dirty="0">
              <a:latin typeface="Arial" panose="020B0604020202020204" pitchFamily="34" charset="0"/>
              <a:ea typeface="맑은 고딕"/>
              <a:cs typeface="Arial" panose="020B0604020202020204" pitchFamily="34" charset="0"/>
            </a:endParaRPr>
          </a:p>
        </p:txBody>
      </p:sp>
      <p:sp>
        <p:nvSpPr>
          <p:cNvPr id="20" name="Text 6">
            <a:extLst>
              <a:ext uri="{FF2B5EF4-FFF2-40B4-BE49-F238E27FC236}">
                <a16:creationId xmlns:a16="http://schemas.microsoft.com/office/drawing/2014/main" id="{D061B9BE-4A6E-9C14-C0DA-4E2E4C95B3FF}"/>
              </a:ext>
            </a:extLst>
          </p:cNvPr>
          <p:cNvSpPr/>
          <p:nvPr/>
        </p:nvSpPr>
        <p:spPr>
          <a:xfrm>
            <a:off x="1129030" y="2526128"/>
            <a:ext cx="8424433" cy="398749"/>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ko-KR" altLang="en-US" dirty="0">
                <a:solidFill>
                  <a:srgbClr val="1F2937"/>
                </a:solidFill>
                <a:latin typeface="Arial" pitchFamily="34" charset="0"/>
                <a:ea typeface="맑은 고딕" pitchFamily="34" charset="-122"/>
                <a:cs typeface="Arial" pitchFamily="34" charset="-120"/>
              </a:rPr>
              <a:t>매출 예측치로부터 비용을 추정하여 영업이익(operating income)을 도출한다.</a:t>
            </a:r>
            <a:endParaRPr lang="en-US" sz="1600" dirty="0">
              <a:ea typeface="맑은 고딕"/>
            </a:endParaRPr>
          </a:p>
        </p:txBody>
      </p:sp>
      <p:sp>
        <p:nvSpPr>
          <p:cNvPr id="22" name="Text 26">
            <a:extLst>
              <a:ext uri="{FF2B5EF4-FFF2-40B4-BE49-F238E27FC236}">
                <a16:creationId xmlns:a16="http://schemas.microsoft.com/office/drawing/2014/main" id="{35FF4D19-3938-CE62-179F-E7E2025E606A}"/>
              </a:ext>
            </a:extLst>
          </p:cNvPr>
          <p:cNvSpPr/>
          <p:nvPr/>
        </p:nvSpPr>
        <p:spPr>
          <a:xfrm>
            <a:off x="374557" y="5723801"/>
            <a:ext cx="11176000" cy="939890"/>
          </a:xfrm>
          <a:prstGeom prst="roundRect">
            <a:avLst>
              <a:gd name="adj" fmla="val 7846"/>
            </a:avLst>
          </a:prstGeom>
          <a:solidFill>
            <a:schemeClr val="accent6">
              <a:lumMod val="20000"/>
              <a:lumOff val="80000"/>
            </a:schemeClr>
          </a:solidFill>
          <a:ln w="9525">
            <a:solidFill>
              <a:srgbClr val="854D0E"/>
            </a:solidFill>
          </a:ln>
        </p:spPr>
        <p:txBody>
          <a:bodyPr wrap="square" rtlCol="0" anchor="ctr"/>
          <a:lstStyle/>
          <a:p>
            <a:endParaRPr lang="en-US" sz="2400" dirty="0">
              <a:ea typeface="맑은 고딕"/>
            </a:endParaRPr>
          </a:p>
        </p:txBody>
      </p:sp>
      <p:sp>
        <p:nvSpPr>
          <p:cNvPr id="26" name="Text 13">
            <a:extLst>
              <a:ext uri="{FF2B5EF4-FFF2-40B4-BE49-F238E27FC236}">
                <a16:creationId xmlns:a16="http://schemas.microsoft.com/office/drawing/2014/main" id="{6544FE98-9C24-DB53-9EE5-61A89E0DE9A7}"/>
              </a:ext>
            </a:extLst>
          </p:cNvPr>
          <p:cNvSpPr/>
          <p:nvPr/>
        </p:nvSpPr>
        <p:spPr>
          <a:xfrm>
            <a:off x="600617" y="5907792"/>
            <a:ext cx="10984992" cy="266700"/>
          </a:xfrm>
          <a:prstGeom prst="rect">
            <a:avLst/>
          </a:prstGeom>
          <a:noFill/>
          <a:ln/>
        </p:spPr>
        <p:txBody>
          <a:bodyPr wrap="square" lIns="0" tIns="0" rIns="0" bIns="0" rtlCol="0" anchor="t"/>
          <a:lstStyle/>
          <a:p>
            <a:pPr>
              <a:lnSpc>
                <a:spcPts val="2100"/>
              </a:lnSpc>
              <a:spcAft>
                <a:spcPts val="800"/>
              </a:spcAft>
            </a:pPr>
            <a:r>
              <a:rPr lang="en-US" sz="1500" b="1" dirty="0">
                <a:solidFill>
                  <a:srgbClr val="854D0E"/>
                </a:solidFill>
                <a:latin typeface="Arial" pitchFamily="34" charset="0"/>
                <a:ea typeface="Arial" pitchFamily="34" charset="-122"/>
                <a:cs typeface="Arial" pitchFamily="34" charset="-120"/>
              </a:rPr>
              <a:t> </a:t>
            </a:r>
            <a:r>
              <a:rPr lang="ko-KR" altLang="en-US" b="1" dirty="0">
                <a:solidFill>
                  <a:srgbClr val="854D0E"/>
                </a:solidFill>
                <a:latin typeface="Arial" pitchFamily="34" charset="0"/>
                <a:ea typeface="맑은 고딕" pitchFamily="34" charset="-122"/>
                <a:cs typeface="Arial" pitchFamily="34" charset="-120"/>
              </a:rPr>
              <a:t>5. </a:t>
            </a:r>
            <a:r>
              <a:rPr lang="ko-KR" altLang="en-US" b="1" dirty="0">
                <a:solidFill>
                  <a:srgbClr val="854D0E"/>
                </a:solidFill>
                <a:ea typeface="맑은 고딕"/>
              </a:rPr>
              <a:t>명시적 예측기간의 FCF와 TV를 할인 :</a:t>
            </a:r>
          </a:p>
          <a:p>
            <a:pPr>
              <a:lnSpc>
                <a:spcPts val="2100"/>
              </a:lnSpc>
              <a:spcAft>
                <a:spcPts val="800"/>
              </a:spcAft>
            </a:pPr>
            <a:endParaRPr lang="en-US" sz="1500" dirty="0">
              <a:ea typeface="맑은 고딕"/>
            </a:endParaRPr>
          </a:p>
        </p:txBody>
      </p:sp>
      <p:sp>
        <p:nvSpPr>
          <p:cNvPr id="29" name="Text 14">
            <a:extLst>
              <a:ext uri="{FF2B5EF4-FFF2-40B4-BE49-F238E27FC236}">
                <a16:creationId xmlns:a16="http://schemas.microsoft.com/office/drawing/2014/main" id="{7CE8BEA0-C3C2-9CDA-9BE0-D46E47E97A13}"/>
              </a:ext>
            </a:extLst>
          </p:cNvPr>
          <p:cNvSpPr/>
          <p:nvPr/>
        </p:nvSpPr>
        <p:spPr>
          <a:xfrm>
            <a:off x="986305" y="6245105"/>
            <a:ext cx="7760771" cy="418585"/>
          </a:xfrm>
          <a:prstGeom prst="rect">
            <a:avLst/>
          </a:prstGeom>
          <a:noFill/>
          <a:ln/>
        </p:spPr>
        <p:txBody>
          <a:bodyPr wrap="square" lIns="0" tIns="0" rIns="0" bIns="0" rtlCol="0" anchor="t"/>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 </a:t>
            </a:r>
            <a:r>
              <a:rPr lang="ko-KR" altLang="en-US" dirty="0">
                <a:solidFill>
                  <a:srgbClr val="1F2937"/>
                </a:solidFill>
                <a:latin typeface="Arial" pitchFamily="34" charset="0"/>
                <a:ea typeface="맑은 고딕" pitchFamily="34" charset="-122"/>
                <a:cs typeface="Arial" pitchFamily="34" charset="-120"/>
              </a:rPr>
              <a:t>할인율 r로 할인한 뒤 합산하여 기업가치(firm value)를 구한다.</a:t>
            </a:r>
          </a:p>
        </p:txBody>
      </p:sp>
      <p:sp>
        <p:nvSpPr>
          <p:cNvPr id="17" name="Text 13">
            <a:extLst>
              <a:ext uri="{FF2B5EF4-FFF2-40B4-BE49-F238E27FC236}">
                <a16:creationId xmlns:a16="http://schemas.microsoft.com/office/drawing/2014/main" id="{FB16F7CA-715D-D1D4-178B-DBB8F4D4B4A6}"/>
              </a:ext>
            </a:extLst>
          </p:cNvPr>
          <p:cNvSpPr/>
          <p:nvPr/>
        </p:nvSpPr>
        <p:spPr>
          <a:xfrm>
            <a:off x="741299" y="3236058"/>
            <a:ext cx="10984992" cy="302220"/>
          </a:xfrm>
          <a:prstGeom prst="rect">
            <a:avLst/>
          </a:prstGeom>
          <a:noFill/>
          <a:ln/>
        </p:spPr>
        <p:txBody>
          <a:bodyPr wrap="square" lIns="0" tIns="0" rIns="0" bIns="0" rtlCol="0" anchor="t"/>
          <a:lstStyle/>
          <a:p>
            <a:pPr>
              <a:lnSpc>
                <a:spcPts val="2380"/>
              </a:lnSpc>
              <a:spcAft>
                <a:spcPts val="1000"/>
              </a:spcAft>
            </a:pPr>
            <a:r>
              <a:rPr lang="ko-KR" altLang="en-US" b="1" dirty="0">
                <a:solidFill>
                  <a:srgbClr val="1E40AF"/>
                </a:solidFill>
                <a:latin typeface="Arial" pitchFamily="34" charset="0"/>
                <a:ea typeface="맑은 고딕" pitchFamily="34" charset="-122"/>
                <a:cs typeface="Arial" pitchFamily="34" charset="-120"/>
              </a:rPr>
              <a:t>3. 이익을 잉여현금흐름(Free Cash Flow, FCF)으로 전환</a:t>
            </a:r>
            <a:endParaRPr lang="en-US" dirty="0">
              <a:ea typeface="맑은 고딕"/>
            </a:endParaRPr>
          </a:p>
        </p:txBody>
      </p:sp>
      <p:sp>
        <p:nvSpPr>
          <p:cNvPr id="18" name="Text 6">
            <a:extLst>
              <a:ext uri="{FF2B5EF4-FFF2-40B4-BE49-F238E27FC236}">
                <a16:creationId xmlns:a16="http://schemas.microsoft.com/office/drawing/2014/main" id="{60DCE3F7-1E72-D185-E455-B8FBDA872135}"/>
              </a:ext>
            </a:extLst>
          </p:cNvPr>
          <p:cNvSpPr/>
          <p:nvPr/>
        </p:nvSpPr>
        <p:spPr>
          <a:xfrm>
            <a:off x="1096795" y="3717595"/>
            <a:ext cx="8424433" cy="398749"/>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ko-KR" altLang="en-US" dirty="0">
                <a:solidFill>
                  <a:srgbClr val="1F2937"/>
                </a:solidFill>
                <a:latin typeface="Arial" pitchFamily="34" charset="0"/>
                <a:ea typeface="맑은 고딕" pitchFamily="34" charset="-122"/>
                <a:cs typeface="Arial" pitchFamily="34" charset="-120"/>
              </a:rPr>
              <a:t>(비현금항목과 재투자를 조정한다).</a:t>
            </a:r>
            <a:endParaRPr lang="en-US" sz="1600" dirty="0">
              <a:ea typeface="맑은 고딕"/>
            </a:endParaRPr>
          </a:p>
        </p:txBody>
      </p:sp>
      <p:sp>
        <p:nvSpPr>
          <p:cNvPr id="19" name="Text 6">
            <a:extLst>
              <a:ext uri="{FF2B5EF4-FFF2-40B4-BE49-F238E27FC236}">
                <a16:creationId xmlns:a16="http://schemas.microsoft.com/office/drawing/2014/main" id="{8EC90807-CF76-A1E2-C227-1655A6B5E693}"/>
              </a:ext>
            </a:extLst>
          </p:cNvPr>
          <p:cNvSpPr/>
          <p:nvPr/>
        </p:nvSpPr>
        <p:spPr>
          <a:xfrm>
            <a:off x="986305" y="4750105"/>
            <a:ext cx="8424433" cy="398749"/>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ko-KR" altLang="en-US" dirty="0">
                <a:solidFill>
                  <a:srgbClr val="1F2937"/>
                </a:solidFill>
                <a:latin typeface="Arial" pitchFamily="34" charset="0"/>
                <a:ea typeface="맑은 고딕" pitchFamily="34" charset="-122"/>
                <a:cs typeface="Arial" pitchFamily="34" charset="-120"/>
              </a:rPr>
              <a:t>예측기간 말에 FCF가 영구히 일정한 성장률로 성장한다고 가정한다:</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FFF33AB-142E-E5E0-6E13-73096F456D2C}"/>
                  </a:ext>
                </a:extLst>
              </p:cNvPr>
              <p:cNvSpPr txBox="1"/>
              <p:nvPr/>
            </p:nvSpPr>
            <p:spPr>
              <a:xfrm>
                <a:off x="1753220" y="5023795"/>
                <a:ext cx="6096000"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b="0" smtClean="0"/>
                        <m:t>Terminal</m:t>
                      </m:r>
                      <m:r>
                        <m:rPr>
                          <m:nor/>
                        </m:rPr>
                        <a:rPr lang="en-US" b="0" smtClean="0"/>
                        <m:t> </m:t>
                      </m:r>
                      <m:r>
                        <m:rPr>
                          <m:nor/>
                        </m:rPr>
                        <a:rPr lang="en-US" b="0" smtClean="0"/>
                        <m:t>Value</m:t>
                      </m:r>
                      <m:r>
                        <m:rPr>
                          <m:nor/>
                        </m:rPr>
                        <a:rPr lang="en-US" b="0" smtClean="0"/>
                        <m:t> </m:t>
                      </m:r>
                      <m:d>
                        <m:dPr>
                          <m:ctrlPr>
                            <a:rPr lang="en-US" b="0" i="1">
                              <a:latin typeface="Cambria Math" panose="02040503050406030204" pitchFamily="18" charset="0"/>
                            </a:rPr>
                          </m:ctrlPr>
                        </m:dPr>
                        <m:e>
                          <m:r>
                            <m:rPr>
                              <m:nor/>
                            </m:rPr>
                            <a:rPr lang="en-US" b="0" i="1">
                              <a:latin typeface="Cambria Math" panose="02040503050406030204" pitchFamily="18" charset="0"/>
                            </a:rPr>
                            <m:t>end</m:t>
                          </m:r>
                          <m:r>
                            <m:rPr>
                              <m:nor/>
                            </m:rPr>
                            <a:rPr lang="en-US" b="0" i="1">
                              <a:latin typeface="Cambria Math" panose="02040503050406030204" pitchFamily="18" charset="0"/>
                            </a:rPr>
                            <m:t> </m:t>
                          </m:r>
                          <m:r>
                            <m:rPr>
                              <m:nor/>
                            </m:rPr>
                            <a:rPr lang="en-US" b="0" i="1">
                              <a:latin typeface="Cambria Math" panose="02040503050406030204" pitchFamily="18" charset="0"/>
                            </a:rPr>
                            <m:t>of</m:t>
                          </m:r>
                          <m:r>
                            <m:rPr>
                              <m:nor/>
                            </m:rPr>
                            <a:rPr lang="en-US" b="0" i="1">
                              <a:latin typeface="Cambria Math" panose="02040503050406030204" pitchFamily="18" charset="0"/>
                            </a:rPr>
                            <m:t> </m:t>
                          </m:r>
                          <m:r>
                            <m:rPr>
                              <m:nor/>
                            </m:rPr>
                            <a:rPr lang="en-US" b="0" i="1">
                              <a:latin typeface="Cambria Math" panose="02040503050406030204" pitchFamily="18" charset="0"/>
                            </a:rPr>
                            <m:t>Year</m:t>
                          </m:r>
                          <m:r>
                            <m:rPr>
                              <m:nor/>
                            </m:rPr>
                            <a:rPr lang="en-US" b="0" i="1">
                              <a:latin typeface="Cambria Math" panose="02040503050406030204" pitchFamily="18" charset="0"/>
                            </a:rPr>
                            <m:t> </m:t>
                          </m:r>
                          <m:r>
                            <a:rPr lang="en-US" b="0" i="1">
                              <a:latin typeface="Cambria Math" panose="02040503050406030204" pitchFamily="18" charset="0"/>
                            </a:rPr>
                            <m:t>𝑛</m:t>
                          </m:r>
                        </m:e>
                      </m:d>
                      <m:r>
                        <a:rPr lang="en-US" b="0" i="0">
                          <a:latin typeface="Cambria Math" panose="02040503050406030204" pitchFamily="18" charset="0"/>
                        </a:rPr>
                        <m:t>=</m:t>
                      </m:r>
                      <m:f>
                        <m:fPr>
                          <m:ctrlPr>
                            <a:rPr lang="en-US" b="0" i="1">
                              <a:latin typeface="Cambria Math" panose="02040503050406030204" pitchFamily="18" charset="0"/>
                            </a:rPr>
                          </m:ctrlPr>
                        </m:fPr>
                        <m:num>
                          <m:sSub>
                            <m:sSubPr>
                              <m:ctrlPr>
                                <a:rPr lang="en-US" b="0" i="1">
                                  <a:latin typeface="Cambria Math" panose="02040503050406030204" pitchFamily="18" charset="0"/>
                                </a:rPr>
                              </m:ctrlPr>
                            </m:sSubPr>
                            <m:e>
                              <m:r>
                                <a:rPr lang="en-US" b="0" i="1">
                                  <a:latin typeface="Cambria Math" panose="02040503050406030204" pitchFamily="18" charset="0"/>
                                </a:rPr>
                                <m:t>𝐹𝐶𝐹</m:t>
                              </m:r>
                            </m:e>
                            <m:sub>
                              <m:r>
                                <a:rPr lang="en-US" b="0" i="1">
                                  <a:latin typeface="Cambria Math" panose="02040503050406030204" pitchFamily="18" charset="0"/>
                                </a:rPr>
                                <m:t>𝑛</m:t>
                              </m:r>
                              <m:r>
                                <a:rPr lang="en-US" b="0" i="0">
                                  <a:latin typeface="Cambria Math" panose="02040503050406030204" pitchFamily="18" charset="0"/>
                                </a:rPr>
                                <m:t>+1</m:t>
                              </m:r>
                            </m:sub>
                          </m:sSub>
                        </m:num>
                        <m:den>
                          <m:r>
                            <a:rPr lang="en-US" b="0" i="1">
                              <a:latin typeface="Cambria Math" panose="02040503050406030204" pitchFamily="18" charset="0"/>
                            </a:rPr>
                            <m:t>𝑟</m:t>
                          </m:r>
                          <m:r>
                            <a:rPr lang="en-US" b="0" i="0">
                              <a:latin typeface="Cambria Math" panose="02040503050406030204" pitchFamily="18" charset="0"/>
                            </a:rPr>
                            <m:t>−</m:t>
                          </m:r>
                          <m:r>
                            <a:rPr lang="en-US" b="0" i="1">
                              <a:latin typeface="Cambria Math" panose="02040503050406030204" pitchFamily="18" charset="0"/>
                            </a:rPr>
                            <m:t>𝑔</m:t>
                          </m:r>
                        </m:den>
                      </m:f>
                    </m:oMath>
                  </m:oMathPara>
                </a14:m>
                <a:endParaRPr lang="en-US" dirty="0">
                  <a:ea typeface="맑은 고딕"/>
                </a:endParaRPr>
              </a:p>
            </p:txBody>
          </p:sp>
        </mc:Choice>
        <mc:Fallback xmlns="">
          <p:sp>
            <p:nvSpPr>
              <p:cNvPr id="24" name="TextBox 23">
                <a:extLst>
                  <a:ext uri="{FF2B5EF4-FFF2-40B4-BE49-F238E27FC236}">
                    <a16:creationId xmlns:a16="http://schemas.microsoft.com/office/drawing/2014/main" id="{FFFF33AB-142E-E5E0-6E13-73096F456D2C}"/>
                  </a:ext>
                </a:extLst>
              </p:cNvPr>
              <p:cNvSpPr txBox="1">
                <a:spLocks noRot="1" noChangeAspect="1" noMove="1" noResize="1" noEditPoints="1" noAdjustHandles="1" noChangeArrowheads="1" noChangeShapeType="1" noTextEdit="1"/>
              </p:cNvSpPr>
              <p:nvPr/>
            </p:nvSpPr>
            <p:spPr>
              <a:xfrm>
                <a:off x="1753220" y="5023795"/>
                <a:ext cx="6096000" cy="66133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0884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0" animBg="1"/>
      <p:bldP spid="27" grpId="0" animBg="1"/>
      <p:bldP spid="42" grpId="0" animBg="1"/>
      <p:bldP spid="20" grpId="0" animBg="1"/>
      <p:bldP spid="22" grpId="0" animBg="1"/>
      <p:bldP spid="26" grpId="0" animBg="1"/>
      <p:bldP spid="29"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8E938-A874-551D-5D1E-D2C97AFE302B}"/>
            </a:ext>
          </a:extLst>
        </p:cNvPr>
        <p:cNvGrpSpPr/>
        <p:nvPr/>
      </p:nvGrpSpPr>
      <p:grpSpPr>
        <a:xfrm>
          <a:off x="0" y="0"/>
          <a:ext cx="0" cy="0"/>
          <a:chOff x="0" y="0"/>
          <a:chExt cx="0" cy="0"/>
        </a:xfrm>
      </p:grpSpPr>
      <p:sp>
        <p:nvSpPr>
          <p:cNvPr id="6" name="Text 26">
            <a:extLst>
              <a:ext uri="{FF2B5EF4-FFF2-40B4-BE49-F238E27FC236}">
                <a16:creationId xmlns:a16="http://schemas.microsoft.com/office/drawing/2014/main" id="{3D8FBFE8-A710-05CF-319E-ECA9BA12AE3D}"/>
              </a:ext>
            </a:extLst>
          </p:cNvPr>
          <p:cNvSpPr/>
          <p:nvPr/>
        </p:nvSpPr>
        <p:spPr>
          <a:xfrm>
            <a:off x="444502" y="2995885"/>
            <a:ext cx="11176000" cy="3587477"/>
          </a:xfrm>
          <a:prstGeom prst="roundRect">
            <a:avLst>
              <a:gd name="adj" fmla="val 3138"/>
            </a:avLst>
          </a:prstGeom>
          <a:solidFill>
            <a:srgbClr val="FEF2F2"/>
          </a:solidFill>
          <a:ln w="9525">
            <a:solidFill>
              <a:srgbClr val="EF4444"/>
            </a:solidFill>
          </a:ln>
        </p:spPr>
        <p:txBody>
          <a:bodyPr wrap="square" rtlCol="0" anchor="ctr"/>
          <a:lstStyle/>
          <a:p>
            <a:endParaRPr lang="en-US" sz="3200" dirty="0">
              <a:ea typeface="맑은 고딕"/>
            </a:endParaRPr>
          </a:p>
        </p:txBody>
      </p:sp>
      <p:sp>
        <p:nvSpPr>
          <p:cNvPr id="2" name="Title 1">
            <a:extLst>
              <a:ext uri="{FF2B5EF4-FFF2-40B4-BE49-F238E27FC236}">
                <a16:creationId xmlns:a16="http://schemas.microsoft.com/office/drawing/2014/main" id="{04EA5E0B-6A37-8E77-9E41-6E25B1F88BE7}"/>
              </a:ext>
            </a:extLst>
          </p:cNvPr>
          <p:cNvSpPr>
            <a:spLocks noGrp="1"/>
          </p:cNvSpPr>
          <p:nvPr>
            <p:ph type="title"/>
          </p:nvPr>
        </p:nvSpPr>
        <p:spPr/>
        <p:txBody>
          <a:bodyPr>
            <a:normAutofit/>
          </a:bodyPr>
          <a:lstStyle/>
          <a:p>
            <a:r>
              <a:rPr lang="ko-KR" altLang="en-US" dirty="0">
                <a:latin typeface="+mn-lt"/>
                <a:ea typeface="맑은 고딕"/>
              </a:rPr>
              <a:t>DCF 모형 – 예제</a:t>
            </a:r>
          </a:p>
        </p:txBody>
      </p:sp>
      <p:sp>
        <p:nvSpPr>
          <p:cNvPr id="4" name="Text 2">
            <a:extLst>
              <a:ext uri="{FF2B5EF4-FFF2-40B4-BE49-F238E27FC236}">
                <a16:creationId xmlns:a16="http://schemas.microsoft.com/office/drawing/2014/main" id="{A9FA684B-4854-AE79-44B1-A0595BD1FF78}"/>
              </a:ext>
            </a:extLst>
          </p:cNvPr>
          <p:cNvSpPr/>
          <p:nvPr/>
        </p:nvSpPr>
        <p:spPr>
          <a:xfrm>
            <a:off x="736600" y="1782126"/>
            <a:ext cx="10933176" cy="505422"/>
          </a:xfrm>
          <a:prstGeom prst="rect">
            <a:avLst/>
          </a:prstGeom>
          <a:noFill/>
          <a:ln/>
        </p:spPr>
        <p:txBody>
          <a:bodyPr wrap="square" lIns="0" tIns="0" rIns="0" bIns="0" rtlCol="0" anchor="t"/>
          <a:lstStyle/>
          <a:p>
            <a:pPr>
              <a:lnSpc>
                <a:spcPts val="2380"/>
              </a:lnSpc>
              <a:spcAft>
                <a:spcPts val="1000"/>
              </a:spcAft>
            </a:pPr>
            <a:r>
              <a:rPr lang="ko-KR" altLang="en-US" sz="2400" b="1" dirty="0">
                <a:solidFill>
                  <a:srgbClr val="1E40AF"/>
                </a:solidFill>
                <a:latin typeface="Arial" pitchFamily="34" charset="0"/>
                <a:ea typeface="맑은 고딕" pitchFamily="34" charset="-122"/>
                <a:cs typeface="Arial" pitchFamily="34" charset="-120"/>
              </a:rPr>
              <a:t>가정 설정</a:t>
            </a:r>
            <a:endParaRPr lang="en-US" sz="2400" dirty="0">
              <a:ea typeface="맑은 고딕"/>
            </a:endParaRPr>
          </a:p>
        </p:txBody>
      </p:sp>
      <p:sp>
        <p:nvSpPr>
          <p:cNvPr id="5" name="Text 3">
            <a:extLst>
              <a:ext uri="{FF2B5EF4-FFF2-40B4-BE49-F238E27FC236}">
                <a16:creationId xmlns:a16="http://schemas.microsoft.com/office/drawing/2014/main" id="{EA1645CD-574A-CE84-800F-BAD61B448549}"/>
              </a:ext>
            </a:extLst>
          </p:cNvPr>
          <p:cNvSpPr/>
          <p:nvPr/>
        </p:nvSpPr>
        <p:spPr>
          <a:xfrm>
            <a:off x="838580" y="2218456"/>
            <a:ext cx="10225660" cy="686929"/>
          </a:xfrm>
          <a:prstGeom prst="rect">
            <a:avLst/>
          </a:prstGeom>
          <a:noFill/>
          <a:ln/>
        </p:spPr>
        <p:txBody>
          <a:bodyPr wrap="square" lIns="0" tIns="0" rIns="0" bIns="0" rtlCol="0" anchor="t"/>
          <a:lstStyle/>
          <a:p>
            <a:pPr marL="285750" lvl="0" indent="-285750">
              <a:buFont typeface="Arial" panose="020B0604020202020204" pitchFamily="34" charset="0"/>
              <a:buChar char="•"/>
            </a:pPr>
            <a:r>
              <a:rPr lang="ko-KR" altLang="en-US" dirty="0">
                <a:ea typeface="맑은 고딕"/>
              </a:rPr>
              <a:t>할인율 </a:t>
            </a:r>
            <a:r>
              <a:rPr lang="en-US" i="1" dirty="0"/>
              <a:t>r</a:t>
            </a:r>
            <a:r>
              <a:rPr lang="ko-KR" altLang="en-US" dirty="0">
                <a:ea typeface="맑은 고딕"/>
              </a:rPr>
              <a:t> = 10%, 장기성장률 </a:t>
            </a:r>
            <a:r>
              <a:rPr lang="en-US" i="1" dirty="0"/>
              <a:t>g</a:t>
            </a:r>
            <a:r>
              <a:rPr lang="ko-KR" altLang="en-US" dirty="0">
                <a:ea typeface="맑은 고딕"/>
              </a:rPr>
              <a:t> = 3%로 가정한다. 예측된 잉여현금흐름과 그 현재가치는 아래와 같다(단위: 백만 달러).</a:t>
            </a:r>
          </a:p>
          <a:p>
            <a:pPr marL="285750" indent="-285750">
              <a:lnSpc>
                <a:spcPts val="2080"/>
              </a:lnSpc>
              <a:buFont typeface="Arial" panose="020B0604020202020204" pitchFamily="34" charset="0"/>
              <a:buChar char="•"/>
            </a:pPr>
            <a:endParaRPr lang="en-US" sz="1600" dirty="0">
              <a:ea typeface="맑은 고딕"/>
            </a:endParaRPr>
          </a:p>
        </p:txBody>
      </p:sp>
      <p:sp>
        <p:nvSpPr>
          <p:cNvPr id="20" name="Text 6">
            <a:extLst>
              <a:ext uri="{FF2B5EF4-FFF2-40B4-BE49-F238E27FC236}">
                <a16:creationId xmlns:a16="http://schemas.microsoft.com/office/drawing/2014/main" id="{C1185C66-4B3E-B8E1-979A-69D9BAF4CAA5}"/>
              </a:ext>
            </a:extLst>
          </p:cNvPr>
          <p:cNvSpPr/>
          <p:nvPr/>
        </p:nvSpPr>
        <p:spPr>
          <a:xfrm>
            <a:off x="716280" y="3182874"/>
            <a:ext cx="10933176" cy="284361"/>
          </a:xfrm>
          <a:prstGeom prst="rect">
            <a:avLst/>
          </a:prstGeom>
          <a:noFill/>
          <a:ln/>
        </p:spPr>
        <p:txBody>
          <a:bodyPr wrap="square" lIns="0" tIns="0" rIns="0" bIns="0" rtlCol="0" anchor="t"/>
          <a:lstStyle/>
          <a:p>
            <a:pPr>
              <a:lnSpc>
                <a:spcPts val="2240"/>
              </a:lnSpc>
              <a:spcAft>
                <a:spcPts val="800"/>
              </a:spcAft>
            </a:pPr>
            <a:r>
              <a:rPr lang="en-US" sz="2800" b="1" dirty="0">
                <a:solidFill>
                  <a:srgbClr val="991B1B"/>
                </a:solidFill>
                <a:latin typeface="Arial" pitchFamily="34" charset="0"/>
                <a:ea typeface="Arial" pitchFamily="34" charset="-122"/>
                <a:cs typeface="Arial" pitchFamily="34" charset="-120"/>
              </a:rPr>
              <a:t> </a:t>
            </a:r>
            <a:r>
              <a:rPr lang="ko-KR" altLang="en-US" sz="2400" b="1" dirty="0">
                <a:solidFill>
                  <a:srgbClr val="991B1B"/>
                </a:solidFill>
                <a:latin typeface="Arial" pitchFamily="34" charset="0"/>
                <a:ea typeface="맑은 고딕" pitchFamily="34" charset="-122"/>
                <a:cs typeface="Arial" pitchFamily="34" charset="-120"/>
              </a:rPr>
              <a:t>1~5차연도 FCF</a:t>
            </a:r>
            <a:endParaRPr lang="en-US" sz="2800" dirty="0">
              <a:ea typeface="맑은 고딕"/>
            </a:endParaRPr>
          </a:p>
        </p:txBody>
      </p:sp>
      <p:sp>
        <p:nvSpPr>
          <p:cNvPr id="21" name="Text 7">
            <a:extLst>
              <a:ext uri="{FF2B5EF4-FFF2-40B4-BE49-F238E27FC236}">
                <a16:creationId xmlns:a16="http://schemas.microsoft.com/office/drawing/2014/main" id="{F7D9816B-1D19-038A-2CA4-F0D49424AD53}"/>
              </a:ext>
            </a:extLst>
          </p:cNvPr>
          <p:cNvSpPr/>
          <p:nvPr/>
        </p:nvSpPr>
        <p:spPr>
          <a:xfrm>
            <a:off x="762000" y="3568833"/>
            <a:ext cx="10933176" cy="566664"/>
          </a:xfrm>
          <a:prstGeom prst="rect">
            <a:avLst/>
          </a:prstGeom>
          <a:noFill/>
          <a:ln/>
        </p:spPr>
        <p:txBody>
          <a:bodyPr wrap="square" lIns="0" tIns="0" rIns="0" bIns="0" rtlCol="0" anchor="t"/>
          <a:lstStyle/>
          <a:p>
            <a:pPr marL="285750" indent="-285750">
              <a:buFont typeface="Arial" panose="020B0604020202020204" pitchFamily="34" charset="0"/>
              <a:buChar char="•"/>
            </a:pPr>
            <a:endParaRPr lang="en-US" sz="2400" dirty="0">
              <a:ea typeface="맑은 고딕"/>
            </a:endParaRPr>
          </a:p>
        </p:txBody>
      </p:sp>
      <p:graphicFrame>
        <p:nvGraphicFramePr>
          <p:cNvPr id="7" name="Table 6">
            <a:extLst>
              <a:ext uri="{FF2B5EF4-FFF2-40B4-BE49-F238E27FC236}">
                <a16:creationId xmlns:a16="http://schemas.microsoft.com/office/drawing/2014/main" id="{8401752B-1716-5161-B4A5-D06387A01C2E}"/>
              </a:ext>
            </a:extLst>
          </p:cNvPr>
          <p:cNvGraphicFramePr>
            <a:graphicFrameLocks noGrp="1"/>
          </p:cNvGraphicFramePr>
          <p:nvPr>
            <p:extLst>
              <p:ext uri="{D42A27DB-BD31-4B8C-83A1-F6EECF244321}">
                <p14:modId xmlns:p14="http://schemas.microsoft.com/office/powerpoint/2010/main" val="4046173558"/>
              </p:ext>
            </p:extLst>
          </p:nvPr>
        </p:nvGraphicFramePr>
        <p:xfrm>
          <a:off x="1986280" y="3817196"/>
          <a:ext cx="8128000" cy="2529840"/>
        </p:xfrm>
        <a:graphic>
          <a:graphicData uri="http://schemas.openxmlformats.org/drawingml/2006/table">
            <a:tbl>
              <a:tblPr firstRow="1" bandRow="1">
                <a:tableStyleId>{0E3FDE45-AF77-4B5C-9715-49D594BDF05E}</a:tableStyleId>
              </a:tblPr>
              <a:tblGrid>
                <a:gridCol w="1522730">
                  <a:extLst>
                    <a:ext uri="{9D8B030D-6E8A-4147-A177-3AD203B41FA5}">
                      <a16:colId xmlns:a16="http://schemas.microsoft.com/office/drawing/2014/main" val="2219187793"/>
                    </a:ext>
                  </a:extLst>
                </a:gridCol>
                <a:gridCol w="1908810">
                  <a:extLst>
                    <a:ext uri="{9D8B030D-6E8A-4147-A177-3AD203B41FA5}">
                      <a16:colId xmlns:a16="http://schemas.microsoft.com/office/drawing/2014/main" val="210348932"/>
                    </a:ext>
                  </a:extLst>
                </a:gridCol>
                <a:gridCol w="2664460">
                  <a:extLst>
                    <a:ext uri="{9D8B030D-6E8A-4147-A177-3AD203B41FA5}">
                      <a16:colId xmlns:a16="http://schemas.microsoft.com/office/drawing/2014/main" val="226044544"/>
                    </a:ext>
                  </a:extLst>
                </a:gridCol>
                <a:gridCol w="2032000">
                  <a:extLst>
                    <a:ext uri="{9D8B030D-6E8A-4147-A177-3AD203B41FA5}">
                      <a16:colId xmlns:a16="http://schemas.microsoft.com/office/drawing/2014/main" val="59078903"/>
                    </a:ext>
                  </a:extLst>
                </a:gridCol>
              </a:tblGrid>
              <a:tr h="370840">
                <a:tc>
                  <a:txBody>
                    <a:bodyPr/>
                    <a:lstStyle/>
                    <a:p>
                      <a:pPr marL="0" marR="0" algn="ctr">
                        <a:buNone/>
                      </a:pPr>
                      <a:r>
                        <a:rPr lang="ko-KR" altLang="en-US" sz="1800" b="1" kern="1200" dirty="0">
                          <a:solidFill>
                            <a:srgbClr val="991B1B"/>
                          </a:solidFill>
                          <a:latin typeface="Arial" pitchFamily="34" charset="0"/>
                          <a:ea typeface="맑은 고딕" panose="020F0502020204030204" pitchFamily="34" charset="0"/>
                          <a:cs typeface="Arial" pitchFamily="34" charset="-120"/>
                        </a:rPr>
                        <a:t>연도</a:t>
                      </a:r>
                      <a:endParaRPr lang="en-US" sz="1800" b="1" kern="1200" dirty="0">
                        <a:solidFill>
                          <a:srgbClr val="991B1B"/>
                        </a:solidFill>
                        <a:latin typeface="Arial" pitchFamily="34" charset="0"/>
                        <a:ea typeface="맑은 고딕" panose="02030600000101010101" pitchFamily="18" charset="-127"/>
                        <a:cs typeface="Arial" pitchFamily="34" charset="-120"/>
                      </a:endParaRPr>
                    </a:p>
                  </a:txBody>
                  <a:tcPr marL="76200" marR="76200" marT="38100" marB="38100" anchor="ctr"/>
                </a:tc>
                <a:tc>
                  <a:txBody>
                    <a:bodyPr/>
                    <a:lstStyle/>
                    <a:p>
                      <a:pPr marL="0" marR="0" algn="ctr">
                        <a:buNone/>
                      </a:pPr>
                      <a:r>
                        <a:rPr lang="ko-KR" altLang="en-US" sz="1800" b="1" kern="1200" dirty="0">
                          <a:solidFill>
                            <a:srgbClr val="991B1B"/>
                          </a:solidFill>
                          <a:latin typeface="Arial" pitchFamily="34" charset="0"/>
                          <a:ea typeface="맑은 고딕" panose="020F0502020204030204" pitchFamily="34" charset="0"/>
                          <a:cs typeface="Arial" pitchFamily="34" charset="-120"/>
                        </a:rPr>
                        <a:t>FCF (백만$)</a:t>
                      </a:r>
                      <a:endParaRPr lang="en-US" sz="1800" b="1" kern="1200" dirty="0">
                        <a:solidFill>
                          <a:srgbClr val="991B1B"/>
                        </a:solidFill>
                        <a:latin typeface="Arial" pitchFamily="34" charset="0"/>
                        <a:ea typeface="맑은 고딕" panose="02030600000101010101" pitchFamily="18" charset="-127"/>
                        <a:cs typeface="Arial" pitchFamily="34" charset="-120"/>
                      </a:endParaRPr>
                    </a:p>
                  </a:txBody>
                  <a:tcPr marL="76200" marR="76200" marT="38100" marB="38100" anchor="ctr"/>
                </a:tc>
                <a:tc>
                  <a:txBody>
                    <a:bodyPr/>
                    <a:lstStyle/>
                    <a:p>
                      <a:pPr marL="0" marR="0" algn="ctr">
                        <a:buNone/>
                      </a:pPr>
                      <a:r>
                        <a:rPr lang="ko-KR" altLang="en-US" sz="1800" b="1" kern="1200" dirty="0">
                          <a:solidFill>
                            <a:srgbClr val="991B1B"/>
                          </a:solidFill>
                          <a:latin typeface="Arial" pitchFamily="34" charset="0"/>
                          <a:ea typeface="맑은 고딕" panose="020F0502020204030204" pitchFamily="34" charset="0"/>
                          <a:cs typeface="Arial" pitchFamily="34" charset="-120"/>
                        </a:rPr>
                        <a:t>할인계수 @ 10%</a:t>
                      </a:r>
                      <a:endParaRPr lang="en-US" sz="1800" b="1" kern="1200" dirty="0">
                        <a:solidFill>
                          <a:srgbClr val="991B1B"/>
                        </a:solidFill>
                        <a:latin typeface="Arial" pitchFamily="34" charset="0"/>
                        <a:ea typeface="맑은 고딕" panose="02030600000101010101" pitchFamily="18" charset="-127"/>
                        <a:cs typeface="Arial" pitchFamily="34" charset="-120"/>
                      </a:endParaRPr>
                    </a:p>
                  </a:txBody>
                  <a:tcPr marL="76200" marR="76200" marT="38100" marB="38100" anchor="ctr"/>
                </a:tc>
                <a:tc>
                  <a:txBody>
                    <a:bodyPr/>
                    <a:lstStyle/>
                    <a:p>
                      <a:pPr marL="0" marR="0" algn="ctr">
                        <a:buNone/>
                      </a:pPr>
                      <a:r>
                        <a:rPr lang="ko-KR" altLang="en-US" sz="1800" b="1" kern="1200" dirty="0">
                          <a:solidFill>
                            <a:srgbClr val="991B1B"/>
                          </a:solidFill>
                          <a:latin typeface="Arial" pitchFamily="34" charset="0"/>
                          <a:ea typeface="맑은 고딕" panose="020F0502020204030204" pitchFamily="34" charset="0"/>
                          <a:cs typeface="Arial" pitchFamily="34" charset="-120"/>
                        </a:rPr>
                        <a:t>FCF의 현재가치 (백만$)</a:t>
                      </a:r>
                      <a:endParaRPr lang="en-US" sz="1800" b="1" kern="1200" dirty="0">
                        <a:solidFill>
                          <a:srgbClr val="991B1B"/>
                        </a:solidFill>
                        <a:latin typeface="Arial" pitchFamily="34" charset="0"/>
                        <a:ea typeface="맑은 고딕" panose="02030600000101010101" pitchFamily="18" charset="-127"/>
                        <a:cs typeface="Arial" pitchFamily="34" charset="-120"/>
                      </a:endParaRPr>
                    </a:p>
                  </a:txBody>
                  <a:tcPr marL="76200" marR="76200" marT="38100" marB="38100" anchor="ctr"/>
                </a:tc>
                <a:extLst>
                  <a:ext uri="{0D108BD9-81ED-4DB2-BD59-A6C34878D82A}">
                    <a16:rowId xmlns:a16="http://schemas.microsoft.com/office/drawing/2014/main" val="3029075850"/>
                  </a:ext>
                </a:extLst>
              </a:tr>
              <a:tr h="370840">
                <a:tc>
                  <a:txBody>
                    <a:bodyPr/>
                    <a:lstStyle/>
                    <a:p>
                      <a:pPr marL="0" marR="0" algn="ctr">
                        <a:buNone/>
                      </a:pPr>
                      <a:r>
                        <a:rPr lang="en-US" sz="2000">
                          <a:effectLst/>
                          <a:latin typeface="Calibri" panose="020F0502020204030204" pitchFamily="34" charset="0"/>
                          <a:ea typeface="Calibri" panose="020F0502020204030204" pitchFamily="34" charset="0"/>
                        </a:rPr>
                        <a:t>1</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100.0</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dirty="0">
                          <a:effectLst/>
                          <a:latin typeface="Calibri" panose="020F0502020204030204" pitchFamily="34" charset="0"/>
                          <a:ea typeface="Calibri" panose="020F0502020204030204" pitchFamily="34" charset="0"/>
                        </a:rPr>
                        <a:t>0.9091</a:t>
                      </a:r>
                      <a:endParaRPr lang="en-US" sz="2400" dirty="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90.9</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extLst>
                  <a:ext uri="{0D108BD9-81ED-4DB2-BD59-A6C34878D82A}">
                    <a16:rowId xmlns:a16="http://schemas.microsoft.com/office/drawing/2014/main" val="3526419837"/>
                  </a:ext>
                </a:extLst>
              </a:tr>
              <a:tr h="370840">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2</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115.0</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dirty="0">
                          <a:solidFill>
                            <a:srgbClr val="000000"/>
                          </a:solidFill>
                          <a:effectLst/>
                          <a:latin typeface="Calibri" panose="020F0502020204030204" pitchFamily="34" charset="0"/>
                          <a:ea typeface="Calibri" panose="020F0502020204030204" pitchFamily="34" charset="0"/>
                        </a:rPr>
                        <a:t>0.8264</a:t>
                      </a:r>
                      <a:endParaRPr lang="en-US" sz="2400" dirty="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95.0</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extLst>
                  <a:ext uri="{0D108BD9-81ED-4DB2-BD59-A6C34878D82A}">
                    <a16:rowId xmlns:a16="http://schemas.microsoft.com/office/drawing/2014/main" val="3485464316"/>
                  </a:ext>
                </a:extLst>
              </a:tr>
              <a:tr h="370840">
                <a:tc>
                  <a:txBody>
                    <a:bodyPr/>
                    <a:lstStyle/>
                    <a:p>
                      <a:pPr marL="0" marR="0" algn="ctr">
                        <a:buNone/>
                      </a:pPr>
                      <a:r>
                        <a:rPr lang="en-US" sz="2000">
                          <a:effectLst/>
                          <a:latin typeface="Calibri" panose="020F0502020204030204" pitchFamily="34" charset="0"/>
                          <a:ea typeface="Calibri" panose="020F0502020204030204" pitchFamily="34" charset="0"/>
                        </a:rPr>
                        <a:t>3</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130.0</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0.7513</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dirty="0">
                          <a:effectLst/>
                          <a:latin typeface="Calibri" panose="020F0502020204030204" pitchFamily="34" charset="0"/>
                          <a:ea typeface="Calibri" panose="020F0502020204030204" pitchFamily="34" charset="0"/>
                        </a:rPr>
                        <a:t>97.7</a:t>
                      </a:r>
                      <a:endParaRPr lang="en-US" sz="2400" dirty="0">
                        <a:effectLst/>
                        <a:latin typeface="Calibri" panose="020F0502020204030204" pitchFamily="34" charset="0"/>
                        <a:ea typeface="맑은 고딕" panose="02030600000101010101" pitchFamily="18" charset="-127"/>
                      </a:endParaRPr>
                    </a:p>
                  </a:txBody>
                  <a:tcPr marL="76200" marR="76200" marT="38100" marB="38100" anchor="ctr"/>
                </a:tc>
                <a:extLst>
                  <a:ext uri="{0D108BD9-81ED-4DB2-BD59-A6C34878D82A}">
                    <a16:rowId xmlns:a16="http://schemas.microsoft.com/office/drawing/2014/main" val="1475141862"/>
                  </a:ext>
                </a:extLst>
              </a:tr>
              <a:tr h="370840">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4</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145.0</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0.6830</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dirty="0">
                          <a:solidFill>
                            <a:srgbClr val="000000"/>
                          </a:solidFill>
                          <a:effectLst/>
                          <a:latin typeface="Calibri" panose="020F0502020204030204" pitchFamily="34" charset="0"/>
                          <a:ea typeface="Calibri" panose="020F0502020204030204" pitchFamily="34" charset="0"/>
                        </a:rPr>
                        <a:t>99.0</a:t>
                      </a:r>
                      <a:endParaRPr lang="en-US" sz="2400" dirty="0">
                        <a:effectLst/>
                        <a:latin typeface="Calibri" panose="020F0502020204030204" pitchFamily="34" charset="0"/>
                        <a:ea typeface="맑은 고딕" panose="02030600000101010101" pitchFamily="18" charset="-127"/>
                      </a:endParaRPr>
                    </a:p>
                  </a:txBody>
                  <a:tcPr marL="76200" marR="76200" marT="38100" marB="38100" anchor="ctr"/>
                </a:tc>
                <a:extLst>
                  <a:ext uri="{0D108BD9-81ED-4DB2-BD59-A6C34878D82A}">
                    <a16:rowId xmlns:a16="http://schemas.microsoft.com/office/drawing/2014/main" val="394768626"/>
                  </a:ext>
                </a:extLst>
              </a:tr>
              <a:tr h="370840">
                <a:tc>
                  <a:txBody>
                    <a:bodyPr/>
                    <a:lstStyle/>
                    <a:p>
                      <a:pPr marL="0" marR="0" algn="ctr">
                        <a:buNone/>
                      </a:pPr>
                      <a:r>
                        <a:rPr lang="en-US" sz="2000">
                          <a:effectLst/>
                          <a:latin typeface="Calibri" panose="020F0502020204030204" pitchFamily="34" charset="0"/>
                          <a:ea typeface="Calibri" panose="020F0502020204030204" pitchFamily="34" charset="0"/>
                        </a:rPr>
                        <a:t>5</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160.0</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0.6209</a:t>
                      </a:r>
                      <a:endParaRPr lang="en-US" sz="2400">
                        <a:effectLst/>
                        <a:latin typeface="Calibri" panose="020F0502020204030204" pitchFamily="34" charset="0"/>
                        <a:ea typeface="맑은 고딕" panose="02030600000101010101" pitchFamily="18" charset="-127"/>
                      </a:endParaRPr>
                    </a:p>
                  </a:txBody>
                  <a:tcPr marL="76200" marR="76200" marT="38100" marB="38100" anchor="ctr"/>
                </a:tc>
                <a:tc>
                  <a:txBody>
                    <a:bodyPr/>
                    <a:lstStyle/>
                    <a:p>
                      <a:pPr marL="0" marR="0" algn="ctr">
                        <a:buNone/>
                      </a:pPr>
                      <a:r>
                        <a:rPr lang="en-US" sz="2000" dirty="0">
                          <a:effectLst/>
                          <a:latin typeface="Calibri" panose="020F0502020204030204" pitchFamily="34" charset="0"/>
                          <a:ea typeface="Calibri" panose="020F0502020204030204" pitchFamily="34" charset="0"/>
                        </a:rPr>
                        <a:t>99.3</a:t>
                      </a:r>
                      <a:endParaRPr lang="en-US" sz="2400" dirty="0">
                        <a:effectLst/>
                        <a:latin typeface="Calibri" panose="020F0502020204030204" pitchFamily="34" charset="0"/>
                        <a:ea typeface="맑은 고딕" panose="02030600000101010101" pitchFamily="18" charset="-127"/>
                      </a:endParaRPr>
                    </a:p>
                  </a:txBody>
                  <a:tcPr marL="76200" marR="76200" marT="38100" marB="38100" anchor="ctr"/>
                </a:tc>
                <a:extLst>
                  <a:ext uri="{0D108BD9-81ED-4DB2-BD59-A6C34878D82A}">
                    <a16:rowId xmlns:a16="http://schemas.microsoft.com/office/drawing/2014/main" val="3720984030"/>
                  </a:ext>
                </a:extLst>
              </a:tr>
            </a:tbl>
          </a:graphicData>
        </a:graphic>
      </p:graphicFrame>
    </p:spTree>
    <p:extLst>
      <p:ext uri="{BB962C8B-B14F-4D97-AF65-F5344CB8AC3E}">
        <p14:creationId xmlns:p14="http://schemas.microsoft.com/office/powerpoint/2010/main" val="1746007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820BD-F79E-D044-441B-45EADBD1E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6CD48-6DF9-527A-D0C8-83F2E40CAAF2}"/>
              </a:ext>
            </a:extLst>
          </p:cNvPr>
          <p:cNvSpPr>
            <a:spLocks noGrp="1"/>
          </p:cNvSpPr>
          <p:nvPr>
            <p:ph type="title"/>
          </p:nvPr>
        </p:nvSpPr>
        <p:spPr/>
        <p:txBody>
          <a:bodyPr>
            <a:normAutofit/>
          </a:bodyPr>
          <a:lstStyle/>
          <a:p>
            <a:r>
              <a:rPr lang="ko-KR" altLang="en-US" dirty="0">
                <a:latin typeface="+mn-lt"/>
                <a:ea typeface="맑은 고딕"/>
              </a:rPr>
              <a:t>DCF 모형 – 예제</a:t>
            </a:r>
          </a:p>
        </p:txBody>
      </p:sp>
      <p:pic>
        <p:nvPicPr>
          <p:cNvPr id="8" name="Picture 7" descr="DCF timeline. Free cash flows of $100.0M, $115.0M, $130.0M, $145.0M and $160.0M stand on the axis at years 1 to 5 in green, each box area proportional to the amount, so the bars climb 60 percent. The terminal value TV5 of $2,354.3M sits stacked directly on top of the Year 5 cash flow bar, because both are Year 5 amounts. Present values of $90.9M, $95.0M, $97.7M, $99.0M and $99.3M hang below the axis in purple and are nearly flat, climbing only 9 percent. The present value of TV5, $1,461.8M, is stacked directly beneath the Year 5 present value bar, mirroring the stack above. All of them flow left to a firm value at time zero of $1,943.8M, shown as $482.0M plus $1,461.8M.">
            <a:extLst>
              <a:ext uri="{FF2B5EF4-FFF2-40B4-BE49-F238E27FC236}">
                <a16:creationId xmlns:a16="http://schemas.microsoft.com/office/drawing/2014/main" id="{042F3DC8-628C-0503-CA91-4991B03A33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4510" y="1318198"/>
            <a:ext cx="7621131" cy="5265164"/>
          </a:xfrm>
          <a:prstGeom prst="rect">
            <a:avLst/>
          </a:prstGeom>
        </p:spPr>
      </p:pic>
    </p:spTree>
    <p:extLst>
      <p:ext uri="{BB962C8B-B14F-4D97-AF65-F5344CB8AC3E}">
        <p14:creationId xmlns:p14="http://schemas.microsoft.com/office/powerpoint/2010/main" val="855295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4BA3-8A7A-7D8F-3A54-DB3019D06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155D0-F17E-2D58-97ED-61AFA5B307A4}"/>
              </a:ext>
            </a:extLst>
          </p:cNvPr>
          <p:cNvSpPr>
            <a:spLocks noGrp="1"/>
          </p:cNvSpPr>
          <p:nvPr>
            <p:ph type="title"/>
          </p:nvPr>
        </p:nvSpPr>
        <p:spPr/>
        <p:txBody>
          <a:bodyPr/>
          <a:lstStyle/>
          <a:p>
            <a:r>
              <a:rPr lang="ko-KR" altLang="en-US" dirty="0">
                <a:latin typeface="+mn-lt"/>
                <a:ea typeface="맑은 고딕"/>
              </a:rPr>
              <a:t>4. 자본비용(Cost of Capital) 대 자기자본비용</a:t>
            </a:r>
          </a:p>
        </p:txBody>
      </p:sp>
    </p:spTree>
    <p:extLst>
      <p:ext uri="{BB962C8B-B14F-4D97-AF65-F5344CB8AC3E}">
        <p14:creationId xmlns:p14="http://schemas.microsoft.com/office/powerpoint/2010/main" val="3639973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ea typeface="맑은 고딕"/>
            </a:endParaRPr>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ko-KR" altLang="en-US" sz="2700" b="1" dirty="0">
                <a:solidFill>
                  <a:srgbClr val="1F4899"/>
                </a:solidFill>
                <a:latin typeface="Calibri" pitchFamily="34" charset="0"/>
                <a:ea typeface="맑은 고딕" pitchFamily="34" charset="-122"/>
                <a:cs typeface="Calibri" pitchFamily="34" charset="-120"/>
              </a:rPr>
              <a:t>4.  하나의 숫자, 세 가지 이름</a:t>
            </a:r>
            <a:endParaRPr lang="en-US" sz="2700" dirty="0">
              <a:ea typeface="맑은 고딕"/>
            </a:endParaRPr>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4</a:t>
            </a:r>
            <a:endParaRPr lang="en-US" sz="1100" dirty="0">
              <a:ea typeface="맑은 고딕"/>
            </a:endParaRPr>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18</a:t>
            </a:r>
            <a:endParaRPr lang="en-US" sz="1100" dirty="0">
              <a:ea typeface="맑은 고딕"/>
            </a:endParaRPr>
          </a:p>
        </p:txBody>
      </p:sp>
      <p:sp>
        <p:nvSpPr>
          <p:cNvPr id="6" name="Text 4"/>
          <p:cNvSpPr/>
          <p:nvPr/>
        </p:nvSpPr>
        <p:spPr>
          <a:xfrm>
            <a:off x="502920" y="1188720"/>
            <a:ext cx="10972800" cy="411480"/>
          </a:xfrm>
          <a:prstGeom prst="rect">
            <a:avLst/>
          </a:prstGeom>
          <a:noFill/>
          <a:ln/>
        </p:spPr>
        <p:txBody>
          <a:bodyPr wrap="square" rtlCol="0" anchor="ctr"/>
          <a:lstStyle/>
          <a:p>
            <a:pPr marL="0" indent="0">
              <a:buNone/>
            </a:pPr>
            <a:r>
              <a:rPr lang="ko-KR" altLang="en-US" i="1" dirty="0">
                <a:solidFill>
                  <a:srgbClr val="374151"/>
                </a:solidFill>
                <a:latin typeface="Calibri" pitchFamily="34" charset="0"/>
                <a:ea typeface="맑은 고딕" pitchFamily="34" charset="-122"/>
                <a:cs typeface="Calibri" pitchFamily="34" charset="-120"/>
              </a:rPr>
              <a:t>자기자본에 적용하는 할인율은 세 자리에서 바라본 동일한 숫자다 — 효율적 시장에서는 서로 일치한다.</a:t>
            </a:r>
            <a:endParaRPr lang="en-US" dirty="0">
              <a:ea typeface="맑은 고딕"/>
            </a:endParaRPr>
          </a:p>
        </p:txBody>
      </p:sp>
      <p:sp>
        <p:nvSpPr>
          <p:cNvPr id="7" name="Shape 5"/>
          <p:cNvSpPr/>
          <p:nvPr/>
        </p:nvSpPr>
        <p:spPr>
          <a:xfrm>
            <a:off x="502920" y="1783080"/>
            <a:ext cx="3474720" cy="2148840"/>
          </a:xfrm>
          <a:prstGeom prst="roundRect">
            <a:avLst>
              <a:gd name="adj" fmla="val 0"/>
            </a:avLst>
          </a:prstGeom>
          <a:solidFill>
            <a:srgbClr val="EFF6FF"/>
          </a:solidFill>
          <a:ln w="15875">
            <a:solidFill>
              <a:srgbClr val="3B82F6"/>
            </a:solidFill>
            <a:prstDash val="solid"/>
          </a:ln>
        </p:spPr>
        <p:txBody>
          <a:bodyPr/>
          <a:lstStyle/>
          <a:p>
            <a:endParaRPr lang="en-US" sz="2800">
              <a:ea typeface="맑은 고딕"/>
            </a:endParaRPr>
          </a:p>
        </p:txBody>
      </p:sp>
      <p:sp>
        <p:nvSpPr>
          <p:cNvPr id="8" name="Text 6"/>
          <p:cNvSpPr/>
          <p:nvPr/>
        </p:nvSpPr>
        <p:spPr>
          <a:xfrm>
            <a:off x="630936" y="1874520"/>
            <a:ext cx="3218688" cy="274320"/>
          </a:xfrm>
          <a:prstGeom prst="rect">
            <a:avLst/>
          </a:prstGeom>
          <a:noFill/>
          <a:ln/>
        </p:spPr>
        <p:txBody>
          <a:bodyPr wrap="square" lIns="0" tIns="0" rIns="0" bIns="0" rtlCol="0" anchor="ctr"/>
          <a:lstStyle/>
          <a:p>
            <a:pPr marL="0" indent="0" algn="l">
              <a:buNone/>
            </a:pPr>
            <a:r>
              <a:rPr lang="ko-KR" altLang="en-US" sz="2000" b="1" dirty="0">
                <a:solidFill>
                  <a:srgbClr val="1E40AF"/>
                </a:solidFill>
                <a:latin typeface="Calibri" pitchFamily="34" charset="0"/>
                <a:ea typeface="맑은 고딕" pitchFamily="34" charset="-122"/>
                <a:cs typeface="Calibri" pitchFamily="34" charset="-120"/>
              </a:rPr>
              <a:t>기대수익률(Expected return)</a:t>
            </a:r>
            <a:endParaRPr lang="en-US" sz="2000" dirty="0">
              <a:ea typeface="맑은 고딕"/>
            </a:endParaRPr>
          </a:p>
        </p:txBody>
      </p:sp>
      <p:sp>
        <p:nvSpPr>
          <p:cNvPr id="9" name="Text 7"/>
          <p:cNvSpPr/>
          <p:nvPr/>
        </p:nvSpPr>
        <p:spPr>
          <a:xfrm>
            <a:off x="649224" y="2203704"/>
            <a:ext cx="3182112" cy="1618488"/>
          </a:xfrm>
          <a:prstGeom prst="rect">
            <a:avLst/>
          </a:prstGeom>
          <a:noFill/>
          <a:ln/>
        </p:spPr>
        <p:txBody>
          <a:bodyPr wrap="square" lIns="0" tIns="0" rIns="0" bIns="0" rtlCol="0" anchor="t"/>
          <a:lstStyle/>
          <a:p>
            <a:pPr marL="0" indent="0" algn="l">
              <a:lnSpc>
                <a:spcPct val="102000"/>
              </a:lnSpc>
              <a:buNone/>
            </a:pPr>
            <a:r>
              <a:rPr lang="ko-KR" altLang="en-US" dirty="0">
                <a:solidFill>
                  <a:srgbClr val="374151"/>
                </a:solidFill>
                <a:latin typeface="Calibri" pitchFamily="34" charset="0"/>
                <a:ea typeface="맑은 고딕" pitchFamily="34" charset="-122"/>
                <a:cs typeface="Calibri" pitchFamily="34" charset="-120"/>
              </a:rPr>
              <a:t>투자자의 관점 — 위험을 부담한 대가로 주주가 기대하는 수익률.</a:t>
            </a:r>
            <a:endParaRPr lang="en-US" dirty="0">
              <a:ea typeface="맑은 고딕"/>
            </a:endParaRPr>
          </a:p>
        </p:txBody>
      </p:sp>
      <p:sp>
        <p:nvSpPr>
          <p:cNvPr id="10" name="Shape 8"/>
          <p:cNvSpPr/>
          <p:nvPr/>
        </p:nvSpPr>
        <p:spPr>
          <a:xfrm>
            <a:off x="4206240" y="1783080"/>
            <a:ext cx="3474720" cy="2148840"/>
          </a:xfrm>
          <a:prstGeom prst="roundRect">
            <a:avLst>
              <a:gd name="adj" fmla="val 0"/>
            </a:avLst>
          </a:prstGeom>
          <a:solidFill>
            <a:srgbClr val="E5FCED"/>
          </a:solidFill>
          <a:ln w="15875">
            <a:solidFill>
              <a:srgbClr val="63B84B"/>
            </a:solidFill>
            <a:prstDash val="solid"/>
          </a:ln>
        </p:spPr>
        <p:txBody>
          <a:bodyPr/>
          <a:lstStyle/>
          <a:p>
            <a:endParaRPr lang="en-US" sz="2800">
              <a:ea typeface="맑은 고딕"/>
            </a:endParaRPr>
          </a:p>
        </p:txBody>
      </p:sp>
      <p:sp>
        <p:nvSpPr>
          <p:cNvPr id="11" name="Text 9"/>
          <p:cNvSpPr/>
          <p:nvPr/>
        </p:nvSpPr>
        <p:spPr>
          <a:xfrm>
            <a:off x="4334256" y="1874520"/>
            <a:ext cx="3218688" cy="274320"/>
          </a:xfrm>
          <a:prstGeom prst="rect">
            <a:avLst/>
          </a:prstGeom>
          <a:noFill/>
          <a:ln/>
        </p:spPr>
        <p:txBody>
          <a:bodyPr wrap="square" lIns="0" tIns="0" rIns="0" bIns="0" rtlCol="0" anchor="ctr"/>
          <a:lstStyle/>
          <a:p>
            <a:pPr marL="0" indent="0" algn="l">
              <a:buNone/>
            </a:pPr>
            <a:r>
              <a:rPr lang="ko-KR" altLang="en-US" sz="2000" b="1" dirty="0">
                <a:solidFill>
                  <a:srgbClr val="15803D"/>
                </a:solidFill>
                <a:latin typeface="Calibri" pitchFamily="34" charset="0"/>
                <a:ea typeface="맑은 고딕" pitchFamily="34" charset="-122"/>
                <a:cs typeface="Calibri" pitchFamily="34" charset="-120"/>
              </a:rPr>
              <a:t>자본비용(Cost of capital)</a:t>
            </a:r>
            <a:endParaRPr lang="en-US" sz="2000" dirty="0">
              <a:ea typeface="맑은 고딕"/>
            </a:endParaRPr>
          </a:p>
        </p:txBody>
      </p:sp>
      <p:sp>
        <p:nvSpPr>
          <p:cNvPr id="12" name="Text 10"/>
          <p:cNvSpPr/>
          <p:nvPr/>
        </p:nvSpPr>
        <p:spPr>
          <a:xfrm>
            <a:off x="4352544" y="2203704"/>
            <a:ext cx="3182112" cy="1618488"/>
          </a:xfrm>
          <a:prstGeom prst="rect">
            <a:avLst/>
          </a:prstGeom>
          <a:noFill/>
          <a:ln/>
        </p:spPr>
        <p:txBody>
          <a:bodyPr wrap="square" lIns="0" tIns="0" rIns="0" bIns="0" rtlCol="0" anchor="t"/>
          <a:lstStyle/>
          <a:p>
            <a:pPr marL="0" indent="0" algn="l">
              <a:lnSpc>
                <a:spcPct val="102000"/>
              </a:lnSpc>
              <a:buNone/>
            </a:pPr>
            <a:r>
              <a:rPr lang="ko-KR" altLang="en-US" dirty="0">
                <a:solidFill>
                  <a:srgbClr val="374151"/>
                </a:solidFill>
                <a:latin typeface="Calibri" pitchFamily="34" charset="0"/>
                <a:ea typeface="맑은 고딕" pitchFamily="34" charset="-122"/>
                <a:cs typeface="Calibri" pitchFamily="34" charset="-120"/>
              </a:rPr>
              <a:t>기업의 관점 — 자기자본을 유치하기 위해 제공해야 하는 수익률. 한쪽의 수익은 다른 쪽의 비용이다.</a:t>
            </a:r>
            <a:endParaRPr lang="en-US" dirty="0">
              <a:ea typeface="맑은 고딕"/>
            </a:endParaRPr>
          </a:p>
        </p:txBody>
      </p:sp>
      <p:sp>
        <p:nvSpPr>
          <p:cNvPr id="13" name="Shape 11"/>
          <p:cNvSpPr/>
          <p:nvPr/>
        </p:nvSpPr>
        <p:spPr>
          <a:xfrm>
            <a:off x="7909560" y="1783080"/>
            <a:ext cx="3474720" cy="2148840"/>
          </a:xfrm>
          <a:prstGeom prst="roundRect">
            <a:avLst>
              <a:gd name="adj" fmla="val 0"/>
            </a:avLst>
          </a:prstGeom>
          <a:solidFill>
            <a:srgbClr val="FEF3C7"/>
          </a:solidFill>
          <a:ln w="15875">
            <a:solidFill>
              <a:srgbClr val="F59E0B"/>
            </a:solidFill>
            <a:prstDash val="solid"/>
          </a:ln>
        </p:spPr>
        <p:txBody>
          <a:bodyPr/>
          <a:lstStyle/>
          <a:p>
            <a:endParaRPr lang="en-US" sz="2800">
              <a:ea typeface="맑은 고딕"/>
            </a:endParaRPr>
          </a:p>
        </p:txBody>
      </p:sp>
      <p:sp>
        <p:nvSpPr>
          <p:cNvPr id="14" name="Text 12"/>
          <p:cNvSpPr/>
          <p:nvPr/>
        </p:nvSpPr>
        <p:spPr>
          <a:xfrm>
            <a:off x="8037576" y="1874520"/>
            <a:ext cx="3218688" cy="274320"/>
          </a:xfrm>
          <a:prstGeom prst="rect">
            <a:avLst/>
          </a:prstGeom>
          <a:noFill/>
          <a:ln/>
        </p:spPr>
        <p:txBody>
          <a:bodyPr wrap="square" lIns="0" tIns="0" rIns="0" bIns="0" rtlCol="0" anchor="ctr"/>
          <a:lstStyle/>
          <a:p>
            <a:pPr marL="0" indent="0" algn="l">
              <a:buNone/>
            </a:pPr>
            <a:r>
              <a:rPr lang="ko-KR" altLang="en-US" sz="2000" b="1" dirty="0">
                <a:solidFill>
                  <a:srgbClr val="92400E"/>
                </a:solidFill>
                <a:latin typeface="Calibri" pitchFamily="34" charset="0"/>
                <a:ea typeface="맑은 고딕" pitchFamily="34" charset="-122"/>
                <a:cs typeface="Calibri" pitchFamily="34" charset="-120"/>
              </a:rPr>
              <a:t>할인율(Discount rate)</a:t>
            </a:r>
            <a:endParaRPr lang="en-US" sz="2000" dirty="0">
              <a:ea typeface="맑은 고딕"/>
            </a:endParaRPr>
          </a:p>
        </p:txBody>
      </p:sp>
      <p:sp>
        <p:nvSpPr>
          <p:cNvPr id="15" name="Text 13"/>
          <p:cNvSpPr/>
          <p:nvPr/>
        </p:nvSpPr>
        <p:spPr>
          <a:xfrm>
            <a:off x="8055864" y="2203704"/>
            <a:ext cx="3182112" cy="1618488"/>
          </a:xfrm>
          <a:prstGeom prst="rect">
            <a:avLst/>
          </a:prstGeom>
          <a:noFill/>
          <a:ln/>
        </p:spPr>
        <p:txBody>
          <a:bodyPr wrap="square" lIns="0" tIns="0" rIns="0" bIns="0" rtlCol="0" anchor="t"/>
          <a:lstStyle/>
          <a:p>
            <a:pPr marL="0" indent="0" algn="l">
              <a:lnSpc>
                <a:spcPct val="102000"/>
              </a:lnSpc>
              <a:buNone/>
            </a:pPr>
            <a:r>
              <a:rPr lang="ko-KR" altLang="en-US" dirty="0">
                <a:solidFill>
                  <a:srgbClr val="374151"/>
                </a:solidFill>
                <a:latin typeface="Calibri" pitchFamily="34" charset="0"/>
                <a:ea typeface="맑은 고딕" pitchFamily="34" charset="-122"/>
                <a:cs typeface="Calibri" pitchFamily="34" charset="-120"/>
              </a:rPr>
              <a:t>분석가의 관점 — 미래현금흐름을 오늘의 가치로 환산하는 비율.</a:t>
            </a:r>
            <a:endParaRPr lang="en-US" dirty="0">
              <a:ea typeface="맑은 고딕"/>
            </a:endParaRPr>
          </a:p>
        </p:txBody>
      </p:sp>
      <p:sp>
        <p:nvSpPr>
          <p:cNvPr id="16" name="Shape 14"/>
          <p:cNvSpPr/>
          <p:nvPr/>
        </p:nvSpPr>
        <p:spPr>
          <a:xfrm>
            <a:off x="502920" y="4160520"/>
            <a:ext cx="10972800" cy="1737360"/>
          </a:xfrm>
          <a:prstGeom prst="roundRect">
            <a:avLst>
              <a:gd name="adj" fmla="val 0"/>
            </a:avLst>
          </a:prstGeom>
          <a:solidFill>
            <a:srgbClr val="EEF2FB"/>
          </a:solidFill>
          <a:ln w="15875">
            <a:solidFill>
              <a:srgbClr val="1F4899"/>
            </a:solidFill>
            <a:prstDash val="solid"/>
          </a:ln>
        </p:spPr>
        <p:txBody>
          <a:bodyPr/>
          <a:lstStyle/>
          <a:p>
            <a:endParaRPr lang="en-US" sz="2800">
              <a:ea typeface="맑은 고딕"/>
            </a:endParaRPr>
          </a:p>
        </p:txBody>
      </p:sp>
      <p:sp>
        <p:nvSpPr>
          <p:cNvPr id="17" name="Text 15"/>
          <p:cNvSpPr/>
          <p:nvPr/>
        </p:nvSpPr>
        <p:spPr>
          <a:xfrm>
            <a:off x="630936" y="4251960"/>
            <a:ext cx="10716768" cy="274320"/>
          </a:xfrm>
          <a:prstGeom prst="rect">
            <a:avLst/>
          </a:prstGeom>
          <a:noFill/>
          <a:ln/>
        </p:spPr>
        <p:txBody>
          <a:bodyPr wrap="square" lIns="0" tIns="0" rIns="0" bIns="0" rtlCol="0" anchor="ctr"/>
          <a:lstStyle/>
          <a:p>
            <a:pPr marL="0" indent="0" algn="l">
              <a:buNone/>
            </a:pPr>
            <a:r>
              <a:rPr lang="ko-KR" altLang="en-US" sz="2000" b="1" dirty="0">
                <a:solidFill>
                  <a:srgbClr val="16346B"/>
                </a:solidFill>
                <a:latin typeface="Calibri" pitchFamily="34" charset="0"/>
                <a:ea typeface="맑은 고딕" pitchFamily="34" charset="-122"/>
                <a:cs typeface="Calibri" pitchFamily="34" charset="-120"/>
              </a:rPr>
              <a:t>황금률 — 현금흐름에 맞는 할인율을 사용하라</a:t>
            </a:r>
            <a:endParaRPr lang="en-US" sz="2000" dirty="0">
              <a:ea typeface="맑은 고딕"/>
            </a:endParaRPr>
          </a:p>
        </p:txBody>
      </p:sp>
      <p:sp>
        <p:nvSpPr>
          <p:cNvPr id="18" name="Text 16"/>
          <p:cNvSpPr/>
          <p:nvPr/>
        </p:nvSpPr>
        <p:spPr>
          <a:xfrm>
            <a:off x="649224" y="4581144"/>
            <a:ext cx="10680192" cy="1207008"/>
          </a:xfrm>
          <a:prstGeom prst="rect">
            <a:avLst/>
          </a:prstGeom>
          <a:noFill/>
          <a:ln/>
        </p:spPr>
        <p:txBody>
          <a:bodyPr wrap="square" lIns="0" tIns="0" rIns="0" bIns="0" rtlCol="0" anchor="t"/>
          <a:lstStyle/>
          <a:p>
            <a:pPr marL="152400" indent="-152400" algn="l">
              <a:lnSpc>
                <a:spcPct val="102000"/>
              </a:lnSpc>
              <a:spcAft>
                <a:spcPts val="400"/>
              </a:spcAft>
              <a:buSzPct val="100000"/>
              <a:buChar char="•"/>
            </a:pPr>
            <a:r>
              <a:rPr lang="ko-KR" altLang="en-US" dirty="0">
                <a:solidFill>
                  <a:srgbClr val="374151"/>
                </a:solidFill>
                <a:latin typeface="Calibri" pitchFamily="34" charset="0"/>
                <a:ea typeface="맑은 고딕" pitchFamily="34" charset="-122"/>
                <a:cs typeface="Calibri" pitchFamily="34" charset="-120"/>
              </a:rPr>
              <a:t>주주 귀속 현금흐름(배당, FCFE)  →  자기자본비용(cost of equity)으로 할인.</a:t>
            </a:r>
            <a:endParaRPr lang="en-US" dirty="0">
              <a:ea typeface="맑은 고딕"/>
            </a:endParaRPr>
          </a:p>
          <a:p>
            <a:pPr marL="152400" indent="-152400" algn="l">
              <a:lnSpc>
                <a:spcPct val="102000"/>
              </a:lnSpc>
              <a:spcAft>
                <a:spcPts val="400"/>
              </a:spcAft>
              <a:buSzPct val="100000"/>
              <a:buChar char="•"/>
            </a:pPr>
            <a:r>
              <a:rPr lang="ko-KR" altLang="en-US" dirty="0">
                <a:solidFill>
                  <a:srgbClr val="374151"/>
                </a:solidFill>
                <a:latin typeface="Calibri" pitchFamily="34" charset="0"/>
                <a:ea typeface="맑은 고딕" pitchFamily="34" charset="-122"/>
                <a:cs typeface="Calibri" pitchFamily="34" charset="-120"/>
              </a:rPr>
              <a:t>기업 전체 현금흐름(FCFF)  →  가중평균자본비용(WACC)으로 할인.</a:t>
            </a:r>
            <a:endParaRPr lang="en-US" dirty="0">
              <a:ea typeface="맑은 고딕"/>
            </a:endParaRPr>
          </a:p>
          <a:p>
            <a:pPr marL="0" indent="0" algn="l">
              <a:lnSpc>
                <a:spcPct val="102000"/>
              </a:lnSpc>
              <a:spcBef>
                <a:spcPts val="200"/>
              </a:spcBef>
              <a:buNone/>
            </a:pPr>
            <a:r>
              <a:rPr lang="ko-KR" altLang="en-US" i="1" dirty="0">
                <a:solidFill>
                  <a:srgbClr val="991B1B"/>
                </a:solidFill>
                <a:latin typeface="Calibri" pitchFamily="34" charset="0"/>
                <a:ea typeface="맑은 고딕" pitchFamily="34" charset="-122"/>
                <a:cs typeface="Calibri" pitchFamily="34" charset="-120"/>
              </a:rPr>
              <a:t>주주 귀속 현금흐름을 WACC로 할인하면 가치가 과대평가된다 — 전형적인 오류.</a:t>
            </a:r>
            <a:endParaRPr lang="en-US" dirty="0">
              <a:ea typeface="맑은 고딕"/>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ea typeface="맑은 고딕"/>
            </a:endParaRPr>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ko-KR" altLang="en-US" sz="2700" b="1" dirty="0">
                <a:solidFill>
                  <a:srgbClr val="1F4899"/>
                </a:solidFill>
                <a:latin typeface="Calibri" pitchFamily="34" charset="0"/>
                <a:ea typeface="맑은 고딕" pitchFamily="34" charset="-122"/>
                <a:cs typeface="Calibri" pitchFamily="34" charset="-120"/>
              </a:rPr>
              <a:t>4.  구성요소 — 자본자산가격결정모형(CAPM)</a:t>
            </a:r>
            <a:endParaRPr lang="en-US" sz="2700" dirty="0">
              <a:ea typeface="맑은 고딕"/>
            </a:endParaRPr>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4</a:t>
            </a:r>
            <a:endParaRPr lang="en-US" sz="1100" dirty="0">
              <a:ea typeface="맑은 고딕"/>
            </a:endParaRPr>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19</a:t>
            </a:r>
            <a:endParaRPr lang="en-US" sz="1100" dirty="0">
              <a:ea typeface="맑은 고딕"/>
            </a:endParaRPr>
          </a:p>
        </p:txBody>
      </p:sp>
      <p:sp>
        <p:nvSpPr>
          <p:cNvPr id="6" name="Shape 4"/>
          <p:cNvSpPr/>
          <p:nvPr/>
        </p:nvSpPr>
        <p:spPr>
          <a:xfrm>
            <a:off x="502920" y="1234440"/>
            <a:ext cx="10972800" cy="640080"/>
          </a:xfrm>
          <a:prstGeom prst="roundRect">
            <a:avLst>
              <a:gd name="adj" fmla="val 7143"/>
            </a:avLst>
          </a:prstGeom>
          <a:solidFill>
            <a:srgbClr val="16346B"/>
          </a:solidFill>
          <a:ln/>
        </p:spPr>
        <p:txBody>
          <a:bodyPr/>
          <a:lstStyle/>
          <a:p>
            <a:endParaRPr lang="en-US">
              <a:ea typeface="맑은 고딕"/>
            </a:endParaRPr>
          </a:p>
        </p:txBody>
      </p:sp>
      <p:sp>
        <p:nvSpPr>
          <p:cNvPr id="7" name="Text 5"/>
          <p:cNvSpPr/>
          <p:nvPr/>
        </p:nvSpPr>
        <p:spPr>
          <a:xfrm>
            <a:off x="502920" y="1234440"/>
            <a:ext cx="10972800" cy="640080"/>
          </a:xfrm>
          <a:prstGeom prst="rect">
            <a:avLst/>
          </a:prstGeom>
          <a:noFill/>
          <a:ln/>
        </p:spPr>
        <p:txBody>
          <a:bodyPr wrap="square" rtlCol="0" anchor="ctr"/>
          <a:lstStyle/>
          <a:p>
            <a:pPr marL="0" indent="0" algn="ctr">
              <a:buNone/>
            </a:pPr>
            <a:r>
              <a:rPr lang="ko-KR" altLang="en-US" sz="1700" b="1" dirty="0">
                <a:solidFill>
                  <a:srgbClr val="FFFFFF"/>
                </a:solidFill>
                <a:latin typeface="Cambria" pitchFamily="34" charset="0"/>
                <a:ea typeface="맑은 고딕" pitchFamily="34" charset="-122"/>
                <a:cs typeface="Cambria" pitchFamily="34" charset="-120"/>
              </a:rPr>
              <a:t>자기자본비용 = 무위험이자율 + β × 시장위험프리미엄(ERP)</a:t>
            </a:r>
            <a:endParaRPr lang="en-US" sz="1700" dirty="0">
              <a:ea typeface="맑은 고딕"/>
            </a:endParaRPr>
          </a:p>
        </p:txBody>
      </p:sp>
      <p:sp>
        <p:nvSpPr>
          <p:cNvPr id="8" name="Shape 6"/>
          <p:cNvSpPr/>
          <p:nvPr/>
        </p:nvSpPr>
        <p:spPr>
          <a:xfrm>
            <a:off x="1005840" y="4480560"/>
            <a:ext cx="2194560" cy="914400"/>
          </a:xfrm>
          <a:prstGeom prst="rect">
            <a:avLst/>
          </a:prstGeom>
          <a:solidFill>
            <a:srgbClr val="3B82F6"/>
          </a:solidFill>
          <a:ln/>
        </p:spPr>
        <p:txBody>
          <a:bodyPr/>
          <a:lstStyle/>
          <a:p>
            <a:endParaRPr lang="en-US" sz="2800">
              <a:ea typeface="맑은 고딕"/>
            </a:endParaRPr>
          </a:p>
        </p:txBody>
      </p:sp>
      <p:sp>
        <p:nvSpPr>
          <p:cNvPr id="9" name="Text 7"/>
          <p:cNvSpPr/>
          <p:nvPr/>
        </p:nvSpPr>
        <p:spPr>
          <a:xfrm>
            <a:off x="1005840" y="4480560"/>
            <a:ext cx="2194560" cy="914400"/>
          </a:xfrm>
          <a:prstGeom prst="rect">
            <a:avLst/>
          </a:prstGeom>
          <a:noFill/>
          <a:ln/>
        </p:spPr>
        <p:txBody>
          <a:bodyPr wrap="square" lIns="0" tIns="0" rIns="0" bIns="0" rtlCol="0" anchor="ctr"/>
          <a:lstStyle/>
          <a:p>
            <a:pPr marL="0" indent="0" algn="ctr">
              <a:buNone/>
            </a:pPr>
            <a:r>
              <a:rPr lang="ko-KR" altLang="en-US" b="1" dirty="0">
                <a:solidFill>
                  <a:srgbClr val="FFFFFF"/>
                </a:solidFill>
                <a:latin typeface="Calibri" pitchFamily="34" charset="0"/>
                <a:ea typeface="맑은 고딕" pitchFamily="34" charset="-122"/>
                <a:cs typeface="Calibri" pitchFamily="34" charset="-120"/>
              </a:rPr>
              <a:t>무위험이자율</a:t>
            </a:r>
            <a:endParaRPr lang="en-US" dirty="0">
              <a:ea typeface="맑은 고딕"/>
            </a:endParaRPr>
          </a:p>
          <a:p>
            <a:pPr marL="0" indent="0" algn="ctr">
              <a:buNone/>
            </a:pPr>
            <a:r>
              <a:rPr lang="ko-KR" altLang="en-US" b="1" dirty="0">
                <a:solidFill>
                  <a:srgbClr val="FFFFFF"/>
                </a:solidFill>
                <a:latin typeface="Calibri" pitchFamily="34" charset="0"/>
                <a:ea typeface="맑은 고딕" pitchFamily="34" charset="-122"/>
                <a:cs typeface="Calibri" pitchFamily="34" charset="-120"/>
              </a:rPr>
              <a:t>(시간의 대가)</a:t>
            </a:r>
            <a:endParaRPr lang="en-US" dirty="0">
              <a:ea typeface="맑은 고딕"/>
            </a:endParaRPr>
          </a:p>
        </p:txBody>
      </p:sp>
      <p:sp>
        <p:nvSpPr>
          <p:cNvPr id="10" name="Shape 8"/>
          <p:cNvSpPr/>
          <p:nvPr/>
        </p:nvSpPr>
        <p:spPr>
          <a:xfrm>
            <a:off x="1005840" y="3108960"/>
            <a:ext cx="2194560" cy="1371600"/>
          </a:xfrm>
          <a:prstGeom prst="rect">
            <a:avLst/>
          </a:prstGeom>
          <a:solidFill>
            <a:srgbClr val="63B84B"/>
          </a:solidFill>
          <a:ln/>
        </p:spPr>
        <p:txBody>
          <a:bodyPr/>
          <a:lstStyle/>
          <a:p>
            <a:endParaRPr lang="en-US" sz="2800">
              <a:ea typeface="맑은 고딕"/>
            </a:endParaRPr>
          </a:p>
        </p:txBody>
      </p:sp>
      <p:sp>
        <p:nvSpPr>
          <p:cNvPr id="11" name="Text 9"/>
          <p:cNvSpPr/>
          <p:nvPr/>
        </p:nvSpPr>
        <p:spPr>
          <a:xfrm>
            <a:off x="1005840" y="3108960"/>
            <a:ext cx="2194560" cy="13716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β × ERP</a:t>
            </a:r>
            <a:endParaRPr lang="en-US" dirty="0">
              <a:ea typeface="맑은 고딕"/>
            </a:endParaRPr>
          </a:p>
          <a:p>
            <a:pPr marL="0" indent="0" algn="ctr">
              <a:buNone/>
            </a:pPr>
            <a:r>
              <a:rPr lang="ko-KR" altLang="en-US" b="1" dirty="0">
                <a:solidFill>
                  <a:srgbClr val="FFFFFF"/>
                </a:solidFill>
                <a:latin typeface="Calibri" pitchFamily="34" charset="0"/>
                <a:ea typeface="맑은 고딕" pitchFamily="34" charset="-122"/>
                <a:cs typeface="Calibri" pitchFamily="34" charset="-120"/>
              </a:rPr>
              <a:t>(위험의 대가)</a:t>
            </a:r>
            <a:endParaRPr lang="en-US" dirty="0">
              <a:ea typeface="맑은 고딕"/>
            </a:endParaRPr>
          </a:p>
        </p:txBody>
      </p:sp>
      <p:sp>
        <p:nvSpPr>
          <p:cNvPr id="12" name="Shape 10"/>
          <p:cNvSpPr/>
          <p:nvPr/>
        </p:nvSpPr>
        <p:spPr>
          <a:xfrm>
            <a:off x="3383280" y="3108960"/>
            <a:ext cx="0" cy="2286000"/>
          </a:xfrm>
          <a:prstGeom prst="line">
            <a:avLst/>
          </a:prstGeom>
          <a:noFill/>
          <a:ln w="19050">
            <a:solidFill>
              <a:srgbClr val="1F4899"/>
            </a:solidFill>
            <a:prstDash val="solid"/>
            <a:headEnd type="triangle"/>
            <a:tailEnd type="triangle"/>
          </a:ln>
        </p:spPr>
        <p:txBody>
          <a:bodyPr/>
          <a:lstStyle/>
          <a:p>
            <a:endParaRPr lang="en-US" sz="2800">
              <a:ea typeface="맑은 고딕"/>
            </a:endParaRPr>
          </a:p>
        </p:txBody>
      </p:sp>
      <p:sp>
        <p:nvSpPr>
          <p:cNvPr id="13" name="Text 11"/>
          <p:cNvSpPr/>
          <p:nvPr/>
        </p:nvSpPr>
        <p:spPr>
          <a:xfrm>
            <a:off x="3474720" y="4023360"/>
            <a:ext cx="1097280" cy="548640"/>
          </a:xfrm>
          <a:prstGeom prst="rect">
            <a:avLst/>
          </a:prstGeom>
          <a:noFill/>
          <a:ln/>
        </p:spPr>
        <p:txBody>
          <a:bodyPr wrap="square" lIns="0" tIns="0" rIns="0" bIns="0" rtlCol="0" anchor="ctr"/>
          <a:lstStyle/>
          <a:p>
            <a:pPr marL="0" indent="0">
              <a:buNone/>
            </a:pPr>
            <a:r>
              <a:rPr lang="ko-KR" altLang="en-US" b="1" dirty="0">
                <a:solidFill>
                  <a:srgbClr val="1F4899"/>
                </a:solidFill>
                <a:latin typeface="Calibri" pitchFamily="34" charset="0"/>
                <a:ea typeface="맑은 고딕" pitchFamily="34" charset="-122"/>
                <a:cs typeface="Calibri" pitchFamily="34" charset="-120"/>
              </a:rPr>
              <a:t>자기자본</a:t>
            </a:r>
            <a:endParaRPr lang="en-US" dirty="0">
              <a:ea typeface="맑은 고딕"/>
            </a:endParaRPr>
          </a:p>
          <a:p>
            <a:pPr marL="0" indent="0">
              <a:buNone/>
            </a:pPr>
            <a:r>
              <a:rPr lang="ko-KR" altLang="en-US" b="1" dirty="0">
                <a:solidFill>
                  <a:srgbClr val="1F4899"/>
                </a:solidFill>
                <a:latin typeface="Calibri" pitchFamily="34" charset="0"/>
                <a:ea typeface="맑은 고딕" pitchFamily="34" charset="-122"/>
                <a:cs typeface="Calibri" pitchFamily="34" charset="-120"/>
              </a:rPr>
              <a:t>비용</a:t>
            </a:r>
            <a:endParaRPr lang="en-US" dirty="0">
              <a:ea typeface="맑은 고딕"/>
            </a:endParaRPr>
          </a:p>
        </p:txBody>
      </p:sp>
      <p:sp>
        <p:nvSpPr>
          <p:cNvPr id="14" name="Shape 12"/>
          <p:cNvSpPr/>
          <p:nvPr/>
        </p:nvSpPr>
        <p:spPr>
          <a:xfrm>
            <a:off x="5760720" y="2103120"/>
            <a:ext cx="5715000" cy="3474720"/>
          </a:xfrm>
          <a:prstGeom prst="roundRect">
            <a:avLst>
              <a:gd name="adj" fmla="val 1429"/>
            </a:avLst>
          </a:prstGeom>
          <a:solidFill>
            <a:srgbClr val="EFF6FF"/>
          </a:solidFill>
          <a:ln w="15875">
            <a:solidFill>
              <a:srgbClr val="3B82F6"/>
            </a:solidFill>
            <a:prstDash val="solid"/>
          </a:ln>
        </p:spPr>
        <p:txBody>
          <a:bodyPr/>
          <a:lstStyle/>
          <a:p>
            <a:endParaRPr lang="en-US" sz="2800">
              <a:ea typeface="맑은 고딕"/>
            </a:endParaRPr>
          </a:p>
        </p:txBody>
      </p:sp>
      <p:sp>
        <p:nvSpPr>
          <p:cNvPr id="15" name="Text 13"/>
          <p:cNvSpPr/>
          <p:nvPr/>
        </p:nvSpPr>
        <p:spPr>
          <a:xfrm>
            <a:off x="5888736" y="2194560"/>
            <a:ext cx="5458968" cy="274320"/>
          </a:xfrm>
          <a:prstGeom prst="rect">
            <a:avLst/>
          </a:prstGeom>
          <a:noFill/>
          <a:ln/>
        </p:spPr>
        <p:txBody>
          <a:bodyPr wrap="square" lIns="0" tIns="0" rIns="0" bIns="0" rtlCol="0" anchor="ctr"/>
          <a:lstStyle/>
          <a:p>
            <a:pPr marL="0" indent="0" algn="l">
              <a:buNone/>
            </a:pPr>
            <a:r>
              <a:rPr lang="ko-KR" altLang="en-US" b="1" dirty="0">
                <a:solidFill>
                  <a:srgbClr val="1E40AF"/>
                </a:solidFill>
                <a:latin typeface="Calibri" pitchFamily="34" charset="0"/>
                <a:ea typeface="맑은 고딕" pitchFamily="34" charset="-122"/>
                <a:cs typeface="Calibri" pitchFamily="34" charset="-120"/>
              </a:rPr>
              <a:t>세 가지 구성요소</a:t>
            </a:r>
            <a:endParaRPr lang="en-US" dirty="0">
              <a:ea typeface="맑은 고딕"/>
            </a:endParaRPr>
          </a:p>
        </p:txBody>
      </p:sp>
      <p:sp>
        <p:nvSpPr>
          <p:cNvPr id="16" name="Text 14"/>
          <p:cNvSpPr/>
          <p:nvPr/>
        </p:nvSpPr>
        <p:spPr>
          <a:xfrm>
            <a:off x="5907024" y="2523744"/>
            <a:ext cx="5422392" cy="2670048"/>
          </a:xfrm>
          <a:prstGeom prst="rect">
            <a:avLst/>
          </a:prstGeom>
          <a:noFill/>
          <a:ln/>
        </p:spPr>
        <p:txBody>
          <a:bodyPr wrap="square" lIns="0" tIns="0" rIns="0" bIns="0" rtlCol="0" anchor="t"/>
          <a:lstStyle/>
          <a:p>
            <a:pPr marL="285750" indent="-285750" algn="l">
              <a:lnSpc>
                <a:spcPct val="102000"/>
              </a:lnSpc>
              <a:spcAft>
                <a:spcPts val="600"/>
              </a:spcAft>
              <a:buFont typeface="Wingdings" panose="05000000000000000000" pitchFamily="2" charset="2"/>
              <a:buChar char="§"/>
            </a:pPr>
            <a:r>
              <a:rPr lang="ko-KR" altLang="en-US" dirty="0">
                <a:solidFill>
                  <a:srgbClr val="374151"/>
                </a:solidFill>
                <a:latin typeface="Calibri" pitchFamily="34" charset="0"/>
                <a:ea typeface="맑은 고딕" pitchFamily="34" charset="-122"/>
                <a:cs typeface="Calibri" pitchFamily="34" charset="-120"/>
              </a:rPr>
              <a:t>무위험이자율(risk-free rate) — 국채수익률이며, 현금흐름의 기간에 만기를 맞춘다(3개월물이 아니라 10년물).  </a:t>
            </a:r>
            <a:r>
              <a:rPr lang="ko-KR" altLang="en-US" b="1" dirty="0">
                <a:solidFill>
                  <a:srgbClr val="C00000"/>
                </a:solidFill>
                <a:latin typeface="Calibri" pitchFamily="34" charset="0"/>
                <a:ea typeface="맑은 고딕" pitchFamily="34" charset="-122"/>
                <a:cs typeface="Calibri" pitchFamily="34" charset="-120"/>
              </a:rPr>
              <a:t>4.6% (2026년 8월)</a:t>
            </a:r>
            <a:endParaRPr lang="en-US" b="1" dirty="0">
              <a:solidFill>
                <a:srgbClr val="C00000"/>
              </a:solidFill>
              <a:ea typeface="맑은 고딕"/>
            </a:endParaRPr>
          </a:p>
          <a:p>
            <a:pPr marL="285750" indent="-285750" algn="l">
              <a:lnSpc>
                <a:spcPct val="102000"/>
              </a:lnSpc>
              <a:spcAft>
                <a:spcPts val="600"/>
              </a:spcAft>
              <a:buFont typeface="Wingdings" panose="05000000000000000000" pitchFamily="2" charset="2"/>
              <a:buChar char="§"/>
            </a:pPr>
            <a:r>
              <a:rPr lang="ko-KR" altLang="en-US" dirty="0">
                <a:solidFill>
                  <a:srgbClr val="374151"/>
                </a:solidFill>
                <a:latin typeface="Calibri" pitchFamily="34" charset="0"/>
                <a:ea typeface="맑은 고딕" pitchFamily="34" charset="-122"/>
                <a:cs typeface="Calibri" pitchFamily="34" charset="-120"/>
              </a:rPr>
              <a:t>β(베타) — 주식이 시장위험을 얼마나 증폭시키는가; </a:t>
            </a:r>
            <a:r>
              <a:rPr lang="en-US" b="1" dirty="0">
                <a:solidFill>
                  <a:srgbClr val="C00000"/>
                </a:solidFill>
                <a:latin typeface="Calibri" pitchFamily="34" charset="0"/>
                <a:ea typeface="Calibri" pitchFamily="34" charset="-122"/>
                <a:cs typeface="Calibri" pitchFamily="34" charset="-120"/>
              </a:rPr>
              <a:t>β = 1 </a:t>
            </a:r>
            <a:r>
              <a:rPr lang="ko-KR" altLang="en-US" dirty="0">
                <a:solidFill>
                  <a:srgbClr val="374151"/>
                </a:solidFill>
                <a:latin typeface="Calibri" pitchFamily="34" charset="0"/>
                <a:ea typeface="맑은 고딕" pitchFamily="34" charset="-122"/>
                <a:cs typeface="Calibri" pitchFamily="34" charset="-120"/>
              </a:rPr>
              <a:t>이면 시장 평균이다.</a:t>
            </a:r>
            <a:endParaRPr lang="en-US" dirty="0">
              <a:ea typeface="맑은 고딕"/>
            </a:endParaRPr>
          </a:p>
          <a:p>
            <a:pPr marL="285750" indent="-285750" algn="l">
              <a:lnSpc>
                <a:spcPct val="102000"/>
              </a:lnSpc>
              <a:spcAft>
                <a:spcPts val="600"/>
              </a:spcAft>
              <a:buFont typeface="Wingdings" panose="05000000000000000000" pitchFamily="2" charset="2"/>
              <a:buChar char="§"/>
            </a:pPr>
            <a:r>
              <a:rPr lang="ko-KR" altLang="en-US" dirty="0">
                <a:solidFill>
                  <a:srgbClr val="374151"/>
                </a:solidFill>
                <a:latin typeface="Calibri" pitchFamily="34" charset="0"/>
                <a:ea typeface="맑은 고딕" pitchFamily="34" charset="-122"/>
                <a:cs typeface="Calibri" pitchFamily="34" charset="-120"/>
              </a:rPr>
              <a:t>ERP — 채권 대신 주식을 보유하는 대가로 요구되는 추가수익률. (</a:t>
            </a:r>
            <a:r>
              <a:rPr lang="ko-KR" altLang="en-US" b="1" dirty="0">
                <a:solidFill>
                  <a:srgbClr val="C00000"/>
                </a:solidFill>
                <a:latin typeface="Calibri" pitchFamily="34" charset="0"/>
                <a:ea typeface="맑은 고딕" pitchFamily="34" charset="-122"/>
                <a:cs typeface="Calibri" pitchFamily="34" charset="-120"/>
              </a:rPr>
              <a:t>약 5%</a:t>
            </a:r>
            <a:r>
              <a:rPr lang="en-US" dirty="0">
                <a:solidFill>
                  <a:srgbClr val="374151"/>
                </a:solidFill>
                <a:latin typeface="Calibri" pitchFamily="34" charset="0"/>
                <a:ea typeface="Calibri" pitchFamily="34" charset="-122"/>
                <a:cs typeface="Calibri" pitchFamily="34" charset="-120"/>
              </a:rPr>
              <a:t>)</a:t>
            </a:r>
            <a:endParaRPr lang="en-US" dirty="0">
              <a:ea typeface="맑은 고딕"/>
            </a:endParaRPr>
          </a:p>
          <a:p>
            <a:pPr marL="0" indent="0" algn="l">
              <a:lnSpc>
                <a:spcPct val="102000"/>
              </a:lnSpc>
              <a:buNone/>
            </a:pPr>
            <a:r>
              <a:rPr lang="ko-KR" altLang="en-US" b="1" dirty="0">
                <a:solidFill>
                  <a:srgbClr val="1F4899"/>
                </a:solidFill>
                <a:latin typeface="Calibri" pitchFamily="34" charset="0"/>
                <a:ea typeface="맑은 고딕" pitchFamily="34" charset="-122"/>
                <a:cs typeface="Calibri" pitchFamily="34" charset="-120"/>
              </a:rPr>
              <a:t>요약하면:  </a:t>
            </a:r>
            <a:r>
              <a:rPr lang="ko-KR" altLang="en-US" i="1" dirty="0">
                <a:solidFill>
                  <a:srgbClr val="374151"/>
                </a:solidFill>
                <a:latin typeface="Calibri" pitchFamily="34" charset="0"/>
                <a:ea typeface="맑은 고딕" pitchFamily="34" charset="-122"/>
                <a:cs typeface="Calibri" pitchFamily="34" charset="-120"/>
              </a:rPr>
              <a:t>기다림의 대가 + 걱정의 대가.</a:t>
            </a:r>
          </a:p>
          <a:p>
            <a:pPr marL="0" indent="0" algn="l">
              <a:lnSpc>
                <a:spcPct val="102000"/>
              </a:lnSpc>
              <a:buNone/>
            </a:pPr>
            <a:endParaRPr lang="en-US" i="1" dirty="0">
              <a:solidFill>
                <a:srgbClr val="374151"/>
              </a:solidFill>
              <a:latin typeface="Calibri" pitchFamily="34" charset="0"/>
              <a:ea typeface="맑은 고딕" pitchFamily="34" charset="-122"/>
              <a:cs typeface="Calibri" pitchFamily="34" charset="-120"/>
            </a:endParaRPr>
          </a:p>
          <a:p>
            <a:pPr marL="0" indent="0" algn="l">
              <a:lnSpc>
                <a:spcPct val="102000"/>
              </a:lnSpc>
              <a:buNone/>
            </a:pPr>
            <a:r>
              <a:rPr lang="en-US" i="1" dirty="0">
                <a:solidFill>
                  <a:srgbClr val="374151"/>
                </a:solidFill>
                <a:latin typeface="Calibri" pitchFamily="34" charset="0"/>
                <a:ea typeface="Calibri" pitchFamily="34" charset="-122"/>
                <a:cs typeface="Calibri" pitchFamily="34" charset="-120"/>
              </a:rPr>
              <a:t> </a:t>
            </a:r>
            <a:r>
              <a:rPr lang="ko-KR" altLang="en-US" b="1" i="1" dirty="0">
                <a:solidFill>
                  <a:srgbClr val="C00000"/>
                </a:solidFill>
                <a:latin typeface="Calibri" pitchFamily="34" charset="0"/>
                <a:ea typeface="맑은 고딕" pitchFamily="34" charset="-122"/>
                <a:cs typeface="Calibri" pitchFamily="34" charset="-120"/>
              </a:rPr>
              <a:t>자기자본비용 =  4.6% + 1×5% = 9.6%</a:t>
            </a:r>
          </a:p>
          <a:p>
            <a:pPr marL="0" indent="0" algn="l">
              <a:lnSpc>
                <a:spcPct val="102000"/>
              </a:lnSpc>
              <a:buNone/>
            </a:pPr>
            <a:endParaRPr lang="en-US" i="1" dirty="0">
              <a:solidFill>
                <a:srgbClr val="374151"/>
              </a:solidFill>
              <a:latin typeface="Calibri" pitchFamily="34" charset="0"/>
              <a:ea typeface="맑은 고딕" pitchFamily="34" charset="-122"/>
              <a:cs typeface="Calibri" pitchFamily="34" charset="-120"/>
            </a:endParaRPr>
          </a:p>
          <a:p>
            <a:pPr marL="0" indent="0" algn="l">
              <a:lnSpc>
                <a:spcPct val="102000"/>
              </a:lnSpc>
              <a:buNone/>
            </a:pPr>
            <a:endParaRPr lang="en-US" dirty="0">
              <a:ea typeface="맑은 고딕"/>
            </a:endParaRPr>
          </a:p>
        </p:txBody>
      </p:sp>
      <p:sp>
        <p:nvSpPr>
          <p:cNvPr id="17" name="Text 15"/>
          <p:cNvSpPr/>
          <p:nvPr/>
        </p:nvSpPr>
        <p:spPr>
          <a:xfrm>
            <a:off x="502920" y="5840730"/>
            <a:ext cx="10972800" cy="365760"/>
          </a:xfrm>
          <a:prstGeom prst="rect">
            <a:avLst/>
          </a:prstGeom>
          <a:noFill/>
          <a:ln/>
        </p:spPr>
        <p:txBody>
          <a:bodyPr wrap="square" rtlCol="0" anchor="ctr"/>
          <a:lstStyle/>
          <a:p>
            <a:pPr marL="0" indent="0">
              <a:buNone/>
            </a:pPr>
            <a:r>
              <a:rPr lang="ko-KR" altLang="en-US" i="1" dirty="0">
                <a:solidFill>
                  <a:srgbClr val="6B7280"/>
                </a:solidFill>
                <a:latin typeface="Calibri" pitchFamily="34" charset="0"/>
                <a:ea typeface="맑은 고딕" pitchFamily="34" charset="-122"/>
                <a:cs typeface="Calibri" pitchFamily="34" charset="-120"/>
              </a:rPr>
              <a:t>기대주식수익률 = 시간에 대한 보상 + 위험에 대한 보상.</a:t>
            </a:r>
            <a:endParaRPr lang="en-US" dirty="0">
              <a:ea typeface="맑은 고딕"/>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ea typeface="맑은 고딕"/>
            </a:endParaRPr>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ko-KR" altLang="en-US" sz="2700" b="1" dirty="0">
                <a:solidFill>
                  <a:srgbClr val="1F4899"/>
                </a:solidFill>
                <a:latin typeface="Calibri" pitchFamily="34" charset="0"/>
                <a:ea typeface="맑은 고딕" pitchFamily="34" charset="-122"/>
                <a:cs typeface="Calibri" pitchFamily="34" charset="-120"/>
              </a:rPr>
              <a:t>4.  시장위험프리미엄(Equity Risk Premium)과 자본비용</a:t>
            </a:r>
            <a:endParaRPr lang="en-US" sz="2700" dirty="0">
              <a:ea typeface="맑은 고딕"/>
            </a:endParaRPr>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4</a:t>
            </a:r>
            <a:endParaRPr lang="en-US" sz="1100" dirty="0">
              <a:ea typeface="맑은 고딕"/>
            </a:endParaRPr>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a:t>
            </a:r>
            <a:endParaRPr lang="en-US" sz="1100" dirty="0">
              <a:ea typeface="맑은 고딕"/>
            </a:endParaRPr>
          </a:p>
        </p:txBody>
      </p:sp>
      <p:sp>
        <p:nvSpPr>
          <p:cNvPr id="6" name="Shape 4"/>
          <p:cNvSpPr/>
          <p:nvPr/>
        </p:nvSpPr>
        <p:spPr>
          <a:xfrm>
            <a:off x="502920" y="1234440"/>
            <a:ext cx="5349240" cy="1920240"/>
          </a:xfrm>
          <a:prstGeom prst="roundRect">
            <a:avLst>
              <a:gd name="adj" fmla="val 2381"/>
            </a:avLst>
          </a:prstGeom>
          <a:solidFill>
            <a:srgbClr val="FEF3C7"/>
          </a:solidFill>
          <a:ln w="15875">
            <a:solidFill>
              <a:srgbClr val="F59E0B"/>
            </a:solidFill>
            <a:prstDash val="solid"/>
          </a:ln>
        </p:spPr>
        <p:txBody>
          <a:bodyPr/>
          <a:lstStyle/>
          <a:p>
            <a:endParaRPr lang="en-US" sz="2800">
              <a:ea typeface="맑은 고딕"/>
            </a:endParaRPr>
          </a:p>
        </p:txBody>
      </p:sp>
      <p:sp>
        <p:nvSpPr>
          <p:cNvPr id="7" name="Text 5"/>
          <p:cNvSpPr/>
          <p:nvPr/>
        </p:nvSpPr>
        <p:spPr>
          <a:xfrm>
            <a:off x="630936" y="1325880"/>
            <a:ext cx="5093208" cy="274320"/>
          </a:xfrm>
          <a:prstGeom prst="rect">
            <a:avLst/>
          </a:prstGeom>
          <a:noFill/>
          <a:ln/>
        </p:spPr>
        <p:txBody>
          <a:bodyPr wrap="square" lIns="0" tIns="0" rIns="0" bIns="0" rtlCol="0" anchor="ctr"/>
          <a:lstStyle/>
          <a:p>
            <a:pPr marL="0" indent="0" algn="l">
              <a:buNone/>
            </a:pPr>
            <a:r>
              <a:rPr lang="ko-KR" altLang="en-US" b="1" dirty="0">
                <a:solidFill>
                  <a:srgbClr val="92400E"/>
                </a:solidFill>
                <a:latin typeface="Calibri" pitchFamily="34" charset="0"/>
                <a:ea typeface="맑은 고딕" pitchFamily="34" charset="-122"/>
                <a:cs typeface="Calibri" pitchFamily="34" charset="-120"/>
              </a:rPr>
              <a:t>시장위험프리미엄(Equity Risk Premium, ERP)</a:t>
            </a:r>
            <a:endParaRPr lang="en-US" dirty="0">
              <a:ea typeface="맑은 고딕"/>
            </a:endParaRPr>
          </a:p>
        </p:txBody>
      </p:sp>
      <p:sp>
        <p:nvSpPr>
          <p:cNvPr id="8" name="Text 6"/>
          <p:cNvSpPr/>
          <p:nvPr/>
        </p:nvSpPr>
        <p:spPr>
          <a:xfrm>
            <a:off x="649224" y="1655064"/>
            <a:ext cx="5056632" cy="1389888"/>
          </a:xfrm>
          <a:prstGeom prst="rect">
            <a:avLst/>
          </a:prstGeom>
          <a:noFill/>
          <a:ln/>
        </p:spPr>
        <p:txBody>
          <a:bodyPr wrap="square" lIns="0" tIns="0" rIns="0" bIns="0" rtlCol="0" anchor="t"/>
          <a:lstStyle/>
          <a:p>
            <a:pPr marL="0" indent="0" algn="l">
              <a:lnSpc>
                <a:spcPct val="102000"/>
              </a:lnSpc>
              <a:buNone/>
            </a:pPr>
            <a:r>
              <a:rPr lang="ko-KR" altLang="en-US" dirty="0">
                <a:solidFill>
                  <a:srgbClr val="374151"/>
                </a:solidFill>
                <a:latin typeface="Calibri" pitchFamily="34" charset="0"/>
                <a:ea typeface="맑은 고딕" pitchFamily="34" charset="-122"/>
                <a:cs typeface="Calibri" pitchFamily="34" charset="-120"/>
              </a:rPr>
              <a:t>시장이 지급하는 “위험수당” — 안전한 채권 대신 위험한 주식을 보유하는 데 대한 추가 기대수익률.</a:t>
            </a:r>
            <a:endParaRPr lang="en-US" dirty="0">
              <a:ea typeface="맑은 고딕"/>
            </a:endParaRPr>
          </a:p>
          <a:p>
            <a:pPr marL="0" indent="0" algn="l">
              <a:lnSpc>
                <a:spcPct val="102000"/>
              </a:lnSpc>
              <a:buNone/>
            </a:pPr>
            <a:r>
              <a:rPr lang="ko-KR" altLang="en-US" dirty="0">
                <a:solidFill>
                  <a:srgbClr val="6B7280"/>
                </a:solidFill>
                <a:latin typeface="Calibri" pitchFamily="34" charset="0"/>
                <a:ea typeface="맑은 고딕" pitchFamily="34" charset="-122"/>
                <a:cs typeface="Calibri" pitchFamily="34" charset="-120"/>
              </a:rPr>
              <a:t>역사적 추정치 ≈ 5–6%;  내재(현재) 추정치 ≈ 4–5%.  </a:t>
            </a:r>
            <a:r>
              <a:rPr lang="ko-KR" altLang="en-US" b="1" dirty="0">
                <a:solidFill>
                  <a:srgbClr val="92400E"/>
                </a:solidFill>
                <a:latin typeface="Calibri" pitchFamily="34" charset="0"/>
                <a:ea typeface="맑은 고딕" pitchFamily="34" charset="-122"/>
                <a:cs typeface="Calibri" pitchFamily="34" charset="-120"/>
              </a:rPr>
              <a:t>실무에서는 통상 5% 내외를 사용한다.</a:t>
            </a:r>
            <a:endParaRPr lang="en-US" dirty="0">
              <a:ea typeface="맑은 고딕"/>
            </a:endParaRPr>
          </a:p>
        </p:txBody>
      </p:sp>
      <p:sp>
        <p:nvSpPr>
          <p:cNvPr id="9" name="Shape 7"/>
          <p:cNvSpPr/>
          <p:nvPr/>
        </p:nvSpPr>
        <p:spPr>
          <a:xfrm>
            <a:off x="6126480" y="1234440"/>
            <a:ext cx="5349240" cy="1920240"/>
          </a:xfrm>
          <a:prstGeom prst="roundRect">
            <a:avLst>
              <a:gd name="adj" fmla="val 2381"/>
            </a:avLst>
          </a:prstGeom>
          <a:solidFill>
            <a:srgbClr val="E5FCED"/>
          </a:solidFill>
          <a:ln w="15875">
            <a:solidFill>
              <a:srgbClr val="63B84B"/>
            </a:solidFill>
            <a:prstDash val="solid"/>
          </a:ln>
        </p:spPr>
        <p:txBody>
          <a:bodyPr/>
          <a:lstStyle/>
          <a:p>
            <a:endParaRPr lang="en-US" sz="2800">
              <a:ea typeface="맑은 고딕"/>
            </a:endParaRPr>
          </a:p>
        </p:txBody>
      </p:sp>
      <p:sp>
        <p:nvSpPr>
          <p:cNvPr id="10" name="Text 8"/>
          <p:cNvSpPr/>
          <p:nvPr/>
        </p:nvSpPr>
        <p:spPr>
          <a:xfrm>
            <a:off x="6254496" y="1325880"/>
            <a:ext cx="5093208" cy="274320"/>
          </a:xfrm>
          <a:prstGeom prst="rect">
            <a:avLst/>
          </a:prstGeom>
          <a:noFill/>
          <a:ln/>
        </p:spPr>
        <p:txBody>
          <a:bodyPr wrap="square" lIns="0" tIns="0" rIns="0" bIns="0" rtlCol="0" anchor="ctr"/>
          <a:lstStyle/>
          <a:p>
            <a:pPr marL="0" indent="0" algn="l">
              <a:buNone/>
            </a:pPr>
            <a:r>
              <a:rPr lang="ko-KR" altLang="en-US" b="1" dirty="0">
                <a:solidFill>
                  <a:srgbClr val="15803D"/>
                </a:solidFill>
                <a:latin typeface="Calibri" pitchFamily="34" charset="0"/>
                <a:ea typeface="맑은 고딕" pitchFamily="34" charset="-122"/>
                <a:cs typeface="Calibri" pitchFamily="34" charset="-120"/>
              </a:rPr>
              <a:t>자기자본비용에서 자본비용으로</a:t>
            </a:r>
            <a:endParaRPr lang="en-US" dirty="0">
              <a:ea typeface="맑은 고딕"/>
            </a:endParaRPr>
          </a:p>
        </p:txBody>
      </p:sp>
      <p:sp>
        <p:nvSpPr>
          <p:cNvPr id="11" name="Text 9"/>
          <p:cNvSpPr/>
          <p:nvPr/>
        </p:nvSpPr>
        <p:spPr>
          <a:xfrm>
            <a:off x="6272784" y="1655064"/>
            <a:ext cx="5056632" cy="1389888"/>
          </a:xfrm>
          <a:prstGeom prst="rect">
            <a:avLst/>
          </a:prstGeom>
          <a:noFill/>
          <a:ln/>
        </p:spPr>
        <p:txBody>
          <a:bodyPr wrap="square" lIns="0" tIns="0" rIns="0" bIns="0" rtlCol="0" anchor="t"/>
          <a:lstStyle/>
          <a:p>
            <a:pPr marL="0" indent="0" algn="l">
              <a:lnSpc>
                <a:spcPct val="102000"/>
              </a:lnSpc>
              <a:buNone/>
            </a:pPr>
            <a:r>
              <a:rPr lang="ko-KR" altLang="en-US" dirty="0">
                <a:solidFill>
                  <a:srgbClr val="374151"/>
                </a:solidFill>
                <a:latin typeface="Calibri" pitchFamily="34" charset="0"/>
                <a:ea typeface="맑은 고딕" pitchFamily="34" charset="-122"/>
                <a:cs typeface="Calibri" pitchFamily="34" charset="-120"/>
              </a:rPr>
              <a:t>기업은 주주와 채권자 모두에게서 자금을 조달한다. 기업 전체의 자본비용은 이를 가중평균한 WACC이다:</a:t>
            </a:r>
            <a:endParaRPr lang="en-US" dirty="0">
              <a:ea typeface="맑은 고딕"/>
            </a:endParaRPr>
          </a:p>
          <a:p>
            <a:pPr marL="0" indent="0" algn="l">
              <a:lnSpc>
                <a:spcPct val="102000"/>
              </a:lnSpc>
              <a:spcBef>
                <a:spcPts val="400"/>
              </a:spcBef>
              <a:buNone/>
            </a:pPr>
            <a:r>
              <a:rPr lang="ko-KR" altLang="en-US" sz="1600" b="1" dirty="0">
                <a:solidFill>
                  <a:srgbClr val="15803D"/>
                </a:solidFill>
                <a:latin typeface="Cambria" pitchFamily="34" charset="0"/>
                <a:ea typeface="맑은 고딕" pitchFamily="34" charset="-122"/>
                <a:cs typeface="Cambria" pitchFamily="34" charset="-120"/>
              </a:rPr>
              <a:t>WACC = wₑ × 자기자본비용 + w_d × 세후 타인자본비용</a:t>
            </a:r>
            <a:endParaRPr lang="en-US" dirty="0">
              <a:ea typeface="맑은 고딕"/>
            </a:endParaRPr>
          </a:p>
        </p:txBody>
      </p:sp>
      <p:sp>
        <p:nvSpPr>
          <p:cNvPr id="12" name="Shape 10"/>
          <p:cNvSpPr/>
          <p:nvPr/>
        </p:nvSpPr>
        <p:spPr>
          <a:xfrm>
            <a:off x="502920" y="3337560"/>
            <a:ext cx="10972800" cy="1874520"/>
          </a:xfrm>
          <a:prstGeom prst="roundRect">
            <a:avLst>
              <a:gd name="adj" fmla="val 2439"/>
            </a:avLst>
          </a:prstGeom>
          <a:solidFill>
            <a:srgbClr val="F8FAFC"/>
          </a:solidFill>
          <a:ln w="12700">
            <a:solidFill>
              <a:srgbClr val="D1D5DB"/>
            </a:solidFill>
            <a:prstDash val="solid"/>
          </a:ln>
        </p:spPr>
        <p:txBody>
          <a:bodyPr/>
          <a:lstStyle/>
          <a:p>
            <a:endParaRPr lang="en-US" sz="2800">
              <a:ea typeface="맑은 고딕"/>
            </a:endParaRPr>
          </a:p>
        </p:txBody>
      </p:sp>
      <p:sp>
        <p:nvSpPr>
          <p:cNvPr id="13" name="Text 11"/>
          <p:cNvSpPr/>
          <p:nvPr/>
        </p:nvSpPr>
        <p:spPr>
          <a:xfrm>
            <a:off x="731520" y="3474720"/>
            <a:ext cx="10515600" cy="320040"/>
          </a:xfrm>
          <a:prstGeom prst="rect">
            <a:avLst/>
          </a:prstGeom>
          <a:noFill/>
          <a:ln/>
        </p:spPr>
        <p:txBody>
          <a:bodyPr wrap="square" rtlCol="0" anchor="ctr"/>
          <a:lstStyle/>
          <a:p>
            <a:pPr marL="0" indent="0">
              <a:buNone/>
            </a:pPr>
            <a:r>
              <a:rPr lang="ko-KR" altLang="en-US" b="1" dirty="0">
                <a:solidFill>
                  <a:srgbClr val="1F4899"/>
                </a:solidFill>
                <a:latin typeface="Calibri" pitchFamily="34" charset="0"/>
                <a:ea typeface="맑은 고딕" pitchFamily="34" charset="-122"/>
                <a:cs typeface="Calibri" pitchFamily="34" charset="-120"/>
              </a:rPr>
              <a:t>예시  ·  자기자본비용 10%,  타인자본비용 5%(세후 4%),  자기자본 60% / 타인자본 40%</a:t>
            </a:r>
            <a:endParaRPr lang="en-US" dirty="0">
              <a:ea typeface="맑은 고딕"/>
            </a:endParaRPr>
          </a:p>
        </p:txBody>
      </p:sp>
      <p:sp>
        <p:nvSpPr>
          <p:cNvPr id="14" name="Shape 12"/>
          <p:cNvSpPr/>
          <p:nvPr/>
        </p:nvSpPr>
        <p:spPr>
          <a:xfrm>
            <a:off x="822960" y="3977640"/>
            <a:ext cx="5486400" cy="777240"/>
          </a:xfrm>
          <a:prstGeom prst="rect">
            <a:avLst/>
          </a:prstGeom>
          <a:solidFill>
            <a:srgbClr val="63B84B"/>
          </a:solidFill>
          <a:ln/>
        </p:spPr>
        <p:txBody>
          <a:bodyPr/>
          <a:lstStyle/>
          <a:p>
            <a:endParaRPr lang="en-US" sz="2800">
              <a:ea typeface="맑은 고딕"/>
            </a:endParaRPr>
          </a:p>
        </p:txBody>
      </p:sp>
      <p:sp>
        <p:nvSpPr>
          <p:cNvPr id="15" name="Text 13"/>
          <p:cNvSpPr/>
          <p:nvPr/>
        </p:nvSpPr>
        <p:spPr>
          <a:xfrm>
            <a:off x="822960" y="3977640"/>
            <a:ext cx="5486400" cy="777240"/>
          </a:xfrm>
          <a:prstGeom prst="rect">
            <a:avLst/>
          </a:prstGeom>
          <a:noFill/>
          <a:ln/>
        </p:spPr>
        <p:txBody>
          <a:bodyPr wrap="square" lIns="0" tIns="0" rIns="0" bIns="0" rtlCol="0" anchor="ctr"/>
          <a:lstStyle/>
          <a:p>
            <a:pPr marL="0" indent="0" algn="ctr">
              <a:buNone/>
            </a:pPr>
            <a:r>
              <a:rPr lang="ko-KR" altLang="en-US" b="1" dirty="0">
                <a:solidFill>
                  <a:srgbClr val="FFFFFF"/>
                </a:solidFill>
                <a:latin typeface="Calibri" pitchFamily="34" charset="0"/>
                <a:ea typeface="맑은 고딕" pitchFamily="34" charset="-122"/>
                <a:cs typeface="Calibri" pitchFamily="34" charset="-120"/>
              </a:rPr>
              <a:t>자기자본  60% × 10% = 6.0%</a:t>
            </a:r>
            <a:endParaRPr lang="en-US" dirty="0">
              <a:ea typeface="맑은 고딕"/>
            </a:endParaRPr>
          </a:p>
        </p:txBody>
      </p:sp>
      <p:sp>
        <p:nvSpPr>
          <p:cNvPr id="16" name="Shape 14"/>
          <p:cNvSpPr/>
          <p:nvPr/>
        </p:nvSpPr>
        <p:spPr>
          <a:xfrm>
            <a:off x="6309360" y="3977640"/>
            <a:ext cx="2377440" cy="777240"/>
          </a:xfrm>
          <a:prstGeom prst="rect">
            <a:avLst/>
          </a:prstGeom>
          <a:solidFill>
            <a:srgbClr val="3B82F6"/>
          </a:solidFill>
          <a:ln/>
        </p:spPr>
        <p:txBody>
          <a:bodyPr/>
          <a:lstStyle/>
          <a:p>
            <a:endParaRPr lang="en-US" sz="2800">
              <a:ea typeface="맑은 고딕"/>
            </a:endParaRPr>
          </a:p>
        </p:txBody>
      </p:sp>
      <p:sp>
        <p:nvSpPr>
          <p:cNvPr id="17" name="Text 15"/>
          <p:cNvSpPr/>
          <p:nvPr/>
        </p:nvSpPr>
        <p:spPr>
          <a:xfrm>
            <a:off x="6309360" y="3977640"/>
            <a:ext cx="2377440" cy="777240"/>
          </a:xfrm>
          <a:prstGeom prst="rect">
            <a:avLst/>
          </a:prstGeom>
          <a:noFill/>
          <a:ln/>
        </p:spPr>
        <p:txBody>
          <a:bodyPr wrap="square" lIns="0" tIns="0" rIns="0" bIns="0" rtlCol="0" anchor="ctr"/>
          <a:lstStyle/>
          <a:p>
            <a:pPr marL="0" indent="0" algn="ctr">
              <a:buNone/>
            </a:pPr>
            <a:r>
              <a:rPr lang="ko-KR" altLang="en-US" b="1" dirty="0">
                <a:solidFill>
                  <a:srgbClr val="FFFFFF"/>
                </a:solidFill>
                <a:latin typeface="Calibri" pitchFamily="34" charset="0"/>
                <a:ea typeface="맑은 고딕" pitchFamily="34" charset="-122"/>
                <a:cs typeface="Calibri" pitchFamily="34" charset="-120"/>
              </a:rPr>
              <a:t>타인자본 40%×4% = 1.6%</a:t>
            </a:r>
            <a:endParaRPr lang="en-US" dirty="0">
              <a:ea typeface="맑은 고딕"/>
            </a:endParaRPr>
          </a:p>
        </p:txBody>
      </p:sp>
      <p:sp>
        <p:nvSpPr>
          <p:cNvPr id="18" name="Shape 16"/>
          <p:cNvSpPr/>
          <p:nvPr/>
        </p:nvSpPr>
        <p:spPr>
          <a:xfrm>
            <a:off x="8869680" y="4361688"/>
            <a:ext cx="640080" cy="0"/>
          </a:xfrm>
          <a:prstGeom prst="line">
            <a:avLst/>
          </a:prstGeom>
          <a:noFill/>
          <a:ln w="25400">
            <a:solidFill>
              <a:srgbClr val="1F4899"/>
            </a:solidFill>
            <a:prstDash val="solid"/>
            <a:tailEnd type="triangle"/>
          </a:ln>
        </p:spPr>
        <p:txBody>
          <a:bodyPr/>
          <a:lstStyle/>
          <a:p>
            <a:endParaRPr lang="en-US" sz="2800">
              <a:ea typeface="맑은 고딕"/>
            </a:endParaRPr>
          </a:p>
        </p:txBody>
      </p:sp>
      <p:sp>
        <p:nvSpPr>
          <p:cNvPr id="19" name="Text 17"/>
          <p:cNvSpPr/>
          <p:nvPr/>
        </p:nvSpPr>
        <p:spPr>
          <a:xfrm>
            <a:off x="9509760" y="3931920"/>
            <a:ext cx="1920240" cy="640080"/>
          </a:xfrm>
          <a:prstGeom prst="rect">
            <a:avLst/>
          </a:prstGeom>
          <a:noFill/>
          <a:ln/>
        </p:spPr>
        <p:txBody>
          <a:bodyPr wrap="square" lIns="0" tIns="0" rIns="0" bIns="0" rtlCol="0" anchor="ctr"/>
          <a:lstStyle/>
          <a:p>
            <a:pPr marL="0" indent="0" algn="ctr">
              <a:buNone/>
            </a:pPr>
            <a:r>
              <a:rPr lang="en-US" sz="4400" b="1" dirty="0">
                <a:solidFill>
                  <a:srgbClr val="1F4899"/>
                </a:solidFill>
                <a:latin typeface="Calibri" pitchFamily="34" charset="0"/>
                <a:ea typeface="Calibri" pitchFamily="34" charset="-122"/>
                <a:cs typeface="Calibri" pitchFamily="34" charset="-120"/>
              </a:rPr>
              <a:t>7.6%</a:t>
            </a:r>
            <a:endParaRPr lang="en-US" sz="4400" dirty="0">
              <a:ea typeface="맑은 고딕"/>
            </a:endParaRPr>
          </a:p>
        </p:txBody>
      </p:sp>
      <p:sp>
        <p:nvSpPr>
          <p:cNvPr id="20" name="Text 18"/>
          <p:cNvSpPr/>
          <p:nvPr/>
        </p:nvSpPr>
        <p:spPr>
          <a:xfrm>
            <a:off x="9509760" y="4498848"/>
            <a:ext cx="1920240" cy="365760"/>
          </a:xfrm>
          <a:prstGeom prst="rect">
            <a:avLst/>
          </a:prstGeom>
          <a:noFill/>
          <a:ln/>
        </p:spPr>
        <p:txBody>
          <a:bodyPr wrap="square" lIns="0" tIns="0" rIns="0" bIns="0"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WACC</a:t>
            </a:r>
            <a:endParaRPr lang="en-US" dirty="0">
              <a:ea typeface="맑은 고딕"/>
            </a:endParaRPr>
          </a:p>
        </p:txBody>
      </p:sp>
      <p:sp>
        <p:nvSpPr>
          <p:cNvPr id="21" name="Shape 19"/>
          <p:cNvSpPr/>
          <p:nvPr/>
        </p:nvSpPr>
        <p:spPr>
          <a:xfrm>
            <a:off x="502920" y="5440680"/>
            <a:ext cx="10972800" cy="548640"/>
          </a:xfrm>
          <a:prstGeom prst="roundRect">
            <a:avLst>
              <a:gd name="adj" fmla="val 8333"/>
            </a:avLst>
          </a:prstGeom>
          <a:solidFill>
            <a:srgbClr val="EEF2FB"/>
          </a:solidFill>
          <a:ln w="12700">
            <a:solidFill>
              <a:srgbClr val="C7D6F0"/>
            </a:solidFill>
            <a:prstDash val="solid"/>
          </a:ln>
        </p:spPr>
        <p:txBody>
          <a:bodyPr/>
          <a:lstStyle/>
          <a:p>
            <a:endParaRPr lang="en-US" sz="2800">
              <a:ea typeface="맑은 고딕"/>
            </a:endParaRPr>
          </a:p>
        </p:txBody>
      </p:sp>
      <p:sp>
        <p:nvSpPr>
          <p:cNvPr id="22" name="Text 20"/>
          <p:cNvSpPr/>
          <p:nvPr/>
        </p:nvSpPr>
        <p:spPr>
          <a:xfrm>
            <a:off x="649224" y="5532120"/>
            <a:ext cx="10680192" cy="365760"/>
          </a:xfrm>
          <a:prstGeom prst="rect">
            <a:avLst/>
          </a:prstGeom>
          <a:noFill/>
          <a:ln/>
        </p:spPr>
        <p:txBody>
          <a:bodyPr wrap="square" lIns="0" tIns="0" rIns="0" bIns="0" rtlCol="0" anchor="ctr"/>
          <a:lstStyle/>
          <a:p>
            <a:pPr marL="0" indent="0" algn="l">
              <a:lnSpc>
                <a:spcPct val="103000"/>
              </a:lnSpc>
              <a:buNone/>
            </a:pPr>
            <a:r>
              <a:rPr lang="ko-KR" altLang="en-US" dirty="0">
                <a:solidFill>
                  <a:srgbClr val="1F4899"/>
                </a:solidFill>
                <a:latin typeface="Calibri" pitchFamily="34" charset="0"/>
                <a:ea typeface="맑은 고딕" pitchFamily="34" charset="-122"/>
                <a:cs typeface="Calibri" pitchFamily="34" charset="-120"/>
              </a:rPr>
              <a:t>타인자본은 위험이 낮고 이자비용이 손금산입되므로 더 저렴하다. 따라서 적정 수준의 부채는 WACC를 낮추지만, 과도한 부채는 위험을 높인다.</a:t>
            </a:r>
            <a:endParaRPr lang="en-US" dirty="0">
              <a:ea typeface="맑은 고딕"/>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ea typeface="맑은 고딕"/>
            </a:endParaRPr>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ko-KR" altLang="en-US" sz="2700" b="1" dirty="0">
                <a:solidFill>
                  <a:srgbClr val="1F4899"/>
                </a:solidFill>
                <a:latin typeface="Calibri" pitchFamily="34" charset="0"/>
                <a:ea typeface="맑은 고딕" pitchFamily="34" charset="-122"/>
                <a:cs typeface="Calibri" pitchFamily="34" charset="-120"/>
              </a:rPr>
              <a:t>개념 퀴즈 4</a:t>
            </a:r>
            <a:endParaRPr lang="en-US" sz="2700" dirty="0">
              <a:ea typeface="맑은 고딕"/>
            </a:endParaRPr>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4</a:t>
            </a:r>
            <a:endParaRPr lang="en-US" sz="1100" dirty="0">
              <a:ea typeface="맑은 고딕"/>
            </a:endParaRPr>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21</a:t>
            </a:r>
            <a:endParaRPr lang="en-US" sz="1100" dirty="0">
              <a:ea typeface="맑은 고딕"/>
            </a:endParaRPr>
          </a:p>
        </p:txBody>
      </p:sp>
      <p:sp>
        <p:nvSpPr>
          <p:cNvPr id="6" name="Shape 4"/>
          <p:cNvSpPr/>
          <p:nvPr/>
        </p:nvSpPr>
        <p:spPr>
          <a:xfrm>
            <a:off x="502920" y="1097280"/>
            <a:ext cx="1965960" cy="329184"/>
          </a:xfrm>
          <a:prstGeom prst="roundRect">
            <a:avLst>
              <a:gd name="adj" fmla="val 50000"/>
            </a:avLst>
          </a:prstGeom>
          <a:solidFill>
            <a:srgbClr val="1F4899"/>
          </a:solidFill>
          <a:ln/>
        </p:spPr>
        <p:txBody>
          <a:bodyPr/>
          <a:lstStyle/>
          <a:p>
            <a:endParaRPr lang="en-US">
              <a:ea typeface="맑은 고딕"/>
            </a:endParaRPr>
          </a:p>
        </p:txBody>
      </p:sp>
      <p:sp>
        <p:nvSpPr>
          <p:cNvPr id="7" name="Text 5"/>
          <p:cNvSpPr/>
          <p:nvPr/>
        </p:nvSpPr>
        <p:spPr>
          <a:xfrm>
            <a:off x="502920" y="1097280"/>
            <a:ext cx="1965960" cy="329184"/>
          </a:xfrm>
          <a:prstGeom prst="rect">
            <a:avLst/>
          </a:prstGeom>
          <a:noFill/>
          <a:ln/>
        </p:spPr>
        <p:txBody>
          <a:bodyPr wrap="square" lIns="0" tIns="0" rIns="0" bIns="0" rtlCol="0" anchor="ctr"/>
          <a:lstStyle/>
          <a:p>
            <a:pPr marL="0" indent="0" algn="ctr">
              <a:buNone/>
            </a:pPr>
            <a:r>
              <a:rPr lang="ko-KR" altLang="en-US" sz="1100" b="1" dirty="0">
                <a:solidFill>
                  <a:srgbClr val="FFFFFF"/>
                </a:solidFill>
                <a:latin typeface="Calibri" pitchFamily="34" charset="0"/>
                <a:ea typeface="맑은 고딕" pitchFamily="34" charset="-122"/>
                <a:cs typeface="Calibri" pitchFamily="34" charset="-120"/>
              </a:rPr>
              <a:t>개념 퀴즈(CONCEPT QUIZ)</a:t>
            </a:r>
            <a:endParaRPr lang="en-US" sz="1100" dirty="0">
              <a:ea typeface="맑은 고딕"/>
            </a:endParaRPr>
          </a:p>
        </p:txBody>
      </p:sp>
      <p:sp>
        <p:nvSpPr>
          <p:cNvPr id="8" name="Shape 6"/>
          <p:cNvSpPr/>
          <p:nvPr/>
        </p:nvSpPr>
        <p:spPr>
          <a:xfrm>
            <a:off x="502920" y="1600200"/>
            <a:ext cx="10972800" cy="1463040"/>
          </a:xfrm>
          <a:prstGeom prst="roundRect">
            <a:avLst>
              <a:gd name="adj" fmla="val 3125"/>
            </a:avLst>
          </a:prstGeom>
          <a:solidFill>
            <a:srgbClr val="FEF2F2"/>
          </a:solidFill>
          <a:ln w="15875">
            <a:solidFill>
              <a:srgbClr val="EF4444"/>
            </a:solidFill>
            <a:prstDash val="solid"/>
          </a:ln>
        </p:spPr>
        <p:txBody>
          <a:bodyPr/>
          <a:lstStyle/>
          <a:p>
            <a:endParaRPr lang="en-US">
              <a:ea typeface="맑은 고딕"/>
            </a:endParaRPr>
          </a:p>
        </p:txBody>
      </p:sp>
      <p:sp>
        <p:nvSpPr>
          <p:cNvPr id="9" name="Text 7"/>
          <p:cNvSpPr/>
          <p:nvPr/>
        </p:nvSpPr>
        <p:spPr>
          <a:xfrm>
            <a:off x="630936" y="1691640"/>
            <a:ext cx="10716768" cy="274320"/>
          </a:xfrm>
          <a:prstGeom prst="rect">
            <a:avLst/>
          </a:prstGeom>
          <a:noFill/>
          <a:ln/>
        </p:spPr>
        <p:txBody>
          <a:bodyPr wrap="square" lIns="0" tIns="0" rIns="0" bIns="0" rtlCol="0" anchor="ctr"/>
          <a:lstStyle/>
          <a:p>
            <a:pPr marL="0" indent="0" algn="l">
              <a:buNone/>
            </a:pPr>
            <a:r>
              <a:rPr lang="en-US" sz="1300" b="1" dirty="0">
                <a:solidFill>
                  <a:srgbClr val="991B1B"/>
                </a:solidFill>
                <a:latin typeface="Calibri" pitchFamily="34" charset="0"/>
                <a:ea typeface="Calibri" pitchFamily="34" charset="-122"/>
                <a:cs typeface="Calibri" pitchFamily="34" charset="-120"/>
              </a:rPr>
              <a:t>Q1</a:t>
            </a:r>
            <a:endParaRPr lang="en-US" sz="1300" dirty="0">
              <a:ea typeface="맑은 고딕"/>
            </a:endParaRPr>
          </a:p>
        </p:txBody>
      </p:sp>
      <p:sp>
        <p:nvSpPr>
          <p:cNvPr id="10" name="Text 8"/>
          <p:cNvSpPr/>
          <p:nvPr/>
        </p:nvSpPr>
        <p:spPr>
          <a:xfrm>
            <a:off x="649224" y="2020824"/>
            <a:ext cx="10680192" cy="932688"/>
          </a:xfrm>
          <a:prstGeom prst="rect">
            <a:avLst/>
          </a:prstGeom>
          <a:noFill/>
          <a:ln/>
        </p:spPr>
        <p:txBody>
          <a:bodyPr wrap="square" lIns="0" tIns="0" rIns="0" bIns="0" rtlCol="0" anchor="t"/>
          <a:lstStyle/>
          <a:p>
            <a:pPr marL="0" indent="0" algn="l">
              <a:lnSpc>
                <a:spcPct val="102000"/>
              </a:lnSpc>
              <a:buNone/>
            </a:pPr>
            <a:r>
              <a:rPr lang="ko-KR" altLang="en-US" sz="1300" b="1" dirty="0">
                <a:solidFill>
                  <a:srgbClr val="374151"/>
                </a:solidFill>
                <a:latin typeface="Calibri" pitchFamily="34" charset="0"/>
                <a:ea typeface="맑은 고딕" pitchFamily="34" charset="-122"/>
                <a:cs typeface="Calibri" pitchFamily="34" charset="-120"/>
              </a:rPr>
              <a:t>어떤 주식의 β = 1.2이다. 무위험이자율이 4.5%이고 ERP가 5%라면, CAPM에 의한 자기자본비용은?</a:t>
            </a:r>
            <a:endParaRPr lang="en-US" sz="1300" dirty="0">
              <a:ea typeface="맑은 고딕"/>
            </a:endParaRPr>
          </a:p>
          <a:p>
            <a:pPr marL="0" indent="0" algn="l">
              <a:lnSpc>
                <a:spcPct val="102000"/>
              </a:lnSpc>
              <a:spcBef>
                <a:spcPts val="400"/>
              </a:spcBef>
              <a:buNone/>
            </a:pPr>
            <a:r>
              <a:rPr lang="ko-KR" altLang="en-US" sz="1300" dirty="0">
                <a:solidFill>
                  <a:srgbClr val="991B1B"/>
                </a:solidFill>
                <a:latin typeface="Calibri" pitchFamily="34" charset="0"/>
                <a:ea typeface="맑은 고딕" pitchFamily="34" charset="-122"/>
                <a:cs typeface="Calibri" pitchFamily="34" charset="-120"/>
              </a:rPr>
              <a:t>a) 9.0%     b) 9.5%     c) 10.5%     d) 6.0%</a:t>
            </a:r>
            <a:endParaRPr lang="en-US" sz="1300" dirty="0">
              <a:ea typeface="맑은 고딕"/>
            </a:endParaRPr>
          </a:p>
        </p:txBody>
      </p:sp>
      <p:sp>
        <p:nvSpPr>
          <p:cNvPr id="11" name="Shape 9"/>
          <p:cNvSpPr/>
          <p:nvPr/>
        </p:nvSpPr>
        <p:spPr>
          <a:xfrm>
            <a:off x="502920" y="3154680"/>
            <a:ext cx="10972800" cy="1600200"/>
          </a:xfrm>
          <a:prstGeom prst="roundRect">
            <a:avLst>
              <a:gd name="adj" fmla="val 2857"/>
            </a:avLst>
          </a:prstGeom>
          <a:solidFill>
            <a:srgbClr val="FEF3C7"/>
          </a:solidFill>
          <a:ln w="15875">
            <a:solidFill>
              <a:srgbClr val="F59E0B"/>
            </a:solidFill>
            <a:prstDash val="solid"/>
          </a:ln>
        </p:spPr>
        <p:txBody>
          <a:bodyPr/>
          <a:lstStyle/>
          <a:p>
            <a:endParaRPr lang="en-US">
              <a:ea typeface="맑은 고딕"/>
            </a:endParaRPr>
          </a:p>
        </p:txBody>
      </p:sp>
      <p:sp>
        <p:nvSpPr>
          <p:cNvPr id="12" name="Text 10"/>
          <p:cNvSpPr/>
          <p:nvPr/>
        </p:nvSpPr>
        <p:spPr>
          <a:xfrm>
            <a:off x="630936" y="3246120"/>
            <a:ext cx="10716768" cy="274320"/>
          </a:xfrm>
          <a:prstGeom prst="rect">
            <a:avLst/>
          </a:prstGeom>
          <a:noFill/>
          <a:ln/>
        </p:spPr>
        <p:txBody>
          <a:bodyPr wrap="square" lIns="0" tIns="0" rIns="0" bIns="0" rtlCol="0" anchor="ctr"/>
          <a:lstStyle/>
          <a:p>
            <a:pPr marL="0" indent="0" algn="l">
              <a:buNone/>
            </a:pPr>
            <a:r>
              <a:rPr lang="en-US" sz="1300" b="1" dirty="0">
                <a:solidFill>
                  <a:srgbClr val="92400E"/>
                </a:solidFill>
                <a:latin typeface="Calibri" pitchFamily="34" charset="0"/>
                <a:ea typeface="Calibri" pitchFamily="34" charset="-122"/>
                <a:cs typeface="Calibri" pitchFamily="34" charset="-120"/>
              </a:rPr>
              <a:t>Q2</a:t>
            </a:r>
            <a:endParaRPr lang="en-US" sz="1300" dirty="0">
              <a:ea typeface="맑은 고딕"/>
            </a:endParaRPr>
          </a:p>
        </p:txBody>
      </p:sp>
      <p:sp>
        <p:nvSpPr>
          <p:cNvPr id="13" name="Text 11"/>
          <p:cNvSpPr/>
          <p:nvPr/>
        </p:nvSpPr>
        <p:spPr>
          <a:xfrm>
            <a:off x="649224" y="3575304"/>
            <a:ext cx="10680192" cy="1069848"/>
          </a:xfrm>
          <a:prstGeom prst="rect">
            <a:avLst/>
          </a:prstGeom>
          <a:noFill/>
          <a:ln/>
        </p:spPr>
        <p:txBody>
          <a:bodyPr wrap="square" lIns="0" tIns="0" rIns="0" bIns="0" rtlCol="0" anchor="t"/>
          <a:lstStyle/>
          <a:p>
            <a:pPr marL="0" indent="0" algn="l">
              <a:lnSpc>
                <a:spcPct val="102000"/>
              </a:lnSpc>
              <a:buNone/>
            </a:pPr>
            <a:r>
              <a:rPr lang="ko-KR" altLang="en-US" sz="1300" b="1" dirty="0">
                <a:solidFill>
                  <a:srgbClr val="374151"/>
                </a:solidFill>
                <a:latin typeface="Calibri" pitchFamily="34" charset="0"/>
                <a:ea typeface="맑은 고딕" pitchFamily="34" charset="-122"/>
                <a:cs typeface="Calibri" pitchFamily="34" charset="-120"/>
              </a:rPr>
              <a:t>주주잉여현금흐름(FCFE)을 할인할 때 적절한 할인율은?</a:t>
            </a:r>
            <a:endParaRPr lang="en-US" sz="1300" dirty="0">
              <a:ea typeface="맑은 고딕"/>
            </a:endParaRPr>
          </a:p>
          <a:p>
            <a:pPr marL="0" indent="0" algn="l">
              <a:lnSpc>
                <a:spcPct val="102000"/>
              </a:lnSpc>
              <a:spcBef>
                <a:spcPts val="400"/>
              </a:spcBef>
              <a:buNone/>
            </a:pPr>
            <a:r>
              <a:rPr lang="ko-KR" altLang="en-US" sz="1300" dirty="0">
                <a:solidFill>
                  <a:srgbClr val="92400E"/>
                </a:solidFill>
                <a:latin typeface="Calibri" pitchFamily="34" charset="0"/>
                <a:ea typeface="맑은 고딕" pitchFamily="34" charset="-122"/>
                <a:cs typeface="Calibri" pitchFamily="34" charset="-120"/>
              </a:rPr>
              <a:t>a) 자기자본비용     b) WACC     c) 무위험이자율     d) 타인자본비용</a:t>
            </a:r>
            <a:endParaRPr lang="en-US" sz="1300" dirty="0">
              <a:ea typeface="맑은 고딕"/>
            </a:endParaRPr>
          </a:p>
        </p:txBody>
      </p:sp>
      <p:sp>
        <p:nvSpPr>
          <p:cNvPr id="14" name="Shape 12"/>
          <p:cNvSpPr/>
          <p:nvPr/>
        </p:nvSpPr>
        <p:spPr>
          <a:xfrm>
            <a:off x="502920" y="5074920"/>
            <a:ext cx="10972800" cy="548640"/>
          </a:xfrm>
          <a:prstGeom prst="roundRect">
            <a:avLst>
              <a:gd name="adj" fmla="val 8333"/>
            </a:avLst>
          </a:prstGeom>
          <a:solidFill>
            <a:srgbClr val="1F4899"/>
          </a:solidFill>
          <a:ln/>
        </p:spPr>
        <p:txBody>
          <a:bodyPr/>
          <a:lstStyle/>
          <a:p>
            <a:endParaRPr lang="en-US">
              <a:ea typeface="맑은 고딕"/>
            </a:endParaRPr>
          </a:p>
        </p:txBody>
      </p:sp>
      <p:sp>
        <p:nvSpPr>
          <p:cNvPr id="15" name="Text 13"/>
          <p:cNvSpPr/>
          <p:nvPr/>
        </p:nvSpPr>
        <p:spPr>
          <a:xfrm>
            <a:off x="502920" y="5074920"/>
            <a:ext cx="10972800" cy="548640"/>
          </a:xfrm>
          <a:prstGeom prst="rect">
            <a:avLst/>
          </a:prstGeom>
          <a:noFill/>
          <a:ln/>
        </p:spPr>
        <p:txBody>
          <a:bodyPr wrap="square" rtlCol="0" anchor="ctr"/>
          <a:lstStyle/>
          <a:p>
            <a:pPr marL="0" indent="0" algn="ctr">
              <a:buNone/>
            </a:pPr>
            <a:r>
              <a:rPr lang="ko-KR" altLang="en-US" sz="1400" b="1" dirty="0">
                <a:solidFill>
                  <a:srgbClr val="FFFFFF"/>
                </a:solidFill>
                <a:latin typeface="Calibri" pitchFamily="34" charset="0"/>
                <a:ea typeface="맑은 고딕" pitchFamily="34" charset="-122"/>
                <a:cs typeface="Calibri" pitchFamily="34" charset="-120"/>
              </a:rPr>
              <a:t>정답:  1 → c  (4.5% + 1.2 × 5% = 10.5%)     2 → a</a:t>
            </a:r>
            <a:endParaRPr lang="en-US" sz="1400" dirty="0">
              <a:ea typeface="맑은 고딕"/>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0EC8-92ED-4080-C888-694030D93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AC2A7-3D18-2612-360A-8D420B221E90}"/>
              </a:ext>
            </a:extLst>
          </p:cNvPr>
          <p:cNvSpPr>
            <a:spLocks noGrp="1"/>
          </p:cNvSpPr>
          <p:nvPr>
            <p:ph type="title"/>
          </p:nvPr>
        </p:nvSpPr>
        <p:spPr/>
        <p:txBody>
          <a:bodyPr/>
          <a:lstStyle/>
          <a:p>
            <a:r>
              <a:rPr lang="ko-KR" altLang="en-US" dirty="0">
                <a:latin typeface="+mn-lt"/>
                <a:ea typeface="맑은 고딕"/>
              </a:rPr>
              <a:t>5. 주가수익비율(Price-Earnings Ratio, P/E)</a:t>
            </a:r>
          </a:p>
        </p:txBody>
      </p:sp>
    </p:spTree>
    <p:extLst>
      <p:ext uri="{BB962C8B-B14F-4D97-AF65-F5344CB8AC3E}">
        <p14:creationId xmlns:p14="http://schemas.microsoft.com/office/powerpoint/2010/main" val="674286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E7671-1984-4ABC-C598-8AD2A3D8C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FD769-9F4E-9833-3B85-D62FBB23F71C}"/>
              </a:ext>
            </a:extLst>
          </p:cNvPr>
          <p:cNvSpPr>
            <a:spLocks noGrp="1"/>
          </p:cNvSpPr>
          <p:nvPr>
            <p:ph type="title"/>
          </p:nvPr>
        </p:nvSpPr>
        <p:spPr/>
        <p:txBody>
          <a:bodyPr>
            <a:normAutofit/>
          </a:bodyPr>
          <a:lstStyle/>
          <a:p>
            <a:r>
              <a:rPr lang="ko-KR" altLang="en-US" dirty="0">
                <a:latin typeface="+mn-lt"/>
                <a:ea typeface="맑은 고딕"/>
                <a:cs typeface="Arial" pitchFamily="34" charset="-120"/>
              </a:rPr>
              <a:t>P/E 비율(P/E Ratio)이란 무엇인가?</a:t>
            </a:r>
          </a:p>
        </p:txBody>
      </p:sp>
      <p:sp>
        <p:nvSpPr>
          <p:cNvPr id="5" name="Text 1"/>
          <p:cNvSpPr/>
          <p:nvPr/>
        </p:nvSpPr>
        <p:spPr>
          <a:xfrm>
            <a:off x="411946" y="1404556"/>
            <a:ext cx="10829990" cy="1006407"/>
          </a:xfrm>
          <a:prstGeom prst="roundRect">
            <a:avLst>
              <a:gd name="adj" fmla="val 0"/>
            </a:avLst>
          </a:prstGeom>
          <a:solidFill>
            <a:srgbClr val="E8F5E9"/>
          </a:solidFill>
          <a:ln/>
        </p:spPr>
        <p:txBody>
          <a:bodyPr wrap="square" rtlCol="0" anchor="ctr"/>
          <a:lstStyle/>
          <a:p>
            <a:endParaRPr lang="en-US" sz="2000" dirty="0">
              <a:ea typeface="맑은 고딕"/>
            </a:endParaRPr>
          </a:p>
        </p:txBody>
      </p:sp>
      <p:sp>
        <p:nvSpPr>
          <p:cNvPr id="6" name="Shape 2"/>
          <p:cNvSpPr/>
          <p:nvPr/>
        </p:nvSpPr>
        <p:spPr>
          <a:xfrm>
            <a:off x="463873" y="1404556"/>
            <a:ext cx="0" cy="1006407"/>
          </a:xfrm>
          <a:prstGeom prst="line">
            <a:avLst/>
          </a:prstGeom>
          <a:noFill/>
          <a:ln w="47625">
            <a:solidFill>
              <a:srgbClr val="4CAF50"/>
            </a:solidFill>
            <a:prstDash val="solid"/>
          </a:ln>
        </p:spPr>
        <p:txBody>
          <a:bodyPr/>
          <a:lstStyle/>
          <a:p>
            <a:endParaRPr lang="en-US" sz="2000">
              <a:ea typeface="맑은 고딕"/>
            </a:endParaRPr>
          </a:p>
        </p:txBody>
      </p:sp>
      <p:sp>
        <p:nvSpPr>
          <p:cNvPr id="8" name="Text 3"/>
          <p:cNvSpPr/>
          <p:nvPr/>
        </p:nvSpPr>
        <p:spPr>
          <a:xfrm>
            <a:off x="684999" y="1577565"/>
            <a:ext cx="10574676" cy="282748"/>
          </a:xfrm>
          <a:prstGeom prst="rect">
            <a:avLst/>
          </a:prstGeom>
          <a:noFill/>
          <a:ln/>
        </p:spPr>
        <p:txBody>
          <a:bodyPr wrap="square" lIns="0" tIns="0" rIns="0" bIns="0" rtlCol="0" anchor="t"/>
          <a:lstStyle/>
          <a:p>
            <a:pPr>
              <a:lnSpc>
                <a:spcPts val="1540"/>
              </a:lnSpc>
              <a:spcAft>
                <a:spcPts val="400"/>
              </a:spcAft>
            </a:pPr>
            <a:r>
              <a:rPr lang="ko-KR" altLang="en-US" sz="2000" b="1" dirty="0">
                <a:solidFill>
                  <a:srgbClr val="2E7D32"/>
                </a:solidFill>
                <a:latin typeface="Arial" pitchFamily="34" charset="0"/>
                <a:ea typeface="맑은 고딕"/>
                <a:cs typeface="Arial" pitchFamily="34" charset="-120"/>
              </a:rPr>
              <a:t>P/E 비율은 다음의</a:t>
            </a:r>
            <a:r>
              <a:rPr lang="en-US" sz="2000" dirty="0"/>
              <a:t> </a:t>
            </a:r>
            <a:r>
              <a:rPr lang="ko-KR" altLang="en-US" sz="2000" b="1" dirty="0">
                <a:solidFill>
                  <a:srgbClr val="2E7D32"/>
                </a:solidFill>
                <a:latin typeface="Arial" pitchFamily="34" charset="0"/>
                <a:ea typeface="맑은 고딕"/>
                <a:cs typeface="Arial" pitchFamily="34" charset="-120"/>
              </a:rPr>
              <a:t>단순한</a:t>
            </a:r>
            <a:r>
              <a:rPr lang="en-US" sz="2000" dirty="0"/>
              <a:t> </a:t>
            </a:r>
            <a:r>
              <a:rPr lang="ko-KR" altLang="en-US" sz="2000" b="1" dirty="0">
                <a:solidFill>
                  <a:srgbClr val="2E7D32"/>
                </a:solidFill>
                <a:latin typeface="Arial" pitchFamily="34" charset="0"/>
                <a:ea typeface="맑은 고딕"/>
                <a:cs typeface="Arial" pitchFamily="34" charset="-120"/>
              </a:rPr>
              <a:t>질문에 답한다: </a:t>
            </a:r>
          </a:p>
        </p:txBody>
      </p:sp>
      <p:sp>
        <p:nvSpPr>
          <p:cNvPr id="14" name="Text 4"/>
          <p:cNvSpPr/>
          <p:nvPr/>
        </p:nvSpPr>
        <p:spPr>
          <a:xfrm>
            <a:off x="684999" y="1880688"/>
            <a:ext cx="10290806" cy="497006"/>
          </a:xfrm>
          <a:prstGeom prst="rect">
            <a:avLst/>
          </a:prstGeom>
          <a:noFill/>
          <a:ln/>
        </p:spPr>
        <p:txBody>
          <a:bodyPr wrap="square" lIns="0" tIns="0" rIns="0" bIns="0" rtlCol="0" anchor="t"/>
          <a:lstStyle/>
          <a:p>
            <a:pPr marL="342900" lvl="0" indent="-342900">
              <a:buFont typeface="Arial" panose="020B0604020202020204" pitchFamily="34" charset="0"/>
              <a:buChar char="•"/>
            </a:pPr>
            <a:r>
              <a:rPr lang="ko-KR" altLang="en-US" sz="2000" dirty="0">
                <a:ea typeface="맑은 고딕"/>
              </a:rPr>
              <a:t>투자자는 그 기업의 연간 이익 1달러에 대해 오늘 몇 달러를 지불하려 하는가?</a:t>
            </a:r>
          </a:p>
        </p:txBody>
      </p:sp>
      <p:sp>
        <p:nvSpPr>
          <p:cNvPr id="21" name="Text 5"/>
          <p:cNvSpPr/>
          <p:nvPr/>
        </p:nvSpPr>
        <p:spPr>
          <a:xfrm>
            <a:off x="443699" y="2585868"/>
            <a:ext cx="5227896" cy="2444635"/>
          </a:xfrm>
          <a:prstGeom prst="roundRect">
            <a:avLst>
              <a:gd name="adj" fmla="val 1143"/>
            </a:avLst>
          </a:prstGeom>
          <a:solidFill>
            <a:srgbClr val="E3F2FD"/>
          </a:solidFill>
          <a:ln/>
        </p:spPr>
        <p:txBody>
          <a:bodyPr wrap="square" rtlCol="0" anchor="ctr"/>
          <a:lstStyle/>
          <a:p>
            <a:endParaRPr lang="en-US" sz="2000" dirty="0">
              <a:ea typeface="맑은 고딕"/>
            </a:endParaRPr>
          </a:p>
        </p:txBody>
      </p:sp>
      <p:sp>
        <p:nvSpPr>
          <p:cNvPr id="22" name="Shape 6"/>
          <p:cNvSpPr/>
          <p:nvPr/>
        </p:nvSpPr>
        <p:spPr>
          <a:xfrm>
            <a:off x="475448" y="2585868"/>
            <a:ext cx="0" cy="2444635"/>
          </a:xfrm>
          <a:prstGeom prst="line">
            <a:avLst/>
          </a:prstGeom>
          <a:noFill/>
          <a:ln w="47625">
            <a:solidFill>
              <a:srgbClr val="1976D2"/>
            </a:solidFill>
            <a:prstDash val="solid"/>
          </a:ln>
        </p:spPr>
        <p:txBody>
          <a:bodyPr/>
          <a:lstStyle/>
          <a:p>
            <a:endParaRPr lang="en-US" sz="2000">
              <a:ea typeface="맑은 고딕"/>
            </a:endParaRPr>
          </a:p>
        </p:txBody>
      </p:sp>
      <p:sp>
        <p:nvSpPr>
          <p:cNvPr id="24" name="Text 7"/>
          <p:cNvSpPr/>
          <p:nvPr/>
        </p:nvSpPr>
        <p:spPr>
          <a:xfrm>
            <a:off x="684998" y="2738268"/>
            <a:ext cx="4930464" cy="360944"/>
          </a:xfrm>
          <a:prstGeom prst="rect">
            <a:avLst/>
          </a:prstGeom>
          <a:noFill/>
          <a:ln/>
        </p:spPr>
        <p:txBody>
          <a:bodyPr wrap="square" lIns="0" tIns="0" rIns="0" bIns="0" rtlCol="0" anchor="t"/>
          <a:lstStyle/>
          <a:p>
            <a:pPr>
              <a:lnSpc>
                <a:spcPts val="1820"/>
              </a:lnSpc>
              <a:spcAft>
                <a:spcPts val="600"/>
              </a:spcAft>
            </a:pPr>
            <a:r>
              <a:rPr lang="ko-KR" altLang="en-US" sz="2000" b="1" dirty="0">
                <a:solidFill>
                  <a:srgbClr val="1565C0"/>
                </a:solidFill>
                <a:latin typeface="Arial" pitchFamily="34" charset="0"/>
                <a:ea typeface="맑은 고딕"/>
                <a:cs typeface="Arial" pitchFamily="34" charset="-120"/>
              </a:rPr>
              <a:t>계산 방법:</a:t>
            </a:r>
            <a:endParaRPr lang="en-US" sz="2000" dirty="0">
              <a:ea typeface="맑은 고딕"/>
            </a:endParaRPr>
          </a:p>
        </p:txBody>
      </p:sp>
      <p:sp>
        <p:nvSpPr>
          <p:cNvPr id="25" name="Text 10"/>
          <p:cNvSpPr/>
          <p:nvPr/>
        </p:nvSpPr>
        <p:spPr>
          <a:xfrm>
            <a:off x="5997980" y="2585868"/>
            <a:ext cx="5227896" cy="2444635"/>
          </a:xfrm>
          <a:prstGeom prst="roundRect">
            <a:avLst>
              <a:gd name="adj" fmla="val 1143"/>
            </a:avLst>
          </a:prstGeom>
          <a:solidFill>
            <a:srgbClr val="FFEBEE"/>
          </a:solidFill>
          <a:ln/>
        </p:spPr>
        <p:txBody>
          <a:bodyPr wrap="square" rtlCol="0" anchor="ctr"/>
          <a:lstStyle/>
          <a:p>
            <a:endParaRPr lang="en-US" sz="2000" dirty="0">
              <a:ea typeface="맑은 고딕"/>
            </a:endParaRPr>
          </a:p>
        </p:txBody>
      </p:sp>
      <p:sp>
        <p:nvSpPr>
          <p:cNvPr id="26" name="Shape 11"/>
          <p:cNvSpPr/>
          <p:nvPr/>
        </p:nvSpPr>
        <p:spPr>
          <a:xfrm>
            <a:off x="6029728" y="2585868"/>
            <a:ext cx="0" cy="2444635"/>
          </a:xfrm>
          <a:prstGeom prst="line">
            <a:avLst/>
          </a:prstGeom>
          <a:noFill/>
          <a:ln w="47625">
            <a:solidFill>
              <a:srgbClr val="C62828"/>
            </a:solidFill>
            <a:prstDash val="solid"/>
          </a:ln>
        </p:spPr>
        <p:txBody>
          <a:bodyPr/>
          <a:lstStyle/>
          <a:p>
            <a:endParaRPr lang="en-US" sz="2000">
              <a:ea typeface="맑은 고딕"/>
            </a:endParaRPr>
          </a:p>
        </p:txBody>
      </p:sp>
      <p:sp>
        <p:nvSpPr>
          <p:cNvPr id="27" name="Text 12"/>
          <p:cNvSpPr/>
          <p:nvPr/>
        </p:nvSpPr>
        <p:spPr>
          <a:xfrm>
            <a:off x="6239279" y="2738267"/>
            <a:ext cx="4930464" cy="322254"/>
          </a:xfrm>
          <a:prstGeom prst="rect">
            <a:avLst/>
          </a:prstGeom>
          <a:noFill/>
          <a:ln/>
        </p:spPr>
        <p:txBody>
          <a:bodyPr wrap="square" lIns="0" tIns="0" rIns="0" bIns="0" rtlCol="0" anchor="t"/>
          <a:lstStyle/>
          <a:p>
            <a:pPr>
              <a:lnSpc>
                <a:spcPts val="1820"/>
              </a:lnSpc>
              <a:spcAft>
                <a:spcPts val="600"/>
              </a:spcAft>
            </a:pPr>
            <a:r>
              <a:rPr lang="ko-KR" altLang="en-US" sz="2000" b="1" dirty="0">
                <a:solidFill>
                  <a:srgbClr val="B71C1C"/>
                </a:solidFill>
                <a:latin typeface="Arial" pitchFamily="34" charset="0"/>
                <a:ea typeface="맑은 고딕" pitchFamily="34" charset="-122"/>
                <a:cs typeface="Arial" pitchFamily="34" charset="-120"/>
              </a:rPr>
              <a:t>간단한 예제:</a:t>
            </a:r>
            <a:endParaRPr lang="en-US" sz="2000" dirty="0">
              <a:ea typeface="맑은 고딕"/>
            </a:endParaRPr>
          </a:p>
        </p:txBody>
      </p:sp>
      <p:sp>
        <p:nvSpPr>
          <p:cNvPr id="28" name="Text 13"/>
          <p:cNvSpPr/>
          <p:nvPr/>
        </p:nvSpPr>
        <p:spPr>
          <a:xfrm>
            <a:off x="6239279" y="3045449"/>
            <a:ext cx="4736526" cy="664766"/>
          </a:xfrm>
          <a:prstGeom prst="rect">
            <a:avLst/>
          </a:prstGeom>
          <a:noFill/>
          <a:ln/>
        </p:spPr>
        <p:txBody>
          <a:bodyPr wrap="square" lIns="0" tIns="0" rIns="0" bIns="0" rtlCol="0" anchor="t"/>
          <a:lstStyle/>
          <a:p>
            <a:pPr marL="285750" lvl="0" indent="-285750">
              <a:buFont typeface="Arial" panose="020B0604020202020204" pitchFamily="34" charset="0"/>
              <a:buChar char="•"/>
            </a:pPr>
            <a:r>
              <a:rPr lang="ko-KR" altLang="en-US" sz="2000" dirty="0">
                <a:ea typeface="맑은 고딕"/>
              </a:rPr>
              <a:t>A사의 주당순이익(EPS)은 $4.00이고 주가는 $60.00이다:</a:t>
            </a:r>
          </a:p>
        </p:txBody>
      </p:sp>
      <p:sp>
        <p:nvSpPr>
          <p:cNvPr id="29" name="Text 14"/>
          <p:cNvSpPr/>
          <p:nvPr/>
        </p:nvSpPr>
        <p:spPr>
          <a:xfrm>
            <a:off x="6239279" y="3710214"/>
            <a:ext cx="4930464" cy="103730"/>
          </a:xfrm>
          <a:prstGeom prst="rect">
            <a:avLst/>
          </a:prstGeom>
          <a:noFill/>
          <a:ln/>
        </p:spPr>
        <p:txBody>
          <a:bodyPr wrap="square" lIns="0" tIns="0" rIns="0" bIns="0" rtlCol="0" anchor="t"/>
          <a:lstStyle/>
          <a:p>
            <a:pPr>
              <a:lnSpc>
                <a:spcPts val="1485"/>
              </a:lnSpc>
              <a:spcAft>
                <a:spcPts val="600"/>
              </a:spcAft>
            </a:pPr>
            <a:endParaRPr lang="en-US" sz="2000" dirty="0">
              <a:ea typeface="맑은 고딕"/>
            </a:endParaRPr>
          </a:p>
        </p:txBody>
      </p:sp>
      <p:sp>
        <p:nvSpPr>
          <p:cNvPr id="30" name="Text 15"/>
          <p:cNvSpPr/>
          <p:nvPr/>
        </p:nvSpPr>
        <p:spPr>
          <a:xfrm>
            <a:off x="6478166" y="5187290"/>
            <a:ext cx="4773882" cy="880256"/>
          </a:xfrm>
          <a:prstGeom prst="rect">
            <a:avLst/>
          </a:prstGeom>
          <a:noFill/>
          <a:ln/>
        </p:spPr>
        <p:txBody>
          <a:bodyPr wrap="square" lIns="0" tIns="0" rIns="0" bIns="0" rtlCol="0" anchor="t"/>
          <a:lstStyle/>
          <a:p>
            <a:pPr>
              <a:lnSpc>
                <a:spcPts val="1300"/>
              </a:lnSpc>
            </a:pPr>
            <a:endParaRPr lang="en-US" sz="2000" dirty="0">
              <a:ea typeface="맑은 고딕"/>
            </a:endParaRPr>
          </a:p>
        </p:txBody>
      </p:sp>
      <p:sp>
        <p:nvSpPr>
          <p:cNvPr id="31" name="Text 16"/>
          <p:cNvSpPr/>
          <p:nvPr/>
        </p:nvSpPr>
        <p:spPr>
          <a:xfrm>
            <a:off x="443697" y="5246359"/>
            <a:ext cx="10738501" cy="1351207"/>
          </a:xfrm>
          <a:prstGeom prst="roundRect">
            <a:avLst>
              <a:gd name="adj" fmla="val 2735"/>
            </a:avLst>
          </a:prstGeom>
          <a:solidFill>
            <a:srgbClr val="FFF3E0"/>
          </a:solidFill>
          <a:ln/>
        </p:spPr>
        <p:txBody>
          <a:bodyPr wrap="square" rtlCol="0" anchor="ctr"/>
          <a:lstStyle/>
          <a:p>
            <a:pPr>
              <a:lnSpc>
                <a:spcPts val="2000"/>
              </a:lnSpc>
            </a:pPr>
            <a:endParaRPr lang="en-US" sz="2000" dirty="0">
              <a:ea typeface="맑은 고딕"/>
            </a:endParaRPr>
          </a:p>
        </p:txBody>
      </p:sp>
      <p:sp>
        <p:nvSpPr>
          <p:cNvPr id="32" name="Shape 17"/>
          <p:cNvSpPr/>
          <p:nvPr/>
        </p:nvSpPr>
        <p:spPr>
          <a:xfrm>
            <a:off x="475448" y="5246359"/>
            <a:ext cx="0" cy="1351207"/>
          </a:xfrm>
          <a:prstGeom prst="line">
            <a:avLst/>
          </a:prstGeom>
          <a:noFill/>
          <a:ln w="47625">
            <a:solidFill>
              <a:srgbClr val="FF9800"/>
            </a:solidFill>
            <a:prstDash val="solid"/>
          </a:ln>
        </p:spPr>
        <p:txBody>
          <a:bodyPr/>
          <a:lstStyle/>
          <a:p>
            <a:pPr>
              <a:lnSpc>
                <a:spcPts val="2000"/>
              </a:lnSpc>
            </a:pPr>
            <a:endParaRPr lang="en-US" sz="2000">
              <a:ea typeface="맑은 고딕"/>
            </a:endParaRPr>
          </a:p>
        </p:txBody>
      </p:sp>
      <p:sp>
        <p:nvSpPr>
          <p:cNvPr id="33" name="Text 18"/>
          <p:cNvSpPr/>
          <p:nvPr/>
        </p:nvSpPr>
        <p:spPr>
          <a:xfrm>
            <a:off x="685000" y="5453443"/>
            <a:ext cx="10287652" cy="969073"/>
          </a:xfrm>
          <a:prstGeom prst="rect">
            <a:avLst/>
          </a:prstGeom>
          <a:noFill/>
          <a:ln/>
        </p:spPr>
        <p:txBody>
          <a:bodyPr wrap="square" lIns="0" tIns="0" rIns="0" bIns="0" rtlCol="0" anchor="t"/>
          <a:lstStyle/>
          <a:p>
            <a:pPr>
              <a:lnSpc>
                <a:spcPts val="2000"/>
              </a:lnSpc>
            </a:pPr>
            <a:r>
              <a:rPr lang="ko-KR" altLang="en-US" sz="2000" b="1" dirty="0">
                <a:solidFill>
                  <a:srgbClr val="E65100"/>
                </a:solidFill>
                <a:latin typeface="Arial" pitchFamily="34" charset="0"/>
                <a:ea typeface="맑은 고딕" pitchFamily="34" charset="-122"/>
                <a:cs typeface="Arial" pitchFamily="34" charset="-120"/>
              </a:rPr>
              <a:t>P/E 비율은 주식가치 평가에 자주 사용된다:</a:t>
            </a:r>
            <a:r>
              <a:rPr lang="en-US" sz="2000" dirty="0">
                <a:solidFill>
                  <a:srgbClr val="1D1D1D"/>
                </a:solidFill>
                <a:latin typeface="Arial" pitchFamily="34" charset="0"/>
                <a:ea typeface="Arial" pitchFamily="34" charset="-122"/>
                <a:cs typeface="Arial" pitchFamily="34" charset="-120"/>
              </a:rPr>
              <a:t> </a:t>
            </a:r>
          </a:p>
          <a:p>
            <a:pPr marL="342900" indent="-342900">
              <a:lnSpc>
                <a:spcPts val="2000"/>
              </a:lnSpc>
              <a:buFont typeface="Arial" panose="020B0604020202020204" pitchFamily="34" charset="0"/>
              <a:buChar char="•"/>
            </a:pPr>
            <a:endParaRPr lang="en-US" sz="2000" dirty="0">
              <a:ea typeface="맑은 고딕"/>
            </a:endParaRPr>
          </a:p>
          <a:p>
            <a:pPr marL="342900" indent="-342900">
              <a:lnSpc>
                <a:spcPts val="2000"/>
              </a:lnSpc>
              <a:buFont typeface="Arial" panose="020B0604020202020204" pitchFamily="34" charset="0"/>
              <a:buChar char="•"/>
            </a:pPr>
            <a:r>
              <a:rPr lang="ko-KR" altLang="en-US" sz="2000" dirty="0">
                <a:ea typeface="맑은 고딕"/>
              </a:rPr>
              <a:t>비교대상 기업들이 18배에 거래되고 A사의 내년 예상이익이 $4.50이라면, 비교기업 기준 간이 평가액은 18 × $4.50 = </a:t>
            </a:r>
            <a:r>
              <a:rPr lang="ko-KR" altLang="en-US" sz="2000" b="1" dirty="0">
                <a:ea typeface="맑은 고딕"/>
              </a:rPr>
              <a:t>$81.00</a:t>
            </a:r>
            <a:r>
              <a:rPr lang="ko-KR" altLang="en-US" sz="2000" dirty="0">
                <a:ea typeface="맑은 고딕"/>
              </a:rPr>
              <a:t> (주당)이다.</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9FC2299-9F94-2F95-70F0-921F23633F3B}"/>
                  </a:ext>
                </a:extLst>
              </p:cNvPr>
              <p:cNvSpPr txBox="1"/>
              <p:nvPr/>
            </p:nvSpPr>
            <p:spPr>
              <a:xfrm>
                <a:off x="684999" y="3375751"/>
                <a:ext cx="3906242" cy="730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2000" b="0" i="0" smtClean="0"/>
                        <m:t>P</m:t>
                      </m:r>
                      <m:r>
                        <m:rPr>
                          <m:nor/>
                        </m:rPr>
                        <a:rPr lang="en-US" sz="2000" b="0" smtClean="0"/>
                        <m:t>/</m:t>
                      </m:r>
                      <m:r>
                        <m:rPr>
                          <m:nor/>
                        </m:rPr>
                        <a:rPr lang="en-US" sz="2000" b="0" smtClean="0"/>
                        <m:t>E</m:t>
                      </m:r>
                      <m:r>
                        <a:rPr lang="en-US" sz="2000" b="0" i="0">
                          <a:latin typeface="Cambria Math" panose="02040503050406030204" pitchFamily="18" charset="0"/>
                        </a:rPr>
                        <m:t>=</m:t>
                      </m:r>
                      <m:f>
                        <m:fPr>
                          <m:ctrlPr>
                            <a:rPr lang="en-US" sz="2000" b="0" i="1">
                              <a:latin typeface="Cambria Math" panose="02040503050406030204" pitchFamily="18" charset="0"/>
                            </a:rPr>
                          </m:ctrlPr>
                        </m:fPr>
                        <m:num>
                          <m:r>
                            <m:rPr>
                              <m:nor/>
                            </m:rPr>
                            <a:rPr lang="en-US" sz="2000" b="0" i="1">
                              <a:latin typeface="Cambria Math" panose="02040503050406030204" pitchFamily="18" charset="0"/>
                            </a:rPr>
                            <m:t>Market</m:t>
                          </m:r>
                          <m:r>
                            <m:rPr>
                              <m:nor/>
                            </m:rPr>
                            <a:rPr lang="en-US" sz="2000" b="0" i="1">
                              <a:latin typeface="Cambria Math" panose="02040503050406030204" pitchFamily="18" charset="0"/>
                            </a:rPr>
                            <m:t> </m:t>
                          </m:r>
                          <m:r>
                            <m:rPr>
                              <m:nor/>
                            </m:rPr>
                            <a:rPr lang="en-US" sz="2000" b="0" i="1">
                              <a:latin typeface="Cambria Math" panose="02040503050406030204" pitchFamily="18" charset="0"/>
                            </a:rPr>
                            <m:t>Price</m:t>
                          </m:r>
                          <m:r>
                            <m:rPr>
                              <m:nor/>
                            </m:rPr>
                            <a:rPr lang="en-US" sz="2000" b="0" i="1">
                              <a:latin typeface="Cambria Math" panose="02040503050406030204" pitchFamily="18" charset="0"/>
                            </a:rPr>
                            <m:t> </m:t>
                          </m:r>
                          <m:r>
                            <m:rPr>
                              <m:nor/>
                            </m:rPr>
                            <a:rPr lang="en-US" sz="2000" b="0" i="1">
                              <a:latin typeface="Cambria Math" panose="02040503050406030204" pitchFamily="18" charset="0"/>
                            </a:rPr>
                            <m:t>per</m:t>
                          </m:r>
                          <m:r>
                            <m:rPr>
                              <m:nor/>
                            </m:rPr>
                            <a:rPr lang="en-US" sz="2000" b="0" i="1">
                              <a:latin typeface="Cambria Math" panose="02040503050406030204" pitchFamily="18" charset="0"/>
                            </a:rPr>
                            <m:t> </m:t>
                          </m:r>
                          <m:r>
                            <m:rPr>
                              <m:nor/>
                            </m:rPr>
                            <a:rPr lang="en-US" sz="2000" b="0" i="1">
                              <a:latin typeface="Cambria Math" panose="02040503050406030204" pitchFamily="18" charset="0"/>
                            </a:rPr>
                            <m:t>Share</m:t>
                          </m:r>
                        </m:num>
                        <m:den>
                          <m:r>
                            <m:rPr>
                              <m:nor/>
                            </m:rPr>
                            <a:rPr lang="en-US" sz="2000" b="0" i="1">
                              <a:latin typeface="Cambria Math" panose="02040503050406030204" pitchFamily="18" charset="0"/>
                            </a:rPr>
                            <m:t>Earnings</m:t>
                          </m:r>
                          <m:r>
                            <m:rPr>
                              <m:nor/>
                            </m:rPr>
                            <a:rPr lang="en-US" sz="2000" b="0" i="1">
                              <a:latin typeface="Cambria Math" panose="02040503050406030204" pitchFamily="18" charset="0"/>
                            </a:rPr>
                            <m:t> </m:t>
                          </m:r>
                          <m:r>
                            <m:rPr>
                              <m:nor/>
                            </m:rPr>
                            <a:rPr lang="en-US" sz="2000" b="0" i="1">
                              <a:latin typeface="Cambria Math" panose="02040503050406030204" pitchFamily="18" charset="0"/>
                            </a:rPr>
                            <m:t>per</m:t>
                          </m:r>
                          <m:r>
                            <m:rPr>
                              <m:nor/>
                            </m:rPr>
                            <a:rPr lang="en-US" sz="2000" b="0" i="1">
                              <a:latin typeface="Cambria Math" panose="02040503050406030204" pitchFamily="18" charset="0"/>
                            </a:rPr>
                            <m:t> </m:t>
                          </m:r>
                          <m:r>
                            <m:rPr>
                              <m:nor/>
                            </m:rPr>
                            <a:rPr lang="en-US" sz="2000" b="0" i="1">
                              <a:latin typeface="Cambria Math" panose="02040503050406030204" pitchFamily="18" charset="0"/>
                            </a:rPr>
                            <m:t>Share</m:t>
                          </m:r>
                          <m:r>
                            <m:rPr>
                              <m:nor/>
                            </m:rPr>
                            <a:rPr lang="en-US" sz="2000" b="0" i="1">
                              <a:latin typeface="Cambria Math" panose="02040503050406030204" pitchFamily="18" charset="0"/>
                            </a:rPr>
                            <m:t> </m:t>
                          </m:r>
                          <m:d>
                            <m:dPr>
                              <m:ctrlPr>
                                <a:rPr lang="en-US" sz="2000" b="0" i="1">
                                  <a:latin typeface="Cambria Math" panose="02040503050406030204" pitchFamily="18" charset="0"/>
                                </a:rPr>
                              </m:ctrlPr>
                            </m:dPr>
                            <m:e>
                              <m:r>
                                <m:rPr>
                                  <m:nor/>
                                </m:rPr>
                                <a:rPr lang="en-US" sz="2000" b="0" i="1">
                                  <a:latin typeface="Cambria Math" panose="02040503050406030204" pitchFamily="18" charset="0"/>
                                </a:rPr>
                                <m:t>EPS</m:t>
                              </m:r>
                            </m:e>
                          </m:d>
                        </m:den>
                      </m:f>
                    </m:oMath>
                  </m:oMathPara>
                </a14:m>
                <a:endParaRPr lang="en-US" sz="2000" dirty="0">
                  <a:ea typeface="맑은 고딕"/>
                </a:endParaRPr>
              </a:p>
            </p:txBody>
          </p:sp>
        </mc:Choice>
        <mc:Fallback xmlns="">
          <p:sp>
            <p:nvSpPr>
              <p:cNvPr id="34" name="TextBox 33">
                <a:extLst>
                  <a:ext uri="{FF2B5EF4-FFF2-40B4-BE49-F238E27FC236}">
                    <a16:creationId xmlns:a16="http://schemas.microsoft.com/office/drawing/2014/main" id="{59FC2299-9F94-2F95-70F0-921F23633F3B}"/>
                  </a:ext>
                </a:extLst>
              </p:cNvPr>
              <p:cNvSpPr txBox="1">
                <a:spLocks noRot="1" noChangeAspect="1" noMove="1" noResize="1" noEditPoints="1" noAdjustHandles="1" noChangeArrowheads="1" noChangeShapeType="1" noTextEdit="1"/>
              </p:cNvSpPr>
              <p:nvPr/>
            </p:nvSpPr>
            <p:spPr>
              <a:xfrm>
                <a:off x="684999" y="3375751"/>
                <a:ext cx="3906242" cy="730777"/>
              </a:xfrm>
              <a:prstGeom prst="rect">
                <a:avLst/>
              </a:prstGeom>
              <a:blipFill>
                <a:blip r:embed="rId3"/>
                <a:stretch>
                  <a:fillRect/>
                </a:stretch>
              </a:blipFill>
            </p:spPr>
            <p:txBody>
              <a:bodyPr/>
              <a:lstStyle/>
              <a:p>
                <a:r>
                  <a:rPr lang="en-US">
                    <a:noFill/>
                  </a:rPr>
                  <a:t> </a:t>
                </a:r>
              </a:p>
            </p:txBody>
          </p:sp>
        </mc:Fallback>
      </mc:AlternateContent>
      <p:graphicFrame>
        <p:nvGraphicFramePr>
          <p:cNvPr id="35" name="Table 34">
            <a:extLst>
              <a:ext uri="{FF2B5EF4-FFF2-40B4-BE49-F238E27FC236}">
                <a16:creationId xmlns:a16="http://schemas.microsoft.com/office/drawing/2014/main" id="{7DF8B79C-0196-A9FE-C246-B2C68856166D}"/>
              </a:ext>
            </a:extLst>
          </p:cNvPr>
          <p:cNvGraphicFramePr>
            <a:graphicFrameLocks noGrp="1"/>
          </p:cNvGraphicFramePr>
          <p:nvPr>
            <p:extLst>
              <p:ext uri="{D42A27DB-BD31-4B8C-83A1-F6EECF244321}">
                <p14:modId xmlns:p14="http://schemas.microsoft.com/office/powerpoint/2010/main" val="1001968073"/>
              </p:ext>
            </p:extLst>
          </p:nvPr>
        </p:nvGraphicFramePr>
        <p:xfrm>
          <a:off x="6486695" y="3775119"/>
          <a:ext cx="4485956" cy="1097280"/>
        </p:xfrm>
        <a:graphic>
          <a:graphicData uri="http://schemas.openxmlformats.org/drawingml/2006/table">
            <a:tbl>
              <a:tblPr firstRow="1" bandRow="1">
                <a:tableStyleId>{C083E6E3-FA7D-4D7B-A595-EF9225AFEA82}</a:tableStyleId>
              </a:tblPr>
              <a:tblGrid>
                <a:gridCol w="3270845">
                  <a:extLst>
                    <a:ext uri="{9D8B030D-6E8A-4147-A177-3AD203B41FA5}">
                      <a16:colId xmlns:a16="http://schemas.microsoft.com/office/drawing/2014/main" val="721522990"/>
                    </a:ext>
                  </a:extLst>
                </a:gridCol>
                <a:gridCol w="1215111">
                  <a:extLst>
                    <a:ext uri="{9D8B030D-6E8A-4147-A177-3AD203B41FA5}">
                      <a16:colId xmlns:a16="http://schemas.microsoft.com/office/drawing/2014/main" val="736482805"/>
                    </a:ext>
                  </a:extLst>
                </a:gridCol>
              </a:tblGrid>
              <a:tr h="298233">
                <a:tc>
                  <a:txBody>
                    <a:bodyPr/>
                    <a:lstStyle/>
                    <a:p>
                      <a:r>
                        <a:rPr lang="ko-KR" altLang="en-US" b="0" dirty="0">
                          <a:ea typeface="맑은 고딕"/>
                        </a:rPr>
                        <a:t>주당 시장가격</a:t>
                      </a:r>
                    </a:p>
                  </a:txBody>
                  <a:tcPr/>
                </a:tc>
                <a:tc>
                  <a:txBody>
                    <a:bodyPr/>
                    <a:lstStyle/>
                    <a:p>
                      <a:pPr algn="r"/>
                      <a:r>
                        <a:rPr lang="en-US" b="0" dirty="0"/>
                        <a:t>$60.00</a:t>
                      </a:r>
                    </a:p>
                  </a:txBody>
                  <a:tcPr/>
                </a:tc>
                <a:extLst>
                  <a:ext uri="{0D108BD9-81ED-4DB2-BD59-A6C34878D82A}">
                    <a16:rowId xmlns:a16="http://schemas.microsoft.com/office/drawing/2014/main" val="701430789"/>
                  </a:ext>
                </a:extLst>
              </a:tr>
              <a:tr h="298233">
                <a:tc>
                  <a:txBody>
                    <a:bodyPr/>
                    <a:lstStyle/>
                    <a:p>
                      <a:r>
                        <a:rPr lang="ko-KR" altLang="en-US" b="0" dirty="0">
                          <a:ea typeface="맑은 고딕"/>
                        </a:rPr>
                        <a:t>주당순이익(EPS)</a:t>
                      </a:r>
                    </a:p>
                  </a:txBody>
                  <a:tcPr/>
                </a:tc>
                <a:tc>
                  <a:txBody>
                    <a:bodyPr/>
                    <a:lstStyle/>
                    <a:p>
                      <a:pPr algn="r"/>
                      <a:r>
                        <a:rPr lang="en-US" b="0" dirty="0"/>
                        <a:t>$  4.00</a:t>
                      </a:r>
                    </a:p>
                  </a:txBody>
                  <a:tcPr/>
                </a:tc>
                <a:extLst>
                  <a:ext uri="{0D108BD9-81ED-4DB2-BD59-A6C34878D82A}">
                    <a16:rowId xmlns:a16="http://schemas.microsoft.com/office/drawing/2014/main" val="3818137240"/>
                  </a:ext>
                </a:extLst>
              </a:tr>
              <a:tr h="298233">
                <a:tc>
                  <a:txBody>
                    <a:bodyPr/>
                    <a:lstStyle/>
                    <a:p>
                      <a:r>
                        <a:rPr lang="ko-KR" altLang="en-US" b="1" dirty="0">
                          <a:ea typeface="맑은 고딕"/>
                        </a:rPr>
                        <a:t>P/E 비율</a:t>
                      </a:r>
                    </a:p>
                  </a:txBody>
                  <a:tcPr/>
                </a:tc>
                <a:tc>
                  <a:txBody>
                    <a:bodyPr/>
                    <a:lstStyle/>
                    <a:p>
                      <a:pPr algn="r"/>
                      <a:r>
                        <a:rPr lang="en-US" b="1" dirty="0"/>
                        <a:t>15.0x</a:t>
                      </a:r>
                    </a:p>
                  </a:txBody>
                  <a:tcPr/>
                </a:tc>
                <a:extLst>
                  <a:ext uri="{0D108BD9-81ED-4DB2-BD59-A6C34878D82A}">
                    <a16:rowId xmlns:a16="http://schemas.microsoft.com/office/drawing/2014/main" val="2481733678"/>
                  </a:ext>
                </a:extLst>
              </a:tr>
            </a:tbl>
          </a:graphicData>
        </a:graphic>
      </p:graphicFrame>
    </p:spTree>
    <p:extLst>
      <p:ext uri="{BB962C8B-B14F-4D97-AF65-F5344CB8AC3E}">
        <p14:creationId xmlns:p14="http://schemas.microsoft.com/office/powerpoint/2010/main" val="19542623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500" fill="hold"/>
                                        <p:tgtEl>
                                          <p:spTgt spid="27"/>
                                        </p:tgtEl>
                                        <p:attrNameLst>
                                          <p:attrName>ppt_x</p:attrName>
                                        </p:attrNameLst>
                                      </p:cBhvr>
                                      <p:tavLst>
                                        <p:tav tm="0">
                                          <p:val>
                                            <p:strVal val="#ppt_x"/>
                                          </p:val>
                                        </p:tav>
                                        <p:tav tm="100000">
                                          <p:val>
                                            <p:strVal val="#ppt_x"/>
                                          </p:val>
                                        </p:tav>
                                      </p:tavLst>
                                    </p:anim>
                                    <p:anim calcmode="lin" valueType="num">
                                      <p:cBhvr additive="base">
                                        <p:cTn id="30" dur="500" fill="hold"/>
                                        <p:tgtEl>
                                          <p:spTgt spid="2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500" fill="hold"/>
                                        <p:tgtEl>
                                          <p:spTgt spid="28"/>
                                        </p:tgtEl>
                                        <p:attrNameLst>
                                          <p:attrName>ppt_x</p:attrName>
                                        </p:attrNameLst>
                                      </p:cBhvr>
                                      <p:tavLst>
                                        <p:tav tm="0">
                                          <p:val>
                                            <p:strVal val="#ppt_x"/>
                                          </p:val>
                                        </p:tav>
                                        <p:tav tm="100000">
                                          <p:val>
                                            <p:strVal val="#ppt_x"/>
                                          </p:val>
                                        </p:tav>
                                      </p:tavLst>
                                    </p:anim>
                                    <p:anim calcmode="lin" valueType="num">
                                      <p:cBhvr additive="base">
                                        <p:cTn id="34" dur="500" fill="hold"/>
                                        <p:tgtEl>
                                          <p:spTgt spid="2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animBg="1"/>
      <p:bldP spid="27" grpId="0" animBg="1"/>
      <p:bldP spid="28" grpId="0" animBg="1"/>
      <p:bldP spid="29" grpId="0" animBg="1"/>
      <p:bldP spid="31" grpId="0" animBg="1"/>
      <p:bldP spid="32" grpId="0" animBg="1"/>
      <p:bldP spid="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E4E2-8A05-6788-49EC-386FAA62A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5A1CB-BD5A-FD80-DFD5-1848B5767C34}"/>
              </a:ext>
            </a:extLst>
          </p:cNvPr>
          <p:cNvSpPr>
            <a:spLocks noGrp="1"/>
          </p:cNvSpPr>
          <p:nvPr>
            <p:ph type="title"/>
          </p:nvPr>
        </p:nvSpPr>
        <p:spPr/>
        <p:txBody>
          <a:bodyPr>
            <a:normAutofit/>
          </a:bodyPr>
          <a:lstStyle/>
          <a:p>
            <a:r>
              <a:rPr lang="ko-KR" altLang="en-US" dirty="0">
                <a:latin typeface="+mn-lt"/>
                <a:ea typeface="맑은 고딕"/>
              </a:rPr>
              <a:t>P/E를 결정하는 요인은 무엇인가?</a:t>
            </a:r>
          </a:p>
        </p:txBody>
      </p:sp>
      <p:sp>
        <p:nvSpPr>
          <p:cNvPr id="8" name="Text 26">
            <a:extLst>
              <a:ext uri="{FF2B5EF4-FFF2-40B4-BE49-F238E27FC236}">
                <a16:creationId xmlns:a16="http://schemas.microsoft.com/office/drawing/2014/main" id="{C266018C-52B6-FFB9-3EAF-E575FCBC3F4B}"/>
              </a:ext>
            </a:extLst>
          </p:cNvPr>
          <p:cNvSpPr/>
          <p:nvPr/>
        </p:nvSpPr>
        <p:spPr>
          <a:xfrm>
            <a:off x="901703" y="2730294"/>
            <a:ext cx="9983467" cy="1295003"/>
          </a:xfrm>
          <a:prstGeom prst="roundRect">
            <a:avLst>
              <a:gd name="adj" fmla="val 0"/>
            </a:avLst>
          </a:prstGeom>
          <a:solidFill>
            <a:srgbClr val="FEF2F2"/>
          </a:solidFill>
          <a:ln w="9525">
            <a:solidFill>
              <a:srgbClr val="EF4444"/>
            </a:solidFill>
          </a:ln>
        </p:spPr>
        <p:txBody>
          <a:bodyPr wrap="square" rtlCol="0" anchor="ctr"/>
          <a:lstStyle/>
          <a:p>
            <a:endParaRPr lang="en-US" sz="2400" dirty="0">
              <a:latin typeface="Arial" panose="020B0604020202020204" pitchFamily="34" charset="0"/>
              <a:ea typeface="맑은 고딕"/>
              <a:cs typeface="Arial" panose="020B0604020202020204" pitchFamily="34" charset="0"/>
            </a:endParaRPr>
          </a:p>
        </p:txBody>
      </p:sp>
      <p:sp>
        <p:nvSpPr>
          <p:cNvPr id="14" name="Text 12">
            <a:extLst>
              <a:ext uri="{FF2B5EF4-FFF2-40B4-BE49-F238E27FC236}">
                <a16:creationId xmlns:a16="http://schemas.microsoft.com/office/drawing/2014/main" id="{0E23DA75-92A2-9678-D838-FB3AEE52EBE8}"/>
              </a:ext>
            </a:extLst>
          </p:cNvPr>
          <p:cNvSpPr/>
          <p:nvPr/>
        </p:nvSpPr>
        <p:spPr>
          <a:xfrm>
            <a:off x="899985" y="1472135"/>
            <a:ext cx="9983467" cy="1053128"/>
          </a:xfrm>
          <a:prstGeom prst="roundRect">
            <a:avLst>
              <a:gd name="adj" fmla="val 107"/>
            </a:avLst>
          </a:prstGeom>
          <a:solidFill>
            <a:srgbClr val="EFF6FF"/>
          </a:solidFill>
          <a:ln>
            <a:solidFill>
              <a:srgbClr val="3B82F6"/>
            </a:solidFill>
          </a:ln>
        </p:spPr>
        <p:txBody>
          <a:bodyPr wrap="square" rtlCol="0" anchor="ctr"/>
          <a:lstStyle/>
          <a:p>
            <a:endParaRPr lang="en-US" sz="2400" dirty="0">
              <a:ea typeface="맑은 고딕"/>
            </a:endParaRPr>
          </a:p>
        </p:txBody>
      </p:sp>
      <p:sp>
        <p:nvSpPr>
          <p:cNvPr id="22" name="Text 6">
            <a:extLst>
              <a:ext uri="{FF2B5EF4-FFF2-40B4-BE49-F238E27FC236}">
                <a16:creationId xmlns:a16="http://schemas.microsoft.com/office/drawing/2014/main" id="{577A0BD1-B8EF-53D7-211E-57AFB3367F93}"/>
              </a:ext>
            </a:extLst>
          </p:cNvPr>
          <p:cNvSpPr/>
          <p:nvPr/>
        </p:nvSpPr>
        <p:spPr>
          <a:xfrm>
            <a:off x="1144714" y="1659557"/>
            <a:ext cx="9586002" cy="682029"/>
          </a:xfrm>
          <a:prstGeom prst="rect">
            <a:avLst/>
          </a:prstGeom>
          <a:noFill/>
          <a:ln/>
        </p:spPr>
        <p:txBody>
          <a:bodyPr wrap="square" lIns="0" tIns="0" rIns="0" bIns="0" rtlCol="0" anchor="t"/>
          <a:lstStyle/>
          <a:p>
            <a:r>
              <a:rPr lang="ko-KR" altLang="en-US" sz="2000" b="1" dirty="0">
                <a:solidFill>
                  <a:srgbClr val="1E40AF"/>
                </a:solidFill>
                <a:latin typeface="Arial" pitchFamily="34" charset="0"/>
                <a:ea typeface="맑은 고딕" pitchFamily="34" charset="-122"/>
                <a:cs typeface="Arial" pitchFamily="34" charset="-120"/>
              </a:rPr>
              <a:t>성장성(Growth)</a:t>
            </a:r>
            <a:endParaRPr lang="en-US" sz="2000" dirty="0">
              <a:ea typeface="맑은 고딕"/>
            </a:endParaRPr>
          </a:p>
          <a:p>
            <a:pPr marL="342900" indent="-342900">
              <a:buFont typeface="Arial" panose="020B0604020202020204" pitchFamily="34" charset="0"/>
              <a:buChar char="•"/>
            </a:pPr>
            <a:r>
              <a:rPr lang="ko-KR" altLang="en-US" sz="2000" dirty="0">
                <a:ea typeface="맑은 고딕"/>
              </a:rPr>
              <a:t>기대 이익성장률이 높을수록 → P/E 상승.</a:t>
            </a:r>
            <a:endParaRPr lang="en-US" sz="2000" dirty="0">
              <a:latin typeface="Arial" panose="020B0604020202020204" pitchFamily="34" charset="0"/>
              <a:ea typeface="맑은 고딕"/>
              <a:cs typeface="Arial" panose="020B0604020202020204" pitchFamily="34" charset="0"/>
            </a:endParaRPr>
          </a:p>
        </p:txBody>
      </p:sp>
      <p:sp>
        <p:nvSpPr>
          <p:cNvPr id="24" name="Text 6">
            <a:extLst>
              <a:ext uri="{FF2B5EF4-FFF2-40B4-BE49-F238E27FC236}">
                <a16:creationId xmlns:a16="http://schemas.microsoft.com/office/drawing/2014/main" id="{D34E6BC8-0D62-A215-01CE-7AE8AF49E9AC}"/>
              </a:ext>
            </a:extLst>
          </p:cNvPr>
          <p:cNvSpPr/>
          <p:nvPr/>
        </p:nvSpPr>
        <p:spPr>
          <a:xfrm>
            <a:off x="1142996" y="2900667"/>
            <a:ext cx="9586003" cy="953225"/>
          </a:xfrm>
          <a:prstGeom prst="rect">
            <a:avLst/>
          </a:prstGeom>
          <a:noFill/>
          <a:ln/>
        </p:spPr>
        <p:txBody>
          <a:bodyPr wrap="square" lIns="0" tIns="0" rIns="0" bIns="0" rtlCol="0" anchor="t"/>
          <a:lstStyle/>
          <a:p>
            <a:r>
              <a:rPr lang="ko-KR" altLang="en-US" sz="2000" b="1" dirty="0">
                <a:solidFill>
                  <a:srgbClr val="B71C1C"/>
                </a:solidFill>
                <a:latin typeface="Arial" panose="020B0604020202020204" pitchFamily="34" charset="0"/>
                <a:ea typeface="맑은 고딕" pitchFamily="34" charset="-122"/>
                <a:cs typeface="Arial" panose="020B0604020202020204" pitchFamily="34" charset="0"/>
              </a:rPr>
              <a:t>위험(Risk)</a:t>
            </a:r>
            <a:endParaRPr lang="en-US" sz="2000" dirty="0">
              <a:ea typeface="맑은 고딕"/>
            </a:endParaRPr>
          </a:p>
          <a:p>
            <a:pPr marL="342900" lvl="0" indent="-342900">
              <a:buFont typeface="Arial" panose="020B0604020202020204" pitchFamily="34" charset="0"/>
              <a:buChar char="•"/>
            </a:pPr>
            <a:r>
              <a:rPr lang="ko-KR" altLang="en-US" sz="2000" dirty="0">
                <a:ea typeface="맑은 고딕"/>
              </a:rPr>
              <a:t>위험이 클수록(할인율이 높을수록) → P/E 하락</a:t>
            </a:r>
            <a:r>
              <a:rPr lang="en-US" dirty="0"/>
              <a:t>.</a:t>
            </a:r>
            <a:endParaRPr lang="en-US" dirty="0">
              <a:latin typeface="Arial" panose="020B0604020202020204" pitchFamily="34" charset="0"/>
              <a:ea typeface="맑은 고딕"/>
              <a:cs typeface="Arial" panose="020B0604020202020204" pitchFamily="34" charset="0"/>
            </a:endParaRPr>
          </a:p>
        </p:txBody>
      </p:sp>
      <p:sp>
        <p:nvSpPr>
          <p:cNvPr id="29" name="Text 26">
            <a:extLst>
              <a:ext uri="{FF2B5EF4-FFF2-40B4-BE49-F238E27FC236}">
                <a16:creationId xmlns:a16="http://schemas.microsoft.com/office/drawing/2014/main" id="{E6F455D5-61F1-440B-BD15-763D1998D693}"/>
              </a:ext>
            </a:extLst>
          </p:cNvPr>
          <p:cNvSpPr/>
          <p:nvPr/>
        </p:nvSpPr>
        <p:spPr>
          <a:xfrm>
            <a:off x="887730" y="4220882"/>
            <a:ext cx="9998086" cy="1066721"/>
          </a:xfrm>
          <a:prstGeom prst="roundRect">
            <a:avLst>
              <a:gd name="adj" fmla="val 0"/>
            </a:avLst>
          </a:prstGeom>
          <a:solidFill>
            <a:schemeClr val="accent6">
              <a:lumMod val="20000"/>
              <a:lumOff val="80000"/>
            </a:schemeClr>
          </a:solidFill>
          <a:ln w="9525">
            <a:solidFill>
              <a:srgbClr val="854D0E"/>
            </a:solidFill>
          </a:ln>
        </p:spPr>
        <p:txBody>
          <a:bodyPr wrap="square" rtlCol="0" anchor="ctr"/>
          <a:lstStyle/>
          <a:p>
            <a:endParaRPr lang="en-US" sz="2400" dirty="0">
              <a:ea typeface="맑은 고딕"/>
            </a:endParaRPr>
          </a:p>
        </p:txBody>
      </p:sp>
      <p:sp>
        <p:nvSpPr>
          <p:cNvPr id="30" name="Text 13">
            <a:extLst>
              <a:ext uri="{FF2B5EF4-FFF2-40B4-BE49-F238E27FC236}">
                <a16:creationId xmlns:a16="http://schemas.microsoft.com/office/drawing/2014/main" id="{EA5A9333-BB93-54E6-1F83-5478BF5BF227}"/>
              </a:ext>
            </a:extLst>
          </p:cNvPr>
          <p:cNvSpPr/>
          <p:nvPr/>
        </p:nvSpPr>
        <p:spPr>
          <a:xfrm>
            <a:off x="1145539" y="4404873"/>
            <a:ext cx="9433721" cy="739957"/>
          </a:xfrm>
          <a:prstGeom prst="rect">
            <a:avLst/>
          </a:prstGeom>
          <a:noFill/>
          <a:ln/>
        </p:spPr>
        <p:txBody>
          <a:bodyPr wrap="square" lIns="0" tIns="0" rIns="0" bIns="0" rtlCol="0" anchor="t"/>
          <a:lstStyle/>
          <a:p>
            <a:pPr>
              <a:lnSpc>
                <a:spcPts val="2100"/>
              </a:lnSpc>
              <a:spcAft>
                <a:spcPts val="800"/>
              </a:spcAft>
            </a:pPr>
            <a:r>
              <a:rPr lang="ko-KR" altLang="en-US" sz="2000" b="1" dirty="0">
                <a:solidFill>
                  <a:srgbClr val="854D0E"/>
                </a:solidFill>
                <a:latin typeface="Arial" pitchFamily="34" charset="0"/>
                <a:ea typeface="맑은 고딕" pitchFamily="34" charset="-122"/>
                <a:cs typeface="Arial" pitchFamily="34" charset="-120"/>
              </a:rPr>
              <a:t>이익의 질(Earnings Quality)</a:t>
            </a:r>
          </a:p>
          <a:p>
            <a:pPr marL="285750" indent="-285750">
              <a:lnSpc>
                <a:spcPts val="2100"/>
              </a:lnSpc>
              <a:spcAft>
                <a:spcPts val="800"/>
              </a:spcAft>
              <a:buFont typeface="Arial" panose="020B0604020202020204" pitchFamily="34" charset="0"/>
              <a:buChar char="•"/>
            </a:pPr>
            <a:r>
              <a:rPr lang="ko-KR" altLang="en-US" dirty="0">
                <a:ea typeface="맑은 고딕"/>
              </a:rPr>
              <a:t>이익이 지속가능하고 현금으로 뒷받침될수록 → P/E 상승</a:t>
            </a:r>
            <a:endParaRPr lang="en-US" sz="1500" dirty="0">
              <a:ea typeface="맑은 고딕"/>
            </a:endParaRPr>
          </a:p>
        </p:txBody>
      </p:sp>
    </p:spTree>
    <p:extLst>
      <p:ext uri="{BB962C8B-B14F-4D97-AF65-F5344CB8AC3E}">
        <p14:creationId xmlns:p14="http://schemas.microsoft.com/office/powerpoint/2010/main" val="8300282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2" grpId="0" animBg="1"/>
      <p:bldP spid="24" grpId="0" animBg="1"/>
      <p:bldP spid="29" grpId="0" animBg="1"/>
      <p:bldP spid="3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5DE3-214F-EA4E-526A-84814CAEC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519C7-25EF-B5AA-BF53-07C4556DDAF3}"/>
              </a:ext>
            </a:extLst>
          </p:cNvPr>
          <p:cNvSpPr>
            <a:spLocks noGrp="1"/>
          </p:cNvSpPr>
          <p:nvPr>
            <p:ph type="title"/>
          </p:nvPr>
        </p:nvSpPr>
        <p:spPr/>
        <p:txBody>
          <a:bodyPr>
            <a:normAutofit/>
          </a:bodyPr>
          <a:lstStyle/>
          <a:p>
            <a:r>
              <a:rPr lang="ko-KR" altLang="en-US" dirty="0">
                <a:latin typeface="+mn-lt"/>
                <a:ea typeface="맑은 고딕"/>
              </a:rPr>
              <a:t>세 가지 요인의 대수적 전개 – 1단계 </a:t>
            </a:r>
          </a:p>
        </p:txBody>
      </p:sp>
      <p:sp>
        <p:nvSpPr>
          <p:cNvPr id="14" name="Text 12">
            <a:extLst>
              <a:ext uri="{FF2B5EF4-FFF2-40B4-BE49-F238E27FC236}">
                <a16:creationId xmlns:a16="http://schemas.microsoft.com/office/drawing/2014/main" id="{5B456B57-7F1E-C858-60E0-6C43C757730D}"/>
              </a:ext>
            </a:extLst>
          </p:cNvPr>
          <p:cNvSpPr/>
          <p:nvPr/>
        </p:nvSpPr>
        <p:spPr>
          <a:xfrm>
            <a:off x="912240" y="1330836"/>
            <a:ext cx="9983467" cy="1712676"/>
          </a:xfrm>
          <a:prstGeom prst="roundRect">
            <a:avLst>
              <a:gd name="adj" fmla="val 0"/>
            </a:avLst>
          </a:prstGeom>
          <a:solidFill>
            <a:srgbClr val="EFF6FF"/>
          </a:solidFill>
          <a:ln>
            <a:solidFill>
              <a:srgbClr val="3B82F6"/>
            </a:solidFill>
          </a:ln>
        </p:spPr>
        <p:txBody>
          <a:bodyPr wrap="square" rtlCol="0" anchor="ctr"/>
          <a:lstStyle/>
          <a:p>
            <a:endParaRPr lang="en-US" sz="2400" dirty="0">
              <a:ea typeface="맑은 고딕"/>
            </a:endParaRPr>
          </a:p>
        </p:txBody>
      </p:sp>
      <p:sp>
        <p:nvSpPr>
          <p:cNvPr id="22" name="Text 6">
            <a:extLst>
              <a:ext uri="{FF2B5EF4-FFF2-40B4-BE49-F238E27FC236}">
                <a16:creationId xmlns:a16="http://schemas.microsoft.com/office/drawing/2014/main" id="{A5976285-1F1C-311E-FE1A-707EFC774A2F}"/>
              </a:ext>
            </a:extLst>
          </p:cNvPr>
          <p:cNvSpPr/>
          <p:nvPr/>
        </p:nvSpPr>
        <p:spPr>
          <a:xfrm>
            <a:off x="1144714" y="1511007"/>
            <a:ext cx="9586002" cy="1248490"/>
          </a:xfrm>
          <a:prstGeom prst="rect">
            <a:avLst/>
          </a:prstGeom>
          <a:noFill/>
          <a:ln/>
        </p:spPr>
        <p:txBody>
          <a:bodyPr wrap="square" lIns="0" tIns="0" rIns="0" bIns="0" rtlCol="0" anchor="t"/>
          <a:lstStyle/>
          <a:p>
            <a:r>
              <a:rPr lang="ko-KR" altLang="en-US" sz="2000" b="1" dirty="0">
                <a:solidFill>
                  <a:srgbClr val="1E40AF"/>
                </a:solidFill>
                <a:latin typeface="Arial" pitchFamily="34" charset="0"/>
                <a:ea typeface="맑은 고딕"/>
                <a:cs typeface="Arial" pitchFamily="34" charset="-120"/>
              </a:rPr>
              <a:t>1단계 – 성장이 없는 경우</a:t>
            </a:r>
            <a:endParaRPr lang="en-US" sz="2000" dirty="0">
              <a:ea typeface="맑은 고딕"/>
            </a:endParaRPr>
          </a:p>
          <a:p>
            <a:pPr marL="342900" lvl="0" indent="-342900">
              <a:lnSpc>
                <a:spcPts val="3000"/>
              </a:lnSpc>
              <a:buFont typeface="Arial" panose="020B0604020202020204" pitchFamily="34" charset="0"/>
              <a:buChar char="•"/>
            </a:pPr>
            <a:r>
              <a:rPr lang="ko-KR" altLang="en-US" sz="2000" dirty="0">
                <a:latin typeface="Arial" panose="020B0604020202020204" pitchFamily="34" charset="0"/>
                <a:ea typeface="맑은 고딕"/>
                <a:cs typeface="Arial" panose="020B0604020202020204" pitchFamily="34" charset="0"/>
              </a:rPr>
              <a:t>이익 성장 없이 </a:t>
            </a:r>
            <a:r>
              <a:rPr lang="ko-KR" altLang="en-US" sz="2000" b="1" dirty="0">
                <a:latin typeface="Arial" panose="020B0604020202020204" pitchFamily="34" charset="0"/>
                <a:ea typeface="맑은 고딕"/>
                <a:cs typeface="Arial" panose="020B0604020202020204" pitchFamily="34" charset="0"/>
              </a:rPr>
              <a:t>이익(</a:t>
            </a:r>
            <a:r>
              <a:rPr lang="en-US" sz="2000" b="1" i="1" dirty="0">
                <a:latin typeface="Arial" panose="020B0604020202020204" pitchFamily="34" charset="0"/>
                <a:cs typeface="Arial" panose="020B0604020202020204" pitchFamily="34" charset="0"/>
              </a:rPr>
              <a:t>E</a:t>
            </a:r>
            <a:r>
              <a:rPr lang="en-US" sz="2000" b="1" dirty="0">
                <a:latin typeface="Arial" panose="020B0604020202020204" pitchFamily="34" charset="0"/>
                <a:cs typeface="Arial" panose="020B0604020202020204" pitchFamily="34" charset="0"/>
              </a:rPr>
              <a:t>)</a:t>
            </a:r>
            <a:r>
              <a:rPr lang="ko-KR" altLang="en-US" sz="2000" dirty="0">
                <a:latin typeface="Arial" panose="020B0604020202020204" pitchFamily="34" charset="0"/>
                <a:ea typeface="맑은 고딕"/>
                <a:cs typeface="Arial" panose="020B0604020202020204" pitchFamily="34" charset="0"/>
              </a:rPr>
              <a:t> 전액을 영구히 배당으로 지급하는 기업.</a:t>
            </a:r>
          </a:p>
          <a:p>
            <a:endParaRPr lang="en-US" dirty="0">
              <a:ea typeface="맑은 고딕"/>
            </a:endParaRPr>
          </a:p>
          <a:p>
            <a:pPr marL="285750" lvl="0" indent="-285750">
              <a:buFont typeface="Arial" panose="020B0604020202020204" pitchFamily="34" charset="0"/>
              <a:buChar char="•"/>
            </a:pPr>
            <a:endParaRPr lang="en-US" dirty="0">
              <a:latin typeface="Arial" panose="020B0604020202020204" pitchFamily="34" charset="0"/>
              <a:ea typeface="맑은 고딕"/>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97212CE-4C4D-E90E-ACCD-FBCF56E046DE}"/>
                  </a:ext>
                </a:extLst>
              </p:cNvPr>
              <p:cNvSpPr txBox="1"/>
              <p:nvPr/>
            </p:nvSpPr>
            <p:spPr>
              <a:xfrm>
                <a:off x="3515096" y="2240727"/>
                <a:ext cx="4667002" cy="6685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1F4899"/>
                          </a:solidFill>
                          <a:latin typeface="Cambria Math" panose="02040503050406030204" pitchFamily="18" charset="0"/>
                        </a:rPr>
                        <m:t>𝑷</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a:solidFill>
                                <a:srgbClr val="1F4899"/>
                              </a:solidFill>
                              <a:latin typeface="Cambria Math" panose="02040503050406030204" pitchFamily="18" charset="0"/>
                            </a:rPr>
                            <m:t>𝑬</m:t>
                          </m:r>
                        </m:num>
                        <m:den>
                          <m:r>
                            <a:rPr lang="en-US" sz="2000" b="1" i="1">
                              <a:solidFill>
                                <a:srgbClr val="1F4899"/>
                              </a:solidFill>
                              <a:latin typeface="Cambria Math" panose="02040503050406030204" pitchFamily="18" charset="0"/>
                            </a:rPr>
                            <m:t>𝒓</m:t>
                          </m:r>
                        </m:den>
                      </m:f>
                      <m:r>
                        <a:rPr lang="en-US" sz="2000" b="1" i="0">
                          <a:solidFill>
                            <a:srgbClr val="1F4899"/>
                          </a:solidFill>
                          <a:latin typeface="Cambria Math" panose="02040503050406030204" pitchFamily="18" charset="0"/>
                        </a:rPr>
                        <m:t>    </m:t>
                      </m:r>
                      <m:r>
                        <a:rPr lang="en-US" sz="2000" b="1" i="1">
                          <a:solidFill>
                            <a:srgbClr val="1F4899"/>
                          </a:solidFill>
                          <a:latin typeface="Cambria Math" panose="02040503050406030204" pitchFamily="18" charset="0"/>
                        </a:rPr>
                        <m:t>𝒔𝒐</m:t>
                      </m:r>
                      <m:r>
                        <a:rPr lang="en-US" sz="2000" b="1" i="0">
                          <a:solidFill>
                            <a:srgbClr val="1F4899"/>
                          </a:solidFill>
                          <a:latin typeface="Cambria Math" panose="02040503050406030204" pitchFamily="18" charset="0"/>
                        </a:rPr>
                        <m:t>  </m:t>
                      </m:r>
                      <m:r>
                        <m:rPr>
                          <m:nor/>
                        </m:rPr>
                        <a:rPr lang="en-US" sz="2000" b="1" i="1">
                          <a:solidFill>
                            <a:srgbClr val="1F4899"/>
                          </a:solidFill>
                          <a:latin typeface="Cambria Math" panose="02040503050406030204" pitchFamily="18" charset="0"/>
                        </a:rPr>
                        <m:t>P</m:t>
                      </m:r>
                      <m:r>
                        <m:rPr>
                          <m:nor/>
                        </m:rPr>
                        <a:rPr lang="en-US" sz="2000" b="1" i="1">
                          <a:solidFill>
                            <a:srgbClr val="1F4899"/>
                          </a:solidFill>
                          <a:latin typeface="Cambria Math" panose="02040503050406030204" pitchFamily="18" charset="0"/>
                        </a:rPr>
                        <m:t>/</m:t>
                      </m:r>
                      <m:r>
                        <m:rPr>
                          <m:nor/>
                        </m:rPr>
                        <a:rPr lang="en-US" sz="2000" b="1" i="1">
                          <a:solidFill>
                            <a:srgbClr val="1F4899"/>
                          </a:solidFill>
                          <a:latin typeface="Cambria Math" panose="02040503050406030204" pitchFamily="18" charset="0"/>
                        </a:rPr>
                        <m:t>E</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0">
                              <a:solidFill>
                                <a:srgbClr val="1F4899"/>
                              </a:solidFill>
                              <a:latin typeface="Cambria Math" panose="02040503050406030204" pitchFamily="18" charset="0"/>
                            </a:rPr>
                            <m:t>𝟏</m:t>
                          </m:r>
                        </m:num>
                        <m:den>
                          <m:r>
                            <a:rPr lang="en-US" sz="2000" b="1" i="1">
                              <a:solidFill>
                                <a:srgbClr val="1F4899"/>
                              </a:solidFill>
                              <a:latin typeface="Cambria Math" panose="02040503050406030204" pitchFamily="18" charset="0"/>
                            </a:rPr>
                            <m:t>𝒓</m:t>
                          </m:r>
                        </m:den>
                      </m:f>
                    </m:oMath>
                  </m:oMathPara>
                </a14:m>
                <a:endParaRPr lang="en-US" b="1" dirty="0">
                  <a:ea typeface="맑은 고딕"/>
                </a:endParaRPr>
              </a:p>
            </p:txBody>
          </p:sp>
        </mc:Choice>
        <mc:Fallback xmlns="">
          <p:sp>
            <p:nvSpPr>
              <p:cNvPr id="7" name="TextBox 6">
                <a:extLst>
                  <a:ext uri="{FF2B5EF4-FFF2-40B4-BE49-F238E27FC236}">
                    <a16:creationId xmlns:a16="http://schemas.microsoft.com/office/drawing/2014/main" id="{697212CE-4C4D-E90E-ACCD-FBCF56E046DE}"/>
                  </a:ext>
                </a:extLst>
              </p:cNvPr>
              <p:cNvSpPr txBox="1">
                <a:spLocks noRot="1" noChangeAspect="1" noMove="1" noResize="1" noEditPoints="1" noAdjustHandles="1" noChangeArrowheads="1" noChangeShapeType="1" noTextEdit="1"/>
              </p:cNvSpPr>
              <p:nvPr/>
            </p:nvSpPr>
            <p:spPr>
              <a:xfrm>
                <a:off x="3515096" y="2240727"/>
                <a:ext cx="4667002" cy="668516"/>
              </a:xfrm>
              <a:prstGeom prst="rect">
                <a:avLst/>
              </a:prstGeom>
              <a:blipFill>
                <a:blip r:embed="rId3"/>
                <a:stretch>
                  <a:fillRect/>
                </a:stretch>
              </a:blipFill>
            </p:spPr>
            <p:txBody>
              <a:bodyPr/>
              <a:lstStyle/>
              <a:p>
                <a:r>
                  <a:rPr lang="en-US">
                    <a:noFill/>
                  </a:rPr>
                  <a:t> </a:t>
                </a:r>
              </a:p>
            </p:txBody>
          </p:sp>
        </mc:Fallback>
      </mc:AlternateContent>
      <p:sp>
        <p:nvSpPr>
          <p:cNvPr id="11" name="Shape 10">
            <a:extLst>
              <a:ext uri="{FF2B5EF4-FFF2-40B4-BE49-F238E27FC236}">
                <a16:creationId xmlns:a16="http://schemas.microsoft.com/office/drawing/2014/main" id="{340D0206-1C1F-8098-64FE-536A0B3A2A99}"/>
              </a:ext>
            </a:extLst>
          </p:cNvPr>
          <p:cNvSpPr/>
          <p:nvPr/>
        </p:nvSpPr>
        <p:spPr>
          <a:xfrm>
            <a:off x="911480" y="3126439"/>
            <a:ext cx="9995722" cy="3511869"/>
          </a:xfrm>
          <a:prstGeom prst="roundRect">
            <a:avLst>
              <a:gd name="adj" fmla="val 0"/>
            </a:avLst>
          </a:prstGeom>
          <a:solidFill>
            <a:srgbClr val="EAF3DE"/>
          </a:solidFill>
          <a:ln w="12700">
            <a:solidFill>
              <a:srgbClr val="3B6D11"/>
            </a:solidFill>
            <a:prstDash val="solid"/>
          </a:ln>
        </p:spPr>
        <p:txBody>
          <a:bodyPr/>
          <a:lstStyle/>
          <a:p>
            <a:endParaRPr lang="en-US" sz="2400" dirty="0">
              <a:ea typeface="맑은 고딕"/>
            </a:endParaRPr>
          </a:p>
        </p:txBody>
      </p:sp>
      <p:sp>
        <p:nvSpPr>
          <p:cNvPr id="13" name="Text 11">
            <a:extLst>
              <a:ext uri="{FF2B5EF4-FFF2-40B4-BE49-F238E27FC236}">
                <a16:creationId xmlns:a16="http://schemas.microsoft.com/office/drawing/2014/main" id="{57F9C5FF-9879-809B-A3F2-09D9B2EFD272}"/>
              </a:ext>
            </a:extLst>
          </p:cNvPr>
          <p:cNvSpPr/>
          <p:nvPr/>
        </p:nvSpPr>
        <p:spPr>
          <a:xfrm>
            <a:off x="1121548" y="3410454"/>
            <a:ext cx="8424414" cy="365760"/>
          </a:xfrm>
          <a:prstGeom prst="rect">
            <a:avLst/>
          </a:prstGeom>
          <a:noFill/>
          <a:ln/>
        </p:spPr>
        <p:txBody>
          <a:bodyPr wrap="square" rtlCol="0" anchor="ctr"/>
          <a:lstStyle/>
          <a:p>
            <a:pPr marL="0" indent="0">
              <a:buNone/>
            </a:pPr>
            <a:r>
              <a:rPr lang="ko-KR" altLang="en-US" sz="2400" b="1" dirty="0">
                <a:solidFill>
                  <a:srgbClr val="27500A"/>
                </a:solidFill>
                <a:latin typeface="Calibri" pitchFamily="34" charset="0"/>
                <a:ea typeface="맑은 고딕" pitchFamily="34" charset="-122"/>
                <a:cs typeface="Calibri" pitchFamily="34" charset="-120"/>
              </a:rPr>
              <a:t>분자에는 무엇이 들어가는가</a:t>
            </a:r>
            <a:endParaRPr lang="en-US" sz="2400" dirty="0">
              <a:ea typeface="맑은 고딕"/>
            </a:endParaRPr>
          </a:p>
        </p:txBody>
      </p:sp>
      <p:sp>
        <p:nvSpPr>
          <p:cNvPr id="16" name="Text 12">
            <a:extLst>
              <a:ext uri="{FF2B5EF4-FFF2-40B4-BE49-F238E27FC236}">
                <a16:creationId xmlns:a16="http://schemas.microsoft.com/office/drawing/2014/main" id="{909F7968-B5FB-7142-E73F-C232052B158B}"/>
              </a:ext>
            </a:extLst>
          </p:cNvPr>
          <p:cNvSpPr/>
          <p:nvPr/>
        </p:nvSpPr>
        <p:spPr>
          <a:xfrm>
            <a:off x="1121548" y="3896362"/>
            <a:ext cx="8343410" cy="868680"/>
          </a:xfrm>
          <a:prstGeom prst="rect">
            <a:avLst/>
          </a:prstGeom>
          <a:noFill/>
          <a:ln/>
        </p:spPr>
        <p:txBody>
          <a:bodyPr wrap="square" rtlCol="0" anchor="t"/>
          <a:lstStyle/>
          <a:p>
            <a:pPr marL="285750" indent="-285750">
              <a:buFont typeface="Arial" panose="020B0604020202020204" pitchFamily="34" charset="0"/>
              <a:buChar char="•"/>
            </a:pPr>
            <a:r>
              <a:rPr lang="ko-KR" altLang="en-US" dirty="0">
                <a:solidFill>
                  <a:srgbClr val="27500A"/>
                </a:solidFill>
                <a:latin typeface="Calibri" pitchFamily="34" charset="0"/>
                <a:ea typeface="맑은 고딕" pitchFamily="34" charset="-122"/>
                <a:cs typeface="Calibri" pitchFamily="34" charset="-120"/>
              </a:rPr>
              <a:t>기업의 가치는 그 </a:t>
            </a:r>
            <a:r>
              <a:rPr lang="ko-KR" altLang="en-US" b="1" dirty="0">
                <a:solidFill>
                  <a:srgbClr val="27500A"/>
                </a:solidFill>
                <a:latin typeface="Calibri" pitchFamily="34" charset="0"/>
                <a:ea typeface="맑은 고딕" pitchFamily="34" charset="-122"/>
                <a:cs typeface="Calibri" pitchFamily="34" charset="-120"/>
              </a:rPr>
              <a:t>현금흐름(cash flows)</a:t>
            </a:r>
            <a:r>
              <a:rPr lang="ko-KR" altLang="en-US" dirty="0">
                <a:solidFill>
                  <a:srgbClr val="27500A"/>
                </a:solidFill>
                <a:latin typeface="Calibri" pitchFamily="34" charset="0"/>
                <a:ea typeface="맑은 고딕" pitchFamily="34" charset="-122"/>
                <a:cs typeface="Calibri" pitchFamily="34" charset="-120"/>
              </a:rPr>
              <a:t>의 현재가치이므로, 공식이 엄밀히 요구하는 것은 </a:t>
            </a:r>
            <a:r>
              <a:rPr lang="ko-KR" altLang="en-US" b="1" dirty="0">
                <a:solidFill>
                  <a:srgbClr val="27500A"/>
                </a:solidFill>
                <a:latin typeface="Calibri" pitchFamily="34" charset="0"/>
                <a:ea typeface="맑은 고딕" pitchFamily="34" charset="-122"/>
                <a:cs typeface="Calibri" pitchFamily="34" charset="-120"/>
              </a:rPr>
              <a:t>잉여현금흐름(free cash flow)</a:t>
            </a:r>
            <a:r>
              <a:rPr lang="ko-KR" altLang="en-US" dirty="0">
                <a:solidFill>
                  <a:srgbClr val="27500A"/>
                </a:solidFill>
                <a:latin typeface="Calibri" pitchFamily="34" charset="0"/>
                <a:ea typeface="맑은 고딕" pitchFamily="34" charset="-122"/>
                <a:cs typeface="Calibri" pitchFamily="34" charset="-120"/>
              </a:rPr>
              <a:t>이지 회계상 이익이 아니다.</a:t>
            </a:r>
            <a:endParaRPr lang="en-US" dirty="0">
              <a:ea typeface="맑은 고딕"/>
            </a:endParaRPr>
          </a:p>
        </p:txBody>
      </p:sp>
      <p:sp>
        <p:nvSpPr>
          <p:cNvPr id="18" name="Text 13">
            <a:extLst>
              <a:ext uri="{FF2B5EF4-FFF2-40B4-BE49-F238E27FC236}">
                <a16:creationId xmlns:a16="http://schemas.microsoft.com/office/drawing/2014/main" id="{DA29DBA0-D8DE-62F2-7ECA-240C3EE150BD}"/>
              </a:ext>
            </a:extLst>
          </p:cNvPr>
          <p:cNvSpPr/>
          <p:nvPr/>
        </p:nvSpPr>
        <p:spPr>
          <a:xfrm>
            <a:off x="1144714" y="4583744"/>
            <a:ext cx="8343410" cy="320040"/>
          </a:xfrm>
          <a:prstGeom prst="rect">
            <a:avLst/>
          </a:prstGeom>
          <a:noFill/>
          <a:ln/>
        </p:spPr>
        <p:txBody>
          <a:bodyPr wrap="square" rtlCol="0" anchor="ctr"/>
          <a:lstStyle/>
          <a:p>
            <a:pPr marL="285750" indent="-285750">
              <a:buFont typeface="Arial" panose="020B0604020202020204" pitchFamily="34" charset="0"/>
              <a:buChar char="•"/>
            </a:pPr>
            <a:r>
              <a:rPr lang="ko-KR" altLang="en-US" b="1" dirty="0">
                <a:solidFill>
                  <a:srgbClr val="27500A"/>
                </a:solidFill>
                <a:latin typeface="Calibri" pitchFamily="34" charset="0"/>
                <a:ea typeface="맑은 고딕" pitchFamily="34" charset="-122"/>
                <a:cs typeface="Calibri" pitchFamily="34" charset="-120"/>
              </a:rPr>
              <a:t>1단계는 이 둘이 일치하는 유일한 경우다:</a:t>
            </a:r>
            <a:endParaRPr lang="en-US" dirty="0">
              <a:ea typeface="맑은 고딕"/>
            </a:endParaRPr>
          </a:p>
        </p:txBody>
      </p:sp>
      <p:sp>
        <p:nvSpPr>
          <p:cNvPr id="20" name="Text 14">
            <a:extLst>
              <a:ext uri="{FF2B5EF4-FFF2-40B4-BE49-F238E27FC236}">
                <a16:creationId xmlns:a16="http://schemas.microsoft.com/office/drawing/2014/main" id="{E33C3B2B-0DA6-6D8A-4DC7-068194362EB4}"/>
              </a:ext>
            </a:extLst>
          </p:cNvPr>
          <p:cNvSpPr/>
          <p:nvPr/>
        </p:nvSpPr>
        <p:spPr>
          <a:xfrm>
            <a:off x="1121548" y="4903784"/>
            <a:ext cx="8262406" cy="1253261"/>
          </a:xfrm>
          <a:prstGeom prst="rect">
            <a:avLst/>
          </a:prstGeom>
          <a:noFill/>
          <a:ln/>
        </p:spPr>
        <p:txBody>
          <a:bodyPr wrap="square" rtlCol="0" anchor="ctr"/>
          <a:lstStyle/>
          <a:p>
            <a:pPr marL="285750" indent="-285750">
              <a:spcAft>
                <a:spcPts val="700"/>
              </a:spcAft>
              <a:buSzPct val="100000"/>
              <a:buFontTx/>
              <a:buChar char="−"/>
            </a:pPr>
            <a:r>
              <a:rPr lang="ko-KR" altLang="en-US" dirty="0">
                <a:solidFill>
                  <a:srgbClr val="27500A"/>
                </a:solidFill>
                <a:latin typeface="Calibri" pitchFamily="34" charset="0"/>
                <a:ea typeface="맑은 고딕" pitchFamily="34" charset="-122"/>
                <a:cs typeface="Calibri" pitchFamily="34" charset="-120"/>
              </a:rPr>
              <a:t>성장이 없다는 것은 순신규투자가 0이라는 뜻이다</a:t>
            </a:r>
            <a:endParaRPr lang="en-US" dirty="0">
              <a:ea typeface="맑은 고딕"/>
            </a:endParaRPr>
          </a:p>
          <a:p>
            <a:pPr marL="285750" indent="-285750">
              <a:spcAft>
                <a:spcPts val="700"/>
              </a:spcAft>
              <a:buSzPct val="100000"/>
              <a:buFontTx/>
              <a:buChar char="−"/>
            </a:pPr>
            <a:r>
              <a:rPr lang="ko-KR" altLang="en-US" dirty="0">
                <a:solidFill>
                  <a:srgbClr val="27500A"/>
                </a:solidFill>
                <a:latin typeface="Calibri" pitchFamily="34" charset="0"/>
                <a:ea typeface="맑은 고딕" pitchFamily="34" charset="-122"/>
                <a:cs typeface="Calibri" pitchFamily="34" charset="-120"/>
              </a:rPr>
              <a:t>자본적지출(CapEx)은 감가상각비를 대체하는 수준에 그치고, 운전자본은 변동이 없다</a:t>
            </a:r>
            <a:endParaRPr lang="en-US" dirty="0">
              <a:ea typeface="맑은 고딕"/>
            </a:endParaRPr>
          </a:p>
          <a:p>
            <a:pPr marL="285750" indent="-285750">
              <a:spcAft>
                <a:spcPts val="700"/>
              </a:spcAft>
              <a:buSzPct val="100000"/>
              <a:buFontTx/>
              <a:buChar char="−"/>
            </a:pPr>
            <a:r>
              <a:rPr lang="ko-KR" altLang="en-US" dirty="0">
                <a:solidFill>
                  <a:srgbClr val="27500A"/>
                </a:solidFill>
                <a:latin typeface="Calibri" pitchFamily="34" charset="0"/>
                <a:ea typeface="맑은 고딕" pitchFamily="34" charset="-122"/>
                <a:cs typeface="Calibri" pitchFamily="34" charset="-120"/>
              </a:rPr>
              <a:t>이익과 현금흐름을 갈라놓는 비현금항목들이 서로 상쇄된다</a:t>
            </a:r>
            <a:endParaRPr lang="en-US" dirty="0">
              <a:ea typeface="맑은 고딕"/>
            </a:endParaRPr>
          </a:p>
        </p:txBody>
      </p:sp>
      <p:sp>
        <p:nvSpPr>
          <p:cNvPr id="23" name="Text 15">
            <a:extLst>
              <a:ext uri="{FF2B5EF4-FFF2-40B4-BE49-F238E27FC236}">
                <a16:creationId xmlns:a16="http://schemas.microsoft.com/office/drawing/2014/main" id="{8B412558-5D9F-82C3-91ED-D776ED9392BB}"/>
              </a:ext>
            </a:extLst>
          </p:cNvPr>
          <p:cNvSpPr/>
          <p:nvPr/>
        </p:nvSpPr>
        <p:spPr>
          <a:xfrm>
            <a:off x="1202552" y="6066787"/>
            <a:ext cx="8343410" cy="457200"/>
          </a:xfrm>
          <a:prstGeom prst="rect">
            <a:avLst/>
          </a:prstGeom>
          <a:noFill/>
          <a:ln/>
        </p:spPr>
        <p:txBody>
          <a:bodyPr wrap="square" rtlCol="0" anchor="ctr"/>
          <a:lstStyle/>
          <a:p>
            <a:pPr marL="285750" indent="-285750">
              <a:buFont typeface="Arial" panose="020B0604020202020204" pitchFamily="34" charset="0"/>
              <a:buChar char="•"/>
            </a:pPr>
            <a:r>
              <a:rPr lang="ko-KR" altLang="en-US" b="1" i="1" dirty="0">
                <a:solidFill>
                  <a:srgbClr val="C00000"/>
                </a:solidFill>
                <a:latin typeface="Calibri" pitchFamily="34" charset="0"/>
                <a:ea typeface="맑은 고딕" pitchFamily="34" charset="-122"/>
                <a:cs typeface="Calibri" pitchFamily="34" charset="-120"/>
              </a:rPr>
              <a:t>이익 = 배당 = 잉여현금흐름</a:t>
            </a:r>
            <a:r>
              <a:rPr lang="en-US" i="1" dirty="0">
                <a:solidFill>
                  <a:srgbClr val="C00000"/>
                </a:solidFill>
                <a:latin typeface="Calibri" pitchFamily="34" charset="0"/>
                <a:ea typeface="Calibri" pitchFamily="34" charset="-122"/>
                <a:cs typeface="Calibri" pitchFamily="34" charset="-120"/>
              </a:rPr>
              <a:t> </a:t>
            </a:r>
            <a:r>
              <a:rPr lang="ko-KR" altLang="en-US" i="1" dirty="0">
                <a:solidFill>
                  <a:srgbClr val="27500A"/>
                </a:solidFill>
                <a:latin typeface="Calibri" pitchFamily="34" charset="0"/>
                <a:ea typeface="맑은 고딕" pitchFamily="34" charset="-122"/>
                <a:cs typeface="Calibri" pitchFamily="34" charset="-120"/>
              </a:rPr>
              <a:t>— 근사치가 아니라 가정에 의해 성립한다.</a:t>
            </a:r>
            <a:endParaRPr lang="en-US" dirty="0">
              <a:ea typeface="맑은 고딕"/>
            </a:endParaRPr>
          </a:p>
        </p:txBody>
      </p:sp>
    </p:spTree>
    <p:extLst>
      <p:ext uri="{BB962C8B-B14F-4D97-AF65-F5344CB8AC3E}">
        <p14:creationId xmlns:p14="http://schemas.microsoft.com/office/powerpoint/2010/main" val="35524401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7EDBE-29F9-153B-0633-FD4BD74E3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2BE35-5274-E8D1-0A39-69CCB716E5BC}"/>
              </a:ext>
            </a:extLst>
          </p:cNvPr>
          <p:cNvSpPr>
            <a:spLocks noGrp="1"/>
          </p:cNvSpPr>
          <p:nvPr>
            <p:ph type="title"/>
          </p:nvPr>
        </p:nvSpPr>
        <p:spPr/>
        <p:txBody>
          <a:bodyPr>
            <a:normAutofit/>
          </a:bodyPr>
          <a:lstStyle/>
          <a:p>
            <a:r>
              <a:rPr lang="ko-KR" altLang="en-US" dirty="0">
                <a:latin typeface="+mn-lt"/>
                <a:ea typeface="맑은 고딕"/>
              </a:rPr>
              <a:t>세 가지 요인의 대수적 전개 – 2단계 </a:t>
            </a:r>
          </a:p>
        </p:txBody>
      </p:sp>
      <p:sp>
        <p:nvSpPr>
          <p:cNvPr id="14" name="Text 12">
            <a:extLst>
              <a:ext uri="{FF2B5EF4-FFF2-40B4-BE49-F238E27FC236}">
                <a16:creationId xmlns:a16="http://schemas.microsoft.com/office/drawing/2014/main" id="{01A880FF-EFFB-D98D-FC76-0B54EE214AB5}"/>
              </a:ext>
            </a:extLst>
          </p:cNvPr>
          <p:cNvSpPr/>
          <p:nvPr/>
        </p:nvSpPr>
        <p:spPr>
          <a:xfrm>
            <a:off x="912240" y="1437711"/>
            <a:ext cx="9983467" cy="1712676"/>
          </a:xfrm>
          <a:prstGeom prst="roundRect">
            <a:avLst>
              <a:gd name="adj" fmla="val 0"/>
            </a:avLst>
          </a:prstGeom>
          <a:solidFill>
            <a:srgbClr val="EFF6FF"/>
          </a:solidFill>
          <a:ln>
            <a:solidFill>
              <a:srgbClr val="3B82F6"/>
            </a:solidFill>
          </a:ln>
        </p:spPr>
        <p:txBody>
          <a:bodyPr wrap="square" rtlCol="0" anchor="ctr"/>
          <a:lstStyle/>
          <a:p>
            <a:endParaRPr lang="en-US" sz="2400" dirty="0">
              <a:ea typeface="맑은 고딕"/>
            </a:endParaRPr>
          </a:p>
        </p:txBody>
      </p:sp>
      <p:sp>
        <p:nvSpPr>
          <p:cNvPr id="22" name="Text 6">
            <a:extLst>
              <a:ext uri="{FF2B5EF4-FFF2-40B4-BE49-F238E27FC236}">
                <a16:creationId xmlns:a16="http://schemas.microsoft.com/office/drawing/2014/main" id="{BF981303-4F1F-E214-B1A3-200001782959}"/>
              </a:ext>
            </a:extLst>
          </p:cNvPr>
          <p:cNvSpPr/>
          <p:nvPr/>
        </p:nvSpPr>
        <p:spPr>
          <a:xfrm>
            <a:off x="1144714" y="1617882"/>
            <a:ext cx="9586002" cy="1248490"/>
          </a:xfrm>
          <a:prstGeom prst="rect">
            <a:avLst/>
          </a:prstGeom>
          <a:noFill/>
          <a:ln/>
        </p:spPr>
        <p:txBody>
          <a:bodyPr wrap="square" lIns="0" tIns="0" rIns="0" bIns="0" rtlCol="0" anchor="t"/>
          <a:lstStyle/>
          <a:p>
            <a:r>
              <a:rPr lang="ko-KR" altLang="en-US" sz="2000" b="1" dirty="0">
                <a:solidFill>
                  <a:srgbClr val="1E40AF"/>
                </a:solidFill>
                <a:latin typeface="Arial" pitchFamily="34" charset="0"/>
                <a:ea typeface="맑은 고딕"/>
                <a:cs typeface="Arial" pitchFamily="34" charset="-120"/>
              </a:rPr>
              <a:t>2단계 – 기업이 재투자하는 경우</a:t>
            </a:r>
            <a:endParaRPr lang="en-US" sz="2000" dirty="0">
              <a:ea typeface="맑은 고딕"/>
            </a:endParaRPr>
          </a:p>
          <a:p>
            <a:pPr marL="285750" lvl="0" indent="-285750">
              <a:buFont typeface="Arial" panose="020B0604020202020204" pitchFamily="34" charset="0"/>
              <a:buChar char="•"/>
            </a:pPr>
            <a:r>
              <a:rPr lang="ko-KR" altLang="en-US" dirty="0">
                <a:ea typeface="맑은 고딕"/>
              </a:rPr>
              <a:t>배당성향을 b라 하면 분자는 b × E₁이 된다. 고든 성장모형(Gordon growth model)에 따르면:</a:t>
            </a:r>
          </a:p>
          <a:p>
            <a:pPr marL="285750" lvl="0" indent="-285750">
              <a:buFont typeface="Arial" panose="020B0604020202020204" pitchFamily="34" charset="0"/>
              <a:buChar char="•"/>
            </a:pPr>
            <a:endParaRPr lang="en-US" dirty="0">
              <a:latin typeface="Arial" panose="020B0604020202020204" pitchFamily="34" charset="0"/>
              <a:ea typeface="맑은 고딕"/>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68F2BF-8710-3596-B8BD-15B02153B57A}"/>
                  </a:ext>
                </a:extLst>
              </p:cNvPr>
              <p:cNvSpPr txBox="1"/>
              <p:nvPr/>
            </p:nvSpPr>
            <p:spPr>
              <a:xfrm>
                <a:off x="3523375" y="2318937"/>
                <a:ext cx="4757322" cy="730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1F4899"/>
                          </a:solidFill>
                          <a:latin typeface="Cambria Math" panose="02040503050406030204" pitchFamily="18" charset="0"/>
                        </a:rPr>
                        <m:t>𝑷</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smtClean="0">
                              <a:solidFill>
                                <a:srgbClr val="1F4899"/>
                              </a:solidFill>
                              <a:latin typeface="Cambria Math" panose="02040503050406030204" pitchFamily="18" charset="0"/>
                            </a:rPr>
                            <m:t>𝒃</m:t>
                          </m:r>
                          <m:r>
                            <a:rPr lang="en-US" sz="2000" b="1" i="1" smtClean="0">
                              <a:solidFill>
                                <a:srgbClr val="1F4899"/>
                              </a:solidFill>
                              <a:latin typeface="Cambria Math" panose="02040503050406030204" pitchFamily="18" charset="0"/>
                            </a:rPr>
                            <m:t> ∗ </m:t>
                          </m:r>
                          <m:sSub>
                            <m:sSubPr>
                              <m:ctrlPr>
                                <a:rPr lang="en-US" sz="2000" b="1" i="1" smtClean="0">
                                  <a:solidFill>
                                    <a:srgbClr val="1F4899"/>
                                  </a:solidFill>
                                  <a:latin typeface="Cambria Math" panose="02040503050406030204" pitchFamily="18" charset="0"/>
                                </a:rPr>
                              </m:ctrlPr>
                            </m:sSubPr>
                            <m:e>
                              <m:r>
                                <a:rPr lang="en-US" sz="2000" b="1" i="1" smtClean="0">
                                  <a:solidFill>
                                    <a:srgbClr val="1F4899"/>
                                  </a:solidFill>
                                  <a:latin typeface="Cambria Math" panose="02040503050406030204" pitchFamily="18" charset="0"/>
                                </a:rPr>
                                <m:t>𝑬</m:t>
                              </m:r>
                            </m:e>
                            <m:sub>
                              <m:r>
                                <a:rPr lang="en-US" sz="2000" b="1" i="1" smtClean="0">
                                  <a:solidFill>
                                    <a:srgbClr val="1F4899"/>
                                  </a:solidFill>
                                  <a:latin typeface="Cambria Math" panose="02040503050406030204" pitchFamily="18" charset="0"/>
                                </a:rPr>
                                <m:t>𝟏</m:t>
                              </m:r>
                            </m:sub>
                          </m:sSub>
                        </m:num>
                        <m:den>
                          <m:r>
                            <a:rPr lang="en-US" sz="2000" b="1" i="1">
                              <a:solidFill>
                                <a:srgbClr val="1F4899"/>
                              </a:solidFill>
                              <a:latin typeface="Cambria Math" panose="02040503050406030204" pitchFamily="18" charset="0"/>
                            </a:rPr>
                            <m:t>𝒓</m:t>
                          </m:r>
                        </m:den>
                      </m:f>
                      <m:r>
                        <a:rPr lang="en-US" sz="2000" b="1" i="0">
                          <a:solidFill>
                            <a:srgbClr val="1F4899"/>
                          </a:solidFill>
                          <a:latin typeface="Cambria Math" panose="02040503050406030204" pitchFamily="18" charset="0"/>
                        </a:rPr>
                        <m:t>    </m:t>
                      </m:r>
                      <m:r>
                        <a:rPr lang="en-US" sz="2000" b="1" i="1">
                          <a:solidFill>
                            <a:srgbClr val="1F4899"/>
                          </a:solidFill>
                          <a:latin typeface="Cambria Math" panose="02040503050406030204" pitchFamily="18" charset="0"/>
                        </a:rPr>
                        <m:t>𝒔𝒐</m:t>
                      </m:r>
                      <m:r>
                        <a:rPr lang="en-US" sz="2000" b="1" i="0">
                          <a:solidFill>
                            <a:srgbClr val="1F4899"/>
                          </a:solidFill>
                          <a:latin typeface="Cambria Math" panose="02040503050406030204" pitchFamily="18" charset="0"/>
                        </a:rPr>
                        <m:t>  </m:t>
                      </m:r>
                      <m:r>
                        <m:rPr>
                          <m:nor/>
                        </m:rPr>
                        <a:rPr lang="en-US" sz="2000" b="1" i="1">
                          <a:solidFill>
                            <a:srgbClr val="1F4899"/>
                          </a:solidFill>
                          <a:latin typeface="Cambria Math" panose="02040503050406030204" pitchFamily="18" charset="0"/>
                        </a:rPr>
                        <m:t>P</m:t>
                      </m:r>
                      <m:r>
                        <m:rPr>
                          <m:nor/>
                        </m:rPr>
                        <a:rPr lang="en-US" sz="2000" b="1" i="1">
                          <a:solidFill>
                            <a:srgbClr val="1F4899"/>
                          </a:solidFill>
                          <a:latin typeface="Cambria Math" panose="02040503050406030204" pitchFamily="18" charset="0"/>
                        </a:rPr>
                        <m:t>/</m:t>
                      </m:r>
                      <m:r>
                        <m:rPr>
                          <m:nor/>
                        </m:rPr>
                        <a:rPr lang="en-US" sz="2000" b="1" i="1">
                          <a:solidFill>
                            <a:srgbClr val="1F4899"/>
                          </a:solidFill>
                          <a:latin typeface="Cambria Math" panose="02040503050406030204" pitchFamily="18" charset="0"/>
                        </a:rPr>
                        <m:t>E</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0" smtClean="0">
                              <a:solidFill>
                                <a:srgbClr val="1F4899"/>
                              </a:solidFill>
                              <a:latin typeface="Cambria Math" panose="02040503050406030204" pitchFamily="18" charset="0"/>
                            </a:rPr>
                            <m:t>𝐛</m:t>
                          </m:r>
                        </m:num>
                        <m:den>
                          <m:r>
                            <a:rPr lang="en-US" sz="2000" b="1" i="1">
                              <a:solidFill>
                                <a:srgbClr val="1F4899"/>
                              </a:solidFill>
                              <a:latin typeface="Cambria Math" panose="02040503050406030204" pitchFamily="18" charset="0"/>
                            </a:rPr>
                            <m:t>𝒓</m:t>
                          </m:r>
                          <m:r>
                            <a:rPr lang="en-US" sz="2000" b="1" i="1" smtClean="0">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𝒈</m:t>
                          </m:r>
                        </m:den>
                      </m:f>
                    </m:oMath>
                  </m:oMathPara>
                </a14:m>
                <a:endParaRPr lang="en-US" b="1" dirty="0">
                  <a:ea typeface="맑은 고딕"/>
                </a:endParaRPr>
              </a:p>
            </p:txBody>
          </p:sp>
        </mc:Choice>
        <mc:Fallback xmlns="">
          <p:sp>
            <p:nvSpPr>
              <p:cNvPr id="7" name="TextBox 6">
                <a:extLst>
                  <a:ext uri="{FF2B5EF4-FFF2-40B4-BE49-F238E27FC236}">
                    <a16:creationId xmlns:a16="http://schemas.microsoft.com/office/drawing/2014/main" id="{BD68F2BF-8710-3596-B8BD-15B02153B57A}"/>
                  </a:ext>
                </a:extLst>
              </p:cNvPr>
              <p:cNvSpPr txBox="1">
                <a:spLocks noRot="1" noChangeAspect="1" noMove="1" noResize="1" noEditPoints="1" noAdjustHandles="1" noChangeArrowheads="1" noChangeShapeType="1" noTextEdit="1"/>
              </p:cNvSpPr>
              <p:nvPr/>
            </p:nvSpPr>
            <p:spPr>
              <a:xfrm>
                <a:off x="3523375" y="2318937"/>
                <a:ext cx="4757322" cy="730906"/>
              </a:xfrm>
              <a:prstGeom prst="rect">
                <a:avLst/>
              </a:prstGeom>
              <a:blipFill>
                <a:blip r:embed="rId3"/>
                <a:stretch>
                  <a:fillRect/>
                </a:stretch>
              </a:blipFill>
            </p:spPr>
            <p:txBody>
              <a:bodyPr/>
              <a:lstStyle/>
              <a:p>
                <a:r>
                  <a:rPr lang="en-US">
                    <a:noFill/>
                  </a:rPr>
                  <a:t> </a:t>
                </a:r>
              </a:p>
            </p:txBody>
          </p:sp>
        </mc:Fallback>
      </mc:AlternateContent>
      <p:sp>
        <p:nvSpPr>
          <p:cNvPr id="11" name="Shape 10">
            <a:extLst>
              <a:ext uri="{FF2B5EF4-FFF2-40B4-BE49-F238E27FC236}">
                <a16:creationId xmlns:a16="http://schemas.microsoft.com/office/drawing/2014/main" id="{F1EE0D89-3A0D-B75C-1FC4-93E046510A83}"/>
              </a:ext>
            </a:extLst>
          </p:cNvPr>
          <p:cNvSpPr/>
          <p:nvPr/>
        </p:nvSpPr>
        <p:spPr>
          <a:xfrm>
            <a:off x="911480" y="3292690"/>
            <a:ext cx="9995722" cy="2220554"/>
          </a:xfrm>
          <a:prstGeom prst="roundRect">
            <a:avLst>
              <a:gd name="adj" fmla="val 0"/>
            </a:avLst>
          </a:prstGeom>
          <a:solidFill>
            <a:srgbClr val="FEF2F2"/>
          </a:solidFill>
          <a:ln w="12700">
            <a:solidFill>
              <a:schemeClr val="accent2">
                <a:lumMod val="60000"/>
                <a:lumOff val="40000"/>
              </a:schemeClr>
            </a:solidFill>
            <a:prstDash val="solid"/>
          </a:ln>
        </p:spPr>
        <p:txBody>
          <a:bodyPr/>
          <a:lstStyle/>
          <a:p>
            <a:endParaRPr lang="en-US" sz="2400" dirty="0">
              <a:ea typeface="맑은 고딕"/>
            </a:endParaRPr>
          </a:p>
        </p:txBody>
      </p:sp>
      <p:sp>
        <p:nvSpPr>
          <p:cNvPr id="16" name="Text 12">
            <a:extLst>
              <a:ext uri="{FF2B5EF4-FFF2-40B4-BE49-F238E27FC236}">
                <a16:creationId xmlns:a16="http://schemas.microsoft.com/office/drawing/2014/main" id="{CE393806-44FB-6485-97EF-794FF01A9702}"/>
              </a:ext>
            </a:extLst>
          </p:cNvPr>
          <p:cNvSpPr/>
          <p:nvPr/>
        </p:nvSpPr>
        <p:spPr>
          <a:xfrm>
            <a:off x="854402" y="3695601"/>
            <a:ext cx="9360676" cy="868680"/>
          </a:xfrm>
          <a:prstGeom prst="rect">
            <a:avLst/>
          </a:prstGeom>
          <a:noFill/>
          <a:ln/>
        </p:spPr>
        <p:txBody>
          <a:bodyPr wrap="square" rtlCol="0" anchor="t"/>
          <a:lstStyle/>
          <a:p>
            <a:pPr marL="742950" lvl="1" indent="-285750">
              <a:buFont typeface="Arial" panose="020B0604020202020204" pitchFamily="34" charset="0"/>
              <a:buChar char="•"/>
            </a:pPr>
            <a:r>
              <a:rPr lang="ko-KR" altLang="en-US" sz="2000" dirty="0">
                <a:ea typeface="맑은 고딕"/>
              </a:rPr>
              <a:t>1단계는 g = 0이고 b = 1인 특수한 경우다. </a:t>
            </a:r>
            <a:r>
              <a:rPr lang="ko-KR" altLang="en-US" sz="2000" b="1" dirty="0">
                <a:ea typeface="맑은 고딕"/>
              </a:rPr>
              <a:t>성장(Growth)</a:t>
            </a:r>
            <a:r>
              <a:rPr lang="ko-KR" altLang="en-US" sz="2000" dirty="0">
                <a:ea typeface="맑은 고딕"/>
              </a:rPr>
              <a:t>은 분모를 잠식하는 방식으로 작용한다 — 단독으로 작용하는 것이 아니라 r과 g의 차이(spread)에 작용한다.</a:t>
            </a:r>
          </a:p>
        </p:txBody>
      </p:sp>
      <p:sp>
        <p:nvSpPr>
          <p:cNvPr id="20" name="Text 14">
            <a:extLst>
              <a:ext uri="{FF2B5EF4-FFF2-40B4-BE49-F238E27FC236}">
                <a16:creationId xmlns:a16="http://schemas.microsoft.com/office/drawing/2014/main" id="{2D08217D-49CE-27FC-2084-2A923B721A25}"/>
              </a:ext>
            </a:extLst>
          </p:cNvPr>
          <p:cNvSpPr/>
          <p:nvPr/>
        </p:nvSpPr>
        <p:spPr>
          <a:xfrm>
            <a:off x="1243054" y="4465778"/>
            <a:ext cx="8262406" cy="643718"/>
          </a:xfrm>
          <a:prstGeom prst="rect">
            <a:avLst/>
          </a:prstGeom>
          <a:noFill/>
          <a:ln/>
        </p:spPr>
        <p:txBody>
          <a:bodyPr wrap="square" rtlCol="0" anchor="ctr"/>
          <a:lstStyle/>
          <a:p>
            <a:pPr>
              <a:spcAft>
                <a:spcPts val="700"/>
              </a:spcAft>
              <a:buSzPct val="100000"/>
            </a:pPr>
            <a:endParaRPr lang="en-US" dirty="0">
              <a:ea typeface="맑은 고딕"/>
            </a:endParaRPr>
          </a:p>
        </p:txBody>
      </p:sp>
      <p:sp>
        <p:nvSpPr>
          <p:cNvPr id="23" name="Text 15">
            <a:extLst>
              <a:ext uri="{FF2B5EF4-FFF2-40B4-BE49-F238E27FC236}">
                <a16:creationId xmlns:a16="http://schemas.microsoft.com/office/drawing/2014/main" id="{846DC259-9242-67C6-CF8D-12E46D155209}"/>
              </a:ext>
            </a:extLst>
          </p:cNvPr>
          <p:cNvSpPr/>
          <p:nvPr/>
        </p:nvSpPr>
        <p:spPr>
          <a:xfrm>
            <a:off x="1363035" y="4485589"/>
            <a:ext cx="8343410" cy="457200"/>
          </a:xfrm>
          <a:prstGeom prst="rect">
            <a:avLst/>
          </a:prstGeom>
          <a:noFill/>
          <a:ln/>
        </p:spPr>
        <p:txBody>
          <a:bodyPr wrap="square" rtlCol="0" anchor="ctr"/>
          <a:lstStyle/>
          <a:p>
            <a:pPr marL="285750" indent="-285750">
              <a:buFont typeface="Arial" panose="020B0604020202020204" pitchFamily="34" charset="0"/>
              <a:buChar char="•"/>
            </a:pPr>
            <a:r>
              <a:rPr lang="ko-KR" altLang="en-US" b="1" i="1" dirty="0">
                <a:solidFill>
                  <a:srgbClr val="C00000"/>
                </a:solidFill>
                <a:latin typeface="Calibri" pitchFamily="34" charset="0"/>
                <a:ea typeface="맑은 고딕" pitchFamily="34" charset="-122"/>
                <a:cs typeface="Calibri" pitchFamily="34" charset="-120"/>
              </a:rPr>
              <a:t>이익 = 배당 = 잉여현금흐름</a:t>
            </a:r>
            <a:r>
              <a:rPr lang="en-US" i="1" dirty="0">
                <a:solidFill>
                  <a:srgbClr val="C00000"/>
                </a:solidFill>
                <a:latin typeface="Calibri" pitchFamily="34" charset="0"/>
                <a:ea typeface="Calibri" pitchFamily="34" charset="-122"/>
                <a:cs typeface="Calibri" pitchFamily="34" charset="-120"/>
              </a:rPr>
              <a:t> </a:t>
            </a:r>
            <a:r>
              <a:rPr lang="ko-KR" altLang="en-US" i="1" dirty="0">
                <a:solidFill>
                  <a:srgbClr val="27500A"/>
                </a:solidFill>
                <a:latin typeface="Calibri" pitchFamily="34" charset="0"/>
                <a:ea typeface="맑은 고딕" pitchFamily="34" charset="-122"/>
                <a:cs typeface="Calibri" pitchFamily="34" charset="-120"/>
              </a:rPr>
              <a:t>— 근사치가 아니라 가정에 의해 성립한다.</a:t>
            </a:r>
            <a:endParaRPr lang="en-US" dirty="0">
              <a:ea typeface="맑은 고딕"/>
            </a:endParaRPr>
          </a:p>
        </p:txBody>
      </p:sp>
    </p:spTree>
    <p:extLst>
      <p:ext uri="{BB962C8B-B14F-4D97-AF65-F5344CB8AC3E}">
        <p14:creationId xmlns:p14="http://schemas.microsoft.com/office/powerpoint/2010/main" val="3733048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11" grpId="0" animBg="1"/>
      <p:bldP spid="16" grpId="0" animBg="1"/>
      <p:bldP spid="20"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0D89-D0AA-ECC4-693A-506067EA0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EB46C-9364-1A46-3FCF-AC0B33EBEE43}"/>
              </a:ext>
            </a:extLst>
          </p:cNvPr>
          <p:cNvSpPr>
            <a:spLocks noGrp="1"/>
          </p:cNvSpPr>
          <p:nvPr>
            <p:ph type="title"/>
          </p:nvPr>
        </p:nvSpPr>
        <p:spPr/>
        <p:txBody>
          <a:bodyPr>
            <a:normAutofit/>
          </a:bodyPr>
          <a:lstStyle/>
          <a:p>
            <a:r>
              <a:rPr lang="ko-KR" altLang="en-US" dirty="0">
                <a:latin typeface="+mn-lt"/>
                <a:ea typeface="맑은 고딕"/>
              </a:rPr>
              <a:t>세 가지 요인의 대수적 전개 – 3단계 </a:t>
            </a:r>
          </a:p>
        </p:txBody>
      </p:sp>
      <p:sp>
        <p:nvSpPr>
          <p:cNvPr id="14" name="Text 12">
            <a:extLst>
              <a:ext uri="{FF2B5EF4-FFF2-40B4-BE49-F238E27FC236}">
                <a16:creationId xmlns:a16="http://schemas.microsoft.com/office/drawing/2014/main" id="{DEC2A934-1317-F504-D2B1-6C5AF834850D}"/>
              </a:ext>
            </a:extLst>
          </p:cNvPr>
          <p:cNvSpPr/>
          <p:nvPr/>
        </p:nvSpPr>
        <p:spPr>
          <a:xfrm>
            <a:off x="923735" y="1512638"/>
            <a:ext cx="9983467" cy="1916362"/>
          </a:xfrm>
          <a:prstGeom prst="roundRect">
            <a:avLst>
              <a:gd name="adj" fmla="val 0"/>
            </a:avLst>
          </a:prstGeom>
          <a:solidFill>
            <a:srgbClr val="EFF6FF"/>
          </a:solidFill>
          <a:ln>
            <a:solidFill>
              <a:srgbClr val="3B82F6"/>
            </a:solidFill>
          </a:ln>
        </p:spPr>
        <p:txBody>
          <a:bodyPr wrap="square" rtlCol="0" anchor="ctr"/>
          <a:lstStyle/>
          <a:p>
            <a:endParaRPr lang="en-US" sz="2400" dirty="0">
              <a:ea typeface="맑은 고딕"/>
            </a:endParaRPr>
          </a:p>
        </p:txBody>
      </p:sp>
      <p:sp>
        <p:nvSpPr>
          <p:cNvPr id="22" name="Text 6">
            <a:extLst>
              <a:ext uri="{FF2B5EF4-FFF2-40B4-BE49-F238E27FC236}">
                <a16:creationId xmlns:a16="http://schemas.microsoft.com/office/drawing/2014/main" id="{F93EAE16-87B8-7383-F484-60227EE32383}"/>
              </a:ext>
            </a:extLst>
          </p:cNvPr>
          <p:cNvSpPr/>
          <p:nvPr/>
        </p:nvSpPr>
        <p:spPr>
          <a:xfrm>
            <a:off x="1144714" y="1712882"/>
            <a:ext cx="9586002" cy="1248490"/>
          </a:xfrm>
          <a:prstGeom prst="rect">
            <a:avLst/>
          </a:prstGeom>
          <a:noFill/>
          <a:ln/>
        </p:spPr>
        <p:txBody>
          <a:bodyPr wrap="square" lIns="0" tIns="0" rIns="0" bIns="0" rtlCol="0" anchor="t"/>
          <a:lstStyle/>
          <a:p>
            <a:r>
              <a:rPr lang="ko-KR" altLang="en-US" sz="2000" b="1" dirty="0">
                <a:solidFill>
                  <a:srgbClr val="1E40AF"/>
                </a:solidFill>
                <a:latin typeface="Arial" pitchFamily="34" charset="0"/>
                <a:ea typeface="맑은 고딕"/>
                <a:cs typeface="Arial" pitchFamily="34" charset="-120"/>
              </a:rPr>
              <a:t>3단계 – 이익의 질을 반영하는 경우</a:t>
            </a:r>
            <a:endParaRPr lang="en-US" sz="2000" dirty="0">
              <a:ea typeface="맑은 고딕"/>
            </a:endParaRPr>
          </a:p>
          <a:p>
            <a:pPr marL="285750" lvl="0" indent="-285750">
              <a:buFont typeface="Arial" panose="020B0604020202020204" pitchFamily="34" charset="0"/>
              <a:buChar char="•"/>
            </a:pPr>
            <a:r>
              <a:rPr lang="ko-KR" altLang="en-US" dirty="0">
                <a:ea typeface="맑은 고딕"/>
              </a:rPr>
              <a:t>보고이익 중 지속가능하고 현금으로 뒷받침되는 부분이 q의 비율에 불과하다면(이익의 질(earnings quality) 문제), 시장은 E가 아니라 q × E를 자본화한다:</a:t>
            </a:r>
            <a:endParaRPr lang="en-US" dirty="0">
              <a:latin typeface="Arial" panose="020B0604020202020204" pitchFamily="34" charset="0"/>
              <a:ea typeface="맑은 고딕"/>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4D55705-B734-8527-D221-987CE3A91934}"/>
                  </a:ext>
                </a:extLst>
              </p:cNvPr>
              <p:cNvSpPr txBox="1"/>
              <p:nvPr/>
            </p:nvSpPr>
            <p:spPr>
              <a:xfrm>
                <a:off x="3523375" y="2651437"/>
                <a:ext cx="4757322" cy="730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1F4899"/>
                          </a:solidFill>
                          <a:latin typeface="Cambria Math" panose="02040503050406030204" pitchFamily="18" charset="0"/>
                        </a:rPr>
                        <m:t>𝑷</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smtClean="0">
                              <a:solidFill>
                                <a:srgbClr val="1F4899"/>
                              </a:solidFill>
                              <a:latin typeface="Cambria Math" panose="02040503050406030204" pitchFamily="18" charset="0"/>
                            </a:rPr>
                            <m:t>𝒃</m:t>
                          </m:r>
                          <m:r>
                            <a:rPr lang="en-US" sz="2000" b="1" i="1" smtClean="0">
                              <a:solidFill>
                                <a:srgbClr val="1F4899"/>
                              </a:solidFill>
                              <a:latin typeface="Cambria Math" panose="02040503050406030204" pitchFamily="18" charset="0"/>
                            </a:rPr>
                            <m:t> ∗ </m:t>
                          </m:r>
                          <m:sSub>
                            <m:sSubPr>
                              <m:ctrlPr>
                                <a:rPr lang="en-US" sz="2000" b="1" i="1" smtClean="0">
                                  <a:solidFill>
                                    <a:srgbClr val="1F4899"/>
                                  </a:solidFill>
                                  <a:latin typeface="Cambria Math" panose="02040503050406030204" pitchFamily="18" charset="0"/>
                                </a:rPr>
                              </m:ctrlPr>
                            </m:sSubPr>
                            <m:e>
                              <m:r>
                                <a:rPr lang="en-US" sz="2000" b="1" i="1" smtClean="0">
                                  <a:solidFill>
                                    <a:srgbClr val="1F4899"/>
                                  </a:solidFill>
                                  <a:latin typeface="Cambria Math" panose="02040503050406030204" pitchFamily="18" charset="0"/>
                                </a:rPr>
                                <m:t>𝑬</m:t>
                              </m:r>
                            </m:e>
                            <m:sub>
                              <m:r>
                                <a:rPr lang="en-US" sz="2000" b="1" i="1" smtClean="0">
                                  <a:solidFill>
                                    <a:srgbClr val="1F4899"/>
                                  </a:solidFill>
                                  <a:latin typeface="Cambria Math" panose="02040503050406030204" pitchFamily="18" charset="0"/>
                                </a:rPr>
                                <m:t>𝟏</m:t>
                              </m:r>
                            </m:sub>
                          </m:sSub>
                          <m:r>
                            <a:rPr lang="en-US" sz="2000" b="1" i="1">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𝒒</m:t>
                          </m:r>
                        </m:num>
                        <m:den>
                          <m:r>
                            <a:rPr lang="en-US" sz="2000" b="1" i="1">
                              <a:solidFill>
                                <a:srgbClr val="1F4899"/>
                              </a:solidFill>
                              <a:latin typeface="Cambria Math" panose="02040503050406030204" pitchFamily="18" charset="0"/>
                            </a:rPr>
                            <m:t>𝒓</m:t>
                          </m:r>
                        </m:den>
                      </m:f>
                      <m:r>
                        <a:rPr lang="en-US" sz="2000" b="1" i="0">
                          <a:solidFill>
                            <a:srgbClr val="1F4899"/>
                          </a:solidFill>
                          <a:latin typeface="Cambria Math" panose="02040503050406030204" pitchFamily="18" charset="0"/>
                        </a:rPr>
                        <m:t>    </m:t>
                      </m:r>
                      <m:r>
                        <a:rPr lang="en-US" sz="2000" b="1" i="1">
                          <a:solidFill>
                            <a:srgbClr val="1F4899"/>
                          </a:solidFill>
                          <a:latin typeface="Cambria Math" panose="02040503050406030204" pitchFamily="18" charset="0"/>
                        </a:rPr>
                        <m:t>𝒔𝒐</m:t>
                      </m:r>
                      <m:r>
                        <a:rPr lang="en-US" sz="2000" b="1" i="0">
                          <a:solidFill>
                            <a:srgbClr val="1F4899"/>
                          </a:solidFill>
                          <a:latin typeface="Cambria Math" panose="02040503050406030204" pitchFamily="18" charset="0"/>
                        </a:rPr>
                        <m:t>  </m:t>
                      </m:r>
                      <m:r>
                        <m:rPr>
                          <m:nor/>
                        </m:rPr>
                        <a:rPr lang="en-US" sz="2000" b="1" i="1">
                          <a:solidFill>
                            <a:srgbClr val="1F4899"/>
                          </a:solidFill>
                          <a:latin typeface="Cambria Math" panose="02040503050406030204" pitchFamily="18" charset="0"/>
                        </a:rPr>
                        <m:t>P</m:t>
                      </m:r>
                      <m:r>
                        <m:rPr>
                          <m:nor/>
                        </m:rPr>
                        <a:rPr lang="en-US" sz="2000" b="1" i="1">
                          <a:solidFill>
                            <a:srgbClr val="1F4899"/>
                          </a:solidFill>
                          <a:latin typeface="Cambria Math" panose="02040503050406030204" pitchFamily="18" charset="0"/>
                        </a:rPr>
                        <m:t>/</m:t>
                      </m:r>
                      <m:r>
                        <m:rPr>
                          <m:nor/>
                        </m:rPr>
                        <a:rPr lang="en-US" sz="2000" b="1" i="1">
                          <a:solidFill>
                            <a:srgbClr val="1F4899"/>
                          </a:solidFill>
                          <a:latin typeface="Cambria Math" panose="02040503050406030204" pitchFamily="18" charset="0"/>
                        </a:rPr>
                        <m:t>E</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smtClean="0">
                              <a:solidFill>
                                <a:srgbClr val="1F4899"/>
                              </a:solidFill>
                              <a:latin typeface="Cambria Math" panose="02040503050406030204" pitchFamily="18" charset="0"/>
                            </a:rPr>
                            <m:t>𝒃</m:t>
                          </m:r>
                          <m:r>
                            <a:rPr lang="en-US" sz="2000" b="1" i="1" smtClean="0">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𝒒</m:t>
                          </m:r>
                        </m:num>
                        <m:den>
                          <m:r>
                            <a:rPr lang="en-US" sz="2000" b="1" i="1">
                              <a:solidFill>
                                <a:srgbClr val="1F4899"/>
                              </a:solidFill>
                              <a:latin typeface="Cambria Math" panose="02040503050406030204" pitchFamily="18" charset="0"/>
                            </a:rPr>
                            <m:t>𝒓</m:t>
                          </m:r>
                          <m:r>
                            <a:rPr lang="en-US" sz="2000" b="1" i="1" smtClean="0">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𝒈</m:t>
                          </m:r>
                        </m:den>
                      </m:f>
                    </m:oMath>
                  </m:oMathPara>
                </a14:m>
                <a:endParaRPr lang="en-US" b="1" i="1" dirty="0">
                  <a:ea typeface="맑은 고딕"/>
                </a:endParaRPr>
              </a:p>
            </p:txBody>
          </p:sp>
        </mc:Choice>
        <mc:Fallback xmlns="">
          <p:sp>
            <p:nvSpPr>
              <p:cNvPr id="7" name="TextBox 6">
                <a:extLst>
                  <a:ext uri="{FF2B5EF4-FFF2-40B4-BE49-F238E27FC236}">
                    <a16:creationId xmlns:a16="http://schemas.microsoft.com/office/drawing/2014/main" id="{84D55705-B734-8527-D221-987CE3A91934}"/>
                  </a:ext>
                </a:extLst>
              </p:cNvPr>
              <p:cNvSpPr txBox="1">
                <a:spLocks noRot="1" noChangeAspect="1" noMove="1" noResize="1" noEditPoints="1" noAdjustHandles="1" noChangeArrowheads="1" noChangeShapeType="1" noTextEdit="1"/>
              </p:cNvSpPr>
              <p:nvPr/>
            </p:nvSpPr>
            <p:spPr>
              <a:xfrm>
                <a:off x="3523375" y="2651437"/>
                <a:ext cx="4757322" cy="730906"/>
              </a:xfrm>
              <a:prstGeom prst="rect">
                <a:avLst/>
              </a:prstGeom>
              <a:blipFill>
                <a:blip r:embed="rId3"/>
                <a:stretch>
                  <a:fillRect/>
                </a:stretch>
              </a:blipFill>
            </p:spPr>
            <p:txBody>
              <a:bodyPr/>
              <a:lstStyle/>
              <a:p>
                <a:r>
                  <a:rPr lang="en-US">
                    <a:noFill/>
                  </a:rPr>
                  <a:t> </a:t>
                </a:r>
              </a:p>
            </p:txBody>
          </p:sp>
        </mc:Fallback>
      </mc:AlternateContent>
      <p:sp>
        <p:nvSpPr>
          <p:cNvPr id="11" name="Shape 10">
            <a:extLst>
              <a:ext uri="{FF2B5EF4-FFF2-40B4-BE49-F238E27FC236}">
                <a16:creationId xmlns:a16="http://schemas.microsoft.com/office/drawing/2014/main" id="{49AF71B8-D11D-B31E-AB0B-0F625A124C5F}"/>
              </a:ext>
            </a:extLst>
          </p:cNvPr>
          <p:cNvSpPr/>
          <p:nvPr/>
        </p:nvSpPr>
        <p:spPr>
          <a:xfrm>
            <a:off x="911480" y="3696448"/>
            <a:ext cx="9995722" cy="1173088"/>
          </a:xfrm>
          <a:prstGeom prst="roundRect">
            <a:avLst>
              <a:gd name="adj" fmla="val 0"/>
            </a:avLst>
          </a:prstGeom>
          <a:solidFill>
            <a:schemeClr val="bg2"/>
          </a:solidFill>
          <a:ln w="19050">
            <a:solidFill>
              <a:schemeClr val="bg2">
                <a:lumMod val="75000"/>
              </a:schemeClr>
            </a:solidFill>
            <a:prstDash val="solid"/>
          </a:ln>
        </p:spPr>
        <p:txBody>
          <a:bodyPr/>
          <a:lstStyle/>
          <a:p>
            <a:endParaRPr lang="en-US" sz="2400" dirty="0">
              <a:ea typeface="맑은 고딕"/>
            </a:endParaRPr>
          </a:p>
        </p:txBody>
      </p:sp>
      <p:sp>
        <p:nvSpPr>
          <p:cNvPr id="16" name="Text 12">
            <a:extLst>
              <a:ext uri="{FF2B5EF4-FFF2-40B4-BE49-F238E27FC236}">
                <a16:creationId xmlns:a16="http://schemas.microsoft.com/office/drawing/2014/main" id="{3FD27154-7D64-352A-7E12-4E80BC016327}"/>
              </a:ext>
            </a:extLst>
          </p:cNvPr>
          <p:cNvSpPr/>
          <p:nvPr/>
        </p:nvSpPr>
        <p:spPr>
          <a:xfrm>
            <a:off x="854402" y="3944981"/>
            <a:ext cx="9360676" cy="868680"/>
          </a:xfrm>
          <a:prstGeom prst="rect">
            <a:avLst/>
          </a:prstGeom>
          <a:noFill/>
          <a:ln/>
        </p:spPr>
        <p:txBody>
          <a:bodyPr wrap="square" rtlCol="0" anchor="t"/>
          <a:lstStyle/>
          <a:p>
            <a:pPr lvl="1"/>
            <a:r>
              <a:rPr lang="ko-KR" altLang="en-US" sz="2000" b="1" dirty="0">
                <a:ea typeface="맑은 고딕"/>
              </a:rPr>
              <a:t>이익의 질(Earnings quality)</a:t>
            </a:r>
            <a:r>
              <a:rPr lang="ko-KR" altLang="en-US" sz="2000" dirty="0">
                <a:ea typeface="맑은 고딕"/>
              </a:rPr>
              <a:t>은 분자에 자리한다. 성장성과 위험이 동일한 두 기업이라도 한 기업의 이익에서 발생액(accrual) 비중이 높다면 서로 다른 배수에 거래된다 (Topic 6).</a:t>
            </a:r>
          </a:p>
        </p:txBody>
      </p:sp>
    </p:spTree>
    <p:extLst>
      <p:ext uri="{BB962C8B-B14F-4D97-AF65-F5344CB8AC3E}">
        <p14:creationId xmlns:p14="http://schemas.microsoft.com/office/powerpoint/2010/main" val="15030498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11"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B9EB3-761D-32BC-02A9-A7E1D2314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963AE-2BD3-4BFC-D90E-799F77F3D7E6}"/>
              </a:ext>
            </a:extLst>
          </p:cNvPr>
          <p:cNvSpPr>
            <a:spLocks noGrp="1"/>
          </p:cNvSpPr>
          <p:nvPr>
            <p:ph type="title"/>
          </p:nvPr>
        </p:nvSpPr>
        <p:spPr/>
        <p:txBody>
          <a:bodyPr/>
          <a:lstStyle/>
          <a:p>
            <a:r>
              <a:rPr lang="en-US" dirty="0">
                <a:latin typeface="+mn-lt"/>
                <a:ea typeface="맑은 고딕"/>
              </a:rPr>
              <a:t>Appendix – </a:t>
            </a:r>
            <a:r>
              <a:rPr lang="ko-KR" altLang="en-US" dirty="0" err="1">
                <a:latin typeface="+mn-lt"/>
                <a:ea typeface="맑은 고딕"/>
              </a:rPr>
              <a:t>워런버펫</a:t>
            </a:r>
            <a:r>
              <a:rPr lang="ko-KR" altLang="en-US" dirty="0">
                <a:latin typeface="+mn-lt"/>
                <a:ea typeface="맑은 고딕"/>
              </a:rPr>
              <a:t> 어록</a:t>
            </a:r>
            <a:endParaRPr lang="en-US" dirty="0">
              <a:latin typeface="+mn-lt"/>
              <a:ea typeface="맑은 고딕"/>
            </a:endParaRPr>
          </a:p>
        </p:txBody>
      </p:sp>
    </p:spTree>
    <p:extLst>
      <p:ext uri="{BB962C8B-B14F-4D97-AF65-F5344CB8AC3E}">
        <p14:creationId xmlns:p14="http://schemas.microsoft.com/office/powerpoint/2010/main" val="2514561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4B290-D242-17BD-C24D-ED0816C5D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F433B-7ABE-796C-5730-148F119AA1F8}"/>
              </a:ext>
            </a:extLst>
          </p:cNvPr>
          <p:cNvSpPr>
            <a:spLocks noGrp="1"/>
          </p:cNvSpPr>
          <p:nvPr>
            <p:ph type="title"/>
          </p:nvPr>
        </p:nvSpPr>
        <p:spPr/>
        <p:txBody>
          <a:bodyPr>
            <a:normAutofit/>
          </a:bodyPr>
          <a:lstStyle/>
          <a:p>
            <a:r>
              <a:rPr lang="ko-KR" altLang="en-US" dirty="0" err="1">
                <a:ea typeface="맑은 고딕"/>
              </a:rPr>
              <a:t>워런버펫</a:t>
            </a:r>
            <a:r>
              <a:rPr lang="ko-KR" altLang="en-US" dirty="0">
                <a:ea typeface="맑은 고딕"/>
              </a:rPr>
              <a:t> 어록</a:t>
            </a:r>
            <a:endParaRPr lang="ko-KR" altLang="en-US" dirty="0">
              <a:latin typeface="+mn-lt"/>
              <a:ea typeface="맑은 고딕"/>
            </a:endParaRPr>
          </a:p>
        </p:txBody>
      </p:sp>
      <p:sp>
        <p:nvSpPr>
          <p:cNvPr id="14" name="Text 12">
            <a:extLst>
              <a:ext uri="{FF2B5EF4-FFF2-40B4-BE49-F238E27FC236}">
                <a16:creationId xmlns:a16="http://schemas.microsoft.com/office/drawing/2014/main" id="{CCA799BC-B247-1F4D-8B1E-D4203B3B1878}"/>
              </a:ext>
            </a:extLst>
          </p:cNvPr>
          <p:cNvSpPr/>
          <p:nvPr/>
        </p:nvSpPr>
        <p:spPr>
          <a:xfrm>
            <a:off x="912240" y="1437711"/>
            <a:ext cx="9983467" cy="5145651"/>
          </a:xfrm>
          <a:prstGeom prst="roundRect">
            <a:avLst>
              <a:gd name="adj" fmla="val 0"/>
            </a:avLst>
          </a:prstGeom>
          <a:solidFill>
            <a:srgbClr val="EFF6FF"/>
          </a:solidFill>
          <a:ln>
            <a:solidFill>
              <a:srgbClr val="3B82F6"/>
            </a:solidFill>
          </a:ln>
        </p:spPr>
        <p:txBody>
          <a:bodyPr wrap="square" rtlCol="0" anchor="ctr"/>
          <a:lstStyle/>
          <a:p>
            <a:endParaRPr lang="en-US" sz="2400" dirty="0">
              <a:ea typeface="맑은 고딕"/>
            </a:endParaRPr>
          </a:p>
        </p:txBody>
      </p:sp>
      <p:sp>
        <p:nvSpPr>
          <p:cNvPr id="22" name="Text 6">
            <a:extLst>
              <a:ext uri="{FF2B5EF4-FFF2-40B4-BE49-F238E27FC236}">
                <a16:creationId xmlns:a16="http://schemas.microsoft.com/office/drawing/2014/main" id="{9996496A-2445-9FA1-0182-A80264A6A435}"/>
              </a:ext>
            </a:extLst>
          </p:cNvPr>
          <p:cNvSpPr/>
          <p:nvPr/>
        </p:nvSpPr>
        <p:spPr>
          <a:xfrm>
            <a:off x="1144714" y="1617882"/>
            <a:ext cx="9586002" cy="3751027"/>
          </a:xfrm>
          <a:prstGeom prst="rect">
            <a:avLst/>
          </a:prstGeom>
          <a:noFill/>
          <a:ln/>
        </p:spPr>
        <p:txBody>
          <a:bodyPr wrap="square" lIns="0" tIns="0" rIns="0" bIns="0" rtlCol="0" anchor="t"/>
          <a:lstStyle/>
          <a:p>
            <a:pPr lvl="0"/>
            <a:r>
              <a:rPr lang="en-US" sz="2000" b="1" dirty="0"/>
              <a:t>"</a:t>
            </a:r>
            <a:r>
              <a:rPr lang="ko-KR" altLang="en-US" sz="2000" b="1" dirty="0"/>
              <a:t>가격은 지불하는 것이고</a:t>
            </a:r>
            <a:r>
              <a:rPr lang="en-US" sz="2000" b="1" dirty="0"/>
              <a:t>, </a:t>
            </a:r>
            <a:r>
              <a:rPr lang="ko-KR" altLang="en-US" sz="2000" b="1" dirty="0"/>
              <a:t>가치는 얻는 것이다</a:t>
            </a:r>
            <a:r>
              <a:rPr lang="en-US" sz="2000" b="1" dirty="0"/>
              <a:t>." (Price is what you pay. Value is what you get.)</a:t>
            </a:r>
            <a:br>
              <a:rPr lang="en-US" sz="2000" b="1" dirty="0"/>
            </a:br>
            <a:r>
              <a:rPr lang="en-US" sz="2000" dirty="0"/>
              <a:t>→ </a:t>
            </a:r>
            <a:r>
              <a:rPr lang="zh-CN" altLang="en-US" sz="2000" dirty="0"/>
              <a:t>주가가 아니라 내재가치에 집중하십시오</a:t>
            </a:r>
            <a:r>
              <a:rPr lang="en-US" sz="2000" dirty="0"/>
              <a:t>.</a:t>
            </a:r>
          </a:p>
          <a:p>
            <a:pPr lvl="0"/>
            <a:endParaRPr lang="en-US" sz="2000" dirty="0"/>
          </a:p>
          <a:p>
            <a:pPr lvl="0"/>
            <a:endParaRPr lang="en-US" sz="2000" dirty="0"/>
          </a:p>
          <a:p>
            <a:pPr lvl="0"/>
            <a:r>
              <a:rPr lang="en-US" sz="2000" b="1" dirty="0"/>
              <a:t>"</a:t>
            </a:r>
            <a:r>
              <a:rPr lang="ko-KR" altLang="en-US" sz="2000" b="1" dirty="0"/>
              <a:t>규칙</a:t>
            </a:r>
            <a:r>
              <a:rPr lang="en-US" sz="2000" b="1" dirty="0"/>
              <a:t> 1: </a:t>
            </a:r>
            <a:r>
              <a:rPr lang="ko-KR" altLang="en-US" sz="2000" b="1" dirty="0"/>
              <a:t>절대 돈을 잃지 마라</a:t>
            </a:r>
            <a:r>
              <a:rPr lang="en-US" sz="2000" b="1" dirty="0"/>
              <a:t>. </a:t>
            </a:r>
          </a:p>
          <a:p>
            <a:pPr lvl="0"/>
            <a:r>
              <a:rPr lang="en-US" altLang="ko-KR" sz="2000" b="1" dirty="0"/>
              <a:t>  </a:t>
            </a:r>
            <a:r>
              <a:rPr lang="ko-KR" altLang="en-US" sz="2000" b="1" dirty="0"/>
              <a:t>규칙</a:t>
            </a:r>
            <a:r>
              <a:rPr lang="en-US" sz="2000" b="1" dirty="0"/>
              <a:t> 2: </a:t>
            </a:r>
            <a:r>
              <a:rPr lang="ko-KR" altLang="en-US" sz="2000" b="1" dirty="0"/>
              <a:t>규칙</a:t>
            </a:r>
            <a:r>
              <a:rPr lang="en-US" sz="2000" b="1" dirty="0"/>
              <a:t> 1</a:t>
            </a:r>
            <a:r>
              <a:rPr lang="ko-KR" altLang="en-US" sz="2000" b="1" dirty="0"/>
              <a:t>을 절대 잊지 마라</a:t>
            </a:r>
            <a:r>
              <a:rPr lang="en-US" sz="2000" b="1" dirty="0"/>
              <a:t>."</a:t>
            </a:r>
            <a:br>
              <a:rPr lang="en-US" sz="2000" b="1" dirty="0"/>
            </a:br>
            <a:r>
              <a:rPr lang="en-US" sz="2000" dirty="0"/>
              <a:t>→ </a:t>
            </a:r>
            <a:r>
              <a:rPr lang="ko-KR" altLang="en-US" sz="2000" dirty="0"/>
              <a:t>원금을 지키는 것이 대단히 중요합니다</a:t>
            </a:r>
            <a:r>
              <a:rPr lang="en-US" sz="2000" dirty="0"/>
              <a:t>.</a:t>
            </a:r>
          </a:p>
          <a:p>
            <a:pPr lvl="0"/>
            <a:endParaRPr lang="en-US" dirty="0"/>
          </a:p>
          <a:p>
            <a:pPr lvl="0"/>
            <a:endParaRPr lang="en-US" b="1" dirty="0"/>
          </a:p>
        </p:txBody>
      </p:sp>
    </p:spTree>
    <p:extLst>
      <p:ext uri="{BB962C8B-B14F-4D97-AF65-F5344CB8AC3E}">
        <p14:creationId xmlns:p14="http://schemas.microsoft.com/office/powerpoint/2010/main" val="3267358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xEl>
                                              <p:pRg st="0" end="0"/>
                                            </p:txEl>
                                          </p:spTgt>
                                        </p:tgtEl>
                                        <p:attrNameLst>
                                          <p:attrName>style.visibility</p:attrName>
                                        </p:attrNameLst>
                                      </p:cBhvr>
                                      <p:to>
                                        <p:strVal val="visible"/>
                                      </p:to>
                                    </p:set>
                                    <p:anim calcmode="lin" valueType="num">
                                      <p:cBhvr additive="base">
                                        <p:cTn id="19"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
                                            <p:txEl>
                                              <p:pRg st="3" end="3"/>
                                            </p:txEl>
                                          </p:spTgt>
                                        </p:tgtEl>
                                        <p:attrNameLst>
                                          <p:attrName>style.visibility</p:attrName>
                                        </p:attrNameLst>
                                      </p:cBhvr>
                                      <p:to>
                                        <p:strVal val="visible"/>
                                      </p:to>
                                    </p:set>
                                    <p:anim calcmode="lin" valueType="num">
                                      <p:cBhvr additive="base">
                                        <p:cTn id="25" dur="500" fill="hold"/>
                                        <p:tgtEl>
                                          <p:spTgt spid="2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
                                            <p:txEl>
                                              <p:pRg st="4" end="4"/>
                                            </p:txEl>
                                          </p:spTgt>
                                        </p:tgtEl>
                                        <p:attrNameLst>
                                          <p:attrName>style.visibility</p:attrName>
                                        </p:attrNameLst>
                                      </p:cBhvr>
                                      <p:to>
                                        <p:strVal val="visible"/>
                                      </p:to>
                                    </p:set>
                                    <p:anim calcmode="lin" valueType="num">
                                      <p:cBhvr additive="base">
                                        <p:cTn id="31" dur="500" fill="hold"/>
                                        <p:tgtEl>
                                          <p:spTgt spid="2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221C4-31FC-0D60-A88D-E5D9D2F2D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AAC99-E804-14B9-A293-EDFB7FC5059B}"/>
              </a:ext>
            </a:extLst>
          </p:cNvPr>
          <p:cNvSpPr>
            <a:spLocks noGrp="1"/>
          </p:cNvSpPr>
          <p:nvPr>
            <p:ph type="title"/>
          </p:nvPr>
        </p:nvSpPr>
        <p:spPr/>
        <p:txBody>
          <a:bodyPr>
            <a:normAutofit/>
          </a:bodyPr>
          <a:lstStyle/>
          <a:p>
            <a:r>
              <a:rPr lang="ko-KR" altLang="en-US" dirty="0" err="1">
                <a:ea typeface="맑은 고딕"/>
              </a:rPr>
              <a:t>워런버펫</a:t>
            </a:r>
            <a:r>
              <a:rPr lang="ko-KR" altLang="en-US" dirty="0">
                <a:ea typeface="맑은 고딕"/>
              </a:rPr>
              <a:t> 어록</a:t>
            </a:r>
            <a:endParaRPr lang="ko-KR" altLang="en-US" dirty="0">
              <a:latin typeface="+mn-lt"/>
              <a:ea typeface="맑은 고딕"/>
            </a:endParaRPr>
          </a:p>
        </p:txBody>
      </p:sp>
      <p:sp>
        <p:nvSpPr>
          <p:cNvPr id="14" name="Text 12">
            <a:extLst>
              <a:ext uri="{FF2B5EF4-FFF2-40B4-BE49-F238E27FC236}">
                <a16:creationId xmlns:a16="http://schemas.microsoft.com/office/drawing/2014/main" id="{D3B32205-4C16-90B5-FDA7-4955E02FFE43}"/>
              </a:ext>
            </a:extLst>
          </p:cNvPr>
          <p:cNvSpPr/>
          <p:nvPr/>
        </p:nvSpPr>
        <p:spPr>
          <a:xfrm>
            <a:off x="912240" y="1437711"/>
            <a:ext cx="9983467" cy="5145651"/>
          </a:xfrm>
          <a:prstGeom prst="roundRect">
            <a:avLst>
              <a:gd name="adj" fmla="val 0"/>
            </a:avLst>
          </a:prstGeom>
          <a:solidFill>
            <a:srgbClr val="EFF6FF"/>
          </a:solidFill>
          <a:ln>
            <a:solidFill>
              <a:srgbClr val="3B82F6"/>
            </a:solidFill>
          </a:ln>
        </p:spPr>
        <p:txBody>
          <a:bodyPr wrap="square" rtlCol="0" anchor="ctr"/>
          <a:lstStyle/>
          <a:p>
            <a:endParaRPr lang="en-US" sz="2400" dirty="0">
              <a:ea typeface="맑은 고딕"/>
            </a:endParaRPr>
          </a:p>
        </p:txBody>
      </p:sp>
      <p:sp>
        <p:nvSpPr>
          <p:cNvPr id="22" name="Text 6">
            <a:extLst>
              <a:ext uri="{FF2B5EF4-FFF2-40B4-BE49-F238E27FC236}">
                <a16:creationId xmlns:a16="http://schemas.microsoft.com/office/drawing/2014/main" id="{644D11EB-4C2D-CA68-8FBA-B71EF46C1DED}"/>
              </a:ext>
            </a:extLst>
          </p:cNvPr>
          <p:cNvSpPr/>
          <p:nvPr/>
        </p:nvSpPr>
        <p:spPr>
          <a:xfrm>
            <a:off x="1144714" y="1617882"/>
            <a:ext cx="9586002" cy="3751027"/>
          </a:xfrm>
          <a:prstGeom prst="rect">
            <a:avLst/>
          </a:prstGeom>
          <a:noFill/>
          <a:ln/>
        </p:spPr>
        <p:txBody>
          <a:bodyPr wrap="square" lIns="0" tIns="0" rIns="0" bIns="0" rtlCol="0" anchor="t"/>
          <a:lstStyle/>
          <a:p>
            <a:pPr lvl="0"/>
            <a:r>
              <a:rPr lang="en-US" dirty="0"/>
              <a:t>"</a:t>
            </a:r>
            <a:r>
              <a:rPr lang="ko-KR" altLang="en-US" dirty="0"/>
              <a:t>적당한 기업을 훌륭한 가격에 사는 것보다</a:t>
            </a:r>
            <a:r>
              <a:rPr lang="en-US" dirty="0"/>
              <a:t>, </a:t>
            </a:r>
            <a:r>
              <a:rPr lang="ko-KR" altLang="en-US" dirty="0"/>
              <a:t>훌륭한 기업을 적당한 가격에 사는 것이 훨씬 낫다</a:t>
            </a:r>
            <a:r>
              <a:rPr lang="en-US" dirty="0"/>
              <a:t>."</a:t>
            </a:r>
            <a:br>
              <a:rPr lang="en-US" dirty="0"/>
            </a:br>
            <a:r>
              <a:rPr lang="en-US" dirty="0"/>
              <a:t>→ </a:t>
            </a:r>
            <a:r>
              <a:rPr lang="ko-KR" altLang="en-US" dirty="0"/>
              <a:t>절대적으로 가장 싼 가치평가를 얻는 것보다 사업의 질이 더 중요할 때가 많습니다</a:t>
            </a:r>
            <a:r>
              <a:rPr lang="en-US" dirty="0"/>
              <a:t>.</a:t>
            </a:r>
          </a:p>
          <a:p>
            <a:endParaRPr lang="en-US" altLang="ko-KR" dirty="0"/>
          </a:p>
          <a:p>
            <a:endParaRPr lang="en-US" altLang="ko-KR" dirty="0"/>
          </a:p>
          <a:p>
            <a:pPr lvl="0"/>
            <a:r>
              <a:rPr lang="en-US" b="1" dirty="0"/>
              <a:t>"</a:t>
            </a:r>
            <a:r>
              <a:rPr lang="ko-KR" altLang="en-US" b="1" dirty="0"/>
              <a:t>남들이 탐욕스러울 때 두려워하고</a:t>
            </a:r>
            <a:r>
              <a:rPr lang="en-US" b="1" dirty="0"/>
              <a:t>, </a:t>
            </a:r>
            <a:r>
              <a:rPr lang="ko-KR" altLang="en-US" b="1" dirty="0"/>
              <a:t>남들이 두려워할 때 탐욕스러워져라</a:t>
            </a:r>
            <a:r>
              <a:rPr lang="en-US" b="1" dirty="0"/>
              <a:t>."</a:t>
            </a:r>
            <a:br>
              <a:rPr lang="en-US" b="1" dirty="0"/>
            </a:br>
            <a:r>
              <a:rPr lang="en-US" dirty="0"/>
              <a:t>→ </a:t>
            </a:r>
            <a:r>
              <a:rPr lang="ko-KR" altLang="en-US" dirty="0"/>
              <a:t>시장이 비관적일 때 큰 기회가 나타날 수 있습니다</a:t>
            </a:r>
            <a:r>
              <a:rPr lang="en-US" dirty="0"/>
              <a:t>.</a:t>
            </a:r>
          </a:p>
          <a:p>
            <a:pPr lvl="0"/>
            <a:endParaRPr lang="en-US" dirty="0"/>
          </a:p>
          <a:p>
            <a:pPr lvl="0"/>
            <a:endParaRPr lang="en-US"/>
          </a:p>
          <a:p>
            <a:pPr lvl="0"/>
            <a:r>
              <a:rPr lang="en-US"/>
              <a:t>"</a:t>
            </a:r>
            <a:r>
              <a:rPr lang="ko-KR" altLang="en-US" dirty="0"/>
              <a:t>우리가 가장 좋아하는 보유기간은 영원이다</a:t>
            </a:r>
            <a:r>
              <a:rPr lang="en-US" dirty="0"/>
              <a:t>."</a:t>
            </a:r>
            <a:br>
              <a:rPr lang="en-US" dirty="0"/>
            </a:br>
            <a:endParaRPr lang="en-US" dirty="0">
              <a:latin typeface="Arial" panose="020B0604020202020204" pitchFamily="34" charset="0"/>
              <a:ea typeface="맑은 고딕"/>
              <a:cs typeface="Arial" panose="020B0604020202020204" pitchFamily="34" charset="0"/>
            </a:endParaRPr>
          </a:p>
          <a:p>
            <a:endParaRPr lang="en-US" altLang="ko-KR" dirty="0"/>
          </a:p>
          <a:p>
            <a:endParaRPr lang="en-US" altLang="ko-KR" dirty="0"/>
          </a:p>
          <a:p>
            <a:endParaRPr lang="en-US" altLang="ko-KR" dirty="0"/>
          </a:p>
          <a:p>
            <a:r>
              <a:rPr lang="ko-KR" altLang="en-US" dirty="0"/>
              <a:t>한 문장으로 요약한 버핏의 철학</a:t>
            </a:r>
            <a:r>
              <a:rPr lang="en-US" dirty="0"/>
              <a:t>: </a:t>
            </a:r>
            <a:r>
              <a:rPr lang="ko-KR" altLang="en-US" dirty="0"/>
              <a:t>질 높은 기업을 합리적인 가격에 사고</a:t>
            </a:r>
            <a:r>
              <a:rPr lang="en-US" dirty="0"/>
              <a:t>, </a:t>
            </a:r>
            <a:r>
              <a:rPr lang="ko-KR" altLang="en-US" dirty="0"/>
              <a:t>자신이 무엇을 보유하고 있는지 이해하며</a:t>
            </a:r>
            <a:r>
              <a:rPr lang="en-US" dirty="0"/>
              <a:t>, </a:t>
            </a:r>
            <a:r>
              <a:rPr lang="ko-KR" altLang="en-US" dirty="0"/>
              <a:t>영구적인 손실을 피하고</a:t>
            </a:r>
            <a:r>
              <a:rPr lang="en-US" dirty="0"/>
              <a:t>, </a:t>
            </a:r>
            <a:r>
              <a:rPr lang="ko-KR" altLang="en-US" dirty="0"/>
              <a:t>복리가 아주 오랫동안 일하게 하십시오</a:t>
            </a:r>
            <a:r>
              <a:rPr lang="en-US" dirty="0"/>
              <a:t>.</a:t>
            </a:r>
          </a:p>
          <a:p>
            <a:pPr lvl="0"/>
            <a:endParaRPr lang="en-US" dirty="0">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939142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xEl>
                                              <p:pRg st="0" end="0"/>
                                            </p:txEl>
                                          </p:spTgt>
                                        </p:tgtEl>
                                        <p:attrNameLst>
                                          <p:attrName>style.visibility</p:attrName>
                                        </p:attrNameLst>
                                      </p:cBhvr>
                                      <p:to>
                                        <p:strVal val="visible"/>
                                      </p:to>
                                    </p:set>
                                    <p:anim calcmode="lin" valueType="num">
                                      <p:cBhvr additive="base">
                                        <p:cTn id="19"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
                                            <p:txEl>
                                              <p:pRg st="3" end="3"/>
                                            </p:txEl>
                                          </p:spTgt>
                                        </p:tgtEl>
                                        <p:attrNameLst>
                                          <p:attrName>style.visibility</p:attrName>
                                        </p:attrNameLst>
                                      </p:cBhvr>
                                      <p:to>
                                        <p:strVal val="visible"/>
                                      </p:to>
                                    </p:set>
                                    <p:anim calcmode="lin" valueType="num">
                                      <p:cBhvr additive="base">
                                        <p:cTn id="25" dur="500" fill="hold"/>
                                        <p:tgtEl>
                                          <p:spTgt spid="2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
                                            <p:txEl>
                                              <p:pRg st="6" end="6"/>
                                            </p:txEl>
                                          </p:spTgt>
                                        </p:tgtEl>
                                        <p:attrNameLst>
                                          <p:attrName>style.visibility</p:attrName>
                                        </p:attrNameLst>
                                      </p:cBhvr>
                                      <p:to>
                                        <p:strVal val="visible"/>
                                      </p:to>
                                    </p:set>
                                    <p:anim calcmode="lin" valueType="num">
                                      <p:cBhvr additive="base">
                                        <p:cTn id="31" dur="500" fill="hold"/>
                                        <p:tgtEl>
                                          <p:spTgt spid="2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
                                            <p:txEl>
                                              <p:pRg st="10" end="10"/>
                                            </p:txEl>
                                          </p:spTgt>
                                        </p:tgtEl>
                                        <p:attrNameLst>
                                          <p:attrName>style.visibility</p:attrName>
                                        </p:attrNameLst>
                                      </p:cBhvr>
                                      <p:to>
                                        <p:strVal val="visible"/>
                                      </p:to>
                                    </p:set>
                                    <p:anim calcmode="lin" valueType="num">
                                      <p:cBhvr additive="base">
                                        <p:cTn id="37" dur="500" fill="hold"/>
                                        <p:tgtEl>
                                          <p:spTgt spid="22">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theme/theme1.xml><?xml version="1.0" encoding="utf-8"?>
<a:theme xmlns:a="http://schemas.openxmlformats.org/drawingml/2006/main" name="CBA [178438312929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3C69DD-4CFB-44C8-85E4-B6BE897DB3AB}">
  <we:reference id="WA200010001" version="1.0.0.1" store="Omex" storeType="OMEX"/>
  <we:alternateReferences>
    <we:reference id="WA200010001" version="1.0.0.1" store="WA200010001" storeType="OMEX"/>
  </we:alternateReferences>
  <we:properties>
    <we:property name="claude.fileId" value="&quot;11f1db90-eded-43f8-bacd-8bacaf197a3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CBA</Template>
  <TotalTime>9454</TotalTime>
  <Words>2380</Words>
  <Application>Microsoft Office PowerPoint</Application>
  <PresentationFormat>Widescreen</PresentationFormat>
  <Paragraphs>274</Paragraphs>
  <Slides>33</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맑은 고딕</vt:lpstr>
      <vt:lpstr>Arial</vt:lpstr>
      <vt:lpstr>Calibri</vt:lpstr>
      <vt:lpstr>Cambria</vt:lpstr>
      <vt:lpstr>Cambria Math</vt:lpstr>
      <vt:lpstr>Wingdings</vt:lpstr>
      <vt:lpstr>CBA [1784383129294]</vt:lpstr>
      <vt:lpstr>PowerPoint Presentation</vt:lpstr>
      <vt:lpstr>목차(Table of Contents)</vt:lpstr>
      <vt:lpstr>1. 화폐의 시간가치(The Time Value of Money)</vt:lpstr>
      <vt:lpstr>미래가치(future value) – 1년 후</vt:lpstr>
      <vt:lpstr>미래가치(future value) – 5년 후</vt:lpstr>
      <vt:lpstr>PowerPoint Presentation</vt:lpstr>
      <vt:lpstr>연금(annuity)</vt:lpstr>
      <vt:lpstr>영구연금(perpetuity)</vt:lpstr>
      <vt:lpstr>2. 미스터 마켓(Mr. Market) – 가격 대 가치</vt:lpstr>
      <vt:lpstr>미스터 마켓(Mr. Market)은 누구인가? </vt:lpstr>
      <vt:lpstr>교훈: 가격(price) ≠ 가치(value) </vt:lpstr>
      <vt:lpstr>시장을 이기려는 두 가지 접근법</vt:lpstr>
      <vt:lpstr>시장효율성(market efficiency)에 관한 참고</vt:lpstr>
      <vt:lpstr>토론 문제(Discussion Questions)</vt:lpstr>
      <vt:lpstr>3. 할인된 잉여현금흐름(DCF) 가치평가</vt:lpstr>
      <vt:lpstr>현금흐름할인(DCF) 모형 </vt:lpstr>
      <vt:lpstr>실무에서의 DCF : 5단계 절차</vt:lpstr>
      <vt:lpstr>DCF 모형 – 예제</vt:lpstr>
      <vt:lpstr>DCF 모형 – 예제</vt:lpstr>
      <vt:lpstr>4. 자본비용(Cost of Capital) 대 자기자본비용</vt:lpstr>
      <vt:lpstr>PowerPoint Presentation</vt:lpstr>
      <vt:lpstr>PowerPoint Presentation</vt:lpstr>
      <vt:lpstr>PowerPoint Presentation</vt:lpstr>
      <vt:lpstr>PowerPoint Presentation</vt:lpstr>
      <vt:lpstr>5. 주가수익비율(Price-Earnings Ratio, P/E)</vt:lpstr>
      <vt:lpstr>P/E 비율(P/E Ratio)이란 무엇인가?</vt:lpstr>
      <vt:lpstr>P/E를 결정하는 요인은 무엇인가?</vt:lpstr>
      <vt:lpstr>세 가지 요인의 대수적 전개 – 1단계 </vt:lpstr>
      <vt:lpstr>세 가지 요인의 대수적 전개 – 2단계 </vt:lpstr>
      <vt:lpstr>세 가지 요인의 대수적 전개 – 3단계 </vt:lpstr>
      <vt:lpstr>Appendix – 워런버펫 어록</vt:lpstr>
      <vt:lpstr>워런버펫 어록</vt:lpstr>
      <vt:lpstr>워런버펫 어록</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157</cp:revision>
  <dcterms:created xsi:type="dcterms:W3CDTF">2017-10-25T17:52:39Z</dcterms:created>
  <dcterms:modified xsi:type="dcterms:W3CDTF">2026-08-07T15:15:19Z</dcterms:modified>
</cp:coreProperties>
</file>