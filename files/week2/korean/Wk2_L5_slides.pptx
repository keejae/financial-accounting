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5" r:id="rId15"/>
    <p:sldId id="270" r:id="rId16"/>
    <p:sldId id="271" r:id="rId17"/>
    <p:sldId id="302" r:id="rId18"/>
    <p:sldId id="272" r:id="rId19"/>
    <p:sldId id="273" r:id="rId20"/>
    <p:sldId id="296" r:id="rId21"/>
    <p:sldId id="297" r:id="rId22"/>
    <p:sldId id="298" r:id="rId23"/>
    <p:sldId id="276" r:id="rId24"/>
    <p:sldId id="277" r:id="rId25"/>
    <p:sldId id="278" r:id="rId26"/>
    <p:sldId id="279" r:id="rId27"/>
    <p:sldId id="1493" r:id="rId28"/>
    <p:sldId id="1490" r:id="rId29"/>
    <p:sldId id="282" r:id="rId30"/>
    <p:sldId id="283" r:id="rId31"/>
    <p:sldId id="1505" r:id="rId32"/>
    <p:sldId id="1528" r:id="rId33"/>
    <p:sldId id="286" r:id="rId34"/>
    <p:sldId id="299" r:id="rId35"/>
    <p:sldId id="288" r:id="rId36"/>
    <p:sldId id="289" r:id="rId37"/>
    <p:sldId id="290" r:id="rId38"/>
    <p:sldId id="291" r:id="rId39"/>
    <p:sldId id="292" r:id="rId40"/>
    <p:sldId id="294" r:id="rId41"/>
  </p:sldIdLst>
  <p:sldSz cx="12192000" cy="6858000"/>
  <p:notesSz cx="6858000" cy="12192000"/>
  <p:custDataLst>
    <p:tags r:id="rId43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E9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4" autoAdjust="0"/>
  </p:normalViewPr>
  <p:slideViewPr>
    <p:cSldViewPr snapToGrid="0" snapToObjects="1">
      <p:cViewPr varScale="1">
        <p:scale>
          <a:sx n="86" d="100"/>
          <a:sy n="86" d="100"/>
        </p:scale>
        <p:origin x="12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9867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3: 회계기간·발생주의 개념에서 시작해, 왜 조정이 필요한지, 그리고 이연비용·발생비용 조정분개를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1은 현금주의와 발생주의를 대조하고, Part 2는 조정분개의 필요성과 네 가지 유형(특히 비용 측면)을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 활동은 연속적이지만 재무제표는 특정 기간 말에 작성됩니다 — 여기서 보고 이슈가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reporting cycle is a fixed interval between two balance sheets; the operating cycle never stops. Their mismatch drives the need for adjustments.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Periodicity assumption: a firm's continuous life can be divided into artificial periods for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Revenue-generating activity is continuous, but statements are cut at period-end; in reality they do not align, so adjustments are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예제를 통해 발생주의에서 revenue와 expense를 언제 인식하는지 살펴봅니다.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발생주의: 판매(12/20)에 revenue $180, 대응 원가 $100을 비용으로 인식 → 2027 net income $80. 현금 회수(1/15/28) 시점과 무관.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collects $300,000 up front in 2025 for a 3-year subscription; annual production cost $60,000; a $100,000 loan at 10% with interest paid at maturity.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total income over 2025-2027 and annual income per year; the best approach is the accrual basis, matching revenue and expense to the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basis records only cash in/out; accrual (GAAP) recognizes revenue when earned and expense when the related benefit is consumed.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cash-basis summary. Under cash basis all $300,000 is recognized in 2025 when collected; later years show only costs (net income 240,000 / (60,000) / (90,000)), distorting performance. Professor copy shows the worked figures; student copy is blank to fill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accrual-basis summary. Revenue is spread across the years the magazines are delivered, giving a steady annual income of about $30,000. Professor copy shows the worked figures; student copy is blank to fill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comparison: cash basis tracks the bank account and swings wildly; accrual basis tracks the business model and reflects true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basis delays recognition and mismatches costs; accrual basis matches expense to revenue and reflects real operating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revenue is recorded when services are performed (c). Q2: accrual recognizes revenue in 20x3 when earned (c).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6A063-BB3B-7CE1-FF51-B948EFE4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20788-3E75-8A75-6047-D46392A635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D1FBF-69A0-9E2A-C235-8702EA89F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 31 accrues wages: Dr Wages Expense / Cr Wages Payable 220,000. Jan 15 pays it: Dr Wages Payable / Cr Cash 220,000; plus the regular Jan payroll Dr Wages Expense / Cr Cash 300,000.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64744-7D4C-6129-4B19-7BDD3FA7B4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175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 31 accrues wages: Dr Wages Expense / Cr Wages Payable 220,000. Jan 15 pays it: Dr Wages Payable / Cr Cash 220,000; plus the regular Jan payroll Dr Wages Expense / Cr Cash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조정분개는 회계기간 말에 사실(경제적 실질)과 재무제표를 일치시키기 위해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Adjusting entries bridge the time gap created by periodicity, aligning the economic facts with the reported financials.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expense is the consumption of value, independent of when cash leaves the bank; tracking only cash gives a misleading picture of profitability.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33C47-694C-FA3F-72F2-853E0C19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B2ACD-C59E-1A8C-C7C1-C4017160A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BF752-47F8-27DA-6A2D-F48977F6B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types by direction of time: deferred (cash before activity) vs accrued (cash after), each on the expense and revenue side. This chapter focuses on the expense side.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7D04D-533B-77EC-1922-A595E5B95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942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types by direction of time: deferred (cash before activity) vs accrued (cash after), each on the expense and revenue side. This chapter focuses on the expense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 기간에 걸쳐 효익을 주는 선지급액은 먼저 자산으로 기록하고, 소멸분을 비용으로 대체합니다.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prepayment buys future benefit; it is recorded as an asset (deferred expense) and moved to expense as it is consumed each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Feb 28: $800 paid is capitalized as a deferred (asset). Each month $200 (=$800/4) is moved to Advertising Expense as the ads run — the expense follows consumption, not payment.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pPr lvl="0"/>
            <a:r>
              <a:rPr lang="en-GB" dirty="0"/>
              <a:t>They will typically think it is an expense: because we spent money or because advertising is an expense.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Help them work through the logic – refer them to the dates.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We gave the supplier $800. What did they give us in return?</a:t>
            </a:r>
          </a:p>
          <a:p>
            <a:pPr lvl="0"/>
            <a:endParaRPr lang="en-GB" dirty="0"/>
          </a:p>
          <a:p>
            <a:r>
              <a:rPr lang="en-GB" dirty="0"/>
              <a:t>The business has bought the right to receive advertising.</a:t>
            </a:r>
          </a:p>
          <a:p>
            <a:endParaRPr lang="en-GB" dirty="0"/>
          </a:p>
          <a:p>
            <a:r>
              <a:rPr lang="en-GB" dirty="0"/>
              <a:t>Only if a participant raises the issue: acknowledge that simplified bookkeeping practice can expense the payment immediately, and then – as a closing entry for the period/year - capitalise the portion that is not yet consumed. </a:t>
            </a:r>
          </a:p>
          <a:p>
            <a:endParaRPr lang="en-GB" dirty="0"/>
          </a:p>
          <a:p>
            <a:r>
              <a:rPr lang="en-GB" dirty="0"/>
              <a:t>Same result at the end of the period but the monthly P&amp;Ls will not reflect the underlying business activities.</a:t>
            </a: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27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43295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r>
              <a:rPr lang="en-GB"/>
              <a:t>One quarter of the advertising is consumed, according to the dates and using a straight-line matching/pro rata concept for recognising the expense.</a:t>
            </a:r>
          </a:p>
          <a:p>
            <a:endParaRPr lang="en-GB" altLang="en-US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28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0490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Depreciation systematically allocates a tangible asset's cost over its useful life, using the contra-asset Accumulated Depreciation.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Equipment $6,000 with $0 residual over 60 months → $100/month. Monthly: Dr Depreciation Expense / Cr Accumulated Depreciation (contra-asset), reducing net book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endParaRPr lang="en-GB" altLang="en-US">
              <a:ea typeface="ＭＳ Ｐゴシック" charset="-128"/>
            </a:endParaRPr>
          </a:p>
          <a:p>
            <a:pPr lvl="0"/>
            <a:r>
              <a:rPr lang="en-GB"/>
              <a:t>In debrief, work through logic carefully. </a:t>
            </a:r>
          </a:p>
          <a:p>
            <a:pPr lvl="0"/>
            <a:endParaRPr lang="en-GB"/>
          </a:p>
          <a:p>
            <a:pPr lvl="0"/>
            <a:r>
              <a:rPr lang="en-GB"/>
              <a:t>New asset and new obligation.</a:t>
            </a:r>
          </a:p>
          <a:p>
            <a:pPr lvl="0"/>
            <a:endParaRPr lang="en-GB"/>
          </a:p>
          <a:p>
            <a:pPr lvl="0"/>
            <a:r>
              <a:rPr lang="en-GB"/>
              <a:t>In accounting, we record things as they occur, not necessarily when cash is received or paid.</a:t>
            </a:r>
          </a:p>
          <a:p>
            <a:pPr lvl="0"/>
            <a:endParaRPr lang="en-GB"/>
          </a:p>
          <a:p>
            <a:pPr lvl="0"/>
            <a:r>
              <a:rPr lang="en-GB"/>
              <a:t>Today we owe – tomorrow we’ll pay – we record the payment only when it happens.</a:t>
            </a:r>
            <a:br>
              <a:rPr lang="en-GB"/>
            </a:br>
            <a:endParaRPr lang="en-GB"/>
          </a:p>
          <a:p>
            <a:endParaRPr lang="en-GB" altLang="en-US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31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2718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pPr lvl="0"/>
            <a:r>
              <a:rPr lang="en-GB" dirty="0"/>
              <a:t>Monthly depreciation amount is $100 being </a:t>
            </a:r>
          </a:p>
          <a:p>
            <a:pPr lvl="0"/>
            <a:r>
              <a:rPr lang="en-GB" dirty="0"/>
              <a:t>$6,000 divided by 60 months.</a:t>
            </a:r>
          </a:p>
          <a:p>
            <a:pPr lvl="0"/>
            <a:endParaRPr lang="en-GB" dirty="0"/>
          </a:p>
          <a:p>
            <a:r>
              <a:rPr lang="en-GB" altLang="en-US" dirty="0">
                <a:ea typeface="ＭＳ Ｐゴシック" charset="-128"/>
              </a:rPr>
              <a:t>Depreciation causes a lot of confusion, in part, because it is doing two things at once, and students need to know which part of the transaction they are looking at.</a:t>
            </a:r>
          </a:p>
          <a:p>
            <a:endParaRPr lang="en-GB" altLang="en-US" dirty="0">
              <a:ea typeface="ＭＳ Ｐゴシック" charset="-128"/>
            </a:endParaRPr>
          </a:p>
          <a:p>
            <a:r>
              <a:rPr lang="en-GB" altLang="en-US" dirty="0">
                <a:ea typeface="ＭＳ Ｐゴシック" charset="-128"/>
              </a:rPr>
              <a:t>Accounting duality means that depreciation does two things:</a:t>
            </a:r>
          </a:p>
          <a:p>
            <a:endParaRPr lang="en-GB" altLang="en-US" dirty="0">
              <a:ea typeface="ＭＳ Ｐゴシック" charset="-128"/>
            </a:endParaRPr>
          </a:p>
          <a:p>
            <a:pPr marL="187952" indent="-187952"/>
            <a:r>
              <a:rPr lang="en-GB" altLang="en-US" dirty="0">
                <a:ea typeface="ＭＳ Ｐゴシック" charset="-128"/>
              </a:rPr>
              <a:t>– 	it Books, Inc. the reduction of an asset’s value as it is used up and this “loss of value” </a:t>
            </a:r>
            <a:r>
              <a:rPr lang="en-GB" altLang="en-US" i="1" u="sng" dirty="0">
                <a:ea typeface="ＭＳ Ｐゴシック" charset="-128"/>
              </a:rPr>
              <a:t>accumulates</a:t>
            </a:r>
            <a:r>
              <a:rPr lang="en-GB" altLang="en-US" dirty="0">
                <a:ea typeface="ＭＳ Ｐゴシック" charset="-128"/>
              </a:rPr>
              <a:t> (builds up) in the balance sheet.</a:t>
            </a:r>
          </a:p>
          <a:p>
            <a:pPr marL="187952" indent="-187952"/>
            <a:r>
              <a:rPr lang="en-GB" altLang="en-US" dirty="0">
                <a:ea typeface="ＭＳ Ｐゴシック" charset="-128"/>
              </a:rPr>
              <a:t>					</a:t>
            </a:r>
            <a:r>
              <a:rPr lang="en-GB" altLang="en-US" i="1" dirty="0">
                <a:ea typeface="ＭＳ Ｐゴシック" charset="-128"/>
              </a:rPr>
              <a:t>This is the </a:t>
            </a:r>
            <a:r>
              <a:rPr lang="en-GB" altLang="en-US" i="1" dirty="0">
                <a:solidFill>
                  <a:schemeClr val="accent2"/>
                </a:solidFill>
                <a:ea typeface="ＭＳ Ｐゴシック" charset="-128"/>
              </a:rPr>
              <a:t>“credit” </a:t>
            </a:r>
          </a:p>
          <a:p>
            <a:endParaRPr lang="en-GB" altLang="en-US" dirty="0">
              <a:ea typeface="ＭＳ Ｐゴシック" charset="-128"/>
            </a:endParaRPr>
          </a:p>
          <a:p>
            <a:pPr marL="187952" indent="-187952"/>
            <a:r>
              <a:rPr lang="en-GB" altLang="en-US" dirty="0">
                <a:ea typeface="ＭＳ Ｐゴシック" charset="-128"/>
              </a:rPr>
              <a:t>–	it Books, Inc. the sacrifice of value as an expense: the depreciation charge.</a:t>
            </a:r>
          </a:p>
          <a:p>
            <a:pPr marL="187952" indent="-187952"/>
            <a:r>
              <a:rPr lang="en-GB" altLang="en-US" i="1" dirty="0">
                <a:ea typeface="ＭＳ Ｐゴシック" charset="-128"/>
              </a:rPr>
              <a:t>					This is the </a:t>
            </a:r>
            <a:r>
              <a:rPr lang="en-GB" altLang="en-US" i="1" dirty="0">
                <a:solidFill>
                  <a:schemeClr val="accent6"/>
                </a:solidFill>
                <a:ea typeface="ＭＳ Ｐゴシック" charset="-128"/>
              </a:rPr>
              <a:t>“debit”</a:t>
            </a:r>
            <a:endParaRPr lang="en-GB" altLang="en-US" dirty="0">
              <a:solidFill>
                <a:schemeClr val="accent6"/>
              </a:solidFill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  <a:p>
            <a:endParaRPr lang="en-GB" altLang="en-US" dirty="0">
              <a:ea typeface="ＭＳ Ｐゴシック" charset="-128"/>
            </a:endParaRPr>
          </a:p>
        </p:txBody>
      </p:sp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4627563" y="481013"/>
            <a:ext cx="2273300" cy="12779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294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85372" indent="-302066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208265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91571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174878" indent="-241653" eaLnBrk="0" hangingPunct="0">
              <a:spcBef>
                <a:spcPct val="30000"/>
              </a:spcBef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658184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3141490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624796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4108102" indent="-241653" defTabSz="483306" eaLnBrk="0" fontAlgn="base" hangingPunct="0">
              <a:spcBef>
                <a:spcPct val="3000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12A15F59-AC6F-5045-925E-116BA534E36C}" type="slidenum">
              <a:rPr lang="en-GB" altLang="en-US">
                <a:latin typeface="Helvetica Regular" charset="0"/>
              </a:rPr>
              <a:pPr eaLnBrk="1" hangingPunct="1">
                <a:spcBef>
                  <a:spcPct val="0"/>
                </a:spcBef>
              </a:pPr>
              <a:t>32</a:t>
            </a:fld>
            <a:endParaRPr lang="en-GB" altLang="en-US">
              <a:latin typeface="Helvetica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1940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가치가 이미 소비되었지만 아직 지급하지 않았다면, 비용을 인식하고 부채(accrued liability)를 기록합니다.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before an invoice or payment, consumed value must be expensed; the unpaid amount is recorded as an accrued liability, settled when paid. Value Consumed (Expense) → Payment Pending (Liability).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 recognizes the March energy cost as an expense in March (when used) even though cash is paid in April; it records the expense and an accrued liability on the balance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 1: Dr Cash / Cr Notes Payable 100,000. Dec 31 accrues 6 months of interest: Dr Interest Expense / Cr Interest Payable 3,000 (=100,000 × 6% × 6/12).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loan brings in $100,000 (Cash / Notes Payable); by year-end $3,000 of interest is accrued as expense and payable, even though it is paid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cash received before service is a liability (a). Q2: the $1,500 expired portion is the insurance expense (c); prepaid remaining is $1,200.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$12,000 / 3 = $4,000 per month; one month expired by 9/30, so Dr Rent Expense / Cr Prepaid Rent 4,000 — answer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4003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venir"/>
              <a:buNone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36262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Adjusting Accounts for Financial Statements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재무제표를 위한 계정 조정  ·  발생주의 회계와 조정분개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TOPICS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62763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9768" y="1627632"/>
            <a:ext cx="82296" cy="5486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1709928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99032" y="16276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Cycle ≠ Reporting Cycle  ·  보고 이슈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0" y="16276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222656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9768" y="2226564"/>
            <a:ext cx="82296" cy="5486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2308860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2·3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99032" y="22265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1 &amp; 2  ·  Revenue·Expense 인식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784080" y="22265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9768" y="2825496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9768" y="2825496"/>
            <a:ext cx="82296" cy="54864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" y="2907792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99032" y="28254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vs. Accrual Basis  ·  현금주의 vs 발생주의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8408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424428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29768" y="3424428"/>
            <a:ext cx="82296" cy="54864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22960" y="3506724"/>
            <a:ext cx="384048" cy="384048"/>
          </a:xfrm>
          <a:prstGeom prst="ellipse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2960" y="3506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99032" y="34244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Adjustments are Needed  ·  조정의 필요성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784080" y="34244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4023360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29768" y="4023360"/>
            <a:ext cx="82296" cy="5486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2960" y="4105656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296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99032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of Adjustments  ·  조정의 네 가지 유형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78408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9768" y="462229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29768" y="4622292"/>
            <a:ext cx="82296" cy="5486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22960" y="4704588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" y="47045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399032" y="46222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Expenses = Assets  ·  이연비용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784080" y="46222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522122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29768" y="5221224"/>
            <a:ext cx="82296" cy="54864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2296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399032" y="52212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Expenses = Liabilities  ·  발생비용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784080" y="5221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29768" y="5875020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67512" y="5875020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회계기간이 문제인가 → 현금주의 vs 발생주의 → 조정분개(이연·발생비용).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Cycle ≠ Reporting Cycle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순환과 보고 주기가 어긋날 때 생기는 이슈</a:t>
            </a:r>
            <a:endParaRPr lang="en-US" sz="16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Accounting Period &amp; Business Cycles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재무보고는 연속적인 영업 활동을 인위적인 기간으로 잘라 측정합니다.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Accounting Period (Reporting Cycle)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 성과를 측정·기록·보고하는 시간 간격.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개의 balance sheet 사이의 기간.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달, 분기, 또는 1년이 될 수 있음.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Operating Cycle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 매입/생산 → 판매 → 현금 회수까지의 평균 시간.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순환은 연속적이며 실제로 결코 '멈추지' 않음.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493776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주기는 정해진 기간, 영업 순환은 멈추지 않는 흐름 — 이 둘의 불일치가 핵심입니다.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Periodicity Assumption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GAAP은 기업의 경제적 생애를 인위적인 기간(월·분기·연)으로 나눌 수 있다고 가정합니다.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68880"/>
            <a:ext cx="82296" cy="21945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이해관계자(stakeholders)가 성과를 평가할 수 있게 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가능하고 비교 가능한 구간에 걸쳐 측정.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468880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into a Period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연속적인 활동을 더 짧고 일관된 구간으로 '잘라' 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성과를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정기적으로 보고할 수 있게 함.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67512" y="493776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periodicity 가정이 있어야 비로소 정기적인 재무제표 작성이 가능합니다.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an Issue?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창출 활동은 연속적으로 발생하지만, 재무제표는 특정 기간의 말에 작성되어야 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68880"/>
            <a:ext cx="82296" cy="201168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영업주기와 보고기간이 일치할 경우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회계기록이  간단함 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reporting issues).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활동과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기간이 딱 맞으면 문제가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/>
              <a:t>현실에서는 거의 불가능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468880"/>
            <a:ext cx="82296" cy="2011680"/>
          </a:xfrm>
          <a:prstGeom prst="rect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영업주기와 보고기간인 </a:t>
            </a:r>
            <a:r>
              <a:rPr 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b="1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불일치할 경우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ko-KR" alt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회계의 새로운 규칙이 필요함</a:t>
            </a:r>
            <a:r>
              <a:rPr lang="en-US" altLang="ko-KR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reporting issues arise).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B3261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ko-KR" alt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현실의 대부분의 경우 </a:t>
            </a:r>
            <a:r>
              <a:rPr lang="en-US" altLang="ko-KR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reality we face).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75488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475488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현실에서는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활동과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회계기간이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어긋납니다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(not aligned)— 그래서 조정(adjustments)이 필요합니다.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When to Recognize Revenues &amp; Expenses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하에서 수익과 비용을 언제 인식하는가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1 — When to Recognize Revenue &amp; Expenses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429768" y="1517904"/>
            <a:ext cx="539496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630936" y="151790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Timeline (FY ends 12/31)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9224" y="2121408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12/1/27 — 상품 $100 현금 매입.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12/20/27 — 상품 $180 외상 판매.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1/15/28 — 고객으로부터 $170 현금 회수.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" y="4041648"/>
            <a:ext cx="5394960" cy="18288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12648" y="4041648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2027년 </a:t>
            </a:r>
            <a:r>
              <a:rPr lang="ko-KR" alt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매출과 비용의 </a:t>
            </a: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인식액은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
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315DF86-BF8B-4453-EBC9-21DD82418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274" y="1257612"/>
            <a:ext cx="4754322" cy="2976058"/>
          </a:xfrm>
          <a:prstGeom prst="rect">
            <a:avLst/>
          </a:prstGeom>
          <a:solidFill>
            <a:srgbClr val="E9F5EE"/>
          </a:solidFill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262B6C8-97EF-9A90-1FFE-894C8ECA7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70" y="4279321"/>
            <a:ext cx="4044284" cy="1687652"/>
          </a:xfrm>
          <a:prstGeom prst="rect">
            <a:avLst/>
          </a:prstGeom>
          <a:solidFill>
            <a:srgbClr val="E9F5EE"/>
          </a:solidFill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D95D25-2176-162C-0FB4-A44BE4842C19}"/>
              </a:ext>
            </a:extLst>
          </p:cNvPr>
          <p:cNvSpPr txBox="1"/>
          <p:nvPr/>
        </p:nvSpPr>
        <p:spPr>
          <a:xfrm>
            <a:off x="9565047" y="4673994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$180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817006-3834-5C39-FAEA-77274E0A0DBC}"/>
              </a:ext>
            </a:extLst>
          </p:cNvPr>
          <p:cNvSpPr txBox="1"/>
          <p:nvPr/>
        </p:nvSpPr>
        <p:spPr>
          <a:xfrm>
            <a:off x="9596871" y="4936922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$100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F30549-93B8-FFD5-E1D1-84E27CF1E7E9}"/>
              </a:ext>
            </a:extLst>
          </p:cNvPr>
          <p:cNvSpPr txBox="1"/>
          <p:nvPr/>
        </p:nvSpPr>
        <p:spPr>
          <a:xfrm>
            <a:off x="9608599" y="5270186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  80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D99FBD-1DF1-E3B9-2D92-375ACA9CA465}"/>
              </a:ext>
            </a:extLst>
          </p:cNvPr>
          <p:cNvSpPr txBox="1"/>
          <p:nvPr/>
        </p:nvSpPr>
        <p:spPr>
          <a:xfrm>
            <a:off x="9620327" y="5583354"/>
            <a:ext cx="559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$120</a:t>
            </a:r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4759C2EE-6EA1-9DD8-1DD6-3E1784DC2A75}"/>
              </a:ext>
            </a:extLst>
          </p:cNvPr>
          <p:cNvSpPr/>
          <p:nvPr/>
        </p:nvSpPr>
        <p:spPr>
          <a:xfrm>
            <a:off x="429768" y="5969845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2FFA19F1-B6A2-742F-B17D-D7A35F5450C9}"/>
              </a:ext>
            </a:extLst>
          </p:cNvPr>
          <p:cNvSpPr/>
          <p:nvPr/>
        </p:nvSpPr>
        <p:spPr>
          <a:xfrm>
            <a:off x="667512" y="5969845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 err="1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영업주기는 보고기간 경계를 넘나들기 때문에 기간귀속 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ko-KR" alt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문제가  발생한다</a:t>
            </a:r>
            <a:r>
              <a:rPr lang="en-US" altLang="ko-KR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20" grpId="0"/>
      <p:bldP spid="21" grpId="0"/>
      <p:bldP spid="22" grpId="0"/>
      <p:bldP spid="23" grpId="0"/>
      <p:bldP spid="25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Summit Publishing Company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Publishing — 잡지 출판·유통 기업, 분기별 출판 일정으로 운영.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Details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발행주기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4 issues / year.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분기발행별 가격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$25.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구독자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1,000.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구독기간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years.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altLang="ko-KR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현금총액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(2025):  $25 × 4 × 1,000 × 3 = $300,000.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16002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제작·배송비: $60,000 / year.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72784" y="41148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272784" y="4114800"/>
            <a:ext cx="82296" cy="17373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6272784" y="41148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473952" y="41148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Costs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3년 만기 대출 @ 연 10% ($10,000/year).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원금·이자는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대출 만기 시 상환.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9768" y="5980176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685800" y="5980176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 현금은 2025년에 모두 회수 — 하지만 성과는 3년에 걸쳐 발생합니다.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Required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113294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82296" cy="137160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9768" y="1517904"/>
            <a:ext cx="11329416" cy="384048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" y="1517904"/>
            <a:ext cx="11018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" y="2084832"/>
            <a:ext cx="109087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3년 기간(2025-2027) 동안 회사의 total income을 계산.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각 연도(2025, 2026, 2027)의 annual income을 계산.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Income = Revenue − Expenses.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6616" y="2990088"/>
            <a:ext cx="11475720" cy="3248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assets/s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3063240"/>
            <a:ext cx="11329416" cy="3102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Ways to Keep Score — Cash vs. Accrual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거래라도 인식 기준에 따라 재무 성과가 달라집니다.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Basis  (Not GAAP)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이나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Deferral (</a:t>
            </a:r>
            <a:r>
              <a:rPr lang="ko-KR" alt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기록하지 않음.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받을 때만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지급할 때만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현금 유입·유출(유동성).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Basis  (GAAP)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경제적 활동에 기반한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판매·용역 제공 시 인식 (현금 회수 아님).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관련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revenue와 같은 기간, 또는 효익 소멸 시.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거래의 경제적 실질.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5998464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599846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Cash는 '언제 돈이 오갔나', Accrual은 '언제 가치가 만들어졌나'를 묻습니다.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6813F5-C9F9-FE8D-758C-FE5832CD9E64}"/>
              </a:ext>
            </a:extLst>
          </p:cNvPr>
          <p:cNvSpPr/>
          <p:nvPr/>
        </p:nvSpPr>
        <p:spPr>
          <a:xfrm>
            <a:off x="5024674" y="291521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271A3F-BD69-26A6-218A-19D07FC1E10C}"/>
              </a:ext>
            </a:extLst>
          </p:cNvPr>
          <p:cNvSpPr/>
          <p:nvPr/>
        </p:nvSpPr>
        <p:spPr>
          <a:xfrm>
            <a:off x="5032220" y="3511232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811445-AB30-2616-6678-7915477BC886}"/>
              </a:ext>
            </a:extLst>
          </p:cNvPr>
          <p:cNvSpPr/>
          <p:nvPr/>
        </p:nvSpPr>
        <p:spPr>
          <a:xfrm>
            <a:off x="5048825" y="411629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59A055-EE0F-DF6F-0DC0-CC5396EA4B29}"/>
              </a:ext>
            </a:extLst>
          </p:cNvPr>
          <p:cNvSpPr/>
          <p:nvPr/>
        </p:nvSpPr>
        <p:spPr>
          <a:xfrm>
            <a:off x="5074483" y="472136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8C9BD7-FECB-03C3-F46D-7371186F278C}"/>
              </a:ext>
            </a:extLst>
          </p:cNvPr>
          <p:cNvSpPr/>
          <p:nvPr/>
        </p:nvSpPr>
        <p:spPr>
          <a:xfrm>
            <a:off x="6598462" y="292276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0DA677-34ED-B397-AAB2-DA6E92043A15}"/>
              </a:ext>
            </a:extLst>
          </p:cNvPr>
          <p:cNvSpPr/>
          <p:nvPr/>
        </p:nvSpPr>
        <p:spPr>
          <a:xfrm>
            <a:off x="6606008" y="3518781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0BCC00-3284-729B-1CB4-D7A91529E1FC}"/>
              </a:ext>
            </a:extLst>
          </p:cNvPr>
          <p:cNvSpPr/>
          <p:nvPr/>
        </p:nvSpPr>
        <p:spPr>
          <a:xfrm>
            <a:off x="6622613" y="4123848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6A9C7C-BFF7-F308-D68B-BCD17B472711}"/>
              </a:ext>
            </a:extLst>
          </p:cNvPr>
          <p:cNvSpPr/>
          <p:nvPr/>
        </p:nvSpPr>
        <p:spPr>
          <a:xfrm>
            <a:off x="6648271" y="472891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07AD4-2CB4-3F8B-816C-B74474FC9303}"/>
              </a:ext>
            </a:extLst>
          </p:cNvPr>
          <p:cNvSpPr/>
          <p:nvPr/>
        </p:nvSpPr>
        <p:spPr>
          <a:xfrm>
            <a:off x="8380475" y="293031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0CEF63-D31D-F85B-9446-183C2202D7C1}"/>
              </a:ext>
            </a:extLst>
          </p:cNvPr>
          <p:cNvSpPr/>
          <p:nvPr/>
        </p:nvSpPr>
        <p:spPr>
          <a:xfrm>
            <a:off x="8388021" y="3526330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6C4C0E-D70C-FA8A-A05D-53258B794335}"/>
              </a:ext>
            </a:extLst>
          </p:cNvPr>
          <p:cNvSpPr/>
          <p:nvPr/>
        </p:nvSpPr>
        <p:spPr>
          <a:xfrm>
            <a:off x="8404626" y="4131397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F7D89-56B4-0FF8-A817-87FB3E533FEC}"/>
              </a:ext>
            </a:extLst>
          </p:cNvPr>
          <p:cNvSpPr/>
          <p:nvPr/>
        </p:nvSpPr>
        <p:spPr>
          <a:xfrm>
            <a:off x="8430284" y="473646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F1870D-7835-BFCD-F3E0-B912A8A6EB56}"/>
              </a:ext>
            </a:extLst>
          </p:cNvPr>
          <p:cNvSpPr/>
          <p:nvPr/>
        </p:nvSpPr>
        <p:spPr>
          <a:xfrm>
            <a:off x="9899948" y="2937863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7B92D1-6882-DC4F-53D3-526F8536378A}"/>
              </a:ext>
            </a:extLst>
          </p:cNvPr>
          <p:cNvSpPr/>
          <p:nvPr/>
        </p:nvSpPr>
        <p:spPr>
          <a:xfrm>
            <a:off x="9907494" y="353387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FDA161-5333-A6BD-3C1F-45E16E153563}"/>
              </a:ext>
            </a:extLst>
          </p:cNvPr>
          <p:cNvSpPr/>
          <p:nvPr/>
        </p:nvSpPr>
        <p:spPr>
          <a:xfrm>
            <a:off x="9924099" y="413894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951E74-3916-DAD3-920A-0A2ECBE9C3A7}"/>
              </a:ext>
            </a:extLst>
          </p:cNvPr>
          <p:cNvSpPr/>
          <p:nvPr/>
        </p:nvSpPr>
        <p:spPr>
          <a:xfrm>
            <a:off x="9949757" y="4744013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8DB346-78F3-5ACE-778D-798FDA74D33A}"/>
              </a:ext>
            </a:extLst>
          </p:cNvPr>
          <p:cNvSpPr/>
          <p:nvPr/>
        </p:nvSpPr>
        <p:spPr>
          <a:xfrm>
            <a:off x="4986574" y="362006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3E5653-75B2-2731-A8B5-ABA15D3C09C2}"/>
              </a:ext>
            </a:extLst>
          </p:cNvPr>
          <p:cNvSpPr/>
          <p:nvPr/>
        </p:nvSpPr>
        <p:spPr>
          <a:xfrm>
            <a:off x="5003645" y="4454207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8C948E-AAAE-2B63-9686-B5F6BEEBE8F0}"/>
              </a:ext>
            </a:extLst>
          </p:cNvPr>
          <p:cNvSpPr/>
          <p:nvPr/>
        </p:nvSpPr>
        <p:spPr>
          <a:xfrm>
            <a:off x="5010725" y="482114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57A52F-C945-829B-AC98-109BD07018D9}"/>
              </a:ext>
            </a:extLst>
          </p:cNvPr>
          <p:cNvSpPr/>
          <p:nvPr/>
        </p:nvSpPr>
        <p:spPr>
          <a:xfrm>
            <a:off x="4950658" y="5359541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DB2082-98C2-4ADC-7F76-B5FC759B4232}"/>
              </a:ext>
            </a:extLst>
          </p:cNvPr>
          <p:cNvSpPr/>
          <p:nvPr/>
        </p:nvSpPr>
        <p:spPr>
          <a:xfrm>
            <a:off x="6560362" y="362761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AD60CF-3584-67D4-AA15-9D45F61753B3}"/>
              </a:ext>
            </a:extLst>
          </p:cNvPr>
          <p:cNvSpPr/>
          <p:nvPr/>
        </p:nvSpPr>
        <p:spPr>
          <a:xfrm>
            <a:off x="6577433" y="446175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112A7E-21E0-D57D-63B4-2B9E722BD42D}"/>
              </a:ext>
            </a:extLst>
          </p:cNvPr>
          <p:cNvSpPr/>
          <p:nvPr/>
        </p:nvSpPr>
        <p:spPr>
          <a:xfrm>
            <a:off x="6584513" y="4828698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C9F9E-302F-DF8D-6FBE-0C427DA26FFB}"/>
              </a:ext>
            </a:extLst>
          </p:cNvPr>
          <p:cNvSpPr/>
          <p:nvPr/>
        </p:nvSpPr>
        <p:spPr>
          <a:xfrm>
            <a:off x="6524446" y="5367090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97183D-24C8-C69E-3ACC-3463ED372945}"/>
              </a:ext>
            </a:extLst>
          </p:cNvPr>
          <p:cNvSpPr/>
          <p:nvPr/>
        </p:nvSpPr>
        <p:spPr>
          <a:xfrm>
            <a:off x="8342375" y="363516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42A9B8-D815-840F-5B85-0E2F41FD49BB}"/>
              </a:ext>
            </a:extLst>
          </p:cNvPr>
          <p:cNvSpPr/>
          <p:nvPr/>
        </p:nvSpPr>
        <p:spPr>
          <a:xfrm>
            <a:off x="8359446" y="4469305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1621DD-67AE-AAF5-1C03-ADDF92551CED}"/>
              </a:ext>
            </a:extLst>
          </p:cNvPr>
          <p:cNvSpPr/>
          <p:nvPr/>
        </p:nvSpPr>
        <p:spPr>
          <a:xfrm>
            <a:off x="8366526" y="4836247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F8CC70-F405-3BA0-760B-71A56A8DCB47}"/>
              </a:ext>
            </a:extLst>
          </p:cNvPr>
          <p:cNvSpPr/>
          <p:nvPr/>
        </p:nvSpPr>
        <p:spPr>
          <a:xfrm>
            <a:off x="8325509" y="5374639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EBEAD1-69D0-48A6-5F9C-FAA8FA663D8D}"/>
              </a:ext>
            </a:extLst>
          </p:cNvPr>
          <p:cNvSpPr/>
          <p:nvPr/>
        </p:nvSpPr>
        <p:spPr>
          <a:xfrm>
            <a:off x="9804698" y="3623663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8D685C-8336-D128-22C2-AD2805726C2D}"/>
              </a:ext>
            </a:extLst>
          </p:cNvPr>
          <p:cNvSpPr/>
          <p:nvPr/>
        </p:nvSpPr>
        <p:spPr>
          <a:xfrm>
            <a:off x="9821769" y="4457804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CC29AF-CB63-8CFD-A5C1-E793078C7186}"/>
              </a:ext>
            </a:extLst>
          </p:cNvPr>
          <p:cNvSpPr/>
          <p:nvPr/>
        </p:nvSpPr>
        <p:spPr>
          <a:xfrm>
            <a:off x="9828849" y="4824746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1D026-541B-C4DA-853B-49558D594EE2}"/>
              </a:ext>
            </a:extLst>
          </p:cNvPr>
          <p:cNvSpPr/>
          <p:nvPr/>
        </p:nvSpPr>
        <p:spPr>
          <a:xfrm>
            <a:off x="9825932" y="5363138"/>
            <a:ext cx="1062273" cy="316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Distorts, Accrual Reveals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Cash는 은행 계좌를 추적하고, Accrual은 비즈니스 모델을 추적합니다.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552CE3-8607-400F-BBB3-C6B62A435883}"/>
              </a:ext>
            </a:extLst>
          </p:cNvPr>
          <p:cNvGrpSpPr/>
          <p:nvPr/>
        </p:nvGrpSpPr>
        <p:grpSpPr>
          <a:xfrm>
            <a:off x="553096" y="2045163"/>
            <a:ext cx="11175119" cy="4041718"/>
            <a:chOff x="580255" y="1845991"/>
            <a:chExt cx="11175119" cy="404171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71A7F55-627B-8638-3291-525FE7FF3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255" y="1845991"/>
              <a:ext cx="10152515" cy="4041718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F1239A9-17FB-E10A-5876-7129FD5A58E2}"/>
                </a:ext>
              </a:extLst>
            </p:cNvPr>
            <p:cNvGrpSpPr/>
            <p:nvPr/>
          </p:nvGrpSpPr>
          <p:grpSpPr>
            <a:xfrm>
              <a:off x="2571751" y="2982806"/>
              <a:ext cx="2285998" cy="1474897"/>
              <a:chOff x="4061708" y="3759581"/>
              <a:chExt cx="3018621" cy="1833602"/>
            </a:xfrm>
          </p:grpSpPr>
          <p:pic>
            <p:nvPicPr>
              <p:cNvPr id="21" name="object 3">
                <a:extLst>
                  <a:ext uri="{FF2B5EF4-FFF2-40B4-BE49-F238E27FC236}">
                    <a16:creationId xmlns:a16="http://schemas.microsoft.com/office/drawing/2014/main" id="{76346E29-1240-5C4A-5A62-6110D739B23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061708" y="4364940"/>
                <a:ext cx="1072638" cy="1228243"/>
              </a:xfrm>
              <a:prstGeom prst="rect">
                <a:avLst/>
              </a:prstGeom>
            </p:spPr>
          </p:pic>
          <p:sp>
            <p:nvSpPr>
              <p:cNvPr id="22" name="object 12">
                <a:extLst>
                  <a:ext uri="{FF2B5EF4-FFF2-40B4-BE49-F238E27FC236}">
                    <a16:creationId xmlns:a16="http://schemas.microsoft.com/office/drawing/2014/main" id="{DB0B1121-BB54-FE59-C39C-84B31F91F07A}"/>
                  </a:ext>
                </a:extLst>
              </p:cNvPr>
              <p:cNvSpPr txBox="1"/>
              <p:nvPr/>
            </p:nvSpPr>
            <p:spPr>
              <a:xfrm>
                <a:off x="5127070" y="3759581"/>
                <a:ext cx="1953259" cy="777217"/>
              </a:xfrm>
              <a:prstGeom prst="rect">
                <a:avLst/>
              </a:prstGeom>
            </p:spPr>
            <p:txBody>
              <a:bodyPr vert="horz" wrap="square" lIns="0" tIns="9525" rIns="0" bIns="0" rtlCol="0">
                <a:spAutoFit/>
              </a:bodyPr>
              <a:lstStyle/>
              <a:p>
                <a:pPr marL="12700" marR="5080" indent="1270">
                  <a:spcBef>
                    <a:spcPts val="75"/>
                  </a:spcBef>
                </a:pPr>
                <a:r>
                  <a:rPr lang="ko-KR" sz="2000" spc="90" dirty="0">
                    <a:solidFill>
                      <a:srgbClr val="0C2134"/>
                    </a:solidFill>
                    <a:latin typeface="Arial"/>
                    <a:ea typeface="맑은 고딕"/>
                    <a:cs typeface="Arial"/>
                  </a:rPr>
                  <a:t>위험하고 변동성이 커 보임.</a:t>
                </a:r>
                <a:endParaRPr sz="2000" dirty="0">
                  <a:latin typeface="Arial"/>
                  <a:cs typeface="Arial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125B91D-D5C7-A561-3B30-BAEB5CEFDEB1}"/>
                </a:ext>
              </a:extLst>
            </p:cNvPr>
            <p:cNvGrpSpPr/>
            <p:nvPr/>
          </p:nvGrpSpPr>
          <p:grpSpPr>
            <a:xfrm>
              <a:off x="8575116" y="2722945"/>
              <a:ext cx="2832024" cy="1250342"/>
              <a:chOff x="13187625" y="3574851"/>
              <a:chExt cx="3054520" cy="1250342"/>
            </a:xfrm>
          </p:grpSpPr>
          <p:pic>
            <p:nvPicPr>
              <p:cNvPr id="19" name="object 6">
                <a:extLst>
                  <a:ext uri="{FF2B5EF4-FFF2-40B4-BE49-F238E27FC236}">
                    <a16:creationId xmlns:a16="http://schemas.microsoft.com/office/drawing/2014/main" id="{1DDD397D-E604-3CB2-59C8-52381BCD770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187625" y="4264831"/>
                <a:ext cx="728904" cy="560362"/>
              </a:xfrm>
              <a:prstGeom prst="rect">
                <a:avLst/>
              </a:prstGeom>
            </p:spPr>
          </p:pic>
          <p:sp>
            <p:nvSpPr>
              <p:cNvPr id="20" name="object 17">
                <a:extLst>
                  <a:ext uri="{FF2B5EF4-FFF2-40B4-BE49-F238E27FC236}">
                    <a16:creationId xmlns:a16="http://schemas.microsoft.com/office/drawing/2014/main" id="{683D1098-0ED2-90F8-E5DA-451FA4013236}"/>
                  </a:ext>
                </a:extLst>
              </p:cNvPr>
              <p:cNvSpPr txBox="1"/>
              <p:nvPr/>
            </p:nvSpPr>
            <p:spPr>
              <a:xfrm>
                <a:off x="14197445" y="3574851"/>
                <a:ext cx="2044700" cy="625171"/>
              </a:xfrm>
              <a:prstGeom prst="rect">
                <a:avLst/>
              </a:prstGeom>
            </p:spPr>
            <p:txBody>
              <a:bodyPr vert="horz" wrap="square" lIns="0" tIns="9525" rIns="0" bIns="0" rtlCol="0">
                <a:spAutoFit/>
              </a:bodyPr>
              <a:lstStyle/>
              <a:p>
                <a:pPr marL="26670" marR="5080" indent="-14604">
                  <a:spcBef>
                    <a:spcPts val="75"/>
                  </a:spcBef>
                </a:pPr>
                <a:r>
                  <a:rPr lang="ko-KR" sz="2000" spc="60" dirty="0">
                    <a:solidFill>
                      <a:srgbClr val="0C2134"/>
                    </a:solidFill>
                    <a:latin typeface="Arial"/>
                    <a:ea typeface="맑은 고딕"/>
                    <a:cs typeface="Arial"/>
                  </a:rPr>
                  <a:t>안정적이고 예측 가능함.</a:t>
                </a:r>
                <a:endParaRPr sz="2000" dirty="0">
                  <a:latin typeface="Arial"/>
                  <a:cs typeface="Arial"/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4526EE-787B-3719-46AD-E4E2DCD7195A}"/>
                </a:ext>
              </a:extLst>
            </p:cNvPr>
            <p:cNvSpPr txBox="1"/>
            <p:nvPr/>
          </p:nvSpPr>
          <p:spPr>
            <a:xfrm>
              <a:off x="1376934" y="4789170"/>
              <a:ext cx="103784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2025	             2026		       2027		                2025	        2026		2027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vs. Accrual Basis — Comparison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GAAP은 발생주의를 요구할까요?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Cash Basis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활동 이후로 인식이 지연됨.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와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revenue의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대응이 부적절함.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 영업 순환에 더 불리함.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Accrual Basis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기간별 수익성을 더 명확하게 보여줌.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와 revenue를 더 잘 대응시킴.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영업 성과를 반영함.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85800" y="493776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발생주의는 수익과 비용을 대응시켜 각 기간의 실제 성과를 드러냅니다.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인식 시점을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Revenue 인식 시점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회사에서 revenue는 언제 기록되는가?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고객이 서비스를 요청할 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고객이 대금을 지급할 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고객에게 서비스가 제공될 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제공 전 non-refundable deposit을 받을 때.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Accrual-Basis Reporting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dirty="0"/>
              <a:t>Costello </a:t>
            </a:r>
            <a:r>
              <a:rPr lang="en-US" dirty="0" err="1"/>
              <a:t>Company는</a:t>
            </a:r>
            <a:r>
              <a:rPr lang="en-US" dirty="0"/>
              <a:t> 2026년에 </a:t>
            </a:r>
            <a:r>
              <a:rPr lang="en-US" dirty="0" err="1"/>
              <a:t>고객에게</a:t>
            </a:r>
            <a:r>
              <a:rPr lang="en-US" dirty="0"/>
              <a:t> </a:t>
            </a:r>
            <a:r>
              <a:rPr lang="en-US" dirty="0" err="1"/>
              <a:t>용역을</a:t>
            </a:r>
            <a:r>
              <a:rPr lang="en-US" dirty="0"/>
              <a:t> </a:t>
            </a:r>
            <a:r>
              <a:rPr lang="en-US" dirty="0" err="1"/>
              <a:t>제공하고</a:t>
            </a:r>
            <a:r>
              <a:rPr lang="en-US" dirty="0"/>
              <a:t> $10,000을 </a:t>
            </a:r>
            <a:r>
              <a:rPr lang="en-US" dirty="0" err="1"/>
              <a:t>청구하였으며</a:t>
            </a:r>
            <a:r>
              <a:rPr lang="en-US" dirty="0"/>
              <a:t>, </a:t>
            </a:r>
            <a:r>
              <a:rPr lang="en-US" dirty="0" err="1"/>
              <a:t>관련</a:t>
            </a:r>
            <a:r>
              <a:rPr lang="en-US" dirty="0"/>
              <a:t> </a:t>
            </a:r>
            <a:r>
              <a:rPr lang="en-US" dirty="0" err="1"/>
              <a:t>비용</a:t>
            </a:r>
            <a:r>
              <a:rPr lang="en-US" dirty="0"/>
              <a:t> $3,000을 </a:t>
            </a:r>
            <a:r>
              <a:rPr lang="en-US" dirty="0" err="1"/>
              <a:t>현금으로</a:t>
            </a:r>
            <a:r>
              <a:rPr lang="en-US" dirty="0"/>
              <a:t> </a:t>
            </a:r>
            <a:r>
              <a:rPr lang="en-US" dirty="0" err="1"/>
              <a:t>지급하였다</a:t>
            </a:r>
            <a:r>
              <a:rPr lang="en-US" dirty="0"/>
              <a:t>. </a:t>
            </a:r>
            <a:r>
              <a:rPr lang="en-US" dirty="0" err="1"/>
              <a:t>대금은</a:t>
            </a:r>
            <a:r>
              <a:rPr lang="en-US" dirty="0"/>
              <a:t> 2027년에 </a:t>
            </a:r>
            <a:r>
              <a:rPr lang="en-US" dirty="0" err="1"/>
              <a:t>회수되었다</a:t>
            </a:r>
            <a:r>
              <a:rPr lang="en-US" dirty="0"/>
              <a:t>. </a:t>
            </a:r>
            <a:r>
              <a:rPr lang="en-US" dirty="0" err="1"/>
              <a:t>발생주의</a:t>
            </a:r>
            <a:r>
              <a:rPr lang="en-US" dirty="0"/>
              <a:t> </a:t>
            </a:r>
            <a:r>
              <a:rPr lang="en-US" dirty="0" err="1"/>
              <a:t>회계를</a:t>
            </a:r>
            <a:r>
              <a:rPr lang="en-US" dirty="0"/>
              <a:t> </a:t>
            </a:r>
            <a:r>
              <a:rPr lang="en-US" dirty="0" err="1"/>
              <a:t>적용할</a:t>
            </a:r>
            <a:r>
              <a:rPr lang="en-US" dirty="0"/>
              <a:t> </a:t>
            </a:r>
            <a:r>
              <a:rPr lang="en-US" dirty="0" err="1"/>
              <a:t>경우</a:t>
            </a:r>
            <a:r>
              <a:rPr lang="en-US" dirty="0"/>
              <a:t> </a:t>
            </a:r>
            <a:r>
              <a:rPr lang="en-US" dirty="0" err="1"/>
              <a:t>Costello가</a:t>
            </a:r>
            <a:r>
              <a:rPr lang="en-US" dirty="0"/>
              <a:t> 2026년에 </a:t>
            </a:r>
            <a:r>
              <a:rPr lang="en-US" dirty="0" err="1"/>
              <a:t>보고할</a:t>
            </a:r>
            <a:r>
              <a:rPr lang="en-US" dirty="0"/>
              <a:t> </a:t>
            </a:r>
            <a:r>
              <a:rPr lang="en-US" dirty="0" err="1"/>
              <a:t>금액은</a:t>
            </a:r>
            <a:r>
              <a:rPr lang="en-US" dirty="0"/>
              <a:t>?</a:t>
            </a:r>
          </a:p>
          <a:p>
            <a:pPr>
              <a:lnSpc>
                <a:spcPct val="105000"/>
              </a:lnSpc>
            </a:pPr>
            <a:endParaRPr lang="en-US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expenses of $3,000 in 2027.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net income of $7,000 in 2027.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revenue of $10,000 in 2026.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revenue of $10,000 in 2027.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5815584"/>
            <a:ext cx="11329416" cy="4572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67512" y="581558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→ c (용역 제공 시)   ·   Q2 → c (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2026년에 revenue 인식).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1EFB-2216-2124-C714-78971AE7D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69DA97-EA21-9725-C381-A86723CD1C7F}"/>
              </a:ext>
            </a:extLst>
          </p:cNvPr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06EAA9-7EAE-35E7-5D01-8615EABA45F4}"/>
              </a:ext>
            </a:extLst>
          </p:cNvPr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 (Continued)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B7747AF-9D69-9F5F-A93E-94EEE07E59D2}"/>
              </a:ext>
            </a:extLst>
          </p:cNvPr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9F2BAF-CB5E-211F-83D3-AA6525A9A863}"/>
              </a:ext>
            </a:extLst>
          </p:cNvPr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AAD95F9-B047-E549-7DB6-14FFCCEEC21C}"/>
              </a:ext>
            </a:extLst>
          </p:cNvPr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6FEF855-6A02-11DF-FA17-F62C58F4AB14}"/>
              </a:ext>
            </a:extLst>
          </p:cNvPr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3B68DA-916E-78A4-11CD-14B3CB79954B}"/>
              </a:ext>
            </a:extLst>
          </p:cNvPr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Airline 급여 — 발생과 지급의 분개.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92A46AC-0CD8-86E3-D770-4828FFB0E28C}"/>
              </a:ext>
            </a:extLst>
          </p:cNvPr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 · Q3</a:t>
            </a:r>
            <a:endParaRPr lang="en-US" sz="10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AD61D68-4FE7-8CB2-6DC0-C7CD58885E8D}"/>
              </a:ext>
            </a:extLst>
          </p:cNvPr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8FC9A76-F5CD-DA0E-64E6-C657E1D3808E}"/>
              </a:ext>
            </a:extLst>
          </p:cNvPr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B437E19-FC6E-E566-6897-080548CE0912}"/>
              </a:ext>
            </a:extLst>
          </p:cNvPr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334566A-F64F-8ABE-4D41-CE6936272715}"/>
              </a:ext>
            </a:extLst>
          </p:cNvPr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CB8CFE4-E21B-3EB7-191F-7795D23E2463}"/>
              </a:ext>
            </a:extLst>
          </p:cNvPr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직원은 매월 15일에 급여를 받음.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2026/12/16–12/31 근무분 $220,000는 2027/1/15에 지급됨.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2027/12/31 발생 분개, (2) 2027/1/15 지급 분개를 작성하시오.</a:t>
            </a:r>
            <a:endParaRPr lang="en-US" sz="1600" dirty="0"/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81A6CDF4-616A-4FD3-B7A6-B36B715E7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526984"/>
              </p:ext>
            </p:extLst>
          </p:nvPr>
        </p:nvGraphicFramePr>
        <p:xfrm>
          <a:off x="6272784" y="2542032"/>
          <a:ext cx="5486400" cy="217627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31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785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Airline 급여 — 발생과 지급의 분개.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 · Q3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직원은 매월 15일에 급여를 받음.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2026/12/16–12/31 근무분 $220,000는 2027/1/15에 지급됨.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2027/12/31 발생 분개, (2) 2027/1/15 지급 분개를 작성하시오.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72784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757613"/>
              </p:ext>
            </p:extLst>
          </p:nvPr>
        </p:nvGraphicFramePr>
        <p:xfrm>
          <a:off x="6272784" y="2542032"/>
          <a:ext cx="5486400" cy="217627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31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Adjustments are Needed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조정분개가 필요한가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Adjustments Align the Facts with the Financials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조정분개</a:t>
            </a: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(Adjusting Journal Entries) 는 회계기간의 시간 격차(periodicity)를 메웁니다.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77456" y="2377440"/>
            <a:ext cx="4718304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0"/>
          <p:cNvSpPr/>
          <p:nvPr/>
        </p:nvSpPr>
        <p:spPr>
          <a:xfrm>
            <a:off x="7040880" y="2377440"/>
            <a:ext cx="82296" cy="31089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Shape 11"/>
          <p:cNvSpPr/>
          <p:nvPr/>
        </p:nvSpPr>
        <p:spPr>
          <a:xfrm>
            <a:off x="7040880" y="2377440"/>
            <a:ext cx="4718304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7242048" y="2377440"/>
            <a:ext cx="4407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Gap (Periodicity)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7260336" y="2980944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현금의 이동 시점과 가치의 창출·소비 시점이 다름.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시간 격차 때문에 기록되지 않은 수익·비용이 남음.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조정분개가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 격차를 메워 사실과 재무제표를 일치시킴.</a:t>
            </a:r>
            <a:endParaRPr lang="en-US" sz="1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548363D-EB05-5595-0A61-7D524F546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919580"/>
            <a:ext cx="6137735" cy="212183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645D5FDF-81BF-66D6-1D06-B5596C38C6DF}"/>
              </a:ext>
            </a:extLst>
          </p:cNvPr>
          <p:cNvGrpSpPr/>
          <p:nvPr/>
        </p:nvGrpSpPr>
        <p:grpSpPr>
          <a:xfrm>
            <a:off x="534569" y="2739920"/>
            <a:ext cx="6138508" cy="1258531"/>
            <a:chOff x="726410" y="1991849"/>
            <a:chExt cx="16007441" cy="3611941"/>
          </a:xfrm>
        </p:grpSpPr>
        <p:grpSp>
          <p:nvGrpSpPr>
            <p:cNvPr id="24" name="object 2">
              <a:extLst>
                <a:ext uri="{FF2B5EF4-FFF2-40B4-BE49-F238E27FC236}">
                  <a16:creationId xmlns:a16="http://schemas.microsoft.com/office/drawing/2014/main" id="{D66B1D7D-495C-22C8-738A-BD14EE9B7F8E}"/>
                </a:ext>
              </a:extLst>
            </p:cNvPr>
            <p:cNvGrpSpPr/>
            <p:nvPr/>
          </p:nvGrpSpPr>
          <p:grpSpPr>
            <a:xfrm>
              <a:off x="8008691" y="3835965"/>
              <a:ext cx="2547617" cy="536574"/>
              <a:chOff x="8008691" y="3835965"/>
              <a:chExt cx="2547617" cy="536574"/>
            </a:xfrm>
          </p:grpSpPr>
          <p:sp>
            <p:nvSpPr>
              <p:cNvPr id="32" name="object 4">
                <a:extLst>
                  <a:ext uri="{FF2B5EF4-FFF2-40B4-BE49-F238E27FC236}">
                    <a16:creationId xmlns:a16="http://schemas.microsoft.com/office/drawing/2014/main" id="{94263D5E-0963-C714-D623-1E3037D22CF0}"/>
                  </a:ext>
                </a:extLst>
              </p:cNvPr>
              <p:cNvSpPr/>
              <p:nvPr/>
            </p:nvSpPr>
            <p:spPr>
              <a:xfrm>
                <a:off x="8178030" y="3835965"/>
                <a:ext cx="2089150" cy="536574"/>
              </a:xfrm>
              <a:custGeom>
                <a:avLst/>
                <a:gdLst/>
                <a:ahLst/>
                <a:cxnLst/>
                <a:rect l="l" t="t" r="r" b="b"/>
                <a:pathLst>
                  <a:path w="2089150" h="536575">
                    <a:moveTo>
                      <a:pt x="0" y="536177"/>
                    </a:moveTo>
                    <a:lnTo>
                      <a:pt x="0" y="0"/>
                    </a:lnTo>
                  </a:path>
                  <a:path w="2089150" h="536575">
                    <a:moveTo>
                      <a:pt x="343896" y="536177"/>
                    </a:moveTo>
                    <a:lnTo>
                      <a:pt x="343896" y="102129"/>
                    </a:lnTo>
                  </a:path>
                  <a:path w="2089150" h="536575">
                    <a:moveTo>
                      <a:pt x="1732221" y="536177"/>
                    </a:moveTo>
                    <a:lnTo>
                      <a:pt x="1732221" y="127661"/>
                    </a:lnTo>
                  </a:path>
                  <a:path w="2089150" h="536575">
                    <a:moveTo>
                      <a:pt x="2088854" y="536177"/>
                    </a:moveTo>
                    <a:lnTo>
                      <a:pt x="2088854" y="0"/>
                    </a:lnTo>
                  </a:path>
                </a:pathLst>
              </a:custGeom>
              <a:ln w="51006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050"/>
              </a:p>
            </p:txBody>
          </p:sp>
          <p:sp>
            <p:nvSpPr>
              <p:cNvPr id="33" name="object 5">
                <a:extLst>
                  <a:ext uri="{FF2B5EF4-FFF2-40B4-BE49-F238E27FC236}">
                    <a16:creationId xmlns:a16="http://schemas.microsoft.com/office/drawing/2014/main" id="{9F99D994-6500-9595-F31C-1B3CE5E96BFF}"/>
                  </a:ext>
                </a:extLst>
              </p:cNvPr>
              <p:cNvSpPr/>
              <p:nvPr/>
            </p:nvSpPr>
            <p:spPr>
              <a:xfrm>
                <a:off x="8008691" y="4073035"/>
                <a:ext cx="2547617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2547620" h="140970">
                    <a:moveTo>
                      <a:pt x="0" y="0"/>
                    </a:moveTo>
                    <a:lnTo>
                      <a:pt x="2547384" y="0"/>
                    </a:lnTo>
                    <a:lnTo>
                      <a:pt x="2547384" y="140427"/>
                    </a:lnTo>
                    <a:lnTo>
                      <a:pt x="0" y="1404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050" dirty="0"/>
              </a:p>
            </p:txBody>
          </p:sp>
        </p:grpSp>
        <p:sp>
          <p:nvSpPr>
            <p:cNvPr id="26" name="object 7">
              <a:extLst>
                <a:ext uri="{FF2B5EF4-FFF2-40B4-BE49-F238E27FC236}">
                  <a16:creationId xmlns:a16="http://schemas.microsoft.com/office/drawing/2014/main" id="{7B2463B2-CC2B-70CB-FCC2-3F88CCB7FC7E}"/>
                </a:ext>
              </a:extLst>
            </p:cNvPr>
            <p:cNvSpPr txBox="1"/>
            <p:nvPr/>
          </p:nvSpPr>
          <p:spPr>
            <a:xfrm>
              <a:off x="726410" y="1991849"/>
              <a:ext cx="4104364" cy="1278957"/>
            </a:xfrm>
            <a:prstGeom prst="rect">
              <a:avLst/>
            </a:prstGeom>
          </p:spPr>
          <p:txBody>
            <a:bodyPr vert="horz" wrap="square" lIns="0" tIns="14605" rIns="0" bIns="0" rtlCol="0">
              <a:spAutoFit/>
            </a:bodyPr>
            <a:lstStyle/>
            <a:p>
              <a:pPr marL="12700" algn="ctr">
                <a:spcBef>
                  <a:spcPts val="115"/>
                </a:spcBef>
              </a:pPr>
              <a:r>
                <a:rPr lang="en-US" sz="1400" b="1" spc="140" dirty="0">
                  <a:solidFill>
                    <a:srgbClr val="081F36"/>
                  </a:solidFill>
                  <a:latin typeface="Arial"/>
                  <a:cs typeface="Arial"/>
                </a:rPr>
                <a:t>Daily Cash Transactions</a:t>
              </a:r>
              <a:endParaRPr lang="en-US" sz="1400" dirty="0">
                <a:latin typeface="Arial"/>
                <a:cs typeface="Arial"/>
              </a:endParaRPr>
            </a:p>
          </p:txBody>
        </p:sp>
        <p:sp>
          <p:nvSpPr>
            <p:cNvPr id="27" name="object 8">
              <a:extLst>
                <a:ext uri="{FF2B5EF4-FFF2-40B4-BE49-F238E27FC236}">
                  <a16:creationId xmlns:a16="http://schemas.microsoft.com/office/drawing/2014/main" id="{147548A9-0E90-69F6-6B7E-EFF38032023E}"/>
                </a:ext>
              </a:extLst>
            </p:cNvPr>
            <p:cNvSpPr txBox="1"/>
            <p:nvPr/>
          </p:nvSpPr>
          <p:spPr>
            <a:xfrm>
              <a:off x="13119431" y="1991849"/>
              <a:ext cx="3614420" cy="1315762"/>
            </a:xfrm>
            <a:prstGeom prst="rect">
              <a:avLst/>
            </a:prstGeom>
          </p:spPr>
          <p:txBody>
            <a:bodyPr vert="horz" wrap="square" lIns="0" tIns="14605" rIns="0" bIns="0" rtlCol="0">
              <a:spAutoFit/>
            </a:bodyPr>
            <a:lstStyle/>
            <a:p>
              <a:pPr marL="12700" algn="ctr">
                <a:spcBef>
                  <a:spcPts val="115"/>
                </a:spcBef>
              </a:pPr>
              <a:r>
                <a:rPr sz="1400" b="1" dirty="0">
                  <a:solidFill>
                    <a:srgbClr val="081F36"/>
                  </a:solidFill>
                  <a:latin typeface="Arial"/>
                  <a:cs typeface="Arial"/>
                </a:rPr>
                <a:t>Financial</a:t>
              </a:r>
              <a:r>
                <a:rPr sz="1400" b="1" spc="125" dirty="0">
                  <a:solidFill>
                    <a:srgbClr val="081F36"/>
                  </a:solidFill>
                  <a:latin typeface="Arial"/>
                  <a:cs typeface="Arial"/>
                </a:rPr>
                <a:t> </a:t>
              </a:r>
              <a:endParaRPr lang="en-US" sz="1400" b="1" spc="125" dirty="0">
                <a:solidFill>
                  <a:srgbClr val="081F36"/>
                </a:solidFill>
                <a:latin typeface="Arial"/>
                <a:cs typeface="Arial"/>
              </a:endParaRPr>
            </a:p>
            <a:p>
              <a:pPr marL="12700" algn="ctr">
                <a:spcBef>
                  <a:spcPts val="115"/>
                </a:spcBef>
              </a:pPr>
              <a:r>
                <a:rPr sz="1400" b="1" spc="85" dirty="0">
                  <a:solidFill>
                    <a:srgbClr val="081F36"/>
                  </a:solidFill>
                  <a:latin typeface="Arial"/>
                  <a:cs typeface="Arial"/>
                </a:rPr>
                <a:t>Statements</a:t>
              </a:r>
              <a:endParaRPr sz="1400" dirty="0">
                <a:latin typeface="Arial"/>
                <a:cs typeface="Arial"/>
              </a:endParaRPr>
            </a:p>
          </p:txBody>
        </p:sp>
        <p:sp>
          <p:nvSpPr>
            <p:cNvPr id="28" name="object 9">
              <a:extLst>
                <a:ext uri="{FF2B5EF4-FFF2-40B4-BE49-F238E27FC236}">
                  <a16:creationId xmlns:a16="http://schemas.microsoft.com/office/drawing/2014/main" id="{B83EF7C3-35A5-9A9C-F202-2E8BCB12B4CD}"/>
                </a:ext>
              </a:extLst>
            </p:cNvPr>
            <p:cNvSpPr txBox="1"/>
            <p:nvPr/>
          </p:nvSpPr>
          <p:spPr>
            <a:xfrm>
              <a:off x="5744296" y="4762807"/>
              <a:ext cx="6809025" cy="840983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b="1" spc="114" dirty="0">
                  <a:solidFill>
                    <a:srgbClr val="081F36"/>
                  </a:solidFill>
                  <a:latin typeface="Arial"/>
                  <a:cs typeface="Arial"/>
                </a:rPr>
                <a:t>ADJUSTING</a:t>
              </a:r>
              <a:r>
                <a:rPr b="1" spc="135" dirty="0">
                  <a:solidFill>
                    <a:srgbClr val="081F36"/>
                  </a:solidFill>
                  <a:latin typeface="Arial"/>
                  <a:cs typeface="Arial"/>
                </a:rPr>
                <a:t> </a:t>
              </a:r>
              <a:r>
                <a:rPr b="1" spc="-10" dirty="0">
                  <a:solidFill>
                    <a:srgbClr val="081F36"/>
                  </a:solidFill>
                  <a:latin typeface="Arial"/>
                  <a:cs typeface="Arial"/>
                </a:rPr>
                <a:t>ENTRIES</a:t>
              </a:r>
              <a:endParaRPr dirty="0">
                <a:latin typeface="Arial"/>
                <a:cs typeface="Arial"/>
              </a:endParaRPr>
            </a:p>
          </p:txBody>
        </p:sp>
      </p:grpSp>
      <p:sp>
        <p:nvSpPr>
          <p:cNvPr id="19" name="object 22">
            <a:extLst>
              <a:ext uri="{FF2B5EF4-FFF2-40B4-BE49-F238E27FC236}">
                <a16:creationId xmlns:a16="http://schemas.microsoft.com/office/drawing/2014/main" id="{E95DEF7D-ED58-F360-AB79-044C071BD9BB}"/>
              </a:ext>
            </a:extLst>
          </p:cNvPr>
          <p:cNvSpPr txBox="1"/>
          <p:nvPr/>
        </p:nvSpPr>
        <p:spPr>
          <a:xfrm>
            <a:off x="1691005" y="4693115"/>
            <a:ext cx="4389755" cy="32252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4"/>
              </a:spcBef>
            </a:pPr>
            <a:r>
              <a:rPr sz="2000" spc="70" dirty="0">
                <a:solidFill>
                  <a:srgbClr val="0A0C0C"/>
                </a:solidFill>
                <a:latin typeface="Times New Roman"/>
                <a:cs typeface="Times New Roman"/>
              </a:rPr>
              <a:t>Th</a:t>
            </a:r>
            <a:r>
              <a:rPr sz="2000" spc="70" dirty="0">
                <a:solidFill>
                  <a:srgbClr val="0F1D31"/>
                </a:solidFill>
                <a:latin typeface="Times New Roman"/>
                <a:cs typeface="Times New Roman"/>
              </a:rPr>
              <a:t>e</a:t>
            </a:r>
            <a:r>
              <a:rPr sz="2000" spc="-85" dirty="0">
                <a:solidFill>
                  <a:srgbClr val="0F1D31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0A0C0C"/>
                </a:solidFill>
                <a:latin typeface="Times New Roman"/>
                <a:cs typeface="Times New Roman"/>
              </a:rPr>
              <a:t>Time</a:t>
            </a:r>
            <a:r>
              <a:rPr sz="2000" spc="-75" dirty="0">
                <a:solidFill>
                  <a:srgbClr val="0A0C0C"/>
                </a:solidFill>
                <a:latin typeface="Times New Roman"/>
                <a:cs typeface="Times New Roman"/>
              </a:rPr>
              <a:t> </a:t>
            </a:r>
            <a:r>
              <a:rPr sz="2000" spc="80" dirty="0">
                <a:solidFill>
                  <a:srgbClr val="0A0C0C"/>
                </a:solidFill>
                <a:latin typeface="Times New Roman"/>
                <a:cs typeface="Times New Roman"/>
              </a:rPr>
              <a:t>Gap</a:t>
            </a:r>
            <a:r>
              <a:rPr sz="2000" spc="-50" dirty="0">
                <a:solidFill>
                  <a:srgbClr val="0A0C0C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0A0C0C"/>
                </a:solidFill>
                <a:latin typeface="Times New Roman"/>
                <a:cs typeface="Times New Roman"/>
              </a:rPr>
              <a:t>(P</a:t>
            </a:r>
            <a:r>
              <a:rPr sz="2000" spc="-10" dirty="0">
                <a:solidFill>
                  <a:srgbClr val="0F1D31"/>
                </a:solidFill>
                <a:latin typeface="Times New Roman"/>
                <a:cs typeface="Times New Roman"/>
              </a:rPr>
              <a:t>e</a:t>
            </a:r>
            <a:r>
              <a:rPr sz="2000" spc="-10" dirty="0">
                <a:solidFill>
                  <a:srgbClr val="0A0C0C"/>
                </a:solidFill>
                <a:latin typeface="Times New Roman"/>
                <a:cs typeface="Times New Roman"/>
              </a:rPr>
              <a:t>riodi</a:t>
            </a:r>
            <a:r>
              <a:rPr sz="2000" spc="-10" dirty="0">
                <a:solidFill>
                  <a:srgbClr val="0F1D31"/>
                </a:solidFill>
                <a:latin typeface="Times New Roman"/>
                <a:cs typeface="Times New Roman"/>
              </a:rPr>
              <a:t>c</a:t>
            </a:r>
            <a:r>
              <a:rPr sz="2000" spc="-10" dirty="0">
                <a:solidFill>
                  <a:srgbClr val="0A0C0C"/>
                </a:solidFill>
                <a:latin typeface="Times New Roman"/>
                <a:cs typeface="Times New Roman"/>
              </a:rPr>
              <a:t>ity</a:t>
            </a:r>
            <a:r>
              <a:rPr sz="2000" spc="-10" dirty="0">
                <a:solidFill>
                  <a:srgbClr val="0F1D31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Flow Does Not Equal Business Performance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현금의 흐름과 사업의 성과는 같지 않습니다.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979096"/>
            <a:ext cx="11329416" cy="1452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1979096"/>
            <a:ext cx="82296" cy="1452176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1979096"/>
            <a:ext cx="11329416" cy="290435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1979096"/>
            <a:ext cx="11018520" cy="29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582600"/>
            <a:ext cx="10908792" cy="49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'Expense'(비용)는 돈이 은행 계좌에서 나가는 시점과 무관하게, 가치의 소비로 정의됨.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현금만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추적하면 수익성에 대한 잘못된 그림을 만듦.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29768" y="3596057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685800" y="3596057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비용은 '가치가 소비되는 때' 인식됩니다 — 수표를 쓰는 순간이 아니라.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9768" y="4327577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67512" y="4327577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발생주의에서는 조정분개로 소비된 가치를 비용으로 잡아 줍니다.</a:t>
            </a:r>
            <a:endParaRPr lang="en-US" sz="16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1B37A4-D438-2330-80E0-88C340AD7011}"/>
              </a:ext>
            </a:extLst>
          </p:cNvPr>
          <p:cNvGrpSpPr/>
          <p:nvPr/>
        </p:nvGrpSpPr>
        <p:grpSpPr>
          <a:xfrm>
            <a:off x="3485584" y="5059097"/>
            <a:ext cx="6218486" cy="1431539"/>
            <a:chOff x="2000122" y="3684413"/>
            <a:chExt cx="7703948" cy="2806223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0C5FCF7-3A38-D9EA-7FE9-86C1D85D9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0122" y="3684413"/>
              <a:ext cx="7703948" cy="280622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9B36E8-82E6-67FB-A838-61384191E069}"/>
                </a:ext>
              </a:extLst>
            </p:cNvPr>
            <p:cNvGrpSpPr/>
            <p:nvPr/>
          </p:nvGrpSpPr>
          <p:grpSpPr>
            <a:xfrm>
              <a:off x="2663190" y="3699794"/>
              <a:ext cx="6865620" cy="659616"/>
              <a:chOff x="3406207" y="3784612"/>
              <a:chExt cx="10018285" cy="943870"/>
            </a:xfrm>
          </p:grpSpPr>
          <p:sp>
            <p:nvSpPr>
              <p:cNvPr id="22" name="object 7">
                <a:extLst>
                  <a:ext uri="{FF2B5EF4-FFF2-40B4-BE49-F238E27FC236}">
                    <a16:creationId xmlns:a16="http://schemas.microsoft.com/office/drawing/2014/main" id="{30A2C24D-721E-76C5-42E1-C780FE7C4E06}"/>
                  </a:ext>
                </a:extLst>
              </p:cNvPr>
              <p:cNvSpPr txBox="1"/>
              <p:nvPr/>
            </p:nvSpPr>
            <p:spPr>
              <a:xfrm>
                <a:off x="3406207" y="3823790"/>
                <a:ext cx="2514498" cy="904692"/>
              </a:xfrm>
              <a:prstGeom prst="rect">
                <a:avLst/>
              </a:prstGeom>
            </p:spPr>
            <p:txBody>
              <a:bodyPr vert="horz" wrap="square" lIns="0" tIns="14604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14"/>
                  </a:spcBef>
                </a:pPr>
                <a:r>
                  <a:rPr sz="2000" spc="50" dirty="0">
                    <a:solidFill>
                      <a:srgbClr val="050505"/>
                    </a:solidFill>
                    <a:latin typeface="Arial"/>
                    <a:cs typeface="Arial"/>
                  </a:rPr>
                  <a:t>Cash</a:t>
                </a:r>
                <a:r>
                  <a:rPr sz="2000" spc="-30" dirty="0">
                    <a:solidFill>
                      <a:srgbClr val="050505"/>
                    </a:solidFill>
                    <a:latin typeface="Arial"/>
                    <a:cs typeface="Arial"/>
                  </a:rPr>
                  <a:t> </a:t>
                </a:r>
                <a:r>
                  <a:rPr sz="2000" spc="-20" dirty="0">
                    <a:solidFill>
                      <a:srgbClr val="050505"/>
                    </a:solidFill>
                    <a:latin typeface="Arial"/>
                    <a:cs typeface="Arial"/>
                  </a:rPr>
                  <a:t>Paid</a:t>
                </a:r>
                <a:endParaRPr sz="2000" dirty="0">
                  <a:latin typeface="Arial"/>
                  <a:cs typeface="Arial"/>
                </a:endParaRPr>
              </a:p>
            </p:txBody>
          </p:sp>
          <p:sp>
            <p:nvSpPr>
              <p:cNvPr id="23" name="object 8">
                <a:extLst>
                  <a:ext uri="{FF2B5EF4-FFF2-40B4-BE49-F238E27FC236}">
                    <a16:creationId xmlns:a16="http://schemas.microsoft.com/office/drawing/2014/main" id="{444EE0F9-ED69-14F6-DEB9-5BE255C52D04}"/>
                  </a:ext>
                </a:extLst>
              </p:cNvPr>
              <p:cNvSpPr txBox="1"/>
              <p:nvPr/>
            </p:nvSpPr>
            <p:spPr>
              <a:xfrm>
                <a:off x="6646057" y="3820059"/>
                <a:ext cx="3460752" cy="906493"/>
              </a:xfrm>
              <a:prstGeom prst="rect">
                <a:avLst/>
              </a:prstGeom>
            </p:spPr>
            <p:txBody>
              <a:bodyPr vert="horz" wrap="square" lIns="0" tIns="1524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20"/>
                  </a:spcBef>
                </a:pPr>
                <a:r>
                  <a:rPr sz="2000" spc="130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sz="2000" spc="-270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sz="2000" spc="65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Cash</a:t>
                </a:r>
                <a:r>
                  <a:rPr sz="2000" spc="-229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sz="2000" spc="145" dirty="0">
                    <a:solidFill>
                      <a:srgbClr val="05050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Trap</a:t>
                </a:r>
                <a:endParaRPr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object 9">
                <a:extLst>
                  <a:ext uri="{FF2B5EF4-FFF2-40B4-BE49-F238E27FC236}">
                    <a16:creationId xmlns:a16="http://schemas.microsoft.com/office/drawing/2014/main" id="{DF4F2920-6E21-5DC2-4EB4-F1998FDA3FE1}"/>
                  </a:ext>
                </a:extLst>
              </p:cNvPr>
              <p:cNvSpPr txBox="1"/>
              <p:nvPr/>
            </p:nvSpPr>
            <p:spPr>
              <a:xfrm>
                <a:off x="10535812" y="3784612"/>
                <a:ext cx="2888680" cy="904692"/>
              </a:xfrm>
              <a:prstGeom prst="rect">
                <a:avLst/>
              </a:prstGeom>
            </p:spPr>
            <p:txBody>
              <a:bodyPr vert="horz" wrap="square" lIns="0" tIns="14604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14"/>
                  </a:spcBef>
                </a:pPr>
                <a:r>
                  <a:rPr sz="2000" dirty="0">
                    <a:solidFill>
                      <a:srgbClr val="050505"/>
                    </a:solidFill>
                    <a:latin typeface="Arial"/>
                    <a:cs typeface="Arial"/>
                  </a:rPr>
                  <a:t>Value</a:t>
                </a:r>
                <a:r>
                  <a:rPr sz="2000" spc="15" dirty="0">
                    <a:solidFill>
                      <a:srgbClr val="050505"/>
                    </a:solidFill>
                    <a:latin typeface="Arial"/>
                    <a:cs typeface="Arial"/>
                  </a:rPr>
                  <a:t> </a:t>
                </a:r>
                <a:r>
                  <a:rPr sz="2000" spc="45" dirty="0">
                    <a:solidFill>
                      <a:srgbClr val="050505"/>
                    </a:solidFill>
                    <a:latin typeface="Arial"/>
                    <a:cs typeface="Arial"/>
                  </a:rPr>
                  <a:t>Used</a:t>
                </a:r>
                <a:endParaRPr sz="2000" dirty="0">
                  <a:latin typeface="Arial"/>
                  <a:cs typeface="Arial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C5C5D-3391-04EC-223E-85FB3D37D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CA5EAB-4E8F-311B-5244-C102313FBCAC}"/>
              </a:ext>
            </a:extLst>
          </p:cNvPr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028757-A057-CF33-C48E-FB9F996C8B7E}"/>
              </a:ext>
            </a:extLst>
          </p:cNvPr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Two Directions of Time (</a:t>
            </a:r>
            <a:r>
              <a:rPr lang="ko-KR" alt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용역을 시킴 혹은 사용한 경우</a:t>
            </a:r>
            <a:r>
              <a:rPr lang="en-US" altLang="ko-KR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102C56-2AA2-F166-7E6B-A175500FAC4E}"/>
              </a:ext>
            </a:extLst>
          </p:cNvPr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54F147-265D-7D0D-8983-635596DFB756}"/>
              </a:ext>
            </a:extLst>
          </p:cNvPr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B87FC9B-9A7C-7FE3-996E-64D50156C1AC}"/>
              </a:ext>
            </a:extLst>
          </p:cNvPr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6051565-7382-EAAC-39FE-FF8D73158E7A}"/>
              </a:ext>
            </a:extLst>
          </p:cNvPr>
          <p:cNvGrpSpPr/>
          <p:nvPr/>
        </p:nvGrpSpPr>
        <p:grpSpPr>
          <a:xfrm>
            <a:off x="272505" y="1707369"/>
            <a:ext cx="11582400" cy="4273613"/>
            <a:chOff x="0" y="1986221"/>
            <a:chExt cx="12192000" cy="4150482"/>
          </a:xfrm>
        </p:grpSpPr>
        <p:pic>
          <p:nvPicPr>
            <p:cNvPr id="33" name="object 2">
              <a:extLst>
                <a:ext uri="{FF2B5EF4-FFF2-40B4-BE49-F238E27FC236}">
                  <a16:creationId xmlns:a16="http://schemas.microsoft.com/office/drawing/2014/main" id="{6BFAFC98-0C1F-49FC-9E67-FA82C1F7484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986221"/>
              <a:ext cx="12192000" cy="4150482"/>
            </a:xfrm>
            <a:prstGeom prst="rect">
              <a:avLst/>
            </a:prstGeom>
          </p:spPr>
        </p:pic>
        <p:sp>
          <p:nvSpPr>
            <p:cNvPr id="34" name="object 4">
              <a:extLst>
                <a:ext uri="{FF2B5EF4-FFF2-40B4-BE49-F238E27FC236}">
                  <a16:creationId xmlns:a16="http://schemas.microsoft.com/office/drawing/2014/main" id="{CC4A4376-8046-2EC9-13D7-F513C920BA68}"/>
                </a:ext>
              </a:extLst>
            </p:cNvPr>
            <p:cNvSpPr txBox="1"/>
            <p:nvPr/>
          </p:nvSpPr>
          <p:spPr>
            <a:xfrm>
              <a:off x="1323474" y="3126313"/>
              <a:ext cx="3523271" cy="509210"/>
            </a:xfrm>
            <a:prstGeom prst="rect">
              <a:avLst/>
            </a:prstGeom>
          </p:spPr>
          <p:txBody>
            <a:bodyPr vert="horz" wrap="square" lIns="0" tIns="9747" rIns="0" bIns="0" rtlCol="0">
              <a:spAutoFit/>
            </a:bodyPr>
            <a:lstStyle/>
            <a:p>
              <a:pPr marL="8861" defTabSz="637977">
                <a:spcBef>
                  <a:spcPts val="77"/>
                </a:spcBef>
              </a:pPr>
              <a:r>
                <a:rPr lang="ko-KR" sz="1605" b="1" kern="0" spc="35" dirty="0">
                  <a:solidFill>
                    <a:srgbClr val="030303"/>
                  </a:solidFill>
                  <a:latin typeface="Arial"/>
                  <a:ea typeface="맑은 고딕"/>
                  <a:cs typeface="Arial"/>
                </a:rPr>
                <a:t>1. Activity 이전에 현금 지급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  <a:p>
              <a:pPr marL="65570" defTabSz="637977">
                <a:spcBef>
                  <a:spcPts val="3"/>
                </a:spcBef>
              </a:pPr>
              <a:r>
                <a:rPr sz="1605" b="1" kern="0" spc="38" dirty="0">
                  <a:solidFill>
                    <a:srgbClr val="859E80"/>
                  </a:solidFill>
                  <a:latin typeface="Arial"/>
                  <a:cs typeface="Arial"/>
                </a:rPr>
                <a:t>(Deferred Expense</a:t>
              </a:r>
              <a:r>
                <a:rPr sz="1640" kern="0" spc="80" dirty="0">
                  <a:solidFill>
                    <a:srgbClr val="161613"/>
                  </a:solidFill>
                  <a:latin typeface="Arial"/>
                  <a:cs typeface="Arial"/>
                </a:rPr>
                <a:t>/</a:t>
              </a:r>
              <a:r>
                <a:rPr sz="1640" kern="0" spc="262" dirty="0">
                  <a:solidFill>
                    <a:srgbClr val="161613"/>
                  </a:solidFill>
                  <a:latin typeface="Arial"/>
                  <a:cs typeface="Arial"/>
                </a:rPr>
                <a:t> </a:t>
              </a:r>
              <a:r>
                <a:rPr sz="1605" b="1" kern="0" spc="38" dirty="0">
                  <a:solidFill>
                    <a:srgbClr val="859E80"/>
                  </a:solidFill>
                  <a:latin typeface="Arial"/>
                  <a:cs typeface="Arial"/>
                </a:rPr>
                <a:t>Asset</a:t>
              </a:r>
              <a:r>
                <a:rPr sz="1605" b="1" kern="0" spc="38" dirty="0">
                  <a:solidFill>
                    <a:srgbClr val="2B2B2A"/>
                  </a:solidFill>
                  <a:latin typeface="Arial"/>
                  <a:cs typeface="Arial"/>
                </a:rPr>
                <a:t>)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</p:txBody>
        </p:sp>
        <p:sp>
          <p:nvSpPr>
            <p:cNvPr id="35" name="object 5">
              <a:extLst>
                <a:ext uri="{FF2B5EF4-FFF2-40B4-BE49-F238E27FC236}">
                  <a16:creationId xmlns:a16="http://schemas.microsoft.com/office/drawing/2014/main" id="{951C4341-28C7-B6ED-220E-04BFAB555203}"/>
                </a:ext>
              </a:extLst>
            </p:cNvPr>
            <p:cNvSpPr txBox="1"/>
            <p:nvPr/>
          </p:nvSpPr>
          <p:spPr>
            <a:xfrm>
              <a:off x="6229268" y="2823488"/>
              <a:ext cx="1814180" cy="497155"/>
            </a:xfrm>
            <a:prstGeom prst="rect">
              <a:avLst/>
            </a:prstGeom>
          </p:spPr>
          <p:txBody>
            <a:bodyPr vert="horz" wrap="square" lIns="0" tIns="9747" rIns="0" bIns="0" rtlCol="0">
              <a:spAutoFit/>
            </a:bodyPr>
            <a:lstStyle/>
            <a:p>
              <a:pPr marL="8861" defTabSz="637977">
                <a:lnSpc>
                  <a:spcPts val="1891"/>
                </a:lnSpc>
                <a:spcBef>
                  <a:spcPts val="77"/>
                </a:spcBef>
              </a:pPr>
              <a:r>
                <a:rPr sz="1605" b="1" kern="0" spc="31" dirty="0">
                  <a:solidFill>
                    <a:srgbClr val="030303"/>
                  </a:solidFill>
                  <a:latin typeface="Arial"/>
                  <a:cs typeface="Arial"/>
                </a:rPr>
                <a:t>Activity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  <a:p>
              <a:pPr marL="13734" defTabSz="637977">
                <a:lnSpc>
                  <a:spcPts val="1933"/>
                </a:lnSpc>
              </a:pPr>
              <a:r>
                <a:rPr sz="1640" kern="0" dirty="0">
                  <a:solidFill>
                    <a:srgbClr val="161613"/>
                  </a:solidFill>
                  <a:latin typeface="Arial"/>
                  <a:cs typeface="Arial"/>
                </a:rPr>
                <a:t>(Value</a:t>
              </a:r>
              <a:r>
                <a:rPr sz="1640" kern="0" spc="31" dirty="0">
                  <a:solidFill>
                    <a:srgbClr val="161613"/>
                  </a:solidFill>
                  <a:latin typeface="Arial"/>
                  <a:cs typeface="Arial"/>
                </a:rPr>
                <a:t> </a:t>
              </a:r>
              <a:r>
                <a:rPr sz="1640" kern="0" spc="-7" dirty="0">
                  <a:solidFill>
                    <a:srgbClr val="161613"/>
                  </a:solidFill>
                  <a:latin typeface="Arial"/>
                  <a:cs typeface="Arial"/>
                </a:rPr>
                <a:t>Consumed)</a:t>
              </a:r>
              <a:endParaRPr sz="1640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</p:txBody>
        </p:sp>
        <p:sp>
          <p:nvSpPr>
            <p:cNvPr id="36" name="object 6">
              <a:extLst>
                <a:ext uri="{FF2B5EF4-FFF2-40B4-BE49-F238E27FC236}">
                  <a16:creationId xmlns:a16="http://schemas.microsoft.com/office/drawing/2014/main" id="{636971F1-D852-6B73-6ED3-E488F75B491C}"/>
                </a:ext>
              </a:extLst>
            </p:cNvPr>
            <p:cNvSpPr txBox="1"/>
            <p:nvPr/>
          </p:nvSpPr>
          <p:spPr>
            <a:xfrm>
              <a:off x="7451714" y="4551372"/>
              <a:ext cx="3533118" cy="522034"/>
            </a:xfrm>
            <a:prstGeom prst="rect">
              <a:avLst/>
            </a:prstGeom>
          </p:spPr>
          <p:txBody>
            <a:bodyPr vert="horz" wrap="square" lIns="0" tIns="9747" rIns="0" bIns="0" rtlCol="0">
              <a:spAutoFit/>
            </a:bodyPr>
            <a:lstStyle/>
            <a:p>
              <a:pPr marL="105000" defTabSz="637977">
                <a:spcBef>
                  <a:spcPts val="77"/>
                </a:spcBef>
              </a:pPr>
              <a:r>
                <a:rPr lang="ko-KR" sz="1605" b="1" kern="0" dirty="0">
                  <a:solidFill>
                    <a:srgbClr val="030303"/>
                  </a:solidFill>
                  <a:latin typeface="Arial"/>
                  <a:ea typeface="맑은 고딕"/>
                  <a:cs typeface="Arial"/>
                </a:rPr>
                <a:t>2. Activity 이후에 현금 지급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  <a:p>
              <a:pPr marL="8861" defTabSz="637977">
                <a:spcBef>
                  <a:spcPts val="73"/>
                </a:spcBef>
              </a:pPr>
              <a:r>
                <a:rPr sz="1640" kern="0" spc="45" dirty="0">
                  <a:solidFill>
                    <a:srgbClr val="2B2B2A"/>
                  </a:solidFill>
                  <a:latin typeface="Arial"/>
                  <a:cs typeface="Arial"/>
                </a:rPr>
                <a:t>(</a:t>
              </a:r>
              <a:r>
                <a:rPr sz="1605" b="1" kern="0" spc="-7" dirty="0">
                  <a:solidFill>
                    <a:srgbClr val="AF663F"/>
                  </a:solidFill>
                  <a:latin typeface="Arial"/>
                  <a:cs typeface="Arial"/>
                </a:rPr>
                <a:t>Accrued Expense </a:t>
              </a:r>
              <a:r>
                <a:rPr sz="1640" kern="0" dirty="0">
                  <a:solidFill>
                    <a:srgbClr val="2B2B2A"/>
                  </a:solidFill>
                  <a:latin typeface="Arial"/>
                  <a:cs typeface="Arial"/>
                </a:rPr>
                <a:t>/</a:t>
              </a:r>
              <a:r>
                <a:rPr sz="1640" kern="0" spc="133" dirty="0">
                  <a:solidFill>
                    <a:srgbClr val="2B2B2A"/>
                  </a:solidFill>
                  <a:latin typeface="Arial"/>
                  <a:cs typeface="Arial"/>
                </a:rPr>
                <a:t> </a:t>
              </a:r>
              <a:r>
                <a:rPr sz="1605" b="1" kern="0" spc="-7" dirty="0">
                  <a:solidFill>
                    <a:srgbClr val="AF663F"/>
                  </a:solidFill>
                  <a:latin typeface="Arial"/>
                  <a:cs typeface="Arial"/>
                </a:rPr>
                <a:t>Liability</a:t>
              </a:r>
              <a:r>
                <a:rPr sz="1605" b="1" kern="0" spc="-7" dirty="0">
                  <a:solidFill>
                    <a:srgbClr val="161613"/>
                  </a:solidFill>
                  <a:latin typeface="Arial"/>
                  <a:cs typeface="Arial"/>
                </a:rPr>
                <a:t>)</a:t>
              </a:r>
              <a:endParaRPr sz="1605" kern="0" dirty="0">
                <a:solidFill>
                  <a:sysClr val="windowText" lastClr="000000"/>
                </a:solidFill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9205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Types of Adjustments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방향의 시간 — 현금이 활동보다 먼저(Deferred) 또는 나중(Accrued)에 이동합니다.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1481328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Expense = Asset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이전에 현금 지급.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Prepaid Advertising Expense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선급광고비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/>
              <a:t>미리 지불한 대금은 자산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1481328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Revenue  = Liability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이전에 현금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수취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deferred rent revenue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선수임대료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받은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대가는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부채로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" y="3968496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429768" y="3968496"/>
            <a:ext cx="82296" cy="1481328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429768" y="3968496"/>
            <a:ext cx="5486400" cy="420624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30936" y="39684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 = Liability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9224" y="4572000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이후에 현금 지급.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Accrued Interest Expense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미지급이자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ko-KR" altLang="en-US" sz="1600" dirty="0"/>
              <a:t>지불하지 않은 이자는 부채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72784" y="3968496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6272784" y="3968496"/>
            <a:ext cx="82296" cy="1481328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6272784" y="3968496"/>
            <a:ext cx="5486400" cy="420624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6473952" y="39684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Revenue = Asset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92240" y="4572000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이후에 현금 수취.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Accounts Receivable (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매출채권</a:t>
            </a:r>
            <a:r>
              <a:rPr lang="en-US" altLang="ko-KR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벌었으나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미수령한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29768" y="570585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685800" y="570585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장에서는 Expense 측면(Deferred·Accrued)에 집중합니다.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Deferred Expenses are Assets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이연비용</a:t>
            </a: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선급비용</a:t>
            </a: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 자산이다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Deferred Expenses are Assets 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</a:t>
            </a: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이연비용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선급비용은 자산이다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기간에 걸쳐 효익을 제공하는 선지급액은 먼저 자산으로 기록됩니다.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87168"/>
            <a:ext cx="82296" cy="23774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7512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지급이 여러 회계기간에 효익 제공.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asset(deferred expense)으로 기록.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4325112" y="2487168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62856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기간 말, 소멸된 부분을 expense로 대체.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asset은 동일 금액만큼 감소.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8220456" y="2487168"/>
            <a:ext cx="82296" cy="237744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Examples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58200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equipment, supplies,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insurance, prepaid rent.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9768" y="508406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667512" y="508406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요지: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선지급 = 미래 효익을 산 것 → 소비될 때까지 자산으로 남습니다.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1 — Deferred Advertising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Books, Inc. — 4개월 광고 캠페인에 $800을 선지급.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Initial Entry  (28 Feb)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4개월 광고 캠페인 대금 $800을 현금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  Deferred Advertising Expense (asset) ↑  800</a:t>
            </a:r>
            <a:endParaRPr lang="en-US" sz="1600" dirty="0">
              <a:highlight>
                <a:srgbClr val="00FF00"/>
              </a:highlight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Cash  ↓  800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Amortization  (31 Mar)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 ÷ 4 months = $200 / month (straight-line).</a:t>
            </a: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  Advertising Expense ↑  200</a:t>
            </a:r>
            <a:endParaRPr lang="en-US" sz="1600" dirty="0">
              <a:highlight>
                <a:srgbClr val="00FF00"/>
              </a:highlight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Deferred Advertising Expense  ↓ 200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r>
              <a:rPr lang="en-US" sz="2400" dirty="0" err="1">
                <a:solidFill>
                  <a:schemeClr val="bg1"/>
                </a:solidFill>
              </a:rPr>
              <a:t>비용을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만드는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것은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광고가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실제로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나간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것이지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en-US" sz="2400" dirty="0" err="1">
                <a:solidFill>
                  <a:schemeClr val="bg1"/>
                </a:solidFill>
              </a:rPr>
              <a:t>돈을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지급한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것이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아니다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9941598E-2D7A-17ED-400A-C634F3DDA74F}"/>
              </a:ext>
            </a:extLst>
          </p:cNvPr>
          <p:cNvSpPr/>
          <p:nvPr/>
        </p:nvSpPr>
        <p:spPr>
          <a:xfrm>
            <a:off x="423672" y="5705856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096FEE4-7F18-EB1F-B660-6EA159B8210D}"/>
              </a:ext>
            </a:extLst>
          </p:cNvPr>
          <p:cNvSpPr/>
          <p:nvPr/>
        </p:nvSpPr>
        <p:spPr>
          <a:xfrm>
            <a:off x="679704" y="5705856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expense is the running of the ads, not the writing of the check.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FDE31-17C4-694A-9315-7CA4875BA5A6}"/>
              </a:ext>
            </a:extLst>
          </p:cNvPr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69" name="L-Shape 68">
              <a:extLst>
                <a:ext uri="{FF2B5EF4-FFF2-40B4-BE49-F238E27FC236}">
                  <a16:creationId xmlns:a16="http://schemas.microsoft.com/office/drawing/2014/main" id="{C916329F-8F7D-F447-AC3E-053EBC610106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0" name="L-Shape 69">
              <a:extLst>
                <a:ext uri="{FF2B5EF4-FFF2-40B4-BE49-F238E27FC236}">
                  <a16:creationId xmlns:a16="http://schemas.microsoft.com/office/drawing/2014/main" id="{55CBAD70-B8C8-BE49-91EF-EB9AD318FD64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1443348"/>
            <a:ext cx="1620000" cy="2515350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AB4F2A3-4613-A14B-9B24-5809A17207EC}"/>
              </a:ext>
            </a:extLst>
          </p:cNvPr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Inventory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694B919-534C-2C41-8C61-09F0BDF0CC10}"/>
              </a:ext>
            </a:extLst>
          </p:cNvPr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Deferred expenses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B5738-587C-A94B-A311-E07450FCA23E}"/>
              </a:ext>
            </a:extLst>
          </p:cNvPr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Cleaning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3592B3A-B1AE-554C-9B22-8AACD07ADAAD}"/>
              </a:ext>
            </a:extLst>
          </p:cNvPr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Cost of sales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0607C56-98BD-A043-A296-94D13A8EB2D9}"/>
              </a:ext>
            </a:extLst>
          </p:cNvPr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Revenue (sales)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1DDF6F-B29C-AF46-A26D-B05A0E9136DB}"/>
              </a:ext>
            </a:extLst>
          </p:cNvPr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Deferred revenue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ECF76B1-D232-594B-AEC5-8EBA9E7B4293}"/>
              </a:ext>
            </a:extLst>
          </p:cNvPr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700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9F58AF2-2027-7140-9032-10E07B0F4431}"/>
              </a:ext>
            </a:extLst>
          </p:cNvPr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A8BCCDD3-7ADC-E14B-B0FA-BC3D931C3BE4}"/>
              </a:ext>
            </a:extLst>
          </p:cNvPr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50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E829A5C-2F66-F748-9AB9-2ABF768ADAA8}"/>
              </a:ext>
            </a:extLst>
          </p:cNvPr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EDF2EBA-BB67-8B4C-A078-DBEAC0E841AA}"/>
              </a:ext>
            </a:extLst>
          </p:cNvPr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800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22045B8-0A29-5D40-B258-A790A73168E9}"/>
              </a:ext>
            </a:extLst>
          </p:cNvPr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F86048BE-D5F3-F04C-A5C9-FD8784673821}"/>
              </a:ext>
            </a:extLst>
          </p:cNvPr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Down Arrow 198">
            <a:extLst>
              <a:ext uri="{FF2B5EF4-FFF2-40B4-BE49-F238E27FC236}">
                <a16:creationId xmlns:a16="http://schemas.microsoft.com/office/drawing/2014/main" id="{3FD208AA-CF32-B64F-B03C-969D3C0C8C66}"/>
              </a:ext>
            </a:extLst>
          </p:cNvPr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Down Arrow 199">
            <a:extLst>
              <a:ext uri="{FF2B5EF4-FFF2-40B4-BE49-F238E27FC236}">
                <a16:creationId xmlns:a16="http://schemas.microsoft.com/office/drawing/2014/main" id="{1FAF3004-1D41-C745-8781-BBD1028A56FD}"/>
              </a:ext>
            </a:extLst>
          </p:cNvPr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Down Arrow 200">
            <a:extLst>
              <a:ext uri="{FF2B5EF4-FFF2-40B4-BE49-F238E27FC236}">
                <a16:creationId xmlns:a16="http://schemas.microsoft.com/office/drawing/2014/main" id="{CBCC3500-5911-CC46-9CDA-4AA54F742FE8}"/>
              </a:ext>
            </a:extLst>
          </p:cNvPr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F34EE384-BD9E-2B45-8928-249AF3342E54}"/>
              </a:ext>
            </a:extLst>
          </p:cNvPr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CA42904E-03CE-7F4D-AFDF-7E39C972270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2" name="Down Arrow 211">
            <a:extLst>
              <a:ext uri="{FF2B5EF4-FFF2-40B4-BE49-F238E27FC236}">
                <a16:creationId xmlns:a16="http://schemas.microsoft.com/office/drawing/2014/main" id="{7A914D3F-C49C-F74C-A0B0-F81C07779BDF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1E848E5-21E0-0A46-976F-5F74E418DBAD}"/>
              </a:ext>
            </a:extLst>
          </p:cNvPr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10,000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D2B276C-17E8-F34D-8EA7-F3F8C85A5737}"/>
              </a:ext>
            </a:extLst>
          </p:cNvPr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700</a:t>
            </a:r>
          </a:p>
        </p:txBody>
      </p:sp>
      <p:sp>
        <p:nvSpPr>
          <p:cNvPr id="217" name="Down Arrow 216">
            <a:extLst>
              <a:ext uri="{FF2B5EF4-FFF2-40B4-BE49-F238E27FC236}">
                <a16:creationId xmlns:a16="http://schemas.microsoft.com/office/drawing/2014/main" id="{F8618D62-2A62-F241-A7EE-1EBE8B7E7961}"/>
              </a:ext>
            </a:extLst>
          </p:cNvPr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9" name="Down Arrow 218">
            <a:extLst>
              <a:ext uri="{FF2B5EF4-FFF2-40B4-BE49-F238E27FC236}">
                <a16:creationId xmlns:a16="http://schemas.microsoft.com/office/drawing/2014/main" id="{416110E3-A2AB-8642-98D1-C205A158295A}"/>
              </a:ext>
            </a:extLst>
          </p:cNvPr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D59EDECC-B1D1-B040-BBB3-304302444F36}"/>
              </a:ext>
            </a:extLst>
          </p:cNvPr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21" name="Down Arrow 220">
            <a:extLst>
              <a:ext uri="{FF2B5EF4-FFF2-40B4-BE49-F238E27FC236}">
                <a16:creationId xmlns:a16="http://schemas.microsoft.com/office/drawing/2014/main" id="{123666BC-850F-5440-BFCE-47B8E5B5429B}"/>
              </a:ext>
            </a:extLst>
          </p:cNvPr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A2130B0-8D0D-7E48-9878-BAF1C7148D0E}"/>
              </a:ext>
            </a:extLst>
          </p:cNvPr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27" name="Down Arrow 226">
            <a:extLst>
              <a:ext uri="{FF2B5EF4-FFF2-40B4-BE49-F238E27FC236}">
                <a16:creationId xmlns:a16="http://schemas.microsoft.com/office/drawing/2014/main" id="{99B9ED82-E5B8-C646-AC01-C0366CC8F221}"/>
              </a:ext>
            </a:extLst>
          </p:cNvPr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own Arrow 227">
            <a:extLst>
              <a:ext uri="{FF2B5EF4-FFF2-40B4-BE49-F238E27FC236}">
                <a16:creationId xmlns:a16="http://schemas.microsoft.com/office/drawing/2014/main" id="{2152DDC7-2D10-5346-9C23-BE254FCB2885}"/>
              </a:ext>
            </a:extLst>
          </p:cNvPr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7D7B85-8035-DD49-AD3C-653CAF962405}"/>
              </a:ext>
            </a:extLst>
          </p:cNvPr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0" name="Down Arrow 229">
            <a:extLst>
              <a:ext uri="{FF2B5EF4-FFF2-40B4-BE49-F238E27FC236}">
                <a16:creationId xmlns:a16="http://schemas.microsoft.com/office/drawing/2014/main" id="{DB474155-D7F2-F240-A8D0-B1E59F873FFC}"/>
              </a:ext>
            </a:extLst>
          </p:cNvPr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781F1E4-D0BB-7344-9A1F-F9862372A244}"/>
              </a:ext>
            </a:extLst>
          </p:cNvPr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32" name="Down Arrow 231">
            <a:extLst>
              <a:ext uri="{FF2B5EF4-FFF2-40B4-BE49-F238E27FC236}">
                <a16:creationId xmlns:a16="http://schemas.microsoft.com/office/drawing/2014/main" id="{83E0389C-B1BE-E148-8BB7-82E709CC82B9}"/>
              </a:ext>
            </a:extLst>
          </p:cNvPr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A2E6378-B98F-344B-92C0-802413B38803}"/>
              </a:ext>
            </a:extLst>
          </p:cNvPr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234" name="Down Arrow 233">
            <a:extLst>
              <a:ext uri="{FF2B5EF4-FFF2-40B4-BE49-F238E27FC236}">
                <a16:creationId xmlns:a16="http://schemas.microsoft.com/office/drawing/2014/main" id="{4876771A-E466-B444-9521-BC39F491E76C}"/>
              </a:ext>
            </a:extLst>
          </p:cNvPr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FCD53AC-87EC-304E-8466-777A66168B3E}"/>
              </a:ext>
            </a:extLst>
          </p:cNvPr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36" name="Down Arrow 235">
            <a:extLst>
              <a:ext uri="{FF2B5EF4-FFF2-40B4-BE49-F238E27FC236}">
                <a16:creationId xmlns:a16="http://schemas.microsoft.com/office/drawing/2014/main" id="{1351EA2C-0F69-5B4E-AC1B-79354EC211BC}"/>
              </a:ext>
            </a:extLst>
          </p:cNvPr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D65D871-C325-C44B-ABB2-75EC8DFE6FFF}"/>
              </a:ext>
            </a:extLst>
          </p:cNvPr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95A1CE39-8568-0648-8BF3-E3811DC983C4}"/>
              </a:ext>
            </a:extLst>
          </p:cNvPr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523F897-551A-8F49-B6AB-51DBFD3C53C0}"/>
              </a:ext>
            </a:extLst>
          </p:cNvPr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250</a:t>
            </a:r>
          </a:p>
        </p:txBody>
      </p:sp>
      <p:sp>
        <p:nvSpPr>
          <p:cNvPr id="240" name="Down Arrow 239">
            <a:extLst>
              <a:ext uri="{FF2B5EF4-FFF2-40B4-BE49-F238E27FC236}">
                <a16:creationId xmlns:a16="http://schemas.microsoft.com/office/drawing/2014/main" id="{07DD916A-3850-9F4F-81C8-0C94788A77D2}"/>
              </a:ext>
            </a:extLst>
          </p:cNvPr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8F3874F-A130-C843-9E72-AFB2DD902123}"/>
              </a:ext>
            </a:extLst>
          </p:cNvPr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250</a:t>
            </a:r>
          </a:p>
        </p:txBody>
      </p:sp>
      <p:sp>
        <p:nvSpPr>
          <p:cNvPr id="242" name="Down Arrow 241">
            <a:extLst>
              <a:ext uri="{FF2B5EF4-FFF2-40B4-BE49-F238E27FC236}">
                <a16:creationId xmlns:a16="http://schemas.microsoft.com/office/drawing/2014/main" id="{84AF3014-B3DD-BD46-8650-EE907DDD90EA}"/>
              </a:ext>
            </a:extLst>
          </p:cNvPr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B2E3768-A879-AE44-BA1D-3F82ECAC6E48}"/>
              </a:ext>
            </a:extLst>
          </p:cNvPr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244" name="Down Arrow 243">
            <a:extLst>
              <a:ext uri="{FF2B5EF4-FFF2-40B4-BE49-F238E27FC236}">
                <a16:creationId xmlns:a16="http://schemas.microsoft.com/office/drawing/2014/main" id="{4574C5E5-4218-674B-8FB2-AB88F7FB3FDD}"/>
              </a:ext>
            </a:extLst>
          </p:cNvPr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30F9F41D-65FA-3E4A-B645-18A9F04A48C7}"/>
              </a:ext>
            </a:extLst>
          </p:cNvPr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46" name="Down Arrow 245">
            <a:extLst>
              <a:ext uri="{FF2B5EF4-FFF2-40B4-BE49-F238E27FC236}">
                <a16:creationId xmlns:a16="http://schemas.microsoft.com/office/drawing/2014/main" id="{810B7F9B-FFF6-7646-B180-66C5E6B1ADE6}"/>
              </a:ext>
            </a:extLst>
          </p:cNvPr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AA659AB1-43FB-D747-AC50-E4454DC4B036}"/>
              </a:ext>
            </a:extLst>
          </p:cNvPr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90</a:t>
            </a:r>
          </a:p>
        </p:txBody>
      </p:sp>
      <p:sp>
        <p:nvSpPr>
          <p:cNvPr id="248" name="Down Arrow 247">
            <a:extLst>
              <a:ext uri="{FF2B5EF4-FFF2-40B4-BE49-F238E27FC236}">
                <a16:creationId xmlns:a16="http://schemas.microsoft.com/office/drawing/2014/main" id="{12BC87CD-B219-D944-A303-51AE7219B591}"/>
              </a:ext>
            </a:extLst>
          </p:cNvPr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A2C44290-0620-2943-8A42-C52EE722BCBB}"/>
              </a:ext>
            </a:extLst>
          </p:cNvPr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90</a:t>
            </a:r>
          </a:p>
        </p:txBody>
      </p:sp>
      <p:sp>
        <p:nvSpPr>
          <p:cNvPr id="250" name="Down Arrow 249">
            <a:extLst>
              <a:ext uri="{FF2B5EF4-FFF2-40B4-BE49-F238E27FC236}">
                <a16:creationId xmlns:a16="http://schemas.microsoft.com/office/drawing/2014/main" id="{99FBA779-2143-0245-85BB-6BF02CC500E6}"/>
              </a:ext>
            </a:extLst>
          </p:cNvPr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2AF0AB4-8D2B-0143-996A-B4981D471025}"/>
              </a:ext>
            </a:extLst>
          </p:cNvPr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</a:t>
            </a:r>
          </a:p>
        </p:txBody>
      </p:sp>
      <p:sp>
        <p:nvSpPr>
          <p:cNvPr id="252" name="Down Arrow 251">
            <a:extLst>
              <a:ext uri="{FF2B5EF4-FFF2-40B4-BE49-F238E27FC236}">
                <a16:creationId xmlns:a16="http://schemas.microsoft.com/office/drawing/2014/main" id="{A7123581-9911-2E40-8E28-9FC2BB675D83}"/>
              </a:ext>
            </a:extLst>
          </p:cNvPr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1F19AD71-5F84-1F46-AE8C-130720EF36F1}"/>
              </a:ext>
            </a:extLst>
          </p:cNvPr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</a:t>
            </a:r>
          </a:p>
        </p:txBody>
      </p:sp>
      <p:sp>
        <p:nvSpPr>
          <p:cNvPr id="254" name="Down Arrow 253">
            <a:extLst>
              <a:ext uri="{FF2B5EF4-FFF2-40B4-BE49-F238E27FC236}">
                <a16:creationId xmlns:a16="http://schemas.microsoft.com/office/drawing/2014/main" id="{21A7DE91-A1BB-F143-9944-47847F9AE787}"/>
              </a:ext>
            </a:extLst>
          </p:cNvPr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B1A396-D0F4-AF4A-BCBC-DE574C091153}"/>
              </a:ext>
            </a:extLst>
          </p:cNvPr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800</a:t>
            </a:r>
          </a:p>
        </p:txBody>
      </p:sp>
      <p:sp>
        <p:nvSpPr>
          <p:cNvPr id="256" name="Down Arrow 255">
            <a:extLst>
              <a:ext uri="{FF2B5EF4-FFF2-40B4-BE49-F238E27FC236}">
                <a16:creationId xmlns:a16="http://schemas.microsoft.com/office/drawing/2014/main" id="{38C36F68-D429-D34F-9A05-65CE9CE1A050}"/>
              </a:ext>
            </a:extLst>
          </p:cNvPr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453C8DB-4862-DB4A-B585-8CA95BFC63F2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74D601C-555F-6541-9D58-035F53E13D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A257676-24B8-1342-B932-23DDEB005B47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775D2738-1A15-3D43-963E-83A150D3DD08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E14654BD-BDE4-0748-912C-22432B5DD3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A79CA8D-AC8C-2649-8D3F-6C8279757C83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38C4DBA-DFAC-4340-8960-9AF8BB8FC7AF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97D5EE0-8446-1244-A657-E9DBF68238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56AA7E7C-0592-B744-AFA9-D3A064F8B33C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90B4E07-594A-A14A-8963-85FDC07BC01C}"/>
              </a:ext>
            </a:extLst>
          </p:cNvPr>
          <p:cNvGrpSpPr>
            <a:grpSpLocks/>
          </p:cNvGrpSpPr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9473252-919C-714D-94C1-4DB022093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FEF879C7-2ACE-1041-BB08-7AFBD04A6C03}"/>
                </a:ext>
              </a:extLst>
            </p:cNvPr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E926AC0-ACF9-5740-BF86-F896C99583F8}"/>
              </a:ext>
            </a:extLst>
          </p:cNvPr>
          <p:cNvGrpSpPr>
            <a:grpSpLocks noChangeAspect="1"/>
          </p:cNvGrpSpPr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6C9AD204-992D-7340-9007-FB781F35F3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B802E40B-4561-B544-B398-60B28F4017E1}"/>
                </a:ext>
              </a:extLst>
            </p:cNvPr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8EED77C-46A6-6E47-A051-2199A74CA1A8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F479D06-F682-8D44-B53B-0D87422A0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A225A6FB-DD05-924A-B22F-55802B79682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FB76A26-C3D9-AD43-8E15-C910B24A33A0}"/>
              </a:ext>
            </a:extLst>
          </p:cNvPr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69692DC-9844-0D42-9853-133F95FB4AB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58904CDB-8CBE-D54A-9F00-7E6AE817763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A9CDBE1-AA99-CC41-BBF1-135E8C45247C}"/>
              </a:ext>
            </a:extLst>
          </p:cNvPr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98C46BB-3A50-ED44-A443-D03AC54BAB4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95942E07-E504-DD46-9114-A4BF7BE2FC7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3BEB143C-2DFE-5D4F-A0DE-3CB7F93AD79F}"/>
              </a:ext>
            </a:extLst>
          </p:cNvPr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BD5CC4F-FE4D-7943-A1CC-DFDF51B6191E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9C5F0E67-4F79-D140-84DF-45D9BEBCE79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4EA10479-53C4-274D-9BE6-66DA200A4D16}"/>
              </a:ext>
            </a:extLst>
          </p:cNvPr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B44D8AB9-25F3-2E48-9074-14E6DBD363A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F99E84F1-6489-E244-9ECD-FD8F01D82D9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15F7DE2-F1EB-C94A-AE48-4487C8B506B6}"/>
              </a:ext>
            </a:extLst>
          </p:cNvPr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920E5E24-BE4B-BC48-AFD2-943FE12CD729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548F5F8D-CBA7-D146-8B4B-FDC4D035CB1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924029E-A5DC-CB49-8E0F-74B666CD5BDE}"/>
              </a:ext>
            </a:extLst>
          </p:cNvPr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5234A744-315A-EC44-BDF0-AAAA223BA63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52355BDB-89F5-CF41-8FBD-153559BF29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67E8254-2E00-4348-B74D-2F24011631C6}"/>
              </a:ext>
            </a:extLst>
          </p:cNvPr>
          <p:cNvGrpSpPr>
            <a:grpSpLocks noChangeAspect="1"/>
          </p:cNvGrpSpPr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C60F2B82-C705-134A-AEE1-E87F808B3E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C1DF2F7-5ABA-1546-94EF-20C60AF814A3}"/>
                </a:ext>
              </a:extLst>
            </p:cNvPr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8B4FBB61-B1C8-2944-944E-209A07F65AB8}"/>
              </a:ext>
            </a:extLst>
          </p:cNvPr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3770F02-78FE-664F-9B19-E8B021D1E4D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8B246DE0-B9D9-B54D-A064-CB89E165C09F}"/>
                </a:ext>
              </a:extLst>
            </p:cNvPr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  <a:p>
              <a:pPr algn="ctr"/>
              <a:endParaRPr lang="en-US" sz="8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77E441B-047E-CE46-A25B-28311776F8F4}"/>
              </a:ext>
            </a:extLst>
          </p:cNvPr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B02B6B2-B69E-7842-9D28-1C7E8CB1A28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120E3A7D-22AA-E647-8281-EE164AF657AD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F71B1C50-265E-F34D-AF22-A2B539B0A891}"/>
              </a:ext>
            </a:extLst>
          </p:cNvPr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498E50BA-F1A1-524A-B905-153FA186C0C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55D9C7D2-EAAC-644E-997D-9755B758C142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0CCC7D28-1F7A-7149-AAF0-4EED59597E2F}"/>
              </a:ext>
            </a:extLst>
          </p:cNvPr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762E7B6-B27B-C941-ABAC-597F1AC73B9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78D21582-A888-DE48-836C-0238DA64DB4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9432C11D-E364-C746-985A-2AD5B5DB149E}"/>
              </a:ext>
            </a:extLst>
          </p:cNvPr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EF515DE-CFB5-C746-AC84-B4C313BD06E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3B567B98-0230-FB4D-8B5A-D57CF8B99F8A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F40449CF-4146-A640-B710-857F798A33D4}"/>
              </a:ext>
            </a:extLst>
          </p:cNvPr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F8A312F-C689-FF42-84E9-02ECA660225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50CBD88D-DC4A-3849-90CE-641B000548E3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E2317E5-1DF6-F144-A88B-97C61AC21234}"/>
              </a:ext>
            </a:extLst>
          </p:cNvPr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6A31460D-137B-A74E-B6FC-B55DFB2AE3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CFFD1864-8612-0941-9E7F-4F8D6CCCC5CA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0B138D15-33DA-594B-9977-4B6B88437CDB}"/>
              </a:ext>
            </a:extLst>
          </p:cNvPr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B19CA466-0BF9-9243-882A-C5EC199C6CE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38D05C81-64B1-4048-A25F-7DF135E165A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E6482679-9AB0-5541-BF89-93062662AF98}"/>
              </a:ext>
            </a:extLst>
          </p:cNvPr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0C24FACA-1CFE-B346-89AB-EB0E90F543B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64C22221-FE7F-7946-B113-969909E0FA5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2C13EA5E-21CD-1946-88C4-D8A584B17387}"/>
              </a:ext>
            </a:extLst>
          </p:cNvPr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65A20A3F-C204-4E4F-8867-1B299AF2D0C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3FEEFD6-358C-A543-9BF3-275D2038378C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0EA9870A-D7BD-7749-9180-333352A02EA4}"/>
              </a:ext>
            </a:extLst>
          </p:cNvPr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B5E2F46-B118-1045-AF33-FBEB9E67DC0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rgbClr val="FF0000"/>
                </a:solidFill>
                <a:highlight>
                  <a:srgbClr val="FFFF00"/>
                </a:highlight>
                <a:latin typeface="Avenir"/>
              </a:endParaRPr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EF5AC8E-3F33-C44D-B0DD-469F2AFB0FFB}"/>
                </a:ext>
              </a:extLst>
            </p:cNvPr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sp>
        <p:nvSpPr>
          <p:cNvPr id="395" name="TextBox 394">
            <a:extLst>
              <a:ext uri="{FF2B5EF4-FFF2-40B4-BE49-F238E27FC236}">
                <a16:creationId xmlns:a16="http://schemas.microsoft.com/office/drawing/2014/main" id="{B5B0ED4A-8496-444C-8214-674C43218B51}"/>
              </a:ext>
            </a:extLst>
          </p:cNvPr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receivable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5E8B448-3359-6047-A901-2663E8A040F1}"/>
              </a:ext>
            </a:extLst>
          </p:cNvPr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6" name="L-Shape 405">
              <a:extLst>
                <a:ext uri="{FF2B5EF4-FFF2-40B4-BE49-F238E27FC236}">
                  <a16:creationId xmlns:a16="http://schemas.microsoft.com/office/drawing/2014/main" id="{422C7669-2B67-E844-8AD6-CD39F32EE69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07" name="L-Shape 406">
              <a:extLst>
                <a:ext uri="{FF2B5EF4-FFF2-40B4-BE49-F238E27FC236}">
                  <a16:creationId xmlns:a16="http://schemas.microsoft.com/office/drawing/2014/main" id="{1D4A84B6-5035-BE44-AF14-E2B2AA9F4A8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5BF0B9C-2E0D-C242-8CFF-FA38A5AF35FC}"/>
              </a:ext>
            </a:extLst>
          </p:cNvPr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9" name="L-Shape 408">
              <a:extLst>
                <a:ext uri="{FF2B5EF4-FFF2-40B4-BE49-F238E27FC236}">
                  <a16:creationId xmlns:a16="http://schemas.microsoft.com/office/drawing/2014/main" id="{949DD22A-6C28-4A42-838D-57C0B3AFBA2E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0" name="L-Shape 409">
              <a:extLst>
                <a:ext uri="{FF2B5EF4-FFF2-40B4-BE49-F238E27FC236}">
                  <a16:creationId xmlns:a16="http://schemas.microsoft.com/office/drawing/2014/main" id="{33CD775B-2A0C-DE47-A9A3-022685FE94F6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022F6EA9-7658-814F-A10B-D03A6D0AAF9C}"/>
              </a:ext>
            </a:extLst>
          </p:cNvPr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2" name="L-Shape 411">
              <a:extLst>
                <a:ext uri="{FF2B5EF4-FFF2-40B4-BE49-F238E27FC236}">
                  <a16:creationId xmlns:a16="http://schemas.microsoft.com/office/drawing/2014/main" id="{FEC5C8AE-56DC-A645-B700-BDD31418BAC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3" name="L-Shape 412">
              <a:extLst>
                <a:ext uri="{FF2B5EF4-FFF2-40B4-BE49-F238E27FC236}">
                  <a16:creationId xmlns:a16="http://schemas.microsoft.com/office/drawing/2014/main" id="{22B67BC0-71B1-3D4D-B1C7-898751D00CC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879A878-BB24-5C4E-8DED-AA8AA8416168}"/>
              </a:ext>
            </a:extLst>
          </p:cNvPr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  <a:solidFill>
            <a:schemeClr val="accent6">
              <a:lumMod val="75000"/>
            </a:schemeClr>
          </a:solidFill>
        </p:grpSpPr>
        <p:sp>
          <p:nvSpPr>
            <p:cNvPr id="421" name="L-Shape 420">
              <a:extLst>
                <a:ext uri="{FF2B5EF4-FFF2-40B4-BE49-F238E27FC236}">
                  <a16:creationId xmlns:a16="http://schemas.microsoft.com/office/drawing/2014/main" id="{BA2D9C48-4D89-9D41-9A86-8C07C56E1D9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2" name="L-Shape 421">
              <a:extLst>
                <a:ext uri="{FF2B5EF4-FFF2-40B4-BE49-F238E27FC236}">
                  <a16:creationId xmlns:a16="http://schemas.microsoft.com/office/drawing/2014/main" id="{21AD4FFB-95DA-6847-8F89-536BF9981BA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B802F43-9F5E-A14B-9D86-B2DA6CA6BAF3}"/>
              </a:ext>
            </a:extLst>
          </p:cNvPr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24" name="L-Shape 423">
              <a:extLst>
                <a:ext uri="{FF2B5EF4-FFF2-40B4-BE49-F238E27FC236}">
                  <a16:creationId xmlns:a16="http://schemas.microsoft.com/office/drawing/2014/main" id="{3FE59A14-5D36-2645-8D6C-212D8CAE6DE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5" name="L-Shape 424">
              <a:extLst>
                <a:ext uri="{FF2B5EF4-FFF2-40B4-BE49-F238E27FC236}">
                  <a16:creationId xmlns:a16="http://schemas.microsoft.com/office/drawing/2014/main" id="{0C755AE6-7667-B743-B400-A3007F0EA37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4848BB5E-72D6-154B-A4A4-863172845016}"/>
              </a:ext>
            </a:extLst>
          </p:cNvPr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3" name="L-Shape 432">
              <a:extLst>
                <a:ext uri="{FF2B5EF4-FFF2-40B4-BE49-F238E27FC236}">
                  <a16:creationId xmlns:a16="http://schemas.microsoft.com/office/drawing/2014/main" id="{ABB06B6F-0697-9948-91DD-97E59BB658B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4" name="L-Shape 433">
              <a:extLst>
                <a:ext uri="{FF2B5EF4-FFF2-40B4-BE49-F238E27FC236}">
                  <a16:creationId xmlns:a16="http://schemas.microsoft.com/office/drawing/2014/main" id="{6F827A64-8AAF-EF46-AB91-B3C3D179257E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37E7F575-6794-1144-AF7A-A8108FEBA4FE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704E9144-FC83-454C-95F5-4C78708FAD9D}"/>
              </a:ext>
            </a:extLst>
          </p:cNvPr>
          <p:cNvSpPr/>
          <p:nvPr/>
        </p:nvSpPr>
        <p:spPr>
          <a:xfrm>
            <a:off x="1961115" y="4272100"/>
            <a:ext cx="10045767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58903224-EF61-C544-833B-9127FEF381D3}"/>
              </a:ext>
            </a:extLst>
          </p:cNvPr>
          <p:cNvGrpSpPr/>
          <p:nvPr/>
        </p:nvGrpSpPr>
        <p:grpSpPr>
          <a:xfrm>
            <a:off x="2170301" y="4562741"/>
            <a:ext cx="9543495" cy="756003"/>
            <a:chOff x="719091" y="1719857"/>
            <a:chExt cx="9543495" cy="756003"/>
          </a:xfrm>
        </p:grpSpPr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E76F8F90-69C0-7F42-B4F4-839A80E838A9}"/>
                </a:ext>
              </a:extLst>
            </p:cNvPr>
            <p:cNvSpPr txBox="1"/>
            <p:nvPr/>
          </p:nvSpPr>
          <p:spPr>
            <a:xfrm>
              <a:off x="1420427" y="1719860"/>
              <a:ext cx="5476017" cy="75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월부터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월까지 진행될 광고 캠페인 비용을 은행 이체로 결제함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67211A87-A34F-EE49-A467-C2CED1BFD348}"/>
                </a:ext>
              </a:extLst>
            </p:cNvPr>
            <p:cNvSpPr txBox="1"/>
            <p:nvPr/>
          </p:nvSpPr>
          <p:spPr>
            <a:xfrm>
              <a:off x="6896444" y="1719857"/>
              <a:ext cx="1683072" cy="75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Deferred expenses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800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344B05B2-8489-0645-8022-19D9434646C0}"/>
                </a:ext>
              </a:extLst>
            </p:cNvPr>
            <p:cNvSpPr txBox="1"/>
            <p:nvPr/>
          </p:nvSpPr>
          <p:spPr>
            <a:xfrm>
              <a:off x="8579514" y="1719857"/>
              <a:ext cx="1683072" cy="7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 dirty="0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Cash</a:t>
              </a:r>
              <a:endParaRPr lang="en-GB" sz="1600" b="1" dirty="0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 dirty="0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800</a:t>
              </a:r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50221051-F4DD-B94C-9D19-915BEB92AA23}"/>
                </a:ext>
              </a:extLst>
            </p:cNvPr>
            <p:cNvSpPr txBox="1"/>
            <p:nvPr/>
          </p:nvSpPr>
          <p:spPr>
            <a:xfrm>
              <a:off x="719091" y="1719857"/>
              <a:ext cx="701336" cy="75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13</a:t>
              </a:r>
            </a:p>
          </p:txBody>
        </p:sp>
      </p:grpSp>
      <p:sp>
        <p:nvSpPr>
          <p:cNvPr id="399" name="Down Arrow 398">
            <a:extLst>
              <a:ext uri="{FF2B5EF4-FFF2-40B4-BE49-F238E27FC236}">
                <a16:creationId xmlns:a16="http://schemas.microsoft.com/office/drawing/2014/main" id="{05060547-ED57-9148-9CAB-5BF64BE4BED3}"/>
              </a:ext>
            </a:extLst>
          </p:cNvPr>
          <p:cNvSpPr/>
          <p:nvPr/>
        </p:nvSpPr>
        <p:spPr>
          <a:xfrm rot="10800000">
            <a:off x="88847" y="859652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Down Arrow 400">
            <a:extLst>
              <a:ext uri="{FF2B5EF4-FFF2-40B4-BE49-F238E27FC236}">
                <a16:creationId xmlns:a16="http://schemas.microsoft.com/office/drawing/2014/main" id="{AD2F51B9-A2E7-094C-BE08-A9CA73C0F3DF}"/>
              </a:ext>
            </a:extLst>
          </p:cNvPr>
          <p:cNvSpPr/>
          <p:nvPr/>
        </p:nvSpPr>
        <p:spPr>
          <a:xfrm>
            <a:off x="88847" y="1929152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6F67AB2-14C9-D246-9E76-7C10572B4738}"/>
              </a:ext>
            </a:extLst>
          </p:cNvPr>
          <p:cNvSpPr txBox="1"/>
          <p:nvPr/>
        </p:nvSpPr>
        <p:spPr>
          <a:xfrm>
            <a:off x="8343365" y="4556096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133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800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5C468988-8152-2E45-9B17-656F6ACA3753}"/>
              </a:ext>
            </a:extLst>
          </p:cNvPr>
          <p:cNvSpPr txBox="1"/>
          <p:nvPr/>
        </p:nvSpPr>
        <p:spPr>
          <a:xfrm>
            <a:off x="10027674" y="4548904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133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800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04B16388-6D39-F448-83B2-12A59AFB5109}"/>
              </a:ext>
            </a:extLst>
          </p:cNvPr>
          <p:cNvSpPr txBox="1"/>
          <p:nvPr/>
        </p:nvSpPr>
        <p:spPr>
          <a:xfrm>
            <a:off x="6403129" y="3421071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460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1448676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2.96296E-6 L -0.57435 -0.55718 " pathEditMode="relative" rAng="0" ptsTypes="AA">
                                      <p:cBhvr>
                                        <p:cTn id="6" dur="3000" fill="hold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724" y="-2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0"/>
                            </p:stCondLst>
                            <p:childTnLst>
                              <p:par>
                                <p:cTn id="8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3.7037E-7 L -0.35326 -0.46088 " pathEditMode="relative" rAng="0" ptsTypes="AA">
                                      <p:cBhvr>
                                        <p:cTn id="40" dur="3000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669" y="-2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10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4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4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/>
      <p:bldP spid="175" grpId="0"/>
      <p:bldP spid="2" grpId="0" animBg="1"/>
      <p:bldP spid="255" grpId="0"/>
      <p:bldP spid="256" grpId="0" animBg="1"/>
      <p:bldP spid="399" grpId="0" animBg="1"/>
      <p:bldP spid="401" grpId="0" animBg="1"/>
      <p:bldP spid="391" grpId="0" animBg="1"/>
      <p:bldP spid="391" grpId="1" animBg="1"/>
      <p:bldP spid="392" grpId="0" animBg="1"/>
      <p:bldP spid="392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FDE31-17C4-694A-9315-7CA4875BA5A6}"/>
              </a:ext>
            </a:extLst>
          </p:cNvPr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69" name="L-Shape 68">
              <a:extLst>
                <a:ext uri="{FF2B5EF4-FFF2-40B4-BE49-F238E27FC236}">
                  <a16:creationId xmlns:a16="http://schemas.microsoft.com/office/drawing/2014/main" id="{C916329F-8F7D-F447-AC3E-053EBC610106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0" name="L-Shape 69">
              <a:extLst>
                <a:ext uri="{FF2B5EF4-FFF2-40B4-BE49-F238E27FC236}">
                  <a16:creationId xmlns:a16="http://schemas.microsoft.com/office/drawing/2014/main" id="{55CBAD70-B8C8-BE49-91EF-EB9AD318FD64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1443348"/>
            <a:ext cx="1620000" cy="2515350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AB4F2A3-4613-A14B-9B24-5809A17207EC}"/>
              </a:ext>
            </a:extLst>
          </p:cNvPr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Inventory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694B919-534C-2C41-8C61-09F0BDF0CC10}"/>
              </a:ext>
            </a:extLst>
          </p:cNvPr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Deferred expenses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449D72-B487-F94C-A127-21B967258AB2}"/>
              </a:ext>
            </a:extLst>
          </p:cNvPr>
          <p:cNvSpPr txBox="1"/>
          <p:nvPr/>
        </p:nvSpPr>
        <p:spPr>
          <a:xfrm>
            <a:off x="2570770" y="6192000"/>
            <a:ext cx="1585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Advertising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B5738-587C-A94B-A311-E07450FCA23E}"/>
              </a:ext>
            </a:extLst>
          </p:cNvPr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Cleaning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3592B3A-B1AE-554C-9B22-8AACD07ADAAD}"/>
              </a:ext>
            </a:extLst>
          </p:cNvPr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Cost of sales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EEBC55C-3C1F-1642-8926-FEB0EBD0F049}"/>
              </a:ext>
            </a:extLst>
          </p:cNvPr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Depreciation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0607C56-98BD-A043-A296-94D13A8EB2D9}"/>
              </a:ext>
            </a:extLst>
          </p:cNvPr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Revenue (sales)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1DDF6F-B29C-AF46-A26D-B05A0E9136DB}"/>
              </a:ext>
            </a:extLst>
          </p:cNvPr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Deferred revenue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ECF76B1-D232-594B-AEC5-8EBA9E7B4293}"/>
              </a:ext>
            </a:extLst>
          </p:cNvPr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700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9F58AF2-2027-7140-9032-10E07B0F4431}"/>
              </a:ext>
            </a:extLst>
          </p:cNvPr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A8BCCDD3-7ADC-E14B-B0FA-BC3D931C3BE4}"/>
              </a:ext>
            </a:extLst>
          </p:cNvPr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50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E829A5C-2F66-F748-9AB9-2ABF768ADAA8}"/>
              </a:ext>
            </a:extLst>
          </p:cNvPr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EDF2EBA-BB67-8B4C-A078-DBEAC0E841AA}"/>
              </a:ext>
            </a:extLst>
          </p:cNvPr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800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22045B8-0A29-5D40-B258-A790A73168E9}"/>
              </a:ext>
            </a:extLst>
          </p:cNvPr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F86048BE-D5F3-F04C-A5C9-FD8784673821}"/>
              </a:ext>
            </a:extLst>
          </p:cNvPr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Down Arrow 198">
            <a:extLst>
              <a:ext uri="{FF2B5EF4-FFF2-40B4-BE49-F238E27FC236}">
                <a16:creationId xmlns:a16="http://schemas.microsoft.com/office/drawing/2014/main" id="{3FD208AA-CF32-B64F-B03C-969D3C0C8C66}"/>
              </a:ext>
            </a:extLst>
          </p:cNvPr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Down Arrow 199">
            <a:extLst>
              <a:ext uri="{FF2B5EF4-FFF2-40B4-BE49-F238E27FC236}">
                <a16:creationId xmlns:a16="http://schemas.microsoft.com/office/drawing/2014/main" id="{1FAF3004-1D41-C745-8781-BBD1028A56FD}"/>
              </a:ext>
            </a:extLst>
          </p:cNvPr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Down Arrow 200">
            <a:extLst>
              <a:ext uri="{FF2B5EF4-FFF2-40B4-BE49-F238E27FC236}">
                <a16:creationId xmlns:a16="http://schemas.microsoft.com/office/drawing/2014/main" id="{CBCC3500-5911-CC46-9CDA-4AA54F742FE8}"/>
              </a:ext>
            </a:extLst>
          </p:cNvPr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F34EE384-BD9E-2B45-8928-249AF3342E54}"/>
              </a:ext>
            </a:extLst>
          </p:cNvPr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1E848E5-21E0-0A46-976F-5F74E418DBAD}"/>
              </a:ext>
            </a:extLst>
          </p:cNvPr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10,000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D2B276C-17E8-F34D-8EA7-F3F8C85A5737}"/>
              </a:ext>
            </a:extLst>
          </p:cNvPr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700</a:t>
            </a:r>
          </a:p>
        </p:txBody>
      </p:sp>
      <p:sp>
        <p:nvSpPr>
          <p:cNvPr id="217" name="Down Arrow 216">
            <a:extLst>
              <a:ext uri="{FF2B5EF4-FFF2-40B4-BE49-F238E27FC236}">
                <a16:creationId xmlns:a16="http://schemas.microsoft.com/office/drawing/2014/main" id="{F8618D62-2A62-F241-A7EE-1EBE8B7E7961}"/>
              </a:ext>
            </a:extLst>
          </p:cNvPr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8" name="Down Arrow 217">
            <a:extLst>
              <a:ext uri="{FF2B5EF4-FFF2-40B4-BE49-F238E27FC236}">
                <a16:creationId xmlns:a16="http://schemas.microsoft.com/office/drawing/2014/main" id="{4482D691-4D69-A242-A177-A1C5F39277C4}"/>
              </a:ext>
            </a:extLst>
          </p:cNvPr>
          <p:cNvSpPr/>
          <p:nvPr/>
        </p:nvSpPr>
        <p:spPr>
          <a:xfrm rot="10800000">
            <a:off x="10630284" y="365974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9" name="Down Arrow 218">
            <a:extLst>
              <a:ext uri="{FF2B5EF4-FFF2-40B4-BE49-F238E27FC236}">
                <a16:creationId xmlns:a16="http://schemas.microsoft.com/office/drawing/2014/main" id="{416110E3-A2AB-8642-98D1-C205A158295A}"/>
              </a:ext>
            </a:extLst>
          </p:cNvPr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D59EDECC-B1D1-B040-BBB3-304302444F36}"/>
              </a:ext>
            </a:extLst>
          </p:cNvPr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21" name="Down Arrow 220">
            <a:extLst>
              <a:ext uri="{FF2B5EF4-FFF2-40B4-BE49-F238E27FC236}">
                <a16:creationId xmlns:a16="http://schemas.microsoft.com/office/drawing/2014/main" id="{123666BC-850F-5440-BFCE-47B8E5B5429B}"/>
              </a:ext>
            </a:extLst>
          </p:cNvPr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A2130B0-8D0D-7E48-9878-BAF1C7148D0E}"/>
              </a:ext>
            </a:extLst>
          </p:cNvPr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27" name="Down Arrow 226">
            <a:extLst>
              <a:ext uri="{FF2B5EF4-FFF2-40B4-BE49-F238E27FC236}">
                <a16:creationId xmlns:a16="http://schemas.microsoft.com/office/drawing/2014/main" id="{99B9ED82-E5B8-C646-AC01-C0366CC8F221}"/>
              </a:ext>
            </a:extLst>
          </p:cNvPr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own Arrow 227">
            <a:extLst>
              <a:ext uri="{FF2B5EF4-FFF2-40B4-BE49-F238E27FC236}">
                <a16:creationId xmlns:a16="http://schemas.microsoft.com/office/drawing/2014/main" id="{2152DDC7-2D10-5346-9C23-BE254FCB2885}"/>
              </a:ext>
            </a:extLst>
          </p:cNvPr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7D7B85-8035-DD49-AD3C-653CAF962405}"/>
              </a:ext>
            </a:extLst>
          </p:cNvPr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0" name="Down Arrow 229">
            <a:extLst>
              <a:ext uri="{FF2B5EF4-FFF2-40B4-BE49-F238E27FC236}">
                <a16:creationId xmlns:a16="http://schemas.microsoft.com/office/drawing/2014/main" id="{DB474155-D7F2-F240-A8D0-B1E59F873FFC}"/>
              </a:ext>
            </a:extLst>
          </p:cNvPr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781F1E4-D0BB-7344-9A1F-F9862372A244}"/>
              </a:ext>
            </a:extLst>
          </p:cNvPr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32" name="Down Arrow 231">
            <a:extLst>
              <a:ext uri="{FF2B5EF4-FFF2-40B4-BE49-F238E27FC236}">
                <a16:creationId xmlns:a16="http://schemas.microsoft.com/office/drawing/2014/main" id="{83E0389C-B1BE-E148-8BB7-82E709CC82B9}"/>
              </a:ext>
            </a:extLst>
          </p:cNvPr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A2E6378-B98F-344B-92C0-802413B38803}"/>
              </a:ext>
            </a:extLst>
          </p:cNvPr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234" name="Down Arrow 233">
            <a:extLst>
              <a:ext uri="{FF2B5EF4-FFF2-40B4-BE49-F238E27FC236}">
                <a16:creationId xmlns:a16="http://schemas.microsoft.com/office/drawing/2014/main" id="{4876771A-E466-B444-9521-BC39F491E76C}"/>
              </a:ext>
            </a:extLst>
          </p:cNvPr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FCD53AC-87EC-304E-8466-777A66168B3E}"/>
              </a:ext>
            </a:extLst>
          </p:cNvPr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36" name="Down Arrow 235">
            <a:extLst>
              <a:ext uri="{FF2B5EF4-FFF2-40B4-BE49-F238E27FC236}">
                <a16:creationId xmlns:a16="http://schemas.microsoft.com/office/drawing/2014/main" id="{1351EA2C-0F69-5B4E-AC1B-79354EC211BC}"/>
              </a:ext>
            </a:extLst>
          </p:cNvPr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D65D871-C325-C44B-ABB2-75EC8DFE6FFF}"/>
              </a:ext>
            </a:extLst>
          </p:cNvPr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95A1CE39-8568-0648-8BF3-E3811DC983C4}"/>
              </a:ext>
            </a:extLst>
          </p:cNvPr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523F897-551A-8F49-B6AB-51DBFD3C53C0}"/>
              </a:ext>
            </a:extLst>
          </p:cNvPr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250</a:t>
            </a:r>
          </a:p>
        </p:txBody>
      </p:sp>
      <p:sp>
        <p:nvSpPr>
          <p:cNvPr id="240" name="Down Arrow 239">
            <a:extLst>
              <a:ext uri="{FF2B5EF4-FFF2-40B4-BE49-F238E27FC236}">
                <a16:creationId xmlns:a16="http://schemas.microsoft.com/office/drawing/2014/main" id="{07DD916A-3850-9F4F-81C8-0C94788A77D2}"/>
              </a:ext>
            </a:extLst>
          </p:cNvPr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8F3874F-A130-C843-9E72-AFB2DD902123}"/>
              </a:ext>
            </a:extLst>
          </p:cNvPr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250</a:t>
            </a:r>
          </a:p>
        </p:txBody>
      </p:sp>
      <p:sp>
        <p:nvSpPr>
          <p:cNvPr id="242" name="Down Arrow 241">
            <a:extLst>
              <a:ext uri="{FF2B5EF4-FFF2-40B4-BE49-F238E27FC236}">
                <a16:creationId xmlns:a16="http://schemas.microsoft.com/office/drawing/2014/main" id="{84AF3014-B3DD-BD46-8650-EE907DDD90EA}"/>
              </a:ext>
            </a:extLst>
          </p:cNvPr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B2E3768-A879-AE44-BA1D-3F82ECAC6E48}"/>
              </a:ext>
            </a:extLst>
          </p:cNvPr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244" name="Down Arrow 243">
            <a:extLst>
              <a:ext uri="{FF2B5EF4-FFF2-40B4-BE49-F238E27FC236}">
                <a16:creationId xmlns:a16="http://schemas.microsoft.com/office/drawing/2014/main" id="{4574C5E5-4218-674B-8FB2-AB88F7FB3FDD}"/>
              </a:ext>
            </a:extLst>
          </p:cNvPr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30F9F41D-65FA-3E4A-B645-18A9F04A48C7}"/>
              </a:ext>
            </a:extLst>
          </p:cNvPr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46" name="Down Arrow 245">
            <a:extLst>
              <a:ext uri="{FF2B5EF4-FFF2-40B4-BE49-F238E27FC236}">
                <a16:creationId xmlns:a16="http://schemas.microsoft.com/office/drawing/2014/main" id="{810B7F9B-FFF6-7646-B180-66C5E6B1ADE6}"/>
              </a:ext>
            </a:extLst>
          </p:cNvPr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AA659AB1-43FB-D747-AC50-E4454DC4B036}"/>
              </a:ext>
            </a:extLst>
          </p:cNvPr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90</a:t>
            </a:r>
          </a:p>
        </p:txBody>
      </p:sp>
      <p:sp>
        <p:nvSpPr>
          <p:cNvPr id="248" name="Down Arrow 247">
            <a:extLst>
              <a:ext uri="{FF2B5EF4-FFF2-40B4-BE49-F238E27FC236}">
                <a16:creationId xmlns:a16="http://schemas.microsoft.com/office/drawing/2014/main" id="{12BC87CD-B219-D944-A303-51AE7219B591}"/>
              </a:ext>
            </a:extLst>
          </p:cNvPr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A2C44290-0620-2943-8A42-C52EE722BCBB}"/>
              </a:ext>
            </a:extLst>
          </p:cNvPr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90</a:t>
            </a:r>
          </a:p>
        </p:txBody>
      </p:sp>
      <p:sp>
        <p:nvSpPr>
          <p:cNvPr id="250" name="Down Arrow 249">
            <a:extLst>
              <a:ext uri="{FF2B5EF4-FFF2-40B4-BE49-F238E27FC236}">
                <a16:creationId xmlns:a16="http://schemas.microsoft.com/office/drawing/2014/main" id="{99FBA779-2143-0245-85BB-6BF02CC500E6}"/>
              </a:ext>
            </a:extLst>
          </p:cNvPr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2AF0AB4-8D2B-0143-996A-B4981D471025}"/>
              </a:ext>
            </a:extLst>
          </p:cNvPr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</a:t>
            </a:r>
          </a:p>
        </p:txBody>
      </p:sp>
      <p:sp>
        <p:nvSpPr>
          <p:cNvPr id="252" name="Down Arrow 251">
            <a:extLst>
              <a:ext uri="{FF2B5EF4-FFF2-40B4-BE49-F238E27FC236}">
                <a16:creationId xmlns:a16="http://schemas.microsoft.com/office/drawing/2014/main" id="{A7123581-9911-2E40-8E28-9FC2BB675D83}"/>
              </a:ext>
            </a:extLst>
          </p:cNvPr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1F19AD71-5F84-1F46-AE8C-130720EF36F1}"/>
              </a:ext>
            </a:extLst>
          </p:cNvPr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</a:t>
            </a:r>
          </a:p>
        </p:txBody>
      </p:sp>
      <p:sp>
        <p:nvSpPr>
          <p:cNvPr id="254" name="Down Arrow 253">
            <a:extLst>
              <a:ext uri="{FF2B5EF4-FFF2-40B4-BE49-F238E27FC236}">
                <a16:creationId xmlns:a16="http://schemas.microsoft.com/office/drawing/2014/main" id="{21A7DE91-A1BB-F143-9944-47847F9AE787}"/>
              </a:ext>
            </a:extLst>
          </p:cNvPr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B1A396-D0F4-AF4A-BCBC-DE574C091153}"/>
              </a:ext>
            </a:extLst>
          </p:cNvPr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800</a:t>
            </a:r>
          </a:p>
        </p:txBody>
      </p:sp>
      <p:sp>
        <p:nvSpPr>
          <p:cNvPr id="256" name="Down Arrow 255">
            <a:extLst>
              <a:ext uri="{FF2B5EF4-FFF2-40B4-BE49-F238E27FC236}">
                <a16:creationId xmlns:a16="http://schemas.microsoft.com/office/drawing/2014/main" id="{38C36F68-D429-D34F-9A05-65CE9CE1A050}"/>
              </a:ext>
            </a:extLst>
          </p:cNvPr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17178582-0F2F-0E48-9096-C57B00200624}"/>
              </a:ext>
            </a:extLst>
          </p:cNvPr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60" name="Down Arrow 259">
            <a:extLst>
              <a:ext uri="{FF2B5EF4-FFF2-40B4-BE49-F238E27FC236}">
                <a16:creationId xmlns:a16="http://schemas.microsoft.com/office/drawing/2014/main" id="{14A5B91A-41ED-424E-AFFC-4DC1EF5555A7}"/>
              </a:ext>
            </a:extLst>
          </p:cNvPr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7E245BC-4FC8-B845-9D5B-E499FC4224AC}"/>
              </a:ext>
            </a:extLst>
          </p:cNvPr>
          <p:cNvSpPr txBox="1"/>
          <p:nvPr/>
        </p:nvSpPr>
        <p:spPr>
          <a:xfrm>
            <a:off x="3577894" y="591237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200</a:t>
            </a:r>
          </a:p>
        </p:txBody>
      </p:sp>
      <p:sp>
        <p:nvSpPr>
          <p:cNvPr id="262" name="Down Arrow 261">
            <a:extLst>
              <a:ext uri="{FF2B5EF4-FFF2-40B4-BE49-F238E27FC236}">
                <a16:creationId xmlns:a16="http://schemas.microsoft.com/office/drawing/2014/main" id="{9793E6F4-4628-D348-BD73-B45AA8F10CF4}"/>
              </a:ext>
            </a:extLst>
          </p:cNvPr>
          <p:cNvSpPr/>
          <p:nvPr/>
        </p:nvSpPr>
        <p:spPr>
          <a:xfrm rot="10800000">
            <a:off x="3096000" y="596325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42B80C80-A341-6940-8E9A-AB568387E8CE}"/>
              </a:ext>
            </a:extLst>
          </p:cNvPr>
          <p:cNvSpPr txBox="1"/>
          <p:nvPr/>
        </p:nvSpPr>
        <p:spPr>
          <a:xfrm>
            <a:off x="5269894" y="190609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200</a:t>
            </a:r>
          </a:p>
        </p:txBody>
      </p:sp>
      <p:sp>
        <p:nvSpPr>
          <p:cNvPr id="264" name="Down Arrow 263">
            <a:extLst>
              <a:ext uri="{FF2B5EF4-FFF2-40B4-BE49-F238E27FC236}">
                <a16:creationId xmlns:a16="http://schemas.microsoft.com/office/drawing/2014/main" id="{F638D17A-434B-E849-8978-BF635C049B7D}"/>
              </a:ext>
            </a:extLst>
          </p:cNvPr>
          <p:cNvSpPr/>
          <p:nvPr/>
        </p:nvSpPr>
        <p:spPr>
          <a:xfrm>
            <a:off x="4824000" y="19539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453C8DB-4862-DB4A-B585-8CA95BFC63F2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74D601C-555F-6541-9D58-035F53E13D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A257676-24B8-1342-B932-23DDEB005B47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775D2738-1A15-3D43-963E-83A150D3DD08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E14654BD-BDE4-0748-912C-22432B5DD3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A79CA8D-AC8C-2649-8D3F-6C8279757C83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38C4DBA-DFAC-4340-8960-9AF8BB8FC7AF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97D5EE0-8446-1244-A657-E9DBF68238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56AA7E7C-0592-B744-AFA9-D3A064F8B33C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90B4E07-594A-A14A-8963-85FDC07BC01C}"/>
              </a:ext>
            </a:extLst>
          </p:cNvPr>
          <p:cNvGrpSpPr>
            <a:grpSpLocks/>
          </p:cNvGrpSpPr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9473252-919C-714D-94C1-4DB022093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FEF879C7-2ACE-1041-BB08-7AFBD04A6C03}"/>
                </a:ext>
              </a:extLst>
            </p:cNvPr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E926AC0-ACF9-5740-BF86-F896C99583F8}"/>
              </a:ext>
            </a:extLst>
          </p:cNvPr>
          <p:cNvGrpSpPr>
            <a:grpSpLocks noChangeAspect="1"/>
          </p:cNvGrpSpPr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6C9AD204-992D-7340-9007-FB781F35F3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B802E40B-4561-B544-B398-60B28F4017E1}"/>
                </a:ext>
              </a:extLst>
            </p:cNvPr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8EED77C-46A6-6E47-A051-2199A74CA1A8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F479D06-F682-8D44-B53B-0D87422A0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A225A6FB-DD05-924A-B22F-55802B79682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FB76A26-C3D9-AD43-8E15-C910B24A33A0}"/>
              </a:ext>
            </a:extLst>
          </p:cNvPr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69692DC-9844-0D42-9853-133F95FB4AB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58904CDB-8CBE-D54A-9F00-7E6AE817763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A9CDBE1-AA99-CC41-BBF1-135E8C45247C}"/>
              </a:ext>
            </a:extLst>
          </p:cNvPr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98C46BB-3A50-ED44-A443-D03AC54BAB4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95942E07-E504-DD46-9114-A4BF7BE2FC7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3BEB143C-2DFE-5D4F-A0DE-3CB7F93AD79F}"/>
              </a:ext>
            </a:extLst>
          </p:cNvPr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BD5CC4F-FE4D-7943-A1CC-DFDF51B6191E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9C5F0E67-4F79-D140-84DF-45D9BEBCE79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4EA10479-53C4-274D-9BE6-66DA200A4D16}"/>
              </a:ext>
            </a:extLst>
          </p:cNvPr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B44D8AB9-25F3-2E48-9074-14E6DBD363A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F99E84F1-6489-E244-9ECD-FD8F01D82D9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15F7DE2-F1EB-C94A-AE48-4487C8B506B6}"/>
              </a:ext>
            </a:extLst>
          </p:cNvPr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920E5E24-BE4B-BC48-AFD2-943FE12CD729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548F5F8D-CBA7-D146-8B4B-FDC4D035CB1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924029E-A5DC-CB49-8E0F-74B666CD5BDE}"/>
              </a:ext>
            </a:extLst>
          </p:cNvPr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5234A744-315A-EC44-BDF0-AAAA223BA63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52355BDB-89F5-CF41-8FBD-153559BF29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67E8254-2E00-4348-B74D-2F24011631C6}"/>
              </a:ext>
            </a:extLst>
          </p:cNvPr>
          <p:cNvGrpSpPr>
            <a:grpSpLocks noChangeAspect="1"/>
          </p:cNvGrpSpPr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C60F2B82-C705-134A-AEE1-E87F808B3E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C1DF2F7-5ABA-1546-94EF-20C60AF814A3}"/>
                </a:ext>
              </a:extLst>
            </p:cNvPr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8B4FBB61-B1C8-2944-944E-209A07F65AB8}"/>
              </a:ext>
            </a:extLst>
          </p:cNvPr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3770F02-78FE-664F-9B19-E8B021D1E4D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8B246DE0-B9D9-B54D-A064-CB89E165C09F}"/>
                </a:ext>
              </a:extLst>
            </p:cNvPr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  <a:p>
              <a:pPr algn="ctr"/>
              <a:endParaRPr lang="en-US" sz="8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77E441B-047E-CE46-A25B-28311776F8F4}"/>
              </a:ext>
            </a:extLst>
          </p:cNvPr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B02B6B2-B69E-7842-9D28-1C7E8CB1A28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120E3A7D-22AA-E647-8281-EE164AF657AD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F71B1C50-265E-F34D-AF22-A2B539B0A891}"/>
              </a:ext>
            </a:extLst>
          </p:cNvPr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498E50BA-F1A1-524A-B905-153FA186C0C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55D9C7D2-EAAC-644E-997D-9755B758C142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0CCC7D28-1F7A-7149-AAF0-4EED59597E2F}"/>
              </a:ext>
            </a:extLst>
          </p:cNvPr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762E7B6-B27B-C941-ABAC-597F1AC73B9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78D21582-A888-DE48-836C-0238DA64DB4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9432C11D-E364-C746-985A-2AD5B5DB149E}"/>
              </a:ext>
            </a:extLst>
          </p:cNvPr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EF515DE-CFB5-C746-AC84-B4C313BD06E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3B567B98-0230-FB4D-8B5A-D57CF8B99F8A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F40449CF-4146-A640-B710-857F798A33D4}"/>
              </a:ext>
            </a:extLst>
          </p:cNvPr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F8A312F-C689-FF42-84E9-02ECA660225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50CBD88D-DC4A-3849-90CE-641B000548E3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E2317E5-1DF6-F144-A88B-97C61AC21234}"/>
              </a:ext>
            </a:extLst>
          </p:cNvPr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6A31460D-137B-A74E-B6FC-B55DFB2AE3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CFFD1864-8612-0941-9E7F-4F8D6CCCC5CA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0B138D15-33DA-594B-9977-4B6B88437CDB}"/>
              </a:ext>
            </a:extLst>
          </p:cNvPr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B19CA466-0BF9-9243-882A-C5EC199C6CE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38D05C81-64B1-4048-A25F-7DF135E165A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E6482679-9AB0-5541-BF89-93062662AF98}"/>
              </a:ext>
            </a:extLst>
          </p:cNvPr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0C24FACA-1CFE-B346-89AB-EB0E90F543B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64C22221-FE7F-7946-B113-969909E0FA5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2C13EA5E-21CD-1946-88C4-D8A584B17387}"/>
              </a:ext>
            </a:extLst>
          </p:cNvPr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65A20A3F-C204-4E4F-8867-1B299AF2D0C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3FEEFD6-358C-A543-9BF3-275D2038378C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0EA9870A-D7BD-7749-9180-333352A02EA4}"/>
              </a:ext>
            </a:extLst>
          </p:cNvPr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B5E2F46-B118-1045-AF33-FBEB9E67DC0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EF5AC8E-3F33-C44D-B0DD-469F2AFB0FFB}"/>
                </a:ext>
              </a:extLst>
            </p:cNvPr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151B6A92-2701-2048-A0DE-3EA783245FB9}"/>
              </a:ext>
            </a:extLst>
          </p:cNvPr>
          <p:cNvGrpSpPr/>
          <p:nvPr/>
        </p:nvGrpSpPr>
        <p:grpSpPr>
          <a:xfrm>
            <a:off x="852407" y="5920266"/>
            <a:ext cx="309700" cy="224238"/>
            <a:chOff x="770743" y="3715228"/>
            <a:chExt cx="309700" cy="224238"/>
          </a:xfrm>
        </p:grpSpPr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2E2E7022-3AC3-4141-A9D3-0559902526E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8ED0D82D-C4ED-BB4B-9F5D-50AC2840E0FF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84FAF781-024F-7F47-BF3A-83A8D1BDE460}"/>
              </a:ext>
            </a:extLst>
          </p:cNvPr>
          <p:cNvGrpSpPr/>
          <p:nvPr/>
        </p:nvGrpSpPr>
        <p:grpSpPr>
          <a:xfrm>
            <a:off x="4325894" y="1931502"/>
            <a:ext cx="309700" cy="224238"/>
            <a:chOff x="770743" y="3715228"/>
            <a:chExt cx="309700" cy="224238"/>
          </a:xfrm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B310EC8B-7606-CF46-949E-FC3A48253F7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B5598E6B-8A94-8F44-A402-08032494757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15</a:t>
              </a:r>
            </a:p>
          </p:txBody>
        </p:sp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E41458D8-C906-4446-B5B7-2D911C334472}"/>
              </a:ext>
            </a:extLst>
          </p:cNvPr>
          <p:cNvGrpSpPr/>
          <p:nvPr/>
        </p:nvGrpSpPr>
        <p:grpSpPr>
          <a:xfrm>
            <a:off x="2620396" y="5933422"/>
            <a:ext cx="309700" cy="224238"/>
            <a:chOff x="770743" y="3715228"/>
            <a:chExt cx="309700" cy="224238"/>
          </a:xfrm>
        </p:grpSpPr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D13E324C-B2AE-414B-B7F6-4B504A764B1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4DFF5B3D-46BE-CE41-9A23-C390F5D92B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15</a:t>
              </a:r>
            </a:p>
          </p:txBody>
        </p:sp>
      </p:grpSp>
      <p:sp>
        <p:nvSpPr>
          <p:cNvPr id="395" name="TextBox 394">
            <a:extLst>
              <a:ext uri="{FF2B5EF4-FFF2-40B4-BE49-F238E27FC236}">
                <a16:creationId xmlns:a16="http://schemas.microsoft.com/office/drawing/2014/main" id="{B5B0ED4A-8496-444C-8214-674C43218B51}"/>
              </a:ext>
            </a:extLst>
          </p:cNvPr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receivable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B10B35FA-FFD5-244C-8FBB-DB3A536F6315}"/>
              </a:ext>
            </a:extLst>
          </p:cNvPr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273" name="L-Shape 272">
              <a:extLst>
                <a:ext uri="{FF2B5EF4-FFF2-40B4-BE49-F238E27FC236}">
                  <a16:creationId xmlns:a16="http://schemas.microsoft.com/office/drawing/2014/main" id="{DF7D733A-4FFE-744F-B214-78B04041F690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274" name="L-Shape 273">
              <a:extLst>
                <a:ext uri="{FF2B5EF4-FFF2-40B4-BE49-F238E27FC236}">
                  <a16:creationId xmlns:a16="http://schemas.microsoft.com/office/drawing/2014/main" id="{15DAAC84-AD00-F244-9996-0E67F278AF0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9DA43E6F-DA2D-6D47-9527-3D4C06A2AADE}"/>
              </a:ext>
            </a:extLst>
          </p:cNvPr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Accumulated depreciation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390520E5-A3C2-894D-85E5-0E4333EB6E08}"/>
              </a:ext>
            </a:extLst>
          </p:cNvPr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394" name="Down Arrow 393">
            <a:extLst>
              <a:ext uri="{FF2B5EF4-FFF2-40B4-BE49-F238E27FC236}">
                <a16:creationId xmlns:a16="http://schemas.microsoft.com/office/drawing/2014/main" id="{B0F8BD20-9927-4341-B34D-0F3411EA8E55}"/>
              </a:ext>
            </a:extLst>
          </p:cNvPr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8506339-CA6B-4143-ADBA-38D4D796E42A}"/>
              </a:ext>
            </a:extLst>
          </p:cNvPr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FE70CBEC-117D-0044-B4ED-7B3D135EE71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A4CE54F9-C870-974D-B405-FB6285BA0682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5E8B448-3359-6047-A901-2663E8A040F1}"/>
              </a:ext>
            </a:extLst>
          </p:cNvPr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6" name="L-Shape 405">
              <a:extLst>
                <a:ext uri="{FF2B5EF4-FFF2-40B4-BE49-F238E27FC236}">
                  <a16:creationId xmlns:a16="http://schemas.microsoft.com/office/drawing/2014/main" id="{422C7669-2B67-E844-8AD6-CD39F32EE69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07" name="L-Shape 406">
              <a:extLst>
                <a:ext uri="{FF2B5EF4-FFF2-40B4-BE49-F238E27FC236}">
                  <a16:creationId xmlns:a16="http://schemas.microsoft.com/office/drawing/2014/main" id="{1D4A84B6-5035-BE44-AF14-E2B2AA9F4A8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5BF0B9C-2E0D-C242-8CFF-FA38A5AF35FC}"/>
              </a:ext>
            </a:extLst>
          </p:cNvPr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9" name="L-Shape 408">
              <a:extLst>
                <a:ext uri="{FF2B5EF4-FFF2-40B4-BE49-F238E27FC236}">
                  <a16:creationId xmlns:a16="http://schemas.microsoft.com/office/drawing/2014/main" id="{949DD22A-6C28-4A42-838D-57C0B3AFBA2E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0" name="L-Shape 409">
              <a:extLst>
                <a:ext uri="{FF2B5EF4-FFF2-40B4-BE49-F238E27FC236}">
                  <a16:creationId xmlns:a16="http://schemas.microsoft.com/office/drawing/2014/main" id="{33CD775B-2A0C-DE47-A9A3-022685FE94F6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022F6EA9-7658-814F-A10B-D03A6D0AAF9C}"/>
              </a:ext>
            </a:extLst>
          </p:cNvPr>
          <p:cNvGrpSpPr/>
          <p:nvPr/>
        </p:nvGrpSpPr>
        <p:grpSpPr>
          <a:xfrm>
            <a:off x="2556000" y="476759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2" name="L-Shape 411">
              <a:extLst>
                <a:ext uri="{FF2B5EF4-FFF2-40B4-BE49-F238E27FC236}">
                  <a16:creationId xmlns:a16="http://schemas.microsoft.com/office/drawing/2014/main" id="{FEC5C8AE-56DC-A645-B700-BDD31418BAC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3" name="L-Shape 412">
              <a:extLst>
                <a:ext uri="{FF2B5EF4-FFF2-40B4-BE49-F238E27FC236}">
                  <a16:creationId xmlns:a16="http://schemas.microsoft.com/office/drawing/2014/main" id="{22B67BC0-71B1-3D4D-B1C7-898751D00CC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A94AD495-E79D-8F49-95B5-678342740E3C}"/>
              </a:ext>
            </a:extLst>
          </p:cNvPr>
          <p:cNvGrpSpPr/>
          <p:nvPr/>
        </p:nvGrpSpPr>
        <p:grpSpPr>
          <a:xfrm>
            <a:off x="2556000" y="563302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5" name="L-Shape 414">
              <a:extLst>
                <a:ext uri="{FF2B5EF4-FFF2-40B4-BE49-F238E27FC236}">
                  <a16:creationId xmlns:a16="http://schemas.microsoft.com/office/drawing/2014/main" id="{4CD4DED9-CB9E-AC4B-BE2A-78F037DBFEA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6" name="L-Shape 415">
              <a:extLst>
                <a:ext uri="{FF2B5EF4-FFF2-40B4-BE49-F238E27FC236}">
                  <a16:creationId xmlns:a16="http://schemas.microsoft.com/office/drawing/2014/main" id="{FC60011B-6414-164E-9D9C-FE2679057335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A5A2220-0725-2E4C-8EE1-0CFDAAB53629}"/>
              </a:ext>
            </a:extLst>
          </p:cNvPr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8" name="L-Shape 417">
              <a:extLst>
                <a:ext uri="{FF2B5EF4-FFF2-40B4-BE49-F238E27FC236}">
                  <a16:creationId xmlns:a16="http://schemas.microsoft.com/office/drawing/2014/main" id="{CFC81F53-CA91-174B-9872-9729D066141F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9" name="L-Shape 418">
              <a:extLst>
                <a:ext uri="{FF2B5EF4-FFF2-40B4-BE49-F238E27FC236}">
                  <a16:creationId xmlns:a16="http://schemas.microsoft.com/office/drawing/2014/main" id="{E8759028-EA69-3049-85B6-E41AA8BA652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879A878-BB24-5C4E-8DED-AA8AA8416168}"/>
              </a:ext>
            </a:extLst>
          </p:cNvPr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  <a:solidFill>
            <a:schemeClr val="accent6">
              <a:lumMod val="75000"/>
            </a:schemeClr>
          </a:solidFill>
        </p:grpSpPr>
        <p:sp>
          <p:nvSpPr>
            <p:cNvPr id="421" name="L-Shape 420">
              <a:extLst>
                <a:ext uri="{FF2B5EF4-FFF2-40B4-BE49-F238E27FC236}">
                  <a16:creationId xmlns:a16="http://schemas.microsoft.com/office/drawing/2014/main" id="{BA2D9C48-4D89-9D41-9A86-8C07C56E1D9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2" name="L-Shape 421">
              <a:extLst>
                <a:ext uri="{FF2B5EF4-FFF2-40B4-BE49-F238E27FC236}">
                  <a16:creationId xmlns:a16="http://schemas.microsoft.com/office/drawing/2014/main" id="{21AD4FFB-95DA-6847-8F89-536BF9981BA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B802F43-9F5E-A14B-9D86-B2DA6CA6BAF3}"/>
              </a:ext>
            </a:extLst>
          </p:cNvPr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24" name="L-Shape 423">
              <a:extLst>
                <a:ext uri="{FF2B5EF4-FFF2-40B4-BE49-F238E27FC236}">
                  <a16:creationId xmlns:a16="http://schemas.microsoft.com/office/drawing/2014/main" id="{3FE59A14-5D36-2645-8D6C-212D8CAE6DE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5" name="L-Shape 424">
              <a:extLst>
                <a:ext uri="{FF2B5EF4-FFF2-40B4-BE49-F238E27FC236}">
                  <a16:creationId xmlns:a16="http://schemas.microsoft.com/office/drawing/2014/main" id="{0C755AE6-7667-B743-B400-A3007F0EA37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4848BB5E-72D6-154B-A4A4-863172845016}"/>
              </a:ext>
            </a:extLst>
          </p:cNvPr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3" name="L-Shape 432">
              <a:extLst>
                <a:ext uri="{FF2B5EF4-FFF2-40B4-BE49-F238E27FC236}">
                  <a16:creationId xmlns:a16="http://schemas.microsoft.com/office/drawing/2014/main" id="{ABB06B6F-0697-9948-91DD-97E59BB658B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4" name="L-Shape 433">
              <a:extLst>
                <a:ext uri="{FF2B5EF4-FFF2-40B4-BE49-F238E27FC236}">
                  <a16:creationId xmlns:a16="http://schemas.microsoft.com/office/drawing/2014/main" id="{6F827A64-8AAF-EF46-AB91-B3C3D179257E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1" name="Rectangle 370">
            <a:extLst>
              <a:ext uri="{FF2B5EF4-FFF2-40B4-BE49-F238E27FC236}">
                <a16:creationId xmlns:a16="http://schemas.microsoft.com/office/drawing/2014/main" id="{E86BC8D0-46A4-1641-9648-56CB73A642B7}"/>
              </a:ext>
            </a:extLst>
          </p:cNvPr>
          <p:cNvSpPr/>
          <p:nvPr/>
        </p:nvSpPr>
        <p:spPr>
          <a:xfrm>
            <a:off x="1357425" y="3894835"/>
            <a:ext cx="10586794" cy="1205854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9" name="Down Arrow 398">
            <a:extLst>
              <a:ext uri="{FF2B5EF4-FFF2-40B4-BE49-F238E27FC236}">
                <a16:creationId xmlns:a16="http://schemas.microsoft.com/office/drawing/2014/main" id="{BF650763-8546-3942-99C4-889A5AA3D7E2}"/>
              </a:ext>
            </a:extLst>
          </p:cNvPr>
          <p:cNvSpPr/>
          <p:nvPr/>
        </p:nvSpPr>
        <p:spPr>
          <a:xfrm rot="10800000">
            <a:off x="153289" y="4549188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F3223B55-E09F-A142-AA0E-15DAC02FC75D}"/>
              </a:ext>
            </a:extLst>
          </p:cNvPr>
          <p:cNvSpPr/>
          <p:nvPr/>
        </p:nvSpPr>
        <p:spPr>
          <a:xfrm>
            <a:off x="152838" y="842384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Down Arrow 400">
            <a:extLst>
              <a:ext uri="{FF2B5EF4-FFF2-40B4-BE49-F238E27FC236}">
                <a16:creationId xmlns:a16="http://schemas.microsoft.com/office/drawing/2014/main" id="{ADF58291-F609-CE4B-AB66-932F8EFF86D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1" name="Down Arrow 440">
            <a:extLst>
              <a:ext uri="{FF2B5EF4-FFF2-40B4-BE49-F238E27FC236}">
                <a16:creationId xmlns:a16="http://schemas.microsoft.com/office/drawing/2014/main" id="{33B4ED47-99C6-FD46-8BF9-48A82A58C1A9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4B429123-235A-4646-8E82-4AAA5DAAADAF}"/>
              </a:ext>
            </a:extLst>
          </p:cNvPr>
          <p:cNvGrpSpPr/>
          <p:nvPr/>
        </p:nvGrpSpPr>
        <p:grpSpPr>
          <a:xfrm>
            <a:off x="1536422" y="4119212"/>
            <a:ext cx="10186175" cy="756551"/>
            <a:chOff x="719091" y="1719856"/>
            <a:chExt cx="9540882" cy="791545"/>
          </a:xfrm>
        </p:grpSpPr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7A56EE0E-E351-754D-B8FC-6300B728C0B6}"/>
                </a:ext>
              </a:extLst>
            </p:cNvPr>
            <p:cNvSpPr txBox="1"/>
            <p:nvPr/>
          </p:nvSpPr>
          <p:spPr>
            <a:xfrm>
              <a:off x="1460917" y="1719859"/>
              <a:ext cx="5648774" cy="7909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월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31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일까지 사용된 </a:t>
              </a:r>
              <a:r>
                <a:rPr lang="ko-KR" altLang="en-US" sz="20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이연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(deferred)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광고비 를 회계 처리함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AC665F92-D86D-0942-ACCD-F5E281D98EC7}"/>
                </a:ext>
              </a:extLst>
            </p:cNvPr>
            <p:cNvSpPr txBox="1"/>
            <p:nvPr/>
          </p:nvSpPr>
          <p:spPr>
            <a:xfrm>
              <a:off x="7107675" y="1720432"/>
              <a:ext cx="1576448" cy="79096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Advertising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200</a:t>
              </a: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4F467518-65B3-2E41-A651-BA973AD881F8}"/>
                </a:ext>
              </a:extLst>
            </p:cNvPr>
            <p:cNvSpPr txBox="1"/>
            <p:nvPr/>
          </p:nvSpPr>
          <p:spPr>
            <a:xfrm>
              <a:off x="8683525" y="1720431"/>
              <a:ext cx="1576448" cy="79096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Deferred expenses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200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31DF9A88-A838-3047-BBF3-7A828B48640D}"/>
                </a:ext>
              </a:extLst>
            </p:cNvPr>
            <p:cNvSpPr txBox="1"/>
            <p:nvPr/>
          </p:nvSpPr>
          <p:spPr>
            <a:xfrm>
              <a:off x="719091" y="1719856"/>
              <a:ext cx="741825" cy="7909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15</a:t>
              </a:r>
            </a:p>
          </p:txBody>
        </p:sp>
      </p:grpSp>
      <p:sp>
        <p:nvSpPr>
          <p:cNvPr id="372" name="TextBox 371">
            <a:extLst>
              <a:ext uri="{FF2B5EF4-FFF2-40B4-BE49-F238E27FC236}">
                <a16:creationId xmlns:a16="http://schemas.microsoft.com/office/drawing/2014/main" id="{DED67D05-3EDA-AD40-B1FB-71F354153A06}"/>
              </a:ext>
            </a:extLst>
          </p:cNvPr>
          <p:cNvSpPr txBox="1"/>
          <p:nvPr/>
        </p:nvSpPr>
        <p:spPr>
          <a:xfrm>
            <a:off x="6403128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160</a:t>
            </a:r>
            <a:endParaRPr lang="en-GB" sz="2400"/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BCC9A204-7955-AF40-B3BC-6A413026ED4F}"/>
              </a:ext>
            </a:extLst>
          </p:cNvPr>
          <p:cNvSpPr txBox="1"/>
          <p:nvPr/>
        </p:nvSpPr>
        <p:spPr>
          <a:xfrm>
            <a:off x="6403129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360</a:t>
            </a:r>
            <a:endParaRPr lang="en-GB" sz="240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EC844A8B-5679-274C-BB36-459FB6B657A2}"/>
              </a:ext>
            </a:extLst>
          </p:cNvPr>
          <p:cNvSpPr txBox="1"/>
          <p:nvPr/>
        </p:nvSpPr>
        <p:spPr>
          <a:xfrm>
            <a:off x="8351278" y="4119762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200</a:t>
            </a: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D3953314-A136-7E4D-821E-E9AE82B803ED}"/>
              </a:ext>
            </a:extLst>
          </p:cNvPr>
          <p:cNvSpPr txBox="1"/>
          <p:nvPr/>
        </p:nvSpPr>
        <p:spPr>
          <a:xfrm>
            <a:off x="10039527" y="4119900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200</a:t>
            </a:r>
          </a:p>
        </p:txBody>
      </p:sp>
    </p:spTree>
    <p:extLst>
      <p:ext uri="{BB962C8B-B14F-4D97-AF65-F5344CB8AC3E}">
        <p14:creationId xmlns:p14="http://schemas.microsoft.com/office/powerpoint/2010/main" val="2499450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2.96296E-6 L -0.5181 0.18703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911" y="935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2000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000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/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2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96296E-6 L -0.43646 -0.3838 " pathEditMode="relative" rAng="0" ptsTypes="AA">
                                      <p:cBhvr>
                                        <p:cTn id="47" dur="3000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823" y="-19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/>
      <p:bldP spid="261" grpId="0"/>
      <p:bldP spid="262" grpId="0" animBg="1"/>
      <p:bldP spid="263" grpId="0"/>
      <p:bldP spid="264" grpId="0" animBg="1"/>
      <p:bldP spid="399" grpId="0" animBg="1"/>
      <p:bldP spid="400" grpId="0" animBg="1"/>
      <p:bldP spid="372" grpId="0"/>
      <p:bldP spid="373" grpId="0"/>
      <p:bldP spid="271" grpId="0" animBg="1"/>
      <p:bldP spid="271" grpId="1" animBg="1"/>
      <p:bldP spid="383" grpId="0" animBg="1"/>
      <p:bldP spid="383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Depreciation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유형자산의 구입은 미래 용역의 묶음을 구입하는 것입니다.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487168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9224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Depreciation은 유형자산의 원가를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내용연수에 걸쳐 체계적으로 배분.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4325112" y="2487168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44568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기간 말 소멸분을 Depreciation Expense로.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value 감소 — contra-asset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'Accumulated Depreciation' 사용.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8220456" y="2487168"/>
            <a:ext cx="82296" cy="246888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Examples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39912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equipment, vehicles,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furniture, machinery.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9768" y="517550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667512" y="517550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요지: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감가상각은 이연비용의 한 형태 — 자산의 원가를 사용 기간에 걸쳐 비용화합니다.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Depreciation — Worked Example (Global Books)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$6,000를 취득하고 매월 감가상각합니다.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37744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Purchase  (31 Jan)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$6,000을 취득 (자금은 bank loan 등으로 조달).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  Equipment ↑  6,000</a:t>
            </a:r>
            <a:endParaRPr lang="en-US" sz="1600" dirty="0">
              <a:highlight>
                <a:srgbClr val="00FF00"/>
              </a:highlight>
            </a:endParaRPr>
          </a:p>
          <a:p>
            <a:pPr lvl="3"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Cash ↓  6,000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377440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&amp; Monthly Entry  (31 Mar)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원가 $6,000 − 잔존가치 $0 ÷ 60개월 = $100 / month.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  <a:buSzPct val="100000"/>
            </a:pPr>
            <a:r>
              <a:rPr lang="en-US" altLang="ko-KR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altLang="ko-KR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600" b="1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  Depreciation Expense ↑  100</a:t>
            </a:r>
            <a:endParaRPr lang="en-US" sz="1600" dirty="0">
              <a:highlight>
                <a:srgbClr val="00FF00"/>
              </a:highlight>
            </a:endParaRPr>
          </a:p>
          <a:p>
            <a:pPr lvl="2"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</a:t>
            </a:r>
            <a:r>
              <a:rPr lang="en-US" sz="1600" b="1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  Accumulated Depreciation ↑ 100</a:t>
            </a:r>
            <a:endParaRPr lang="en-US" sz="1600" dirty="0">
              <a:highlight>
                <a:srgbClr val="FFCC00"/>
              </a:highlight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67512" y="5029200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Accumulated Depreciation: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contra-asset 계정 — net book value가 매월 $100씩 감소합니다 ($6,000 ÷ 5년/60개월).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33386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66860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3074426"/>
            <a:ext cx="1620000" cy="884272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8" name="Down Arrow 207">
            <a:extLst>
              <a:ext uri="{FF2B5EF4-FFF2-40B4-BE49-F238E27FC236}">
                <a16:creationId xmlns:a16="http://schemas.microsoft.com/office/drawing/2014/main" id="{CA42904E-03CE-7F4D-AFDF-7E39C972270E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2" name="Down Arrow 211">
            <a:extLst>
              <a:ext uri="{FF2B5EF4-FFF2-40B4-BE49-F238E27FC236}">
                <a16:creationId xmlns:a16="http://schemas.microsoft.com/office/drawing/2014/main" id="{7A914D3F-C49C-F74C-A0B0-F81C07779BDF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73659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37E7F575-6794-1144-AF7A-A8108FEBA4FE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25929DC-4013-9F4F-8055-BAF07CAD9B57}"/>
              </a:ext>
            </a:extLst>
          </p:cNvPr>
          <p:cNvSpPr/>
          <p:nvPr/>
        </p:nvSpPr>
        <p:spPr>
          <a:xfrm>
            <a:off x="1160723" y="5050166"/>
            <a:ext cx="1053841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C2609F2-0128-8440-B804-2ADB7C3C9D10}"/>
              </a:ext>
            </a:extLst>
          </p:cNvPr>
          <p:cNvGrpSpPr/>
          <p:nvPr/>
        </p:nvGrpSpPr>
        <p:grpSpPr>
          <a:xfrm>
            <a:off x="1356400" y="5312636"/>
            <a:ext cx="10188967" cy="756004"/>
            <a:chOff x="926134" y="1719856"/>
            <a:chExt cx="9204181" cy="75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0C6E394-BA50-DC42-9EA0-5AC0F044AE4E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ZZZ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공급업체로부터 장비를 구매 및 설치함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결제 기한은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30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일 후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D22722E-44A0-0B4F-A765-1936A454F10F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Equipment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6,000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0557586-07D6-9341-B0FF-924B9D1062EE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Accounts payable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6,000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15C9147-F1B4-8644-ADD6-180FE8F82BAB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4</a:t>
              </a: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F5A17972-80A9-1141-B0D0-A1790F78CD82}"/>
              </a:ext>
            </a:extLst>
          </p:cNvPr>
          <p:cNvSpPr txBox="1"/>
          <p:nvPr/>
        </p:nvSpPr>
        <p:spPr>
          <a:xfrm>
            <a:off x="8179227" y="5312923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6,000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7A8F3FE-3F4E-7442-8F1F-36E372EEB08D}"/>
              </a:ext>
            </a:extLst>
          </p:cNvPr>
          <p:cNvSpPr txBox="1"/>
          <p:nvPr/>
        </p:nvSpPr>
        <p:spPr>
          <a:xfrm>
            <a:off x="9862297" y="5317036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6,000</a:t>
            </a:r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D8424DC4-D9B3-C548-9DDB-20728B9CC3A2}"/>
              </a:ext>
            </a:extLst>
          </p:cNvPr>
          <p:cNvSpPr/>
          <p:nvPr/>
        </p:nvSpPr>
        <p:spPr>
          <a:xfrm rot="10800000">
            <a:off x="153289" y="824059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Down Arrow 114">
            <a:extLst>
              <a:ext uri="{FF2B5EF4-FFF2-40B4-BE49-F238E27FC236}">
                <a16:creationId xmlns:a16="http://schemas.microsoft.com/office/drawing/2014/main" id="{2D1DBCBD-810C-A940-9707-5F9831CF63EB}"/>
              </a:ext>
            </a:extLst>
          </p:cNvPr>
          <p:cNvSpPr/>
          <p:nvPr/>
        </p:nvSpPr>
        <p:spPr>
          <a:xfrm rot="10800000">
            <a:off x="11196000" y="826738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1868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1.11111E-6 L -0.65716 -0.34074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865" y="-1703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-4.07407E-6 L -0.25078 -0.62916 " pathEditMode="relative" rAng="0" ptsTypes="AA">
                                      <p:cBhvr>
                                        <p:cTn id="48" dur="30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39" y="-31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222" grpId="0"/>
      <p:bldP spid="223" grpId="0" animBg="1"/>
      <p:bldP spid="224" grpId="0"/>
      <p:bldP spid="225" grpId="0" animBg="1"/>
      <p:bldP spid="396" grpId="0"/>
      <p:bldP spid="112" grpId="0" animBg="1"/>
      <p:bldP spid="112" grpId="1" animBg="1"/>
      <p:bldP spid="113" grpId="0" animBg="1"/>
      <p:bldP spid="113" grpId="1" animBg="1"/>
      <p:bldP spid="114" grpId="0" animBg="1"/>
      <p:bldP spid="11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B0CB96DC-198E-CD4D-970B-BCF8959BDC4C}"/>
              </a:ext>
            </a:extLst>
          </p:cNvPr>
          <p:cNvSpPr txBox="1"/>
          <p:nvPr/>
        </p:nvSpPr>
        <p:spPr>
          <a:xfrm>
            <a:off x="4187006" y="119318"/>
            <a:ext cx="2774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latin typeface="Avenir"/>
              </a:rPr>
              <a:t>Global Books, Inc.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3F703A-E4E7-1244-AF50-4F47AD797F1D}"/>
              </a:ext>
            </a:extLst>
          </p:cNvPr>
          <p:cNvCxnSpPr>
            <a:cxnSpLocks/>
          </p:cNvCxnSpPr>
          <p:nvPr/>
        </p:nvCxnSpPr>
        <p:spPr>
          <a:xfrm>
            <a:off x="4316098" y="552792"/>
            <a:ext cx="3375212" cy="0"/>
          </a:xfrm>
          <a:prstGeom prst="line">
            <a:avLst/>
          </a:prstGeom>
          <a:ln w="28575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EEED1-A67F-7B4D-B573-1C8C8F9E4DA0}"/>
              </a:ext>
            </a:extLst>
          </p:cNvPr>
          <p:cNvGrpSpPr/>
          <p:nvPr/>
        </p:nvGrpSpPr>
        <p:grpSpPr>
          <a:xfrm>
            <a:off x="492858" y="773769"/>
            <a:ext cx="11291146" cy="5895963"/>
            <a:chOff x="492858" y="773769"/>
            <a:chExt cx="11291146" cy="589596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E8333C-28AA-F44C-9287-DF6C682DED39}"/>
                </a:ext>
              </a:extLst>
            </p:cNvPr>
            <p:cNvSpPr txBox="1"/>
            <p:nvPr/>
          </p:nvSpPr>
          <p:spPr>
            <a:xfrm>
              <a:off x="6227788" y="2623662"/>
              <a:ext cx="5556216" cy="169284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Equity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3DB63F-71A1-0948-814E-E6EC32BDC714}"/>
                </a:ext>
              </a:extLst>
            </p:cNvPr>
            <p:cNvSpPr txBox="1"/>
            <p:nvPr/>
          </p:nvSpPr>
          <p:spPr>
            <a:xfrm>
              <a:off x="6410845" y="3135649"/>
              <a:ext cx="1544844" cy="770509"/>
            </a:xfrm>
            <a:prstGeom prst="rect">
              <a:avLst/>
            </a:prstGeom>
            <a:noFill/>
            <a:ln w="57150">
              <a:solidFill>
                <a:srgbClr val="942093"/>
              </a:solidFill>
              <a:miter lim="800000"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b="1">
                  <a:solidFill>
                    <a:srgbClr val="942093"/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Profit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339F0E-00F1-7A45-AD15-733A9D47733A}"/>
                </a:ext>
              </a:extLst>
            </p:cNvPr>
            <p:cNvSpPr txBox="1"/>
            <p:nvPr/>
          </p:nvSpPr>
          <p:spPr>
            <a:xfrm>
              <a:off x="6227788" y="773769"/>
              <a:ext cx="5556216" cy="170267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76200">
              <a:solidFill>
                <a:schemeClr val="accent2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Liabilities</a:t>
              </a:r>
              <a:r>
                <a:rPr lang="en-US" sz="2800" b="1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 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21BD936-11DF-914A-9814-58487BB1FF7E}"/>
                </a:ext>
              </a:extLst>
            </p:cNvPr>
            <p:cNvGrpSpPr/>
            <p:nvPr/>
          </p:nvGrpSpPr>
          <p:grpSpPr>
            <a:xfrm>
              <a:off x="492858" y="3906157"/>
              <a:ext cx="11291146" cy="2763575"/>
              <a:chOff x="1354633" y="4399871"/>
              <a:chExt cx="9550931" cy="2121953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AAFA65-E071-7B4C-BF50-653A0B9C6101}"/>
                  </a:ext>
                </a:extLst>
              </p:cNvPr>
              <p:cNvSpPr txBox="1"/>
              <p:nvPr/>
            </p:nvSpPr>
            <p:spPr>
              <a:xfrm>
                <a:off x="1354633" y="4813260"/>
                <a:ext cx="9550931" cy="1708564"/>
              </a:xfrm>
              <a:prstGeom prst="rect">
                <a:avLst/>
              </a:prstGeom>
              <a:solidFill>
                <a:srgbClr val="FCECFB"/>
              </a:solidFill>
              <a:ln w="76200">
                <a:solidFill>
                  <a:srgbClr val="942093"/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sz="28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5DA1B8-72F0-E745-B02D-3DCC1C44936E}"/>
                  </a:ext>
                </a:extLst>
              </p:cNvPr>
              <p:cNvSpPr txBox="1"/>
              <p:nvPr/>
            </p:nvSpPr>
            <p:spPr>
              <a:xfrm>
                <a:off x="6199863" y="4921166"/>
                <a:ext cx="4576976" cy="14953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76200">
                <a:solidFill>
                  <a:schemeClr val="accent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 algn="r">
                  <a:lnSpc>
                    <a:spcPct val="80000"/>
                  </a:lnSpc>
                </a:pPr>
                <a:r>
                  <a:rPr lang="en-US" sz="20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Revenue</a:t>
                </a:r>
                <a:r>
                  <a:rPr lang="en-US" sz="2800" b="1" dirty="0">
                    <a:solidFill>
                      <a:schemeClr val="accent4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800" b="1" dirty="0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0447C74-849A-FA45-94A5-42A20A0B2C0E}"/>
                  </a:ext>
                </a:extLst>
              </p:cNvPr>
              <p:cNvSpPr txBox="1"/>
              <p:nvPr/>
            </p:nvSpPr>
            <p:spPr>
              <a:xfrm>
                <a:off x="1481256" y="4921166"/>
                <a:ext cx="4552539" cy="149536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76200">
                <a:solidFill>
                  <a:schemeClr val="accent6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 wrap="square" rtlCol="0">
                <a:no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sz="2800" b="1">
                    <a:solidFill>
                      <a:schemeClr val="accent6">
                        <a:lumMod val="20000"/>
                        <a:lumOff val="80000"/>
                      </a:schemeClr>
                    </a:solidFill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_</a:t>
                </a:r>
                <a:r>
                  <a:rPr lang="en-US" sz="2000" b="1">
                    <a:latin typeface="Avenir"/>
                    <a:ea typeface="Helvetica Neue" panose="02000503000000020004" pitchFamily="2" charset="0"/>
                    <a:cs typeface="Helvetica Neue" panose="02000503000000020004" pitchFamily="2" charset="0"/>
                  </a:rPr>
                  <a:t>Expenses</a:t>
                </a:r>
                <a:endParaRPr lang="en-US" sz="28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66116F0-EFD1-1D42-93A4-25C271A8EFAA}"/>
                  </a:ext>
                </a:extLst>
              </p:cNvPr>
              <p:cNvCxnSpPr>
                <a:cxnSpLocks/>
                <a:stCxn id="45" idx="2"/>
              </p:cNvCxnSpPr>
              <p:nvPr/>
            </p:nvCxnSpPr>
            <p:spPr>
              <a:xfrm>
                <a:off x="7013902" y="4399871"/>
                <a:ext cx="7436" cy="434694"/>
              </a:xfrm>
              <a:prstGeom prst="line">
                <a:avLst/>
              </a:prstGeom>
              <a:ln w="76200">
                <a:solidFill>
                  <a:srgbClr val="94209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9704C7-709F-544C-A89E-7C8DCE0BCA2C}"/>
                </a:ext>
              </a:extLst>
            </p:cNvPr>
            <p:cNvSpPr txBox="1"/>
            <p:nvPr/>
          </p:nvSpPr>
          <p:spPr>
            <a:xfrm>
              <a:off x="492858" y="773769"/>
              <a:ext cx="5544457" cy="354273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76200">
              <a:solidFill>
                <a:schemeClr val="accent6">
                  <a:lumMod val="60000"/>
                  <a:lumOff val="40000"/>
                </a:schemeClr>
              </a:solidFill>
              <a:miter lim="800000"/>
            </a:ln>
          </p:spPr>
          <p:txBody>
            <a:bodyPr wrap="square" rtlCol="0">
              <a:noAutofit/>
            </a:bodyPr>
            <a:lstStyle/>
            <a:p>
              <a:pPr>
                <a:lnSpc>
                  <a:spcPct val="80000"/>
                </a:lnSpc>
              </a:pPr>
              <a:r>
                <a:rPr lang="en-US" sz="2800" b="1">
                  <a:solidFill>
                    <a:schemeClr val="accent6">
                      <a:lumMod val="20000"/>
                      <a:lumOff val="80000"/>
                    </a:schemeClr>
                  </a:solidFill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_</a:t>
              </a:r>
              <a:r>
                <a:rPr lang="en-US" sz="2000" b="1">
                  <a:latin typeface="Avenir"/>
                  <a:ea typeface="Helvetica Neue" panose="02000503000000020004" pitchFamily="2" charset="0"/>
                  <a:cs typeface="Helvetica Neue" panose="02000503000000020004" pitchFamily="2" charset="0"/>
                </a:rPr>
                <a:t>Assets</a:t>
              </a:r>
              <a:endParaRPr lang="en-US" sz="2800" b="1">
                <a:latin typeface="Avenir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401" name="Rectangle 400">
            <a:extLst>
              <a:ext uri="{FF2B5EF4-FFF2-40B4-BE49-F238E27FC236}">
                <a16:creationId xmlns:a16="http://schemas.microsoft.com/office/drawing/2014/main" id="{36D6E7A3-1CF3-F44A-8203-C6DEE141B73C}"/>
              </a:ext>
            </a:extLst>
          </p:cNvPr>
          <p:cNvSpPr/>
          <p:nvPr/>
        </p:nvSpPr>
        <p:spPr>
          <a:xfrm>
            <a:off x="512592" y="1760497"/>
            <a:ext cx="1917459" cy="2514104"/>
          </a:xfrm>
          <a:prstGeom prst="rect">
            <a:avLst/>
          </a:prstGeom>
          <a:solidFill>
            <a:srgbClr val="4BEDFF">
              <a:alpha val="35000"/>
            </a:srgbClr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n-GB">
                <a:solidFill>
                  <a:schemeClr val="accent1"/>
                </a:solidFill>
                <a:latin typeface="Avenir"/>
              </a:rPr>
              <a:t>Net book value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FDE31-17C4-694A-9315-7CA4875BA5A6}"/>
              </a:ext>
            </a:extLst>
          </p:cNvPr>
          <p:cNvGrpSpPr/>
          <p:nvPr/>
        </p:nvGrpSpPr>
        <p:grpSpPr>
          <a:xfrm>
            <a:off x="4248000" y="2850495"/>
            <a:ext cx="1620000" cy="1116000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69" name="L-Shape 68">
              <a:extLst>
                <a:ext uri="{FF2B5EF4-FFF2-40B4-BE49-F238E27FC236}">
                  <a16:creationId xmlns:a16="http://schemas.microsoft.com/office/drawing/2014/main" id="{C916329F-8F7D-F447-AC3E-053EBC610106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0" name="L-Shape 69">
              <a:extLst>
                <a:ext uri="{FF2B5EF4-FFF2-40B4-BE49-F238E27FC236}">
                  <a16:creationId xmlns:a16="http://schemas.microsoft.com/office/drawing/2014/main" id="{55CBAD70-B8C8-BE49-91EF-EB9AD318FD64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7073"/>
                <a:gd name="adj2" fmla="val 694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1A6A0D-8815-F841-B6AF-961D92BF5699}"/>
              </a:ext>
            </a:extLst>
          </p:cNvPr>
          <p:cNvGrpSpPr/>
          <p:nvPr/>
        </p:nvGrpSpPr>
        <p:grpSpPr>
          <a:xfrm>
            <a:off x="2458800" y="1443348"/>
            <a:ext cx="1620000" cy="2515350"/>
            <a:chOff x="671549" y="1402787"/>
            <a:chExt cx="1620000" cy="2549293"/>
          </a:xfrm>
        </p:grpSpPr>
        <p:sp>
          <p:nvSpPr>
            <p:cNvPr id="75" name="L-Shape 74">
              <a:extLst>
                <a:ext uri="{FF2B5EF4-FFF2-40B4-BE49-F238E27FC236}">
                  <a16:creationId xmlns:a16="http://schemas.microsoft.com/office/drawing/2014/main" id="{40AFD111-C01B-474D-9CE9-92D7DED4680D}"/>
                </a:ext>
              </a:extLst>
            </p:cNvPr>
            <p:cNvSpPr/>
            <p:nvPr/>
          </p:nvSpPr>
          <p:spPr>
            <a:xfrm flipH="1">
              <a:off x="1481549" y="1402787"/>
              <a:ext cx="810000" cy="2549293"/>
            </a:xfrm>
            <a:prstGeom prst="corner">
              <a:avLst>
                <a:gd name="adj1" fmla="val 6497"/>
                <a:gd name="adj2" fmla="val 6944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  <p:sp>
          <p:nvSpPr>
            <p:cNvPr id="76" name="L-Shape 75">
              <a:extLst>
                <a:ext uri="{FF2B5EF4-FFF2-40B4-BE49-F238E27FC236}">
                  <a16:creationId xmlns:a16="http://schemas.microsoft.com/office/drawing/2014/main" id="{A05CE061-205B-DC4F-8FDE-954DCB992C30}"/>
                </a:ext>
              </a:extLst>
            </p:cNvPr>
            <p:cNvSpPr/>
            <p:nvPr/>
          </p:nvSpPr>
          <p:spPr>
            <a:xfrm>
              <a:off x="671549" y="1402787"/>
              <a:ext cx="810000" cy="2549293"/>
            </a:xfrm>
            <a:prstGeom prst="corner">
              <a:avLst>
                <a:gd name="adj1" fmla="val 6497"/>
                <a:gd name="adj2" fmla="val 7336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latin typeface="Avenir"/>
              </a:endParaRP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21A7CC-DB3D-AE45-BD4C-1DF27CA0BB15}"/>
              </a:ext>
            </a:extLst>
          </p:cNvPr>
          <p:cNvGrpSpPr/>
          <p:nvPr/>
        </p:nvGrpSpPr>
        <p:grpSpPr>
          <a:xfrm>
            <a:off x="673200" y="334080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78" name="L-Shape 77">
              <a:extLst>
                <a:ext uri="{FF2B5EF4-FFF2-40B4-BE49-F238E27FC236}">
                  <a16:creationId xmlns:a16="http://schemas.microsoft.com/office/drawing/2014/main" id="{B99F5FC8-696C-664D-8BB1-F085E5F5B13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79" name="L-Shape 78">
              <a:extLst>
                <a:ext uri="{FF2B5EF4-FFF2-40B4-BE49-F238E27FC236}">
                  <a16:creationId xmlns:a16="http://schemas.microsoft.com/office/drawing/2014/main" id="{C4960DC6-0824-2E49-98C1-5C0A9A2FB5A7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223E90B-6A6B-1141-A651-0CC76824BD64}"/>
              </a:ext>
            </a:extLst>
          </p:cNvPr>
          <p:cNvSpPr txBox="1"/>
          <p:nvPr/>
        </p:nvSpPr>
        <p:spPr>
          <a:xfrm>
            <a:off x="2551146" y="3924000"/>
            <a:ext cx="1393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Cash at bank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AB4F2A3-4613-A14B-9B24-5809A17207EC}"/>
              </a:ext>
            </a:extLst>
          </p:cNvPr>
          <p:cNvSpPr txBox="1"/>
          <p:nvPr/>
        </p:nvSpPr>
        <p:spPr>
          <a:xfrm>
            <a:off x="4292494" y="3924000"/>
            <a:ext cx="1531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Inventory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694B919-534C-2C41-8C61-09F0BDF0CC10}"/>
              </a:ext>
            </a:extLst>
          </p:cNvPr>
          <p:cNvSpPr txBox="1"/>
          <p:nvPr/>
        </p:nvSpPr>
        <p:spPr>
          <a:xfrm>
            <a:off x="4101806" y="2478490"/>
            <a:ext cx="1911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Deferred expenses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50FFD4C-0E18-2143-A991-253A9FB19C67}"/>
              </a:ext>
            </a:extLst>
          </p:cNvPr>
          <p:cNvSpPr txBox="1"/>
          <p:nvPr/>
        </p:nvSpPr>
        <p:spPr>
          <a:xfrm>
            <a:off x="661400" y="3924000"/>
            <a:ext cx="1647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Equipment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B5738-587C-A94B-A311-E07450FCA23E}"/>
              </a:ext>
            </a:extLst>
          </p:cNvPr>
          <p:cNvSpPr txBox="1"/>
          <p:nvPr/>
        </p:nvSpPr>
        <p:spPr>
          <a:xfrm>
            <a:off x="2596439" y="5339671"/>
            <a:ext cx="1590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Cleaning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3592B3A-B1AE-554C-9B22-8AACD07ADAAD}"/>
              </a:ext>
            </a:extLst>
          </p:cNvPr>
          <p:cNvSpPr txBox="1"/>
          <p:nvPr/>
        </p:nvSpPr>
        <p:spPr>
          <a:xfrm>
            <a:off x="4306077" y="6192000"/>
            <a:ext cx="1606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Cost of sales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EEBC55C-3C1F-1642-8926-FEB0EBD0F049}"/>
              </a:ext>
            </a:extLst>
          </p:cNvPr>
          <p:cNvSpPr txBox="1"/>
          <p:nvPr/>
        </p:nvSpPr>
        <p:spPr>
          <a:xfrm>
            <a:off x="796515" y="6192000"/>
            <a:ext cx="1603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Depreciation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0607C56-98BD-A043-A296-94D13A8EB2D9}"/>
              </a:ext>
            </a:extLst>
          </p:cNvPr>
          <p:cNvSpPr txBox="1"/>
          <p:nvPr/>
        </p:nvSpPr>
        <p:spPr>
          <a:xfrm>
            <a:off x="6295758" y="6192000"/>
            <a:ext cx="1842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Revenue (sales)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7BC73F-6C09-3846-969F-9D9F0BD4F56E}"/>
              </a:ext>
            </a:extLst>
          </p:cNvPr>
          <p:cNvSpPr txBox="1"/>
          <p:nvPr/>
        </p:nvSpPr>
        <p:spPr>
          <a:xfrm>
            <a:off x="10028967" y="2029411"/>
            <a:ext cx="15936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Bank loan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1DDF6F-B29C-AF46-A26D-B05A0E9136DB}"/>
              </a:ext>
            </a:extLst>
          </p:cNvPr>
          <p:cNvSpPr txBox="1"/>
          <p:nvPr/>
        </p:nvSpPr>
        <p:spPr>
          <a:xfrm>
            <a:off x="8114313" y="2028286"/>
            <a:ext cx="1864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Deferred revenue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F78C35-DE89-ED4B-B9E2-054D93E394F4}"/>
              </a:ext>
            </a:extLst>
          </p:cNvPr>
          <p:cNvSpPr txBox="1"/>
          <p:nvPr/>
        </p:nvSpPr>
        <p:spPr>
          <a:xfrm>
            <a:off x="3184560" y="361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30,000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E437928-42EA-BF44-9750-7DDD88EE0279}"/>
              </a:ext>
            </a:extLst>
          </p:cNvPr>
          <p:cNvSpPr txBox="1"/>
          <p:nvPr/>
        </p:nvSpPr>
        <p:spPr>
          <a:xfrm>
            <a:off x="3184560" y="334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20,000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9613FE-066E-314E-BC8D-6E10D36BF1A1}"/>
              </a:ext>
            </a:extLst>
          </p:cNvPr>
          <p:cNvSpPr txBox="1"/>
          <p:nvPr/>
        </p:nvSpPr>
        <p:spPr>
          <a:xfrm>
            <a:off x="3298373" y="307470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5,000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ECF76B1-D232-594B-AEC5-8EBA9E7B4293}"/>
              </a:ext>
            </a:extLst>
          </p:cNvPr>
          <p:cNvSpPr txBox="1"/>
          <p:nvPr/>
        </p:nvSpPr>
        <p:spPr>
          <a:xfrm>
            <a:off x="3469894" y="253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700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9F58AF2-2027-7140-9032-10E07B0F4431}"/>
              </a:ext>
            </a:extLst>
          </p:cNvPr>
          <p:cNvSpPr txBox="1"/>
          <p:nvPr/>
        </p:nvSpPr>
        <p:spPr>
          <a:xfrm>
            <a:off x="3583708" y="2264709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50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A8BCCDD3-7ADC-E14B-B0FA-BC3D931C3BE4}"/>
              </a:ext>
            </a:extLst>
          </p:cNvPr>
          <p:cNvSpPr txBox="1"/>
          <p:nvPr/>
        </p:nvSpPr>
        <p:spPr>
          <a:xfrm>
            <a:off x="3713366" y="5031445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50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E829A5C-2F66-F748-9AB9-2ABF768ADAA8}"/>
              </a:ext>
            </a:extLst>
          </p:cNvPr>
          <p:cNvSpPr txBox="1"/>
          <p:nvPr/>
        </p:nvSpPr>
        <p:spPr>
          <a:xfrm>
            <a:off x="3469894" y="172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EDF2EBA-BB67-8B4C-A078-DBEAC0E841AA}"/>
              </a:ext>
            </a:extLst>
          </p:cNvPr>
          <p:cNvSpPr txBox="1"/>
          <p:nvPr/>
        </p:nvSpPr>
        <p:spPr>
          <a:xfrm>
            <a:off x="3469894" y="145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800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222045B8-0A29-5D40-B258-A790A73168E9}"/>
              </a:ext>
            </a:extLst>
          </p:cNvPr>
          <p:cNvSpPr txBox="1"/>
          <p:nvPr/>
        </p:nvSpPr>
        <p:spPr>
          <a:xfrm>
            <a:off x="3184560" y="2804709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10,000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244EA70-5881-3148-80B9-6DFFE16A9FDA}"/>
              </a:ext>
            </a:extLst>
          </p:cNvPr>
          <p:cNvSpPr txBox="1"/>
          <p:nvPr/>
        </p:nvSpPr>
        <p:spPr>
          <a:xfrm>
            <a:off x="10026435" y="3924000"/>
            <a:ext cx="1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venir"/>
              </a:rPr>
              <a:t>Contributed capital</a:t>
            </a: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F86048BE-D5F3-F04C-A5C9-FD8784673821}"/>
              </a:ext>
            </a:extLst>
          </p:cNvPr>
          <p:cNvSpPr/>
          <p:nvPr/>
        </p:nvSpPr>
        <p:spPr>
          <a:xfrm>
            <a:off x="3011371" y="152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Down Arrow 198">
            <a:extLst>
              <a:ext uri="{FF2B5EF4-FFF2-40B4-BE49-F238E27FC236}">
                <a16:creationId xmlns:a16="http://schemas.microsoft.com/office/drawing/2014/main" id="{3FD208AA-CF32-B64F-B03C-969D3C0C8C66}"/>
              </a:ext>
            </a:extLst>
          </p:cNvPr>
          <p:cNvSpPr/>
          <p:nvPr/>
        </p:nvSpPr>
        <p:spPr>
          <a:xfrm rot="10800000">
            <a:off x="3011371" y="177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Down Arrow 199">
            <a:extLst>
              <a:ext uri="{FF2B5EF4-FFF2-40B4-BE49-F238E27FC236}">
                <a16:creationId xmlns:a16="http://schemas.microsoft.com/office/drawing/2014/main" id="{1FAF3004-1D41-C745-8781-BBD1028A56FD}"/>
              </a:ext>
            </a:extLst>
          </p:cNvPr>
          <p:cNvSpPr/>
          <p:nvPr/>
        </p:nvSpPr>
        <p:spPr>
          <a:xfrm>
            <a:off x="3011371" y="233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Down Arrow 200">
            <a:extLst>
              <a:ext uri="{FF2B5EF4-FFF2-40B4-BE49-F238E27FC236}">
                <a16:creationId xmlns:a16="http://schemas.microsoft.com/office/drawing/2014/main" id="{CBCC3500-5911-CC46-9CDA-4AA54F742FE8}"/>
              </a:ext>
            </a:extLst>
          </p:cNvPr>
          <p:cNvSpPr/>
          <p:nvPr/>
        </p:nvSpPr>
        <p:spPr>
          <a:xfrm rot="10800000">
            <a:off x="3011371" y="258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F34EE384-BD9E-2B45-8928-249AF3342E54}"/>
              </a:ext>
            </a:extLst>
          </p:cNvPr>
          <p:cNvSpPr/>
          <p:nvPr/>
        </p:nvSpPr>
        <p:spPr>
          <a:xfrm>
            <a:off x="3011371" y="287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Down Arrow 203">
            <a:extLst>
              <a:ext uri="{FF2B5EF4-FFF2-40B4-BE49-F238E27FC236}">
                <a16:creationId xmlns:a16="http://schemas.microsoft.com/office/drawing/2014/main" id="{18440202-5302-0C4E-A297-36C9AEB943B1}"/>
              </a:ext>
            </a:extLst>
          </p:cNvPr>
          <p:cNvSpPr/>
          <p:nvPr/>
        </p:nvSpPr>
        <p:spPr>
          <a:xfrm>
            <a:off x="3011371" y="31467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Down Arrow 204">
            <a:extLst>
              <a:ext uri="{FF2B5EF4-FFF2-40B4-BE49-F238E27FC236}">
                <a16:creationId xmlns:a16="http://schemas.microsoft.com/office/drawing/2014/main" id="{06655FC9-46C0-8340-9B86-492124572EDB}"/>
              </a:ext>
            </a:extLst>
          </p:cNvPr>
          <p:cNvSpPr/>
          <p:nvPr/>
        </p:nvSpPr>
        <p:spPr>
          <a:xfrm rot="10800000">
            <a:off x="3011371" y="339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Down Arrow 205">
            <a:extLst>
              <a:ext uri="{FF2B5EF4-FFF2-40B4-BE49-F238E27FC236}">
                <a16:creationId xmlns:a16="http://schemas.microsoft.com/office/drawing/2014/main" id="{DF283A28-19DA-BB45-89DB-B37E818C679B}"/>
              </a:ext>
            </a:extLst>
          </p:cNvPr>
          <p:cNvSpPr/>
          <p:nvPr/>
        </p:nvSpPr>
        <p:spPr>
          <a:xfrm rot="10800000">
            <a:off x="3011371" y="366403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031B2E0-821C-9544-BDBB-7BE8E8626AEE}"/>
              </a:ext>
            </a:extLst>
          </p:cNvPr>
          <p:cNvSpPr txBox="1"/>
          <p:nvPr/>
        </p:nvSpPr>
        <p:spPr>
          <a:xfrm>
            <a:off x="10785455" y="1718255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30,000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BE8AEB2-6A45-E64A-8F5D-ADD7C54979A7}"/>
              </a:ext>
            </a:extLst>
          </p:cNvPr>
          <p:cNvSpPr txBox="1"/>
          <p:nvPr/>
        </p:nvSpPr>
        <p:spPr>
          <a:xfrm>
            <a:off x="10776926" y="3605780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20,000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2F1506-867F-B34F-883F-A3CA5507189A}"/>
              </a:ext>
            </a:extLst>
          </p:cNvPr>
          <p:cNvSpPr txBox="1"/>
          <p:nvPr/>
        </p:nvSpPr>
        <p:spPr>
          <a:xfrm>
            <a:off x="10732895" y="1448255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5,000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1E848E5-21E0-0A46-976F-5F74E418DBAD}"/>
              </a:ext>
            </a:extLst>
          </p:cNvPr>
          <p:cNvSpPr txBox="1"/>
          <p:nvPr/>
        </p:nvSpPr>
        <p:spPr>
          <a:xfrm>
            <a:off x="4984560" y="3610092"/>
            <a:ext cx="81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10,000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D2B276C-17E8-F34D-8EA7-F3F8C85A5737}"/>
              </a:ext>
            </a:extLst>
          </p:cNvPr>
          <p:cNvSpPr txBox="1"/>
          <p:nvPr/>
        </p:nvSpPr>
        <p:spPr>
          <a:xfrm>
            <a:off x="7429894" y="59050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700</a:t>
            </a:r>
          </a:p>
        </p:txBody>
      </p:sp>
      <p:sp>
        <p:nvSpPr>
          <p:cNvPr id="217" name="Down Arrow 216">
            <a:extLst>
              <a:ext uri="{FF2B5EF4-FFF2-40B4-BE49-F238E27FC236}">
                <a16:creationId xmlns:a16="http://schemas.microsoft.com/office/drawing/2014/main" id="{F8618D62-2A62-F241-A7EE-1EBE8B7E7961}"/>
              </a:ext>
            </a:extLst>
          </p:cNvPr>
          <p:cNvSpPr/>
          <p:nvPr/>
        </p:nvSpPr>
        <p:spPr>
          <a:xfrm rot="10800000">
            <a:off x="6984000" y="59430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8" name="Down Arrow 217">
            <a:extLst>
              <a:ext uri="{FF2B5EF4-FFF2-40B4-BE49-F238E27FC236}">
                <a16:creationId xmlns:a16="http://schemas.microsoft.com/office/drawing/2014/main" id="{4482D691-4D69-A242-A177-A1C5F39277C4}"/>
              </a:ext>
            </a:extLst>
          </p:cNvPr>
          <p:cNvSpPr/>
          <p:nvPr/>
        </p:nvSpPr>
        <p:spPr>
          <a:xfrm rot="10800000">
            <a:off x="10548000" y="3653367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9" name="Down Arrow 218">
            <a:extLst>
              <a:ext uri="{FF2B5EF4-FFF2-40B4-BE49-F238E27FC236}">
                <a16:creationId xmlns:a16="http://schemas.microsoft.com/office/drawing/2014/main" id="{416110E3-A2AB-8642-98D1-C205A158295A}"/>
              </a:ext>
            </a:extLst>
          </p:cNvPr>
          <p:cNvSpPr/>
          <p:nvPr/>
        </p:nvSpPr>
        <p:spPr>
          <a:xfrm rot="10800000">
            <a:off x="3096000" y="508232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D59EDECC-B1D1-B040-BBB3-304302444F36}"/>
              </a:ext>
            </a:extLst>
          </p:cNvPr>
          <p:cNvSpPr txBox="1"/>
          <p:nvPr/>
        </p:nvSpPr>
        <p:spPr>
          <a:xfrm>
            <a:off x="3469894" y="199470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21" name="Down Arrow 220">
            <a:extLst>
              <a:ext uri="{FF2B5EF4-FFF2-40B4-BE49-F238E27FC236}">
                <a16:creationId xmlns:a16="http://schemas.microsoft.com/office/drawing/2014/main" id="{123666BC-850F-5440-BFCE-47B8E5B5429B}"/>
              </a:ext>
            </a:extLst>
          </p:cNvPr>
          <p:cNvSpPr/>
          <p:nvPr/>
        </p:nvSpPr>
        <p:spPr>
          <a:xfrm rot="10800000">
            <a:off x="3007666" y="204993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E8E55AB-8646-4444-AA0F-27111F6035C3}"/>
              </a:ext>
            </a:extLst>
          </p:cNvPr>
          <p:cNvSpPr txBox="1"/>
          <p:nvPr/>
        </p:nvSpPr>
        <p:spPr>
          <a:xfrm>
            <a:off x="7315968" y="171337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6,000</a:t>
            </a:r>
          </a:p>
        </p:txBody>
      </p:sp>
      <p:sp>
        <p:nvSpPr>
          <p:cNvPr id="223" name="Down Arrow 222">
            <a:extLst>
              <a:ext uri="{FF2B5EF4-FFF2-40B4-BE49-F238E27FC236}">
                <a16:creationId xmlns:a16="http://schemas.microsoft.com/office/drawing/2014/main" id="{0348B326-3934-544A-9863-1DBB73605FFD}"/>
              </a:ext>
            </a:extLst>
          </p:cNvPr>
          <p:cNvSpPr/>
          <p:nvPr/>
        </p:nvSpPr>
        <p:spPr>
          <a:xfrm rot="10800000">
            <a:off x="6984000" y="174904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FB519A9-7A2E-DD4C-80EF-2E9F055E7B71}"/>
              </a:ext>
            </a:extLst>
          </p:cNvPr>
          <p:cNvSpPr txBox="1"/>
          <p:nvPr/>
        </p:nvSpPr>
        <p:spPr>
          <a:xfrm>
            <a:off x="1501235" y="3588336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6,000</a:t>
            </a:r>
          </a:p>
        </p:txBody>
      </p:sp>
      <p:sp>
        <p:nvSpPr>
          <p:cNvPr id="225" name="Down Arrow 224">
            <a:extLst>
              <a:ext uri="{FF2B5EF4-FFF2-40B4-BE49-F238E27FC236}">
                <a16:creationId xmlns:a16="http://schemas.microsoft.com/office/drawing/2014/main" id="{498F1F2D-AFF0-0447-A7AF-833EA4923B30}"/>
              </a:ext>
            </a:extLst>
          </p:cNvPr>
          <p:cNvSpPr/>
          <p:nvPr/>
        </p:nvSpPr>
        <p:spPr>
          <a:xfrm rot="10800000">
            <a:off x="1249425" y="363766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A2130B0-8D0D-7E48-9878-BAF1C7148D0E}"/>
              </a:ext>
            </a:extLst>
          </p:cNvPr>
          <p:cNvSpPr txBox="1"/>
          <p:nvPr/>
        </p:nvSpPr>
        <p:spPr>
          <a:xfrm>
            <a:off x="5269894" y="336508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27" name="Down Arrow 226">
            <a:extLst>
              <a:ext uri="{FF2B5EF4-FFF2-40B4-BE49-F238E27FC236}">
                <a16:creationId xmlns:a16="http://schemas.microsoft.com/office/drawing/2014/main" id="{99B9ED82-E5B8-C646-AC01-C0366CC8F221}"/>
              </a:ext>
            </a:extLst>
          </p:cNvPr>
          <p:cNvSpPr/>
          <p:nvPr/>
        </p:nvSpPr>
        <p:spPr>
          <a:xfrm>
            <a:off x="4824000" y="342934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own Arrow 227">
            <a:extLst>
              <a:ext uri="{FF2B5EF4-FFF2-40B4-BE49-F238E27FC236}">
                <a16:creationId xmlns:a16="http://schemas.microsoft.com/office/drawing/2014/main" id="{2152DDC7-2D10-5346-9C23-BE254FCB2885}"/>
              </a:ext>
            </a:extLst>
          </p:cNvPr>
          <p:cNvSpPr/>
          <p:nvPr/>
        </p:nvSpPr>
        <p:spPr>
          <a:xfrm rot="10800000">
            <a:off x="4824000" y="36625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7D7B85-8035-DD49-AD3C-653CAF962405}"/>
              </a:ext>
            </a:extLst>
          </p:cNvPr>
          <p:cNvSpPr txBox="1"/>
          <p:nvPr/>
        </p:nvSpPr>
        <p:spPr>
          <a:xfrm>
            <a:off x="5305894" y="589386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0" name="Down Arrow 229">
            <a:extLst>
              <a:ext uri="{FF2B5EF4-FFF2-40B4-BE49-F238E27FC236}">
                <a16:creationId xmlns:a16="http://schemas.microsoft.com/office/drawing/2014/main" id="{DB474155-D7F2-F240-A8D0-B1E59F873FFC}"/>
              </a:ext>
            </a:extLst>
          </p:cNvPr>
          <p:cNvSpPr/>
          <p:nvPr/>
        </p:nvSpPr>
        <p:spPr>
          <a:xfrm rot="10800000">
            <a:off x="4860000" y="594474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781F1E4-D0BB-7344-9A1F-F9862372A244}"/>
              </a:ext>
            </a:extLst>
          </p:cNvPr>
          <p:cNvSpPr txBox="1"/>
          <p:nvPr/>
        </p:nvSpPr>
        <p:spPr>
          <a:xfrm>
            <a:off x="7429894" y="564524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32" name="Down Arrow 231">
            <a:extLst>
              <a:ext uri="{FF2B5EF4-FFF2-40B4-BE49-F238E27FC236}">
                <a16:creationId xmlns:a16="http://schemas.microsoft.com/office/drawing/2014/main" id="{83E0389C-B1BE-E148-8BB7-82E709CC82B9}"/>
              </a:ext>
            </a:extLst>
          </p:cNvPr>
          <p:cNvSpPr/>
          <p:nvPr/>
        </p:nvSpPr>
        <p:spPr>
          <a:xfrm rot="10800000">
            <a:off x="6984000" y="5695376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A2E6378-B98F-344B-92C0-802413B38803}"/>
              </a:ext>
            </a:extLst>
          </p:cNvPr>
          <p:cNvSpPr txBox="1"/>
          <p:nvPr/>
        </p:nvSpPr>
        <p:spPr>
          <a:xfrm>
            <a:off x="5269894" y="122206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600</a:t>
            </a:r>
          </a:p>
        </p:txBody>
      </p:sp>
      <p:sp>
        <p:nvSpPr>
          <p:cNvPr id="234" name="Down Arrow 233">
            <a:extLst>
              <a:ext uri="{FF2B5EF4-FFF2-40B4-BE49-F238E27FC236}">
                <a16:creationId xmlns:a16="http://schemas.microsoft.com/office/drawing/2014/main" id="{4876771A-E466-B444-9521-BC39F491E76C}"/>
              </a:ext>
            </a:extLst>
          </p:cNvPr>
          <p:cNvSpPr/>
          <p:nvPr/>
        </p:nvSpPr>
        <p:spPr>
          <a:xfrm rot="10800000">
            <a:off x="4824771" y="126334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FCD53AC-87EC-304E-8466-777A66168B3E}"/>
              </a:ext>
            </a:extLst>
          </p:cNvPr>
          <p:cNvSpPr txBox="1"/>
          <p:nvPr/>
        </p:nvSpPr>
        <p:spPr>
          <a:xfrm>
            <a:off x="5269894" y="311806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300</a:t>
            </a:r>
          </a:p>
        </p:txBody>
      </p:sp>
      <p:sp>
        <p:nvSpPr>
          <p:cNvPr id="236" name="Down Arrow 235">
            <a:extLst>
              <a:ext uri="{FF2B5EF4-FFF2-40B4-BE49-F238E27FC236}">
                <a16:creationId xmlns:a16="http://schemas.microsoft.com/office/drawing/2014/main" id="{1351EA2C-0F69-5B4E-AC1B-79354EC211BC}"/>
              </a:ext>
            </a:extLst>
          </p:cNvPr>
          <p:cNvSpPr/>
          <p:nvPr/>
        </p:nvSpPr>
        <p:spPr>
          <a:xfrm>
            <a:off x="4824000" y="318232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D65D871-C325-C44B-ABB2-75EC8DFE6FFF}"/>
              </a:ext>
            </a:extLst>
          </p:cNvPr>
          <p:cNvSpPr txBox="1"/>
          <p:nvPr/>
        </p:nvSpPr>
        <p:spPr>
          <a:xfrm>
            <a:off x="5305894" y="5646024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300</a:t>
            </a:r>
          </a:p>
        </p:txBody>
      </p:sp>
      <p:sp>
        <p:nvSpPr>
          <p:cNvPr id="238" name="Down Arrow 237">
            <a:extLst>
              <a:ext uri="{FF2B5EF4-FFF2-40B4-BE49-F238E27FC236}">
                <a16:creationId xmlns:a16="http://schemas.microsoft.com/office/drawing/2014/main" id="{95A1CE39-8568-0648-8BF3-E3811DC983C4}"/>
              </a:ext>
            </a:extLst>
          </p:cNvPr>
          <p:cNvSpPr/>
          <p:nvPr/>
        </p:nvSpPr>
        <p:spPr>
          <a:xfrm rot="10800000">
            <a:off x="4860000" y="5696904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523F897-551A-8F49-B6AB-51DBFD3C53C0}"/>
              </a:ext>
            </a:extLst>
          </p:cNvPr>
          <p:cNvSpPr txBox="1"/>
          <p:nvPr/>
        </p:nvSpPr>
        <p:spPr>
          <a:xfrm>
            <a:off x="3599552" y="4796571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250</a:t>
            </a:r>
          </a:p>
        </p:txBody>
      </p:sp>
      <p:sp>
        <p:nvSpPr>
          <p:cNvPr id="240" name="Down Arrow 239">
            <a:extLst>
              <a:ext uri="{FF2B5EF4-FFF2-40B4-BE49-F238E27FC236}">
                <a16:creationId xmlns:a16="http://schemas.microsoft.com/office/drawing/2014/main" id="{07DD916A-3850-9F4F-81C8-0C94788A77D2}"/>
              </a:ext>
            </a:extLst>
          </p:cNvPr>
          <p:cNvSpPr/>
          <p:nvPr/>
        </p:nvSpPr>
        <p:spPr>
          <a:xfrm rot="10800000">
            <a:off x="3096000" y="484745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8F3874F-A130-C843-9E72-AFB2DD902123}"/>
              </a:ext>
            </a:extLst>
          </p:cNvPr>
          <p:cNvSpPr txBox="1"/>
          <p:nvPr/>
        </p:nvSpPr>
        <p:spPr>
          <a:xfrm>
            <a:off x="7487489" y="146263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250</a:t>
            </a:r>
          </a:p>
        </p:txBody>
      </p:sp>
      <p:sp>
        <p:nvSpPr>
          <p:cNvPr id="242" name="Down Arrow 241">
            <a:extLst>
              <a:ext uri="{FF2B5EF4-FFF2-40B4-BE49-F238E27FC236}">
                <a16:creationId xmlns:a16="http://schemas.microsoft.com/office/drawing/2014/main" id="{84AF3014-B3DD-BD46-8650-EE907DDD90EA}"/>
              </a:ext>
            </a:extLst>
          </p:cNvPr>
          <p:cNvSpPr/>
          <p:nvPr/>
        </p:nvSpPr>
        <p:spPr>
          <a:xfrm rot="10800000">
            <a:off x="6984000" y="149830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B2E3768-A879-AE44-BA1D-3F82ECAC6E48}"/>
              </a:ext>
            </a:extLst>
          </p:cNvPr>
          <p:cNvSpPr txBox="1"/>
          <p:nvPr/>
        </p:nvSpPr>
        <p:spPr>
          <a:xfrm>
            <a:off x="9285817" y="1715500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30F9F41D-65FA-3E4A-B645-18A9F04A48C7}"/>
              </a:ext>
            </a:extLst>
          </p:cNvPr>
          <p:cNvSpPr txBox="1"/>
          <p:nvPr/>
        </p:nvSpPr>
        <p:spPr>
          <a:xfrm>
            <a:off x="5269894" y="965882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600</a:t>
            </a:r>
          </a:p>
        </p:txBody>
      </p:sp>
      <p:sp>
        <p:nvSpPr>
          <p:cNvPr id="246" name="Down Arrow 245">
            <a:extLst>
              <a:ext uri="{FF2B5EF4-FFF2-40B4-BE49-F238E27FC236}">
                <a16:creationId xmlns:a16="http://schemas.microsoft.com/office/drawing/2014/main" id="{810B7F9B-FFF6-7646-B180-66C5E6B1ADE6}"/>
              </a:ext>
            </a:extLst>
          </p:cNvPr>
          <p:cNvSpPr/>
          <p:nvPr/>
        </p:nvSpPr>
        <p:spPr>
          <a:xfrm>
            <a:off x="4825605" y="10220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AA659AB1-43FB-D747-AC50-E4454DC4B036}"/>
              </a:ext>
            </a:extLst>
          </p:cNvPr>
          <p:cNvSpPr txBox="1"/>
          <p:nvPr/>
        </p:nvSpPr>
        <p:spPr>
          <a:xfrm>
            <a:off x="7543708" y="537514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90</a:t>
            </a:r>
          </a:p>
        </p:txBody>
      </p:sp>
      <p:sp>
        <p:nvSpPr>
          <p:cNvPr id="248" name="Down Arrow 247">
            <a:extLst>
              <a:ext uri="{FF2B5EF4-FFF2-40B4-BE49-F238E27FC236}">
                <a16:creationId xmlns:a16="http://schemas.microsoft.com/office/drawing/2014/main" id="{12BC87CD-B219-D944-A303-51AE7219B591}"/>
              </a:ext>
            </a:extLst>
          </p:cNvPr>
          <p:cNvSpPr/>
          <p:nvPr/>
        </p:nvSpPr>
        <p:spPr>
          <a:xfrm rot="10800000">
            <a:off x="6984000" y="5425275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A2C44290-0620-2943-8A42-C52EE722BCBB}"/>
              </a:ext>
            </a:extLst>
          </p:cNvPr>
          <p:cNvSpPr txBox="1"/>
          <p:nvPr/>
        </p:nvSpPr>
        <p:spPr>
          <a:xfrm>
            <a:off x="8947923" y="1452209"/>
            <a:ext cx="86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90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2AF0AB4-8D2B-0143-996A-B4981D471025}"/>
              </a:ext>
            </a:extLst>
          </p:cNvPr>
          <p:cNvSpPr txBox="1"/>
          <p:nvPr/>
        </p:nvSpPr>
        <p:spPr>
          <a:xfrm>
            <a:off x="5383708" y="2869537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30</a:t>
            </a:r>
          </a:p>
        </p:txBody>
      </p:sp>
      <p:sp>
        <p:nvSpPr>
          <p:cNvPr id="252" name="Down Arrow 251">
            <a:extLst>
              <a:ext uri="{FF2B5EF4-FFF2-40B4-BE49-F238E27FC236}">
                <a16:creationId xmlns:a16="http://schemas.microsoft.com/office/drawing/2014/main" id="{A7123581-9911-2E40-8E28-9FC2BB675D83}"/>
              </a:ext>
            </a:extLst>
          </p:cNvPr>
          <p:cNvSpPr/>
          <p:nvPr/>
        </p:nvSpPr>
        <p:spPr>
          <a:xfrm>
            <a:off x="4824000" y="293379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1F19AD71-5F84-1F46-AE8C-130720EF36F1}"/>
              </a:ext>
            </a:extLst>
          </p:cNvPr>
          <p:cNvSpPr txBox="1"/>
          <p:nvPr/>
        </p:nvSpPr>
        <p:spPr>
          <a:xfrm>
            <a:off x="5419708" y="5397501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30</a:t>
            </a:r>
          </a:p>
        </p:txBody>
      </p:sp>
      <p:sp>
        <p:nvSpPr>
          <p:cNvPr id="254" name="Down Arrow 253">
            <a:extLst>
              <a:ext uri="{FF2B5EF4-FFF2-40B4-BE49-F238E27FC236}">
                <a16:creationId xmlns:a16="http://schemas.microsoft.com/office/drawing/2014/main" id="{21A7DE91-A1BB-F143-9944-47847F9AE787}"/>
              </a:ext>
            </a:extLst>
          </p:cNvPr>
          <p:cNvSpPr/>
          <p:nvPr/>
        </p:nvSpPr>
        <p:spPr>
          <a:xfrm rot="10800000">
            <a:off x="4860000" y="5448381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5B1A396-D0F4-AF4A-BCBC-DE574C091153}"/>
              </a:ext>
            </a:extLst>
          </p:cNvPr>
          <p:cNvSpPr txBox="1"/>
          <p:nvPr/>
        </p:nvSpPr>
        <p:spPr>
          <a:xfrm>
            <a:off x="5269894" y="2157099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800</a:t>
            </a:r>
          </a:p>
        </p:txBody>
      </p:sp>
      <p:sp>
        <p:nvSpPr>
          <p:cNvPr id="256" name="Down Arrow 255">
            <a:extLst>
              <a:ext uri="{FF2B5EF4-FFF2-40B4-BE49-F238E27FC236}">
                <a16:creationId xmlns:a16="http://schemas.microsoft.com/office/drawing/2014/main" id="{38C36F68-D429-D34F-9A05-65CE9CE1A050}"/>
              </a:ext>
            </a:extLst>
          </p:cNvPr>
          <p:cNvSpPr/>
          <p:nvPr/>
        </p:nvSpPr>
        <p:spPr>
          <a:xfrm rot="10800000">
            <a:off x="4824000" y="2198378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17178582-0F2F-0E48-9096-C57B00200624}"/>
              </a:ext>
            </a:extLst>
          </p:cNvPr>
          <p:cNvSpPr txBox="1"/>
          <p:nvPr/>
        </p:nvSpPr>
        <p:spPr>
          <a:xfrm>
            <a:off x="1816755" y="589722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6">
                    <a:lumMod val="75000"/>
                  </a:schemeClr>
                </a:solidFill>
                <a:latin typeface="Avenir"/>
              </a:rPr>
              <a:t>100</a:t>
            </a:r>
          </a:p>
        </p:txBody>
      </p:sp>
      <p:sp>
        <p:nvSpPr>
          <p:cNvPr id="260" name="Down Arrow 259">
            <a:extLst>
              <a:ext uri="{FF2B5EF4-FFF2-40B4-BE49-F238E27FC236}">
                <a16:creationId xmlns:a16="http://schemas.microsoft.com/office/drawing/2014/main" id="{14A5B91A-41ED-424E-AFFC-4DC1EF5555A7}"/>
              </a:ext>
            </a:extLst>
          </p:cNvPr>
          <p:cNvSpPr/>
          <p:nvPr/>
        </p:nvSpPr>
        <p:spPr>
          <a:xfrm rot="10800000">
            <a:off x="1296000" y="5947200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0453C8DB-4862-DB4A-B585-8CA95BFC63F2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497833"/>
            <a:ext cx="309700" cy="223917"/>
            <a:chOff x="756599" y="3715226"/>
            <a:chExt cx="321512" cy="232457"/>
          </a:xfrm>
        </p:grpSpPr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74D601C-555F-6541-9D58-035F53E13D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A257676-24B8-1342-B932-23DDEB005B47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775D2738-1A15-3D43-963E-83A150D3DD08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1763611"/>
            <a:ext cx="309700" cy="223916"/>
            <a:chOff x="756599" y="3715227"/>
            <a:chExt cx="321512" cy="232456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E14654BD-BDE4-0748-912C-22432B5DD3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6A79CA8D-AC8C-2649-8D3F-6C8279757C83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38C4DBA-DFAC-4340-8960-9AF8BB8FC7AF}"/>
              </a:ext>
            </a:extLst>
          </p:cNvPr>
          <p:cNvGrpSpPr>
            <a:grpSpLocks noChangeAspect="1"/>
          </p:cNvGrpSpPr>
          <p:nvPr/>
        </p:nvGrpSpPr>
        <p:grpSpPr>
          <a:xfrm>
            <a:off x="2528691" y="2037441"/>
            <a:ext cx="309700" cy="223916"/>
            <a:chOff x="756599" y="3715227"/>
            <a:chExt cx="321512" cy="232456"/>
          </a:xfrm>
        </p:grpSpPr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97D5EE0-8446-1244-A657-E9DBF68238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56AA7E7C-0592-B744-AFA9-D3A064F8B33C}"/>
                </a:ext>
              </a:extLst>
            </p:cNvPr>
            <p:cNvSpPr/>
            <p:nvPr/>
          </p:nvSpPr>
          <p:spPr>
            <a:xfrm>
              <a:off x="756599" y="3724022"/>
              <a:ext cx="321512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90B4E07-594A-A14A-8963-85FDC07BC01C}"/>
              </a:ext>
            </a:extLst>
          </p:cNvPr>
          <p:cNvGrpSpPr>
            <a:grpSpLocks/>
          </p:cNvGrpSpPr>
          <p:nvPr/>
        </p:nvGrpSpPr>
        <p:grpSpPr>
          <a:xfrm>
            <a:off x="2568712" y="2307277"/>
            <a:ext cx="247184" cy="223916"/>
            <a:chOff x="797287" y="3715227"/>
            <a:chExt cx="256611" cy="232456"/>
          </a:xfrm>
        </p:grpSpPr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9473252-919C-714D-94C1-4DB022093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7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FEF879C7-2ACE-1041-BB08-7AFBD04A6C03}"/>
                </a:ext>
              </a:extLst>
            </p:cNvPr>
            <p:cNvSpPr/>
            <p:nvPr/>
          </p:nvSpPr>
          <p:spPr>
            <a:xfrm>
              <a:off x="797287" y="3724022"/>
              <a:ext cx="256611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E926AC0-ACF9-5740-BF86-F896C99583F8}"/>
              </a:ext>
            </a:extLst>
          </p:cNvPr>
          <p:cNvGrpSpPr>
            <a:grpSpLocks noChangeAspect="1"/>
          </p:cNvGrpSpPr>
          <p:nvPr/>
        </p:nvGrpSpPr>
        <p:grpSpPr>
          <a:xfrm>
            <a:off x="2530414" y="2567405"/>
            <a:ext cx="300083" cy="223917"/>
            <a:chOff x="761592" y="3715226"/>
            <a:chExt cx="311527" cy="232457"/>
          </a:xfrm>
        </p:grpSpPr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6C9AD204-992D-7340-9007-FB781F35F3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0" y="3715226"/>
              <a:ext cx="224238" cy="22423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B802E40B-4561-B544-B398-60B28F4017E1}"/>
                </a:ext>
              </a:extLst>
            </p:cNvPr>
            <p:cNvSpPr/>
            <p:nvPr/>
          </p:nvSpPr>
          <p:spPr>
            <a:xfrm>
              <a:off x="761592" y="3724022"/>
              <a:ext cx="311527" cy="22366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8EED77C-46A6-6E47-A051-2199A74CA1A8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2841900"/>
            <a:ext cx="245580" cy="224238"/>
            <a:chOff x="802803" y="3715228"/>
            <a:chExt cx="245580" cy="224238"/>
          </a:xfrm>
        </p:grpSpPr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F479D06-F682-8D44-B53B-0D87422A0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A225A6FB-DD05-924A-B22F-55802B79682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EA12345-64B4-9B4F-80EB-C2490FE51E5A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121887"/>
            <a:ext cx="245580" cy="224238"/>
            <a:chOff x="802803" y="3715228"/>
            <a:chExt cx="245580" cy="224238"/>
          </a:xfrm>
        </p:grpSpPr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9D60FA63-7E57-514B-B70F-35F1B62DC48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C466BB6-2DDD-2B44-A7A0-C1F9FDE7EFFE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68F4D50-BB31-204D-9E04-6E1CD0EFBD66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385828"/>
            <a:ext cx="245580" cy="224238"/>
            <a:chOff x="802803" y="3715228"/>
            <a:chExt cx="245580" cy="224238"/>
          </a:xfrm>
        </p:grpSpPr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782A7A6F-7C88-A64A-BBBA-21033EE930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DA43ACE3-A9BE-1749-B78B-EBAC46A85790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7165C54F-DEEF-8E4F-8153-F26E8569CBA2}"/>
              </a:ext>
            </a:extLst>
          </p:cNvPr>
          <p:cNvGrpSpPr>
            <a:grpSpLocks noChangeAspect="1"/>
          </p:cNvGrpSpPr>
          <p:nvPr/>
        </p:nvGrpSpPr>
        <p:grpSpPr>
          <a:xfrm>
            <a:off x="2574025" y="3649299"/>
            <a:ext cx="245580" cy="224238"/>
            <a:chOff x="802803" y="3715228"/>
            <a:chExt cx="245580" cy="224238"/>
          </a:xfrm>
        </p:grpSpPr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F7EA4154-958E-F04F-AE3B-F6F38D3B0CF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AB0AF5-F3E5-6243-B2D2-B5B640E1AB2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EB39509A-6AED-B54E-8E0C-F78CAD8D721A}"/>
              </a:ext>
            </a:extLst>
          </p:cNvPr>
          <p:cNvGrpSpPr/>
          <p:nvPr/>
        </p:nvGrpSpPr>
        <p:grpSpPr>
          <a:xfrm>
            <a:off x="10117559" y="1755851"/>
            <a:ext cx="245580" cy="224238"/>
            <a:chOff x="802803" y="3715228"/>
            <a:chExt cx="245580" cy="224238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D93E88-A37F-6340-9178-872858ADD56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B9FDC708-E4C4-3E40-9111-1C2324351BB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</a:t>
              </a:r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78069252-B7CC-2040-ACB1-7ABB3C535C16}"/>
              </a:ext>
            </a:extLst>
          </p:cNvPr>
          <p:cNvGrpSpPr/>
          <p:nvPr/>
        </p:nvGrpSpPr>
        <p:grpSpPr>
          <a:xfrm>
            <a:off x="10116000" y="3650400"/>
            <a:ext cx="245580" cy="224238"/>
            <a:chOff x="802803" y="3715228"/>
            <a:chExt cx="245580" cy="224238"/>
          </a:xfrm>
        </p:grpSpPr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B5B11F87-FF18-FA41-B3A7-F478BDA13F9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92185CF5-72CD-6D45-A2D2-04FE2E48A2F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2</a:t>
              </a:r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F5AC7503-8D5E-744A-9A74-F94440BE2E73}"/>
              </a:ext>
            </a:extLst>
          </p:cNvPr>
          <p:cNvGrpSpPr/>
          <p:nvPr/>
        </p:nvGrpSpPr>
        <p:grpSpPr>
          <a:xfrm>
            <a:off x="10117837" y="1489299"/>
            <a:ext cx="245580" cy="224238"/>
            <a:chOff x="802803" y="3715228"/>
            <a:chExt cx="245580" cy="224238"/>
          </a:xfrm>
        </p:grpSpPr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4C499B5-5C08-3940-8365-A8491CC03E7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0C9FD9E7-DBFE-D34B-AB0D-9C0103BD50A5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3</a:t>
              </a:r>
            </a:p>
          </p:txBody>
        </p:sp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D1B5E61B-6B3D-5249-8AED-4BAE98B63F4F}"/>
              </a:ext>
            </a:extLst>
          </p:cNvPr>
          <p:cNvGrpSpPr/>
          <p:nvPr/>
        </p:nvGrpSpPr>
        <p:grpSpPr>
          <a:xfrm>
            <a:off x="6553087" y="1741845"/>
            <a:ext cx="245580" cy="224238"/>
            <a:chOff x="802803" y="3715228"/>
            <a:chExt cx="245580" cy="224238"/>
          </a:xfrm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8982AEFD-B198-C44C-804D-A50629792334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4A4DD9D3-74A8-794D-AAED-EA0F7AC36F98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5C2EBE43-9510-914B-AD3F-CFAE3C0523CD}"/>
              </a:ext>
            </a:extLst>
          </p:cNvPr>
          <p:cNvGrpSpPr/>
          <p:nvPr/>
        </p:nvGrpSpPr>
        <p:grpSpPr>
          <a:xfrm>
            <a:off x="784605" y="3629276"/>
            <a:ext cx="245580" cy="224238"/>
            <a:chOff x="802803" y="3715228"/>
            <a:chExt cx="245580" cy="224238"/>
          </a:xfrm>
        </p:grpSpPr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C69056FF-AC70-2E48-A272-306CC1A4981B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8104E660-B2A6-914E-B1A2-7E070D9D045D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4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FB76A26-C3D9-AD43-8E15-C910B24A33A0}"/>
              </a:ext>
            </a:extLst>
          </p:cNvPr>
          <p:cNvGrpSpPr/>
          <p:nvPr/>
        </p:nvGrpSpPr>
        <p:grpSpPr>
          <a:xfrm>
            <a:off x="4359077" y="3641899"/>
            <a:ext cx="245580" cy="224238"/>
            <a:chOff x="802803" y="3715228"/>
            <a:chExt cx="245580" cy="224238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69692DC-9844-0D42-9853-133F95FB4AB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58904CDB-8CBE-D54A-9F00-7E6AE8177639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5</a:t>
              </a: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A9CDBE1-AA99-CC41-BBF1-135E8C45247C}"/>
              </a:ext>
            </a:extLst>
          </p:cNvPr>
          <p:cNvGrpSpPr/>
          <p:nvPr/>
        </p:nvGrpSpPr>
        <p:grpSpPr>
          <a:xfrm>
            <a:off x="6484980" y="5931080"/>
            <a:ext cx="300082" cy="224238"/>
            <a:chOff x="775552" y="3715228"/>
            <a:chExt cx="300082" cy="224238"/>
          </a:xfrm>
        </p:grpSpPr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98C46BB-3A50-ED44-A443-D03AC54BAB4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95942E07-E504-DD46-9114-A4BF7BE2FC7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6a</a:t>
              </a:r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3BEB143C-2DFE-5D4F-A0DE-3CB7F93AD79F}"/>
              </a:ext>
            </a:extLst>
          </p:cNvPr>
          <p:cNvGrpSpPr/>
          <p:nvPr/>
        </p:nvGrpSpPr>
        <p:grpSpPr>
          <a:xfrm>
            <a:off x="4325561" y="3388584"/>
            <a:ext cx="309700" cy="224238"/>
            <a:chOff x="770743" y="3715228"/>
            <a:chExt cx="309700" cy="224238"/>
          </a:xfrm>
        </p:grpSpPr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BD5CC4F-FE4D-7943-A1CC-DFDF51B6191E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9C5F0E67-4F79-D140-84DF-45D9BEBCE79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4EA10479-53C4-274D-9BE6-66DA200A4D16}"/>
              </a:ext>
            </a:extLst>
          </p:cNvPr>
          <p:cNvGrpSpPr/>
          <p:nvPr/>
        </p:nvGrpSpPr>
        <p:grpSpPr>
          <a:xfrm>
            <a:off x="4372912" y="5940000"/>
            <a:ext cx="309700" cy="224238"/>
            <a:chOff x="770743" y="3715228"/>
            <a:chExt cx="309700" cy="224238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B44D8AB9-25F3-2E48-9074-14E6DBD363A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F99E84F1-6489-E244-9ECD-FD8F01D82D9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6b</a:t>
              </a:r>
            </a:p>
          </p:txBody>
        </p: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15F7DE2-F1EB-C94A-AE48-4487C8B506B6}"/>
              </a:ext>
            </a:extLst>
          </p:cNvPr>
          <p:cNvGrpSpPr/>
          <p:nvPr/>
        </p:nvGrpSpPr>
        <p:grpSpPr>
          <a:xfrm>
            <a:off x="4330045" y="3136880"/>
            <a:ext cx="309700" cy="224238"/>
            <a:chOff x="770743" y="3715228"/>
            <a:chExt cx="309700" cy="224238"/>
          </a:xfrm>
        </p:grpSpPr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920E5E24-BE4B-BC48-AFD2-943FE12CD729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548F5F8D-CBA7-D146-8B4B-FDC4D035CB1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924029E-A5DC-CB49-8E0F-74B666CD5BDE}"/>
              </a:ext>
            </a:extLst>
          </p:cNvPr>
          <p:cNvGrpSpPr/>
          <p:nvPr/>
        </p:nvGrpSpPr>
        <p:grpSpPr>
          <a:xfrm>
            <a:off x="4377396" y="5681195"/>
            <a:ext cx="309700" cy="224238"/>
            <a:chOff x="770743" y="3715228"/>
            <a:chExt cx="309700" cy="224238"/>
          </a:xfrm>
        </p:grpSpPr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5234A744-315A-EC44-BDF0-AAAA223BA63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52355BDB-89F5-CF41-8FBD-153559BF294B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8b</a:t>
              </a: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67E8254-2E00-4348-B74D-2F24011631C6}"/>
              </a:ext>
            </a:extLst>
          </p:cNvPr>
          <p:cNvGrpSpPr>
            <a:grpSpLocks noChangeAspect="1"/>
          </p:cNvGrpSpPr>
          <p:nvPr/>
        </p:nvGrpSpPr>
        <p:grpSpPr>
          <a:xfrm>
            <a:off x="4298376" y="2880000"/>
            <a:ext cx="368899" cy="223200"/>
            <a:chOff x="740286" y="3715228"/>
            <a:chExt cx="370615" cy="224238"/>
          </a:xfrm>
        </p:grpSpPr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C60F2B82-C705-134A-AEE1-E87F808B3E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C1DF2F7-5ABA-1546-94EF-20C60AF814A3}"/>
                </a:ext>
              </a:extLst>
            </p:cNvPr>
            <p:cNvSpPr/>
            <p:nvPr/>
          </p:nvSpPr>
          <p:spPr>
            <a:xfrm>
              <a:off x="740286" y="3724022"/>
              <a:ext cx="370615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8B4FBB61-B1C8-2944-944E-209A07F65AB8}"/>
              </a:ext>
            </a:extLst>
          </p:cNvPr>
          <p:cNvGrpSpPr/>
          <p:nvPr/>
        </p:nvGrpSpPr>
        <p:grpSpPr>
          <a:xfrm>
            <a:off x="4345727" y="5432633"/>
            <a:ext cx="370614" cy="347348"/>
            <a:chOff x="740286" y="3715228"/>
            <a:chExt cx="370614" cy="347348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3770F02-78FE-664F-9B19-E8B021D1E4D7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8B246DE0-B9D9-B54D-A064-CB89E165C09F}"/>
                </a:ext>
              </a:extLst>
            </p:cNvPr>
            <p:cNvSpPr/>
            <p:nvPr/>
          </p:nvSpPr>
          <p:spPr>
            <a:xfrm>
              <a:off x="740286" y="3724022"/>
              <a:ext cx="37061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12b</a:t>
              </a:r>
            </a:p>
            <a:p>
              <a:pPr algn="ctr"/>
              <a:endParaRPr lang="en-US" sz="8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77E441B-047E-CE46-A25B-28311776F8F4}"/>
              </a:ext>
            </a:extLst>
          </p:cNvPr>
          <p:cNvGrpSpPr/>
          <p:nvPr/>
        </p:nvGrpSpPr>
        <p:grpSpPr>
          <a:xfrm>
            <a:off x="6484980" y="5676798"/>
            <a:ext cx="300082" cy="224238"/>
            <a:chOff x="775552" y="3715228"/>
            <a:chExt cx="300082" cy="224238"/>
          </a:xfrm>
        </p:grpSpPr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B02B6B2-B69E-7842-9D28-1C7E8CB1A281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120E3A7D-22AA-E647-8281-EE164AF657AD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F71B1C50-265E-F34D-AF22-A2B539B0A891}"/>
              </a:ext>
            </a:extLst>
          </p:cNvPr>
          <p:cNvGrpSpPr/>
          <p:nvPr/>
        </p:nvGrpSpPr>
        <p:grpSpPr>
          <a:xfrm>
            <a:off x="6448807" y="5416132"/>
            <a:ext cx="360996" cy="224238"/>
            <a:chOff x="736857" y="3715228"/>
            <a:chExt cx="360996" cy="224238"/>
          </a:xfrm>
        </p:grpSpPr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498E50BA-F1A1-524A-B905-153FA186C0CC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55D9C7D2-EAAC-644E-997D-9755B758C142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0CCC7D28-1F7A-7149-AAF0-4EED59597E2F}"/>
              </a:ext>
            </a:extLst>
          </p:cNvPr>
          <p:cNvGrpSpPr/>
          <p:nvPr/>
        </p:nvGrpSpPr>
        <p:grpSpPr>
          <a:xfrm>
            <a:off x="2681463" y="5057611"/>
            <a:ext cx="245580" cy="224238"/>
            <a:chOff x="802803" y="3715228"/>
            <a:chExt cx="245580" cy="224238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762E7B6-B27B-C941-ABAC-597F1AC73B95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78D21582-A888-DE48-836C-0238DA64DB4F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7</a:t>
              </a:r>
            </a:p>
          </p:txBody>
        </p: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9432C11D-E364-C746-985A-2AD5B5DB149E}"/>
              </a:ext>
            </a:extLst>
          </p:cNvPr>
          <p:cNvGrpSpPr/>
          <p:nvPr/>
        </p:nvGrpSpPr>
        <p:grpSpPr>
          <a:xfrm>
            <a:off x="2680630" y="4808856"/>
            <a:ext cx="245580" cy="224238"/>
            <a:chOff x="802803" y="3715228"/>
            <a:chExt cx="245580" cy="224238"/>
          </a:xfrm>
        </p:grpSpPr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EF515DE-CFB5-C746-AC84-B4C313BD06E8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3B567B98-0230-FB4D-8B5A-D57CF8B99F8A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F40449CF-4146-A640-B710-857F798A33D4}"/>
              </a:ext>
            </a:extLst>
          </p:cNvPr>
          <p:cNvGrpSpPr/>
          <p:nvPr/>
        </p:nvGrpSpPr>
        <p:grpSpPr>
          <a:xfrm>
            <a:off x="6550922" y="1481480"/>
            <a:ext cx="245580" cy="224238"/>
            <a:chOff x="802803" y="3715228"/>
            <a:chExt cx="245580" cy="224238"/>
          </a:xfrm>
        </p:grpSpPr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F8A312F-C689-FF42-84E9-02ECA660225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50CBD88D-DC4A-3849-90CE-641B000548E3}"/>
                </a:ext>
              </a:extLst>
            </p:cNvPr>
            <p:cNvSpPr/>
            <p:nvPr/>
          </p:nvSpPr>
          <p:spPr>
            <a:xfrm>
              <a:off x="802803" y="3724022"/>
              <a:ext cx="24558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9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E2317E5-1DF6-F144-A88B-97C61AC21234}"/>
              </a:ext>
            </a:extLst>
          </p:cNvPr>
          <p:cNvGrpSpPr/>
          <p:nvPr/>
        </p:nvGrpSpPr>
        <p:grpSpPr>
          <a:xfrm>
            <a:off x="8311967" y="1742779"/>
            <a:ext cx="309700" cy="224238"/>
            <a:chOff x="770743" y="3715228"/>
            <a:chExt cx="309700" cy="224238"/>
          </a:xfrm>
        </p:grpSpPr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6A31460D-137B-A74E-B6FC-B55DFB2AE33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CFFD1864-8612-0941-9E7F-4F8D6CCCC5CA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10</a:t>
              </a:r>
            </a:p>
          </p:txBody>
        </p: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0B138D15-33DA-594B-9977-4B6B88437CDB}"/>
              </a:ext>
            </a:extLst>
          </p:cNvPr>
          <p:cNvGrpSpPr/>
          <p:nvPr/>
        </p:nvGrpSpPr>
        <p:grpSpPr>
          <a:xfrm>
            <a:off x="4322372" y="1240114"/>
            <a:ext cx="300082" cy="224238"/>
            <a:chOff x="775552" y="3715228"/>
            <a:chExt cx="300082" cy="224238"/>
          </a:xfrm>
        </p:grpSpPr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B19CA466-0BF9-9243-882A-C5EC199C6CE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38D05C81-64B1-4048-A25F-7DF135E165A0}"/>
                </a:ext>
              </a:extLst>
            </p:cNvPr>
            <p:cNvSpPr/>
            <p:nvPr/>
          </p:nvSpPr>
          <p:spPr>
            <a:xfrm>
              <a:off x="775552" y="3724022"/>
              <a:ext cx="300082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8a</a:t>
              </a:r>
            </a:p>
          </p:txBody>
        </p: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E6482679-9AB0-5541-BF89-93062662AF98}"/>
              </a:ext>
            </a:extLst>
          </p:cNvPr>
          <p:cNvGrpSpPr/>
          <p:nvPr/>
        </p:nvGrpSpPr>
        <p:grpSpPr>
          <a:xfrm>
            <a:off x="4319927" y="983503"/>
            <a:ext cx="309700" cy="224238"/>
            <a:chOff x="770743" y="3715228"/>
            <a:chExt cx="309700" cy="224238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0C24FACA-1CFE-B346-89AB-EB0E90F543B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64C22221-FE7F-7946-B113-969909E0FA5E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11</a:t>
              </a:r>
            </a:p>
          </p:txBody>
        </p:sp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2C13EA5E-21CD-1946-88C4-D8A584B17387}"/>
              </a:ext>
            </a:extLst>
          </p:cNvPr>
          <p:cNvGrpSpPr/>
          <p:nvPr/>
        </p:nvGrpSpPr>
        <p:grpSpPr>
          <a:xfrm>
            <a:off x="8280687" y="1478795"/>
            <a:ext cx="360996" cy="224238"/>
            <a:chOff x="736857" y="3715228"/>
            <a:chExt cx="360996" cy="224238"/>
          </a:xfrm>
        </p:grpSpPr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65A20A3F-C204-4E4F-8867-1B299AF2D0C6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3FEEFD6-358C-A543-9BF3-275D2038378C}"/>
                </a:ext>
              </a:extLst>
            </p:cNvPr>
            <p:cNvSpPr/>
            <p:nvPr/>
          </p:nvSpPr>
          <p:spPr>
            <a:xfrm>
              <a:off x="736857" y="3724022"/>
              <a:ext cx="360996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12a</a:t>
              </a:r>
            </a:p>
          </p:txBody>
        </p:sp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0EA9870A-D7BD-7749-9180-333352A02EA4}"/>
              </a:ext>
            </a:extLst>
          </p:cNvPr>
          <p:cNvGrpSpPr/>
          <p:nvPr/>
        </p:nvGrpSpPr>
        <p:grpSpPr>
          <a:xfrm>
            <a:off x="4317141" y="2187210"/>
            <a:ext cx="309700" cy="224238"/>
            <a:chOff x="762505" y="3715228"/>
            <a:chExt cx="309700" cy="224238"/>
          </a:xfrm>
        </p:grpSpPr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EB5E2F46-B118-1045-AF33-FBEB9E67DC0D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EF5AC8E-3F33-C44D-B0DD-469F2AFB0FFB}"/>
                </a:ext>
              </a:extLst>
            </p:cNvPr>
            <p:cNvSpPr/>
            <p:nvPr/>
          </p:nvSpPr>
          <p:spPr>
            <a:xfrm>
              <a:off x="762505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13</a:t>
              </a:r>
            </a:p>
          </p:txBody>
        </p:sp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151B6A92-2701-2048-A0DE-3EA783245FB9}"/>
              </a:ext>
            </a:extLst>
          </p:cNvPr>
          <p:cNvGrpSpPr/>
          <p:nvPr/>
        </p:nvGrpSpPr>
        <p:grpSpPr>
          <a:xfrm>
            <a:off x="852407" y="5920266"/>
            <a:ext cx="309700" cy="224238"/>
            <a:chOff x="770743" y="3715228"/>
            <a:chExt cx="309700" cy="224238"/>
          </a:xfrm>
        </p:grpSpPr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2E2E7022-3AC3-4141-A9D3-0559902526EA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8ED0D82D-C4ED-BB4B-9F5D-50AC2840E0FF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sp>
        <p:nvSpPr>
          <p:cNvPr id="395" name="TextBox 394">
            <a:extLst>
              <a:ext uri="{FF2B5EF4-FFF2-40B4-BE49-F238E27FC236}">
                <a16:creationId xmlns:a16="http://schemas.microsoft.com/office/drawing/2014/main" id="{B5B0ED4A-8496-444C-8214-674C43218B51}"/>
              </a:ext>
            </a:extLst>
          </p:cNvPr>
          <p:cNvSpPr txBox="1"/>
          <p:nvPr/>
        </p:nvSpPr>
        <p:spPr>
          <a:xfrm>
            <a:off x="4033926" y="1538024"/>
            <a:ext cx="2015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receivable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D8AA6A5-BEC0-3E43-B5D1-E1C703AA9057}"/>
              </a:ext>
            </a:extLst>
          </p:cNvPr>
          <p:cNvSpPr txBox="1"/>
          <p:nvPr/>
        </p:nvSpPr>
        <p:spPr>
          <a:xfrm>
            <a:off x="6252890" y="2028286"/>
            <a:ext cx="19871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Accounts payable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1FE8D7A1-DD8E-454B-AE1F-1E7879C864EB}"/>
              </a:ext>
            </a:extLst>
          </p:cNvPr>
          <p:cNvSpPr txBox="1"/>
          <p:nvPr/>
        </p:nvSpPr>
        <p:spPr>
          <a:xfrm>
            <a:off x="9504213" y="359591"/>
            <a:ext cx="2279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>
                <a:solidFill>
                  <a:schemeClr val="accent2"/>
                </a:solidFill>
                <a:latin typeface="Avenir"/>
              </a:rPr>
              <a:t>Sources of funds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BA236A56-DF2E-F243-8A1A-3BBEAA73DB64}"/>
              </a:ext>
            </a:extLst>
          </p:cNvPr>
          <p:cNvSpPr txBox="1"/>
          <p:nvPr/>
        </p:nvSpPr>
        <p:spPr>
          <a:xfrm>
            <a:off x="492858" y="373659"/>
            <a:ext cx="18806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accent6"/>
                </a:solidFill>
                <a:latin typeface="Avenir"/>
              </a:rPr>
              <a:t>Uses of funds</a:t>
            </a:r>
          </a:p>
        </p:txBody>
      </p: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B10B35FA-FFD5-244C-8FBB-DB3A536F6315}"/>
              </a:ext>
            </a:extLst>
          </p:cNvPr>
          <p:cNvGrpSpPr/>
          <p:nvPr/>
        </p:nvGrpSpPr>
        <p:grpSpPr>
          <a:xfrm>
            <a:off x="674882" y="223695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273" name="L-Shape 272">
              <a:extLst>
                <a:ext uri="{FF2B5EF4-FFF2-40B4-BE49-F238E27FC236}">
                  <a16:creationId xmlns:a16="http://schemas.microsoft.com/office/drawing/2014/main" id="{DF7D733A-4FFE-744F-B214-78B04041F690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274" name="L-Shape 273">
              <a:extLst>
                <a:ext uri="{FF2B5EF4-FFF2-40B4-BE49-F238E27FC236}">
                  <a16:creationId xmlns:a16="http://schemas.microsoft.com/office/drawing/2014/main" id="{15DAAC84-AD00-F244-9996-0E67F278AF0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9DA43E6F-DA2D-6D47-9527-3D4C06A2AADE}"/>
              </a:ext>
            </a:extLst>
          </p:cNvPr>
          <p:cNvSpPr txBox="1"/>
          <p:nvPr/>
        </p:nvSpPr>
        <p:spPr>
          <a:xfrm>
            <a:off x="667920" y="2817445"/>
            <a:ext cx="16473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Avenir"/>
              </a:rPr>
              <a:t>Accumulated depreciation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390520E5-A3C2-894D-85E5-0E4333EB6E08}"/>
              </a:ext>
            </a:extLst>
          </p:cNvPr>
          <p:cNvSpPr txBox="1"/>
          <p:nvPr/>
        </p:nvSpPr>
        <p:spPr>
          <a:xfrm>
            <a:off x="1679276" y="2502766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>
                <a:solidFill>
                  <a:schemeClr val="accent2"/>
                </a:solidFill>
                <a:latin typeface="Avenir"/>
              </a:rPr>
              <a:t>100</a:t>
            </a:r>
          </a:p>
        </p:txBody>
      </p:sp>
      <p:sp>
        <p:nvSpPr>
          <p:cNvPr id="394" name="Down Arrow 393">
            <a:extLst>
              <a:ext uri="{FF2B5EF4-FFF2-40B4-BE49-F238E27FC236}">
                <a16:creationId xmlns:a16="http://schemas.microsoft.com/office/drawing/2014/main" id="{B0F8BD20-9927-4341-B34D-0F3411EA8E55}"/>
              </a:ext>
            </a:extLst>
          </p:cNvPr>
          <p:cNvSpPr/>
          <p:nvPr/>
        </p:nvSpPr>
        <p:spPr>
          <a:xfrm>
            <a:off x="1256101" y="255077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8506339-CA6B-4143-ADBA-38D4D796E42A}"/>
              </a:ext>
            </a:extLst>
          </p:cNvPr>
          <p:cNvGrpSpPr/>
          <p:nvPr/>
        </p:nvGrpSpPr>
        <p:grpSpPr>
          <a:xfrm>
            <a:off x="752976" y="2511750"/>
            <a:ext cx="309700" cy="224238"/>
            <a:chOff x="770743" y="3715228"/>
            <a:chExt cx="309700" cy="224238"/>
          </a:xfrm>
        </p:grpSpPr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FE70CBEC-117D-0044-B4ED-7B3D135EE713}"/>
                </a:ext>
              </a:extLst>
            </p:cNvPr>
            <p:cNvSpPr/>
            <p:nvPr/>
          </p:nvSpPr>
          <p:spPr>
            <a:xfrm>
              <a:off x="810781" y="3715228"/>
              <a:ext cx="216000" cy="216000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00" b="1">
                <a:solidFill>
                  <a:schemeClr val="tx1">
                    <a:lumMod val="50000"/>
                    <a:lumOff val="50000"/>
                  </a:schemeClr>
                </a:solidFill>
                <a:latin typeface="Avenir"/>
              </a:endParaRPr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A4CE54F9-C870-974D-B405-FB6285BA0682}"/>
                </a:ext>
              </a:extLst>
            </p:cNvPr>
            <p:cNvSpPr/>
            <p:nvPr/>
          </p:nvSpPr>
          <p:spPr>
            <a:xfrm>
              <a:off x="770743" y="3724022"/>
              <a:ext cx="309700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800" b="1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"/>
                </a:rPr>
                <a:t>14</a:t>
              </a:r>
            </a:p>
          </p:txBody>
        </p: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5E8B448-3359-6047-A901-2663E8A040F1}"/>
              </a:ext>
            </a:extLst>
          </p:cNvPr>
          <p:cNvGrpSpPr/>
          <p:nvPr/>
        </p:nvGrpSpPr>
        <p:grpSpPr>
          <a:xfrm>
            <a:off x="4247500" y="957969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6" name="L-Shape 405">
              <a:extLst>
                <a:ext uri="{FF2B5EF4-FFF2-40B4-BE49-F238E27FC236}">
                  <a16:creationId xmlns:a16="http://schemas.microsoft.com/office/drawing/2014/main" id="{422C7669-2B67-E844-8AD6-CD39F32EE693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07" name="L-Shape 406">
              <a:extLst>
                <a:ext uri="{FF2B5EF4-FFF2-40B4-BE49-F238E27FC236}">
                  <a16:creationId xmlns:a16="http://schemas.microsoft.com/office/drawing/2014/main" id="{1D4A84B6-5035-BE44-AF14-E2B2AA9F4A8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817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5BF0B9C-2E0D-C242-8CFF-FA38A5AF35FC}"/>
              </a:ext>
            </a:extLst>
          </p:cNvPr>
          <p:cNvGrpSpPr/>
          <p:nvPr/>
        </p:nvGrpSpPr>
        <p:grpSpPr>
          <a:xfrm>
            <a:off x="4247500" y="1892397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09" name="L-Shape 408">
              <a:extLst>
                <a:ext uri="{FF2B5EF4-FFF2-40B4-BE49-F238E27FC236}">
                  <a16:creationId xmlns:a16="http://schemas.microsoft.com/office/drawing/2014/main" id="{949DD22A-6C28-4A42-838D-57C0B3AFBA2E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0" name="L-Shape 409">
              <a:extLst>
                <a:ext uri="{FF2B5EF4-FFF2-40B4-BE49-F238E27FC236}">
                  <a16:creationId xmlns:a16="http://schemas.microsoft.com/office/drawing/2014/main" id="{33CD775B-2A0C-DE47-A9A3-022685FE94F6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022F6EA9-7658-814F-A10B-D03A6D0AAF9C}"/>
              </a:ext>
            </a:extLst>
          </p:cNvPr>
          <p:cNvGrpSpPr/>
          <p:nvPr/>
        </p:nvGrpSpPr>
        <p:grpSpPr>
          <a:xfrm>
            <a:off x="2563169" y="4767598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2" name="L-Shape 411">
              <a:extLst>
                <a:ext uri="{FF2B5EF4-FFF2-40B4-BE49-F238E27FC236}">
                  <a16:creationId xmlns:a16="http://schemas.microsoft.com/office/drawing/2014/main" id="{FEC5C8AE-56DC-A645-B700-BDD31418BAC8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3" name="L-Shape 412">
              <a:extLst>
                <a:ext uri="{FF2B5EF4-FFF2-40B4-BE49-F238E27FC236}">
                  <a16:creationId xmlns:a16="http://schemas.microsoft.com/office/drawing/2014/main" id="{22B67BC0-71B1-3D4D-B1C7-898751D00CCC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A5A2220-0725-2E4C-8EE1-0CFDAAB53629}"/>
              </a:ext>
            </a:extLst>
          </p:cNvPr>
          <p:cNvGrpSpPr/>
          <p:nvPr/>
        </p:nvGrpSpPr>
        <p:grpSpPr>
          <a:xfrm>
            <a:off x="788356" y="5618680"/>
            <a:ext cx="1620000" cy="613673"/>
            <a:chOff x="3810000" y="2381250"/>
            <a:chExt cx="1390650" cy="1230631"/>
          </a:xfrm>
          <a:solidFill>
            <a:schemeClr val="accent6">
              <a:lumMod val="75000"/>
            </a:schemeClr>
          </a:solidFill>
        </p:grpSpPr>
        <p:sp>
          <p:nvSpPr>
            <p:cNvPr id="418" name="L-Shape 417">
              <a:extLst>
                <a:ext uri="{FF2B5EF4-FFF2-40B4-BE49-F238E27FC236}">
                  <a16:creationId xmlns:a16="http://schemas.microsoft.com/office/drawing/2014/main" id="{CFC81F53-CA91-174B-9872-9729D066141F}"/>
                </a:ext>
              </a:extLst>
            </p:cNvPr>
            <p:cNvSpPr/>
            <p:nvPr/>
          </p:nvSpPr>
          <p:spPr>
            <a:xfrm flipH="1">
              <a:off x="4505325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19" name="L-Shape 418">
              <a:extLst>
                <a:ext uri="{FF2B5EF4-FFF2-40B4-BE49-F238E27FC236}">
                  <a16:creationId xmlns:a16="http://schemas.microsoft.com/office/drawing/2014/main" id="{E8759028-EA69-3049-85B6-E41AA8BA6521}"/>
                </a:ext>
              </a:extLst>
            </p:cNvPr>
            <p:cNvSpPr/>
            <p:nvPr/>
          </p:nvSpPr>
          <p:spPr>
            <a:xfrm>
              <a:off x="3810000" y="2381250"/>
              <a:ext cx="695325" cy="1230631"/>
            </a:xfrm>
            <a:prstGeom prst="corner">
              <a:avLst>
                <a:gd name="adj1" fmla="val 9300"/>
                <a:gd name="adj2" fmla="val 890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3879A878-BB24-5C4E-8DED-AA8AA8416168}"/>
              </a:ext>
            </a:extLst>
          </p:cNvPr>
          <p:cNvGrpSpPr/>
          <p:nvPr/>
        </p:nvGrpSpPr>
        <p:grpSpPr>
          <a:xfrm>
            <a:off x="4292494" y="5448381"/>
            <a:ext cx="1620000" cy="796276"/>
            <a:chOff x="3810000" y="2015069"/>
            <a:chExt cx="1390650" cy="1596814"/>
          </a:xfrm>
          <a:solidFill>
            <a:schemeClr val="accent6">
              <a:lumMod val="75000"/>
            </a:schemeClr>
          </a:solidFill>
        </p:grpSpPr>
        <p:sp>
          <p:nvSpPr>
            <p:cNvPr id="421" name="L-Shape 420">
              <a:extLst>
                <a:ext uri="{FF2B5EF4-FFF2-40B4-BE49-F238E27FC236}">
                  <a16:creationId xmlns:a16="http://schemas.microsoft.com/office/drawing/2014/main" id="{BA2D9C48-4D89-9D41-9A86-8C07C56E1D9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2" name="L-Shape 421">
              <a:extLst>
                <a:ext uri="{FF2B5EF4-FFF2-40B4-BE49-F238E27FC236}">
                  <a16:creationId xmlns:a16="http://schemas.microsoft.com/office/drawing/2014/main" id="{21AD4FFB-95DA-6847-8F89-536BF9981BA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B802F43-9F5E-A14B-9D86-B2DA6CA6BAF3}"/>
              </a:ext>
            </a:extLst>
          </p:cNvPr>
          <p:cNvGrpSpPr/>
          <p:nvPr/>
        </p:nvGrpSpPr>
        <p:grpSpPr>
          <a:xfrm>
            <a:off x="6382456" y="5448381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24" name="L-Shape 423">
              <a:extLst>
                <a:ext uri="{FF2B5EF4-FFF2-40B4-BE49-F238E27FC236}">
                  <a16:creationId xmlns:a16="http://schemas.microsoft.com/office/drawing/2014/main" id="{3FE59A14-5D36-2645-8D6C-212D8CAE6DE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25" name="L-Shape 424">
              <a:extLst>
                <a:ext uri="{FF2B5EF4-FFF2-40B4-BE49-F238E27FC236}">
                  <a16:creationId xmlns:a16="http://schemas.microsoft.com/office/drawing/2014/main" id="{0C755AE6-7667-B743-B400-A3007F0EA37F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3C62AF3-2D43-9647-B711-5C094AC46C3F}"/>
              </a:ext>
            </a:extLst>
          </p:cNvPr>
          <p:cNvGrpSpPr/>
          <p:nvPr/>
        </p:nvGrpSpPr>
        <p:grpSpPr>
          <a:xfrm>
            <a:off x="9983452" y="3159099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0" name="L-Shape 429">
              <a:extLst>
                <a:ext uri="{FF2B5EF4-FFF2-40B4-BE49-F238E27FC236}">
                  <a16:creationId xmlns:a16="http://schemas.microsoft.com/office/drawing/2014/main" id="{68D6734C-0027-194F-BF8A-040486A2DB35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1" name="L-Shape 430">
              <a:extLst>
                <a:ext uri="{FF2B5EF4-FFF2-40B4-BE49-F238E27FC236}">
                  <a16:creationId xmlns:a16="http://schemas.microsoft.com/office/drawing/2014/main" id="{ECB17562-DB46-F243-A724-9E5A07981267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4848BB5E-72D6-154B-A4A4-863172845016}"/>
              </a:ext>
            </a:extLst>
          </p:cNvPr>
          <p:cNvGrpSpPr/>
          <p:nvPr/>
        </p:nvGrpSpPr>
        <p:grpSpPr>
          <a:xfrm>
            <a:off x="8214558" y="126001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3" name="L-Shape 432">
              <a:extLst>
                <a:ext uri="{FF2B5EF4-FFF2-40B4-BE49-F238E27FC236}">
                  <a16:creationId xmlns:a16="http://schemas.microsoft.com/office/drawing/2014/main" id="{ABB06B6F-0697-9948-91DD-97E59BB658BB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4" name="L-Shape 433">
              <a:extLst>
                <a:ext uri="{FF2B5EF4-FFF2-40B4-BE49-F238E27FC236}">
                  <a16:creationId xmlns:a16="http://schemas.microsoft.com/office/drawing/2014/main" id="{6F827A64-8AAF-EF46-AB91-B3C3D179257E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4BF78748-8099-A04D-A988-CC7F94C0749B}"/>
              </a:ext>
            </a:extLst>
          </p:cNvPr>
          <p:cNvGrpSpPr/>
          <p:nvPr/>
        </p:nvGrpSpPr>
        <p:grpSpPr>
          <a:xfrm>
            <a:off x="10006085" y="1263488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6" name="L-Shape 435">
              <a:extLst>
                <a:ext uri="{FF2B5EF4-FFF2-40B4-BE49-F238E27FC236}">
                  <a16:creationId xmlns:a16="http://schemas.microsoft.com/office/drawing/2014/main" id="{15CC524B-0762-3D4A-B259-A2EBD694AAC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37" name="L-Shape 436">
              <a:extLst>
                <a:ext uri="{FF2B5EF4-FFF2-40B4-BE49-F238E27FC236}">
                  <a16:creationId xmlns:a16="http://schemas.microsoft.com/office/drawing/2014/main" id="{A6B576E7-715E-EB4C-B7ED-9090BB358111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6473B99F-863F-454D-BCB0-F8F4067841C8}"/>
              </a:ext>
            </a:extLst>
          </p:cNvPr>
          <p:cNvGrpSpPr/>
          <p:nvPr/>
        </p:nvGrpSpPr>
        <p:grpSpPr>
          <a:xfrm>
            <a:off x="6428511" y="1266563"/>
            <a:ext cx="1620000" cy="796276"/>
            <a:chOff x="3810000" y="2015069"/>
            <a:chExt cx="1390650" cy="1596814"/>
          </a:xfrm>
          <a:solidFill>
            <a:schemeClr val="accent2"/>
          </a:solidFill>
        </p:grpSpPr>
        <p:sp>
          <p:nvSpPr>
            <p:cNvPr id="439" name="L-Shape 438">
              <a:extLst>
                <a:ext uri="{FF2B5EF4-FFF2-40B4-BE49-F238E27FC236}">
                  <a16:creationId xmlns:a16="http://schemas.microsoft.com/office/drawing/2014/main" id="{DB03DE00-D9CE-3F4A-AF56-BAEEDF41F6F2}"/>
                </a:ext>
              </a:extLst>
            </p:cNvPr>
            <p:cNvSpPr/>
            <p:nvPr/>
          </p:nvSpPr>
          <p:spPr>
            <a:xfrm flipH="1">
              <a:off x="4505325" y="2015073"/>
              <a:ext cx="695325" cy="1596810"/>
            </a:xfrm>
            <a:prstGeom prst="corner">
              <a:avLst>
                <a:gd name="adj1" fmla="val 7267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  <p:sp>
          <p:nvSpPr>
            <p:cNvPr id="440" name="L-Shape 439">
              <a:extLst>
                <a:ext uri="{FF2B5EF4-FFF2-40B4-BE49-F238E27FC236}">
                  <a16:creationId xmlns:a16="http://schemas.microsoft.com/office/drawing/2014/main" id="{68A3E70B-7329-C048-9959-8DA377890966}"/>
                </a:ext>
              </a:extLst>
            </p:cNvPr>
            <p:cNvSpPr/>
            <p:nvPr/>
          </p:nvSpPr>
          <p:spPr>
            <a:xfrm>
              <a:off x="3810000" y="2015069"/>
              <a:ext cx="695325" cy="1596812"/>
            </a:xfrm>
            <a:prstGeom prst="corner">
              <a:avLst>
                <a:gd name="adj1" fmla="val 7268"/>
                <a:gd name="adj2" fmla="val 788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Helvetica" pitchFamily="2" charset="0"/>
              </a:endParaRPr>
            </a:p>
          </p:txBody>
        </p:sp>
      </p:grpSp>
      <p:sp>
        <p:nvSpPr>
          <p:cNvPr id="371" name="Rectangle 370">
            <a:extLst>
              <a:ext uri="{FF2B5EF4-FFF2-40B4-BE49-F238E27FC236}">
                <a16:creationId xmlns:a16="http://schemas.microsoft.com/office/drawing/2014/main" id="{2A6CC128-2BB1-814E-AF95-807893CEB4D5}"/>
              </a:ext>
            </a:extLst>
          </p:cNvPr>
          <p:cNvSpPr/>
          <p:nvPr/>
        </p:nvSpPr>
        <p:spPr>
          <a:xfrm>
            <a:off x="1541040" y="4152714"/>
            <a:ext cx="10452799" cy="1312708"/>
          </a:xfrm>
          <a:prstGeom prst="rect">
            <a:avLst/>
          </a:prstGeom>
          <a:solidFill>
            <a:schemeClr val="bg1">
              <a:lumMod val="9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12A284CE-F201-FC4F-843D-D07C52C430FE}"/>
              </a:ext>
            </a:extLst>
          </p:cNvPr>
          <p:cNvGrpSpPr/>
          <p:nvPr/>
        </p:nvGrpSpPr>
        <p:grpSpPr>
          <a:xfrm>
            <a:off x="1672955" y="4447820"/>
            <a:ext cx="10188967" cy="756004"/>
            <a:chOff x="926134" y="1719856"/>
            <a:chExt cx="9204181" cy="750147"/>
          </a:xfrm>
        </p:grpSpPr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09899927-0A08-8F43-BCDA-944874913751}"/>
                </a:ext>
              </a:extLst>
            </p:cNvPr>
            <p:cNvSpPr txBox="1"/>
            <p:nvPr/>
          </p:nvSpPr>
          <p:spPr>
            <a:xfrm>
              <a:off x="1641585" y="1719860"/>
              <a:ext cx="5447935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wrap="square" rtlCol="0" anchor="ctr">
              <a:noAutofit/>
            </a:bodyPr>
            <a:lstStyle/>
            <a:p>
              <a:pPr marL="139700" lvl="0"/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해당 장비는 잔존가치 없이 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년간 사용할 예정이며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</a:t>
              </a:r>
              <a:r>
                <a:rPr lang="ko-KR" altLang="en-US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이번 달 사용분에 대해 회계 처리함</a:t>
              </a:r>
              <a:r>
                <a:rPr lang="en-US" altLang="ko-KR" sz="2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lang="ko-KR" altLang="en-US" sz="20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A23123D8-819B-5641-A123-CB4460028A7E}"/>
                </a:ext>
              </a:extLst>
            </p:cNvPr>
            <p:cNvSpPr txBox="1"/>
            <p:nvPr/>
          </p:nvSpPr>
          <p:spPr>
            <a:xfrm>
              <a:off x="7089520" y="1719858"/>
              <a:ext cx="1520398" cy="7453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Depreciation</a:t>
              </a: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100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189F1C80-6910-CB4F-B289-CC2BA4B3F387}"/>
                </a:ext>
              </a:extLst>
            </p:cNvPr>
            <p:cNvSpPr txBox="1"/>
            <p:nvPr/>
          </p:nvSpPr>
          <p:spPr>
            <a:xfrm>
              <a:off x="8609917" y="1719858"/>
              <a:ext cx="1520398" cy="7453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GB" sz="1400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Accumulated depreciation</a:t>
              </a:r>
              <a:endParaRPr lang="en-GB" sz="1600" b="1">
                <a:solidFill>
                  <a:schemeClr val="bg1">
                    <a:lumMod val="75000"/>
                  </a:schemeClr>
                </a:solidFill>
                <a:latin typeface="Avenir"/>
                <a:ea typeface="Helvetica" charset="0"/>
                <a:cs typeface="Helvetica" charset="0"/>
              </a:endParaRPr>
            </a:p>
            <a:p>
              <a:pPr algn="ctr"/>
              <a:r>
                <a:rPr lang="en-GB" b="1">
                  <a:solidFill>
                    <a:schemeClr val="bg1">
                      <a:lumMod val="75000"/>
                    </a:schemeClr>
                  </a:solidFill>
                  <a:latin typeface="Avenir"/>
                  <a:ea typeface="Helvetica" charset="0"/>
                  <a:cs typeface="Helvetica" charset="0"/>
                </a:rPr>
                <a:t>100</a:t>
              </a:r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326429F8-3C03-D744-85CF-0B72BE930EAF}"/>
                </a:ext>
              </a:extLst>
            </p:cNvPr>
            <p:cNvSpPr txBox="1"/>
            <p:nvPr/>
          </p:nvSpPr>
          <p:spPr>
            <a:xfrm>
              <a:off x="926134" y="1719856"/>
              <a:ext cx="715451" cy="7501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  <a:effectLst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2400" b="1">
                  <a:latin typeface="Avenir"/>
                </a:rPr>
                <a:t>14</a:t>
              </a: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FCA03A99-B2BC-F041-993A-A7237C69C7B9}"/>
              </a:ext>
            </a:extLst>
          </p:cNvPr>
          <p:cNvSpPr txBox="1"/>
          <p:nvPr/>
        </p:nvSpPr>
        <p:spPr>
          <a:xfrm>
            <a:off x="8498460" y="4443450"/>
            <a:ext cx="1683070" cy="75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8CF2E893-19EA-1847-9C73-0A7A024644C6}"/>
              </a:ext>
            </a:extLst>
          </p:cNvPr>
          <p:cNvSpPr txBox="1"/>
          <p:nvPr/>
        </p:nvSpPr>
        <p:spPr>
          <a:xfrm>
            <a:off x="10181530" y="4447939"/>
            <a:ext cx="1683070" cy="756000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GB" sz="2400" b="1">
                <a:solidFill>
                  <a:schemeClr val="bg1"/>
                </a:solidFill>
                <a:latin typeface="Avenir"/>
                <a:ea typeface="Helvetica" charset="0"/>
                <a:cs typeface="Helvetica" charset="0"/>
              </a:rPr>
              <a:t>100</a:t>
            </a:r>
          </a:p>
        </p:txBody>
      </p:sp>
      <p:sp>
        <p:nvSpPr>
          <p:cNvPr id="399" name="Down Arrow 398">
            <a:extLst>
              <a:ext uri="{FF2B5EF4-FFF2-40B4-BE49-F238E27FC236}">
                <a16:creationId xmlns:a16="http://schemas.microsoft.com/office/drawing/2014/main" id="{2FAF7EA8-234B-044C-ADFC-14EFF7ECB645}"/>
              </a:ext>
            </a:extLst>
          </p:cNvPr>
          <p:cNvSpPr/>
          <p:nvPr/>
        </p:nvSpPr>
        <p:spPr>
          <a:xfrm rot="10800000">
            <a:off x="153289" y="4549188"/>
            <a:ext cx="950259" cy="1037381"/>
          </a:xfrm>
          <a:prstGeom prst="downArrow">
            <a:avLst/>
          </a:prstGeom>
          <a:solidFill>
            <a:schemeClr val="accent6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0" name="Down Arrow 399">
            <a:extLst>
              <a:ext uri="{FF2B5EF4-FFF2-40B4-BE49-F238E27FC236}">
                <a16:creationId xmlns:a16="http://schemas.microsoft.com/office/drawing/2014/main" id="{B9B600D3-AC53-0047-9D5D-24E2CA9BCD10}"/>
              </a:ext>
            </a:extLst>
          </p:cNvPr>
          <p:cNvSpPr/>
          <p:nvPr/>
        </p:nvSpPr>
        <p:spPr>
          <a:xfrm>
            <a:off x="152838" y="842384"/>
            <a:ext cx="950259" cy="1037381"/>
          </a:xfrm>
          <a:prstGeom prst="downArrow">
            <a:avLst/>
          </a:prstGeom>
          <a:solidFill>
            <a:schemeClr val="accent2">
              <a:alpha val="78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1" name="Down Arrow 440">
            <a:extLst>
              <a:ext uri="{FF2B5EF4-FFF2-40B4-BE49-F238E27FC236}">
                <a16:creationId xmlns:a16="http://schemas.microsoft.com/office/drawing/2014/main" id="{5BE953CC-9831-074E-8F67-D49317B4B757}"/>
              </a:ext>
            </a:extLst>
          </p:cNvPr>
          <p:cNvSpPr/>
          <p:nvPr/>
        </p:nvSpPr>
        <p:spPr>
          <a:xfrm rot="10800000">
            <a:off x="8784000" y="1751173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2" name="Down Arrow 441">
            <a:extLst>
              <a:ext uri="{FF2B5EF4-FFF2-40B4-BE49-F238E27FC236}">
                <a16:creationId xmlns:a16="http://schemas.microsoft.com/office/drawing/2014/main" id="{AE626D12-7309-7044-ACC8-F20D085A232C}"/>
              </a:ext>
            </a:extLst>
          </p:cNvPr>
          <p:cNvSpPr/>
          <p:nvPr/>
        </p:nvSpPr>
        <p:spPr>
          <a:xfrm>
            <a:off x="8784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43" name="Down Arrow 442">
            <a:extLst>
              <a:ext uri="{FF2B5EF4-FFF2-40B4-BE49-F238E27FC236}">
                <a16:creationId xmlns:a16="http://schemas.microsoft.com/office/drawing/2014/main" id="{DD6E49EC-DCF2-B64E-9173-2B79E71EE2E9}"/>
              </a:ext>
            </a:extLst>
          </p:cNvPr>
          <p:cNvSpPr/>
          <p:nvPr/>
        </p:nvSpPr>
        <p:spPr>
          <a:xfrm rot="10800000">
            <a:off x="10548000" y="1757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4" name="Down Arrow 443">
            <a:extLst>
              <a:ext uri="{FF2B5EF4-FFF2-40B4-BE49-F238E27FC236}">
                <a16:creationId xmlns:a16="http://schemas.microsoft.com/office/drawing/2014/main" id="{01EFDFED-39ED-0B4F-86DC-381A750E4CA6}"/>
              </a:ext>
            </a:extLst>
          </p:cNvPr>
          <p:cNvSpPr/>
          <p:nvPr/>
        </p:nvSpPr>
        <p:spPr>
          <a:xfrm>
            <a:off x="10548000" y="1505882"/>
            <a:ext cx="108000" cy="180000"/>
          </a:xfrm>
          <a:prstGeom prst="downArrow">
            <a:avLst>
              <a:gd name="adj1" fmla="val 100000"/>
              <a:gd name="adj2" fmla="val 47930"/>
            </a:avLst>
          </a:prstGeom>
          <a:solidFill>
            <a:schemeClr val="accent6">
              <a:lumMod val="75000"/>
            </a:schemeClr>
          </a:solidFill>
          <a:ln w="95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3D6FC1B-701E-E740-8D09-0B1D40343CFC}"/>
              </a:ext>
            </a:extLst>
          </p:cNvPr>
          <p:cNvSpPr txBox="1"/>
          <p:nvPr/>
        </p:nvSpPr>
        <p:spPr>
          <a:xfrm>
            <a:off x="6403128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360</a:t>
            </a:r>
            <a:endParaRPr lang="en-GB" sz="240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943A8E61-67AF-424D-8006-C08EED28ECBF}"/>
              </a:ext>
            </a:extLst>
          </p:cNvPr>
          <p:cNvSpPr txBox="1"/>
          <p:nvPr/>
        </p:nvSpPr>
        <p:spPr>
          <a:xfrm>
            <a:off x="6403129" y="3419412"/>
            <a:ext cx="1548343" cy="56613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b="1">
                <a:latin typeface="Avenir"/>
              </a:rPr>
              <a:t>460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2242202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7.40741E-7 L -0.66355 0.10718 " pathEditMode="relative" rAng="0" ptsTypes="AA">
                                      <p:cBhvr>
                                        <p:cTn id="14" dur="3000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177" y="534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6 L -0.76641 -0.39421 " pathEditMode="relative" rAng="0" ptsTypes="AA">
                                      <p:cBhvr>
                                        <p:cTn id="55" dur="3000" fill="hold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320" y="-197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000"/>
                            </p:stCondLst>
                            <p:childTnLst>
                              <p:par>
                                <p:cTn id="57" presetID="3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1" dur="10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3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3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3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1" grpId="0" animBg="1"/>
      <p:bldP spid="114" grpId="0"/>
      <p:bldP spid="259" grpId="0"/>
      <p:bldP spid="260" grpId="0" animBg="1"/>
      <p:bldP spid="390" grpId="0"/>
      <p:bldP spid="393" grpId="0"/>
      <p:bldP spid="394" grpId="0" animBg="1"/>
      <p:bldP spid="391" grpId="0" animBg="1"/>
      <p:bldP spid="391" grpId="1" animBg="1"/>
      <p:bldP spid="392" grpId="0" animBg="1"/>
      <p:bldP spid="392" grpId="1" animBg="1"/>
      <p:bldP spid="399" grpId="0" animBg="1"/>
      <p:bldP spid="400" grpId="0" animBg="1"/>
      <p:bldP spid="257" grpId="0"/>
      <p:bldP spid="25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Accrued Expenses are Liabilities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발생비용은 부채이다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Accrued Expenses are Liabilities </a:t>
            </a:r>
            <a:r>
              <a:rPr lang="en-US" sz="3400" b="1" dirty="0">
                <a:solidFill>
                  <a:schemeClr val="bg1"/>
                </a:solidFill>
                <a:latin typeface="+mj-lt"/>
                <a:ea typeface="Calibri Light" pitchFamily="34" charset="-122"/>
                <a:cs typeface="Calibri Light" pitchFamily="34" charset="-120"/>
              </a:rPr>
              <a:t>(</a:t>
            </a:r>
            <a:r>
              <a:rPr lang="en-US" sz="3400" dirty="0" err="1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발생비용은</a:t>
            </a:r>
            <a:r>
              <a:rPr lang="en-US" sz="3400" dirty="0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400" dirty="0" err="1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부채이다</a:t>
            </a:r>
            <a:r>
              <a:rPr lang="en-US" sz="3400" dirty="0">
                <a:solidFill>
                  <a:schemeClr val="bg1"/>
                </a:solidFill>
                <a:latin typeface="+mj-lt"/>
                <a:ea typeface="Calibri" pitchFamily="34" charset="-122"/>
                <a:cs typeface="Calibri" pitchFamily="34" charset="-120"/>
              </a:rPr>
              <a:t>)</a:t>
            </a:r>
            <a:endParaRPr lang="en-US" sz="3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가치는 이미 소비되었지만 지급은 아직 이루어지지 않은 경우입니다.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6858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6858000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6547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· Process · Examples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663854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  <a:p>
            <a:pPr marL="742950" lvl="1" indent="-285750">
              <a:lnSpc>
                <a:spcPct val="105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활동·용역이 invoice 발행(현금 지급) 전에 발생해도 expense를 인식.</a:t>
            </a:r>
            <a:endParaRPr lang="en-US" sz="1600" dirty="0"/>
          </a:p>
          <a:p>
            <a:pPr marL="742950" lvl="1" indent="-285750">
              <a:lnSpc>
                <a:spcPct val="105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미지급이면 liability를 기록.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600" dirty="0"/>
          </a:p>
          <a:p>
            <a:pPr marL="800100" lvl="1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미청구·미지급 소비는 accrued liability를 발생 → 지급 시 정산.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600" dirty="0"/>
          </a:p>
          <a:p>
            <a:pPr marL="800100" lvl="1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payable, accrued interest expense, tax payable.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24928" y="2610203"/>
            <a:ext cx="4407408" cy="29177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pic>
        <p:nvPicPr>
          <p:cNvPr id="16" name="Image 0" descr="assets/s3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683355"/>
            <a:ext cx="4261104" cy="27714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FB39CF4-DEBD-DF39-69CF-3C342008C366}"/>
              </a:ext>
            </a:extLst>
          </p:cNvPr>
          <p:cNvSpPr txBox="1"/>
          <p:nvPr/>
        </p:nvSpPr>
        <p:spPr>
          <a:xfrm>
            <a:off x="7876917" y="1675692"/>
            <a:ext cx="21273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3250" marR="5080" indent="-591185">
              <a:spcBef>
                <a:spcPts val="545"/>
              </a:spcBef>
            </a:pPr>
            <a:r>
              <a:rPr lang="en-US" b="1" dirty="0">
                <a:solidFill>
                  <a:srgbClr val="15803D"/>
                </a:solidFill>
                <a:latin typeface="Arial"/>
                <a:cs typeface="Arial"/>
              </a:rPr>
              <a:t>Value</a:t>
            </a:r>
            <a:r>
              <a:rPr lang="en-US" b="1" spc="65" dirty="0">
                <a:solidFill>
                  <a:srgbClr val="15803D"/>
                </a:solidFill>
                <a:latin typeface="Arial"/>
                <a:cs typeface="Arial"/>
              </a:rPr>
              <a:t> </a:t>
            </a:r>
            <a:r>
              <a:rPr lang="en-US" b="1" spc="70" dirty="0">
                <a:solidFill>
                  <a:srgbClr val="15803D"/>
                </a:solidFill>
                <a:latin typeface="Arial"/>
                <a:cs typeface="Arial"/>
              </a:rPr>
              <a:t>Consumed </a:t>
            </a:r>
            <a:r>
              <a:rPr lang="en-US" b="1" spc="-10" dirty="0">
                <a:solidFill>
                  <a:srgbClr val="15803D"/>
                </a:solidFill>
                <a:latin typeface="Arial"/>
                <a:cs typeface="Arial"/>
              </a:rPr>
              <a:t>(Expense)</a:t>
            </a:r>
            <a:endParaRPr lang="en-US" b="1" dirty="0">
              <a:solidFill>
                <a:srgbClr val="15803D"/>
              </a:solidFill>
              <a:latin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3EDBA2-17A8-E007-FACB-A0B32907C65E}"/>
              </a:ext>
            </a:extLst>
          </p:cNvPr>
          <p:cNvSpPr txBox="1"/>
          <p:nvPr/>
        </p:nvSpPr>
        <p:spPr>
          <a:xfrm>
            <a:off x="9769313" y="5452746"/>
            <a:ext cx="2400300" cy="7104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3250" marR="5080" indent="-591185">
              <a:spcBef>
                <a:spcPts val="545"/>
              </a:spcBef>
            </a:pPr>
            <a:r>
              <a:rPr lang="en-US" sz="1800" b="1" dirty="0">
                <a:solidFill>
                  <a:srgbClr val="ED7D31"/>
                </a:solidFill>
                <a:latin typeface="Arial"/>
                <a:cs typeface="Arial"/>
              </a:rPr>
              <a:t>Payment Pending</a:t>
            </a:r>
          </a:p>
          <a:p>
            <a:pPr marL="603250" marR="5080" indent="-591185" algn="ctr">
              <a:spcBef>
                <a:spcPts val="545"/>
              </a:spcBef>
            </a:pPr>
            <a:r>
              <a:rPr lang="en-US" sz="1800" b="1" spc="-10" dirty="0">
                <a:solidFill>
                  <a:srgbClr val="ED7D31"/>
                </a:solidFill>
                <a:latin typeface="Arial"/>
                <a:cs typeface="Arial"/>
              </a:rPr>
              <a:t>(Liability)</a:t>
            </a:r>
            <a:endParaRPr lang="en-US" sz="1800" b="1" dirty="0">
              <a:solidFill>
                <a:srgbClr val="ED7D31"/>
              </a:solidFill>
              <a:latin typeface="Arial"/>
              <a:cs typeface="Arial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95D1673-6953-8FC2-6C64-80499A878387}"/>
              </a:ext>
            </a:extLst>
          </p:cNvPr>
          <p:cNvCxnSpPr/>
          <p:nvPr/>
        </p:nvCxnSpPr>
        <p:spPr>
          <a:xfrm flipH="1" flipV="1">
            <a:off x="10758677" y="4224003"/>
            <a:ext cx="87155" cy="1259295"/>
          </a:xfrm>
          <a:prstGeom prst="straightConnector1">
            <a:avLst/>
          </a:prstGeom>
          <a:ln w="57150">
            <a:solidFill>
              <a:srgbClr val="ED7D3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27EB15E-8A67-B0C2-6082-606B1270E09D}"/>
              </a:ext>
            </a:extLst>
          </p:cNvPr>
          <p:cNvCxnSpPr>
            <a:stCxn id="17" idx="2"/>
          </p:cNvCxnSpPr>
          <p:nvPr/>
        </p:nvCxnSpPr>
        <p:spPr>
          <a:xfrm>
            <a:off x="8940607" y="2322023"/>
            <a:ext cx="222155" cy="1148082"/>
          </a:xfrm>
          <a:prstGeom prst="straightConnector1">
            <a:avLst/>
          </a:prstGeom>
          <a:ln w="57150">
            <a:solidFill>
              <a:srgbClr val="1580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/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3 — Estimated Energy Costs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Books, Inc. — 31 March 기준 에너지 비용을 추정·인식.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304288"/>
            <a:ext cx="6181344" cy="362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assets/s3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2377440"/>
            <a:ext cx="6035040" cy="347560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48272" y="2304288"/>
            <a:ext cx="52974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748272" y="2304288"/>
            <a:ext cx="87320" cy="3566160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748272" y="2304288"/>
            <a:ext cx="5297424" cy="420624"/>
          </a:xfrm>
          <a:prstGeom prst="rect">
            <a:avLst/>
          </a:prstGeom>
          <a:solidFill>
            <a:srgbClr val="9A66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949440" y="2304288"/>
            <a:ext cx="49675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3월의 에너지 비용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967728" y="2907792"/>
            <a:ext cx="506457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에너지는 사용된 3월(사용 기간)에 expense로 인식.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지급은 4월이지만, 3월에 비용과 liability를 기록.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liability가 accrued expense.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expense는 balance sheet의 liability로 표시됨.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4 — Accrued Interest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반년치 이자를 기간 말에 발생 인식합니다.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10896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2027/7/1 은행에서 $100,000 차입 · 3년 만기 · 연 6%.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회계연도는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12/31 종료. 이자 지급일: 매년 6/30.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endParaRPr lang="en-US" sz="16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7/1과 12/31의 거래를 기록하시오.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72784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154270"/>
              </p:ext>
            </p:extLst>
          </p:nvPr>
        </p:nvGraphicFramePr>
        <p:xfrm>
          <a:off x="6272784" y="2542032"/>
          <a:ext cx="5486400" cy="15544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07/01/27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12/31/27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72784" y="4224528"/>
            <a:ext cx="5486400" cy="60350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6455664" y="42245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Expense =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4 — Continued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차입과 이자 발생을 계정에 반영한 모습입니다.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8292" y="2304288"/>
            <a:ext cx="6240871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assets/s4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44" y="2377440"/>
            <a:ext cx="6094567" cy="3566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949440" y="2377440"/>
            <a:ext cx="480974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949440" y="2377440"/>
            <a:ext cx="82296" cy="356616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949440" y="2377440"/>
            <a:ext cx="4809744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150608" y="2377440"/>
            <a:ext cx="4498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68896" y="2980944"/>
            <a:ext cx="4389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 (7/1):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</a:t>
            </a:r>
            <a:r>
              <a:rPr lang="en-US" sz="1600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Cash ↑$100,000 </a:t>
            </a:r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</a:t>
            </a:r>
            <a:r>
              <a:rPr lang="en-US" sz="1600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Notes Payable ↑ $100,000.</a:t>
            </a:r>
            <a:endParaRPr lang="en-US" sz="1600" dirty="0">
              <a:highlight>
                <a:srgbClr val="FFCC00"/>
              </a:highlight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이자 발생 (12/31):</a:t>
            </a:r>
            <a:endParaRPr lang="en-US" sz="1600" dirty="0"/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</a:t>
            </a:r>
            <a:r>
              <a:rPr lang="en-US" sz="1600" dirty="0">
                <a:solidFill>
                  <a:srgbClr val="1A1A1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Interest Expense ↑ $3,000 </a:t>
            </a:r>
          </a:p>
          <a:p>
            <a:pPr>
              <a:lnSpc>
                <a:spcPct val="105000"/>
              </a:lnSpc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1600" dirty="0">
                <a:solidFill>
                  <a:srgbClr val="1A1A1A"/>
                </a:solidFill>
                <a:highlight>
                  <a:srgbClr val="FFCC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Interest Payable ↑ $3,000.</a:t>
            </a:r>
            <a:endParaRPr lang="en-US" sz="1600" dirty="0">
              <a:highlight>
                <a:srgbClr val="FFCC00"/>
              </a:highlight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지급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전이라도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소비된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이자를 비용·부채로 인식.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이연·발생 개념을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29184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Cash Received in Advance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서비스가 제공되기 전에 받은 현금은 무엇으로 기록되는가?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liabilities.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expenses.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equity.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revenues.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291840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Prepaid Insurance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400" dirty="0" err="1"/>
              <a:t>수정분개</a:t>
            </a:r>
            <a:r>
              <a:rPr lang="en-US" sz="1400" dirty="0"/>
              <a:t> 전 </a:t>
            </a:r>
            <a:r>
              <a:rPr lang="en-US" sz="1400" dirty="0" err="1"/>
              <a:t>선급보험료</a:t>
            </a:r>
            <a:r>
              <a:rPr lang="en-US" sz="1400" dirty="0"/>
              <a:t> (Prepaid Insurance, deferred insurance expense) </a:t>
            </a:r>
            <a:r>
              <a:rPr lang="en-US" sz="1400" dirty="0" err="1"/>
              <a:t>잔액은</a:t>
            </a:r>
            <a:r>
              <a:rPr lang="en-US" sz="1400" dirty="0"/>
              <a:t> $2,700이다. 이 중 $1,500이 </a:t>
            </a:r>
            <a:r>
              <a:rPr lang="en-US" sz="1400" dirty="0" err="1"/>
              <a:t>당기에</a:t>
            </a:r>
            <a:r>
              <a:rPr lang="en-US" sz="1400" dirty="0"/>
              <a:t> </a:t>
            </a:r>
            <a:r>
              <a:rPr lang="en-US" sz="1400" dirty="0" err="1"/>
              <a:t>기간</a:t>
            </a:r>
            <a:r>
              <a:rPr lang="en-US" sz="1400" dirty="0"/>
              <a:t> </a:t>
            </a:r>
            <a:r>
              <a:rPr lang="en-US" sz="1400" dirty="0" err="1"/>
              <a:t>경과되었다</a:t>
            </a:r>
            <a:r>
              <a:rPr lang="en-US" sz="1400" dirty="0"/>
              <a:t>. </a:t>
            </a:r>
            <a:r>
              <a:rPr lang="en-US" sz="1400" dirty="0" err="1"/>
              <a:t>당기</a:t>
            </a:r>
            <a:r>
              <a:rPr lang="en-US" sz="1400" dirty="0"/>
              <a:t> </a:t>
            </a:r>
            <a:r>
              <a:rPr lang="en-US" sz="1400" dirty="0" err="1"/>
              <a:t>보험료</a:t>
            </a:r>
            <a:r>
              <a:rPr lang="en-US" sz="1400" dirty="0"/>
              <a:t>(</a:t>
            </a:r>
            <a:r>
              <a:rPr lang="en-US" sz="1400" dirty="0" err="1"/>
              <a:t>비용</a:t>
            </a:r>
            <a:r>
              <a:rPr lang="en-US" sz="1400" dirty="0"/>
              <a:t>)는 </a:t>
            </a:r>
            <a:r>
              <a:rPr lang="en-US" sz="1400" dirty="0" err="1"/>
              <a:t>얼마인가</a:t>
            </a:r>
            <a:r>
              <a:rPr lang="en-US" sz="1400" dirty="0"/>
              <a:t>? </a:t>
            </a:r>
          </a:p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$2,700.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$1,900.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$1,500.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$1,200.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724144"/>
            <a:ext cx="11329416" cy="4572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7512" y="572414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 err="1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</a:t>
            </a: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선지급 임차료의 조정분개를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2 · Q3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Prepaid Rent Adjustment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600" dirty="0"/>
              <a:t>9월 1일, Petite-</a:t>
            </a:r>
            <a:r>
              <a:rPr lang="en-US" sz="1600" dirty="0" err="1"/>
              <a:t>Sizes는</a:t>
            </a:r>
            <a:r>
              <a:rPr lang="en-US" sz="1600" dirty="0"/>
              <a:t> 3개월분 </a:t>
            </a:r>
            <a:r>
              <a:rPr lang="en-US" sz="1600" dirty="0" err="1"/>
              <a:t>임차료</a:t>
            </a:r>
            <a:r>
              <a:rPr lang="en-US" sz="1600" dirty="0"/>
              <a:t> $12,000을 </a:t>
            </a:r>
            <a:r>
              <a:rPr lang="en-US" sz="1600" dirty="0" err="1"/>
              <a:t>선지급하고</a:t>
            </a:r>
            <a:r>
              <a:rPr lang="en-US" sz="1600" dirty="0"/>
              <a:t> </a:t>
            </a:r>
            <a:r>
              <a:rPr lang="en-US" sz="1600" dirty="0" err="1"/>
              <a:t>선급임차료</a:t>
            </a:r>
            <a:r>
              <a:rPr lang="en-US" sz="1600" dirty="0"/>
              <a:t> (Prepaid rent expenses) </a:t>
            </a:r>
            <a:r>
              <a:rPr lang="ko-KR" altLang="en-US" sz="1600" dirty="0"/>
              <a:t>를 기록하였습니다</a:t>
            </a:r>
            <a:r>
              <a:rPr lang="en-US" altLang="ko-KR" sz="1600" dirty="0"/>
              <a:t>. </a:t>
            </a:r>
          </a:p>
          <a:p>
            <a:pPr>
              <a:lnSpc>
                <a:spcPct val="105000"/>
              </a:lnSpc>
            </a:pPr>
            <a:endParaRPr lang="en-US" sz="1600" dirty="0"/>
          </a:p>
          <a:p>
            <a:pPr>
              <a:lnSpc>
                <a:spcPct val="105000"/>
              </a:lnSpc>
            </a:pPr>
            <a:r>
              <a:rPr lang="en-US" sz="1600" dirty="0"/>
              <a:t> 9월 30일 </a:t>
            </a:r>
            <a:r>
              <a:rPr lang="en-US" sz="1600" dirty="0" err="1"/>
              <a:t>재무제표를</a:t>
            </a:r>
            <a:r>
              <a:rPr lang="en-US" sz="1600" dirty="0"/>
              <a:t> </a:t>
            </a:r>
            <a:r>
              <a:rPr lang="en-US" sz="1600" dirty="0" err="1"/>
              <a:t>작성할</a:t>
            </a:r>
            <a:r>
              <a:rPr lang="en-US" sz="1600" dirty="0"/>
              <a:t> 때 </a:t>
            </a:r>
            <a:r>
              <a:rPr lang="en-US" sz="1600" dirty="0" err="1"/>
              <a:t>필요한</a:t>
            </a:r>
            <a:r>
              <a:rPr lang="en-US" sz="1600" dirty="0"/>
              <a:t> </a:t>
            </a:r>
            <a:r>
              <a:rPr lang="en-US" sz="1600" dirty="0" err="1"/>
              <a:t>수정분개는</a:t>
            </a:r>
            <a:r>
              <a:rPr lang="en-US" sz="1600" dirty="0"/>
              <a:t> </a:t>
            </a:r>
            <a:r>
              <a:rPr lang="en-US" sz="1600" dirty="0" err="1"/>
              <a:t>무엇인가</a:t>
            </a:r>
            <a:r>
              <a:rPr lang="en-US" sz="1600" dirty="0"/>
              <a:t>?</a:t>
            </a:r>
          </a:p>
          <a:p>
            <a:pPr>
              <a:lnSpc>
                <a:spcPct val="105000"/>
              </a:lnSpc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Dr Prepaid Rent 8,000 / Cr Rent Expense 8,000.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Dr Prepaid Rent 4,000 / Cr Rent Expense 4,000.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Dr Rent Expense 8,000 / Cr Prepaid Rent 8,000.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Dr Rent Expense 4,000 / Cr Prepaid Rent 4,000.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풀이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Adjusting Accounts for Financial Statements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4 — Reporting and Analyzing Cash Flows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4.7921"/>
  <p:tag name="SLIDO_PRESENTATION_ID" val="a92ea2d8-4326-4ecb-b943-0386910b7525"/>
  <p:tag name="SLIDO_EVENT_UUID" val="dba43ba3-1290-4942-9cdb-5e11444641b8"/>
  <p:tag name="SLIDO_EVENT_SECTION_UUID" val="8458c93a-975f-4ea0-8451-81e70bfe279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4403</Words>
  <Application>Microsoft Office PowerPoint</Application>
  <PresentationFormat>Widescreen</PresentationFormat>
  <Paragraphs>955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Avenir</vt:lpstr>
      <vt:lpstr>Helvetica Regular</vt:lpstr>
      <vt:lpstr>ＭＳ Ｐゴシック</vt:lpstr>
      <vt:lpstr>Arial</vt:lpstr>
      <vt:lpstr>Calibri</vt:lpstr>
      <vt:lpstr>Calibri Light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 — Adjusting Accounts for Financial Statements</dc:title>
  <dc:subject>Introduction to Financial Accounting · KAIST College of Business</dc:subject>
  <dc:creator>KAIST College of Business</dc:creator>
  <cp:lastModifiedBy/>
  <cp:revision>15</cp:revision>
  <dcterms:created xsi:type="dcterms:W3CDTF">2026-07-24T13:24:52Z</dcterms:created>
  <dcterms:modified xsi:type="dcterms:W3CDTF">2026-08-04T00:40:35Z</dcterms:modified>
</cp:coreProperties>
</file>