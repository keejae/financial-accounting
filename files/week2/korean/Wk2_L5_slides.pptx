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5" r:id="rId15"/>
    <p:sldId id="270" r:id="rId16"/>
    <p:sldId id="271" r:id="rId17"/>
    <p:sldId id="302" r:id="rId18"/>
    <p:sldId id="272" r:id="rId19"/>
    <p:sldId id="273" r:id="rId20"/>
    <p:sldId id="296" r:id="rId21"/>
    <p:sldId id="297" r:id="rId22"/>
    <p:sldId id="298" r:id="rId23"/>
    <p:sldId id="276" r:id="rId24"/>
    <p:sldId id="277" r:id="rId25"/>
    <p:sldId id="278" r:id="rId26"/>
    <p:sldId id="279" r:id="rId27"/>
    <p:sldId id="1493" r:id="rId28"/>
    <p:sldId id="1490" r:id="rId29"/>
    <p:sldId id="282" r:id="rId30"/>
    <p:sldId id="283" r:id="rId31"/>
    <p:sldId id="1505" r:id="rId32"/>
    <p:sldId id="1528" r:id="rId33"/>
    <p:sldId id="286" r:id="rId34"/>
    <p:sldId id="299" r:id="rId35"/>
    <p:sldId id="288" r:id="rId36"/>
    <p:sldId id="289" r:id="rId37"/>
    <p:sldId id="290" r:id="rId38"/>
    <p:sldId id="291" r:id="rId39"/>
    <p:sldId id="292" r:id="rId40"/>
    <p:sldId id="294" r:id="rId41"/>
  </p:sldIdLst>
  <p:sldSz cx="12192000" cy="6858000"/>
  <p:notesSz cx="6858000" cy="12192000"/>
  <p:custDataLst>
    <p:tags r:id="rId43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E9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4" autoAdjust="0"/>
  </p:normalViewPr>
  <p:slideViewPr>
    <p:cSldViewPr snapToGrid="0" snapToObjects="1">
      <p:cViewPr varScale="1">
        <p:scale>
          <a:sx n="86" d="100"/>
          <a:sy n="86" d="100"/>
        </p:scale>
        <p:origin x="12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986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3: 회계기간·발생주의 개념에서 시작해, 왜 조정이 필요한지, 그리고 이연비용·발생비용 조정분개를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1은 현금주의와 발생주의를 대조하고, Part 2는 조정분개의 필요성과 네 가지 유형(특히 비용 측면)을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 활동은 연속적이지만 재무제표는 특정 기간 말에 작성됩니다 — 여기서 보고 이슈가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reporting cycle is a fixed interval between two balance sheets; the operating cycle never stops. Their mismatch drives the need for adjustments.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Periodicity assumption: a firm's continuous life can be divided into artificial periods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Revenue-generating activity is continuous, but statements are cut at period-end; in reality they do not align, so adjustments are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예제를 통해 발생주의에서 revenue와 expense를 언제 인식하는지 살펴봅니다.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발생주의: 판매(12/20)에 revenue $180, 대응 원가 $100을 비용으로 인식 → 2027 net income $80. 현금 회수(1/15/28) 시점과 무관.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collects $300,000 up front in 2025 for a 3-year subscription; annual production cost $60,000; a $100,000 loan at 10% with interest paid at maturity.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total income over 2025-2027 and annual income per year; the best approach is the accrual basis, matching revenue and expense to the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records only cash in/out; accrual (GAAP) recognizes revenue when earned and expense when the related benefit is consumed.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cash-basis summary. Under cash basis all $300,000 is recognized in 2025 when collected; later years show only costs (net income 240,000 / (60,000) / (90,000)), distorting performance. Professor copy shows the worked figures; student copy is blank to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accrual-basis summary. Revenue is spread across the years the magazines are delivered, giving a steady annual income of about $30,000. Professor copy shows the worked figures; student copy is blank to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comparison: cash basis tracks the bank account and swings wildly; accrual basis tracks the business model and reflects true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delays recognition and mismatches costs; accrual basis matches expense to revenue and reflects real operating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revenue is recorded when services are performed (c). Q2: accrual recognizes revenue in 20x3 when earned (c).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A063-BB3B-7CE1-FF51-B948EFE4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20788-3E75-8A75-6047-D46392A635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D1FBF-69A0-9E2A-C235-8702EA89F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 31 accrues wages: Dr Wages Expense / Cr Wages Payable 220,000. Jan 15 pays it: Dr Wages Payable / Cr Cash 220,000; plus the regular Jan payroll Dr Wages Expense / Cr Cash 300,000.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64744-7D4C-6129-4B19-7BDD3FA7B4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175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 31 accrues wages: Dr Wages Expense / Cr Wages Payable 220,000. Jan 15 pays it: Dr Wages Payable / Cr Cash 220,000; plus the regular Jan payroll Dr Wages Expense / Cr Cash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조정분개는 회계기간 말에 사실(경제적 실질)과 재무제표를 일치시키기 위해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Adjusting entries bridge the time gap created by periodicity, aligning the economic facts with the reported financials.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expense is the consumption of value, independent of when cash leaves the bank; tracking only cash gives a misleading picture of profitability.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33C47-694C-FA3F-72F2-853E0C19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B2ACD-C59E-1A8C-C7C1-C4017160A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BF752-47F8-27DA-6A2D-F48977F6B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types by direction of time: deferred (cash before activity) vs accrued (cash after), each on the expense and revenue side. This chapter focuses on the expense side.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7D04D-533B-77EC-1922-A595E5B95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942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types by direction of time: deferred (cash before activity) vs accrued (cash after), each on the expense and revenue side. This chapter focuses on the expense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기간에 걸쳐 효익을 주는 선지급액은 먼저 자산으로 기록하고, 소멸분을 비용으로 대체합니다.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prepayment buys future benefit; it is recorded as an asset (deferred expense) and moved to expense as it is consumed each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Feb 28: $800 paid is capitalized as a deferred (asset). Each month $200 (=$800/4) is moved to Advertising Expense as the ads run — the expense follows consumption, not payment.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pPr lvl="0"/>
            <a:r>
              <a:rPr lang="en-GB" dirty="0"/>
              <a:t>They will typically think it is an expense: because we spent money or because advertising is an expense.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Help them work through the logic – refer them to the dates.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gave the supplier $800. What did they give us in return?</a:t>
            </a:r>
          </a:p>
          <a:p>
            <a:pPr lvl="0"/>
            <a:endParaRPr lang="en-GB" dirty="0"/>
          </a:p>
          <a:p>
            <a:r>
              <a:rPr lang="en-GB" dirty="0"/>
              <a:t>The business has bought the right to receive advertising.</a:t>
            </a:r>
          </a:p>
          <a:p>
            <a:endParaRPr lang="en-GB" dirty="0"/>
          </a:p>
          <a:p>
            <a:r>
              <a:rPr lang="en-GB" dirty="0"/>
              <a:t>Only if a participant raises the issue: acknowledge that simplified bookkeeping practice can expense the payment immediately, and then – as a closing entry for the period/year - capitalise the portion that is not yet consumed. </a:t>
            </a:r>
          </a:p>
          <a:p>
            <a:endParaRPr lang="en-GB" dirty="0"/>
          </a:p>
          <a:p>
            <a:r>
              <a:rPr lang="en-GB" dirty="0"/>
              <a:t>Same result at the end of the period but the monthly P&amp;Ls will not reflect the underlying business activities.</a:t>
            </a: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27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4329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r>
              <a:rPr lang="en-GB"/>
              <a:t>One quarter of the advertising is consumed, according to the dates and using a straight-line matching/pro rata concept for recognising the expense.</a:t>
            </a:r>
          </a:p>
          <a:p>
            <a:endParaRPr lang="en-GB" altLang="en-US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28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0490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Depreciation systematically allocates a tangible asset's cost over its useful life, using the contra-asset Accumulated Depreciation.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Equipment $6,000 with $0 residual over 60 months → $100/month. Monthly: Dr Depreciation Expense / Cr Accumulated Depreciation (contra-asset), reducing net book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pPr lvl="0"/>
            <a:r>
              <a:rPr lang="en-GB"/>
              <a:t>In debrief, work through logic carefully. </a:t>
            </a:r>
          </a:p>
          <a:p>
            <a:pPr lvl="0"/>
            <a:endParaRPr lang="en-GB"/>
          </a:p>
          <a:p>
            <a:pPr lvl="0"/>
            <a:r>
              <a:rPr lang="en-GB"/>
              <a:t>New asset and new obligation.</a:t>
            </a:r>
          </a:p>
          <a:p>
            <a:pPr lvl="0"/>
            <a:endParaRPr lang="en-GB"/>
          </a:p>
          <a:p>
            <a:pPr lvl="0"/>
            <a:r>
              <a:rPr lang="en-GB"/>
              <a:t>In accounting, we record things as they occur, not necessarily when cash is received or paid.</a:t>
            </a:r>
          </a:p>
          <a:p>
            <a:pPr lvl="0"/>
            <a:endParaRPr lang="en-GB"/>
          </a:p>
          <a:p>
            <a:pPr lvl="0"/>
            <a:r>
              <a:rPr lang="en-GB"/>
              <a:t>Today we owe – tomorrow we’ll pay – we record the payment only when it happens.</a:t>
            </a:r>
            <a:br>
              <a:rPr lang="en-GB"/>
            </a:br>
            <a:endParaRPr lang="en-GB"/>
          </a:p>
          <a:p>
            <a:endParaRPr lang="en-GB" altLang="en-US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31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2718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pPr lvl="0"/>
            <a:r>
              <a:rPr lang="en-GB" dirty="0"/>
              <a:t>Monthly depreciation amount is $100 being </a:t>
            </a:r>
          </a:p>
          <a:p>
            <a:pPr lvl="0"/>
            <a:r>
              <a:rPr lang="en-GB" dirty="0"/>
              <a:t>$6,000 divided by 60 months.</a:t>
            </a:r>
          </a:p>
          <a:p>
            <a:pPr lvl="0"/>
            <a:endParaRPr lang="en-GB" dirty="0"/>
          </a:p>
          <a:p>
            <a:r>
              <a:rPr lang="en-GB" altLang="en-US" dirty="0">
                <a:ea typeface="ＭＳ Ｐゴシック" charset="-128"/>
              </a:rPr>
              <a:t>Depreciation causes a lot of confusion, in part, because it is doing two things at once, and students need to know which part of the transaction they are looking at.</a:t>
            </a:r>
          </a:p>
          <a:p>
            <a:endParaRPr lang="en-GB" altLang="en-US" dirty="0">
              <a:ea typeface="ＭＳ Ｐゴシック" charset="-128"/>
            </a:endParaRPr>
          </a:p>
          <a:p>
            <a:r>
              <a:rPr lang="en-GB" altLang="en-US" dirty="0">
                <a:ea typeface="ＭＳ Ｐゴシック" charset="-128"/>
              </a:rPr>
              <a:t>Accounting duality means that depreciation does two things:</a:t>
            </a:r>
          </a:p>
          <a:p>
            <a:endParaRPr lang="en-GB" altLang="en-US" dirty="0">
              <a:ea typeface="ＭＳ Ｐゴシック" charset="-128"/>
            </a:endParaRP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– 	it Books, Inc. the reduction of an asset’s value as it is used up and this “loss of value” </a:t>
            </a:r>
            <a:r>
              <a:rPr lang="en-GB" altLang="en-US" i="1" u="sng" dirty="0">
                <a:ea typeface="ＭＳ Ｐゴシック" charset="-128"/>
              </a:rPr>
              <a:t>accumulates</a:t>
            </a:r>
            <a:r>
              <a:rPr lang="en-GB" altLang="en-US" dirty="0">
                <a:ea typeface="ＭＳ Ｐゴシック" charset="-128"/>
              </a:rPr>
              <a:t> (builds up) in the balance sheet.</a:t>
            </a: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					</a:t>
            </a:r>
            <a:r>
              <a:rPr lang="en-GB" altLang="en-US" i="1" dirty="0">
                <a:ea typeface="ＭＳ Ｐゴシック" charset="-128"/>
              </a:rPr>
              <a:t>This is the </a:t>
            </a:r>
            <a:r>
              <a:rPr lang="en-GB" altLang="en-US" i="1" dirty="0">
                <a:solidFill>
                  <a:schemeClr val="accent2"/>
                </a:solidFill>
                <a:ea typeface="ＭＳ Ｐゴシック" charset="-128"/>
              </a:rPr>
              <a:t>“credit” </a:t>
            </a:r>
          </a:p>
          <a:p>
            <a:endParaRPr lang="en-GB" altLang="en-US" dirty="0">
              <a:ea typeface="ＭＳ Ｐゴシック" charset="-128"/>
            </a:endParaRP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–	it Books, Inc. the sacrifice of value as an expense: the depreciation charge.</a:t>
            </a:r>
          </a:p>
          <a:p>
            <a:pPr marL="187952" indent="-187952"/>
            <a:r>
              <a:rPr lang="en-GB" altLang="en-US" i="1" dirty="0">
                <a:ea typeface="ＭＳ Ｐゴシック" charset="-128"/>
              </a:rPr>
              <a:t>					This is the </a:t>
            </a:r>
            <a:r>
              <a:rPr lang="en-GB" altLang="en-US" i="1" dirty="0">
                <a:solidFill>
                  <a:schemeClr val="accent6"/>
                </a:solidFill>
                <a:ea typeface="ＭＳ Ｐゴシック" charset="-128"/>
              </a:rPr>
              <a:t>“debit”</a:t>
            </a:r>
            <a:endParaRPr lang="en-GB" altLang="en-US" dirty="0">
              <a:solidFill>
                <a:schemeClr val="accent6"/>
              </a:solidFill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1940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가치가 이미 소비되었지만 아직 지급하지 않았다면, 비용을 인식하고 부채(accrued liability)를 기록합니다.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before an invoice or payment, consumed value must be expensed; the unpaid amount is recorded as an accrued liability, settled when paid. Value Consumed (Expense) → Payment Pending (Liability).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recognizes the March energy cost as an expense in March (when used) even though cash is paid in April; it records the expense and an accrued liability on the balance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 1: Dr Cash / Cr Notes Payable 100,000. Dec 31 accrues 6 months of interest: Dr Interest Expense / Cr Interest Payable 3,000 (=100,000 × 6% × 6/12).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loan brings in $100,000 (Cash / Notes Payable); by year-end $3,000 of interest is accrued as expense and payable, even though it is paid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cash received before service is a liability (a). Q2: the $1,500 expired portion is the insurance expense (c); prepaid remaining is $1,200.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$12,000 / 3 = $4,000 per month; one month expired by 9/30, so Dr Rent Expense / Cr Prepaid Rent 4,000 — answer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4003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6262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재무제표를 위한 계정 조정  ·  발생주의 회계와 조정분개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9768" y="1627632"/>
            <a:ext cx="82296" cy="5486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1709928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99032" y="16276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Cycle ≠ Reporting Cycle  ·  보고 이슈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0" y="16276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22656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9768" y="2226564"/>
            <a:ext cx="82296" cy="5486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230886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2·3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99032" y="22265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 &amp; 2  ·  Revenue·Expense 인식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784080" y="22265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9768" y="2825496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9768" y="2825496"/>
            <a:ext cx="82296" cy="5486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" y="2907792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99032" y="28254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vs. Accrual Basis  ·  현금주의 vs 발생주의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8408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424428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29768" y="3424428"/>
            <a:ext cx="82296" cy="54864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2960" y="3506724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2960" y="3506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99032" y="34244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Adjustments are Needed  ·  조정의 필요성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784080" y="34244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4023360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29768" y="4023360"/>
            <a:ext cx="82296" cy="5486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2960" y="4105656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296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99032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of Adjustments  ·  조정의 네 가지 유형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78408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9768" y="462229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29768" y="4622292"/>
            <a:ext cx="82296" cy="5486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22960" y="4704588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" y="47045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399032" y="46222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Expenses = Assets  ·  이연비용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784080" y="46222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522122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29768" y="5221224"/>
            <a:ext cx="82296" cy="5486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2296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399032" y="52212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Expenses = Liabilities  ·  발생비용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784080" y="5221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29768" y="5875020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67512" y="5875020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회계기간이 문제인가 → 현금주의 vs 발생주의 → 조정분개(이연·발생비용).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Cycle ≠ Reporting Cycle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순환과 보고 주기가 어긋날 때 생기는 이슈</a:t>
            </a:r>
            <a:endParaRPr lang="en-US" sz="16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Accounting Period &amp; Business Cycles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재무보고는 연속적인 영업 활동을 인위적인 기간으로 잘라 측정합니다.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Accounting Period (Reporting Cycle)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 성과를 측정·기록·보고하는 시간 간격.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개의 balance sheet 사이의 기간.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달, 분기, 또는 1년이 될 수 있음.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Operating Cycle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 매입/생산 → 판매 → 현금 회수까지의 평균 시간.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순환은 연속적이며 실제로 결코 '멈추지' 않음.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주기는 정해진 기간, 영업 순환은 멈추지 않는 흐름 — 이 둘의 불일치가 핵심입니다.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Periodicity Assumption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GAAP은 기업의 경제적 생애를 인위적인 기간(월·분기·연)으로 나눌 수 있다고 가정합니다.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68880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이해관계자(stakeholders)가 성과를 평가할 수 있게 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가능하고 비교 가능한 구간에 걸쳐 측정.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468880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into a Period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연속적인 활동을 더 짧고 일관된 구간으로 '잘라' 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성과를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정기적으로 보고할 수 있게 함.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493776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periodicity 가정이 있어야 비로소 정기적인 재무제표 작성이 가능합니다.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Issue?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창출 활동은 연속적으로 발생하지만, 재무제표는 특정 기간의 말에 작성되어야 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68880"/>
            <a:ext cx="82296" cy="201168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영업주기와 보고기간이 일치할 경우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회계기록이  간단함 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reporting issues).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활동과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기간이 딱 맞으면 문제가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현실에서는 거의 불가능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468880"/>
            <a:ext cx="82296" cy="2011680"/>
          </a:xfrm>
          <a:prstGeom prst="rect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영업주기와 보고기간인 </a:t>
            </a:r>
            <a:r>
              <a:rPr 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불일치할 경우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ko-KR" alt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회계의 새로운 규칙이 필요함</a:t>
            </a:r>
            <a:r>
              <a:rPr lang="en-US" altLang="ko-KR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reporting issues arise).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B3261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ko-KR" alt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현실의 대부분의 경우 </a:t>
            </a:r>
            <a:r>
              <a:rPr lang="en-US" altLang="ko-KR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reality we face).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현실에서는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활동과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회계기간이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어긋납니다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(not aligned)— 그래서 조정(adjustments)이 필요합니다.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When to Recognize Revenues &amp; Expenses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하에서 수익과 비용을 언제 인식하는가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When to Recognize Revenue &amp; Expenses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429768" y="1517904"/>
            <a:ext cx="539496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630936" y="151790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Timeline (FY ends 12/31)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9224" y="2121408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12/1/27 — 상품 $100 현금 매입.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12/20/27 — 상품 $180 외상 판매.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1/15/28 — 고객으로부터 $170 현금 회수.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" y="4041648"/>
            <a:ext cx="5394960" cy="18288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12648" y="404164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2027년 </a:t>
            </a:r>
            <a:r>
              <a:rPr lang="ko-KR" alt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매출과 비용의 </a:t>
            </a: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인식액은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
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315DF86-BF8B-4453-EBC9-21DD82418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274" y="1257612"/>
            <a:ext cx="4754322" cy="2976058"/>
          </a:xfrm>
          <a:prstGeom prst="rect">
            <a:avLst/>
          </a:prstGeom>
          <a:solidFill>
            <a:srgbClr val="E9F5EE"/>
          </a:solidFill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262B6C8-97EF-9A90-1FFE-894C8ECA7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70" y="4279321"/>
            <a:ext cx="4044284" cy="1687652"/>
          </a:xfrm>
          <a:prstGeom prst="rect">
            <a:avLst/>
          </a:prstGeom>
          <a:solidFill>
            <a:srgbClr val="E9F5EE"/>
          </a:solidFill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D95D25-2176-162C-0FB4-A44BE4842C19}"/>
              </a:ext>
            </a:extLst>
          </p:cNvPr>
          <p:cNvSpPr txBox="1"/>
          <p:nvPr/>
        </p:nvSpPr>
        <p:spPr>
          <a:xfrm>
            <a:off x="9565047" y="4673994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$180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817006-3834-5C39-FAEA-77274E0A0DBC}"/>
              </a:ext>
            </a:extLst>
          </p:cNvPr>
          <p:cNvSpPr txBox="1"/>
          <p:nvPr/>
        </p:nvSpPr>
        <p:spPr>
          <a:xfrm>
            <a:off x="9596871" y="4936922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F30549-93B8-FFD5-E1D1-84E27CF1E7E9}"/>
              </a:ext>
            </a:extLst>
          </p:cNvPr>
          <p:cNvSpPr txBox="1"/>
          <p:nvPr/>
        </p:nvSpPr>
        <p:spPr>
          <a:xfrm>
            <a:off x="9608599" y="5270186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  80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D99FBD-1DF1-E3B9-2D92-375ACA9CA465}"/>
              </a:ext>
            </a:extLst>
          </p:cNvPr>
          <p:cNvSpPr txBox="1"/>
          <p:nvPr/>
        </p:nvSpPr>
        <p:spPr>
          <a:xfrm>
            <a:off x="9620327" y="5583354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$120</a:t>
            </a:r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4759C2EE-6EA1-9DD8-1DD6-3E1784DC2A75}"/>
              </a:ext>
            </a:extLst>
          </p:cNvPr>
          <p:cNvSpPr/>
          <p:nvPr/>
        </p:nvSpPr>
        <p:spPr>
          <a:xfrm>
            <a:off x="429768" y="5969845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2FFA19F1-B6A2-742F-B17D-D7A35F5450C9}"/>
              </a:ext>
            </a:extLst>
          </p:cNvPr>
          <p:cNvSpPr/>
          <p:nvPr/>
        </p:nvSpPr>
        <p:spPr>
          <a:xfrm>
            <a:off x="667512" y="5969845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 err="1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영업주기는 보고기간 경계를 넘나들기 때문에 기간귀속 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문제가  발생한다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20" grpId="0"/>
      <p:bldP spid="21" grpId="0"/>
      <p:bldP spid="22" grpId="0"/>
      <p:bldP spid="23" grpId="0"/>
      <p:bldP spid="25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Summit Publishing Company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Publishing — 잡지 출판·유통 기업, 분기별 출판 일정으로 운영.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Details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발행주기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4 issues / year.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분기발행별 가격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$25.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구독자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1,000.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구독기간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years.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현금총액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(2025):  $25 × 4 × 1,000 × 3 = $300,000.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16002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제작·배송비: $60,000 / year.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72784" y="41148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272784" y="4114800"/>
            <a:ext cx="82296" cy="17373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272784" y="41148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473952" y="41148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Costs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3년 만기 대출 @ 연 10% ($10,000/year).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원금·이자는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대출 만기 시 상환.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9768" y="5980176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85800" y="5980176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 현금은 2025년에 모두 회수 — 하지만 성과는 3년에 걸쳐 발생합니다.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Required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11329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82296" cy="13716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9768" y="1517904"/>
            <a:ext cx="11329416" cy="384048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517904"/>
            <a:ext cx="11018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" y="2084832"/>
            <a:ext cx="109087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3년 기간(2025-2027) 동안 회사의 total income을 계산.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각 연도(2025, 2026, 2027)의 annual income을 계산.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Income = Revenue − Expenses.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6616" y="2990088"/>
            <a:ext cx="11475720" cy="3248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assets/s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3063240"/>
            <a:ext cx="11329416" cy="3102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Ways to Keep Score — Cash vs. Accrual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거래라도 인식 기준에 따라 재무 성과가 달라집니다.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Basis  (Not GAAP)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Deferral (</a:t>
            </a:r>
            <a:r>
              <a:rPr lang="ko-KR" alt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기록하지 않음.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받을 때만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지급할 때만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현금 유입·유출(유동성).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Basis  (GAAP)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경제적 활동에 기반한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판매·용역 제공 시 인식 (현금 회수 아님).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관련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revenue와 같은 기간, 또는 효익 소멸 시.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거래의 경제적 실질.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5998464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599846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'언제 돈이 오갔나', Accrual은 '언제 가치가 만들어졌나'를 묻습니다.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6813F5-C9F9-FE8D-758C-FE5832CD9E64}"/>
              </a:ext>
            </a:extLst>
          </p:cNvPr>
          <p:cNvSpPr/>
          <p:nvPr/>
        </p:nvSpPr>
        <p:spPr>
          <a:xfrm>
            <a:off x="5024674" y="291521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271A3F-BD69-26A6-218A-19D07FC1E10C}"/>
              </a:ext>
            </a:extLst>
          </p:cNvPr>
          <p:cNvSpPr/>
          <p:nvPr/>
        </p:nvSpPr>
        <p:spPr>
          <a:xfrm>
            <a:off x="5032220" y="3511232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811445-AB30-2616-6678-7915477BC886}"/>
              </a:ext>
            </a:extLst>
          </p:cNvPr>
          <p:cNvSpPr/>
          <p:nvPr/>
        </p:nvSpPr>
        <p:spPr>
          <a:xfrm>
            <a:off x="5048825" y="411629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9A055-EE0F-DF6F-0DC0-CC5396EA4B29}"/>
              </a:ext>
            </a:extLst>
          </p:cNvPr>
          <p:cNvSpPr/>
          <p:nvPr/>
        </p:nvSpPr>
        <p:spPr>
          <a:xfrm>
            <a:off x="5074483" y="472136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8C9BD7-FECB-03C3-F46D-7371186F278C}"/>
              </a:ext>
            </a:extLst>
          </p:cNvPr>
          <p:cNvSpPr/>
          <p:nvPr/>
        </p:nvSpPr>
        <p:spPr>
          <a:xfrm>
            <a:off x="6598462" y="292276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0DA677-34ED-B397-AAB2-DA6E92043A15}"/>
              </a:ext>
            </a:extLst>
          </p:cNvPr>
          <p:cNvSpPr/>
          <p:nvPr/>
        </p:nvSpPr>
        <p:spPr>
          <a:xfrm>
            <a:off x="6606008" y="3518781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0BCC00-3284-729B-1CB4-D7A91529E1FC}"/>
              </a:ext>
            </a:extLst>
          </p:cNvPr>
          <p:cNvSpPr/>
          <p:nvPr/>
        </p:nvSpPr>
        <p:spPr>
          <a:xfrm>
            <a:off x="6622613" y="412384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6A9C7C-BFF7-F308-D68B-BCD17B472711}"/>
              </a:ext>
            </a:extLst>
          </p:cNvPr>
          <p:cNvSpPr/>
          <p:nvPr/>
        </p:nvSpPr>
        <p:spPr>
          <a:xfrm>
            <a:off x="6648271" y="472891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07AD4-2CB4-3F8B-816C-B74474FC9303}"/>
              </a:ext>
            </a:extLst>
          </p:cNvPr>
          <p:cNvSpPr/>
          <p:nvPr/>
        </p:nvSpPr>
        <p:spPr>
          <a:xfrm>
            <a:off x="8380475" y="293031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0CEF63-D31D-F85B-9446-183C2202D7C1}"/>
              </a:ext>
            </a:extLst>
          </p:cNvPr>
          <p:cNvSpPr/>
          <p:nvPr/>
        </p:nvSpPr>
        <p:spPr>
          <a:xfrm>
            <a:off x="8388021" y="3526330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6C4C0E-D70C-FA8A-A05D-53258B794335}"/>
              </a:ext>
            </a:extLst>
          </p:cNvPr>
          <p:cNvSpPr/>
          <p:nvPr/>
        </p:nvSpPr>
        <p:spPr>
          <a:xfrm>
            <a:off x="8404626" y="413139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F7D89-56B4-0FF8-A817-87FB3E533FEC}"/>
              </a:ext>
            </a:extLst>
          </p:cNvPr>
          <p:cNvSpPr/>
          <p:nvPr/>
        </p:nvSpPr>
        <p:spPr>
          <a:xfrm>
            <a:off x="8430284" y="473646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F1870D-7835-BFCD-F3E0-B912A8A6EB56}"/>
              </a:ext>
            </a:extLst>
          </p:cNvPr>
          <p:cNvSpPr/>
          <p:nvPr/>
        </p:nvSpPr>
        <p:spPr>
          <a:xfrm>
            <a:off x="9899948" y="293786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7B92D1-6882-DC4F-53D3-526F8536378A}"/>
              </a:ext>
            </a:extLst>
          </p:cNvPr>
          <p:cNvSpPr/>
          <p:nvPr/>
        </p:nvSpPr>
        <p:spPr>
          <a:xfrm>
            <a:off x="9907494" y="353387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FDA161-5333-A6BD-3C1F-45E16E153563}"/>
              </a:ext>
            </a:extLst>
          </p:cNvPr>
          <p:cNvSpPr/>
          <p:nvPr/>
        </p:nvSpPr>
        <p:spPr>
          <a:xfrm>
            <a:off x="9924099" y="413894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951E74-3916-DAD3-920A-0A2ECBE9C3A7}"/>
              </a:ext>
            </a:extLst>
          </p:cNvPr>
          <p:cNvSpPr/>
          <p:nvPr/>
        </p:nvSpPr>
        <p:spPr>
          <a:xfrm>
            <a:off x="9949757" y="474401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8DB346-78F3-5ACE-778D-798FDA74D33A}"/>
              </a:ext>
            </a:extLst>
          </p:cNvPr>
          <p:cNvSpPr/>
          <p:nvPr/>
        </p:nvSpPr>
        <p:spPr>
          <a:xfrm>
            <a:off x="4986574" y="362006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3E5653-75B2-2731-A8B5-ABA15D3C09C2}"/>
              </a:ext>
            </a:extLst>
          </p:cNvPr>
          <p:cNvSpPr/>
          <p:nvPr/>
        </p:nvSpPr>
        <p:spPr>
          <a:xfrm>
            <a:off x="5003645" y="445420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8C948E-AAAE-2B63-9686-B5F6BEEBE8F0}"/>
              </a:ext>
            </a:extLst>
          </p:cNvPr>
          <p:cNvSpPr/>
          <p:nvPr/>
        </p:nvSpPr>
        <p:spPr>
          <a:xfrm>
            <a:off x="5010725" y="482114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7A52F-C945-829B-AC98-109BD07018D9}"/>
              </a:ext>
            </a:extLst>
          </p:cNvPr>
          <p:cNvSpPr/>
          <p:nvPr/>
        </p:nvSpPr>
        <p:spPr>
          <a:xfrm>
            <a:off x="4950658" y="5359541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DB2082-98C2-4ADC-7F76-B5FC759B4232}"/>
              </a:ext>
            </a:extLst>
          </p:cNvPr>
          <p:cNvSpPr/>
          <p:nvPr/>
        </p:nvSpPr>
        <p:spPr>
          <a:xfrm>
            <a:off x="6560362" y="362761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AD60CF-3584-67D4-AA15-9D45F61753B3}"/>
              </a:ext>
            </a:extLst>
          </p:cNvPr>
          <p:cNvSpPr/>
          <p:nvPr/>
        </p:nvSpPr>
        <p:spPr>
          <a:xfrm>
            <a:off x="6577433" y="446175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112A7E-21E0-D57D-63B4-2B9E722BD42D}"/>
              </a:ext>
            </a:extLst>
          </p:cNvPr>
          <p:cNvSpPr/>
          <p:nvPr/>
        </p:nvSpPr>
        <p:spPr>
          <a:xfrm>
            <a:off x="6584513" y="482869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C9F9E-302F-DF8D-6FBE-0C427DA26FFB}"/>
              </a:ext>
            </a:extLst>
          </p:cNvPr>
          <p:cNvSpPr/>
          <p:nvPr/>
        </p:nvSpPr>
        <p:spPr>
          <a:xfrm>
            <a:off x="6524446" y="5367090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97183D-24C8-C69E-3ACC-3463ED372945}"/>
              </a:ext>
            </a:extLst>
          </p:cNvPr>
          <p:cNvSpPr/>
          <p:nvPr/>
        </p:nvSpPr>
        <p:spPr>
          <a:xfrm>
            <a:off x="8342375" y="363516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42A9B8-D815-840F-5B85-0E2F41FD49BB}"/>
              </a:ext>
            </a:extLst>
          </p:cNvPr>
          <p:cNvSpPr/>
          <p:nvPr/>
        </p:nvSpPr>
        <p:spPr>
          <a:xfrm>
            <a:off x="8359446" y="446930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1621DD-67AE-AAF5-1C03-ADDF92551CED}"/>
              </a:ext>
            </a:extLst>
          </p:cNvPr>
          <p:cNvSpPr/>
          <p:nvPr/>
        </p:nvSpPr>
        <p:spPr>
          <a:xfrm>
            <a:off x="8366526" y="483624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F8CC70-F405-3BA0-760B-71A56A8DCB47}"/>
              </a:ext>
            </a:extLst>
          </p:cNvPr>
          <p:cNvSpPr/>
          <p:nvPr/>
        </p:nvSpPr>
        <p:spPr>
          <a:xfrm>
            <a:off x="8325509" y="537463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EBEAD1-69D0-48A6-5F9C-FAA8FA663D8D}"/>
              </a:ext>
            </a:extLst>
          </p:cNvPr>
          <p:cNvSpPr/>
          <p:nvPr/>
        </p:nvSpPr>
        <p:spPr>
          <a:xfrm>
            <a:off x="9804698" y="362366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8D685C-8336-D128-22C2-AD2805726C2D}"/>
              </a:ext>
            </a:extLst>
          </p:cNvPr>
          <p:cNvSpPr/>
          <p:nvPr/>
        </p:nvSpPr>
        <p:spPr>
          <a:xfrm>
            <a:off x="9821769" y="445780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CC29AF-CB63-8CFD-A5C1-E793078C7186}"/>
              </a:ext>
            </a:extLst>
          </p:cNvPr>
          <p:cNvSpPr/>
          <p:nvPr/>
        </p:nvSpPr>
        <p:spPr>
          <a:xfrm>
            <a:off x="9828849" y="482474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1D026-541B-C4DA-853B-49558D594EE2}"/>
              </a:ext>
            </a:extLst>
          </p:cNvPr>
          <p:cNvSpPr/>
          <p:nvPr/>
        </p:nvSpPr>
        <p:spPr>
          <a:xfrm>
            <a:off x="9825932" y="536313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Distorts, Accrual Reveals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은행 계좌를 추적하고, Accrual은 비즈니스 모델을 추적합니다.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552CE3-8607-400F-BBB3-C6B62A435883}"/>
              </a:ext>
            </a:extLst>
          </p:cNvPr>
          <p:cNvGrpSpPr/>
          <p:nvPr/>
        </p:nvGrpSpPr>
        <p:grpSpPr>
          <a:xfrm>
            <a:off x="553096" y="2045163"/>
            <a:ext cx="11175119" cy="4041718"/>
            <a:chOff x="580255" y="1845991"/>
            <a:chExt cx="11175119" cy="404171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71A7F55-627B-8638-3291-525FE7FF3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255" y="1845991"/>
              <a:ext cx="10152515" cy="4041718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F1239A9-17FB-E10A-5876-7129FD5A58E2}"/>
                </a:ext>
              </a:extLst>
            </p:cNvPr>
            <p:cNvGrpSpPr/>
            <p:nvPr/>
          </p:nvGrpSpPr>
          <p:grpSpPr>
            <a:xfrm>
              <a:off x="2571751" y="2982806"/>
              <a:ext cx="2285998" cy="1474897"/>
              <a:chOff x="4061708" y="3759581"/>
              <a:chExt cx="3018621" cy="1833602"/>
            </a:xfrm>
          </p:grpSpPr>
          <p:pic>
            <p:nvPicPr>
              <p:cNvPr id="21" name="object 3">
                <a:extLst>
                  <a:ext uri="{FF2B5EF4-FFF2-40B4-BE49-F238E27FC236}">
                    <a16:creationId xmlns:a16="http://schemas.microsoft.com/office/drawing/2014/main" id="{76346E29-1240-5C4A-5A62-6110D739B23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061708" y="4364940"/>
                <a:ext cx="1072638" cy="1228243"/>
              </a:xfrm>
              <a:prstGeom prst="rect">
                <a:avLst/>
              </a:prstGeom>
            </p:spPr>
          </p:pic>
          <p:sp>
            <p:nvSpPr>
              <p:cNvPr id="22" name="object 12">
                <a:extLst>
                  <a:ext uri="{FF2B5EF4-FFF2-40B4-BE49-F238E27FC236}">
                    <a16:creationId xmlns:a16="http://schemas.microsoft.com/office/drawing/2014/main" id="{DB0B1121-BB54-FE59-C39C-84B31F91F07A}"/>
                  </a:ext>
                </a:extLst>
              </p:cNvPr>
              <p:cNvSpPr txBox="1"/>
              <p:nvPr/>
            </p:nvSpPr>
            <p:spPr>
              <a:xfrm>
                <a:off x="5127070" y="3759581"/>
                <a:ext cx="1953259" cy="777217"/>
              </a:xfrm>
              <a:prstGeom prst="rect">
                <a:avLst/>
              </a:prstGeom>
            </p:spPr>
            <p:txBody>
              <a:bodyPr vert="horz" wrap="square" lIns="0" tIns="9525" rIns="0" bIns="0" rtlCol="0">
                <a:spAutoFit/>
              </a:bodyPr>
              <a:lstStyle/>
              <a:p>
                <a:pPr marL="12700" marR="5080" indent="1270">
                  <a:spcBef>
                    <a:spcPts val="75"/>
                  </a:spcBef>
                </a:pPr>
                <a:r>
                  <a:rPr lang="ko-KR" sz="2000" spc="90" dirty="0">
                    <a:solidFill>
                      <a:srgbClr val="0C2134"/>
                    </a:solidFill>
                    <a:latin typeface="Arial"/>
                    <a:ea typeface="맑은 고딕"/>
                    <a:cs typeface="Arial"/>
                  </a:rPr>
                  <a:t>위험하고 변동성이 커 보임.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125B91D-D5C7-A561-3B30-BAEB5CEFDEB1}"/>
                </a:ext>
              </a:extLst>
            </p:cNvPr>
            <p:cNvGrpSpPr/>
            <p:nvPr/>
          </p:nvGrpSpPr>
          <p:grpSpPr>
            <a:xfrm>
              <a:off x="8575116" y="2722945"/>
              <a:ext cx="2832024" cy="1250342"/>
              <a:chOff x="13187625" y="3574851"/>
              <a:chExt cx="3054520" cy="1250342"/>
            </a:xfrm>
          </p:grpSpPr>
          <p:pic>
            <p:nvPicPr>
              <p:cNvPr id="19" name="object 6">
                <a:extLst>
                  <a:ext uri="{FF2B5EF4-FFF2-40B4-BE49-F238E27FC236}">
                    <a16:creationId xmlns:a16="http://schemas.microsoft.com/office/drawing/2014/main" id="{1DDD397D-E604-3CB2-59C8-52381BCD770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187625" y="4264831"/>
                <a:ext cx="728904" cy="560362"/>
              </a:xfrm>
              <a:prstGeom prst="rect">
                <a:avLst/>
              </a:prstGeom>
            </p:spPr>
          </p:pic>
          <p:sp>
            <p:nvSpPr>
              <p:cNvPr id="20" name="object 17">
                <a:extLst>
                  <a:ext uri="{FF2B5EF4-FFF2-40B4-BE49-F238E27FC236}">
                    <a16:creationId xmlns:a16="http://schemas.microsoft.com/office/drawing/2014/main" id="{683D1098-0ED2-90F8-E5DA-451FA4013236}"/>
                  </a:ext>
                </a:extLst>
              </p:cNvPr>
              <p:cNvSpPr txBox="1"/>
              <p:nvPr/>
            </p:nvSpPr>
            <p:spPr>
              <a:xfrm>
                <a:off x="14197445" y="3574851"/>
                <a:ext cx="2044700" cy="625171"/>
              </a:xfrm>
              <a:prstGeom prst="rect">
                <a:avLst/>
              </a:prstGeom>
            </p:spPr>
            <p:txBody>
              <a:bodyPr vert="horz" wrap="square" lIns="0" tIns="9525" rIns="0" bIns="0" rtlCol="0">
                <a:spAutoFit/>
              </a:bodyPr>
              <a:lstStyle/>
              <a:p>
                <a:pPr marL="26670" marR="5080" indent="-14604">
                  <a:spcBef>
                    <a:spcPts val="75"/>
                  </a:spcBef>
                </a:pPr>
                <a:r>
                  <a:rPr lang="ko-KR" sz="2000" spc="60" dirty="0">
                    <a:solidFill>
                      <a:srgbClr val="0C2134"/>
                    </a:solidFill>
                    <a:latin typeface="Arial"/>
                    <a:ea typeface="맑은 고딕"/>
                    <a:cs typeface="Arial"/>
                  </a:rPr>
                  <a:t>안정적이고 예측 가능함.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4526EE-787B-3719-46AD-E4E2DCD7195A}"/>
                </a:ext>
              </a:extLst>
            </p:cNvPr>
            <p:cNvSpPr txBox="1"/>
            <p:nvPr/>
          </p:nvSpPr>
          <p:spPr>
            <a:xfrm>
              <a:off x="1376934" y="4789170"/>
              <a:ext cx="10378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2025	             2026		       2027		                2025	        2026		2027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vs. Accrual Basis — Comparison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GAAP은 발생주의를 요구할까요?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Cash Basis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활동 이후로 인식이 지연됨.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대응이 부적절함.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영업 순환에 더 불리함.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Accrual Basis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기간별 수익성을 더 명확하게 보여줌.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와 revenue를 더 잘 대응시킴.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영업 성과를 반영함.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발생주의는 수익과 비용을 대응시켜 각 기간의 실제 성과를 드러냅니다.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인식 시점을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Revenue 인식 시점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회사에서 revenue는 언제 기록되는가?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고객이 서비스를 요청할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고객이 대금을 지급할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고객에게 서비스가 제공될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제공 전 non-refundable deposit을 받을 때.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Accrual-Basis Reporting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dirty="0"/>
              <a:t>Costello </a:t>
            </a:r>
            <a:r>
              <a:rPr lang="en-US" dirty="0" err="1"/>
              <a:t>Company는</a:t>
            </a:r>
            <a:r>
              <a:rPr lang="en-US" dirty="0"/>
              <a:t> 2026년에 </a:t>
            </a:r>
            <a:r>
              <a:rPr lang="en-US" dirty="0" err="1"/>
              <a:t>고객에게</a:t>
            </a:r>
            <a:r>
              <a:rPr lang="en-US" dirty="0"/>
              <a:t> </a:t>
            </a:r>
            <a:r>
              <a:rPr lang="en-US" dirty="0" err="1"/>
              <a:t>용역을</a:t>
            </a:r>
            <a:r>
              <a:rPr lang="en-US" dirty="0"/>
              <a:t> </a:t>
            </a:r>
            <a:r>
              <a:rPr lang="en-US" dirty="0" err="1"/>
              <a:t>제공하고</a:t>
            </a:r>
            <a:r>
              <a:rPr lang="en-US" dirty="0"/>
              <a:t> $10,000을 </a:t>
            </a:r>
            <a:r>
              <a:rPr lang="en-US" dirty="0" err="1"/>
              <a:t>청구하였으며</a:t>
            </a:r>
            <a:r>
              <a:rPr lang="en-US" dirty="0"/>
              <a:t>, </a:t>
            </a:r>
            <a:r>
              <a:rPr lang="en-US" dirty="0" err="1"/>
              <a:t>관련</a:t>
            </a:r>
            <a:r>
              <a:rPr lang="en-US" dirty="0"/>
              <a:t> </a:t>
            </a:r>
            <a:r>
              <a:rPr lang="en-US" dirty="0" err="1"/>
              <a:t>비용</a:t>
            </a:r>
            <a:r>
              <a:rPr lang="en-US" dirty="0"/>
              <a:t> $3,000을 </a:t>
            </a:r>
            <a:r>
              <a:rPr lang="en-US" dirty="0" err="1"/>
              <a:t>현금으로</a:t>
            </a:r>
            <a:r>
              <a:rPr lang="en-US" dirty="0"/>
              <a:t> </a:t>
            </a:r>
            <a:r>
              <a:rPr lang="en-US" dirty="0" err="1"/>
              <a:t>지급하였다</a:t>
            </a:r>
            <a:r>
              <a:rPr lang="en-US" dirty="0"/>
              <a:t>. </a:t>
            </a:r>
            <a:r>
              <a:rPr lang="en-US" dirty="0" err="1"/>
              <a:t>대금은</a:t>
            </a:r>
            <a:r>
              <a:rPr lang="en-US" dirty="0"/>
              <a:t> 2027년에 </a:t>
            </a:r>
            <a:r>
              <a:rPr lang="en-US" dirty="0" err="1"/>
              <a:t>회수되었다</a:t>
            </a:r>
            <a:r>
              <a:rPr lang="en-US" dirty="0"/>
              <a:t>. </a:t>
            </a:r>
            <a:r>
              <a:rPr lang="en-US" dirty="0" err="1"/>
              <a:t>발생주의</a:t>
            </a:r>
            <a:r>
              <a:rPr lang="en-US" dirty="0"/>
              <a:t> </a:t>
            </a:r>
            <a:r>
              <a:rPr lang="en-US" dirty="0" err="1"/>
              <a:t>회계를</a:t>
            </a:r>
            <a:r>
              <a:rPr lang="en-US" dirty="0"/>
              <a:t> </a:t>
            </a:r>
            <a:r>
              <a:rPr lang="en-US" dirty="0" err="1"/>
              <a:t>적용할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Costello가</a:t>
            </a:r>
            <a:r>
              <a:rPr lang="en-US" dirty="0"/>
              <a:t> 2026년에 </a:t>
            </a:r>
            <a:r>
              <a:rPr lang="en-US" dirty="0" err="1"/>
              <a:t>보고할</a:t>
            </a:r>
            <a:r>
              <a:rPr lang="en-US" dirty="0"/>
              <a:t> </a:t>
            </a:r>
            <a:r>
              <a:rPr lang="en-US" dirty="0" err="1"/>
              <a:t>금액은</a:t>
            </a:r>
            <a:r>
              <a:rPr lang="en-US" dirty="0"/>
              <a:t>?</a:t>
            </a:r>
          </a:p>
          <a:p>
            <a:pPr>
              <a:lnSpc>
                <a:spcPct val="105000"/>
              </a:lnSpc>
            </a:pPr>
            <a:endParaRPr lang="en-US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expenses of $3,000 in 2027.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net income of $7,000 in 2027.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revenue of $10,000 in 2026.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 of $10,000 in 2027.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5815584"/>
            <a:ext cx="11329416" cy="4572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581558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→ c (용역 제공 시)   ·   Q2 → c (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2026년에 revenue 인식).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1EFB-2216-2124-C714-78971AE7D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69DA97-EA21-9725-C381-A86723CD1C7F}"/>
              </a:ext>
            </a:extLst>
          </p:cNvPr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06EAA9-7EAE-35E7-5D01-8615EABA45F4}"/>
              </a:ext>
            </a:extLst>
          </p:cNvPr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(Continued)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B7747AF-9D69-9F5F-A93E-94EEE07E59D2}"/>
              </a:ext>
            </a:extLst>
          </p:cNvPr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9F2BAF-CB5E-211F-83D3-AA6525A9A863}"/>
              </a:ext>
            </a:extLst>
          </p:cNvPr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AAD95F9-B047-E549-7DB6-14FFCCEEC21C}"/>
              </a:ext>
            </a:extLst>
          </p:cNvPr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6FEF855-6A02-11DF-FA17-F62C58F4AB14}"/>
              </a:ext>
            </a:extLst>
          </p:cNvPr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3B68DA-916E-78A4-11CD-14B3CB79954B}"/>
              </a:ext>
            </a:extLst>
          </p:cNvPr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Airline 급여 — 발생과 지급의 분개.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92A46AC-0CD8-86E3-D770-4828FFB0E28C}"/>
              </a:ext>
            </a:extLst>
          </p:cNvPr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 · Q3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AD61D68-4FE7-8CB2-6DC0-C7CD58885E8D}"/>
              </a:ext>
            </a:extLst>
          </p:cNvPr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8FC9A76-F5CD-DA0E-64E6-C657E1D3808E}"/>
              </a:ext>
            </a:extLst>
          </p:cNvPr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B437E19-FC6E-E566-6897-080548CE0912}"/>
              </a:ext>
            </a:extLst>
          </p:cNvPr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334566A-F64F-8ABE-4D41-CE6936272715}"/>
              </a:ext>
            </a:extLst>
          </p:cNvPr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CB8CFE4-E21B-3EB7-191F-7795D23E2463}"/>
              </a:ext>
            </a:extLst>
          </p:cNvPr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직원은 매월 15일에 급여를 받음.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2026/12/16–12/31 근무분 $220,000는 2027/1/15에 지급됨.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2027/12/31 발생 분개, (2) 2027/1/15 지급 분개를 작성하시오.</a:t>
            </a:r>
            <a:endParaRPr lang="en-US" sz="160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81A6CDF4-616A-4FD3-B7A6-B36B715E7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526984"/>
              </p:ext>
            </p:extLst>
          </p:nvPr>
        </p:nvGraphicFramePr>
        <p:xfrm>
          <a:off x="6272784" y="2542032"/>
          <a:ext cx="5486400" cy="217627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785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Airline 급여 — 발생과 지급의 분개.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직원은 매월 15일에 급여를 받음.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2026/12/16–12/31 근무분 $220,000는 2027/1/15에 지급됨.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2027/12/31 발생 분개, (2) 2027/1/15 지급 분개를 작성하시오.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757613"/>
              </p:ext>
            </p:extLst>
          </p:nvPr>
        </p:nvGraphicFramePr>
        <p:xfrm>
          <a:off x="6272784" y="2542032"/>
          <a:ext cx="5486400" cy="217627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Adjustments are Needed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조정분개가 필요한가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Adjustments Align the Facts with the Financials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</a:t>
            </a: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(Adjusting Journal Entries) 는 회계기간의 시간 격차(periodicity)를 메웁니다.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77456" y="2377440"/>
            <a:ext cx="4718304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0"/>
          <p:cNvSpPr/>
          <p:nvPr/>
        </p:nvSpPr>
        <p:spPr>
          <a:xfrm>
            <a:off x="7040880" y="237744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Shape 11"/>
          <p:cNvSpPr/>
          <p:nvPr/>
        </p:nvSpPr>
        <p:spPr>
          <a:xfrm>
            <a:off x="7040880" y="2377440"/>
            <a:ext cx="4718304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7242048" y="2377440"/>
            <a:ext cx="4407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Gap (Periodicity)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7260336" y="2980944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이동 시점과 가치의 창출·소비 시점이 다름.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시간 격차 때문에 기록되지 않은 수익·비용이 남음.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조정분개가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 격차를 메워 사실과 재무제표를 일치시킴.</a:t>
            </a:r>
            <a:endParaRPr lang="en-US" sz="1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48363D-EB05-5595-0A61-7D524F546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919580"/>
            <a:ext cx="6137735" cy="212183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645D5FDF-81BF-66D6-1D06-B5596C38C6DF}"/>
              </a:ext>
            </a:extLst>
          </p:cNvPr>
          <p:cNvGrpSpPr/>
          <p:nvPr/>
        </p:nvGrpSpPr>
        <p:grpSpPr>
          <a:xfrm>
            <a:off x="534569" y="2739920"/>
            <a:ext cx="6138508" cy="1258531"/>
            <a:chOff x="726410" y="1991849"/>
            <a:chExt cx="16007441" cy="3611941"/>
          </a:xfrm>
        </p:grpSpPr>
        <p:grpSp>
          <p:nvGrpSpPr>
            <p:cNvPr id="24" name="object 2">
              <a:extLst>
                <a:ext uri="{FF2B5EF4-FFF2-40B4-BE49-F238E27FC236}">
                  <a16:creationId xmlns:a16="http://schemas.microsoft.com/office/drawing/2014/main" id="{D66B1D7D-495C-22C8-738A-BD14EE9B7F8E}"/>
                </a:ext>
              </a:extLst>
            </p:cNvPr>
            <p:cNvGrpSpPr/>
            <p:nvPr/>
          </p:nvGrpSpPr>
          <p:grpSpPr>
            <a:xfrm>
              <a:off x="8008691" y="3835965"/>
              <a:ext cx="2547617" cy="536574"/>
              <a:chOff x="8008691" y="3835965"/>
              <a:chExt cx="2547617" cy="536574"/>
            </a:xfrm>
          </p:grpSpPr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94263D5E-0963-C714-D623-1E3037D22CF0}"/>
                  </a:ext>
                </a:extLst>
              </p:cNvPr>
              <p:cNvSpPr/>
              <p:nvPr/>
            </p:nvSpPr>
            <p:spPr>
              <a:xfrm>
                <a:off x="8178030" y="3835965"/>
                <a:ext cx="2089150" cy="536574"/>
              </a:xfrm>
              <a:custGeom>
                <a:avLst/>
                <a:gdLst/>
                <a:ahLst/>
                <a:cxnLst/>
                <a:rect l="l" t="t" r="r" b="b"/>
                <a:pathLst>
                  <a:path w="2089150" h="536575">
                    <a:moveTo>
                      <a:pt x="0" y="536177"/>
                    </a:moveTo>
                    <a:lnTo>
                      <a:pt x="0" y="0"/>
                    </a:lnTo>
                  </a:path>
                  <a:path w="2089150" h="536575">
                    <a:moveTo>
                      <a:pt x="343896" y="536177"/>
                    </a:moveTo>
                    <a:lnTo>
                      <a:pt x="343896" y="102129"/>
                    </a:lnTo>
                  </a:path>
                  <a:path w="2089150" h="536575">
                    <a:moveTo>
                      <a:pt x="1732221" y="536177"/>
                    </a:moveTo>
                    <a:lnTo>
                      <a:pt x="1732221" y="127661"/>
                    </a:lnTo>
                  </a:path>
                  <a:path w="2089150" h="536575">
                    <a:moveTo>
                      <a:pt x="2088854" y="536177"/>
                    </a:moveTo>
                    <a:lnTo>
                      <a:pt x="2088854" y="0"/>
                    </a:lnTo>
                  </a:path>
                </a:pathLst>
              </a:custGeom>
              <a:ln w="51006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050"/>
              </a:p>
            </p:txBody>
          </p:sp>
          <p:sp>
            <p:nvSpPr>
              <p:cNvPr id="33" name="object 5">
                <a:extLst>
                  <a:ext uri="{FF2B5EF4-FFF2-40B4-BE49-F238E27FC236}">
                    <a16:creationId xmlns:a16="http://schemas.microsoft.com/office/drawing/2014/main" id="{9F99D994-6500-9595-F31C-1B3CE5E96BFF}"/>
                  </a:ext>
                </a:extLst>
              </p:cNvPr>
              <p:cNvSpPr/>
              <p:nvPr/>
            </p:nvSpPr>
            <p:spPr>
              <a:xfrm>
                <a:off x="8008691" y="4073035"/>
                <a:ext cx="2547617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2547620" h="140970">
                    <a:moveTo>
                      <a:pt x="0" y="0"/>
                    </a:moveTo>
                    <a:lnTo>
                      <a:pt x="2547384" y="0"/>
                    </a:lnTo>
                    <a:lnTo>
                      <a:pt x="2547384" y="140427"/>
                    </a:lnTo>
                    <a:lnTo>
                      <a:pt x="0" y="1404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050" dirty="0"/>
              </a:p>
            </p:txBody>
          </p:sp>
        </p:grpSp>
        <p:sp>
          <p:nvSpPr>
            <p:cNvPr id="26" name="object 7">
              <a:extLst>
                <a:ext uri="{FF2B5EF4-FFF2-40B4-BE49-F238E27FC236}">
                  <a16:creationId xmlns:a16="http://schemas.microsoft.com/office/drawing/2014/main" id="{7B2463B2-CC2B-70CB-FCC2-3F88CCB7FC7E}"/>
                </a:ext>
              </a:extLst>
            </p:cNvPr>
            <p:cNvSpPr txBox="1"/>
            <p:nvPr/>
          </p:nvSpPr>
          <p:spPr>
            <a:xfrm>
              <a:off x="726410" y="1991849"/>
              <a:ext cx="4104364" cy="1278957"/>
            </a:xfrm>
            <a:prstGeom prst="rect">
              <a:avLst/>
            </a:prstGeom>
          </p:spPr>
          <p:txBody>
            <a:bodyPr vert="horz" wrap="square" lIns="0" tIns="14605" rIns="0" bIns="0" rtlCol="0">
              <a:spAutoFit/>
            </a:bodyPr>
            <a:lstStyle/>
            <a:p>
              <a:pPr marL="12700" algn="ctr">
                <a:spcBef>
                  <a:spcPts val="115"/>
                </a:spcBef>
              </a:pPr>
              <a:r>
                <a:rPr lang="en-US" sz="1400" b="1" spc="140" dirty="0">
                  <a:solidFill>
                    <a:srgbClr val="081F36"/>
                  </a:solidFill>
                  <a:latin typeface="Arial"/>
                  <a:cs typeface="Arial"/>
                </a:rPr>
                <a:t>Daily Cash Transactions</a:t>
              </a:r>
              <a:endParaRPr lang="en-US" sz="1400" dirty="0">
                <a:latin typeface="Arial"/>
                <a:cs typeface="Arial"/>
              </a:endParaRPr>
            </a:p>
          </p:txBody>
        </p:sp>
        <p:sp>
          <p:nvSpPr>
            <p:cNvPr id="27" name="object 8">
              <a:extLst>
                <a:ext uri="{FF2B5EF4-FFF2-40B4-BE49-F238E27FC236}">
                  <a16:creationId xmlns:a16="http://schemas.microsoft.com/office/drawing/2014/main" id="{147548A9-0E90-69F6-6B7E-EFF38032023E}"/>
                </a:ext>
              </a:extLst>
            </p:cNvPr>
            <p:cNvSpPr txBox="1"/>
            <p:nvPr/>
          </p:nvSpPr>
          <p:spPr>
            <a:xfrm>
              <a:off x="13119431" y="1991849"/>
              <a:ext cx="3614420" cy="1315762"/>
            </a:xfrm>
            <a:prstGeom prst="rect">
              <a:avLst/>
            </a:prstGeom>
          </p:spPr>
          <p:txBody>
            <a:bodyPr vert="horz" wrap="square" lIns="0" tIns="14605" rIns="0" bIns="0" rtlCol="0">
              <a:spAutoFit/>
            </a:bodyPr>
            <a:lstStyle/>
            <a:p>
              <a:pPr marL="12700" algn="ctr">
                <a:spcBef>
                  <a:spcPts val="115"/>
                </a:spcBef>
              </a:pPr>
              <a:r>
                <a:rPr sz="1400" b="1" dirty="0">
                  <a:solidFill>
                    <a:srgbClr val="081F36"/>
                  </a:solidFill>
                  <a:latin typeface="Arial"/>
                  <a:cs typeface="Arial"/>
                </a:rPr>
                <a:t>Financial</a:t>
              </a:r>
              <a:r>
                <a:rPr sz="1400" b="1" spc="125" dirty="0">
                  <a:solidFill>
                    <a:srgbClr val="081F36"/>
                  </a:solidFill>
                  <a:latin typeface="Arial"/>
                  <a:cs typeface="Arial"/>
                </a:rPr>
                <a:t> </a:t>
              </a:r>
              <a:endParaRPr lang="en-US" sz="1400" b="1" spc="125" dirty="0">
                <a:solidFill>
                  <a:srgbClr val="081F36"/>
                </a:solidFill>
                <a:latin typeface="Arial"/>
                <a:cs typeface="Arial"/>
              </a:endParaRPr>
            </a:p>
            <a:p>
              <a:pPr marL="12700" algn="ctr">
                <a:spcBef>
                  <a:spcPts val="115"/>
                </a:spcBef>
              </a:pPr>
              <a:r>
                <a:rPr sz="1400" b="1" spc="85" dirty="0">
                  <a:solidFill>
                    <a:srgbClr val="081F36"/>
                  </a:solidFill>
                  <a:latin typeface="Arial"/>
                  <a:cs typeface="Arial"/>
                </a:rPr>
                <a:t>Statements</a:t>
              </a:r>
              <a:endParaRPr sz="1400" dirty="0">
                <a:latin typeface="Arial"/>
                <a:cs typeface="Arial"/>
              </a:endParaRPr>
            </a:p>
          </p:txBody>
        </p:sp>
        <p:sp>
          <p:nvSpPr>
            <p:cNvPr id="28" name="object 9">
              <a:extLst>
                <a:ext uri="{FF2B5EF4-FFF2-40B4-BE49-F238E27FC236}">
                  <a16:creationId xmlns:a16="http://schemas.microsoft.com/office/drawing/2014/main" id="{B83EF7C3-35A5-9A9C-F202-2E8BCB12B4CD}"/>
                </a:ext>
              </a:extLst>
            </p:cNvPr>
            <p:cNvSpPr txBox="1"/>
            <p:nvPr/>
          </p:nvSpPr>
          <p:spPr>
            <a:xfrm>
              <a:off x="5744296" y="4762807"/>
              <a:ext cx="6809025" cy="840983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b="1" spc="114" dirty="0">
                  <a:solidFill>
                    <a:srgbClr val="081F36"/>
                  </a:solidFill>
                  <a:latin typeface="Arial"/>
                  <a:cs typeface="Arial"/>
                </a:rPr>
                <a:t>ADJUSTING</a:t>
              </a:r>
              <a:r>
                <a:rPr b="1" spc="135" dirty="0">
                  <a:solidFill>
                    <a:srgbClr val="081F36"/>
                  </a:solidFill>
                  <a:latin typeface="Arial"/>
                  <a:cs typeface="Arial"/>
                </a:rPr>
                <a:t> </a:t>
              </a:r>
              <a:r>
                <a:rPr b="1" spc="-10" dirty="0">
                  <a:solidFill>
                    <a:srgbClr val="081F36"/>
                  </a:solidFill>
                  <a:latin typeface="Arial"/>
                  <a:cs typeface="Arial"/>
                </a:rPr>
                <a:t>ENTRIES</a:t>
              </a:r>
              <a:endParaRPr dirty="0">
                <a:latin typeface="Arial"/>
                <a:cs typeface="Arial"/>
              </a:endParaRPr>
            </a:p>
          </p:txBody>
        </p:sp>
      </p:grpSp>
      <p:sp>
        <p:nvSpPr>
          <p:cNvPr id="19" name="object 22">
            <a:extLst>
              <a:ext uri="{FF2B5EF4-FFF2-40B4-BE49-F238E27FC236}">
                <a16:creationId xmlns:a16="http://schemas.microsoft.com/office/drawing/2014/main" id="{E95DEF7D-ED58-F360-AB79-044C071BD9BB}"/>
              </a:ext>
            </a:extLst>
          </p:cNvPr>
          <p:cNvSpPr txBox="1"/>
          <p:nvPr/>
        </p:nvSpPr>
        <p:spPr>
          <a:xfrm>
            <a:off x="1691005" y="4693115"/>
            <a:ext cx="4389755" cy="32252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4"/>
              </a:spcBef>
            </a:pPr>
            <a:r>
              <a:rPr sz="2000" spc="70" dirty="0">
                <a:solidFill>
                  <a:srgbClr val="0A0C0C"/>
                </a:solidFill>
                <a:latin typeface="Times New Roman"/>
                <a:cs typeface="Times New Roman"/>
              </a:rPr>
              <a:t>Th</a:t>
            </a:r>
            <a:r>
              <a:rPr sz="2000" spc="70" dirty="0">
                <a:solidFill>
                  <a:srgbClr val="0F1D31"/>
                </a:solidFill>
                <a:latin typeface="Times New Roman"/>
                <a:cs typeface="Times New Roman"/>
              </a:rPr>
              <a:t>e</a:t>
            </a:r>
            <a:r>
              <a:rPr sz="2000" spc="-85" dirty="0">
                <a:solidFill>
                  <a:srgbClr val="0F1D31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0A0C0C"/>
                </a:solidFill>
                <a:latin typeface="Times New Roman"/>
                <a:cs typeface="Times New Roman"/>
              </a:rPr>
              <a:t>Time</a:t>
            </a:r>
            <a:r>
              <a:rPr sz="2000" spc="-75" dirty="0">
                <a:solidFill>
                  <a:srgbClr val="0A0C0C"/>
                </a:solidFill>
                <a:latin typeface="Times New Roman"/>
                <a:cs typeface="Times New Roman"/>
              </a:rPr>
              <a:t> </a:t>
            </a:r>
            <a:r>
              <a:rPr sz="2000" spc="80" dirty="0">
                <a:solidFill>
                  <a:srgbClr val="0A0C0C"/>
                </a:solidFill>
                <a:latin typeface="Times New Roman"/>
                <a:cs typeface="Times New Roman"/>
              </a:rPr>
              <a:t>Gap</a:t>
            </a:r>
            <a:r>
              <a:rPr sz="2000" spc="-50" dirty="0">
                <a:solidFill>
                  <a:srgbClr val="0A0C0C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(P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e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riodi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c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ity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Flow Does Not Equal Business Performance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흐름과 사업의 성과는 같지 않습니다.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979096"/>
            <a:ext cx="11329416" cy="1452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1979096"/>
            <a:ext cx="82296" cy="1452176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1979096"/>
            <a:ext cx="11329416" cy="290435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1979096"/>
            <a:ext cx="11018520" cy="29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582600"/>
            <a:ext cx="10908792" cy="4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'Expense'(비용)는 돈이 은행 계좌에서 나가는 시점과 무관하게, 가치의 소비로 정의됨.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현금만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추적하면 수익성에 대한 잘못된 그림을 만듦.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29768" y="3596057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685800" y="3596057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비용은 '가치가 소비되는 때' 인식됩니다 — 수표를 쓰는 순간이 아니라.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9768" y="4327577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67512" y="4327577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발생주의에서는 조정분개로 소비된 가치를 비용으로 잡아 줍니다.</a:t>
            </a:r>
            <a:endParaRPr lang="en-US" sz="16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1B37A4-D438-2330-80E0-88C340AD7011}"/>
              </a:ext>
            </a:extLst>
          </p:cNvPr>
          <p:cNvGrpSpPr/>
          <p:nvPr/>
        </p:nvGrpSpPr>
        <p:grpSpPr>
          <a:xfrm>
            <a:off x="3485584" y="5059097"/>
            <a:ext cx="6218486" cy="1431539"/>
            <a:chOff x="2000122" y="3684413"/>
            <a:chExt cx="7703948" cy="2806223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0C5FCF7-3A38-D9EA-7FE9-86C1D85D9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0122" y="3684413"/>
              <a:ext cx="7703948" cy="280622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9B36E8-82E6-67FB-A838-61384191E069}"/>
                </a:ext>
              </a:extLst>
            </p:cNvPr>
            <p:cNvGrpSpPr/>
            <p:nvPr/>
          </p:nvGrpSpPr>
          <p:grpSpPr>
            <a:xfrm>
              <a:off x="2663190" y="3699794"/>
              <a:ext cx="6865620" cy="659616"/>
              <a:chOff x="3406207" y="3784612"/>
              <a:chExt cx="10018285" cy="943870"/>
            </a:xfrm>
          </p:grpSpPr>
          <p:sp>
            <p:nvSpPr>
              <p:cNvPr id="22" name="object 7">
                <a:extLst>
                  <a:ext uri="{FF2B5EF4-FFF2-40B4-BE49-F238E27FC236}">
                    <a16:creationId xmlns:a16="http://schemas.microsoft.com/office/drawing/2014/main" id="{30A2C24D-721E-76C5-42E1-C780FE7C4E06}"/>
                  </a:ext>
                </a:extLst>
              </p:cNvPr>
              <p:cNvSpPr txBox="1"/>
              <p:nvPr/>
            </p:nvSpPr>
            <p:spPr>
              <a:xfrm>
                <a:off x="3406207" y="3823790"/>
                <a:ext cx="2514498" cy="904692"/>
              </a:xfrm>
              <a:prstGeom prst="rect">
                <a:avLst/>
              </a:prstGeom>
            </p:spPr>
            <p:txBody>
              <a:bodyPr vert="horz" wrap="square" lIns="0" tIns="14604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14"/>
                  </a:spcBef>
                </a:pPr>
                <a:r>
                  <a:rPr sz="2000" spc="50" dirty="0">
                    <a:solidFill>
                      <a:srgbClr val="050505"/>
                    </a:solidFill>
                    <a:latin typeface="Arial"/>
                    <a:cs typeface="Arial"/>
                  </a:rPr>
                  <a:t>Cash</a:t>
                </a:r>
                <a:r>
                  <a:rPr sz="2000" spc="-30" dirty="0">
                    <a:solidFill>
                      <a:srgbClr val="050505"/>
                    </a:solidFill>
                    <a:latin typeface="Arial"/>
                    <a:cs typeface="Arial"/>
                  </a:rPr>
                  <a:t> </a:t>
                </a:r>
                <a:r>
                  <a:rPr sz="2000" spc="-20" dirty="0">
                    <a:solidFill>
                      <a:srgbClr val="050505"/>
                    </a:solidFill>
                    <a:latin typeface="Arial"/>
                    <a:cs typeface="Arial"/>
                  </a:rPr>
                  <a:t>Paid</a:t>
                </a:r>
                <a:endParaRPr sz="2000" dirty="0">
                  <a:latin typeface="Arial"/>
                  <a:cs typeface="Arial"/>
                </a:endParaRPr>
              </a:p>
            </p:txBody>
          </p:sp>
          <p:sp>
            <p:nvSpPr>
              <p:cNvPr id="23" name="object 8">
                <a:extLst>
                  <a:ext uri="{FF2B5EF4-FFF2-40B4-BE49-F238E27FC236}">
                    <a16:creationId xmlns:a16="http://schemas.microsoft.com/office/drawing/2014/main" id="{444EE0F9-ED69-14F6-DEB9-5BE255C52D04}"/>
                  </a:ext>
                </a:extLst>
              </p:cNvPr>
              <p:cNvSpPr txBox="1"/>
              <p:nvPr/>
            </p:nvSpPr>
            <p:spPr>
              <a:xfrm>
                <a:off x="6646057" y="3820059"/>
                <a:ext cx="3460752" cy="906493"/>
              </a:xfrm>
              <a:prstGeom prst="rect">
                <a:avLst/>
              </a:prstGeom>
            </p:spPr>
            <p:txBody>
              <a:bodyPr vert="horz" wrap="square" lIns="0" tIns="1524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20"/>
                  </a:spcBef>
                </a:pPr>
                <a:r>
                  <a:rPr sz="2000" spc="130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sz="2000" spc="-270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sz="2000" spc="65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Cash</a:t>
                </a:r>
                <a:r>
                  <a:rPr sz="2000" spc="-229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sz="2000" spc="145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Trap</a:t>
                </a:r>
                <a:endParaRPr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object 9">
                <a:extLst>
                  <a:ext uri="{FF2B5EF4-FFF2-40B4-BE49-F238E27FC236}">
                    <a16:creationId xmlns:a16="http://schemas.microsoft.com/office/drawing/2014/main" id="{DF4F2920-6E21-5DC2-4EB4-F1998FDA3FE1}"/>
                  </a:ext>
                </a:extLst>
              </p:cNvPr>
              <p:cNvSpPr txBox="1"/>
              <p:nvPr/>
            </p:nvSpPr>
            <p:spPr>
              <a:xfrm>
                <a:off x="10535812" y="3784612"/>
                <a:ext cx="2888680" cy="904692"/>
              </a:xfrm>
              <a:prstGeom prst="rect">
                <a:avLst/>
              </a:prstGeom>
            </p:spPr>
            <p:txBody>
              <a:bodyPr vert="horz" wrap="square" lIns="0" tIns="14604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14"/>
                  </a:spcBef>
                </a:pPr>
                <a:r>
                  <a:rPr sz="2000" dirty="0">
                    <a:solidFill>
                      <a:srgbClr val="050505"/>
                    </a:solidFill>
                    <a:latin typeface="Arial"/>
                    <a:cs typeface="Arial"/>
                  </a:rPr>
                  <a:t>Value</a:t>
                </a:r>
                <a:r>
                  <a:rPr sz="2000" spc="15" dirty="0">
                    <a:solidFill>
                      <a:srgbClr val="050505"/>
                    </a:solidFill>
                    <a:latin typeface="Arial"/>
                    <a:cs typeface="Arial"/>
                  </a:rPr>
                  <a:t> </a:t>
                </a:r>
                <a:r>
                  <a:rPr sz="2000" spc="45" dirty="0">
                    <a:solidFill>
                      <a:srgbClr val="050505"/>
                    </a:solidFill>
                    <a:latin typeface="Arial"/>
                    <a:cs typeface="Arial"/>
                  </a:rPr>
                  <a:t>Used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C5C5D-3391-04EC-223E-85FB3D37D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CA5EAB-4E8F-311B-5244-C102313FBCAC}"/>
              </a:ext>
            </a:extLst>
          </p:cNvPr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028757-A057-CF33-C48E-FB9F996C8B7E}"/>
              </a:ext>
            </a:extLst>
          </p:cNvPr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Two Directions of Time (</a:t>
            </a:r>
            <a:r>
              <a:rPr lang="ko-KR" alt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용역을 시킴 혹은 사용한 경우</a:t>
            </a:r>
            <a:r>
              <a:rPr lang="en-US" altLang="ko-KR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102C56-2AA2-F166-7E6B-A175500FAC4E}"/>
              </a:ext>
            </a:extLst>
          </p:cNvPr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54F147-265D-7D0D-8983-635596DFB756}"/>
              </a:ext>
            </a:extLst>
          </p:cNvPr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B87FC9B-9A7C-7FE3-996E-64D50156C1AC}"/>
              </a:ext>
            </a:extLst>
          </p:cNvPr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051565-7382-EAAC-39FE-FF8D73158E7A}"/>
              </a:ext>
            </a:extLst>
          </p:cNvPr>
          <p:cNvGrpSpPr/>
          <p:nvPr/>
        </p:nvGrpSpPr>
        <p:grpSpPr>
          <a:xfrm>
            <a:off x="272505" y="1707369"/>
            <a:ext cx="11582400" cy="4273613"/>
            <a:chOff x="0" y="1986221"/>
            <a:chExt cx="12192000" cy="4150482"/>
          </a:xfrm>
        </p:grpSpPr>
        <p:pic>
          <p:nvPicPr>
            <p:cNvPr id="33" name="object 2">
              <a:extLst>
                <a:ext uri="{FF2B5EF4-FFF2-40B4-BE49-F238E27FC236}">
                  <a16:creationId xmlns:a16="http://schemas.microsoft.com/office/drawing/2014/main" id="{6BFAFC98-0C1F-49FC-9E67-FA82C1F7484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986221"/>
              <a:ext cx="12192000" cy="4150482"/>
            </a:xfrm>
            <a:prstGeom prst="rect">
              <a:avLst/>
            </a:prstGeom>
          </p:spPr>
        </p:pic>
        <p:sp>
          <p:nvSpPr>
            <p:cNvPr id="34" name="object 4">
              <a:extLst>
                <a:ext uri="{FF2B5EF4-FFF2-40B4-BE49-F238E27FC236}">
                  <a16:creationId xmlns:a16="http://schemas.microsoft.com/office/drawing/2014/main" id="{CC4A4376-8046-2EC9-13D7-F513C920BA68}"/>
                </a:ext>
              </a:extLst>
            </p:cNvPr>
            <p:cNvSpPr txBox="1"/>
            <p:nvPr/>
          </p:nvSpPr>
          <p:spPr>
            <a:xfrm>
              <a:off x="1323474" y="3126313"/>
              <a:ext cx="3523271" cy="509210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8861" defTabSz="637977">
                <a:spcBef>
                  <a:spcPts val="77"/>
                </a:spcBef>
              </a:pPr>
              <a:r>
                <a:rPr lang="ko-KR" sz="1605" b="1" kern="0" spc="35" dirty="0">
                  <a:solidFill>
                    <a:srgbClr val="030303"/>
                  </a:solidFill>
                  <a:latin typeface="Arial"/>
                  <a:ea typeface="맑은 고딕"/>
                  <a:cs typeface="Arial"/>
                </a:rPr>
                <a:t>1. Activity 이전에 현금 지급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65570" defTabSz="637977">
                <a:spcBef>
                  <a:spcPts val="3"/>
                </a:spcBef>
              </a:pPr>
              <a:r>
                <a:rPr sz="1605" b="1" kern="0" spc="38" dirty="0">
                  <a:solidFill>
                    <a:srgbClr val="859E80"/>
                  </a:solidFill>
                  <a:latin typeface="Arial"/>
                  <a:cs typeface="Arial"/>
                </a:rPr>
                <a:t>(Deferred Expense</a:t>
              </a:r>
              <a:r>
                <a:rPr sz="1640" kern="0" spc="80" dirty="0">
                  <a:solidFill>
                    <a:srgbClr val="161613"/>
                  </a:solidFill>
                  <a:latin typeface="Arial"/>
                  <a:cs typeface="Arial"/>
                </a:rPr>
                <a:t>/</a:t>
              </a:r>
              <a:r>
                <a:rPr sz="1640" kern="0" spc="262" dirty="0">
                  <a:solidFill>
                    <a:srgbClr val="161613"/>
                  </a:solidFill>
                  <a:latin typeface="Arial"/>
                  <a:cs typeface="Arial"/>
                </a:rPr>
                <a:t> </a:t>
              </a:r>
              <a:r>
                <a:rPr sz="1605" b="1" kern="0" spc="38" dirty="0">
                  <a:solidFill>
                    <a:srgbClr val="859E80"/>
                  </a:solidFill>
                  <a:latin typeface="Arial"/>
                  <a:cs typeface="Arial"/>
                </a:rPr>
                <a:t>Asset</a:t>
              </a:r>
              <a:r>
                <a:rPr sz="1605" b="1" kern="0" spc="38" dirty="0">
                  <a:solidFill>
                    <a:srgbClr val="2B2B2A"/>
                  </a:solidFill>
                  <a:latin typeface="Arial"/>
                  <a:cs typeface="Arial"/>
                </a:rPr>
                <a:t>)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  <p:sp>
          <p:nvSpPr>
            <p:cNvPr id="35" name="object 5">
              <a:extLst>
                <a:ext uri="{FF2B5EF4-FFF2-40B4-BE49-F238E27FC236}">
                  <a16:creationId xmlns:a16="http://schemas.microsoft.com/office/drawing/2014/main" id="{951C4341-28C7-B6ED-220E-04BFAB555203}"/>
                </a:ext>
              </a:extLst>
            </p:cNvPr>
            <p:cNvSpPr txBox="1"/>
            <p:nvPr/>
          </p:nvSpPr>
          <p:spPr>
            <a:xfrm>
              <a:off x="6229268" y="2823488"/>
              <a:ext cx="1814180" cy="497155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8861" defTabSz="637977">
                <a:lnSpc>
                  <a:spcPts val="1891"/>
                </a:lnSpc>
                <a:spcBef>
                  <a:spcPts val="77"/>
                </a:spcBef>
              </a:pPr>
              <a:r>
                <a:rPr sz="1605" b="1" kern="0" spc="31" dirty="0">
                  <a:solidFill>
                    <a:srgbClr val="030303"/>
                  </a:solidFill>
                  <a:latin typeface="Arial"/>
                  <a:cs typeface="Arial"/>
                </a:rPr>
                <a:t>Activity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13734" defTabSz="637977">
                <a:lnSpc>
                  <a:spcPts val="1933"/>
                </a:lnSpc>
              </a:pPr>
              <a:r>
                <a:rPr sz="1640" kern="0" dirty="0">
                  <a:solidFill>
                    <a:srgbClr val="161613"/>
                  </a:solidFill>
                  <a:latin typeface="Arial"/>
                  <a:cs typeface="Arial"/>
                </a:rPr>
                <a:t>(Value</a:t>
              </a:r>
              <a:r>
                <a:rPr sz="1640" kern="0" spc="31" dirty="0">
                  <a:solidFill>
                    <a:srgbClr val="161613"/>
                  </a:solidFill>
                  <a:latin typeface="Arial"/>
                  <a:cs typeface="Arial"/>
                </a:rPr>
                <a:t> </a:t>
              </a:r>
              <a:r>
                <a:rPr sz="1640" kern="0" spc="-7" dirty="0">
                  <a:solidFill>
                    <a:srgbClr val="161613"/>
                  </a:solidFill>
                  <a:latin typeface="Arial"/>
                  <a:cs typeface="Arial"/>
                </a:rPr>
                <a:t>Consumed)</a:t>
              </a:r>
              <a:endParaRPr sz="1640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  <p:sp>
          <p:nvSpPr>
            <p:cNvPr id="36" name="object 6">
              <a:extLst>
                <a:ext uri="{FF2B5EF4-FFF2-40B4-BE49-F238E27FC236}">
                  <a16:creationId xmlns:a16="http://schemas.microsoft.com/office/drawing/2014/main" id="{636971F1-D852-6B73-6ED3-E488F75B491C}"/>
                </a:ext>
              </a:extLst>
            </p:cNvPr>
            <p:cNvSpPr txBox="1"/>
            <p:nvPr/>
          </p:nvSpPr>
          <p:spPr>
            <a:xfrm>
              <a:off x="7451714" y="4551372"/>
              <a:ext cx="3533118" cy="522034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105000" defTabSz="637977">
                <a:spcBef>
                  <a:spcPts val="77"/>
                </a:spcBef>
              </a:pPr>
              <a:r>
                <a:rPr lang="ko-KR" sz="1605" b="1" kern="0" dirty="0">
                  <a:solidFill>
                    <a:srgbClr val="030303"/>
                  </a:solidFill>
                  <a:latin typeface="Arial"/>
                  <a:ea typeface="맑은 고딕"/>
                  <a:cs typeface="Arial"/>
                </a:rPr>
                <a:t>2. Activity 이후에 현금 지급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8861" defTabSz="637977">
                <a:spcBef>
                  <a:spcPts val="73"/>
                </a:spcBef>
              </a:pPr>
              <a:r>
                <a:rPr sz="1640" kern="0" spc="45" dirty="0">
                  <a:solidFill>
                    <a:srgbClr val="2B2B2A"/>
                  </a:solidFill>
                  <a:latin typeface="Arial"/>
                  <a:cs typeface="Arial"/>
                </a:rPr>
                <a:t>(</a:t>
              </a:r>
              <a:r>
                <a:rPr sz="1605" b="1" kern="0" spc="-7" dirty="0">
                  <a:solidFill>
                    <a:srgbClr val="AF663F"/>
                  </a:solidFill>
                  <a:latin typeface="Arial"/>
                  <a:cs typeface="Arial"/>
                </a:rPr>
                <a:t>Accrued Expense </a:t>
              </a:r>
              <a:r>
                <a:rPr sz="1640" kern="0" dirty="0">
                  <a:solidFill>
                    <a:srgbClr val="2B2B2A"/>
                  </a:solidFill>
                  <a:latin typeface="Arial"/>
                  <a:cs typeface="Arial"/>
                </a:rPr>
                <a:t>/</a:t>
              </a:r>
              <a:r>
                <a:rPr sz="1640" kern="0" spc="133" dirty="0">
                  <a:solidFill>
                    <a:srgbClr val="2B2B2A"/>
                  </a:solidFill>
                  <a:latin typeface="Arial"/>
                  <a:cs typeface="Arial"/>
                </a:rPr>
                <a:t> </a:t>
              </a:r>
              <a:r>
                <a:rPr sz="1605" b="1" kern="0" spc="-7" dirty="0">
                  <a:solidFill>
                    <a:srgbClr val="AF663F"/>
                  </a:solidFill>
                  <a:latin typeface="Arial"/>
                  <a:cs typeface="Arial"/>
                </a:rPr>
                <a:t>Liability</a:t>
              </a:r>
              <a:r>
                <a:rPr sz="1605" b="1" kern="0" spc="-7" dirty="0">
                  <a:solidFill>
                    <a:srgbClr val="161613"/>
                  </a:solidFill>
                  <a:latin typeface="Arial"/>
                  <a:cs typeface="Arial"/>
                </a:rPr>
                <a:t>)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9205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Types of Adjustments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방향의 시간 — 현금이 활동보다 먼저(Deferred) 또는 나중(Accrued)에 이동합니다.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1481328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 = Asset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지급.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Prepaid Advertising Expense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선급광고비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미리 지불한 대금은 자산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148132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Revenue  = Liability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수취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deferred rent revenue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선수임대료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받은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대가는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부채로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429768" y="3968496"/>
            <a:ext cx="82296" cy="148132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429768" y="3968496"/>
            <a:ext cx="5486400" cy="420624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30936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 = Liability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9224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지급.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Accrued Interest Expense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미지급이자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지불하지 않은 이자는 부채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72784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6272784" y="3968496"/>
            <a:ext cx="82296" cy="1481328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272784" y="3968496"/>
            <a:ext cx="5486400" cy="420624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473952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Revenue = Asset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92240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수취.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Accounts Receivable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매출채권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벌었으나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미수령한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29768" y="570585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685800" y="570585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장에서는 Expense 측면(Deferred·Accrued)에 집중합니다.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이연비용</a:t>
            </a: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선급비용</a:t>
            </a: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 자산이다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 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</a:t>
            </a: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이연비용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선급비용은 자산이다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기간에 걸쳐 효익을 제공하는 선지급액은 먼저 자산으로 기록됩니다.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87168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7512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지급이 여러 회계기간에 효익 제공.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asset(deferred expense)으로 기록.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4325112" y="2487168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62856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말, 소멸된 부분을 expense로 대체.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asset은 동일 금액만큼 감소.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8220456" y="2487168"/>
            <a:ext cx="82296" cy="23774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58200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supplies,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insurance, prepaid rent.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9768" y="508406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667512" y="508406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= 미래 효익을 산 것 → 소비될 때까지 자산으로 남습니다.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Deferred Advertising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4개월 광고 캠페인에 $800을 선지급.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Initial Entry  (28 Feb)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4개월 광고 캠페인 대금 $800을 현금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Deferred Advertising Expense (asset) ↑  800</a:t>
            </a:r>
            <a:endParaRPr lang="en-US" sz="1600" dirty="0">
              <a:highlight>
                <a:srgbClr val="00FF00"/>
              </a:highlight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Cash  ↓  800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Amortization  (31 Mar)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 ÷ 4 months = $200 / month (straight-line).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Advertising Expense ↑  200</a:t>
            </a:r>
            <a:endParaRPr lang="en-US" sz="1600" dirty="0">
              <a:highlight>
                <a:srgbClr val="00FF00"/>
              </a:highlight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Deferred Advertising Expense  ↓ 200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r>
              <a:rPr lang="en-US" sz="2400" dirty="0" err="1">
                <a:solidFill>
                  <a:schemeClr val="bg1"/>
                </a:solidFill>
              </a:rPr>
              <a:t>비용을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만드는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것은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광고가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실제로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나간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것이지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en-US" sz="2400" dirty="0" err="1">
                <a:solidFill>
                  <a:schemeClr val="bg1"/>
                </a:solidFill>
              </a:rPr>
              <a:t>돈을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지급한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것이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아니다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9941598E-2D7A-17ED-400A-C634F3DDA74F}"/>
              </a:ext>
            </a:extLst>
          </p:cNvPr>
          <p:cNvSpPr/>
          <p:nvPr/>
        </p:nvSpPr>
        <p:spPr>
          <a:xfrm>
            <a:off x="423672" y="5705856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096FEE4-7F18-EB1F-B660-6EA159B8210D}"/>
              </a:ext>
            </a:extLst>
          </p:cNvPr>
          <p:cNvSpPr/>
          <p:nvPr/>
        </p:nvSpPr>
        <p:spPr>
          <a:xfrm>
            <a:off x="679704" y="5705856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expense is the running of the ads, not the writing of the check.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2" name="Down Arrow 211">
            <a:extLst>
              <a:ext uri="{FF2B5EF4-FFF2-40B4-BE49-F238E27FC236}">
                <a16:creationId xmlns:a16="http://schemas.microsoft.com/office/drawing/2014/main" id="{7A914D3F-C49C-F74C-A0B0-F81C07779BDF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4" name="Down Arrow 243">
            <a:extLst>
              <a:ext uri="{FF2B5EF4-FFF2-40B4-BE49-F238E27FC236}">
                <a16:creationId xmlns:a16="http://schemas.microsoft.com/office/drawing/2014/main" id="{4574C5E5-4218-674B-8FB2-AB88F7FB3FDD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0" name="Down Arrow 249">
            <a:extLst>
              <a:ext uri="{FF2B5EF4-FFF2-40B4-BE49-F238E27FC236}">
                <a16:creationId xmlns:a16="http://schemas.microsoft.com/office/drawing/2014/main" id="{99FBA779-2143-0245-85BB-6BF02CC500E6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rgbClr val="FF0000"/>
                </a:solidFill>
                <a:highlight>
                  <a:srgbClr val="FFFF00"/>
                </a:highlight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37E7F575-6794-1144-AF7A-A8108FEBA4FE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704E9144-FC83-454C-95F5-4C78708FAD9D}"/>
              </a:ext>
            </a:extLst>
          </p:cNvPr>
          <p:cNvSpPr/>
          <p:nvPr/>
        </p:nvSpPr>
        <p:spPr>
          <a:xfrm>
            <a:off x="1961115" y="4272100"/>
            <a:ext cx="10045767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58903224-EF61-C544-833B-9127FEF381D3}"/>
              </a:ext>
            </a:extLst>
          </p:cNvPr>
          <p:cNvGrpSpPr/>
          <p:nvPr/>
        </p:nvGrpSpPr>
        <p:grpSpPr>
          <a:xfrm>
            <a:off x="2170301" y="4562741"/>
            <a:ext cx="9543495" cy="756003"/>
            <a:chOff x="719091" y="1719857"/>
            <a:chExt cx="9543495" cy="756003"/>
          </a:xfrm>
        </p:grpSpPr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E76F8F90-69C0-7F42-B4F4-839A80E838A9}"/>
                </a:ext>
              </a:extLst>
            </p:cNvPr>
            <p:cNvSpPr txBox="1"/>
            <p:nvPr/>
          </p:nvSpPr>
          <p:spPr>
            <a:xfrm>
              <a:off x="1420427" y="1719860"/>
              <a:ext cx="5476017" cy="75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월부터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월까지 진행될 광고 캠페인 비용을 은행 이체로 결제함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67211A87-A34F-EE49-A467-C2CED1BFD348}"/>
                </a:ext>
              </a:extLst>
            </p:cNvPr>
            <p:cNvSpPr txBox="1"/>
            <p:nvPr/>
          </p:nvSpPr>
          <p:spPr>
            <a:xfrm>
              <a:off x="6896444" y="1719857"/>
              <a:ext cx="1683072" cy="75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Deferred expenses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800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344B05B2-8489-0645-8022-19D9434646C0}"/>
                </a:ext>
              </a:extLst>
            </p:cNvPr>
            <p:cNvSpPr txBox="1"/>
            <p:nvPr/>
          </p:nvSpPr>
          <p:spPr>
            <a:xfrm>
              <a:off x="8579514" y="1719857"/>
              <a:ext cx="1683072" cy="7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Cash</a:t>
              </a:r>
              <a:endParaRPr lang="en-GB" sz="1600" b="1" dirty="0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800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50221051-F4DD-B94C-9D19-915BEB92AA23}"/>
                </a:ext>
              </a:extLst>
            </p:cNvPr>
            <p:cNvSpPr txBox="1"/>
            <p:nvPr/>
          </p:nvSpPr>
          <p:spPr>
            <a:xfrm>
              <a:off x="719091" y="1719857"/>
              <a:ext cx="701336" cy="75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13</a:t>
              </a:r>
            </a:p>
          </p:txBody>
        </p:sp>
      </p:grp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05060547-ED57-9148-9CAB-5BF64BE4BED3}"/>
              </a:ext>
            </a:extLst>
          </p:cNvPr>
          <p:cNvSpPr/>
          <p:nvPr/>
        </p:nvSpPr>
        <p:spPr>
          <a:xfrm rot="10800000">
            <a:off x="88847" y="859652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Down Arrow 400">
            <a:extLst>
              <a:ext uri="{FF2B5EF4-FFF2-40B4-BE49-F238E27FC236}">
                <a16:creationId xmlns:a16="http://schemas.microsoft.com/office/drawing/2014/main" id="{AD2F51B9-A2E7-094C-BE08-A9CA73C0F3DF}"/>
              </a:ext>
            </a:extLst>
          </p:cNvPr>
          <p:cNvSpPr/>
          <p:nvPr/>
        </p:nvSpPr>
        <p:spPr>
          <a:xfrm>
            <a:off x="88847" y="1929152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6F67AB2-14C9-D246-9E76-7C10572B4738}"/>
              </a:ext>
            </a:extLst>
          </p:cNvPr>
          <p:cNvSpPr txBox="1"/>
          <p:nvPr/>
        </p:nvSpPr>
        <p:spPr>
          <a:xfrm>
            <a:off x="8343365" y="4556096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133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800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5C468988-8152-2E45-9B17-656F6ACA3753}"/>
              </a:ext>
            </a:extLst>
          </p:cNvPr>
          <p:cNvSpPr txBox="1"/>
          <p:nvPr/>
        </p:nvSpPr>
        <p:spPr>
          <a:xfrm>
            <a:off x="10027674" y="4548904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133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800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04B16388-6D39-F448-83B2-12A59AFB5109}"/>
              </a:ext>
            </a:extLst>
          </p:cNvPr>
          <p:cNvSpPr txBox="1"/>
          <p:nvPr/>
        </p:nvSpPr>
        <p:spPr>
          <a:xfrm>
            <a:off x="6403129" y="3421071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460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1448676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2.96296E-6 L -0.57435 -0.55718 " pathEditMode="relative" rAng="0" ptsTypes="AA">
                                      <p:cBhvr>
                                        <p:cTn id="6" dur="3000" fill="hold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24" y="-2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0"/>
                            </p:stCondLst>
                            <p:childTnLst>
                              <p:par>
                                <p:cTn id="8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3.7037E-7 L -0.35326 -0.46088 " pathEditMode="relative" rAng="0" ptsTypes="AA">
                                      <p:cBhvr>
                                        <p:cTn id="40" dur="3000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669" y="-2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4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4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/>
      <p:bldP spid="175" grpId="0"/>
      <p:bldP spid="2" grpId="0" animBg="1"/>
      <p:bldP spid="255" grpId="0"/>
      <p:bldP spid="256" grpId="0" animBg="1"/>
      <p:bldP spid="399" grpId="0" animBg="1"/>
      <p:bldP spid="401" grpId="0" animBg="1"/>
      <p:bldP spid="391" grpId="0" animBg="1"/>
      <p:bldP spid="391" grpId="1" animBg="1"/>
      <p:bldP spid="392" grpId="0" animBg="1"/>
      <p:bldP spid="392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449D72-B487-F94C-A127-21B967258AB2}"/>
              </a:ext>
            </a:extLst>
          </p:cNvPr>
          <p:cNvSpPr txBox="1"/>
          <p:nvPr/>
        </p:nvSpPr>
        <p:spPr>
          <a:xfrm>
            <a:off x="2570770" y="6192000"/>
            <a:ext cx="1585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Advertising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EEBC55C-3C1F-1642-8926-FEB0EBD0F049}"/>
              </a:ext>
            </a:extLst>
          </p:cNvPr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Depreciation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8" name="Down Arrow 217">
            <a:extLst>
              <a:ext uri="{FF2B5EF4-FFF2-40B4-BE49-F238E27FC236}">
                <a16:creationId xmlns:a16="http://schemas.microsoft.com/office/drawing/2014/main" id="{4482D691-4D69-A242-A177-A1C5F39277C4}"/>
              </a:ext>
            </a:extLst>
          </p:cNvPr>
          <p:cNvSpPr/>
          <p:nvPr/>
        </p:nvSpPr>
        <p:spPr>
          <a:xfrm rot="10800000">
            <a:off x="10630284" y="365974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4" name="Down Arrow 243">
            <a:extLst>
              <a:ext uri="{FF2B5EF4-FFF2-40B4-BE49-F238E27FC236}">
                <a16:creationId xmlns:a16="http://schemas.microsoft.com/office/drawing/2014/main" id="{4574C5E5-4218-674B-8FB2-AB88F7FB3FDD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0" name="Down Arrow 249">
            <a:extLst>
              <a:ext uri="{FF2B5EF4-FFF2-40B4-BE49-F238E27FC236}">
                <a16:creationId xmlns:a16="http://schemas.microsoft.com/office/drawing/2014/main" id="{99FBA779-2143-0245-85BB-6BF02CC500E6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17178582-0F2F-0E48-9096-C57B00200624}"/>
              </a:ext>
            </a:extLst>
          </p:cNvPr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60" name="Down Arrow 259">
            <a:extLst>
              <a:ext uri="{FF2B5EF4-FFF2-40B4-BE49-F238E27FC236}">
                <a16:creationId xmlns:a16="http://schemas.microsoft.com/office/drawing/2014/main" id="{14A5B91A-41ED-424E-AFFC-4DC1EF5555A7}"/>
              </a:ext>
            </a:extLst>
          </p:cNvPr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7E245BC-4FC8-B845-9D5B-E499FC4224AC}"/>
              </a:ext>
            </a:extLst>
          </p:cNvPr>
          <p:cNvSpPr txBox="1"/>
          <p:nvPr/>
        </p:nvSpPr>
        <p:spPr>
          <a:xfrm>
            <a:off x="3577894" y="591237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200</a:t>
            </a:r>
          </a:p>
        </p:txBody>
      </p:sp>
      <p:sp>
        <p:nvSpPr>
          <p:cNvPr id="262" name="Down Arrow 261">
            <a:extLst>
              <a:ext uri="{FF2B5EF4-FFF2-40B4-BE49-F238E27FC236}">
                <a16:creationId xmlns:a16="http://schemas.microsoft.com/office/drawing/2014/main" id="{9793E6F4-4628-D348-BD73-B45AA8F10CF4}"/>
              </a:ext>
            </a:extLst>
          </p:cNvPr>
          <p:cNvSpPr/>
          <p:nvPr/>
        </p:nvSpPr>
        <p:spPr>
          <a:xfrm rot="10800000">
            <a:off x="3096000" y="59632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42B80C80-A341-6940-8E9A-AB568387E8CE}"/>
              </a:ext>
            </a:extLst>
          </p:cNvPr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200</a:t>
            </a:r>
          </a:p>
        </p:txBody>
      </p:sp>
      <p:sp>
        <p:nvSpPr>
          <p:cNvPr id="264" name="Down Arrow 263">
            <a:extLst>
              <a:ext uri="{FF2B5EF4-FFF2-40B4-BE49-F238E27FC236}">
                <a16:creationId xmlns:a16="http://schemas.microsoft.com/office/drawing/2014/main" id="{F638D17A-434B-E849-8978-BF635C049B7D}"/>
              </a:ext>
            </a:extLst>
          </p:cNvPr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151B6A92-2701-2048-A0DE-3EA783245FB9}"/>
              </a:ext>
            </a:extLst>
          </p:cNvPr>
          <p:cNvGrpSpPr/>
          <p:nvPr/>
        </p:nvGrpSpPr>
        <p:grpSpPr>
          <a:xfrm>
            <a:off x="852407" y="5920266"/>
            <a:ext cx="309700" cy="224238"/>
            <a:chOff x="770743" y="3715228"/>
            <a:chExt cx="309700" cy="224238"/>
          </a:xfrm>
        </p:grpSpPr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2E2E7022-3AC3-4141-A9D3-0559902526E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8ED0D82D-C4ED-BB4B-9F5D-50AC2840E0FF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84FAF781-024F-7F47-BF3A-83A8D1BDE460}"/>
              </a:ext>
            </a:extLst>
          </p:cNvPr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B310EC8B-7606-CF46-949E-FC3A48253F7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B5598E6B-8A94-8F44-A402-08032494757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15</a:t>
              </a:r>
            </a:p>
          </p:txBody>
        </p:sp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E41458D8-C906-4446-B5B7-2D911C334472}"/>
              </a:ext>
            </a:extLst>
          </p:cNvPr>
          <p:cNvGrpSpPr/>
          <p:nvPr/>
        </p:nvGrpSpPr>
        <p:grpSpPr>
          <a:xfrm>
            <a:off x="2620396" y="5933422"/>
            <a:ext cx="309700" cy="224238"/>
            <a:chOff x="770743" y="3715228"/>
            <a:chExt cx="309700" cy="224238"/>
          </a:xfrm>
        </p:grpSpPr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D13E324C-B2AE-414B-B7F6-4B504A764B1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4DFF5B3D-46BE-CE41-9A23-C390F5D92B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15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10B35FA-FFD5-244C-8FBB-DB3A536F6315}"/>
              </a:ext>
            </a:extLst>
          </p:cNvPr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273" name="L-Shape 272">
              <a:extLst>
                <a:ext uri="{FF2B5EF4-FFF2-40B4-BE49-F238E27FC236}">
                  <a16:creationId xmlns:a16="http://schemas.microsoft.com/office/drawing/2014/main" id="{DF7D733A-4FFE-744F-B214-78B04041F690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274" name="L-Shape 273">
              <a:extLst>
                <a:ext uri="{FF2B5EF4-FFF2-40B4-BE49-F238E27FC236}">
                  <a16:creationId xmlns:a16="http://schemas.microsoft.com/office/drawing/2014/main" id="{15DAAC84-AD00-F244-9996-0E67F278AF0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9DA43E6F-DA2D-6D47-9527-3D4C06A2AADE}"/>
              </a:ext>
            </a:extLst>
          </p:cNvPr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Accumulated depreciation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390520E5-A3C2-894D-85E5-0E4333EB6E08}"/>
              </a:ext>
            </a:extLst>
          </p:cNvPr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394" name="Down Arrow 393">
            <a:extLst>
              <a:ext uri="{FF2B5EF4-FFF2-40B4-BE49-F238E27FC236}">
                <a16:creationId xmlns:a16="http://schemas.microsoft.com/office/drawing/2014/main" id="{B0F8BD20-9927-4341-B34D-0F3411EA8E55}"/>
              </a:ext>
            </a:extLst>
          </p:cNvPr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8506339-CA6B-4143-ADBA-38D4D796E42A}"/>
              </a:ext>
            </a:extLst>
          </p:cNvPr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FE70CBEC-117D-0044-B4ED-7B3D135EE71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A4CE54F9-C870-974D-B405-FB6285BA0682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A94AD495-E79D-8F49-95B5-678342740E3C}"/>
              </a:ext>
            </a:extLst>
          </p:cNvPr>
          <p:cNvGrpSpPr/>
          <p:nvPr/>
        </p:nvGrpSpPr>
        <p:grpSpPr>
          <a:xfrm>
            <a:off x="2556000" y="563302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5" name="L-Shape 414">
              <a:extLst>
                <a:ext uri="{FF2B5EF4-FFF2-40B4-BE49-F238E27FC236}">
                  <a16:creationId xmlns:a16="http://schemas.microsoft.com/office/drawing/2014/main" id="{4CD4DED9-CB9E-AC4B-BE2A-78F037DBFEA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6" name="L-Shape 415">
              <a:extLst>
                <a:ext uri="{FF2B5EF4-FFF2-40B4-BE49-F238E27FC236}">
                  <a16:creationId xmlns:a16="http://schemas.microsoft.com/office/drawing/2014/main" id="{FC60011B-6414-164E-9D9C-FE2679057335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A5A2220-0725-2E4C-8EE1-0CFDAAB53629}"/>
              </a:ext>
            </a:extLst>
          </p:cNvPr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8" name="L-Shape 417">
              <a:extLst>
                <a:ext uri="{FF2B5EF4-FFF2-40B4-BE49-F238E27FC236}">
                  <a16:creationId xmlns:a16="http://schemas.microsoft.com/office/drawing/2014/main" id="{CFC81F53-CA91-174B-9872-9729D066141F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9" name="L-Shape 418">
              <a:extLst>
                <a:ext uri="{FF2B5EF4-FFF2-40B4-BE49-F238E27FC236}">
                  <a16:creationId xmlns:a16="http://schemas.microsoft.com/office/drawing/2014/main" id="{E8759028-EA69-3049-85B6-E41AA8BA652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E86BC8D0-46A4-1641-9648-56CB73A642B7}"/>
              </a:ext>
            </a:extLst>
          </p:cNvPr>
          <p:cNvSpPr/>
          <p:nvPr/>
        </p:nvSpPr>
        <p:spPr>
          <a:xfrm>
            <a:off x="1357425" y="3894835"/>
            <a:ext cx="10586794" cy="1205854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BF650763-8546-3942-99C4-889A5AA3D7E2}"/>
              </a:ext>
            </a:extLst>
          </p:cNvPr>
          <p:cNvSpPr/>
          <p:nvPr/>
        </p:nvSpPr>
        <p:spPr>
          <a:xfrm rot="10800000">
            <a:off x="153289" y="4549188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F3223B55-E09F-A142-AA0E-15DAC02FC75D}"/>
              </a:ext>
            </a:extLst>
          </p:cNvPr>
          <p:cNvSpPr/>
          <p:nvPr/>
        </p:nvSpPr>
        <p:spPr>
          <a:xfrm>
            <a:off x="152838" y="842384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Down Arrow 400">
            <a:extLst>
              <a:ext uri="{FF2B5EF4-FFF2-40B4-BE49-F238E27FC236}">
                <a16:creationId xmlns:a16="http://schemas.microsoft.com/office/drawing/2014/main" id="{ADF58291-F609-CE4B-AB66-932F8EFF86D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1" name="Down Arrow 440">
            <a:extLst>
              <a:ext uri="{FF2B5EF4-FFF2-40B4-BE49-F238E27FC236}">
                <a16:creationId xmlns:a16="http://schemas.microsoft.com/office/drawing/2014/main" id="{33B4ED47-99C6-FD46-8BF9-48A82A58C1A9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4B429123-235A-4646-8E82-4AAA5DAAADAF}"/>
              </a:ext>
            </a:extLst>
          </p:cNvPr>
          <p:cNvGrpSpPr/>
          <p:nvPr/>
        </p:nvGrpSpPr>
        <p:grpSpPr>
          <a:xfrm>
            <a:off x="1536422" y="4119212"/>
            <a:ext cx="10186175" cy="756551"/>
            <a:chOff x="719091" y="1719856"/>
            <a:chExt cx="9540882" cy="791545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7A56EE0E-E351-754D-B8FC-6300B728C0B6}"/>
                </a:ext>
              </a:extLst>
            </p:cNvPr>
            <p:cNvSpPr txBox="1"/>
            <p:nvPr/>
          </p:nvSpPr>
          <p:spPr>
            <a:xfrm>
              <a:off x="1460917" y="1719859"/>
              <a:ext cx="5648774" cy="7909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31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일까지 사용된 </a:t>
              </a:r>
              <a:r>
                <a:rPr lang="ko-KR" altLang="en-US" sz="20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이연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(deferred)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광고비 를 회계 처리함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AC665F92-D86D-0942-ACCD-F5E281D98EC7}"/>
                </a:ext>
              </a:extLst>
            </p:cNvPr>
            <p:cNvSpPr txBox="1"/>
            <p:nvPr/>
          </p:nvSpPr>
          <p:spPr>
            <a:xfrm>
              <a:off x="7107675" y="1720432"/>
              <a:ext cx="1576448" cy="7909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Advertising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200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4F467518-65B3-2E41-A651-BA973AD881F8}"/>
                </a:ext>
              </a:extLst>
            </p:cNvPr>
            <p:cNvSpPr txBox="1"/>
            <p:nvPr/>
          </p:nvSpPr>
          <p:spPr>
            <a:xfrm>
              <a:off x="8683525" y="1720431"/>
              <a:ext cx="1576448" cy="79096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Deferred expenses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200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31DF9A88-A838-3047-BBF3-7A828B48640D}"/>
                </a:ext>
              </a:extLst>
            </p:cNvPr>
            <p:cNvSpPr txBox="1"/>
            <p:nvPr/>
          </p:nvSpPr>
          <p:spPr>
            <a:xfrm>
              <a:off x="719091" y="1719856"/>
              <a:ext cx="741825" cy="7909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15</a:t>
              </a:r>
            </a:p>
          </p:txBody>
        </p:sp>
      </p:grpSp>
      <p:sp>
        <p:nvSpPr>
          <p:cNvPr id="372" name="TextBox 371">
            <a:extLst>
              <a:ext uri="{FF2B5EF4-FFF2-40B4-BE49-F238E27FC236}">
                <a16:creationId xmlns:a16="http://schemas.microsoft.com/office/drawing/2014/main" id="{DED67D05-3EDA-AD40-B1FB-71F354153A06}"/>
              </a:ext>
            </a:extLst>
          </p:cNvPr>
          <p:cNvSpPr txBox="1"/>
          <p:nvPr/>
        </p:nvSpPr>
        <p:spPr>
          <a:xfrm>
            <a:off x="6403128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160</a:t>
            </a:r>
            <a:endParaRPr lang="en-GB" sz="2400"/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BCC9A204-7955-AF40-B3BC-6A413026ED4F}"/>
              </a:ext>
            </a:extLst>
          </p:cNvPr>
          <p:cNvSpPr txBox="1"/>
          <p:nvPr/>
        </p:nvSpPr>
        <p:spPr>
          <a:xfrm>
            <a:off x="6403129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360</a:t>
            </a:r>
            <a:endParaRPr lang="en-GB" sz="240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EC844A8B-5679-274C-BB36-459FB6B657A2}"/>
              </a:ext>
            </a:extLst>
          </p:cNvPr>
          <p:cNvSpPr txBox="1"/>
          <p:nvPr/>
        </p:nvSpPr>
        <p:spPr>
          <a:xfrm>
            <a:off x="8351278" y="4119762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200</a:t>
            </a: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D3953314-A136-7E4D-821E-E9AE82B803ED}"/>
              </a:ext>
            </a:extLst>
          </p:cNvPr>
          <p:cNvSpPr txBox="1"/>
          <p:nvPr/>
        </p:nvSpPr>
        <p:spPr>
          <a:xfrm>
            <a:off x="10039527" y="4119900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200</a:t>
            </a:r>
          </a:p>
        </p:txBody>
      </p:sp>
    </p:spTree>
    <p:extLst>
      <p:ext uri="{BB962C8B-B14F-4D97-AF65-F5344CB8AC3E}">
        <p14:creationId xmlns:p14="http://schemas.microsoft.com/office/powerpoint/2010/main" val="2499450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2.96296E-6 L -0.5181 0.18703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911" y="935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2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96296E-6 L -0.43646 -0.3838 " pathEditMode="relative" rAng="0" ptsTypes="AA">
                                      <p:cBhvr>
                                        <p:cTn id="47" dur="3000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823" y="-19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/>
      <p:bldP spid="261" grpId="0"/>
      <p:bldP spid="262" grpId="0" animBg="1"/>
      <p:bldP spid="263" grpId="0"/>
      <p:bldP spid="264" grpId="0" animBg="1"/>
      <p:bldP spid="399" grpId="0" animBg="1"/>
      <p:bldP spid="400" grpId="0" animBg="1"/>
      <p:bldP spid="372" grpId="0"/>
      <p:bldP spid="373" grpId="0"/>
      <p:bldP spid="271" grpId="0" animBg="1"/>
      <p:bldP spid="271" grpId="1" animBg="1"/>
      <p:bldP spid="383" grpId="0" animBg="1"/>
      <p:bldP spid="383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Depreciation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유형자산의 구입은 미래 용역의 묶음을 구입하는 것입니다.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87168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9224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Depreciation은 유형자산의 원가를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내용연수에 걸쳐 체계적으로 배분.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4325112" y="2487168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44568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 소멸분을 Depreciation Expense로.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 감소 — contra-asset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'Accumulated Depreciation' 사용.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8220456" y="2487168"/>
            <a:ext cx="82296" cy="246888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39912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vehicles,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furniture, machinery.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9768" y="517550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667512" y="517550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감가상각은 이연비용의 한 형태 — 자산의 원가를 사용 기간에 걸쳐 비용화합니다.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Depreciation — Worked Example (Global Books)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$6,000를 취득하고 매월 감가상각합니다.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Purchase  (31 Jan)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$6,000을 취득 (자금은 bank loan 등으로 조달).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Equipment ↑  6,000</a:t>
            </a:r>
            <a:endParaRPr lang="en-US" sz="1600" dirty="0">
              <a:highlight>
                <a:srgbClr val="00FF00"/>
              </a:highlight>
            </a:endParaRPr>
          </a:p>
          <a:p>
            <a:pPr lvl="3"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Cash ↓  6,000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&amp; Monthly Entry  (31 Mar)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 $6,000 − 잔존가치 $0 ÷ 60개월 = $100 / month.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altLang="ko-KR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altLang="ko-KR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  Depreciation Expense ↑  100</a:t>
            </a:r>
            <a:endParaRPr lang="en-US" sz="1600" dirty="0">
              <a:highlight>
                <a:srgbClr val="00FF00"/>
              </a:highlight>
            </a:endParaRPr>
          </a:p>
          <a:p>
            <a:pPr lvl="2"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Accumulated Depreciation ↑ 100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502920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Depreciation: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contra-asset 계정 — net book value가 매월 $100씩 감소합니다 ($6,000 ÷ 5년/60개월).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3074426"/>
            <a:ext cx="1620000" cy="884272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2" name="Down Arrow 211">
            <a:extLst>
              <a:ext uri="{FF2B5EF4-FFF2-40B4-BE49-F238E27FC236}">
                <a16:creationId xmlns:a16="http://schemas.microsoft.com/office/drawing/2014/main" id="{7A914D3F-C49C-F74C-A0B0-F81C07779BDF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37E7F575-6794-1144-AF7A-A8108FEBA4FE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25929DC-4013-9F4F-8055-BAF07CAD9B57}"/>
              </a:ext>
            </a:extLst>
          </p:cNvPr>
          <p:cNvSpPr/>
          <p:nvPr/>
        </p:nvSpPr>
        <p:spPr>
          <a:xfrm>
            <a:off x="1160723" y="5050166"/>
            <a:ext cx="1053841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C2609F2-0128-8440-B804-2ADB7C3C9D10}"/>
              </a:ext>
            </a:extLst>
          </p:cNvPr>
          <p:cNvGrpSpPr/>
          <p:nvPr/>
        </p:nvGrpSpPr>
        <p:grpSpPr>
          <a:xfrm>
            <a:off x="1356400" y="5312636"/>
            <a:ext cx="10188967" cy="756004"/>
            <a:chOff x="926134" y="1719856"/>
            <a:chExt cx="9204181" cy="75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0C6E394-BA50-DC42-9EA0-5AC0F044AE4E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ZZZ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공급업체로부터 장비를 구매 및 설치함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결제 기한은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30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일 후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D22722E-44A0-0B4F-A765-1936A454F10F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Equipment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6,000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0557586-07D6-9341-B0FF-924B9D1062EE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Accounts payable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6,000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15C9147-F1B4-8644-ADD6-180FE8F82BAB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4</a:t>
              </a: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F5A17972-80A9-1141-B0D0-A1790F78CD82}"/>
              </a:ext>
            </a:extLst>
          </p:cNvPr>
          <p:cNvSpPr txBox="1"/>
          <p:nvPr/>
        </p:nvSpPr>
        <p:spPr>
          <a:xfrm>
            <a:off x="8179227" y="5312923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6,000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7A8F3FE-3F4E-7442-8F1F-36E372EEB08D}"/>
              </a:ext>
            </a:extLst>
          </p:cNvPr>
          <p:cNvSpPr txBox="1"/>
          <p:nvPr/>
        </p:nvSpPr>
        <p:spPr>
          <a:xfrm>
            <a:off x="9862297" y="5317036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6,000</a:t>
            </a:r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D8424DC4-D9B3-C548-9DDB-20728B9CC3A2}"/>
              </a:ext>
            </a:extLst>
          </p:cNvPr>
          <p:cNvSpPr/>
          <p:nvPr/>
        </p:nvSpPr>
        <p:spPr>
          <a:xfrm rot="10800000">
            <a:off x="153289" y="824059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Down Arrow 114">
            <a:extLst>
              <a:ext uri="{FF2B5EF4-FFF2-40B4-BE49-F238E27FC236}">
                <a16:creationId xmlns:a16="http://schemas.microsoft.com/office/drawing/2014/main" id="{2D1DBCBD-810C-A940-9707-5F9831CF63EB}"/>
              </a:ext>
            </a:extLst>
          </p:cNvPr>
          <p:cNvSpPr/>
          <p:nvPr/>
        </p:nvSpPr>
        <p:spPr>
          <a:xfrm rot="10800000">
            <a:off x="11196000" y="826738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186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1.11111E-6 L -0.65716 -0.34074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865" y="-1703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4.07407E-6 L -0.25078 -0.62916 " pathEditMode="relative" rAng="0" ptsTypes="AA">
                                      <p:cBhvr>
                                        <p:cTn id="48" dur="3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39" y="-3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222" grpId="0"/>
      <p:bldP spid="223" grpId="0" animBg="1"/>
      <p:bldP spid="224" grpId="0"/>
      <p:bldP spid="225" grpId="0" animBg="1"/>
      <p:bldP spid="396" grpId="0"/>
      <p:bldP spid="112" grpId="0" animBg="1"/>
      <p:bldP spid="112" grpId="1" animBg="1"/>
      <p:bldP spid="113" grpId="0" animBg="1"/>
      <p:bldP spid="113" grpId="1" animBg="1"/>
      <p:bldP spid="114" grpId="0" animBg="1"/>
      <p:bldP spid="11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19318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52792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401" name="Rectangle 400">
            <a:extLst>
              <a:ext uri="{FF2B5EF4-FFF2-40B4-BE49-F238E27FC236}">
                <a16:creationId xmlns:a16="http://schemas.microsoft.com/office/drawing/2014/main" id="{36D6E7A3-1CF3-F44A-8203-C6DEE141B73C}"/>
              </a:ext>
            </a:extLst>
          </p:cNvPr>
          <p:cNvSpPr/>
          <p:nvPr/>
        </p:nvSpPr>
        <p:spPr>
          <a:xfrm>
            <a:off x="512592" y="1760497"/>
            <a:ext cx="1917459" cy="2514104"/>
          </a:xfrm>
          <a:prstGeom prst="rect">
            <a:avLst/>
          </a:prstGeom>
          <a:solidFill>
            <a:srgbClr val="4BEDFF">
              <a:alpha val="35000"/>
            </a:srgbClr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n-GB">
                <a:solidFill>
                  <a:schemeClr val="accent1"/>
                </a:solidFill>
                <a:latin typeface="Avenir"/>
              </a:rPr>
              <a:t>Net book value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EEBC55C-3C1F-1642-8926-FEB0EBD0F049}"/>
              </a:ext>
            </a:extLst>
          </p:cNvPr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Depreciation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8" name="Down Arrow 217">
            <a:extLst>
              <a:ext uri="{FF2B5EF4-FFF2-40B4-BE49-F238E27FC236}">
                <a16:creationId xmlns:a16="http://schemas.microsoft.com/office/drawing/2014/main" id="{4482D691-4D69-A242-A177-A1C5F39277C4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17178582-0F2F-0E48-9096-C57B00200624}"/>
              </a:ext>
            </a:extLst>
          </p:cNvPr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60" name="Down Arrow 259">
            <a:extLst>
              <a:ext uri="{FF2B5EF4-FFF2-40B4-BE49-F238E27FC236}">
                <a16:creationId xmlns:a16="http://schemas.microsoft.com/office/drawing/2014/main" id="{14A5B91A-41ED-424E-AFFC-4DC1EF5555A7}"/>
              </a:ext>
            </a:extLst>
          </p:cNvPr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151B6A92-2701-2048-A0DE-3EA783245FB9}"/>
              </a:ext>
            </a:extLst>
          </p:cNvPr>
          <p:cNvGrpSpPr/>
          <p:nvPr/>
        </p:nvGrpSpPr>
        <p:grpSpPr>
          <a:xfrm>
            <a:off x="852407" y="5920266"/>
            <a:ext cx="309700" cy="224238"/>
            <a:chOff x="770743" y="3715228"/>
            <a:chExt cx="309700" cy="224238"/>
          </a:xfrm>
        </p:grpSpPr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2E2E7022-3AC3-4141-A9D3-0559902526E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8ED0D82D-C4ED-BB4B-9F5D-50AC2840E0FF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59591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10B35FA-FFD5-244C-8FBB-DB3A536F6315}"/>
              </a:ext>
            </a:extLst>
          </p:cNvPr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273" name="L-Shape 272">
              <a:extLst>
                <a:ext uri="{FF2B5EF4-FFF2-40B4-BE49-F238E27FC236}">
                  <a16:creationId xmlns:a16="http://schemas.microsoft.com/office/drawing/2014/main" id="{DF7D733A-4FFE-744F-B214-78B04041F690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274" name="L-Shape 273">
              <a:extLst>
                <a:ext uri="{FF2B5EF4-FFF2-40B4-BE49-F238E27FC236}">
                  <a16:creationId xmlns:a16="http://schemas.microsoft.com/office/drawing/2014/main" id="{15DAAC84-AD00-F244-9996-0E67F278AF0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9DA43E6F-DA2D-6D47-9527-3D4C06A2AADE}"/>
              </a:ext>
            </a:extLst>
          </p:cNvPr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Accumulated depreciation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390520E5-A3C2-894D-85E5-0E4333EB6E08}"/>
              </a:ext>
            </a:extLst>
          </p:cNvPr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394" name="Down Arrow 393">
            <a:extLst>
              <a:ext uri="{FF2B5EF4-FFF2-40B4-BE49-F238E27FC236}">
                <a16:creationId xmlns:a16="http://schemas.microsoft.com/office/drawing/2014/main" id="{B0F8BD20-9927-4341-B34D-0F3411EA8E55}"/>
              </a:ext>
            </a:extLst>
          </p:cNvPr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8506339-CA6B-4143-ADBA-38D4D796E42A}"/>
              </a:ext>
            </a:extLst>
          </p:cNvPr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FE70CBEC-117D-0044-B4ED-7B3D135EE71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A4CE54F9-C870-974D-B405-FB6285BA0682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63169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A5A2220-0725-2E4C-8EE1-0CFDAAB53629}"/>
              </a:ext>
            </a:extLst>
          </p:cNvPr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8" name="L-Shape 417">
              <a:extLst>
                <a:ext uri="{FF2B5EF4-FFF2-40B4-BE49-F238E27FC236}">
                  <a16:creationId xmlns:a16="http://schemas.microsoft.com/office/drawing/2014/main" id="{CFC81F53-CA91-174B-9872-9729D066141F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9" name="L-Shape 418">
              <a:extLst>
                <a:ext uri="{FF2B5EF4-FFF2-40B4-BE49-F238E27FC236}">
                  <a16:creationId xmlns:a16="http://schemas.microsoft.com/office/drawing/2014/main" id="{E8759028-EA69-3049-85B6-E41AA8BA652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2A6CC128-2BB1-814E-AF95-807893CEB4D5}"/>
              </a:ext>
            </a:extLst>
          </p:cNvPr>
          <p:cNvSpPr/>
          <p:nvPr/>
        </p:nvSpPr>
        <p:spPr>
          <a:xfrm>
            <a:off x="1541040" y="4152714"/>
            <a:ext cx="1045279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12A284CE-F201-FC4F-843D-D07C52C430FE}"/>
              </a:ext>
            </a:extLst>
          </p:cNvPr>
          <p:cNvGrpSpPr/>
          <p:nvPr/>
        </p:nvGrpSpPr>
        <p:grpSpPr>
          <a:xfrm>
            <a:off x="1672955" y="4447820"/>
            <a:ext cx="10188967" cy="756004"/>
            <a:chOff x="926134" y="1719856"/>
            <a:chExt cx="9204181" cy="750147"/>
          </a:xfrm>
        </p:grpSpPr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09899927-0A08-8F43-BCDA-944874913751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해당 장비는 잔존가치 없이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년간 사용할 예정이며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이번 달 사용분에 대해 회계 처리함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A23123D8-819B-5641-A123-CB4460028A7E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Depreciation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100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89F1C80-6910-CB4F-B289-CC2BA4B3F387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Accumulated depreciation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100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326429F8-3C03-D744-85CF-0B72BE930EAF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14</a:t>
              </a: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FCA03A99-B2BC-F041-993A-A7237C69C7B9}"/>
              </a:ext>
            </a:extLst>
          </p:cNvPr>
          <p:cNvSpPr txBox="1"/>
          <p:nvPr/>
        </p:nvSpPr>
        <p:spPr>
          <a:xfrm>
            <a:off x="8498460" y="4443450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8CF2E893-19EA-1847-9C73-0A7A024644C6}"/>
              </a:ext>
            </a:extLst>
          </p:cNvPr>
          <p:cNvSpPr txBox="1"/>
          <p:nvPr/>
        </p:nvSpPr>
        <p:spPr>
          <a:xfrm>
            <a:off x="10181530" y="4447939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100</a:t>
            </a:r>
          </a:p>
        </p:txBody>
      </p: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2FAF7EA8-234B-044C-ADFC-14EFF7ECB645}"/>
              </a:ext>
            </a:extLst>
          </p:cNvPr>
          <p:cNvSpPr/>
          <p:nvPr/>
        </p:nvSpPr>
        <p:spPr>
          <a:xfrm rot="10800000">
            <a:off x="153289" y="4549188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B9B600D3-AC53-0047-9D5D-24E2CA9BCD10}"/>
              </a:ext>
            </a:extLst>
          </p:cNvPr>
          <p:cNvSpPr/>
          <p:nvPr/>
        </p:nvSpPr>
        <p:spPr>
          <a:xfrm>
            <a:off x="152838" y="842384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1" name="Down Arrow 440">
            <a:extLst>
              <a:ext uri="{FF2B5EF4-FFF2-40B4-BE49-F238E27FC236}">
                <a16:creationId xmlns:a16="http://schemas.microsoft.com/office/drawing/2014/main" id="{5BE953CC-9831-074E-8F67-D49317B4B757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2" name="Down Arrow 441">
            <a:extLst>
              <a:ext uri="{FF2B5EF4-FFF2-40B4-BE49-F238E27FC236}">
                <a16:creationId xmlns:a16="http://schemas.microsoft.com/office/drawing/2014/main" id="{AE626D12-7309-7044-ACC8-F20D085A232C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43" name="Down Arrow 442">
            <a:extLst>
              <a:ext uri="{FF2B5EF4-FFF2-40B4-BE49-F238E27FC236}">
                <a16:creationId xmlns:a16="http://schemas.microsoft.com/office/drawing/2014/main" id="{DD6E49EC-DCF2-B64E-9173-2B79E71EE2E9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4" name="Down Arrow 443">
            <a:extLst>
              <a:ext uri="{FF2B5EF4-FFF2-40B4-BE49-F238E27FC236}">
                <a16:creationId xmlns:a16="http://schemas.microsoft.com/office/drawing/2014/main" id="{01EFDFED-39ED-0B4F-86DC-381A750E4CA6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3D6FC1B-701E-E740-8D09-0B1D40343CFC}"/>
              </a:ext>
            </a:extLst>
          </p:cNvPr>
          <p:cNvSpPr txBox="1"/>
          <p:nvPr/>
        </p:nvSpPr>
        <p:spPr>
          <a:xfrm>
            <a:off x="6403128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360</a:t>
            </a:r>
            <a:endParaRPr lang="en-GB" sz="240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43A8E61-67AF-424D-8006-C08EED28ECBF}"/>
              </a:ext>
            </a:extLst>
          </p:cNvPr>
          <p:cNvSpPr txBox="1"/>
          <p:nvPr/>
        </p:nvSpPr>
        <p:spPr>
          <a:xfrm>
            <a:off x="6403129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460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242202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7.40741E-7 L -0.66355 0.10718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177" y="534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6 L -0.76641 -0.39421 " pathEditMode="relative" rAng="0" ptsTypes="AA">
                                      <p:cBhvr>
                                        <p:cTn id="55" dur="3000" fill="hold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320" y="-197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000"/>
                            </p:stCondLst>
                            <p:childTnLst>
                              <p:par>
                                <p:cTn id="57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1" dur="10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0" animBg="1"/>
      <p:bldP spid="114" grpId="0"/>
      <p:bldP spid="259" grpId="0"/>
      <p:bldP spid="260" grpId="0" animBg="1"/>
      <p:bldP spid="390" grpId="0"/>
      <p:bldP spid="393" grpId="0"/>
      <p:bldP spid="394" grpId="0" animBg="1"/>
      <p:bldP spid="391" grpId="0" animBg="1"/>
      <p:bldP spid="391" grpId="1" animBg="1"/>
      <p:bldP spid="392" grpId="0" animBg="1"/>
      <p:bldP spid="392" grpId="1" animBg="1"/>
      <p:bldP spid="399" grpId="0" animBg="1"/>
      <p:bldP spid="400" grpId="0" animBg="1"/>
      <p:bldP spid="257" grpId="0"/>
      <p:bldP spid="25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발생비용은 부채이다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 </a:t>
            </a:r>
            <a:r>
              <a:rPr lang="en-US" sz="3400" b="1" dirty="0">
                <a:solidFill>
                  <a:schemeClr val="bg1"/>
                </a:solidFill>
                <a:latin typeface="+mj-lt"/>
                <a:ea typeface="Calibri Light" pitchFamily="34" charset="-122"/>
                <a:cs typeface="Calibri Light" pitchFamily="34" charset="-120"/>
              </a:rPr>
              <a:t>(</a:t>
            </a:r>
            <a:r>
              <a:rPr lang="en-US" sz="3400" dirty="0" err="1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발생비용은</a:t>
            </a:r>
            <a:r>
              <a:rPr lang="en-US" sz="3400" dirty="0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400" dirty="0" err="1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부채이다</a:t>
            </a:r>
            <a:r>
              <a:rPr lang="en-US" sz="3400" dirty="0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)</a:t>
            </a:r>
            <a:endParaRPr lang="en-US" sz="3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가치는 이미 소비되었지만 지급은 아직 이루어지지 않은 경우입니다.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6858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68580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6547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· Process · Examples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663854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  <a:p>
            <a:pPr marL="742950" lvl="1" indent="-285750">
              <a:lnSpc>
                <a:spcPct val="105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활동·용역이 invoice 발행(현금 지급) 전에 발생해도 expense를 인식.</a:t>
            </a:r>
            <a:endParaRPr lang="en-US" sz="1600" dirty="0"/>
          </a:p>
          <a:p>
            <a:pPr marL="742950" lvl="1" indent="-285750">
              <a:lnSpc>
                <a:spcPct val="105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미지급이면 liability를 기록.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600" dirty="0"/>
          </a:p>
          <a:p>
            <a:pPr marL="800100" lvl="1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미청구·미지급 소비는 accrued liability를 발생 → 지급 시 정산.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  <a:p>
            <a:pPr marL="800100" lvl="1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payable, accrued interest expense, tax payable.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24928" y="2610203"/>
            <a:ext cx="4407408" cy="29177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pic>
        <p:nvPicPr>
          <p:cNvPr id="16" name="Image 0" descr="assets/s3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683355"/>
            <a:ext cx="4261104" cy="27714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FB39CF4-DEBD-DF39-69CF-3C342008C366}"/>
              </a:ext>
            </a:extLst>
          </p:cNvPr>
          <p:cNvSpPr txBox="1"/>
          <p:nvPr/>
        </p:nvSpPr>
        <p:spPr>
          <a:xfrm>
            <a:off x="7876917" y="1675692"/>
            <a:ext cx="21273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3250" marR="5080" indent="-591185">
              <a:spcBef>
                <a:spcPts val="545"/>
              </a:spcBef>
            </a:pPr>
            <a:r>
              <a:rPr lang="en-US" b="1" dirty="0">
                <a:solidFill>
                  <a:srgbClr val="15803D"/>
                </a:solidFill>
                <a:latin typeface="Arial"/>
                <a:cs typeface="Arial"/>
              </a:rPr>
              <a:t>Value</a:t>
            </a:r>
            <a:r>
              <a:rPr lang="en-US" b="1" spc="65" dirty="0">
                <a:solidFill>
                  <a:srgbClr val="15803D"/>
                </a:solidFill>
                <a:latin typeface="Arial"/>
                <a:cs typeface="Arial"/>
              </a:rPr>
              <a:t> </a:t>
            </a:r>
            <a:r>
              <a:rPr lang="en-US" b="1" spc="70" dirty="0">
                <a:solidFill>
                  <a:srgbClr val="15803D"/>
                </a:solidFill>
                <a:latin typeface="Arial"/>
                <a:cs typeface="Arial"/>
              </a:rPr>
              <a:t>Consumed </a:t>
            </a:r>
            <a:r>
              <a:rPr lang="en-US" b="1" spc="-10" dirty="0">
                <a:solidFill>
                  <a:srgbClr val="15803D"/>
                </a:solidFill>
                <a:latin typeface="Arial"/>
                <a:cs typeface="Arial"/>
              </a:rPr>
              <a:t>(Expense)</a:t>
            </a:r>
            <a:endParaRPr lang="en-US" b="1" dirty="0">
              <a:solidFill>
                <a:srgbClr val="15803D"/>
              </a:solidFill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3EDBA2-17A8-E007-FACB-A0B32907C65E}"/>
              </a:ext>
            </a:extLst>
          </p:cNvPr>
          <p:cNvSpPr txBox="1"/>
          <p:nvPr/>
        </p:nvSpPr>
        <p:spPr>
          <a:xfrm>
            <a:off x="9769313" y="5452746"/>
            <a:ext cx="2400300" cy="710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3250" marR="5080" indent="-591185">
              <a:spcBef>
                <a:spcPts val="545"/>
              </a:spcBef>
            </a:pPr>
            <a:r>
              <a:rPr lang="en-US" sz="1800" b="1" dirty="0">
                <a:solidFill>
                  <a:srgbClr val="ED7D31"/>
                </a:solidFill>
                <a:latin typeface="Arial"/>
                <a:cs typeface="Arial"/>
              </a:rPr>
              <a:t>Payment Pending</a:t>
            </a:r>
          </a:p>
          <a:p>
            <a:pPr marL="603250" marR="5080" indent="-591185" algn="ctr">
              <a:spcBef>
                <a:spcPts val="545"/>
              </a:spcBef>
            </a:pPr>
            <a:r>
              <a:rPr lang="en-US" sz="1800" b="1" spc="-10" dirty="0">
                <a:solidFill>
                  <a:srgbClr val="ED7D31"/>
                </a:solidFill>
                <a:latin typeface="Arial"/>
                <a:cs typeface="Arial"/>
              </a:rPr>
              <a:t>(Liability)</a:t>
            </a:r>
            <a:endParaRPr lang="en-US" sz="1800" b="1" dirty="0">
              <a:solidFill>
                <a:srgbClr val="ED7D31"/>
              </a:solidFill>
              <a:latin typeface="Arial"/>
              <a:cs typeface="Arial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95D1673-6953-8FC2-6C64-80499A878387}"/>
              </a:ext>
            </a:extLst>
          </p:cNvPr>
          <p:cNvCxnSpPr/>
          <p:nvPr/>
        </p:nvCxnSpPr>
        <p:spPr>
          <a:xfrm flipH="1" flipV="1">
            <a:off x="10758677" y="4224003"/>
            <a:ext cx="87155" cy="1259295"/>
          </a:xfrm>
          <a:prstGeom prst="straightConnector1">
            <a:avLst/>
          </a:prstGeom>
          <a:ln w="57150">
            <a:solidFill>
              <a:srgbClr val="ED7D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27EB15E-8A67-B0C2-6082-606B1270E09D}"/>
              </a:ext>
            </a:extLst>
          </p:cNvPr>
          <p:cNvCxnSpPr>
            <a:stCxn id="17" idx="2"/>
          </p:cNvCxnSpPr>
          <p:nvPr/>
        </p:nvCxnSpPr>
        <p:spPr>
          <a:xfrm>
            <a:off x="8940607" y="2322023"/>
            <a:ext cx="222155" cy="1148082"/>
          </a:xfrm>
          <a:prstGeom prst="straightConnector1">
            <a:avLst/>
          </a:prstGeom>
          <a:ln w="57150">
            <a:solidFill>
              <a:srgbClr val="1580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3 — Estimated Energy Costs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31 March 기준 에너지 비용을 추정·인식.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04288"/>
            <a:ext cx="6181344" cy="362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assets/s3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377440"/>
            <a:ext cx="6035040" cy="347560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48272" y="2304288"/>
            <a:ext cx="52974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748272" y="2304288"/>
            <a:ext cx="87320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748272" y="2304288"/>
            <a:ext cx="5297424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949440" y="2304288"/>
            <a:ext cx="49675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3월의 에너지 비용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67728" y="2907792"/>
            <a:ext cx="506457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에너지는 사용된 3월(사용 기간)에 expense로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지급은 4월이지만, 3월에 비용과 liability를 기록.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liability가 accrued expense.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expense는 balance sheet의 liability로 표시됨.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Accrued Interest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반년치 이자를 기간 말에 발생 인식합니다.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2027/7/1 은행에서 $100,000 차입 · 3년 만기 · 연 6%.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회계연도는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12/31 종료. 이자 지급일: 매년 6/30.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7/1과 12/31의 거래를 기록하시오.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154270"/>
              </p:ext>
            </p:extLst>
          </p:nvPr>
        </p:nvGraphicFramePr>
        <p:xfrm>
          <a:off x="6272784" y="2542032"/>
          <a:ext cx="5486400" cy="15544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07/01/27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12/31/27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72784" y="4224528"/>
            <a:ext cx="5486400" cy="60350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6455664" y="42245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=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Continued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차입과 이자 발생을 계정에 반영한 모습입니다.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8292" y="2304288"/>
            <a:ext cx="6240871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assets/s4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44" y="2377440"/>
            <a:ext cx="6094567" cy="3566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949440" y="2377440"/>
            <a:ext cx="480974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949440" y="2377440"/>
            <a:ext cx="82296" cy="356616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949440" y="2377440"/>
            <a:ext cx="4809744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150608" y="2377440"/>
            <a:ext cx="4498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68896" y="2980944"/>
            <a:ext cx="4389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 (7/1):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</a:t>
            </a:r>
            <a:r>
              <a:rPr lang="en-US" sz="1600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Cash ↑$100,000 </a:t>
            </a:r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</a:t>
            </a:r>
            <a:r>
              <a:rPr lang="en-US" sz="1600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Notes Payable ↑ $100,000.</a:t>
            </a:r>
            <a:endParaRPr lang="en-US" sz="1600" dirty="0">
              <a:highlight>
                <a:srgbClr val="FFCC00"/>
              </a:highlight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 발생 (12/31):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</a:t>
            </a:r>
            <a:r>
              <a:rPr lang="en-US" sz="1600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↑ $3,000 </a:t>
            </a:r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1600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Interest Payable ↑ $3,000.</a:t>
            </a:r>
            <a:endParaRPr lang="en-US" sz="1600" dirty="0">
              <a:highlight>
                <a:srgbClr val="FFCC00"/>
              </a:highlight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전이라도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이자를 비용·부채로 인식.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이연·발생 개념을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2918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Cash Received in Advance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서비스가 제공되기 전에 받은 현금은 무엇으로 기록되는가?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liabilities.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expenses.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equity.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2918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Prepaid Insurance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400" dirty="0" err="1"/>
              <a:t>수정분개</a:t>
            </a:r>
            <a:r>
              <a:rPr lang="en-US" sz="1400" dirty="0"/>
              <a:t> 전 </a:t>
            </a:r>
            <a:r>
              <a:rPr lang="en-US" sz="1400" dirty="0" err="1"/>
              <a:t>선급보험료</a:t>
            </a:r>
            <a:r>
              <a:rPr lang="en-US" sz="1400" dirty="0"/>
              <a:t> (Prepaid Insurance, deferred insurance expense) </a:t>
            </a:r>
            <a:r>
              <a:rPr lang="en-US" sz="1400" dirty="0" err="1"/>
              <a:t>잔액은</a:t>
            </a:r>
            <a:r>
              <a:rPr lang="en-US" sz="1400" dirty="0"/>
              <a:t> $2,700이다. 이 중 $1,500이 </a:t>
            </a:r>
            <a:r>
              <a:rPr lang="en-US" sz="1400" dirty="0" err="1"/>
              <a:t>당기에</a:t>
            </a:r>
            <a:r>
              <a:rPr lang="en-US" sz="1400" dirty="0"/>
              <a:t> </a:t>
            </a:r>
            <a:r>
              <a:rPr lang="en-US" sz="1400" dirty="0" err="1"/>
              <a:t>기간</a:t>
            </a:r>
            <a:r>
              <a:rPr lang="en-US" sz="1400" dirty="0"/>
              <a:t> </a:t>
            </a:r>
            <a:r>
              <a:rPr lang="en-US" sz="1400" dirty="0" err="1"/>
              <a:t>경과되었다</a:t>
            </a:r>
            <a:r>
              <a:rPr lang="en-US" sz="1400" dirty="0"/>
              <a:t>. </a:t>
            </a:r>
            <a:r>
              <a:rPr lang="en-US" sz="1400" dirty="0" err="1"/>
              <a:t>당기</a:t>
            </a:r>
            <a:r>
              <a:rPr lang="en-US" sz="1400" dirty="0"/>
              <a:t> </a:t>
            </a:r>
            <a:r>
              <a:rPr lang="en-US" sz="1400" dirty="0" err="1"/>
              <a:t>보험료</a:t>
            </a:r>
            <a:r>
              <a:rPr lang="en-US" sz="1400" dirty="0"/>
              <a:t>(</a:t>
            </a:r>
            <a:r>
              <a:rPr lang="en-US" sz="1400" dirty="0" err="1"/>
              <a:t>비용</a:t>
            </a:r>
            <a:r>
              <a:rPr lang="en-US" sz="1400" dirty="0"/>
              <a:t>)는 </a:t>
            </a:r>
            <a:r>
              <a:rPr lang="en-US" sz="1400" dirty="0" err="1"/>
              <a:t>얼마인가</a:t>
            </a:r>
            <a:r>
              <a:rPr lang="en-US" sz="1400" dirty="0"/>
              <a:t>? </a:t>
            </a:r>
          </a:p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$2,700.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$1,900.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$1,500.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$1,200.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724144"/>
            <a:ext cx="11329416" cy="4572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7512" y="572414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 err="1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</a:t>
            </a: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임차료의 조정분개를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Prepaid Rent Adjustment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600" dirty="0"/>
              <a:t>9월 1일, Petite-</a:t>
            </a:r>
            <a:r>
              <a:rPr lang="en-US" sz="1600" dirty="0" err="1"/>
              <a:t>Sizes는</a:t>
            </a:r>
            <a:r>
              <a:rPr lang="en-US" sz="1600" dirty="0"/>
              <a:t> 3개월분 </a:t>
            </a:r>
            <a:r>
              <a:rPr lang="en-US" sz="1600" dirty="0" err="1"/>
              <a:t>임차료</a:t>
            </a:r>
            <a:r>
              <a:rPr lang="en-US" sz="1600" dirty="0"/>
              <a:t> $12,000을 </a:t>
            </a:r>
            <a:r>
              <a:rPr lang="en-US" sz="1600" dirty="0" err="1"/>
              <a:t>선지급하고</a:t>
            </a:r>
            <a:r>
              <a:rPr lang="en-US" sz="1600" dirty="0"/>
              <a:t> </a:t>
            </a:r>
            <a:r>
              <a:rPr lang="en-US" sz="1600" dirty="0" err="1"/>
              <a:t>선급임차료</a:t>
            </a:r>
            <a:r>
              <a:rPr lang="en-US" sz="1600" dirty="0"/>
              <a:t> (Prepaid rent expenses) </a:t>
            </a:r>
            <a:r>
              <a:rPr lang="ko-KR" altLang="en-US" sz="1600" dirty="0"/>
              <a:t>를 기록하였습니다</a:t>
            </a:r>
            <a:r>
              <a:rPr lang="en-US" altLang="ko-KR" sz="1600" dirty="0"/>
              <a:t>. </a:t>
            </a:r>
          </a:p>
          <a:p>
            <a:pPr>
              <a:lnSpc>
                <a:spcPct val="105000"/>
              </a:lnSpc>
            </a:pPr>
            <a:endParaRPr lang="en-US" sz="1600" dirty="0"/>
          </a:p>
          <a:p>
            <a:pPr>
              <a:lnSpc>
                <a:spcPct val="105000"/>
              </a:lnSpc>
            </a:pPr>
            <a:r>
              <a:rPr lang="en-US" sz="1600" dirty="0"/>
              <a:t> 9월 30일 </a:t>
            </a:r>
            <a:r>
              <a:rPr lang="en-US" sz="1600" dirty="0" err="1"/>
              <a:t>재무제표를</a:t>
            </a:r>
            <a:r>
              <a:rPr lang="en-US" sz="1600" dirty="0"/>
              <a:t> </a:t>
            </a:r>
            <a:r>
              <a:rPr lang="en-US" sz="1600" dirty="0" err="1"/>
              <a:t>작성할</a:t>
            </a:r>
            <a:r>
              <a:rPr lang="en-US" sz="1600" dirty="0"/>
              <a:t> 때 </a:t>
            </a:r>
            <a:r>
              <a:rPr lang="en-US" sz="1600" dirty="0" err="1"/>
              <a:t>필요한</a:t>
            </a:r>
            <a:r>
              <a:rPr lang="en-US" sz="1600" dirty="0"/>
              <a:t> </a:t>
            </a:r>
            <a:r>
              <a:rPr lang="en-US" sz="1600" dirty="0" err="1"/>
              <a:t>수정분개는</a:t>
            </a:r>
            <a:r>
              <a:rPr lang="en-US" sz="1600" dirty="0"/>
              <a:t> </a:t>
            </a:r>
            <a:r>
              <a:rPr lang="en-US" sz="1600" dirty="0" err="1"/>
              <a:t>무엇인가</a:t>
            </a:r>
            <a:r>
              <a:rPr lang="en-US" sz="1600" dirty="0"/>
              <a:t>?</a:t>
            </a:r>
          </a:p>
          <a:p>
            <a:pPr>
              <a:lnSpc>
                <a:spcPct val="105000"/>
              </a:lnSpc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Dr Prepaid Rent 8,000 / Cr Rent Expense 8,000.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Dr Prepaid Rent 4,000 / Cr Rent Expense 4,000.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Dr Rent Expense 8,000 / Cr Prepaid Rent 8,000.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Dr Rent Expense 4,000 / Cr Prepaid Rent 4,000.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풀이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4 — Reporting and Analyzing Cash Flows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4.7921"/>
  <p:tag name="SLIDO_PRESENTATION_ID" val="a92ea2d8-4326-4ecb-b943-0386910b7525"/>
  <p:tag name="SLIDO_EVENT_UUID" val="dba43ba3-1290-4942-9cdb-5e11444641b8"/>
  <p:tag name="SLIDO_EVENT_SECTION_UUID" val="8458c93a-975f-4ea0-8451-81e70bfe279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4403</Words>
  <Application>Microsoft Office PowerPoint</Application>
  <PresentationFormat>Widescreen</PresentationFormat>
  <Paragraphs>955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Avenir</vt:lpstr>
      <vt:lpstr>Helvetica Regular</vt:lpstr>
      <vt:lpstr>ＭＳ Ｐゴシック</vt:lpstr>
      <vt:lpstr>Arial</vt:lpstr>
      <vt:lpstr>Calibri</vt:lpstr>
      <vt:lpstr>Calibri Light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Introduction to Financial Accounting · KAIST College of Business</dc:subject>
  <dc:creator/>
  <cp:lastModifiedBy/>
  <cp:revision>15</cp:revision>
  <dcterms:created xsi:type="dcterms:W3CDTF">2026-07-24T13:24:52Z</dcterms:created>
  <dcterms:modified xsi:type="dcterms:W3CDTF">2026-08-04T00:40:35Z</dcterms:modified>
</cp:coreProperties>
</file>