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3: 회계기간·발생주의 개념에서 시작해, 왜 조정이 필요한지, 그리고 이연비용·발생비용 조정분개를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1은 현금주의와 발생주의를 대조하고, Part 2는 조정분개의 필요성과 네 가지 유형(특히 비용 측면)을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 활동은 연속적이지만 재무제표는 특정 기간 말에 작성됩니다 — 여기서 보고 이슈가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reporting cycle is a fixed interval between two balance sheets; the operating cycle never stops. Their mismatch drives the need for adjustments.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Periodicity assumption: a firm's continuous life can be divided into artificial periods for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Revenue-generating activity is continuous, but statements are cut at period-end; in reality they do not align, so adjustments are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예제를 통해 발생주의에서 revenue와 expense를 언제 인식하는지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발생주의: 판매(12/20)에 revenue $180, 대응 원가 $100을 비용으로 인식 → 2027 net income $80. 현금 회수(1/15/28) 시점과 무관.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collects $300,000 up front in 2025 for a 3-year subscription; annual production cost $60,000; a $100,000 loan at 10% with interest paid at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total income over 2025-2027 and annual income per year; the best approach is the accrual basis, matching revenue and expense to the period.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basis records only cash in/out; accrual (GAAP) recognizes revenue when earned and expense when the related benefit is consumed.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cash-basis summary. Under cash basis all $300,000 is recognized in 2025 when collected; later years show only costs (net income 240,000 / (60,000) / (90,000)), distorting performance. Professor copy shows the worked figures; student copy is blank to fill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Summit accrual-basis summary. Revenue is spread across the years the magazines are delivered, giving a steady annual income of about $30,000. Professor copy shows the worked figures; student copy is blank to fill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comparison: cash basis tracks the bank account and swings wildly; accrual basis tracks the business model and reflects true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basis delays recognition and mismatches costs; accrual basis matches expense to revenue and reflects real operating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choose their answers in class before the solution is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complete the journal entries in class before the solution is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조정분개는 회계기간 말에 사실(경제적 실질)과 재무제표를 일치시키기 위해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Adjusting entries bridge the time gap created by periodicity, aligning the economic facts with the reported financials.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expense is the consumption of value, independent of when cash leaves the bank; tracking only cash gives a misleading picture of profitability.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types by direction of time: deferred (cash before activity) vs accrued (cash after), each on the expense and revenue side. This chapter focuses on the expense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 기간에 걸쳐 효익을 주는 선지급액은 먼저 자산으로 기록하고, 소멸분을 비용으로 대체합니다.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prepayment buys future benefit; it is recorded as an asset (deferred expense) and moved to expense as it is consumed each period.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Feb 28: $800 paid is capitalized as a deferred (asset). Each month $200 (=$800/4) is moved to Advertising Expense as the ads run — the expense follows consumption, not payment.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Books, Inc. Color-Accounting ledger (Uses of funds = Assets/Expenses; Sources of funds = Liabilities/Equity/Revenue). Entry 13: the $800 advertising campaign is paid — Deferred expenses (asset) +800, Cash −800. Nothing hits the P&amp;L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 ledger after the first month of amortization: $200 (=$800/4) moves from Deferred expenses to Advertising expense. The asset shrinks as the ads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Depreciation systematically allocates a tangible asset's cost over its useful life, using the contra-asset Accumulated Depreciation.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Equipment $6,000 with $0 residual over 60 months → $100/month. Monthly: Dr Depreciation Expense / Cr Accumulated Depreciation (contra-asset), reducing net book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 ledger for the equipment purchase: Equipment (asset) +6,000. A non-cash / financed acquisition — new asset and its funding source recorded when the transaction occurs.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 ledger after depreciation: Accumulated depreciation (contra-asset) builds up and Depreciation expense is charged, so the equipment's net book value falls by $100/month.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가치가 이미 소비되었지만 아직 지급하지 않았다면, 비용을 인식하고 부채(accrued liability)를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before an invoice or payment, consumed value must be expensed; the unpaid amount is recorded as an accrued liability, settled when paid. Value Consumed (Expense) → Payment Pending (Liability).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Books recognizes the March energy cost as an expense in March (when used) even though cash is paid in April; it records the expense and an accrued liability on the balance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record the transactions in class before the solution is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complete the summary in class after solving the entries.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choose their answers in class before the solution is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complete the adjusting entry in class before the solution is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choose their answers in class before the solution is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Adjusting Accounts for Financial Statements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재무제표를 위한 계정 조정  ·  발생주의 회계와 조정분개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TOPICS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62763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" y="1627632"/>
            <a:ext cx="82296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709928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99032" y="16276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Cycle ≠ Reporting Cycle  ·  보고 이슈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0" y="16276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222656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" y="2226564"/>
            <a:ext cx="82296" cy="5486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308860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2·3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99032" y="22265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1 &amp; 2  ·  Revenue·Expense 인식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784080" y="22265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9768" y="2825496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" y="2825496"/>
            <a:ext cx="82296" cy="5486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2907792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99032" y="28254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vs. Accrual Basis  ·  현금주의 vs 발생주의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8408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424428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" y="3424428"/>
            <a:ext cx="82296" cy="54864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3506724"/>
            <a:ext cx="384048" cy="384048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506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99032" y="34244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Adjustments are Needed  ·  조정의 필요성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784080" y="34244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4023360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9768" y="4023360"/>
            <a:ext cx="82296" cy="548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3" name="Shape 31"/>
          <p:cNvSpPr/>
          <p:nvPr/>
        </p:nvSpPr>
        <p:spPr>
          <a:xfrm>
            <a:off x="822960" y="4105656"/>
            <a:ext cx="384048" cy="384048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99032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of Adjustments  ·  조정의 네 가지 유형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78408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9768" y="4622292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9768" y="4622292"/>
            <a:ext cx="82296" cy="5486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9" name="Shape 37"/>
          <p:cNvSpPr/>
          <p:nvPr/>
        </p:nvSpPr>
        <p:spPr>
          <a:xfrm>
            <a:off x="822960" y="4704588"/>
            <a:ext cx="384048" cy="384048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7045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399032" y="46222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Expenses = Assets  ·  이연비용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784080" y="46222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5221224"/>
            <a:ext cx="11329416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9768" y="5221224"/>
            <a:ext cx="82296" cy="5486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45" name="Shape 43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46" name="Text 44"/>
          <p:cNvSpPr/>
          <p:nvPr/>
        </p:nvSpPr>
        <p:spPr>
          <a:xfrm>
            <a:off x="82296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399032" y="52212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Expenses = Liabilities  ·  발생비용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784080" y="5221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29768" y="5875020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7512" y="5875020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회계기간이 문제인가 → 현금주의 vs 발생주의 → 조정분개(이연·발생비용).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Cycle ≠ Reporting Cycle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순환과 보고 주기가 어긋날 때 생기는 이슈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Accounting Period &amp; Business Cycles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재무보고는 연속적인 영업 활동을 인위적인 기간으로 잘라 측정합니다.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Accounting Period (Reporting Cycle)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 성과를 측정·기록·보고하는 시간 간격.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개의 balance sheet 사이의 기간.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달, 분기, 또는 1년이 될 수 있음.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Operating Cycle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 매입/생산 → 판매 → 현금 회수까지의 평균 시간.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순환은 연속적이며 실제로 결코 '멈추지' 않음.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93776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주기는 정해진 기간, 영업 순환은 멈추지 않는 흐름 — 이 둘의 불일치가 핵심입니다.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Periodicity Assumption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GAAP은 기업의 경제적 생애를 인위적인 기간(월·분기·연)으로 나눌 수 있다고 가정합니다.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1945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이해관계자(stakeholders)가 성과를 평가할 수 있게 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 가능하고 비교 가능한 구간에 걸쳐 측정.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468880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into a Period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연속적인 활동을 더 짧고 일관된 구간으로 '잘라' 냄.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성과를 정기적으로 보고할 수 있게 함.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93776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periodicity 가정이 있어야 비로소 정기적인 재무제표 작성이 가능합니다.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an Issue?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창출 활동은 연속적으로 발생하지만, 재무제표는 특정 기간의 말에 작성되어야 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01168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Aligned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reporting issues.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활동과 기간이 딱 맞으면 문제가 없음.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468880"/>
            <a:ext cx="82296" cy="201168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 Aligned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Critical reporting issues arise.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This is the reality we face.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75488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75488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현실에서는 활동과 회계기간이 어긋납니다 — 그래서 조정(adjustments)이 필요합니다.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When to Recognize Revenues &amp; Expenses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하에서 수익과 비용을 언제 인식하는가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1 — When to Recognize Revenue &amp; Expenses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" y="1517904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8" name="Shape 6"/>
          <p:cNvSpPr/>
          <p:nvPr/>
        </p:nvSpPr>
        <p:spPr>
          <a:xfrm>
            <a:off x="429768" y="1517904"/>
            <a:ext cx="539496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51790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Timeline (FY ends 12/31)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" y="2121408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12/1/27 — 상품 $100 현금 매입.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12/20/27 — 상품 $180 외상 판매.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1/15/28 — 고객으로부터 $180 현금 회수.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" y="4041648"/>
            <a:ext cx="5394960" cy="182880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4041648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2027년 인식액은?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Revenue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Expense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Net income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</a:t>
            </a:r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 수익, 대응되는 원가를 비용으로 인식.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12432" y="1444752"/>
            <a:ext cx="36608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4" name="Image 0" descr="assets/s0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584" y="1517904"/>
            <a:ext cx="3514496" cy="2286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130595" y="3858768"/>
            <a:ext cx="5624474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6" name="Image 1" descr="assets/s08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747" y="3931920"/>
            <a:ext cx="547817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Summit Publishing Company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Publishing — 잡지 출판·유통 기업, 분기별 출판 일정으로 운영.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Details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frequency:  4 issues / year.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issue:  $25.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subscribers:  1,000.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length:  3 years.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(2025):  $25 × 4 × 1,000 × 3 = $300,000.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6002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Costs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제작·배송비: $60,000 / year.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72784" y="41148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114800"/>
            <a:ext cx="82296" cy="17373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41148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6473952" y="41148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Costs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3년 만기 대출 @ 연 10% ($10,000/year).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원금·이자는 대출 만기 시 상환.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29768" y="5980176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980176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 현금은 2025년에 모두 회수 — 하지만 성과는 3년에 걸쳐 발생합니다.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Required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517904"/>
            <a:ext cx="1132941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" y="1517904"/>
            <a:ext cx="82296" cy="13716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8" name="Shape 6"/>
          <p:cNvSpPr/>
          <p:nvPr/>
        </p:nvSpPr>
        <p:spPr>
          <a:xfrm>
            <a:off x="429768" y="1517904"/>
            <a:ext cx="11329416" cy="38404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517904"/>
            <a:ext cx="11018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" y="2084832"/>
            <a:ext cx="109087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3년 기간(2025-2027) 동안 회사의 total income을 계산.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각 연도(2025, 2026, 2027)의 annual income을 계산.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Income = Revenue − Expenses.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56616" y="2990088"/>
            <a:ext cx="11475720" cy="3248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2" name="Image 0" descr="assets/s10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3063240"/>
            <a:ext cx="11329416" cy="3102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Ways to Keep Score — Cash vs. Accrual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거래라도 인식 기준에 따라 재무 성과가 달라집니다.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Basis  (Not GAAP)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accrual이나 deferral을 기록하지 않음.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현금을 받을 때만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현금을 지급할 때만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현금 유입·유출(유동성).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5661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Basis  (GAAP)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경제적 활동에 기반한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 판매·용역 제공 시 인식 (현금 회수 아님).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관련 revenue와 같은 기간, 또는 효익 소멸 시.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 거래의 경제적 실질.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998464"/>
            <a:ext cx="11329416" cy="402336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99846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Cash는 '언제 돈이 오갔나', Accrual은 '언제 가치가 만들어졌나'를 묻습니다.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Distorts, Accrual Reveals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Cash는 은행 계좌를 추적하고, Accrual은 비즈니스 모델을 추적합니다.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3341" y="2121408"/>
            <a:ext cx="1048227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4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493" y="2194560"/>
            <a:ext cx="1033596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vs. Accrual Basis — Comparison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GAAP은 발생주의를 요구할까요?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Cash Basis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 활동 이후로 인식이 지연됨.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expense와 revenue의 대응이 부적절함.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 영업 순환에 더 불리함.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286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Accrual Basis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기간별 수익성을 더 명확하게 보여줌.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expense와 revenue를 더 잘 대응시킴.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영업 성과를 반영함.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93776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발생주의는 수익과 비용을 대응시켜 각 기간의 실제 성과를 드러냅니다.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인식 시점을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Revenue 인식 시점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회사에서 revenue는 언제 기록되는가?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고객이 서비스를 요청할 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고객이 대금을 지급할 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고객에게 서비스가 제공될 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제공 전 non-refundable deposit을 받을 때.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Accrual-Basis Reporting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20x3년 Costello는 $10,000 청구·수행, $3,000 비용 지급. 고객은 20x4년에 지급. accrual이면?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expenses of $3,000 in 20x4.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net income of $7,000 in 20x4.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revenue of $10,000 in 20x3.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revenue of $10,000 in 20x4.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815584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81558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______    ·    Q2 ______     (수업 중 작성)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1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Airline 급여 — 발생과 지급의 분개.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1 · Q3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004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직원은 매월 15일에 급여를 받음.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20x1/12/16–12/31 근무분 $220,000는 20x2/1/15에 지급됨.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12/31 발생 분개, (2) 1/15 지급 분개를 작성하시오.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72784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2542032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9144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Adjustments are Needed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조정분개가 필요한가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Adjustments Align the Facts with the Financials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조정분개는 회계기간의 시간 격차(periodicity)를 메웁니다.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350008"/>
            <a:ext cx="6547104" cy="235904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423160"/>
            <a:ext cx="6400800" cy="221274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040880" y="2377440"/>
            <a:ext cx="4718304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40880" y="2377440"/>
            <a:ext cx="82296" cy="31089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Shape 11"/>
          <p:cNvSpPr/>
          <p:nvPr/>
        </p:nvSpPr>
        <p:spPr>
          <a:xfrm>
            <a:off x="7040880" y="2377440"/>
            <a:ext cx="471830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5" name="Text 12"/>
          <p:cNvSpPr/>
          <p:nvPr/>
        </p:nvSpPr>
        <p:spPr>
          <a:xfrm>
            <a:off x="7242048" y="2377440"/>
            <a:ext cx="4407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Gap (Periodicity)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260336" y="2980944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현금의 이동 시점과 가치의 창출·소비 시점이 다름.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시간 격차 때문에 기록되지 않은 수익·비용이 남음.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조정분개가 이 격차를 메워 사실과 재무제표를 일치시킴.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Cash Flow Does Not Equal Business Performance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현금의 흐름과 사업의 성과는 같지 않습니다.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1132941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11329416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'Expense'(비용)는 돈이 은행 계좌에서 나가는 시점과 무관하게, 가치의 소비로 정의됨.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현금만 추적하면 수익성에 대한 잘못된 그림을 만듦.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29768" y="475488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75488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비용은 '가치가 소비되는 때' 인식됩니다 — 수표를 쓰는 순간이 아니라.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29768" y="5486400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5486400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발생주의에서는 조정분개로 소비된 가치를 비용으로 잡아 줍니다.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Types of Adjustments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방향의 시간 — 현금이 활동보다 먼저(Deferred) 또는 나중(Accrued)에 이동합니다.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48132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Expense = Asset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이전에 현금 지급.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Prepaid Advertising Expense.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481328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Revenue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이전에 현금 수취.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 받은 대가는 부채로 시작.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3968496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" y="3968496"/>
            <a:ext cx="82296" cy="1481328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" y="3968496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" y="39684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 = Liability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" y="4572000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이후에 현금 지급.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Accrued Interest Expense.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2784" y="3968496"/>
            <a:ext cx="548640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968496"/>
            <a:ext cx="82296" cy="1481328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3968496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39684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Revenue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92240" y="4572000"/>
            <a:ext cx="50657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이후에 현금 수취.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벌었으나 미수령한 수익.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29768" y="570585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570585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장에서는 Expense 측면(Deferred·Accrued)에 집중합니다.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Deferred Expenses are Assets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이연비용은 자산이다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Deferred Expenses are Assets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기간에 걸쳐 효익을 제공하는 선지급액은 먼저 자산으로 기록됩니다.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3774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지급이 여러 회계기간에 효익 제공.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asset(deferred expense)으로 기록.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487168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62856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기간 말, 소멸된 부분을 expense로 대체.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asset은 동일 금액만큼 감소.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487168"/>
            <a:ext cx="82296" cy="23774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58200" y="3310128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equipment, supplies,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insurance, prepaid rent.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508406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508406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요지: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선지급 = 미래 효익을 산 것 → 소비될 때까지 자산으로 남습니다.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1 — Deferred Advertising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Books, Inc. — 4개월 광고 캠페인에 $800을 선지급.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Initial Entry  (28 Feb)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4개월 광고 캠페인 대금 $800을 현금 지급.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 Deferred Advertising Expense (asset)  800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 Cash  800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Amortization  (31 Mar)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 ÷ 4 months = $200 / month (straight-line).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 Advertising Expense  200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 Deferred Advertising Expense  200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51206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029200"/>
            <a:ext cx="10817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expense is the running of the ads, not the writing of the check.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2 — Depreciation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유형자산의 구입은 미래 용역의 묶음을 구입하는 것입니다.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87168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12848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57784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Depreciation은 유형자산의 원가를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내용연수에 걸쳐 체계적으로 배분.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487168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12848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53128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44568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기간 말 소멸분을 Depreciation Expense로.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value 감소 — contra-asset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'Accumulated Depreciation' 사용.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0456" y="2487168"/>
            <a:ext cx="353872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487168"/>
            <a:ext cx="82296" cy="24688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12848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128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48472" y="2889504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39912" y="3310128"/>
            <a:ext cx="3099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Buildings, equipment, vehicles,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furniture, machinery.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" y="5175504"/>
            <a:ext cx="11329416" cy="51206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5175504"/>
            <a:ext cx="10853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요지: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감가상각은 이연비용의 한 형태 — 자산의 원가를 사용 기간에 걸쳐 비용화합니다.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Depreciation — Worked Example (Global Books)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$6,000를 취득하고 매월 감가상각합니다.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4688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Purchase  (31 Jan)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장비 $6,000을 취득 (자금은 bank loan 등으로 조달).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 Equipment  6,000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 Cash  6,000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4688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&amp; Monthly Entry  (31 Mar)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원가 $6,000 − 잔존가치 $0 ÷ 60개월 = $100 / month.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 Depreciation Expense  100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 Accumulated Depreciation  100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029200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Accumulated Depreciation: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contra-asset 계정 — net book value가 매월 $100씩 감소합니다 ($6,000 ÷ 5년/60개월).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g_slides/orig_s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35808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Accrued Expenses are Liabilities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280160" y="4059936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발생비용은 부채이다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Accrued Expenses are Liabilities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가치는 이미 소비되었지만 지급은 아직 이루어지지 않은 경우입니다.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6858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68580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6547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· Process · Examples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64373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활동·용역이 invoice 발행(현금 지급) 전에 발생해도 expense를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미지급이면 liability를 기록.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미청구·미지급 소비는 accrued liability를 발생 → 지급 시 정산.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payable, accrued interest expense, tax payable.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424928" y="2610203"/>
            <a:ext cx="4407408" cy="29177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6" name="Image 0" descr="assets/s38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683355"/>
            <a:ext cx="4261104" cy="27714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3 — Estimated Energy Costs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Books, Inc. — 31 March 기준 에너지 비용을 추정·인식.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304288"/>
            <a:ext cx="6181344" cy="362190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377440"/>
            <a:ext cx="6035040" cy="3475605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66560" y="2377440"/>
            <a:ext cx="49926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66560" y="2377440"/>
            <a:ext cx="82296" cy="35661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766560" y="2377440"/>
            <a:ext cx="499262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5" name="Text 12"/>
          <p:cNvSpPr/>
          <p:nvPr/>
        </p:nvSpPr>
        <p:spPr>
          <a:xfrm>
            <a:off x="6967728" y="2377440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3월의 에너지 비용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986016" y="2980944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에너지는 사용된 3월(사용 기간)에 expense로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지급은 4월이지만, 3월에 비용과 liability를 기록.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liability가 accrued expense.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expense는 balance sheet의 liability로 표시됨.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4 — Accrued Interest Expense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반년치 이자를 기간 말에 발생 인식합니다.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1089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2027/7/1 은행에서 $100,000 차입 · 3년 만기 · 연 6%.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회계연도는 12/31 종료. 이자 지급일: 매년 6/30.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7/1과 12/31의 거래를 기록하시오.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72784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2542032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9144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Titles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07/01/27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12/31/27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72784" y="4224528"/>
            <a:ext cx="5486400" cy="603504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55664" y="42245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Expense =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$______ × ____% × __/12 = $______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4 — Continued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차입과 이자 발생을 계정에 반영한 모습입니다.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8292" y="2304288"/>
            <a:ext cx="6240871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4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44" y="2377440"/>
            <a:ext cx="6094567" cy="3566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949440" y="2377440"/>
            <a:ext cx="480974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49440" y="2377440"/>
            <a:ext cx="82296" cy="35661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0" y="2377440"/>
            <a:ext cx="480974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Text 12"/>
          <p:cNvSpPr/>
          <p:nvPr/>
        </p:nvSpPr>
        <p:spPr>
          <a:xfrm>
            <a:off x="7150608" y="2377440"/>
            <a:ext cx="4498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 (수업 중 작성)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68896" y="2980944"/>
            <a:ext cx="4389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차입 (7/1):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+$________ · Notes Payable +$________.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이자 발생 (12/31):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Expense +$______ · Interest Payable +$______.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발생주의: 지급 전이라도 소비된 이자를 비용·부채로 인식.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이연·발생 개념을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2918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Cash Received in Advance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서비스가 제공되기 전에 받은 현금은 무엇으로 기록되는가?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liabilities.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expenses.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equity.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revenues.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2918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Prepaid Insurance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조정 전 Prepaid Insurance $2,700. 그중 $1,500가 소멸. 당해 Insurance Expense는?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$2,700.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$1,900.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$1,500.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$1,200.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724144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72414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______    ·    Q2 ______     (수업 중 작성)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2 (Continued)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선지급 임차료의 조정분개를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2 · Q3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Prepaid Rent Adjustment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 Petite-Sizes가 3개월치 임차료 $12,000을 선지급 (Prepaid Rent에 차변).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9/30 재무제표 작성 시 적절한 조정분개는?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Dr Prepaid Rent 8,000 / Cr Rent Expense 8,000.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Dr Prepaid Rent 4,000 / Cr Rent Expense 4,000.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Dr Rent Expense 8,000 / Cr Prepaid Rent 8,000.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Dr Rent Expense 4,000 / Cr Prepaid Rent 4,000.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풀이 (수업 중 작성)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임차료 = $12,000 ÷ 3 = $______.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9월 한 달분이 소멸 → $______을 비용으로.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 ________________   ______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 ________________   ______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____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Quiz 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3  ·  Adjusting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발생주의 인식을 한 번 더 점검합니다.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QUIZ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Revenue 인식 시점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회사에서 revenue는 언제 기록되는가?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고객이 서비스를 요청할 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고객이 서비스 대금을 지급할 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고객에게 서비스가 제공될 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제공 전 non-refundable deposit을 지급할 때.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33832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Accrual-Basis Reporting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2013년 Costello는 $10,000 청구·수행, $3,000 비용 지급. 고객은 2014년 지급. accrual이면?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2014년 expenses $3,000.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2014년 net income $7,000.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2013년 revenue $10,000.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2014년 revenue $10,000.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815584"/>
            <a:ext cx="11329416" cy="457200"/>
          </a:xfrm>
          <a:prstGeom prst="rect">
            <a:avLst/>
          </a:prstGeom>
          <a:solidFill>
            <a:srgbClr val="EAF0FB"/>
          </a:solidFill>
          <a:ln w="12700">
            <a:solidFill>
              <a:srgbClr val="1F48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815584"/>
            <a:ext cx="10853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______    ·    Q2 ______     (수업 중 작성)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Adjusting Accounts for Financial Statements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4 — Reporting and Analyzing Cash Flows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 — Adjusting Accounts for Financial Statements</dc:title>
  <dc:subject>Introduction to Financial Accounting · KAIST College of Business</dc:subject>
  <dc:creator>KAIST College of Business</dc:creator>
  <cp:lastModifiedBy>KAIST College of Business</cp:lastModifiedBy>
  <cp:revision>1</cp:revision>
  <dcterms:created xsi:type="dcterms:W3CDTF">2026-07-24T14:08:46Z</dcterms:created>
  <dcterms:modified xsi:type="dcterms:W3CDTF">2026-07-24T14:08:46Z</dcterms:modified>
</cp:coreProperties>
</file>