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6" r:id="rId21"/>
    <p:sldId id="297" r:id="rId22"/>
    <p:sldId id="298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99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13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3: 회계기간·발생주의 개념에서 시작해, 왜 조정이 필요한지, 그리고 이연비용·발생비용 조정분개를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1은 현금주의와 발생주의를 대조하고, Part 2는 조정분개의 필요성과 네 가지 유형(특히 비용 측면)을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영업 활동은 연속적이지만 재무제표는 특정 기간 말에 작성됩니다 — 여기서 보고 이슈가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reporting cycle is a fixed interval between two balance sheets; the operating cycle never stops. Their mismatch drives the need for adjustments.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Periodicity assumption: a firm's continuous life can be divided into artificial periods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Revenue-generating activity is continuous, but statements are cut at period-end; in reality they do not align, so adjustments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예제를 통해 발생주의에서 revenue와 expense를 언제 인식하는지 살펴봅니다.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발생주의: 판매(12/20)에 revenue $180, 대응 원가 $100을 비용으로 인식 → 2027 net income $80. 현금 회수(1/15/28) 시점과 무관.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Summit collects $300,000 up front in 2025 for a 3-year subscription; annual production cost $60,000; a $100,000 loan at 10% with interest paid at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total income over 2025-2027 and annual income per year; the best approach is the accrual basis, matching revenue and expense to the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basis records only cash in/out; accrual (GAAP) recognizes revenue when earned and expense when the related benefit is consumed.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Summit cash-basis summary. Under cash basis all $300,000 is recognized in 2025 when collected; later years show only costs (net income 240,000 / (60,000) / (90,000)), distorting performance. Professor copy shows the worked figures; student copy is blank to fill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Summit accrual-basis summary. Revenue is spread across the years the magazines are delivered, giving a steady annual income of about $30,000. Professor copy shows the worked figures; student copy is blank to fill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comparison: cash basis tracks the bank account and swings wildly; accrual basis tracks the business model and reflects true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basis delays recognition and mismatches costs; accrual basis matches expense to revenue and reflects real operating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choose their answers in class before the solution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complete the journal entries in class before the solution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조정분개는 회계기간 말에 사실(경제적 실질)과 재무제표를 일치시키기 위해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Adjusting entries bridge the time gap created by periodicity, aligning the economic facts with the reported financials.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Adjusting entries bridge the time gap created by periodicity, aligning the economic facts with the reported financials.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expense is the consumption of value, independent of when cash leaves the bank; tracking only cash gives a misleading picture of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3C47-694C-FA3F-72F2-853E0C19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B2ACD-C59E-1A8C-C7C1-C4017160A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BF752-47F8-27DA-6A2D-F48977F6B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types by direction of time: deferred (cash before activity) vs accrued (cash after), each on the expense and revenue side. This chapter focuses on the expense side.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7D04D-533B-77EC-1922-A595E5B95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94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expense is the consumption of value, independent of when cash leaves the bank; tracking only cash gives a misleading picture of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types by direction of time: deferred (cash before activity) vs accrued (cash after), each on the expense and revenue side. This chapter focuses on the expense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 기간에 걸쳐 효익을 주는 선지급액은 먼저 자산으로 기록하고, 소멸분을 비용으로 대체합니다.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prepayment buys future benefit; it is recorded as an asset (deferred expense) and moved to expense as it is consumed each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Feb 28: $800 paid is capitalized as a deferred (asset). Each month $200 (=$800/4) is moved to Advertising Expense as the ads run — the expense follows consumption, not 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Books, Inc. Color-Accounting ledger (Uses of funds = Assets/Expenses; Sources of funds = Liabilities/Equity/Revenue). Entry 13: the $800 advertising campaign is paid — Deferred expenses (asset) +800, Cash −800. Nothing hits the P&amp;L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Books ledger after the first month of amortization: $200 (=$800/4) moves from Deferred expenses to Advertising expense. The asset shrinks as the ads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Depreciation systematically allocates a tangible asset's cost over its useful life, using the contra-asset Accumulated Depreciation.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Equipment $6,000 with $0 residual over 60 months → $100/month. Monthly: Dr Depreciation Expense / Cr Accumulated Depreciation (contra-asset), reducing net book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Books ledger for the equipment purchase: Equipment (asset) +6,000. A non-cash / financed acquisition — new asset and its funding source recorded when the transaction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Books ledger after depreciation: Accumulated depreciation (contra-asset) builds up and Depreciation expense is charged, so the equipment's net book value falls by $100/month.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가치가 이미 소비되었지만 아직 지급하지 않았다면, 비용을 인식하고 부채(accrued liability)를 기록합니다.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before an invoice or payment, consumed value must be expensed; the unpaid amount is recorded as an accrued liability, settled when paid. Value Consumed (Expense) → Payment Pending (Liability).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Books recognizes the March energy cost as an expense in March (when used) even though cash is paid in April; it records the expense and an accrued liability on the balance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record the transactions in class before the solution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complete the summary in class after solving the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choose their answers in class before the solution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complete the adjusting entry in class before the solution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choose their answers in class before the solution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kaist_type_two_kit/kaist_tit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14306B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22960" y="4224528"/>
            <a:ext cx="201168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44439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91456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Adjusting Accounts for Financial Statements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56327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재무제표를 위한 계정 조정  ·  발생주의 회계와 조정분개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4476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Plan  ·  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TOPICS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627632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82296" cy="54864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1709928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99032" y="16276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Cycle ≠ Reporting Cycle  ·  보고 이슈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16276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2226564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" y="2226564"/>
            <a:ext cx="82296" cy="54864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308860"/>
            <a:ext cx="384048" cy="384048"/>
          </a:xfrm>
          <a:prstGeom prst="ellipse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99032" y="22265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1 &amp; 2  ·  Revenue·Expense 인식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22265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" y="2825496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2825496"/>
            <a:ext cx="82296" cy="54864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2907792"/>
            <a:ext cx="384048" cy="384048"/>
          </a:xfrm>
          <a:prstGeom prst="ellipse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99032" y="28254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vs. Accrual Basis  ·  현금주의 vs 발생주의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2825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" y="3424428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" y="3424428"/>
            <a:ext cx="82296" cy="548640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3506724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35067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99032" y="34244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Adjustments are Needed  ·  조정의 필요성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84080" y="34244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" y="4023360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9768" y="4023360"/>
            <a:ext cx="82296" cy="54864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2960" y="4105656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99032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Adjustments  ·  조정의 네 가지 유형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8408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9768" y="4622292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9768" y="4622292"/>
            <a:ext cx="82296" cy="54864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" y="4704588"/>
            <a:ext cx="384048" cy="384048"/>
          </a:xfrm>
          <a:prstGeom prst="ellipse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" y="47045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99032" y="46222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Expenses = Assets  ·  이연비용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84080" y="46222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9768" y="5221224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9768" y="5221224"/>
            <a:ext cx="82296" cy="54864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399032" y="52212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Accrued Expenses = Liabilities  ·  발생비용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784080" y="5221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9768" y="5875020"/>
            <a:ext cx="11329416" cy="457200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67512" y="5875020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회계기간이 문제인가 → 현금주의 vs 발생주의 → 조정분개(이연·발생비용).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Cycle ≠ Reporting Cycle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59936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순환과 보고 주기가 어긋날 때 생기는 이슈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Accounting Period &amp; Business Cycles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재무보고는 연속적인 영업 활동을 인위적인 기간으로 잘라 측정합니다.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377440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Accounting Period (Reporting Cycle)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성과를 측정·기록·보고하는 시간 간격.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balance sheet 사이의 기간.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달, 분기, 또는 1년이 될 수 있음.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377440"/>
            <a:ext cx="82296" cy="228600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Operating Cycle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매입/생산 → 판매 → 현금 회수까지의 평균 시간.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순환은 연속적이며 실제로 결코 '멈추지' 않음.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93776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93776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주기는 정해진 기간, 영업 순환은 멈추지 않는 흐름 — 이 둘의 불일치가 핵심입니다.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Periodicity Assumption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GAAP은 기업의 경제적 생애를 인위적인 기간(월·분기·연)으로 나눌 수 있다고 가정합니다.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468880"/>
            <a:ext cx="82296" cy="21945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46888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이해관계자(stakeholders)가 성과를 평가할 수 있게 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가능하고 비교 가능한 구간에 걸쳐 측정.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4688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468880"/>
            <a:ext cx="82296" cy="219456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46888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into a Period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072384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연속적인 활동을 더 짧고 일관된 구간으로 '잘라' 냄.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성과를 정기적으로 보고할 수 있게 함.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937760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4937760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periodicity 가정이 있어야 비로소 정기적인 재무제표 작성이 가능합니다.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an Issue?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창출 활동은 연속적으로 발생하지만, 재무제표는 특정 기간의 말에 작성되어야 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468880"/>
            <a:ext cx="82296" cy="2011680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46888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Aligned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reporting issues.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활동과 기간이 딱 맞으면 문제가 없음.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4688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468880"/>
            <a:ext cx="82296" cy="2011680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468880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Aligned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072384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Critical reporting issues arise.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This is the reality we face.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75488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75488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현실에서는 활동과 회계기간이 어긋납니다 — 그래서 조정(adjustments)이 필요합니다.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to Recognize Revenues &amp; Expenses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59936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발생주의 하에서 수익과 비용을 언제 인식하는가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1 — When to Recognize Revenue &amp; Expenses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517904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517904"/>
            <a:ext cx="82296" cy="237744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517904"/>
            <a:ext cx="539496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1517904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Timeline (FY ends 12/31)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2121408"/>
            <a:ext cx="49743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12/1/27 — 상품 $100 현금 매입.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12/20/27 — 상품 $180 외상 판매.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1/15/28 — 고객으로부터 $180 현금 회수.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" y="4041648"/>
            <a:ext cx="5394960" cy="182880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404164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2027년 인식액은?
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Revenue </a:t>
            </a: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Expense </a:t>
            </a: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Net income </a:t>
            </a: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시점에 수익, 대응되는 원가를 비용으로 인식.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12432" y="1444752"/>
            <a:ext cx="366080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assets/s0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84" y="1517904"/>
            <a:ext cx="3514496" cy="2286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30595" y="3858768"/>
            <a:ext cx="5624474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assets/s08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747" y="3931920"/>
            <a:ext cx="547817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2 — Summit Publishing Company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Publishing — 잡지 출판·유통 기업, 분기별 출판 일정으로 운영.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5661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Details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frequency:  4 issues / year.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issue:  $25.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subscribers:  1,000.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length:  3 years.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cash (2025):  $25 × 4 × 1,000 × 3 = $300,000.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82296" cy="160020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제작·배송비: $60,000 / year.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72784" y="411480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72784" y="4114800"/>
            <a:ext cx="82296" cy="173736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4114800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73952" y="41148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Costs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718304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 3년 만기 대출 @ 연 10% ($10,000/year).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원금·이자는 대출 만기 시 상환.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29768" y="5980176"/>
            <a:ext cx="11329416" cy="402336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5980176"/>
            <a:ext cx="10817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$300,000 현금은 2025년에 모두 회수 — 하지만 성과는 3년에 걸쳐 발생합니다.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2 — Required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517904"/>
            <a:ext cx="113294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517904"/>
            <a:ext cx="82296" cy="137160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517904"/>
            <a:ext cx="11329416" cy="384048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1517904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2084832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3년 기간(2025-2027) 동안 회사의 total income을 계산.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각 연도(2025, 2026, 2027)의 annual income을 계산.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Income = Revenue − Expenses.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616" y="2990088"/>
            <a:ext cx="11475720" cy="3248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assets/s1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063240"/>
            <a:ext cx="11329416" cy="3102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Ways to Keep Score — Cash vs. Accrual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거래라도 인식 기준에 따라 재무 성과가 달라집니다.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56616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Basis  (Not GAAP)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accrual이나 deferral을 기록하지 않음.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현금을 받을 때만 인식.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현금을 지급할 때만 인식.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 현금 유입·유출(유동성).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82296" cy="35661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 Basis  (GAAP)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경제적 활동에 기반한 인식.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재화 판매·용역 제공 시 인식 (현금 회수 아님).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revenue와 같은 기간, 또는 효익 소멸 시.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 거래의 경제적 실질.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998464"/>
            <a:ext cx="11329416" cy="402336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5998464"/>
            <a:ext cx="10817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Cash는 '언제 돈이 오갔나', Accrual은 '언제 가치가 만들어졌나'를 묻습니다.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_slides/orig_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_slides/orig_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Cash Distorts, Accrual Reveals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Cash는 은행 계좌를 추적하고, Accrual은 비즈니스 모델을 추적합니다.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2</a:t>
            </a:r>
            <a:endParaRPr lang="en-US" sz="10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85E5DD-6196-CC66-F671-CA7555299F46}"/>
              </a:ext>
            </a:extLst>
          </p:cNvPr>
          <p:cNvGrpSpPr/>
          <p:nvPr/>
        </p:nvGrpSpPr>
        <p:grpSpPr>
          <a:xfrm>
            <a:off x="553096" y="2045163"/>
            <a:ext cx="11175119" cy="4041718"/>
            <a:chOff x="580255" y="1845991"/>
            <a:chExt cx="11175119" cy="404171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5CB51EE-D204-C285-2B92-2ADF30424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255" y="1845991"/>
              <a:ext cx="10152515" cy="4041718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8EF8EE2-8E04-69C4-F22B-068CD6B3BF36}"/>
                </a:ext>
              </a:extLst>
            </p:cNvPr>
            <p:cNvGrpSpPr/>
            <p:nvPr/>
          </p:nvGrpSpPr>
          <p:grpSpPr>
            <a:xfrm>
              <a:off x="2571751" y="2982806"/>
              <a:ext cx="2285998" cy="1474897"/>
              <a:chOff x="4061708" y="3759581"/>
              <a:chExt cx="3018621" cy="1833602"/>
            </a:xfrm>
          </p:grpSpPr>
          <p:pic>
            <p:nvPicPr>
              <p:cNvPr id="19" name="object 3">
                <a:extLst>
                  <a:ext uri="{FF2B5EF4-FFF2-40B4-BE49-F238E27FC236}">
                    <a16:creationId xmlns:a16="http://schemas.microsoft.com/office/drawing/2014/main" id="{A4C01C52-3517-F866-0486-80CE829675FF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061708" y="4364940"/>
                <a:ext cx="1072638" cy="1228243"/>
              </a:xfrm>
              <a:prstGeom prst="rect">
                <a:avLst/>
              </a:prstGeom>
            </p:spPr>
          </p:pic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6826B568-B663-A872-0E3B-15DC1C462252}"/>
                  </a:ext>
                </a:extLst>
              </p:cNvPr>
              <p:cNvSpPr txBox="1"/>
              <p:nvPr/>
            </p:nvSpPr>
            <p:spPr>
              <a:xfrm>
                <a:off x="5127070" y="3759581"/>
                <a:ext cx="1953259" cy="777217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12700" marR="5080" indent="1270">
                  <a:spcBef>
                    <a:spcPts val="75"/>
                  </a:spcBef>
                </a:pPr>
                <a:r>
                  <a:rPr lang="ko-KR" sz="2000" spc="90" dirty="0">
                    <a:solidFill>
                      <a:srgbClr val="0C2134"/>
                    </a:solidFill>
                    <a:latin typeface="Arial"/>
                    <a:ea typeface="맑은 고딕"/>
                    <a:cs typeface="Arial"/>
                  </a:rPr>
                  <a:t>위험하고 변동성이 커 보임.</a:t>
                </a:r>
                <a:endParaRPr sz="2000" dirty="0">
                  <a:latin typeface="Arial"/>
                  <a:cs typeface="Arial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2824DA-F29D-B036-9406-034485820573}"/>
                </a:ext>
              </a:extLst>
            </p:cNvPr>
            <p:cNvGrpSpPr/>
            <p:nvPr/>
          </p:nvGrpSpPr>
          <p:grpSpPr>
            <a:xfrm>
              <a:off x="8575116" y="2722945"/>
              <a:ext cx="2832024" cy="1250342"/>
              <a:chOff x="13187625" y="3574851"/>
              <a:chExt cx="3054520" cy="1250342"/>
            </a:xfrm>
          </p:grpSpPr>
          <p:pic>
            <p:nvPicPr>
              <p:cNvPr id="17" name="object 6">
                <a:extLst>
                  <a:ext uri="{FF2B5EF4-FFF2-40B4-BE49-F238E27FC236}">
                    <a16:creationId xmlns:a16="http://schemas.microsoft.com/office/drawing/2014/main" id="{6710788E-DCAB-7C65-1393-6A0B4F441FF1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3187625" y="4264831"/>
                <a:ext cx="728904" cy="560362"/>
              </a:xfrm>
              <a:prstGeom prst="rect">
                <a:avLst/>
              </a:prstGeom>
            </p:spPr>
          </p:pic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3A712C73-5C91-87C3-0151-648E3DEEE5F6}"/>
                  </a:ext>
                </a:extLst>
              </p:cNvPr>
              <p:cNvSpPr txBox="1"/>
              <p:nvPr/>
            </p:nvSpPr>
            <p:spPr>
              <a:xfrm>
                <a:off x="14197445" y="3574851"/>
                <a:ext cx="2044700" cy="625171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26670" marR="5080" indent="-14604">
                  <a:spcBef>
                    <a:spcPts val="75"/>
                  </a:spcBef>
                </a:pPr>
                <a:r>
                  <a:rPr lang="ko-KR" sz="2000" spc="60" dirty="0">
                    <a:solidFill>
                      <a:srgbClr val="0C2134"/>
                    </a:solidFill>
                    <a:latin typeface="Arial"/>
                    <a:ea typeface="맑은 고딕"/>
                    <a:cs typeface="Arial"/>
                  </a:rPr>
                  <a:t>안정적이고 예측 가능함.</a:t>
                </a:r>
                <a:endParaRPr sz="2000" dirty="0">
                  <a:latin typeface="Arial"/>
                  <a:cs typeface="Arial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88F69E-C1BF-044C-0FC7-F9997F288E32}"/>
                </a:ext>
              </a:extLst>
            </p:cNvPr>
            <p:cNvSpPr txBox="1"/>
            <p:nvPr/>
          </p:nvSpPr>
          <p:spPr>
            <a:xfrm>
              <a:off x="1376934" y="4789170"/>
              <a:ext cx="103784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2025	             2026		       2027		                2025	        2026		2027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Cash vs. Accrual Basis — Comparison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GAAP은 발생주의를 요구할까요?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377440"/>
            <a:ext cx="82296" cy="228600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Cash Basis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활동 이후로 인식이 지연됨.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expense와 revenue의 대응이 부적절함.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영업 순환에 더 불리함.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377440"/>
            <a:ext cx="82296" cy="2286000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Accrual Basis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기간별 수익성을 더 명확하게 보여줌.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expense와 revenue를 더 잘 대응시킴.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영업 성과를 반영함.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93776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93776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발생주의는 수익과 비용을 대응시켜 각 기간의 실제 성과를 드러냅니다.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발생주의 인식 시점을 점검합니다.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QUIZ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38328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Revenue 인식 시점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회사에서 revenue는 언제 기록되는가?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고객이 서비스를 요청할 때.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고객이 대금을 지급할 때.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고객에게 서비스가 제공될 때.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제공 전 non-refundable deposit을 받을 때.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82296" cy="338328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Accrual-Basis Reporting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20x3년 Costello는 $10,000 청구·수행, $3,000 비용 지급. 고객은 20x4년에 지급. accrual이면?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expenses of $3,000 in 20x4.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net income of $7,000 in 20x4.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revenue of $10,000 in 20x3.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revenue of $10,000 in 20x4.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815584"/>
            <a:ext cx="11329416" cy="457200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5815584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______    ·    Q2 ______     (수업 중 작성)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1 (Continued)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Airline 급여 — 발생과 지급의 분개.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QUIZ 1 · Q3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20040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직원은 매월 15일에 급여를 받음.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20x1/12/16–12/31 근무분 $220,000는 20x2/1/15에 지급됨.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12/31 발생 분개, (2) 1/15 지급 분개를 작성하시오.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2542032"/>
          <a:ext cx="5486400" cy="21762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Titles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Adjustments are Needed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59936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조정분개가 필요한가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Adjustments Align the Facts with the Financials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조정분개는 회계기간의 시간 격차(periodicity)를 메웁니다.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040880" y="2377440"/>
            <a:ext cx="4718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040880" y="2377440"/>
            <a:ext cx="82296" cy="31089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040880" y="2377440"/>
            <a:ext cx="4718304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42048" y="237744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Gap (Periodicity)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0336" y="2980944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현금의 이동 시점과 가치의 창출·소비 시점이 다름.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시간 격차 때문에 기록되지 않은 수익·비용이 남음.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조정분개가 이 격차를 메워 사실과 재무제표를 일치시킴.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71B9AB-0494-E738-7BB2-4759A9AAC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919580"/>
            <a:ext cx="6137735" cy="212183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E1A4353-58A9-41FA-20ED-4F1B1576A5A0}"/>
              </a:ext>
            </a:extLst>
          </p:cNvPr>
          <p:cNvGrpSpPr/>
          <p:nvPr/>
        </p:nvGrpSpPr>
        <p:grpSpPr>
          <a:xfrm>
            <a:off x="534569" y="2739920"/>
            <a:ext cx="6138508" cy="1258531"/>
            <a:chOff x="726410" y="1991849"/>
            <a:chExt cx="16007441" cy="3611941"/>
          </a:xfrm>
        </p:grpSpPr>
        <p:grpSp>
          <p:nvGrpSpPr>
            <p:cNvPr id="19" name="object 2">
              <a:extLst>
                <a:ext uri="{FF2B5EF4-FFF2-40B4-BE49-F238E27FC236}">
                  <a16:creationId xmlns:a16="http://schemas.microsoft.com/office/drawing/2014/main" id="{1E79E531-D43D-97B6-A03D-FCB8A491F513}"/>
                </a:ext>
              </a:extLst>
            </p:cNvPr>
            <p:cNvGrpSpPr/>
            <p:nvPr/>
          </p:nvGrpSpPr>
          <p:grpSpPr>
            <a:xfrm>
              <a:off x="8008691" y="3835965"/>
              <a:ext cx="2547617" cy="536574"/>
              <a:chOff x="8008691" y="3835965"/>
              <a:chExt cx="2547617" cy="536574"/>
            </a:xfrm>
          </p:grpSpPr>
          <p:sp>
            <p:nvSpPr>
              <p:cNvPr id="23" name="object 4">
                <a:extLst>
                  <a:ext uri="{FF2B5EF4-FFF2-40B4-BE49-F238E27FC236}">
                    <a16:creationId xmlns:a16="http://schemas.microsoft.com/office/drawing/2014/main" id="{1B2339A3-C12D-1EF6-6891-E33D014795A1}"/>
                  </a:ext>
                </a:extLst>
              </p:cNvPr>
              <p:cNvSpPr/>
              <p:nvPr/>
            </p:nvSpPr>
            <p:spPr>
              <a:xfrm>
                <a:off x="8178030" y="3835965"/>
                <a:ext cx="2089150" cy="536574"/>
              </a:xfrm>
              <a:custGeom>
                <a:avLst/>
                <a:gdLst/>
                <a:ahLst/>
                <a:cxnLst/>
                <a:rect l="l" t="t" r="r" b="b"/>
                <a:pathLst>
                  <a:path w="2089150" h="536575">
                    <a:moveTo>
                      <a:pt x="0" y="536177"/>
                    </a:moveTo>
                    <a:lnTo>
                      <a:pt x="0" y="0"/>
                    </a:lnTo>
                  </a:path>
                  <a:path w="2089150" h="536575">
                    <a:moveTo>
                      <a:pt x="343896" y="536177"/>
                    </a:moveTo>
                    <a:lnTo>
                      <a:pt x="343896" y="102129"/>
                    </a:lnTo>
                  </a:path>
                  <a:path w="2089150" h="536575">
                    <a:moveTo>
                      <a:pt x="1732221" y="536177"/>
                    </a:moveTo>
                    <a:lnTo>
                      <a:pt x="1732221" y="127661"/>
                    </a:lnTo>
                  </a:path>
                  <a:path w="2089150" h="536575">
                    <a:moveTo>
                      <a:pt x="2088854" y="536177"/>
                    </a:moveTo>
                    <a:lnTo>
                      <a:pt x="2088854" y="0"/>
                    </a:lnTo>
                  </a:path>
                </a:pathLst>
              </a:custGeom>
              <a:ln w="5100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050"/>
              </a:p>
            </p:txBody>
          </p:sp>
          <p:sp>
            <p:nvSpPr>
              <p:cNvPr id="24" name="object 5">
                <a:extLst>
                  <a:ext uri="{FF2B5EF4-FFF2-40B4-BE49-F238E27FC236}">
                    <a16:creationId xmlns:a16="http://schemas.microsoft.com/office/drawing/2014/main" id="{D3A73AFA-871B-9BF8-05D3-0641D4284976}"/>
                  </a:ext>
                </a:extLst>
              </p:cNvPr>
              <p:cNvSpPr/>
              <p:nvPr/>
            </p:nvSpPr>
            <p:spPr>
              <a:xfrm>
                <a:off x="8008691" y="4073035"/>
                <a:ext cx="2547617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2547620" h="140970">
                    <a:moveTo>
                      <a:pt x="0" y="0"/>
                    </a:moveTo>
                    <a:lnTo>
                      <a:pt x="2547384" y="0"/>
                    </a:lnTo>
                    <a:lnTo>
                      <a:pt x="2547384" y="140427"/>
                    </a:lnTo>
                    <a:lnTo>
                      <a:pt x="0" y="1404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050" dirty="0"/>
              </a:p>
            </p:txBody>
          </p:sp>
        </p:grpSp>
        <p:sp>
          <p:nvSpPr>
            <p:cNvPr id="20" name="object 7">
              <a:extLst>
                <a:ext uri="{FF2B5EF4-FFF2-40B4-BE49-F238E27FC236}">
                  <a16:creationId xmlns:a16="http://schemas.microsoft.com/office/drawing/2014/main" id="{0BA04A46-2D91-308D-5F64-8D5259692A24}"/>
                </a:ext>
              </a:extLst>
            </p:cNvPr>
            <p:cNvSpPr txBox="1"/>
            <p:nvPr/>
          </p:nvSpPr>
          <p:spPr>
            <a:xfrm>
              <a:off x="726410" y="1991849"/>
              <a:ext cx="4104364" cy="1102297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 algn="ctr">
                <a:spcBef>
                  <a:spcPts val="115"/>
                </a:spcBef>
              </a:pPr>
              <a:r>
                <a:rPr lang="en-US" sz="1200" b="1" spc="140" dirty="0">
                  <a:solidFill>
                    <a:srgbClr val="081F36"/>
                  </a:solidFill>
                  <a:latin typeface="Arial"/>
                  <a:cs typeface="Arial"/>
                </a:rPr>
                <a:t>Daily Cash Transactions</a:t>
              </a:r>
              <a:endParaRPr lang="en-US" sz="1200" dirty="0">
                <a:latin typeface="Arial"/>
                <a:cs typeface="Arial"/>
              </a:endParaRPr>
            </a:p>
          </p:txBody>
        </p:sp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7708C637-7F54-2721-2B7E-8701DEEC43B0}"/>
                </a:ext>
              </a:extLst>
            </p:cNvPr>
            <p:cNvSpPr txBox="1"/>
            <p:nvPr/>
          </p:nvSpPr>
          <p:spPr>
            <a:xfrm>
              <a:off x="13119431" y="1991849"/>
              <a:ext cx="3614420" cy="1139101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 algn="ctr">
                <a:spcBef>
                  <a:spcPts val="115"/>
                </a:spcBef>
              </a:pPr>
              <a:r>
                <a:rPr sz="1200" b="1" dirty="0">
                  <a:solidFill>
                    <a:srgbClr val="081F36"/>
                  </a:solidFill>
                  <a:latin typeface="Arial"/>
                  <a:cs typeface="Arial"/>
                </a:rPr>
                <a:t>Financial</a:t>
              </a:r>
              <a:r>
                <a:rPr sz="1200" b="1" spc="125" dirty="0">
                  <a:solidFill>
                    <a:srgbClr val="081F36"/>
                  </a:solidFill>
                  <a:latin typeface="Arial"/>
                  <a:cs typeface="Arial"/>
                </a:rPr>
                <a:t> </a:t>
              </a:r>
              <a:endParaRPr lang="en-US" sz="1200" b="1" spc="125" dirty="0">
                <a:solidFill>
                  <a:srgbClr val="081F36"/>
                </a:solidFill>
                <a:latin typeface="Arial"/>
                <a:cs typeface="Arial"/>
              </a:endParaRPr>
            </a:p>
            <a:p>
              <a:pPr marL="12700" algn="ctr">
                <a:spcBef>
                  <a:spcPts val="115"/>
                </a:spcBef>
              </a:pPr>
              <a:r>
                <a:rPr sz="1200" b="1" spc="85" dirty="0">
                  <a:solidFill>
                    <a:srgbClr val="081F36"/>
                  </a:solidFill>
                  <a:latin typeface="Arial"/>
                  <a:cs typeface="Arial"/>
                </a:rPr>
                <a:t>Statements</a:t>
              </a:r>
              <a:endParaRPr sz="1200" dirty="0">
                <a:latin typeface="Arial"/>
                <a:cs typeface="Arial"/>
              </a:endParaRPr>
            </a:p>
          </p:txBody>
        </p:sp>
        <p:sp>
          <p:nvSpPr>
            <p:cNvPr id="22" name="object 9">
              <a:extLst>
                <a:ext uri="{FF2B5EF4-FFF2-40B4-BE49-F238E27FC236}">
                  <a16:creationId xmlns:a16="http://schemas.microsoft.com/office/drawing/2014/main" id="{6DE47EFC-E233-1EE2-2310-D970B7FD3820}"/>
                </a:ext>
              </a:extLst>
            </p:cNvPr>
            <p:cNvSpPr txBox="1"/>
            <p:nvPr/>
          </p:nvSpPr>
          <p:spPr>
            <a:xfrm>
              <a:off x="5744296" y="4762807"/>
              <a:ext cx="6809025" cy="84098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b="1" spc="114" dirty="0">
                  <a:solidFill>
                    <a:srgbClr val="081F36"/>
                  </a:solidFill>
                  <a:latin typeface="Arial"/>
                  <a:cs typeface="Arial"/>
                </a:rPr>
                <a:t>ADJUSTING</a:t>
              </a:r>
              <a:r>
                <a:rPr b="1" spc="135" dirty="0">
                  <a:solidFill>
                    <a:srgbClr val="081F36"/>
                  </a:solidFill>
                  <a:latin typeface="Arial"/>
                  <a:cs typeface="Arial"/>
                </a:rPr>
                <a:t> </a:t>
              </a:r>
              <a:r>
                <a:rPr b="1" spc="-10" dirty="0">
                  <a:solidFill>
                    <a:srgbClr val="081F36"/>
                  </a:solidFill>
                  <a:latin typeface="Arial"/>
                  <a:cs typeface="Arial"/>
                </a:rPr>
                <a:t>ENTRIES</a:t>
              </a:r>
              <a:endParaRPr dirty="0">
                <a:latin typeface="Arial"/>
                <a:cs typeface="Arial"/>
              </a:endParaRPr>
            </a:p>
          </p:txBody>
        </p:sp>
      </p:grpSp>
      <p:sp>
        <p:nvSpPr>
          <p:cNvPr id="25" name="object 22">
            <a:extLst>
              <a:ext uri="{FF2B5EF4-FFF2-40B4-BE49-F238E27FC236}">
                <a16:creationId xmlns:a16="http://schemas.microsoft.com/office/drawing/2014/main" id="{0C3F1208-2446-9AC1-B859-5C8F51431432}"/>
              </a:ext>
            </a:extLst>
          </p:cNvPr>
          <p:cNvSpPr txBox="1"/>
          <p:nvPr/>
        </p:nvSpPr>
        <p:spPr>
          <a:xfrm>
            <a:off x="1691005" y="4693115"/>
            <a:ext cx="4389755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000" spc="70" dirty="0">
                <a:solidFill>
                  <a:srgbClr val="0A0C0C"/>
                </a:solidFill>
                <a:latin typeface="Times New Roman"/>
                <a:cs typeface="Times New Roman"/>
              </a:rPr>
              <a:t>Th</a:t>
            </a:r>
            <a:r>
              <a:rPr sz="2000" spc="70" dirty="0">
                <a:solidFill>
                  <a:srgbClr val="0F1D31"/>
                </a:solidFill>
                <a:latin typeface="Times New Roman"/>
                <a:cs typeface="Times New Roman"/>
              </a:rPr>
              <a:t>e</a:t>
            </a:r>
            <a:r>
              <a:rPr sz="2000" spc="-85" dirty="0">
                <a:solidFill>
                  <a:srgbClr val="0F1D3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A0C0C"/>
                </a:solidFill>
                <a:latin typeface="Times New Roman"/>
                <a:cs typeface="Times New Roman"/>
              </a:rPr>
              <a:t>Time</a:t>
            </a:r>
            <a:r>
              <a:rPr sz="2000" spc="-75" dirty="0">
                <a:solidFill>
                  <a:srgbClr val="0A0C0C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0A0C0C"/>
                </a:solidFill>
                <a:latin typeface="Times New Roman"/>
                <a:cs typeface="Times New Roman"/>
              </a:rPr>
              <a:t>Gap</a:t>
            </a:r>
            <a:r>
              <a:rPr sz="2000" spc="-50" dirty="0">
                <a:solidFill>
                  <a:srgbClr val="0A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A0C0C"/>
                </a:solidFill>
                <a:latin typeface="Times New Roman"/>
                <a:cs typeface="Times New Roman"/>
              </a:rPr>
              <a:t>(P</a:t>
            </a:r>
            <a:r>
              <a:rPr sz="2000" spc="-10" dirty="0">
                <a:solidFill>
                  <a:srgbClr val="0F1D31"/>
                </a:solidFill>
                <a:latin typeface="Times New Roman"/>
                <a:cs typeface="Times New Roman"/>
              </a:rPr>
              <a:t>e</a:t>
            </a:r>
            <a:r>
              <a:rPr sz="2000" spc="-10" dirty="0">
                <a:solidFill>
                  <a:srgbClr val="0A0C0C"/>
                </a:solidFill>
                <a:latin typeface="Times New Roman"/>
                <a:cs typeface="Times New Roman"/>
              </a:rPr>
              <a:t>riodi</a:t>
            </a:r>
            <a:r>
              <a:rPr sz="2000" spc="-10" dirty="0">
                <a:solidFill>
                  <a:srgbClr val="0F1D31"/>
                </a:solidFill>
                <a:latin typeface="Times New Roman"/>
                <a:cs typeface="Times New Roman"/>
              </a:rPr>
              <a:t>c</a:t>
            </a:r>
            <a:r>
              <a:rPr sz="2000" spc="-10" dirty="0">
                <a:solidFill>
                  <a:srgbClr val="0A0C0C"/>
                </a:solidFill>
                <a:latin typeface="Times New Roman"/>
                <a:cs typeface="Times New Roman"/>
              </a:rPr>
              <a:t>ity</a:t>
            </a:r>
            <a:r>
              <a:rPr sz="2000" spc="-10" dirty="0">
                <a:solidFill>
                  <a:srgbClr val="0F1D31"/>
                </a:solidFill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Adjustments Align the Facts with the Financials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조정분개는 회계기간의 시간 격차(periodicity)를 메웁니다.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077456" y="2377440"/>
            <a:ext cx="4718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040880" y="2377440"/>
            <a:ext cx="82296" cy="31089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040880" y="2377440"/>
            <a:ext cx="4718304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42048" y="237744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Gap (Periodicity)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0336" y="2980944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현금의 이동 시점과 가치의 창출·소비 시점이 다름.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시간 격차 때문에 기록되지 않은 수익·비용이 남음.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조정분개가 이 격차를 메워 사실과 재무제표를 일치시킴.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48363D-EB05-5595-0A61-7D524F546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919580"/>
            <a:ext cx="6137735" cy="212183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45D5FDF-81BF-66D6-1D06-B5596C38C6DF}"/>
              </a:ext>
            </a:extLst>
          </p:cNvPr>
          <p:cNvGrpSpPr/>
          <p:nvPr/>
        </p:nvGrpSpPr>
        <p:grpSpPr>
          <a:xfrm>
            <a:off x="534569" y="2739920"/>
            <a:ext cx="6138508" cy="1258531"/>
            <a:chOff x="726410" y="1991849"/>
            <a:chExt cx="16007441" cy="3611941"/>
          </a:xfrm>
        </p:grpSpPr>
        <p:grpSp>
          <p:nvGrpSpPr>
            <p:cNvPr id="24" name="object 2">
              <a:extLst>
                <a:ext uri="{FF2B5EF4-FFF2-40B4-BE49-F238E27FC236}">
                  <a16:creationId xmlns:a16="http://schemas.microsoft.com/office/drawing/2014/main" id="{D66B1D7D-495C-22C8-738A-BD14EE9B7F8E}"/>
                </a:ext>
              </a:extLst>
            </p:cNvPr>
            <p:cNvGrpSpPr/>
            <p:nvPr/>
          </p:nvGrpSpPr>
          <p:grpSpPr>
            <a:xfrm>
              <a:off x="8008691" y="3835965"/>
              <a:ext cx="2547617" cy="536574"/>
              <a:chOff x="8008691" y="3835965"/>
              <a:chExt cx="2547617" cy="536574"/>
            </a:xfrm>
          </p:grpSpPr>
          <p:sp>
            <p:nvSpPr>
              <p:cNvPr id="32" name="object 4">
                <a:extLst>
                  <a:ext uri="{FF2B5EF4-FFF2-40B4-BE49-F238E27FC236}">
                    <a16:creationId xmlns:a16="http://schemas.microsoft.com/office/drawing/2014/main" id="{94263D5E-0963-C714-D623-1E3037D22CF0}"/>
                  </a:ext>
                </a:extLst>
              </p:cNvPr>
              <p:cNvSpPr/>
              <p:nvPr/>
            </p:nvSpPr>
            <p:spPr>
              <a:xfrm>
                <a:off x="8178030" y="3835965"/>
                <a:ext cx="2089150" cy="536574"/>
              </a:xfrm>
              <a:custGeom>
                <a:avLst/>
                <a:gdLst/>
                <a:ahLst/>
                <a:cxnLst/>
                <a:rect l="l" t="t" r="r" b="b"/>
                <a:pathLst>
                  <a:path w="2089150" h="536575">
                    <a:moveTo>
                      <a:pt x="0" y="536177"/>
                    </a:moveTo>
                    <a:lnTo>
                      <a:pt x="0" y="0"/>
                    </a:lnTo>
                  </a:path>
                  <a:path w="2089150" h="536575">
                    <a:moveTo>
                      <a:pt x="343896" y="536177"/>
                    </a:moveTo>
                    <a:lnTo>
                      <a:pt x="343896" y="102129"/>
                    </a:lnTo>
                  </a:path>
                  <a:path w="2089150" h="536575">
                    <a:moveTo>
                      <a:pt x="1732221" y="536177"/>
                    </a:moveTo>
                    <a:lnTo>
                      <a:pt x="1732221" y="127661"/>
                    </a:lnTo>
                  </a:path>
                  <a:path w="2089150" h="536575">
                    <a:moveTo>
                      <a:pt x="2088854" y="536177"/>
                    </a:moveTo>
                    <a:lnTo>
                      <a:pt x="2088854" y="0"/>
                    </a:lnTo>
                  </a:path>
                </a:pathLst>
              </a:custGeom>
              <a:ln w="5100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050"/>
              </a:p>
            </p:txBody>
          </p:sp>
          <p:sp>
            <p:nvSpPr>
              <p:cNvPr id="33" name="object 5">
                <a:extLst>
                  <a:ext uri="{FF2B5EF4-FFF2-40B4-BE49-F238E27FC236}">
                    <a16:creationId xmlns:a16="http://schemas.microsoft.com/office/drawing/2014/main" id="{9F99D994-6500-9595-F31C-1B3CE5E96BFF}"/>
                  </a:ext>
                </a:extLst>
              </p:cNvPr>
              <p:cNvSpPr/>
              <p:nvPr/>
            </p:nvSpPr>
            <p:spPr>
              <a:xfrm>
                <a:off x="8008691" y="4073035"/>
                <a:ext cx="2547617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2547620" h="140970">
                    <a:moveTo>
                      <a:pt x="0" y="0"/>
                    </a:moveTo>
                    <a:lnTo>
                      <a:pt x="2547384" y="0"/>
                    </a:lnTo>
                    <a:lnTo>
                      <a:pt x="2547384" y="140427"/>
                    </a:lnTo>
                    <a:lnTo>
                      <a:pt x="0" y="1404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050" dirty="0"/>
              </a:p>
            </p:txBody>
          </p:sp>
        </p:grpSp>
        <p:sp>
          <p:nvSpPr>
            <p:cNvPr id="26" name="object 7">
              <a:extLst>
                <a:ext uri="{FF2B5EF4-FFF2-40B4-BE49-F238E27FC236}">
                  <a16:creationId xmlns:a16="http://schemas.microsoft.com/office/drawing/2014/main" id="{7B2463B2-CC2B-70CB-FCC2-3F88CCB7FC7E}"/>
                </a:ext>
              </a:extLst>
            </p:cNvPr>
            <p:cNvSpPr txBox="1"/>
            <p:nvPr/>
          </p:nvSpPr>
          <p:spPr>
            <a:xfrm>
              <a:off x="726410" y="1991849"/>
              <a:ext cx="4104364" cy="1102297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 algn="ctr">
                <a:spcBef>
                  <a:spcPts val="115"/>
                </a:spcBef>
              </a:pPr>
              <a:r>
                <a:rPr lang="en-US" sz="1200" b="1" spc="140" dirty="0">
                  <a:solidFill>
                    <a:srgbClr val="081F36"/>
                  </a:solidFill>
                  <a:latin typeface="Arial"/>
                  <a:cs typeface="Arial"/>
                </a:rPr>
                <a:t>Daily Cash Transactions</a:t>
              </a:r>
              <a:endParaRPr lang="en-US" sz="1200" dirty="0">
                <a:latin typeface="Arial"/>
                <a:cs typeface="Arial"/>
              </a:endParaRPr>
            </a:p>
          </p:txBody>
        </p:sp>
        <p:sp>
          <p:nvSpPr>
            <p:cNvPr id="27" name="object 8">
              <a:extLst>
                <a:ext uri="{FF2B5EF4-FFF2-40B4-BE49-F238E27FC236}">
                  <a16:creationId xmlns:a16="http://schemas.microsoft.com/office/drawing/2014/main" id="{147548A9-0E90-69F6-6B7E-EFF38032023E}"/>
                </a:ext>
              </a:extLst>
            </p:cNvPr>
            <p:cNvSpPr txBox="1"/>
            <p:nvPr/>
          </p:nvSpPr>
          <p:spPr>
            <a:xfrm>
              <a:off x="13119431" y="1991849"/>
              <a:ext cx="3614420" cy="1139101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 algn="ctr">
                <a:spcBef>
                  <a:spcPts val="115"/>
                </a:spcBef>
              </a:pPr>
              <a:r>
                <a:rPr sz="1200" b="1" dirty="0">
                  <a:solidFill>
                    <a:srgbClr val="081F36"/>
                  </a:solidFill>
                  <a:latin typeface="Arial"/>
                  <a:cs typeface="Arial"/>
                </a:rPr>
                <a:t>Financial</a:t>
              </a:r>
              <a:r>
                <a:rPr sz="1200" b="1" spc="125" dirty="0">
                  <a:solidFill>
                    <a:srgbClr val="081F36"/>
                  </a:solidFill>
                  <a:latin typeface="Arial"/>
                  <a:cs typeface="Arial"/>
                </a:rPr>
                <a:t> </a:t>
              </a:r>
              <a:endParaRPr lang="en-US" sz="1200" b="1" spc="125" dirty="0">
                <a:solidFill>
                  <a:srgbClr val="081F36"/>
                </a:solidFill>
                <a:latin typeface="Arial"/>
                <a:cs typeface="Arial"/>
              </a:endParaRPr>
            </a:p>
            <a:p>
              <a:pPr marL="12700" algn="ctr">
                <a:spcBef>
                  <a:spcPts val="115"/>
                </a:spcBef>
              </a:pPr>
              <a:r>
                <a:rPr sz="1200" b="1" spc="85" dirty="0">
                  <a:solidFill>
                    <a:srgbClr val="081F36"/>
                  </a:solidFill>
                  <a:latin typeface="Arial"/>
                  <a:cs typeface="Arial"/>
                </a:rPr>
                <a:t>Statements</a:t>
              </a:r>
              <a:endParaRPr sz="1200" dirty="0">
                <a:latin typeface="Arial"/>
                <a:cs typeface="Arial"/>
              </a:endParaRPr>
            </a:p>
          </p:txBody>
        </p:sp>
        <p:sp>
          <p:nvSpPr>
            <p:cNvPr id="28" name="object 9">
              <a:extLst>
                <a:ext uri="{FF2B5EF4-FFF2-40B4-BE49-F238E27FC236}">
                  <a16:creationId xmlns:a16="http://schemas.microsoft.com/office/drawing/2014/main" id="{B83EF7C3-35A5-9A9C-F202-2E8BCB12B4CD}"/>
                </a:ext>
              </a:extLst>
            </p:cNvPr>
            <p:cNvSpPr txBox="1"/>
            <p:nvPr/>
          </p:nvSpPr>
          <p:spPr>
            <a:xfrm>
              <a:off x="5744296" y="4762807"/>
              <a:ext cx="6809025" cy="84098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b="1" spc="114" dirty="0">
                  <a:solidFill>
                    <a:srgbClr val="081F36"/>
                  </a:solidFill>
                  <a:latin typeface="Arial"/>
                  <a:cs typeface="Arial"/>
                </a:rPr>
                <a:t>ADJUSTING</a:t>
              </a:r>
              <a:r>
                <a:rPr b="1" spc="135" dirty="0">
                  <a:solidFill>
                    <a:srgbClr val="081F36"/>
                  </a:solidFill>
                  <a:latin typeface="Arial"/>
                  <a:cs typeface="Arial"/>
                </a:rPr>
                <a:t> </a:t>
              </a:r>
              <a:r>
                <a:rPr b="1" spc="-10" dirty="0">
                  <a:solidFill>
                    <a:srgbClr val="081F36"/>
                  </a:solidFill>
                  <a:latin typeface="Arial"/>
                  <a:cs typeface="Arial"/>
                </a:rPr>
                <a:t>ENTRIES</a:t>
              </a:r>
              <a:endParaRPr dirty="0">
                <a:latin typeface="Arial"/>
                <a:cs typeface="Arial"/>
              </a:endParaRPr>
            </a:p>
          </p:txBody>
        </p:sp>
      </p:grpSp>
      <p:sp>
        <p:nvSpPr>
          <p:cNvPr id="19" name="object 22">
            <a:extLst>
              <a:ext uri="{FF2B5EF4-FFF2-40B4-BE49-F238E27FC236}">
                <a16:creationId xmlns:a16="http://schemas.microsoft.com/office/drawing/2014/main" id="{E95DEF7D-ED58-F360-AB79-044C071BD9BB}"/>
              </a:ext>
            </a:extLst>
          </p:cNvPr>
          <p:cNvSpPr txBox="1"/>
          <p:nvPr/>
        </p:nvSpPr>
        <p:spPr>
          <a:xfrm>
            <a:off x="1691005" y="4693115"/>
            <a:ext cx="4389755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000" spc="70" dirty="0">
                <a:solidFill>
                  <a:srgbClr val="0A0C0C"/>
                </a:solidFill>
                <a:latin typeface="Times New Roman"/>
                <a:cs typeface="Times New Roman"/>
              </a:rPr>
              <a:t>Th</a:t>
            </a:r>
            <a:r>
              <a:rPr sz="2000" spc="70" dirty="0">
                <a:solidFill>
                  <a:srgbClr val="0F1D31"/>
                </a:solidFill>
                <a:latin typeface="Times New Roman"/>
                <a:cs typeface="Times New Roman"/>
              </a:rPr>
              <a:t>e</a:t>
            </a:r>
            <a:r>
              <a:rPr sz="2000" spc="-85" dirty="0">
                <a:solidFill>
                  <a:srgbClr val="0F1D3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A0C0C"/>
                </a:solidFill>
                <a:latin typeface="Times New Roman"/>
                <a:cs typeface="Times New Roman"/>
              </a:rPr>
              <a:t>Time</a:t>
            </a:r>
            <a:r>
              <a:rPr sz="2000" spc="-75" dirty="0">
                <a:solidFill>
                  <a:srgbClr val="0A0C0C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0A0C0C"/>
                </a:solidFill>
                <a:latin typeface="Times New Roman"/>
                <a:cs typeface="Times New Roman"/>
              </a:rPr>
              <a:t>Gap</a:t>
            </a:r>
            <a:r>
              <a:rPr sz="2000" spc="-50" dirty="0">
                <a:solidFill>
                  <a:srgbClr val="0A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A0C0C"/>
                </a:solidFill>
                <a:latin typeface="Times New Roman"/>
                <a:cs typeface="Times New Roman"/>
              </a:rPr>
              <a:t>(P</a:t>
            </a:r>
            <a:r>
              <a:rPr sz="2000" spc="-10" dirty="0">
                <a:solidFill>
                  <a:srgbClr val="0F1D31"/>
                </a:solidFill>
                <a:latin typeface="Times New Roman"/>
                <a:cs typeface="Times New Roman"/>
              </a:rPr>
              <a:t>e</a:t>
            </a:r>
            <a:r>
              <a:rPr sz="2000" spc="-10" dirty="0">
                <a:solidFill>
                  <a:srgbClr val="0A0C0C"/>
                </a:solidFill>
                <a:latin typeface="Times New Roman"/>
                <a:cs typeface="Times New Roman"/>
              </a:rPr>
              <a:t>riodi</a:t>
            </a:r>
            <a:r>
              <a:rPr sz="2000" spc="-10" dirty="0">
                <a:solidFill>
                  <a:srgbClr val="0F1D31"/>
                </a:solidFill>
                <a:latin typeface="Times New Roman"/>
                <a:cs typeface="Times New Roman"/>
              </a:rPr>
              <a:t>c</a:t>
            </a:r>
            <a:r>
              <a:rPr sz="2000" spc="-10" dirty="0">
                <a:solidFill>
                  <a:srgbClr val="0A0C0C"/>
                </a:solidFill>
                <a:latin typeface="Times New Roman"/>
                <a:cs typeface="Times New Roman"/>
              </a:rPr>
              <a:t>ity</a:t>
            </a:r>
            <a:r>
              <a:rPr sz="2000" spc="-10" dirty="0">
                <a:solidFill>
                  <a:srgbClr val="0F1D31"/>
                </a:solidFill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Cash Flow Does Not Equal Business Performance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현금의 흐름과 사업의 성과는 같지 않습니다.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1979096"/>
            <a:ext cx="11329416" cy="1452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1979096"/>
            <a:ext cx="82296" cy="1452176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1979096"/>
            <a:ext cx="11329416" cy="290435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1979096"/>
            <a:ext cx="11018520" cy="290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582600"/>
            <a:ext cx="10908792" cy="94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'Expense'(비용)는 돈이 은행 계좌에서 나가는 시점과 무관하게, 가치의 소비로 정의됨.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현금만 추적하면 수익성에 대한 잘못된 그림을 만듦.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9768" y="3596057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596057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비용은 '가치가 소비되는 때' 인식됩니다 — 수표를 쓰는 순간이 아니라.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9768" y="4327577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" y="4327577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발생주의에서는 조정분개로 소비된 가치를 비용으로 잡아 줍니다.</a:t>
            </a:r>
            <a:endParaRPr lang="en-US" sz="13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1B37A4-D438-2330-80E0-88C340AD7011}"/>
              </a:ext>
            </a:extLst>
          </p:cNvPr>
          <p:cNvGrpSpPr/>
          <p:nvPr/>
        </p:nvGrpSpPr>
        <p:grpSpPr>
          <a:xfrm>
            <a:off x="3485584" y="5059097"/>
            <a:ext cx="6218486" cy="1431539"/>
            <a:chOff x="2000122" y="3684413"/>
            <a:chExt cx="7703948" cy="28062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0C5FCF7-3A38-D9EA-7FE9-86C1D85D9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0122" y="3684413"/>
              <a:ext cx="7703948" cy="2806223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69B36E8-82E6-67FB-A838-61384191E069}"/>
                </a:ext>
              </a:extLst>
            </p:cNvPr>
            <p:cNvGrpSpPr/>
            <p:nvPr/>
          </p:nvGrpSpPr>
          <p:grpSpPr>
            <a:xfrm>
              <a:off x="2663190" y="3699794"/>
              <a:ext cx="6865620" cy="659616"/>
              <a:chOff x="3406207" y="3784612"/>
              <a:chExt cx="10018285" cy="943870"/>
            </a:xfrm>
          </p:grpSpPr>
          <p:sp>
            <p:nvSpPr>
              <p:cNvPr id="22" name="object 7">
                <a:extLst>
                  <a:ext uri="{FF2B5EF4-FFF2-40B4-BE49-F238E27FC236}">
                    <a16:creationId xmlns:a16="http://schemas.microsoft.com/office/drawing/2014/main" id="{30A2C24D-721E-76C5-42E1-C780FE7C4E06}"/>
                  </a:ext>
                </a:extLst>
              </p:cNvPr>
              <p:cNvSpPr txBox="1"/>
              <p:nvPr/>
            </p:nvSpPr>
            <p:spPr>
              <a:xfrm>
                <a:off x="3406207" y="3823790"/>
                <a:ext cx="2514498" cy="904692"/>
              </a:xfrm>
              <a:prstGeom prst="rect">
                <a:avLst/>
              </a:prstGeom>
            </p:spPr>
            <p:txBody>
              <a:bodyPr vert="horz" wrap="square" lIns="0" tIns="14604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14"/>
                  </a:spcBef>
                </a:pPr>
                <a:r>
                  <a:rPr sz="2000" spc="50" dirty="0">
                    <a:solidFill>
                      <a:srgbClr val="050505"/>
                    </a:solidFill>
                    <a:latin typeface="Arial"/>
                    <a:cs typeface="Arial"/>
                  </a:rPr>
                  <a:t>Cash</a:t>
                </a:r>
                <a:r>
                  <a:rPr sz="2000" spc="-30" dirty="0">
                    <a:solidFill>
                      <a:srgbClr val="050505"/>
                    </a:solidFill>
                    <a:latin typeface="Arial"/>
                    <a:cs typeface="Arial"/>
                  </a:rPr>
                  <a:t> </a:t>
                </a:r>
                <a:r>
                  <a:rPr sz="2000" spc="-20" dirty="0">
                    <a:solidFill>
                      <a:srgbClr val="050505"/>
                    </a:solidFill>
                    <a:latin typeface="Arial"/>
                    <a:cs typeface="Arial"/>
                  </a:rPr>
                  <a:t>Paid</a:t>
                </a:r>
                <a:endParaRPr sz="2000" dirty="0">
                  <a:latin typeface="Arial"/>
                  <a:cs typeface="Arial"/>
                </a:endParaRPr>
              </a:p>
            </p:txBody>
          </p:sp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444EE0F9-ED69-14F6-DEB9-5BE255C52D04}"/>
                  </a:ext>
                </a:extLst>
              </p:cNvPr>
              <p:cNvSpPr txBox="1"/>
              <p:nvPr/>
            </p:nvSpPr>
            <p:spPr>
              <a:xfrm>
                <a:off x="6646057" y="3820059"/>
                <a:ext cx="3460752" cy="906493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sz="2000" spc="130" dirty="0">
                    <a:solidFill>
                      <a:srgbClr val="05050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sz="2000" spc="-270" dirty="0">
                    <a:solidFill>
                      <a:srgbClr val="05050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2000" spc="65" dirty="0">
                    <a:solidFill>
                      <a:srgbClr val="05050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Cash</a:t>
                </a:r>
                <a:r>
                  <a:rPr sz="2000" spc="-229" dirty="0">
                    <a:solidFill>
                      <a:srgbClr val="05050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2000" spc="145" dirty="0">
                    <a:solidFill>
                      <a:srgbClr val="05050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Trap</a:t>
                </a:r>
                <a:endParaRPr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DF4F2920-6E21-5DC2-4EB4-F1998FDA3FE1}"/>
                  </a:ext>
                </a:extLst>
              </p:cNvPr>
              <p:cNvSpPr txBox="1"/>
              <p:nvPr/>
            </p:nvSpPr>
            <p:spPr>
              <a:xfrm>
                <a:off x="10535812" y="3784612"/>
                <a:ext cx="2888680" cy="904692"/>
              </a:xfrm>
              <a:prstGeom prst="rect">
                <a:avLst/>
              </a:prstGeom>
            </p:spPr>
            <p:txBody>
              <a:bodyPr vert="horz" wrap="square" lIns="0" tIns="14604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14"/>
                  </a:spcBef>
                </a:pPr>
                <a:r>
                  <a:rPr sz="2000" dirty="0">
                    <a:solidFill>
                      <a:srgbClr val="050505"/>
                    </a:solidFill>
                    <a:latin typeface="Arial"/>
                    <a:cs typeface="Arial"/>
                  </a:rPr>
                  <a:t>Value</a:t>
                </a:r>
                <a:r>
                  <a:rPr sz="2000" spc="15" dirty="0">
                    <a:solidFill>
                      <a:srgbClr val="050505"/>
                    </a:solidFill>
                    <a:latin typeface="Arial"/>
                    <a:cs typeface="Arial"/>
                  </a:rPr>
                  <a:t> </a:t>
                </a:r>
                <a:r>
                  <a:rPr sz="2000" spc="45" dirty="0">
                    <a:solidFill>
                      <a:srgbClr val="050505"/>
                    </a:solidFill>
                    <a:latin typeface="Arial"/>
                    <a:cs typeface="Arial"/>
                  </a:rPr>
                  <a:t>Used</a:t>
                </a:r>
                <a:endParaRPr sz="2000" dirty="0">
                  <a:latin typeface="Arial"/>
                  <a:cs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C5C5D-3391-04EC-223E-85FB3D37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CA5EAB-4E8F-311B-5244-C102313FBCAC}"/>
              </a:ext>
            </a:extLst>
          </p:cNvPr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028757-A057-CF33-C48E-FB9F996C8B7E}"/>
              </a:ext>
            </a:extLst>
          </p:cNvPr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Two Directions of Time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102C56-2AA2-F166-7E6B-A175500FAC4E}"/>
              </a:ext>
            </a:extLst>
          </p:cNvPr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54F147-265D-7D0D-8983-635596DFB756}"/>
              </a:ext>
            </a:extLst>
          </p:cNvPr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87FC9B-9A7C-7FE3-996E-64D50156C1AC}"/>
              </a:ext>
            </a:extLst>
          </p:cNvPr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051565-7382-EAAC-39FE-FF8D73158E7A}"/>
              </a:ext>
            </a:extLst>
          </p:cNvPr>
          <p:cNvGrpSpPr/>
          <p:nvPr/>
        </p:nvGrpSpPr>
        <p:grpSpPr>
          <a:xfrm>
            <a:off x="272505" y="1707369"/>
            <a:ext cx="11582400" cy="4273613"/>
            <a:chOff x="0" y="1986221"/>
            <a:chExt cx="12192000" cy="4150482"/>
          </a:xfrm>
        </p:grpSpPr>
        <p:pic>
          <p:nvPicPr>
            <p:cNvPr id="33" name="object 2">
              <a:extLst>
                <a:ext uri="{FF2B5EF4-FFF2-40B4-BE49-F238E27FC236}">
                  <a16:creationId xmlns:a16="http://schemas.microsoft.com/office/drawing/2014/main" id="{6BFAFC98-0C1F-49FC-9E67-FA82C1F7484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86221"/>
              <a:ext cx="12192000" cy="4150482"/>
            </a:xfrm>
            <a:prstGeom prst="rect">
              <a:avLst/>
            </a:prstGeom>
          </p:spPr>
        </p:pic>
        <p:sp>
          <p:nvSpPr>
            <p:cNvPr id="34" name="object 4">
              <a:extLst>
                <a:ext uri="{FF2B5EF4-FFF2-40B4-BE49-F238E27FC236}">
                  <a16:creationId xmlns:a16="http://schemas.microsoft.com/office/drawing/2014/main" id="{CC4A4376-8046-2EC9-13D7-F513C920BA68}"/>
                </a:ext>
              </a:extLst>
            </p:cNvPr>
            <p:cNvSpPr txBox="1"/>
            <p:nvPr/>
          </p:nvSpPr>
          <p:spPr>
            <a:xfrm>
              <a:off x="1323474" y="3126313"/>
              <a:ext cx="3523271" cy="509210"/>
            </a:xfrm>
            <a:prstGeom prst="rect">
              <a:avLst/>
            </a:prstGeom>
          </p:spPr>
          <p:txBody>
            <a:bodyPr vert="horz" wrap="square" lIns="0" tIns="9747" rIns="0" bIns="0" rtlCol="0">
              <a:spAutoFit/>
            </a:bodyPr>
            <a:lstStyle/>
            <a:p>
              <a:pPr marL="8861" defTabSz="637977">
                <a:spcBef>
                  <a:spcPts val="77"/>
                </a:spcBef>
              </a:pPr>
              <a:r>
                <a:rPr lang="ko-KR" sz="1605" b="1" kern="0" spc="35" dirty="0">
                  <a:solidFill>
                    <a:srgbClr val="030303"/>
                  </a:solidFill>
                  <a:latin typeface="Arial"/>
                  <a:ea typeface="맑은 고딕"/>
                  <a:cs typeface="Arial"/>
                </a:rPr>
                <a:t>1. Activity 이전에 현금 지급</a:t>
              </a:r>
              <a:endParaRPr sz="1605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  <a:p>
              <a:pPr marL="65570" defTabSz="637977">
                <a:spcBef>
                  <a:spcPts val="3"/>
                </a:spcBef>
              </a:pPr>
              <a:r>
                <a:rPr sz="1605" b="1" kern="0" spc="38" dirty="0">
                  <a:solidFill>
                    <a:srgbClr val="859E80"/>
                  </a:solidFill>
                  <a:latin typeface="Arial"/>
                  <a:cs typeface="Arial"/>
                </a:rPr>
                <a:t>(Deferred Expense</a:t>
              </a:r>
              <a:r>
                <a:rPr sz="1640" kern="0" spc="80" dirty="0">
                  <a:solidFill>
                    <a:srgbClr val="161613"/>
                  </a:solidFill>
                  <a:latin typeface="Arial"/>
                  <a:cs typeface="Arial"/>
                </a:rPr>
                <a:t>/</a:t>
              </a:r>
              <a:r>
                <a:rPr sz="1640" kern="0" spc="262" dirty="0">
                  <a:solidFill>
                    <a:srgbClr val="161613"/>
                  </a:solidFill>
                  <a:latin typeface="Arial"/>
                  <a:cs typeface="Arial"/>
                </a:rPr>
                <a:t> </a:t>
              </a:r>
              <a:r>
                <a:rPr sz="1605" b="1" kern="0" spc="38" dirty="0">
                  <a:solidFill>
                    <a:srgbClr val="859E80"/>
                  </a:solidFill>
                  <a:latin typeface="Arial"/>
                  <a:cs typeface="Arial"/>
                </a:rPr>
                <a:t>Asset</a:t>
              </a:r>
              <a:r>
                <a:rPr sz="1605" b="1" kern="0" spc="38" dirty="0">
                  <a:solidFill>
                    <a:srgbClr val="2B2B2A"/>
                  </a:solidFill>
                  <a:latin typeface="Arial"/>
                  <a:cs typeface="Arial"/>
                </a:rPr>
                <a:t>)</a:t>
              </a:r>
              <a:endParaRPr sz="1605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object 5">
              <a:extLst>
                <a:ext uri="{FF2B5EF4-FFF2-40B4-BE49-F238E27FC236}">
                  <a16:creationId xmlns:a16="http://schemas.microsoft.com/office/drawing/2014/main" id="{951C4341-28C7-B6ED-220E-04BFAB555203}"/>
                </a:ext>
              </a:extLst>
            </p:cNvPr>
            <p:cNvSpPr txBox="1"/>
            <p:nvPr/>
          </p:nvSpPr>
          <p:spPr>
            <a:xfrm>
              <a:off x="6229268" y="2823488"/>
              <a:ext cx="1814180" cy="497155"/>
            </a:xfrm>
            <a:prstGeom prst="rect">
              <a:avLst/>
            </a:prstGeom>
          </p:spPr>
          <p:txBody>
            <a:bodyPr vert="horz" wrap="square" lIns="0" tIns="9747" rIns="0" bIns="0" rtlCol="0">
              <a:spAutoFit/>
            </a:bodyPr>
            <a:lstStyle/>
            <a:p>
              <a:pPr marL="8861" defTabSz="637977">
                <a:lnSpc>
                  <a:spcPts val="1891"/>
                </a:lnSpc>
                <a:spcBef>
                  <a:spcPts val="77"/>
                </a:spcBef>
              </a:pPr>
              <a:r>
                <a:rPr sz="1605" b="1" kern="0" spc="31" dirty="0">
                  <a:solidFill>
                    <a:srgbClr val="030303"/>
                  </a:solidFill>
                  <a:latin typeface="Arial"/>
                  <a:cs typeface="Arial"/>
                </a:rPr>
                <a:t>Activity</a:t>
              </a:r>
              <a:endParaRPr sz="1605" kern="0">
                <a:solidFill>
                  <a:sysClr val="windowText" lastClr="000000"/>
                </a:solidFill>
                <a:latin typeface="Arial"/>
                <a:cs typeface="Arial"/>
              </a:endParaRPr>
            </a:p>
            <a:p>
              <a:pPr marL="13734" defTabSz="637977">
                <a:lnSpc>
                  <a:spcPts val="1933"/>
                </a:lnSpc>
              </a:pPr>
              <a:r>
                <a:rPr sz="1640" kern="0" dirty="0">
                  <a:solidFill>
                    <a:srgbClr val="161613"/>
                  </a:solidFill>
                  <a:latin typeface="Arial"/>
                  <a:cs typeface="Arial"/>
                </a:rPr>
                <a:t>(Value</a:t>
              </a:r>
              <a:r>
                <a:rPr sz="1640" kern="0" spc="31" dirty="0">
                  <a:solidFill>
                    <a:srgbClr val="161613"/>
                  </a:solidFill>
                  <a:latin typeface="Arial"/>
                  <a:cs typeface="Arial"/>
                </a:rPr>
                <a:t> </a:t>
              </a:r>
              <a:r>
                <a:rPr sz="1640" kern="0" spc="-7" dirty="0">
                  <a:solidFill>
                    <a:srgbClr val="161613"/>
                  </a:solidFill>
                  <a:latin typeface="Arial"/>
                  <a:cs typeface="Arial"/>
                </a:rPr>
                <a:t>Consumed)</a:t>
              </a:r>
              <a:endParaRPr sz="1640" kern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object 6">
              <a:extLst>
                <a:ext uri="{FF2B5EF4-FFF2-40B4-BE49-F238E27FC236}">
                  <a16:creationId xmlns:a16="http://schemas.microsoft.com/office/drawing/2014/main" id="{636971F1-D852-6B73-6ED3-E488F75B491C}"/>
                </a:ext>
              </a:extLst>
            </p:cNvPr>
            <p:cNvSpPr txBox="1"/>
            <p:nvPr/>
          </p:nvSpPr>
          <p:spPr>
            <a:xfrm>
              <a:off x="7451714" y="4551372"/>
              <a:ext cx="3533118" cy="522034"/>
            </a:xfrm>
            <a:prstGeom prst="rect">
              <a:avLst/>
            </a:prstGeom>
          </p:spPr>
          <p:txBody>
            <a:bodyPr vert="horz" wrap="square" lIns="0" tIns="9747" rIns="0" bIns="0" rtlCol="0">
              <a:spAutoFit/>
            </a:bodyPr>
            <a:lstStyle/>
            <a:p>
              <a:pPr marL="105000" defTabSz="637977">
                <a:spcBef>
                  <a:spcPts val="77"/>
                </a:spcBef>
              </a:pPr>
              <a:r>
                <a:rPr lang="ko-KR" sz="1605" b="1" kern="0" dirty="0">
                  <a:solidFill>
                    <a:srgbClr val="030303"/>
                  </a:solidFill>
                  <a:latin typeface="Arial"/>
                  <a:ea typeface="맑은 고딕"/>
                  <a:cs typeface="Arial"/>
                </a:rPr>
                <a:t>2. Activity 이후에 현금 지급</a:t>
              </a:r>
              <a:endParaRPr sz="1605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  <a:p>
              <a:pPr marL="8861" defTabSz="637977">
                <a:spcBef>
                  <a:spcPts val="73"/>
                </a:spcBef>
              </a:pPr>
              <a:r>
                <a:rPr sz="1640" kern="0" spc="45" dirty="0">
                  <a:solidFill>
                    <a:srgbClr val="2B2B2A"/>
                  </a:solidFill>
                  <a:latin typeface="Arial"/>
                  <a:cs typeface="Arial"/>
                </a:rPr>
                <a:t>(</a:t>
              </a:r>
              <a:r>
                <a:rPr sz="1605" b="1" kern="0" spc="-7" dirty="0">
                  <a:solidFill>
                    <a:srgbClr val="AF663F"/>
                  </a:solidFill>
                  <a:latin typeface="Arial"/>
                  <a:cs typeface="Arial"/>
                </a:rPr>
                <a:t>Accrued Expense </a:t>
              </a:r>
              <a:r>
                <a:rPr sz="1640" kern="0" dirty="0">
                  <a:solidFill>
                    <a:srgbClr val="2B2B2A"/>
                  </a:solidFill>
                  <a:latin typeface="Arial"/>
                  <a:cs typeface="Arial"/>
                </a:rPr>
                <a:t>/</a:t>
              </a:r>
              <a:r>
                <a:rPr sz="1640" kern="0" spc="133" dirty="0">
                  <a:solidFill>
                    <a:srgbClr val="2B2B2A"/>
                  </a:solidFill>
                  <a:latin typeface="Arial"/>
                  <a:cs typeface="Arial"/>
                </a:rPr>
                <a:t> </a:t>
              </a:r>
              <a:r>
                <a:rPr sz="1605" b="1" kern="0" spc="-7" dirty="0">
                  <a:solidFill>
                    <a:srgbClr val="AF663F"/>
                  </a:solidFill>
                  <a:latin typeface="Arial"/>
                  <a:cs typeface="Arial"/>
                </a:rPr>
                <a:t>Liability</a:t>
              </a:r>
              <a:r>
                <a:rPr sz="1605" b="1" kern="0" spc="-7" dirty="0">
                  <a:solidFill>
                    <a:srgbClr val="161613"/>
                  </a:solidFill>
                  <a:latin typeface="Arial"/>
                  <a:cs typeface="Arial"/>
                </a:rPr>
                <a:t>)</a:t>
              </a:r>
              <a:endParaRPr sz="1605" kern="0" dirty="0">
                <a:solidFill>
                  <a:sysClr val="windowText" lastClr="000000"/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205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Cash Flow Does Not Equal Business Performance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현금의 흐름과 사업의 성과는 같지 않습니다.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1132941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377440"/>
            <a:ext cx="82296" cy="210312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377440"/>
            <a:ext cx="11329416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377440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'Expense'(비용)는 돈이 은행 계좌에서 나가는 시점과 무관하게, 가치의 소비로 정의됨.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현금만 추적하면 수익성에 대한 잘못된 그림을 만듦.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9768" y="475488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75488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비용은 '가치가 소비되는 때' 인식됩니다 — 수표를 쓰는 순간이 아니라.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9768" y="5486400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" y="5486400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함의: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발생주의에서는 조정분개로 소비된 가치를 비용으로 잡아 줍니다.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Types of Adjustments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방향의 시간 — 현금이 활동보다 먼저(Deferred) 또는 나중(Accrued)에 이동합니다.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1481328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Expense = Asset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이전에 현금 지급.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Prepaid Advertising Expense.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82296" cy="1481328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Revenue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이전에 현금 수취.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받은 대가는 부채로 시작.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3968496"/>
            <a:ext cx="5486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" y="3968496"/>
            <a:ext cx="82296" cy="1481328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" y="3968496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" y="396849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Accrued Expense = Liability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" y="4572000"/>
            <a:ext cx="5065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이후에 현금 지급.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Accrued Interest Expense.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2784" y="3968496"/>
            <a:ext cx="5486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72784" y="3968496"/>
            <a:ext cx="82296" cy="1481328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72784" y="3968496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73952" y="396849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Accrued Revenue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4572000"/>
            <a:ext cx="5065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이후에 현금 수취.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벌었으나 미수령한 수익.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9768" y="5705856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5705856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장에서는 Expense 측면(Deferred·Accrued)에 집중합니다.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Deferred Expenses are Assets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59936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이연비용은 자산이다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Deferred Expenses are Assets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기간에 걸쳐 효익을 제공하는 선지급액은 먼저 자산으로 기록됩니다.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35387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487168"/>
            <a:ext cx="82296" cy="237744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33956" y="2212848"/>
            <a:ext cx="530352" cy="530352"/>
          </a:xfrm>
          <a:prstGeom prst="ellipse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33956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" y="331012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 지급이 여러 회계기간에 효익 제공.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asset(deferred expense)으로 기록.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2487168"/>
            <a:ext cx="35387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25112" y="2487168"/>
            <a:ext cx="82296" cy="237744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29300" y="2212848"/>
            <a:ext cx="530352" cy="530352"/>
          </a:xfrm>
          <a:prstGeom prst="ellipse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293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53128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62856" y="331012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기간 말, 소멸된 부분을 expense로 대체.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asset은 동일 금액만큼 감소.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0456" y="2487168"/>
            <a:ext cx="35387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0456" y="2487168"/>
            <a:ext cx="82296" cy="237744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724644" y="2212848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24644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48472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331012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Buildings, equipment, supplies,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insurance, prepaid rent.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" y="5084064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5084064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요지: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선지급 = 미래 효익을 산 것 → 소비될 때까지 자산으로 남습니다.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1 — Deferred Advertising Expense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Books, Inc. — 4개월 광고 캠페인에 $800을 선지급.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377440"/>
            <a:ext cx="82296" cy="246888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Initial Entry  (28 Feb)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4개월 광고 캠페인 대금 $800을 현금 지급.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Deferred Advertising Expense (asset)  800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 Cash  800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377440"/>
            <a:ext cx="82296" cy="246888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  (31 Mar)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 ÷ 4 months = $200 / month (straight-line).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Advertising Expense  200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 Deferred Advertising Expense  200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02920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502920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expense is the running of the ads, not the writing of the check.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_slides/orig_s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_slides/orig_s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2 — Depreciation Expense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유형자산의 구입은 미래 용역의 묶음을 구입하는 것입니다.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35387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487168"/>
            <a:ext cx="82296" cy="246888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33956" y="2212848"/>
            <a:ext cx="530352" cy="530352"/>
          </a:xfrm>
          <a:prstGeom prst="ellipse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33956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" y="3310128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Depreciation은 유형자산의 원가를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내용연수에 걸쳐 체계적으로 배분.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2487168"/>
            <a:ext cx="35387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25112" y="2487168"/>
            <a:ext cx="82296" cy="246888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29300" y="2212848"/>
            <a:ext cx="530352" cy="530352"/>
          </a:xfrm>
          <a:prstGeom prst="ellipse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293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53128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44568" y="3310128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기간 말 소멸분을 Depreciation Expense로.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value 감소 — contra-asset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'Accumulated Depreciation' 사용.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0456" y="2487168"/>
            <a:ext cx="353872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0456" y="2487168"/>
            <a:ext cx="82296" cy="246888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724644" y="2212848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24644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48472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39912" y="3310128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Buildings, equipment, vehicles,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furniture, machinery.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" y="5175504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5175504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요지: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감가상각은 이연비용의 한 형태 — 자산의 원가를 사용 기간에 걸쳐 비용화합니다.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Depreciation — Worked Example (Global Books)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$6,000를 취득하고 매월 감가상각합니다.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377440"/>
            <a:ext cx="82296" cy="246888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Purchase  (31 Jan)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$6,000을 취득 (자금은 bank loan 등으로 조달).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Equipment  6,000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 Cash  6,000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377440"/>
            <a:ext cx="82296" cy="246888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&amp; Monthly Entry  (31 Mar)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원가 $6,000 − 잔존가치 $0 ÷ 60개월 = $100 / month.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Depreciation Expense  100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 Accumulated Depreciation  100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029200"/>
            <a:ext cx="11329416" cy="548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5029200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Depreciation: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contra-asset 계정 — net book value가 매월 $100씩 감소합니다 ($6,000 ÷ 5년/60개월).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_slides/orig_s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_slides/orig_s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Accrued Expenses are Liabilities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059936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발생비용은 부채이다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Accrued Expenses are Liabilities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가치는 이미 소비되었지만 지급은 아직 이루어지지 않은 경우입니다.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6858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56616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6858000" cy="420624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6547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Process · Examples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64373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  <a:buSzPct val="100000"/>
            </a:pPr>
            <a:r>
              <a:rPr lang="en-US" sz="12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50" dirty="0"/>
          </a:p>
          <a:p>
            <a:pPr marL="742950" lvl="1" indent="-285750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활동·용역이 invoice 발행(현금 지급) 전에 발생해도 expense를 인식.</a:t>
            </a:r>
            <a:endParaRPr lang="en-US" sz="1250" dirty="0"/>
          </a:p>
          <a:p>
            <a:pPr marL="742950" lvl="1" indent="-285750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미지급이면 liability를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742950" lvl="1" indent="-285750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1250" dirty="0"/>
          </a:p>
          <a:p>
            <a:pPr>
              <a:lnSpc>
                <a:spcPct val="105000"/>
              </a:lnSpc>
              <a:buSzPct val="100000"/>
            </a:pPr>
            <a:r>
              <a:rPr lang="en-US" sz="12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  <a:p>
            <a:pPr marL="800100" lvl="1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미청구·미지급 소비는 accrued liability를 발생 → 지급 시 정산.</a:t>
            </a:r>
            <a:endParaRPr lang="en-US" sz="1250" dirty="0"/>
          </a:p>
          <a:p>
            <a:pPr>
              <a:lnSpc>
                <a:spcPct val="105000"/>
              </a:lnSpc>
              <a:buSzPct val="100000"/>
            </a:pPr>
            <a:endParaRPr lang="en-US" sz="1250" b="1">
              <a:solidFill>
                <a:srgbClr val="1F48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5000"/>
              </a:lnSpc>
              <a:buSzPct val="100000"/>
            </a:pPr>
            <a:r>
              <a:rPr lang="en-US" sz="1250" b="1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  <a:p>
            <a:pPr marL="800100" lvl="1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payable, accrued interest expense, tax payable.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24928" y="2610203"/>
            <a:ext cx="4407408" cy="291775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assets/s3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683355"/>
            <a:ext cx="4261104" cy="2771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B39CF4-DEBD-DF39-69CF-3C342008C366}"/>
              </a:ext>
            </a:extLst>
          </p:cNvPr>
          <p:cNvSpPr txBox="1"/>
          <p:nvPr/>
        </p:nvSpPr>
        <p:spPr>
          <a:xfrm>
            <a:off x="7876917" y="1675692"/>
            <a:ext cx="2127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3250" marR="5080" indent="-591185">
              <a:spcBef>
                <a:spcPts val="545"/>
              </a:spcBef>
            </a:pPr>
            <a:r>
              <a:rPr lang="en-US" sz="1800" b="1" dirty="0">
                <a:solidFill>
                  <a:srgbClr val="15803D"/>
                </a:solidFill>
                <a:latin typeface="Arial"/>
                <a:cs typeface="Arial"/>
              </a:rPr>
              <a:t>Value</a:t>
            </a:r>
            <a:r>
              <a:rPr lang="en-US" sz="1800" b="1" spc="65" dirty="0">
                <a:solidFill>
                  <a:srgbClr val="15803D"/>
                </a:solidFill>
                <a:latin typeface="Arial"/>
                <a:cs typeface="Arial"/>
              </a:rPr>
              <a:t> </a:t>
            </a:r>
            <a:r>
              <a:rPr lang="en-US" sz="1800" b="1" spc="70" dirty="0">
                <a:solidFill>
                  <a:srgbClr val="15803D"/>
                </a:solidFill>
                <a:latin typeface="Arial"/>
                <a:cs typeface="Arial"/>
              </a:rPr>
              <a:t>Consumed </a:t>
            </a:r>
            <a:r>
              <a:rPr lang="en-US" sz="1800" b="1" spc="-10" dirty="0">
                <a:solidFill>
                  <a:srgbClr val="15803D"/>
                </a:solidFill>
                <a:latin typeface="Arial"/>
                <a:cs typeface="Arial"/>
              </a:rPr>
              <a:t>(Expense)</a:t>
            </a:r>
            <a:endParaRPr lang="en-US" sz="1800" b="1" dirty="0">
              <a:solidFill>
                <a:srgbClr val="15803D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3EDBA2-17A8-E007-FACB-A0B32907C65E}"/>
              </a:ext>
            </a:extLst>
          </p:cNvPr>
          <p:cNvSpPr txBox="1"/>
          <p:nvPr/>
        </p:nvSpPr>
        <p:spPr>
          <a:xfrm>
            <a:off x="9769313" y="5452746"/>
            <a:ext cx="2400300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3250" marR="5080" indent="-591185">
              <a:spcBef>
                <a:spcPts val="545"/>
              </a:spcBef>
            </a:pPr>
            <a:r>
              <a:rPr lang="en-US" sz="1800" b="1" dirty="0">
                <a:solidFill>
                  <a:srgbClr val="ED7D31"/>
                </a:solidFill>
                <a:latin typeface="Arial"/>
                <a:cs typeface="Arial"/>
              </a:rPr>
              <a:t>Payment Pending</a:t>
            </a:r>
          </a:p>
          <a:p>
            <a:pPr marL="603250" marR="5080" indent="-591185" algn="ctr">
              <a:spcBef>
                <a:spcPts val="545"/>
              </a:spcBef>
            </a:pPr>
            <a:r>
              <a:rPr lang="en-US" sz="1800" b="1" spc="-10" dirty="0">
                <a:solidFill>
                  <a:srgbClr val="ED7D31"/>
                </a:solidFill>
                <a:latin typeface="Arial"/>
                <a:cs typeface="Arial"/>
              </a:rPr>
              <a:t>(Liability)</a:t>
            </a:r>
            <a:endParaRPr lang="en-US" sz="1800" b="1" dirty="0">
              <a:solidFill>
                <a:srgbClr val="ED7D31"/>
              </a:solidFill>
              <a:latin typeface="Arial"/>
              <a:cs typeface="Arial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5D1673-6953-8FC2-6C64-80499A878387}"/>
              </a:ext>
            </a:extLst>
          </p:cNvPr>
          <p:cNvCxnSpPr/>
          <p:nvPr/>
        </p:nvCxnSpPr>
        <p:spPr>
          <a:xfrm flipH="1" flipV="1">
            <a:off x="10758677" y="4224003"/>
            <a:ext cx="87155" cy="1259295"/>
          </a:xfrm>
          <a:prstGeom prst="straightConnector1">
            <a:avLst/>
          </a:prstGeom>
          <a:ln w="5715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7EB15E-8A67-B0C2-6082-606B1270E09D}"/>
              </a:ext>
            </a:extLst>
          </p:cNvPr>
          <p:cNvCxnSpPr>
            <a:stCxn id="17" idx="2"/>
          </p:cNvCxnSpPr>
          <p:nvPr/>
        </p:nvCxnSpPr>
        <p:spPr>
          <a:xfrm>
            <a:off x="8940607" y="2322023"/>
            <a:ext cx="222155" cy="1148082"/>
          </a:xfrm>
          <a:prstGeom prst="straightConnector1">
            <a:avLst/>
          </a:prstGeom>
          <a:ln w="57150">
            <a:solidFill>
              <a:srgbClr val="1580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3 — Estimated Energy Costs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Books, Inc. — 31 March 기준 에너지 비용을 추정·인식.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304288"/>
            <a:ext cx="6181344" cy="362190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s3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377440"/>
            <a:ext cx="6035040" cy="34756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66560" y="2377440"/>
            <a:ext cx="499262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766560" y="2377440"/>
            <a:ext cx="82296" cy="3566160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66560" y="2377440"/>
            <a:ext cx="4992624" cy="420624"/>
          </a:xfrm>
          <a:prstGeom prst="rect">
            <a:avLst/>
          </a:prstGeom>
          <a:solidFill>
            <a:srgbClr val="9A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67728" y="2377440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3월의 에너지 비용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86016" y="2980944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에너지는 사용된 3월(사용 기간)에 expense로 인식.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 지급은 4월이지만, 3월에 비용과 liability를 기록.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liability가 accrued expense.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accrued expense는 balance sheet의 liability로 표시됨.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4 — Accrued Interest Expense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반년치 이자를 기간 말에 발생 인식합니다.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10896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2027/7/1 은행에서 $100,000 차입 · 3년 만기 · 연 6%.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회계연도는 12/31 종료. 이자 지급일: 매년 6/30.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7/1과 12/31의 거래를 기록하시오.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2542032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Titles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07/01/27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12/31/27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272784" y="4224528"/>
            <a:ext cx="5486400" cy="603504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55664" y="422452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Expense = </a:t>
            </a: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$______ × ____% × __/12 = $______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4 — Continued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차입과 이자 발생을 계정에 반영한 모습입니다.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8292" y="2304288"/>
            <a:ext cx="6240871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s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44" y="2377440"/>
            <a:ext cx="6094567" cy="3566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49440" y="2377440"/>
            <a:ext cx="480974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49440" y="2377440"/>
            <a:ext cx="82296" cy="356616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949440" y="2377440"/>
            <a:ext cx="4809744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50608" y="2377440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(수업 중 작성)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68896" y="2980944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차입 (7/1):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+$________ · Notes Payable +$________.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이자 발생 (12/31):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Expense +$______ · Interest Payable +$______.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발생주의: 지급 전이라도 소비된 이자를 비용·부채로 인식.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이연·발생 개념을 점검합니다.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QUIZ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29184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Cash Received in Advance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서비스가 제공되기 전에 받은 현금은 무엇으로 기록되는가?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liabilities.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expenses.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equity.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revenues.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82296" cy="329184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Prepaid Insurance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 전 Prepaid Insurance $2,700. 그중 $1,500가 소멸. 당해 Insurance Expense는?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$2,700.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$1,900.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$1,500.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$1,200.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724144"/>
            <a:ext cx="11329416" cy="457200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5724144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______    ·    Q2 ______     (수업 중 작성)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2 (Continued)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선지급 임차료의 조정분개를 점검합니다.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QUIZ 2 · Q3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38328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Prepaid Rent Adjustment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 Petite-Sizes가 3개월치 임차료 $12,000을 선지급 (Prepaid Rent에 차변).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9/30 재무제표 작성 시 적절한 조정분개는?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Dr Prepaid Rent 8,000 / Cr Rent Expense 8,000.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Dr Prepaid Rent 4,000 / Cr Rent Expense 4,000.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Dr Rent Expense 8,000 / Cr Prepaid Rent 8,000.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Dr Rent Expense 4,000 / Cr Prepaid Rent 4,000.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82296" cy="338328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풀이 (수업 중 작성)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임차료 = $12,000 ÷ 3 = $______.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9월 한 달분이 소멸 → $______을 비용으로.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________________   ______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 ________________   ______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____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  ·  Adjusting Accounts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발생주의 인식을 한 번 더 점검합니다.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QUIZ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" y="2286000"/>
            <a:ext cx="82296" cy="338328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Revenue 인식 시점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회사에서 revenue는 언제 기록되는가?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고객이 서비스를 요청할 때.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고객이 서비스 대금을 지급할 때.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고객에게 서비스가 제공될 때.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제공 전 non-refundable deposit을 지급할 때.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2784" y="2286000"/>
            <a:ext cx="82296" cy="3383280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Accrual-Basis Reporting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2013년 Costello는 $10,000 청구·수행, $3,000 비용 지급. 고객은 2014년 지급. accrual이면?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2014년 expenses $3,000.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2014년 net income $7,000.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2013년 revenue $10,000.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2014년 revenue $10,000.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815584"/>
            <a:ext cx="11329416" cy="457200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5815584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______    ·    Q2 ______     (수업 중 작성)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017520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30428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55264"/>
            <a:ext cx="1072865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Adjusting Accounts for Financial Statements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4 — Reporting and Analyzing Cash Flows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3712</Words>
  <Application>Microsoft Office PowerPoint</Application>
  <PresentationFormat>Widescreen</PresentationFormat>
  <Paragraphs>536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— Adjusting Accounts for Financial Statements</dc:title>
  <dc:subject>Introduction to Financial Accounting · KAIST College of Business</dc:subject>
  <dc:creator>KAIST College of Business</dc:creator>
  <cp:lastModifiedBy>Hong, Philip Keejae</cp:lastModifiedBy>
  <cp:revision>2</cp:revision>
  <dcterms:created xsi:type="dcterms:W3CDTF">2026-07-24T14:08:46Z</dcterms:created>
  <dcterms:modified xsi:type="dcterms:W3CDTF">2026-07-24T14:21:37Z</dcterms:modified>
</cp:coreProperties>
</file>