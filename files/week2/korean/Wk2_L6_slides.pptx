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현금흐름표: 현금을 operating·investing·financing 세 활동으로 분류하고, 영업활동 현금흐름을 직접법·간접법으로 보고하는 법을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섹션: 현금흐름 보고의 목적과 유용성 → 현금 유입·유출의 분류 → 직접법과 간접법.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현금흐름표는 현금을 세 엔진으로 나눕니다 — Operating(영업), Investing(투자), Financing(재무). 셋의 순합이 현금의 순변동입니다.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영업활동은 손익계산서 항목을 현금 기준으로 봅니다. 이자수익·배당금 수취·이자지급은 US GAAP에서 operating으로 분류됩니다.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투자활동은 장기자산과 투자의 매입(유출)·매각(유입)을 다룹니다. PP&amp;E는 유형자산을 뜻합니다.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재무활동은 자본을 어떻게 조달하고 되돌려주는지를 보여줍니다. 채권·주식 발행은 유입, 원금 상환·배당·자사주 매입은 유출입니다.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금액의 현금이라도 영업에서 나온 것이 가장 건강합니다. 자산 매각이나 차입에 의존한 현금은 지속 가능성이 낮습니다. 분류가 현금의 질을 드러냅니다.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classify each transaction (operating / investing / financing)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이자와 배당의 지급·수취 분류가 U.S. GAAP과 IFRS에서 다릅니다. GAAP은 대부분 operating으로, IFRS는 investing/financing 선택을 허용합니다.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직접법은 실제 현금 수취·지급을 나열하고(수표책 방식), 간접법은 순이익을 조정합니다(조정 방식). 두 방법의 영업활동 현금흐름 결과는 항상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직접법은 고객·투자수익 등 현금 유입과 공급자·종업원·이자·보험·세금 등 현금 유출을 직접 나열합니다. United Brands의 영업활동 현금흐름은 $22M입니다.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간접법은 순이익에서 출발해 비현금 항목과 운전자본 변동을 조정하여 영업활동 현금흐름을 도출합니다.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간접법은 순이익 $12M에서 시작합니다. 감가상각·처분손익 등 비현금 항목과 A/R·재고·A/P 등 운전자본 변동을 조정해 $22M에 도달하며, 직접법 결과와 일치합니다.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활동의 순현금흐름 합계: +22 − 19 + 6 = +9. 기초 현금 20에 순증가 9를 더하면 기말 현금 29가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완성된 현금흐름표: 영업 $22, 투자 (19), 재무 6 → 순증가 9. 기초 20에서 기말 29로 마감됩니다.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영업 현금흐름이 순이익을 초과해 이익의 질이 높습니다. 투자 유출은 성장 투자를, 재무 유입은 신규 주식 조달을 뜻합니다. 종합하면 건강하게 성장하는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엔진 요약 — Operating은 성과(엔진), Investing은 성장(미래), Financing은 지급능력(연료). 직접법과 간접법은 표현 차이일 뿐 결과는 동일합니다.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페이지. 다음 장은 재무제표 분석과 해석입니다.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Statement of Cash Flows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현금흐름표  ·  Operating · Investing · Financing 활동의 현금 흐름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TOPICS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920240"/>
            <a:ext cx="1132941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768" y="1920240"/>
            <a:ext cx="82296" cy="713232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9" name="Shape 7"/>
          <p:cNvSpPr/>
          <p:nvPr/>
        </p:nvSpPr>
        <p:spPr>
          <a:xfrm>
            <a:off x="886968" y="2084832"/>
            <a:ext cx="402336" cy="402336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0" name="Text 8"/>
          <p:cNvSpPr/>
          <p:nvPr/>
        </p:nvSpPr>
        <p:spPr>
          <a:xfrm>
            <a:off x="88696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192024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Reporting의 목적과 유용성  ·  Purpose &amp; Usefulness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0" y="192024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743200"/>
            <a:ext cx="1132941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" y="2743200"/>
            <a:ext cx="82296" cy="713232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" y="2907792"/>
            <a:ext cx="402336" cy="402336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274320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Inflows와 Cash Outflows의 분류  ·  Classification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92640" y="27432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" y="3566160"/>
            <a:ext cx="1132941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" y="3566160"/>
            <a:ext cx="82296" cy="713232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86968" y="3730752"/>
            <a:ext cx="402336" cy="402336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2" name="Text 20"/>
          <p:cNvSpPr/>
          <p:nvPr/>
        </p:nvSpPr>
        <p:spPr>
          <a:xfrm>
            <a:off x="886968" y="3730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08760" y="356616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vs. Indirect Method  ·  Operating Cash Flows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692640" y="356616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" y="4517136"/>
            <a:ext cx="11329416" cy="512064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4517136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흐름: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현금흐름을 보고하는가 → 유입·유출의 분류 → 영업활동 현금흐름을 계산하는 두 가지 방법.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Purpose &amp; Usefulness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6E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현금흐름 보고의 목적과 유용성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Three Engines of Cash Flow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현금흐름표는 기업의 현금을 세 가지 활동으로 구분합니다 — Operating · Investing · Financing.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31288" y="2121408"/>
            <a:ext cx="7126376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04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4440" y="2194560"/>
            <a:ext cx="6980072" cy="22860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29768" y="4882896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4882896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엔진이 함께 회사의 현금 이야기를 구성합니다: 벌고(Operating), 심고(Investing), 조달합니다(Financing).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29768" y="5541264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5541264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현금 변동은 세 활동의 순현금흐름을 합한 값과 같습니다.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Classifying Cash Inflows &amp; Outflows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6E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 유입·유출의 분류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Operating Activities — The Heartbeat of the Business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Activities는 cash basis로 보고되는 income statement 항목을 포함합니다.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8199" y="2212848"/>
            <a:ext cx="4492337" cy="4169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0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351" y="2286000"/>
            <a:ext cx="4346033" cy="40233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69280" y="2286000"/>
            <a:ext cx="608990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286000"/>
            <a:ext cx="82296" cy="141732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4" name="Shape 11"/>
          <p:cNvSpPr/>
          <p:nvPr/>
        </p:nvSpPr>
        <p:spPr>
          <a:xfrm>
            <a:off x="5669280" y="2286000"/>
            <a:ext cx="6089904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5" name="Text 12"/>
          <p:cNvSpPr/>
          <p:nvPr/>
        </p:nvSpPr>
        <p:spPr>
          <a:xfrm>
            <a:off x="5870448" y="2286000"/>
            <a:ext cx="5779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Inflows  ·  유입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888736" y="2889504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재화·용역 판매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배당금 수취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이자수익 *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69280" y="3840480"/>
            <a:ext cx="6089904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69280" y="3840480"/>
            <a:ext cx="82296" cy="169164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" name="Shape 16"/>
          <p:cNvSpPr/>
          <p:nvPr/>
        </p:nvSpPr>
        <p:spPr>
          <a:xfrm>
            <a:off x="5669280" y="3840480"/>
            <a:ext cx="6089904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Text 17"/>
          <p:cNvSpPr/>
          <p:nvPr/>
        </p:nvSpPr>
        <p:spPr>
          <a:xfrm>
            <a:off x="5870448" y="3840480"/>
            <a:ext cx="5779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Outflows  ·  유출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888736" y="4443984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공급자에게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종업원에게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정부에 (세금)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대여자에게 (이자비용) *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669280" y="5669280"/>
            <a:ext cx="6089904" cy="658368"/>
          </a:xfrm>
          <a:prstGeom prst="rect">
            <a:avLst/>
          </a:prstGeom>
          <a:solidFill>
            <a:srgbClr val="FDF3E0"/>
          </a:solidFill>
          <a:ln w="12700">
            <a:solidFill>
              <a:srgbClr val="9A66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33872" y="566928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주의: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이자·배당 관련 항목은 investing/financing이 아니라 operating 섹션에 보고됩니다.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Investing Activities — Spending Now to Grow Later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activities는 장기 자산(long-term assets)과 투자에 초점을 둡니다.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057" y="2212848"/>
            <a:ext cx="4334622" cy="4169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0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209" y="2286000"/>
            <a:ext cx="4188318" cy="40233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69280" y="2286000"/>
            <a:ext cx="608990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286000"/>
            <a:ext cx="82296" cy="141732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4" name="Shape 11"/>
          <p:cNvSpPr/>
          <p:nvPr/>
        </p:nvSpPr>
        <p:spPr>
          <a:xfrm>
            <a:off x="5669280" y="2286000"/>
            <a:ext cx="6089904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5" name="Text 12"/>
          <p:cNvSpPr/>
          <p:nvPr/>
        </p:nvSpPr>
        <p:spPr>
          <a:xfrm>
            <a:off x="5870448" y="2286000"/>
            <a:ext cx="5779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Inflows  ·  유입 (Selling)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888736" y="2889504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PP&amp;E 매각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투자자산 매각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대여금 회수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69280" y="3840480"/>
            <a:ext cx="608990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69280" y="3840480"/>
            <a:ext cx="82296" cy="141732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" name="Shape 16"/>
          <p:cNvSpPr/>
          <p:nvPr/>
        </p:nvSpPr>
        <p:spPr>
          <a:xfrm>
            <a:off x="5669280" y="3840480"/>
            <a:ext cx="6089904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Text 17"/>
          <p:cNvSpPr/>
          <p:nvPr/>
        </p:nvSpPr>
        <p:spPr>
          <a:xfrm>
            <a:off x="5870448" y="3840480"/>
            <a:ext cx="5779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Outflows  ·  유출 (Buying)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888736" y="4443984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PP&amp;E 매입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투자자산 매입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타인에게 대여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669280" y="5394960"/>
            <a:ext cx="6089904" cy="658368"/>
          </a:xfrm>
          <a:prstGeom prst="rect">
            <a:avLst/>
          </a:prstGeom>
          <a:solidFill>
            <a:srgbClr val="E6F3F5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33872" y="539496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PP&amp;E: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유형자산 (Property, Plant and Equipment).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Financing Activities — Managing the Capital Supply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activities는 회사가 필요한 자본을 어떻게 조달하는지를 나타냅니다.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17045" y="2121408"/>
            <a:ext cx="4754862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07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0197" y="2194560"/>
            <a:ext cx="4608558" cy="2011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29768" y="438912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" y="4389120"/>
            <a:ext cx="82296" cy="17373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4" name="Shape 11"/>
          <p:cNvSpPr/>
          <p:nvPr/>
        </p:nvSpPr>
        <p:spPr>
          <a:xfrm>
            <a:off x="429768" y="438912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630936" y="438912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Outflows  ·  유출 (자본 환원)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9224" y="4992624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원금 상환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배당금 지급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자사주 재매입 (Treasury stocks)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272784" y="438912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72784" y="4389120"/>
            <a:ext cx="82296" cy="173736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9" name="Shape 16"/>
          <p:cNvSpPr/>
          <p:nvPr/>
        </p:nvSpPr>
        <p:spPr>
          <a:xfrm>
            <a:off x="6272784" y="438912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0" name="Text 17"/>
          <p:cNvSpPr/>
          <p:nvPr/>
        </p:nvSpPr>
        <p:spPr>
          <a:xfrm>
            <a:off x="6473952" y="438912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Inflows  ·  유입 (자본 조달)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92240" y="4992624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채권·어음 발행 (Debt)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주식 매각 (Equity)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Usefulness of Classification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회사 모두 $100,000의 현금을 창출했지만 — 그 출처가 미래를 가릅니다.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670048"/>
            <a:ext cx="3538728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670048"/>
            <a:ext cx="82296" cy="2395728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395728"/>
            <a:ext cx="530352" cy="530352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395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2648" y="307238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영업활동에서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85800" y="3474720"/>
            <a:ext cx="3026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제품·용역 판매로 창출.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가능하고 건강함.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25112" y="2670048"/>
            <a:ext cx="3538728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670048"/>
            <a:ext cx="82296" cy="2395728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39572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395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07992" y="307238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투자활동에서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581144" y="3474720"/>
            <a:ext cx="3026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 매각으로 창출.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일회성 — 경고 신호일 수 있음.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0456" y="2670048"/>
            <a:ext cx="3538728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670048"/>
            <a:ext cx="82296" cy="2395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395728"/>
            <a:ext cx="530352" cy="53035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395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03336" y="307238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재무활동에서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476488" y="3474720"/>
            <a:ext cx="3026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차입으로 창출.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상환 부담 — 위험이 큼.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" y="5340096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5340096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$100,000라도 operating에서 나온 현금이 가장 건강합니다 — 분류가 현금의 '질'을 드러냅니다.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 — Classify Each Transaction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거래를 활동(Operating·Investing·Financing)과 방향(유입·유출)으로 분류하시오.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048256"/>
            <a:ext cx="1132941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048256"/>
            <a:ext cx="82296" cy="51206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2048256"/>
            <a:ext cx="6720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common stock ($300k)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0" y="204825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" y="2633472"/>
            <a:ext cx="1132941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" y="2633472"/>
            <a:ext cx="82296" cy="5120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" y="2633472"/>
            <a:ext cx="6720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salaries ($17k)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263347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" y="3218688"/>
            <a:ext cx="1132941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9768" y="3218688"/>
            <a:ext cx="82296" cy="51206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" y="3218688"/>
            <a:ext cx="6720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cash dividend ($100k)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89520" y="321868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3803904"/>
            <a:ext cx="1132941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" y="3803904"/>
            <a:ext cx="82296" cy="51206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" y="3803904"/>
            <a:ext cx="6720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equipment ($35k)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589520" y="380390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" y="4389120"/>
            <a:ext cx="1132941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768" y="4389120"/>
            <a:ext cx="82296" cy="51206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28" name="Text 26"/>
          <p:cNvSpPr/>
          <p:nvPr/>
        </p:nvSpPr>
        <p:spPr>
          <a:xfrm>
            <a:off x="722376" y="4389120"/>
            <a:ext cx="6720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delivery truck ($8k)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589520" y="438912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9768" y="4974336"/>
            <a:ext cx="1132941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9768" y="4974336"/>
            <a:ext cx="82296" cy="5120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76" y="4974336"/>
            <a:ext cx="6720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cash dividend ($50k)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589520" y="497433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29768" y="5559552"/>
            <a:ext cx="1132941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768" y="5559552"/>
            <a:ext cx="82296" cy="5120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6" name="Text 34"/>
          <p:cNvSpPr/>
          <p:nvPr/>
        </p:nvSpPr>
        <p:spPr>
          <a:xfrm>
            <a:off x="722376" y="5559552"/>
            <a:ext cx="6720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inventory ($11k)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589520" y="555955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Classification Issue — U.S. GAAP vs. IFRS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이자(interest)와 배당금(dividend)의 지급·수취 분류는 기준마다 다릅니다.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81048" y="23774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2860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 ·  항목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U.S. GAAP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이자 수취 · Interest received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이자 지급 · Interest paid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배당금 수취 · Dividends received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배당금 지급 · Dividends paid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29768" y="5138928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5138928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GAAP은 이자·배당 수취를 모두 operating으로 보지만, IFRS는 investing으로 분류할 수 있습니다.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" y="581558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581558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색상 코드:  Operating (파랑) · Investing (청록) · Financing (황갈).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vs. Indirect Method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6E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영업활동 현금흐름: 직접법 vs. 간접법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Ways to Report Operating Cash Flows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영업활동 현금흐름은 두 가지 방식으로 보고할 수 있습니다 — 결과는 동일합니다.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433664"/>
            <a:ext cx="5815584" cy="354515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2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506816"/>
            <a:ext cx="5669280" cy="339884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5080" y="2286000"/>
            <a:ext cx="540410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2286000"/>
            <a:ext cx="82296" cy="1572768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Shape 11"/>
          <p:cNvSpPr/>
          <p:nvPr/>
        </p:nvSpPr>
        <p:spPr>
          <a:xfrm>
            <a:off x="6355080" y="2286000"/>
            <a:ext cx="540410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Text 12"/>
          <p:cNvSpPr/>
          <p:nvPr/>
        </p:nvSpPr>
        <p:spPr>
          <a:xfrm>
            <a:off x="6556248" y="2286000"/>
            <a:ext cx="5093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Method  ·  수표책 방식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74536" y="2889504"/>
            <a:ext cx="4983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Receipts − Cash Payments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현금 수취·지급을 직접 나열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355080" y="3986784"/>
            <a:ext cx="540410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3986784"/>
            <a:ext cx="82296" cy="1572768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355080" y="3986784"/>
            <a:ext cx="5404104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0" name="Text 17"/>
          <p:cNvSpPr/>
          <p:nvPr/>
        </p:nvSpPr>
        <p:spPr>
          <a:xfrm>
            <a:off x="6556248" y="3986784"/>
            <a:ext cx="5093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Method  ·  조정 방식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574536" y="4590288"/>
            <a:ext cx="4983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+/− Adjustments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순이익에서 조정하여 도출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355080" y="5687568"/>
            <a:ext cx="5404104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19672" y="5687568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동일한 결과: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방법 모두 같은 Net Cash Flow from Operating Activities에 도달합니다.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Direct Method — Receipts &amp; Disbursements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United Brands Corporation (2021년 12월 31일 종료 회계연도).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157984"/>
          <a:ext cx="64008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463040"/>
              </a:tblGrid>
              <a:tr h="384048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Flows from Operating Activities  ·  $ in millions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customers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investment revenue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suppliers of goods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employees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interest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insurance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income taxes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flows from operating activities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132320" y="2157984"/>
            <a:ext cx="4626864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0" y="2157984"/>
            <a:ext cx="82296" cy="21945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3" name="Shape 10"/>
          <p:cNvSpPr/>
          <p:nvPr/>
        </p:nvSpPr>
        <p:spPr>
          <a:xfrm>
            <a:off x="7132320" y="2157984"/>
            <a:ext cx="462686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Text 11"/>
          <p:cNvSpPr/>
          <p:nvPr/>
        </p:nvSpPr>
        <p:spPr>
          <a:xfrm>
            <a:off x="7333488" y="2157984"/>
            <a:ext cx="4315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직접법이란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351776" y="2761488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현금 유입·유출을 항목별로 나열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고객·공급자·종업원 등 원천별 표시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직관적이나 자료 수집 부담이 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132320" y="4535424"/>
            <a:ext cx="4626864" cy="10058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96912" y="453542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Operating Cash Flow = $22M.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Indirect Method — Reconciliation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순이익(Net Income)을 영업활동 현금흐름으로 조정(reconcile)합니다.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537952"/>
            <a:ext cx="6912864" cy="342801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4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611104"/>
            <a:ext cx="6766560" cy="3281711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06640" y="2286000"/>
            <a:ext cx="435254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06640" y="2286000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406640" y="2286000"/>
            <a:ext cx="4352544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07808" y="2286000"/>
            <a:ext cx="4041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 항목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26096" y="2889504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비현금 비용 가산 (Depreciation)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 항목 조정 (Gain / Loss)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운전자본 변동 반영 (A/R · Inventory · A/P)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406640" y="4709160"/>
            <a:ext cx="4352544" cy="11430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4709160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흔한 방식: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간접법은 실무에서 널리 쓰이며, 다음 슬라이드에서 상세히 살펴봅니다.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Indirect Method — The Common 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1517904"/>
          <a:ext cx="658368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463040"/>
              </a:tblGrid>
              <a:tr h="27432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Flows from Operating Activities  ·  $ in millions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i="1" dirty="0">
                          <a:solidFill>
                            <a:srgbClr val="1F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Adjustments for non-cash effects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Depreciation expense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Gain on sale of 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Loss on sale of equipment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i="1" dirty="0">
                          <a:solidFill>
                            <a:srgbClr val="1F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in operating assets / liabilities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Increase in A/R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Decrease in inventory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Increase in A/P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Increase in salaries 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Discount on bonds 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Decrease in prepaid insurance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Decrease in income tax 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flows from operating activities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223760" y="1517904"/>
            <a:ext cx="4535424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223760" y="1517904"/>
            <a:ext cx="82296" cy="246888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9" name="Shape 6"/>
          <p:cNvSpPr/>
          <p:nvPr/>
        </p:nvSpPr>
        <p:spPr>
          <a:xfrm>
            <a:off x="7223760" y="1517904"/>
            <a:ext cx="4535424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517904"/>
            <a:ext cx="4224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종류의 조정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443216" y="2121408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비현금 손익 항목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 · Gain / Loss 등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운전자본 변동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A/R · Inventory · A/P 등의 증감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4114800"/>
            <a:ext cx="4535424" cy="9144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88352" y="41148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$22M  ·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Method 결과와 정확히 일치합니다.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Complete Picture — United Brands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활동의 순현금흐름을 합산하면 현금의 순증가와 기말 잔액이 나옵니다.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353872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3538728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560320"/>
            <a:ext cx="3355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+$22M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521208" y="3511296"/>
            <a:ext cx="3355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40480"/>
            <a:ext cx="3264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영업활동 (강함)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25112" y="2286000"/>
            <a:ext cx="353872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286000"/>
            <a:ext cx="3538728" cy="82296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Text 15"/>
          <p:cNvSpPr/>
          <p:nvPr/>
        </p:nvSpPr>
        <p:spPr>
          <a:xfrm>
            <a:off x="4416552" y="2560320"/>
            <a:ext cx="3355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−$19M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416552" y="3511296"/>
            <a:ext cx="3355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62272" y="3840480"/>
            <a:ext cx="3264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투자활동 (성장 투자)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0456" y="2286000"/>
            <a:ext cx="353872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286000"/>
            <a:ext cx="3538728" cy="82296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2" name="Text 20"/>
          <p:cNvSpPr/>
          <p:nvPr/>
        </p:nvSpPr>
        <p:spPr>
          <a:xfrm>
            <a:off x="8311896" y="2560320"/>
            <a:ext cx="3355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+$6M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8311896" y="3511296"/>
            <a:ext cx="3355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3840480"/>
            <a:ext cx="3264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재무활동 (자본 조달)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" y="4626864"/>
            <a:ext cx="11329416" cy="54864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626864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increase in cash: +$9M      ·      Beginning $20M   →   Ending $29M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29768" y="5358384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" y="5358384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$22 − $19 + $6 = $9 순증가;  $20 + $9 = $29 기말 현금.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Example — United Brands Statement of Cash Flows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11329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Brands Corporation  ·  Statement of Cash Flows  ·  For Year Ended Dec 31, 2021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384048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Activities  ·  $ in millions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customers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investment 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suppliers of goods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employees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interest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insurance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income taxes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flows —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292608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Investing &amp; Financing Activities  ·  $ in millions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 hMerge="1">
                  <a:tcPr/>
                </a:tc>
              </a:tr>
              <a:tr h="292608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i="1" dirty="0">
                          <a:solidFill>
                            <a:srgbClr val="1F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Investing Activities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of 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of short-term investment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 of 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 of equipment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flows — investing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92608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i="1" dirty="0">
                          <a:solidFill>
                            <a:srgbClr val="1F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Financing Activities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 of common shares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Retirement of bonds 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of cash dividends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flows — financing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increase in cash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balance, January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balance, December 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Analyzing United Brands' Performance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활동의 조합이 회사의 재무 건강 상태를 말해줍니다.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353872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27432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3538728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  +$22M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긍정적이고 강함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($22M) &gt; NI ($12M)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이익의 질(quality)이 높음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25112" y="2286000"/>
            <a:ext cx="353872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286000"/>
            <a:ext cx="82296" cy="27432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286000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28600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  −$19M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44568" y="2889504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부정적 (유출)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국면 — 토지·투자자산 매입 중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자산을 처분하지 않음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0456" y="2286000"/>
            <a:ext cx="353872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286000"/>
            <a:ext cx="82296" cy="27432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28600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28600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  +$6M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2889504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긍정적 (유입)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주식($26M)으로 자본 조달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부채 상환($15M)·배당 지급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9768" y="5285232"/>
            <a:ext cx="11329416" cy="54864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285232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강력한 영업활동과 신규 equity 조달로 자금을 대는, 건강하고 성장하는 회사입니다.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Key Takeaways — Statement of Cash Flows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4  ·  Statement of Cash Flows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가지 현금 엔진을 하나의 이야기로 읽으세요.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87168"/>
            <a:ext cx="82296" cy="22860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87168"/>
            <a:ext cx="3538728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8716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 ·  엔진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90672"/>
            <a:ext cx="3118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(Performance)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영업이 창출하는 현금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건강의 기본 지표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25112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487168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487168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48716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 ·  미래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44568" y="3090672"/>
            <a:ext cx="3118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(Growth)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장기 자산에 대한 투자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미래 역량의 구축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0456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487168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487168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48716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 ·  연료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3090672"/>
            <a:ext cx="3118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지급능력 (Solvency)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자본의 조달·환원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성장의 연료 공급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9768" y="4956048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956048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Operating은 성과를, Investing은 미래를, Financing은 지급능력을 말합니다.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29768" y="5614416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" y="5614416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기억할 것: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직접법·간접법은 표현만 다를 뿐, 영업활동 현금흐름의 결과는 같습니다.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Statement of Cash Flows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5 — Analyzing and Interpreting Financial Statements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Introduction to Financial Accounting · KAIST College of Business</dc:subject>
  <dc:creator/>
  <cp:lastModifiedBy/>
  <cp:revision>1</cp:revision>
  <dcterms:created xsi:type="dcterms:W3CDTF">2026-07-24T14:07:26Z</dcterms:created>
  <dcterms:modified xsi:type="dcterms:W3CDTF">2026-07-24T14:07:26Z</dcterms:modified>
</cp:coreProperties>
</file>