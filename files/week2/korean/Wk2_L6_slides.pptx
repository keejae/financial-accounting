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현금흐름표: 현금을 operating·investing·financing 세 활동으로 분류하고, 영업활동 현금흐름을 직접법·간접법으로 보고하는 법을 다룹니다.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섹션: 현금흐름 보고의 목적과 유용성 → 현금 유입·유출의 분류 → 직접법과 간접법.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현금흐름표는 현금을 세 엔진으로 나눕니다 — Operating(영업), Investing(투자), Financing(재무). 셋의 순합이 현금의 순변동입니다.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영업활동은 손익계산서 항목을 현금 기준으로 봅니다. 이자수익·배당금 수취·이자지급은 US GAAP에서 operating으로 분류됩니다.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투자활동은 장기자산과 투자의 매입(유출)·매각(유입)을 다룹니다. PP&amp;E는 유형자산을 뜻합니다.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재무활동은 자본을 어떻게 조달하고 되돌려주는지를 보여줍니다. 채권·주식 발행은 유입, 원금 상환·배당·자사주 매입은 유출입니다.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같은 금액의 현금이라도 영업에서 나온 것이 가장 건강합니다. 자산 매각이나 차입에 의존한 현금은 지속 가능성이 낮습니다. 분류가 현금의 질을 드러냅니다.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classify each transaction (operating / investing / financing) in class.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이자와 배당의 지급·수취 분류가 U.S. GAAP과 IFRS에서 다릅니다. GAAP은 대부분 operating으로, IFRS는 investing/financing 선택을 허용합니다.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직접법은 실제 현금 수취·지급을 나열하고(수표책 방식), 간접법은 순이익을 조정합니다(조정 방식). 두 방법의 영업활동 현금흐름 결과는 항상 같습니다.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직접법은 고객·투자수익 등 현금 유입과 공급자·종업원·이자·보험·세금 등 현금 유출을 직접 나열합니다. United Brands의 영업활동 현금흐름은 $22M입니다.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간접법은 순이익에서 출발해 비현금 항목과 운전자본 변동을 조정하여 영업활동 현금흐름을 도출합니다.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간접법은 순이익 $12M에서 시작합니다. 감가상각·처분손익 등 비현금 항목과 A/R·재고·A/P 등 운전자본 변동을 조정해 $22M에 도달하며, 직접법 결과와 일치합니다.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활동의 순현금흐름 합계: +22 − 19 + 6 = +9. 기초 현금 20에 순증가 9를 더하면 기말 현금 29가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완성된 현금흐름표: 영업 $22, 투자 (19), 재무 6 → 순증가 9. 기초 20에서 기말 29로 마감됩니다.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영업 현금흐름이 순이익을 초과해 이익의 질이 높습니다. 투자 유출은 성장 투자를, 재무 유입은 신규 주식 조달을 뜻합니다. 종합하면 건강하게 성장하는 회사입니다.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엔진 요약 — Operating은 성과(엔진), Investing은 성장(미래), Financing은 지급능력(연료). 직접법과 간접법은 표현 차이일 뿐 결과는 동일합니다.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마무리 페이지. 다음 장은 재무제표 분석과 해석입니다.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306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../kaist_type_two_kit/kaist_titl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224528"/>
            <a:ext cx="12191695" cy="2633472"/>
          </a:xfrm>
          <a:prstGeom prst="rect">
            <a:avLst/>
          </a:prstGeom>
          <a:solidFill>
            <a:srgbClr val="14306B">
              <a:alpha val="88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822960" y="4224528"/>
            <a:ext cx="2011680" cy="548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2"/>
          <p:cNvSpPr/>
          <p:nvPr/>
        </p:nvSpPr>
        <p:spPr>
          <a:xfrm>
            <a:off x="822960" y="4443984"/>
            <a:ext cx="7315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4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22960" y="4791456"/>
            <a:ext cx="1060704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Statement of Cash Flows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822960" y="5632704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현금흐름표  ·  Operating · Investing · Financing 활동의 현금 흐름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6144768"/>
            <a:ext cx="10607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Financial Accounting   |   KAIST College of Business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9786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1143000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Study Plan  ·  목차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29768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4  ·  Statement of Cash Flows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424160" y="6528816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29768" y="13898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TOPICS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29768" y="1920240"/>
            <a:ext cx="11329416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9768" y="1920240"/>
            <a:ext cx="82296" cy="713232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9" name="Shape 7"/>
          <p:cNvSpPr/>
          <p:nvPr/>
        </p:nvSpPr>
        <p:spPr>
          <a:xfrm>
            <a:off x="886968" y="2084832"/>
            <a:ext cx="402336" cy="402336"/>
          </a:xfrm>
          <a:prstGeom prst="ellipse">
            <a:avLst/>
          </a:prstGeom>
          <a:solidFill>
            <a:srgbClr val="1F4899"/>
          </a:solidFill>
          <a:ln/>
        </p:spPr>
      </p:sp>
      <p:sp>
        <p:nvSpPr>
          <p:cNvPr id="10" name="Text 8"/>
          <p:cNvSpPr/>
          <p:nvPr/>
        </p:nvSpPr>
        <p:spPr>
          <a:xfrm>
            <a:off x="886968" y="20848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508760" y="1920240"/>
            <a:ext cx="8046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Flow Reporting의 목적과 유용성  ·  Purpose &amp; Usefulness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692640" y="1920240"/>
            <a:ext cx="1920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9768" y="2743200"/>
            <a:ext cx="11329416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9768" y="2743200"/>
            <a:ext cx="82296" cy="713232"/>
          </a:xfrm>
          <a:prstGeom prst="rect">
            <a:avLst/>
          </a:prstGeom>
          <a:solidFill>
            <a:srgbClr val="0F6E7A"/>
          </a:solidFill>
          <a:ln/>
        </p:spPr>
      </p:sp>
      <p:sp>
        <p:nvSpPr>
          <p:cNvPr id="15" name="Shape 13"/>
          <p:cNvSpPr/>
          <p:nvPr/>
        </p:nvSpPr>
        <p:spPr>
          <a:xfrm>
            <a:off x="886968" y="2907792"/>
            <a:ext cx="402336" cy="402336"/>
          </a:xfrm>
          <a:prstGeom prst="ellipse">
            <a:avLst/>
          </a:prstGeom>
          <a:solidFill>
            <a:srgbClr val="0F6E7A"/>
          </a:solidFill>
          <a:ln/>
        </p:spPr>
      </p:sp>
      <p:sp>
        <p:nvSpPr>
          <p:cNvPr id="16" name="Text 14"/>
          <p:cNvSpPr/>
          <p:nvPr/>
        </p:nvSpPr>
        <p:spPr>
          <a:xfrm>
            <a:off x="886968" y="29077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508760" y="2743200"/>
            <a:ext cx="8046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Inflows와 Cash Outflows의 분류  ·  Classification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692640" y="2743200"/>
            <a:ext cx="1920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29768" y="3566160"/>
            <a:ext cx="11329416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29768" y="3566160"/>
            <a:ext cx="82296" cy="713232"/>
          </a:xfrm>
          <a:prstGeom prst="rect">
            <a:avLst/>
          </a:prstGeom>
          <a:solidFill>
            <a:srgbClr val="9A6600"/>
          </a:solidFill>
          <a:ln/>
        </p:spPr>
      </p:sp>
      <p:sp>
        <p:nvSpPr>
          <p:cNvPr id="21" name="Shape 19"/>
          <p:cNvSpPr/>
          <p:nvPr/>
        </p:nvSpPr>
        <p:spPr>
          <a:xfrm>
            <a:off x="886968" y="3730752"/>
            <a:ext cx="402336" cy="402336"/>
          </a:xfrm>
          <a:prstGeom prst="ellipse">
            <a:avLst/>
          </a:prstGeom>
          <a:solidFill>
            <a:srgbClr val="9A6600"/>
          </a:solidFill>
          <a:ln/>
        </p:spPr>
      </p:sp>
      <p:sp>
        <p:nvSpPr>
          <p:cNvPr id="22" name="Text 20"/>
          <p:cNvSpPr/>
          <p:nvPr/>
        </p:nvSpPr>
        <p:spPr>
          <a:xfrm>
            <a:off x="886968" y="37307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508760" y="3566160"/>
            <a:ext cx="8046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vs. Indirect Method  ·  Operating Cash Flows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692640" y="3566160"/>
            <a:ext cx="1920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29768" y="4517136"/>
            <a:ext cx="11329416" cy="512064"/>
          </a:xfrm>
          <a:prstGeom prst="rect">
            <a:avLst/>
          </a:prstGeom>
          <a:solidFill>
            <a:srgbClr val="EAF0FB"/>
          </a:solidFill>
          <a:ln w="12700">
            <a:solidFill>
              <a:srgbClr val="1F489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7512" y="4517136"/>
            <a:ext cx="10853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흐름: 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현금흐름을 보고하는가 → 유입·유출의 분류 → 영업활동 현금흐름을 계산하는 두 가지 방법.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98064"/>
            <a:ext cx="12191695" cy="502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210312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3035808"/>
            <a:ext cx="1072865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Purpose &amp; Usefulness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280160" y="4023360"/>
            <a:ext cx="963137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E6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현금흐름 보고의 목적과 유용성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9786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1143000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Three Engines of Cash Flow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29768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4  ·  Statement of Cash Flows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424160" y="6528816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9768" y="1444752"/>
            <a:ext cx="64008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7" name="Shape 5"/>
          <p:cNvSpPr/>
          <p:nvPr/>
        </p:nvSpPr>
        <p:spPr>
          <a:xfrm>
            <a:off x="493776" y="1444752"/>
            <a:ext cx="11265408" cy="420624"/>
          </a:xfrm>
          <a:prstGeom prst="rect">
            <a:avLst/>
          </a:prstGeom>
          <a:solidFill>
            <a:srgbClr val="EAF0FB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" y="1444752"/>
            <a:ext cx="10917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현금흐름표는 기업의 현금을 세 가지 활동으로 구분합니다 — Operating · Investing · Financing.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29768" y="11338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531288" y="2121408"/>
            <a:ext cx="7126376" cy="243230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pic>
        <p:nvPicPr>
          <p:cNvPr id="11" name="Image 0" descr="assets/s04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04440" y="2194560"/>
            <a:ext cx="6980072" cy="228600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429768" y="4882896"/>
            <a:ext cx="11329416" cy="512064"/>
          </a:xfrm>
          <a:prstGeom prst="rect">
            <a:avLst/>
          </a:prstGeom>
          <a:solidFill>
            <a:srgbClr val="14306B"/>
          </a:solidFill>
          <a:ln/>
        </p:spPr>
      </p:sp>
      <p:sp>
        <p:nvSpPr>
          <p:cNvPr id="13" name="Text 10"/>
          <p:cNvSpPr/>
          <p:nvPr/>
        </p:nvSpPr>
        <p:spPr>
          <a:xfrm>
            <a:off x="685800" y="4882896"/>
            <a:ext cx="10817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 엔진이 함께 회사의 현금 이야기를 구성합니다: 벌고(Operating), 심고(Investing), 조달합니다(Financing).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429768" y="5541264"/>
            <a:ext cx="11329416" cy="512064"/>
          </a:xfrm>
          <a:prstGeom prst="rect">
            <a:avLst/>
          </a:prstGeom>
          <a:solidFill>
            <a:srgbClr val="E9F5EE"/>
          </a:solidFill>
          <a:ln w="12700">
            <a:solidFill>
              <a:srgbClr val="1E7A4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67512" y="5541264"/>
            <a:ext cx="10853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핵심: 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총 현금 변동은 세 활동의 순현금흐름을 합한 값과 같습니다.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6E7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98064"/>
            <a:ext cx="12191695" cy="502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210312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3035808"/>
            <a:ext cx="1072865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Classifying Cash Inflows &amp; Outflows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280160" y="4023360"/>
            <a:ext cx="963137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E6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현금 유입·유출의 분류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9786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1143000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Operating Activities — The Heartbeat of the Business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29768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4  ·  Statement of Cash Flows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424160" y="6528816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9768" y="1444752"/>
            <a:ext cx="64008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7" name="Shape 5"/>
          <p:cNvSpPr/>
          <p:nvPr/>
        </p:nvSpPr>
        <p:spPr>
          <a:xfrm>
            <a:off x="493776" y="1444752"/>
            <a:ext cx="11265408" cy="420624"/>
          </a:xfrm>
          <a:prstGeom prst="rect">
            <a:avLst/>
          </a:prstGeom>
          <a:solidFill>
            <a:srgbClr val="EAF0FB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" y="1444752"/>
            <a:ext cx="10917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Activities는 cash basis로 보고되는 income statement 항목을 포함합니다.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29768" y="11338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98199" y="2212848"/>
            <a:ext cx="4492337" cy="416966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pic>
        <p:nvPicPr>
          <p:cNvPr id="11" name="Image 0" descr="assets/s05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351" y="2286000"/>
            <a:ext cx="4346033" cy="402336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5669280" y="2286000"/>
            <a:ext cx="6089904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669280" y="2286000"/>
            <a:ext cx="82296" cy="1417320"/>
          </a:xfrm>
          <a:prstGeom prst="rect">
            <a:avLst/>
          </a:prstGeom>
          <a:solidFill>
            <a:srgbClr val="1E7A4C"/>
          </a:solidFill>
          <a:ln/>
        </p:spPr>
      </p:sp>
      <p:sp>
        <p:nvSpPr>
          <p:cNvPr id="14" name="Shape 11"/>
          <p:cNvSpPr/>
          <p:nvPr/>
        </p:nvSpPr>
        <p:spPr>
          <a:xfrm>
            <a:off x="5669280" y="2286000"/>
            <a:ext cx="6089904" cy="420624"/>
          </a:xfrm>
          <a:prstGeom prst="rect">
            <a:avLst/>
          </a:prstGeom>
          <a:solidFill>
            <a:srgbClr val="1E7A4C"/>
          </a:solidFill>
          <a:ln/>
        </p:spPr>
      </p:sp>
      <p:sp>
        <p:nvSpPr>
          <p:cNvPr id="15" name="Text 12"/>
          <p:cNvSpPr/>
          <p:nvPr/>
        </p:nvSpPr>
        <p:spPr>
          <a:xfrm>
            <a:off x="5870448" y="2286000"/>
            <a:ext cx="57790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Inflows  ·  유입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5888736" y="2889504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재화·용역 판매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배당금 수취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이자수익 *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669280" y="3840480"/>
            <a:ext cx="6089904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669280" y="3840480"/>
            <a:ext cx="82296" cy="1691640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19" name="Shape 16"/>
          <p:cNvSpPr/>
          <p:nvPr/>
        </p:nvSpPr>
        <p:spPr>
          <a:xfrm>
            <a:off x="5669280" y="3840480"/>
            <a:ext cx="6089904" cy="420624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20" name="Text 17"/>
          <p:cNvSpPr/>
          <p:nvPr/>
        </p:nvSpPr>
        <p:spPr>
          <a:xfrm>
            <a:off x="5870448" y="3840480"/>
            <a:ext cx="57790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Outflows  ·  유출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5888736" y="4443984"/>
            <a:ext cx="5669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공급자에게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종업원에게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정부에 (세금)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대여자에게 (이자비용) *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5669280" y="5669280"/>
            <a:ext cx="6089904" cy="658368"/>
          </a:xfrm>
          <a:prstGeom prst="rect">
            <a:avLst/>
          </a:prstGeom>
          <a:solidFill>
            <a:srgbClr val="FDF3E0"/>
          </a:solidFill>
          <a:ln w="12700">
            <a:solidFill>
              <a:srgbClr val="9A660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833872" y="5669280"/>
            <a:ext cx="5760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9A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 주의: 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이자·배당 관련 항목은 investing/financing이 아니라 operating 섹션에 보고됩니다.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9786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1143000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Investing Activities — Spending Now to Grow Later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29768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4  ·  Statement of Cash Flows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424160" y="6528816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9768" y="1444752"/>
            <a:ext cx="64008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7" name="Shape 5"/>
          <p:cNvSpPr/>
          <p:nvPr/>
        </p:nvSpPr>
        <p:spPr>
          <a:xfrm>
            <a:off x="493776" y="1444752"/>
            <a:ext cx="11265408" cy="420624"/>
          </a:xfrm>
          <a:prstGeom prst="rect">
            <a:avLst/>
          </a:prstGeom>
          <a:solidFill>
            <a:srgbClr val="EAF0FB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" y="1444752"/>
            <a:ext cx="10917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Investing activities는 장기 자산(long-term assets)과 투자에 초점을 둡니다.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29768" y="11338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77057" y="2212848"/>
            <a:ext cx="4334622" cy="416966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pic>
        <p:nvPicPr>
          <p:cNvPr id="11" name="Image 0" descr="assets/s06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209" y="2286000"/>
            <a:ext cx="4188318" cy="402336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5669280" y="2286000"/>
            <a:ext cx="6089904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669280" y="2286000"/>
            <a:ext cx="82296" cy="1417320"/>
          </a:xfrm>
          <a:prstGeom prst="rect">
            <a:avLst/>
          </a:prstGeom>
          <a:solidFill>
            <a:srgbClr val="1E7A4C"/>
          </a:solidFill>
          <a:ln/>
        </p:spPr>
      </p:sp>
      <p:sp>
        <p:nvSpPr>
          <p:cNvPr id="14" name="Shape 11"/>
          <p:cNvSpPr/>
          <p:nvPr/>
        </p:nvSpPr>
        <p:spPr>
          <a:xfrm>
            <a:off x="5669280" y="2286000"/>
            <a:ext cx="6089904" cy="420624"/>
          </a:xfrm>
          <a:prstGeom prst="rect">
            <a:avLst/>
          </a:prstGeom>
          <a:solidFill>
            <a:srgbClr val="1E7A4C"/>
          </a:solidFill>
          <a:ln/>
        </p:spPr>
      </p:sp>
      <p:sp>
        <p:nvSpPr>
          <p:cNvPr id="15" name="Text 12"/>
          <p:cNvSpPr/>
          <p:nvPr/>
        </p:nvSpPr>
        <p:spPr>
          <a:xfrm>
            <a:off x="5870448" y="2286000"/>
            <a:ext cx="57790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Inflows  ·  유입 (Selling)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5888736" y="2889504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PP&amp;E 매각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투자자산 매각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대여금 회수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5669280" y="3840480"/>
            <a:ext cx="6089904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669280" y="3840480"/>
            <a:ext cx="82296" cy="1417320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19" name="Shape 16"/>
          <p:cNvSpPr/>
          <p:nvPr/>
        </p:nvSpPr>
        <p:spPr>
          <a:xfrm>
            <a:off x="5669280" y="3840480"/>
            <a:ext cx="6089904" cy="420624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20" name="Text 17"/>
          <p:cNvSpPr/>
          <p:nvPr/>
        </p:nvSpPr>
        <p:spPr>
          <a:xfrm>
            <a:off x="5870448" y="3840480"/>
            <a:ext cx="57790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Outflows  ·  유출 (Buying)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5888736" y="4443984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PP&amp;E 매입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투자자산 매입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타인에게 대여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5669280" y="5394960"/>
            <a:ext cx="6089904" cy="658368"/>
          </a:xfrm>
          <a:prstGeom prst="rect">
            <a:avLst/>
          </a:prstGeom>
          <a:solidFill>
            <a:srgbClr val="E6F3F5"/>
          </a:solidFill>
          <a:ln w="12700">
            <a:solidFill>
              <a:srgbClr val="0F6E7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833872" y="5394960"/>
            <a:ext cx="5760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0F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PP&amp;E: 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유형자산 (Property, Plant and Equipment).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9786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1143000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Financing Activities — Managing the Capital Supply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29768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4  ·  Statement of Cash Flows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424160" y="6528816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9768" y="1444752"/>
            <a:ext cx="64008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7" name="Shape 5"/>
          <p:cNvSpPr/>
          <p:nvPr/>
        </p:nvSpPr>
        <p:spPr>
          <a:xfrm>
            <a:off x="493776" y="1444752"/>
            <a:ext cx="11265408" cy="420624"/>
          </a:xfrm>
          <a:prstGeom prst="rect">
            <a:avLst/>
          </a:prstGeom>
          <a:solidFill>
            <a:srgbClr val="EAF0FB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" y="1444752"/>
            <a:ext cx="10917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Financing activities는 회사가 필요한 자본을 어떻게 조달하는지를 나타냅니다.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29768" y="11338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717045" y="2121408"/>
            <a:ext cx="4754862" cy="215798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pic>
        <p:nvPicPr>
          <p:cNvPr id="11" name="Image 0" descr="assets/s07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90197" y="2194560"/>
            <a:ext cx="4608558" cy="201168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429768" y="4389120"/>
            <a:ext cx="54864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29768" y="4389120"/>
            <a:ext cx="82296" cy="1737360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14" name="Shape 11"/>
          <p:cNvSpPr/>
          <p:nvPr/>
        </p:nvSpPr>
        <p:spPr>
          <a:xfrm>
            <a:off x="429768" y="4389120"/>
            <a:ext cx="5486400" cy="420624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15" name="Text 12"/>
          <p:cNvSpPr/>
          <p:nvPr/>
        </p:nvSpPr>
        <p:spPr>
          <a:xfrm>
            <a:off x="630936" y="4389120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Outflows  ·  유출 (자본 환원)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49224" y="4992624"/>
            <a:ext cx="50657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원금 상환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배당금 지급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자사주 재매입 (Treasury stocks)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272784" y="4389120"/>
            <a:ext cx="54864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272784" y="4389120"/>
            <a:ext cx="82296" cy="1737360"/>
          </a:xfrm>
          <a:prstGeom prst="rect">
            <a:avLst/>
          </a:prstGeom>
          <a:solidFill>
            <a:srgbClr val="1E7A4C"/>
          </a:solidFill>
          <a:ln/>
        </p:spPr>
      </p:sp>
      <p:sp>
        <p:nvSpPr>
          <p:cNvPr id="19" name="Shape 16"/>
          <p:cNvSpPr/>
          <p:nvPr/>
        </p:nvSpPr>
        <p:spPr>
          <a:xfrm>
            <a:off x="6272784" y="4389120"/>
            <a:ext cx="5486400" cy="420624"/>
          </a:xfrm>
          <a:prstGeom prst="rect">
            <a:avLst/>
          </a:prstGeom>
          <a:solidFill>
            <a:srgbClr val="1E7A4C"/>
          </a:solidFill>
          <a:ln/>
        </p:spPr>
      </p:sp>
      <p:sp>
        <p:nvSpPr>
          <p:cNvPr id="20" name="Text 17"/>
          <p:cNvSpPr/>
          <p:nvPr/>
        </p:nvSpPr>
        <p:spPr>
          <a:xfrm>
            <a:off x="6473952" y="4389120"/>
            <a:ext cx="51755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Inflows  ·  유입 (자본 조달)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6492240" y="4992624"/>
            <a:ext cx="50657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채권·어음 발행 (Debt)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주식 매각 (Equity)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9786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1143000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Usefulness of Classification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29768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4  ·  Statement of Cash Flows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424160" y="6528816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9768" y="1444752"/>
            <a:ext cx="64008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7" name="Shape 5"/>
          <p:cNvSpPr/>
          <p:nvPr/>
        </p:nvSpPr>
        <p:spPr>
          <a:xfrm>
            <a:off x="493776" y="1444752"/>
            <a:ext cx="11265408" cy="420624"/>
          </a:xfrm>
          <a:prstGeom prst="rect">
            <a:avLst/>
          </a:prstGeom>
          <a:solidFill>
            <a:srgbClr val="EAF0FB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" y="1444752"/>
            <a:ext cx="10917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 회사 모두 $100,000의 현금을 창출했지만 — 그 출처가 미래를 가릅니다.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29768" y="11338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9768" y="2670048"/>
            <a:ext cx="3538728" cy="23957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" y="2670048"/>
            <a:ext cx="82296" cy="2395728"/>
          </a:xfrm>
          <a:prstGeom prst="rect">
            <a:avLst/>
          </a:prstGeom>
          <a:solidFill>
            <a:srgbClr val="1E7A4C"/>
          </a:solidFill>
          <a:ln/>
        </p:spPr>
      </p:sp>
      <p:sp>
        <p:nvSpPr>
          <p:cNvPr id="12" name="Shape 10"/>
          <p:cNvSpPr/>
          <p:nvPr/>
        </p:nvSpPr>
        <p:spPr>
          <a:xfrm>
            <a:off x="1933956" y="2395728"/>
            <a:ext cx="530352" cy="530352"/>
          </a:xfrm>
          <a:prstGeom prst="ellipse">
            <a:avLst/>
          </a:prstGeom>
          <a:solidFill>
            <a:srgbClr val="1E7A4C"/>
          </a:solidFill>
          <a:ln/>
        </p:spPr>
      </p:sp>
      <p:sp>
        <p:nvSpPr>
          <p:cNvPr id="13" name="Text 11"/>
          <p:cNvSpPr/>
          <p:nvPr/>
        </p:nvSpPr>
        <p:spPr>
          <a:xfrm>
            <a:off x="1933956" y="239572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12648" y="3072384"/>
            <a:ext cx="3172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영업활동에서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85800" y="3474720"/>
            <a:ext cx="30266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제품·용역 판매로 창출.</a:t>
            </a:r>
            <a:endParaRPr lang="en-US" sz="1250" dirty="0"/>
          </a:p>
          <a:p>
            <a:pPr algn="ctr" indent="0" marL="0">
              <a:lnSpc>
                <a:spcPct val="100000"/>
              </a:lnSpc>
              <a:buNone/>
            </a:pPr>
            <a:endParaRPr lang="en-US" sz="12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지속 가능하고 건강함.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325112" y="2670048"/>
            <a:ext cx="3538728" cy="23957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25112" y="2670048"/>
            <a:ext cx="82296" cy="2395728"/>
          </a:xfrm>
          <a:prstGeom prst="rect">
            <a:avLst/>
          </a:prstGeom>
          <a:solidFill>
            <a:srgbClr val="9A6600"/>
          </a:solidFill>
          <a:ln/>
        </p:spPr>
      </p:sp>
      <p:sp>
        <p:nvSpPr>
          <p:cNvPr id="18" name="Shape 16"/>
          <p:cNvSpPr/>
          <p:nvPr/>
        </p:nvSpPr>
        <p:spPr>
          <a:xfrm>
            <a:off x="5829300" y="2395728"/>
            <a:ext cx="530352" cy="530352"/>
          </a:xfrm>
          <a:prstGeom prst="ellipse">
            <a:avLst/>
          </a:prstGeom>
          <a:solidFill>
            <a:srgbClr val="9A6600"/>
          </a:solidFill>
          <a:ln/>
        </p:spPr>
      </p:sp>
      <p:sp>
        <p:nvSpPr>
          <p:cNvPr id="19" name="Text 17"/>
          <p:cNvSpPr/>
          <p:nvPr/>
        </p:nvSpPr>
        <p:spPr>
          <a:xfrm>
            <a:off x="5829300" y="239572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507992" y="3072384"/>
            <a:ext cx="3172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9A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투자활동에서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4581144" y="3474720"/>
            <a:ext cx="30266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자산 매각으로 창출.</a:t>
            </a:r>
            <a:endParaRPr lang="en-US" sz="1250" dirty="0"/>
          </a:p>
          <a:p>
            <a:pPr algn="ctr" indent="0" marL="0">
              <a:lnSpc>
                <a:spcPct val="100000"/>
              </a:lnSpc>
              <a:buNone/>
            </a:pPr>
            <a:endParaRPr lang="en-US" sz="12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일회성 — 경고 신호일 수 있음.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220456" y="2670048"/>
            <a:ext cx="3538728" cy="239572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20456" y="2670048"/>
            <a:ext cx="82296" cy="2395728"/>
          </a:xfrm>
          <a:prstGeom prst="rect">
            <a:avLst/>
          </a:prstGeom>
          <a:solidFill>
            <a:srgbClr val="B3261E"/>
          </a:solidFill>
          <a:ln/>
        </p:spPr>
      </p:sp>
      <p:sp>
        <p:nvSpPr>
          <p:cNvPr id="24" name="Shape 22"/>
          <p:cNvSpPr/>
          <p:nvPr/>
        </p:nvSpPr>
        <p:spPr>
          <a:xfrm>
            <a:off x="9724644" y="2395728"/>
            <a:ext cx="530352" cy="530352"/>
          </a:xfrm>
          <a:prstGeom prst="ellipse">
            <a:avLst/>
          </a:prstGeom>
          <a:solidFill>
            <a:srgbClr val="B3261E"/>
          </a:solidFill>
          <a:ln/>
        </p:spPr>
      </p:sp>
      <p:sp>
        <p:nvSpPr>
          <p:cNvPr id="25" name="Text 23"/>
          <p:cNvSpPr/>
          <p:nvPr/>
        </p:nvSpPr>
        <p:spPr>
          <a:xfrm>
            <a:off x="9724644" y="239572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8403336" y="3072384"/>
            <a:ext cx="3172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재무활동에서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8476488" y="3474720"/>
            <a:ext cx="302666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차입으로 창출.</a:t>
            </a:r>
            <a:endParaRPr lang="en-US" sz="1250" dirty="0"/>
          </a:p>
          <a:p>
            <a:pPr algn="ctr" indent="0" marL="0">
              <a:lnSpc>
                <a:spcPct val="100000"/>
              </a:lnSpc>
              <a:buNone/>
            </a:pPr>
            <a:endParaRPr lang="en-US" sz="12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상환 부담 — 위험이 큼.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29768" y="5340096"/>
            <a:ext cx="11329416" cy="512064"/>
          </a:xfrm>
          <a:prstGeom prst="rect">
            <a:avLst/>
          </a:prstGeom>
          <a:solidFill>
            <a:srgbClr val="14306B"/>
          </a:solidFill>
          <a:ln/>
        </p:spPr>
      </p:sp>
      <p:sp>
        <p:nvSpPr>
          <p:cNvPr id="29" name="Text 27"/>
          <p:cNvSpPr/>
          <p:nvPr/>
        </p:nvSpPr>
        <p:spPr>
          <a:xfrm>
            <a:off x="685800" y="5340096"/>
            <a:ext cx="10817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$100,000라도 operating에서 나온 현금이 가장 건강합니다 — 분류가 현금의 '질'을 드러냅니다.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9786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1143000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Concept Quiz 1 — Classify Each Transaction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29768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4  ·  Statement of Cash Flows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424160" y="6528816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9768" y="1444752"/>
            <a:ext cx="64008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7" name="Shape 5"/>
          <p:cNvSpPr/>
          <p:nvPr/>
        </p:nvSpPr>
        <p:spPr>
          <a:xfrm>
            <a:off x="493776" y="1444752"/>
            <a:ext cx="11265408" cy="420624"/>
          </a:xfrm>
          <a:prstGeom prst="rect">
            <a:avLst/>
          </a:prstGeom>
          <a:solidFill>
            <a:srgbClr val="EAF0FB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" y="1444752"/>
            <a:ext cx="10917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각 거래를 활동(Operating·Investing·Financing)과 방향(유입·유출)으로 분류하시오.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29768" y="11338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9768" y="2048256"/>
            <a:ext cx="11329416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" y="2048256"/>
            <a:ext cx="82296" cy="512064"/>
          </a:xfrm>
          <a:prstGeom prst="rect">
            <a:avLst/>
          </a:prstGeom>
          <a:solidFill>
            <a:srgbClr val="9A6600"/>
          </a:solidFill>
          <a:ln/>
        </p:spPr>
      </p:sp>
      <p:sp>
        <p:nvSpPr>
          <p:cNvPr id="12" name="Text 10"/>
          <p:cNvSpPr/>
          <p:nvPr/>
        </p:nvSpPr>
        <p:spPr>
          <a:xfrm>
            <a:off x="722376" y="2048256"/>
            <a:ext cx="6720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Issued common stock ($300k)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589520" y="2048256"/>
            <a:ext cx="4023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29768" y="2633472"/>
            <a:ext cx="11329416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9768" y="2633472"/>
            <a:ext cx="82296" cy="51206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16" name="Text 14"/>
          <p:cNvSpPr/>
          <p:nvPr/>
        </p:nvSpPr>
        <p:spPr>
          <a:xfrm>
            <a:off x="722376" y="2633472"/>
            <a:ext cx="6720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salaries ($17k)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589520" y="2633472"/>
            <a:ext cx="4023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29768" y="3218688"/>
            <a:ext cx="11329416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9768" y="3218688"/>
            <a:ext cx="82296" cy="512064"/>
          </a:xfrm>
          <a:prstGeom prst="rect">
            <a:avLst/>
          </a:prstGeom>
          <a:solidFill>
            <a:srgbClr val="9A6600"/>
          </a:solidFill>
          <a:ln/>
        </p:spPr>
      </p:sp>
      <p:sp>
        <p:nvSpPr>
          <p:cNvPr id="20" name="Text 18"/>
          <p:cNvSpPr/>
          <p:nvPr/>
        </p:nvSpPr>
        <p:spPr>
          <a:xfrm>
            <a:off x="722376" y="3218688"/>
            <a:ext cx="6720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cash dividend ($100k)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589520" y="3218688"/>
            <a:ext cx="4023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29768" y="3803904"/>
            <a:ext cx="11329416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29768" y="3803904"/>
            <a:ext cx="82296" cy="512064"/>
          </a:xfrm>
          <a:prstGeom prst="rect">
            <a:avLst/>
          </a:prstGeom>
          <a:solidFill>
            <a:srgbClr val="0F6E7A"/>
          </a:solidFill>
          <a:ln/>
        </p:spPr>
      </p:sp>
      <p:sp>
        <p:nvSpPr>
          <p:cNvPr id="24" name="Text 22"/>
          <p:cNvSpPr/>
          <p:nvPr/>
        </p:nvSpPr>
        <p:spPr>
          <a:xfrm>
            <a:off x="722376" y="3803904"/>
            <a:ext cx="6720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Purchased equipment ($35k)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589520" y="3803904"/>
            <a:ext cx="4023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29768" y="4389120"/>
            <a:ext cx="11329416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29768" y="4389120"/>
            <a:ext cx="82296" cy="512064"/>
          </a:xfrm>
          <a:prstGeom prst="rect">
            <a:avLst/>
          </a:prstGeom>
          <a:solidFill>
            <a:srgbClr val="0F6E7A"/>
          </a:solidFill>
          <a:ln/>
        </p:spPr>
      </p:sp>
      <p:sp>
        <p:nvSpPr>
          <p:cNvPr id="28" name="Text 26"/>
          <p:cNvSpPr/>
          <p:nvPr/>
        </p:nvSpPr>
        <p:spPr>
          <a:xfrm>
            <a:off x="722376" y="4389120"/>
            <a:ext cx="6720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 delivery truck ($8k)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589520" y="4389120"/>
            <a:ext cx="4023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29768" y="4974336"/>
            <a:ext cx="11329416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29768" y="4974336"/>
            <a:ext cx="82296" cy="51206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32" name="Text 30"/>
          <p:cNvSpPr/>
          <p:nvPr/>
        </p:nvSpPr>
        <p:spPr>
          <a:xfrm>
            <a:off x="722376" y="4974336"/>
            <a:ext cx="6720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Received cash dividend ($50k)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589520" y="4974336"/>
            <a:ext cx="4023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29768" y="5559552"/>
            <a:ext cx="11329416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29768" y="5559552"/>
            <a:ext cx="82296" cy="51206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36" name="Text 34"/>
          <p:cNvSpPr/>
          <p:nvPr/>
        </p:nvSpPr>
        <p:spPr>
          <a:xfrm>
            <a:off x="722376" y="5559552"/>
            <a:ext cx="67208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 inventory ($11k)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589520" y="5559552"/>
            <a:ext cx="4023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9786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1143000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Classification Issue — U.S. GAAP vs. IFRS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29768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4  ·  Statement of Cash Flows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424160" y="6528816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9768" y="1444752"/>
            <a:ext cx="64008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7" name="Shape 5"/>
          <p:cNvSpPr/>
          <p:nvPr/>
        </p:nvSpPr>
        <p:spPr>
          <a:xfrm>
            <a:off x="493776" y="1444752"/>
            <a:ext cx="11265408" cy="420624"/>
          </a:xfrm>
          <a:prstGeom prst="rect">
            <a:avLst/>
          </a:prstGeom>
          <a:solidFill>
            <a:srgbClr val="EAF0FB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" y="1444752"/>
            <a:ext cx="10917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이자(interest)와 배당금(dividend)의 지급·수취 분류는 기준마다 다릅니다.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29768" y="11338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0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981048" y="2377440"/>
          <a:ext cx="822960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2286000"/>
                <a:gridCol w="2286000"/>
              </a:tblGrid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  ·  항목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8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U.S. GAAP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89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IFRS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89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이자 수취 · Interest received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48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F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이자 지급 · Interest paid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48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9A66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배당금 수취 · Dividends received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F48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F6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배당금 지급 · Dividends paid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9A66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9A66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25400" marB="254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429768" y="5138928"/>
            <a:ext cx="11329416" cy="548640"/>
          </a:xfrm>
          <a:prstGeom prst="rect">
            <a:avLst/>
          </a:prstGeom>
          <a:solidFill>
            <a:srgbClr val="E9F5EE"/>
          </a:solidFill>
          <a:ln w="12700">
            <a:solidFill>
              <a:srgbClr val="1E7A4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67512" y="5138928"/>
            <a:ext cx="10853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핵심: 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GAAP은 이자·배당 수취를 모두 operating으로 보지만, IFRS는 investing으로 분류할 수 있습니다.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29768" y="5815584"/>
            <a:ext cx="11329416" cy="457200"/>
          </a:xfrm>
          <a:prstGeom prst="rect">
            <a:avLst/>
          </a:prstGeom>
          <a:solidFill>
            <a:srgbClr val="14306B"/>
          </a:solidFill>
          <a:ln/>
        </p:spPr>
      </p:sp>
      <p:sp>
        <p:nvSpPr>
          <p:cNvPr id="14" name="Text 11"/>
          <p:cNvSpPr/>
          <p:nvPr/>
        </p:nvSpPr>
        <p:spPr>
          <a:xfrm>
            <a:off x="685800" y="5815584"/>
            <a:ext cx="108173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색상 코드:  Operating (파랑) · Investing (청록) · Financing (황갈).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9A66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798064"/>
            <a:ext cx="12191695" cy="502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210312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3035808"/>
            <a:ext cx="1072865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Direct vs. Indirect Method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280160" y="4023360"/>
            <a:ext cx="963137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50" dirty="0">
                <a:solidFill>
                  <a:srgbClr val="E6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영업활동 현금흐름: 직접법 vs. 간접법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9786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1143000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Two Ways to Report Operating Cash Flows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29768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4  ·  Statement of Cash Flows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424160" y="6528816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9768" y="1444752"/>
            <a:ext cx="64008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7" name="Shape 5"/>
          <p:cNvSpPr/>
          <p:nvPr/>
        </p:nvSpPr>
        <p:spPr>
          <a:xfrm>
            <a:off x="493776" y="1444752"/>
            <a:ext cx="11265408" cy="420624"/>
          </a:xfrm>
          <a:prstGeom prst="rect">
            <a:avLst/>
          </a:prstGeom>
          <a:solidFill>
            <a:srgbClr val="EAF0FB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" y="1444752"/>
            <a:ext cx="10917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영업활동 현금흐름은 두 가지 방식으로 보고할 수 있습니다 — 결과는 동일합니다.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29768" y="11338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56616" y="2433664"/>
            <a:ext cx="5815584" cy="3545153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pic>
        <p:nvPicPr>
          <p:cNvPr id="11" name="Image 0" descr="assets/s12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" y="2506816"/>
            <a:ext cx="5669280" cy="3398849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6355080" y="2286000"/>
            <a:ext cx="5404104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355080" y="2286000"/>
            <a:ext cx="82296" cy="1572768"/>
          </a:xfrm>
          <a:prstGeom prst="rect">
            <a:avLst/>
          </a:prstGeom>
          <a:solidFill>
            <a:srgbClr val="0F6E7A"/>
          </a:solidFill>
          <a:ln/>
        </p:spPr>
      </p:sp>
      <p:sp>
        <p:nvSpPr>
          <p:cNvPr id="14" name="Shape 11"/>
          <p:cNvSpPr/>
          <p:nvPr/>
        </p:nvSpPr>
        <p:spPr>
          <a:xfrm>
            <a:off x="6355080" y="2286000"/>
            <a:ext cx="5404104" cy="420624"/>
          </a:xfrm>
          <a:prstGeom prst="rect">
            <a:avLst/>
          </a:prstGeom>
          <a:solidFill>
            <a:srgbClr val="0F6E7A"/>
          </a:solidFill>
          <a:ln/>
        </p:spPr>
      </p:sp>
      <p:sp>
        <p:nvSpPr>
          <p:cNvPr id="15" name="Text 12"/>
          <p:cNvSpPr/>
          <p:nvPr/>
        </p:nvSpPr>
        <p:spPr>
          <a:xfrm>
            <a:off x="6556248" y="2286000"/>
            <a:ext cx="5093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Method  ·  수표책 방식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574536" y="2889504"/>
            <a:ext cx="4983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Receipts − Cash Payments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현금 수취·지급을 직접 나열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355080" y="3986784"/>
            <a:ext cx="5404104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355080" y="3986784"/>
            <a:ext cx="82296" cy="1572768"/>
          </a:xfrm>
          <a:prstGeom prst="rect">
            <a:avLst/>
          </a:prstGeom>
          <a:solidFill>
            <a:srgbClr val="9A6600"/>
          </a:solidFill>
          <a:ln/>
        </p:spPr>
      </p:sp>
      <p:sp>
        <p:nvSpPr>
          <p:cNvPr id="19" name="Shape 16"/>
          <p:cNvSpPr/>
          <p:nvPr/>
        </p:nvSpPr>
        <p:spPr>
          <a:xfrm>
            <a:off x="6355080" y="3986784"/>
            <a:ext cx="5404104" cy="420624"/>
          </a:xfrm>
          <a:prstGeom prst="rect">
            <a:avLst/>
          </a:prstGeom>
          <a:solidFill>
            <a:srgbClr val="9A6600"/>
          </a:solidFill>
          <a:ln/>
        </p:spPr>
      </p:sp>
      <p:sp>
        <p:nvSpPr>
          <p:cNvPr id="20" name="Text 17"/>
          <p:cNvSpPr/>
          <p:nvPr/>
        </p:nvSpPr>
        <p:spPr>
          <a:xfrm>
            <a:off x="6556248" y="3986784"/>
            <a:ext cx="5093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Indirect Method  ·  조정 방식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6574536" y="4590288"/>
            <a:ext cx="49834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Income +/− Adjustments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순이익에서 조정하여 도출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6355080" y="5687568"/>
            <a:ext cx="5404104" cy="621792"/>
          </a:xfrm>
          <a:prstGeom prst="rect">
            <a:avLst/>
          </a:prstGeom>
          <a:solidFill>
            <a:srgbClr val="E9F5EE"/>
          </a:solidFill>
          <a:ln w="12700">
            <a:solidFill>
              <a:srgbClr val="1E7A4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519672" y="5687568"/>
            <a:ext cx="5074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동일한 결과:  </a:t>
            </a:r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방법 모두 같은 Net Cash Flow from Operating Activities에 도달합니다.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9786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1143000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Direct Method — Receipts &amp; Disbursements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29768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4  ·  Statement of Cash Flows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424160" y="6528816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9768" y="1444752"/>
            <a:ext cx="64008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7" name="Shape 5"/>
          <p:cNvSpPr/>
          <p:nvPr/>
        </p:nvSpPr>
        <p:spPr>
          <a:xfrm>
            <a:off x="493776" y="1444752"/>
            <a:ext cx="11265408" cy="420624"/>
          </a:xfrm>
          <a:prstGeom prst="rect">
            <a:avLst/>
          </a:prstGeom>
          <a:solidFill>
            <a:srgbClr val="EAF0FB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" y="1444752"/>
            <a:ext cx="10917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사례: United Brands Corporation (2021년 12월 31일 종료 회계연도).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29768" y="11338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0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9768" y="2157984"/>
          <a:ext cx="6400800" cy="914400"/>
        </p:xfrm>
        <a:graphic>
          <a:graphicData uri="http://schemas.openxmlformats.org/drawingml/2006/table">
            <a:tbl>
              <a:tblPr/>
              <a:tblGrid>
                <a:gridCol w="4937760"/>
                <a:gridCol w="1463040"/>
              </a:tblGrid>
              <a:tr h="384048">
                <a:tc gridSpan="2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Cash Flows from Operating Activities  ·  $ in millions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899"/>
                    </a:solidFill>
                  </a:tcPr>
                </a:tc>
                <a:tc hMerge="1"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From customers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From investment revenue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suppliers of goods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(50)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employees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(11)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 interest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(3)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 insurance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(4)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 income taxes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(11)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cash flows from operating activities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7132320" y="2157984"/>
            <a:ext cx="4626864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132320" y="2157984"/>
            <a:ext cx="82296" cy="2194560"/>
          </a:xfrm>
          <a:prstGeom prst="rect">
            <a:avLst/>
          </a:prstGeom>
          <a:solidFill>
            <a:srgbClr val="0F6E7A"/>
          </a:solidFill>
          <a:ln/>
        </p:spPr>
      </p:sp>
      <p:sp>
        <p:nvSpPr>
          <p:cNvPr id="13" name="Shape 10"/>
          <p:cNvSpPr/>
          <p:nvPr/>
        </p:nvSpPr>
        <p:spPr>
          <a:xfrm>
            <a:off x="7132320" y="2157984"/>
            <a:ext cx="4626864" cy="420624"/>
          </a:xfrm>
          <a:prstGeom prst="rect">
            <a:avLst/>
          </a:prstGeom>
          <a:solidFill>
            <a:srgbClr val="0F6E7A"/>
          </a:solidFill>
          <a:ln/>
        </p:spPr>
      </p:sp>
      <p:sp>
        <p:nvSpPr>
          <p:cNvPr id="14" name="Text 11"/>
          <p:cNvSpPr/>
          <p:nvPr/>
        </p:nvSpPr>
        <p:spPr>
          <a:xfrm>
            <a:off x="7333488" y="2157984"/>
            <a:ext cx="43159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직접법이란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7351776" y="2761488"/>
            <a:ext cx="4206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현금 유입·유출을 항목별로 나열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고객·공급자·종업원 등 원천별 표시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직관적이나 자료 수집 부담이 큼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7132320" y="4535424"/>
            <a:ext cx="4626864" cy="1005840"/>
          </a:xfrm>
          <a:prstGeom prst="rect">
            <a:avLst/>
          </a:prstGeom>
          <a:solidFill>
            <a:srgbClr val="E9F5EE"/>
          </a:solidFill>
          <a:ln w="12700">
            <a:solidFill>
              <a:srgbClr val="1E7A4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296912" y="4535424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결과: 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Operating Cash Flow = $22M.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9786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1143000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Indirect Method — Reconciliation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29768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4  ·  Statement of Cash Flows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424160" y="6528816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9768" y="1444752"/>
            <a:ext cx="64008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7" name="Shape 5"/>
          <p:cNvSpPr/>
          <p:nvPr/>
        </p:nvSpPr>
        <p:spPr>
          <a:xfrm>
            <a:off x="493776" y="1444752"/>
            <a:ext cx="11265408" cy="420624"/>
          </a:xfrm>
          <a:prstGeom prst="rect">
            <a:avLst/>
          </a:prstGeom>
          <a:solidFill>
            <a:srgbClr val="EAF0FB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" y="1444752"/>
            <a:ext cx="10917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순이익(Net Income)을 영업활동 현금흐름으로 조정(reconcile)합니다.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29768" y="11338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56616" y="2537952"/>
            <a:ext cx="6912864" cy="3428015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pic>
        <p:nvPicPr>
          <p:cNvPr id="11" name="Image 0" descr="assets/s14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" y="2611104"/>
            <a:ext cx="6766560" cy="3281711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7406640" y="2286000"/>
            <a:ext cx="4352544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406640" y="2286000"/>
            <a:ext cx="82296" cy="2286000"/>
          </a:xfrm>
          <a:prstGeom prst="rect">
            <a:avLst/>
          </a:prstGeom>
          <a:solidFill>
            <a:srgbClr val="9A6600"/>
          </a:solidFill>
          <a:ln/>
        </p:spPr>
      </p:sp>
      <p:sp>
        <p:nvSpPr>
          <p:cNvPr id="14" name="Shape 11"/>
          <p:cNvSpPr/>
          <p:nvPr/>
        </p:nvSpPr>
        <p:spPr>
          <a:xfrm>
            <a:off x="7406640" y="2286000"/>
            <a:ext cx="4352544" cy="420624"/>
          </a:xfrm>
          <a:prstGeom prst="rect">
            <a:avLst/>
          </a:prstGeom>
          <a:solidFill>
            <a:srgbClr val="9A6600"/>
          </a:solidFill>
          <a:ln/>
        </p:spPr>
      </p:sp>
      <p:sp>
        <p:nvSpPr>
          <p:cNvPr id="15" name="Text 12"/>
          <p:cNvSpPr/>
          <p:nvPr/>
        </p:nvSpPr>
        <p:spPr>
          <a:xfrm>
            <a:off x="7607808" y="2286000"/>
            <a:ext cx="40416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조정 항목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7626096" y="2889504"/>
            <a:ext cx="3931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비현금 비용 가산 (Depreciation)</a:t>
            </a:r>
            <a:endParaRPr lang="en-US" sz="120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손익 항목 조정 (Gain / Loss)</a:t>
            </a:r>
            <a:endParaRPr lang="en-US" sz="120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운전자본 변동 반영 (A/R · Inventory · A/P)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406640" y="4709160"/>
            <a:ext cx="4352544" cy="1143000"/>
          </a:xfrm>
          <a:prstGeom prst="rect">
            <a:avLst/>
          </a:prstGeom>
          <a:solidFill>
            <a:srgbClr val="E9F5EE"/>
          </a:solidFill>
          <a:ln w="12700">
            <a:solidFill>
              <a:srgbClr val="1E7A4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571232" y="4709160"/>
            <a:ext cx="40233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가장 흔한 방식: 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간접법은 실무에서 널리 쓰이며, 다음 슬라이드에서 상세히 살펴봅니다.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9786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1143000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Indirect Method — The Common Form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29768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4  ·  Statement of Cash Flows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424160" y="6528816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5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9768" y="1517904"/>
          <a:ext cx="6583680" cy="914400"/>
        </p:xfrm>
        <a:graphic>
          <a:graphicData uri="http://schemas.openxmlformats.org/drawingml/2006/table">
            <a:tbl>
              <a:tblPr/>
              <a:tblGrid>
                <a:gridCol w="5120640"/>
                <a:gridCol w="1463040"/>
              </a:tblGrid>
              <a:tr h="274320">
                <a:tc gridSpan="2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Cash Flows from Operating Activities  ·  $ in millions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899"/>
                    </a:solidFill>
                  </a:tcPr>
                </a:tc>
                <a:tc hMerge="1"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Income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 gridSpan="2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i="1" dirty="0">
                          <a:solidFill>
                            <a:srgbClr val="1F48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Adjustments for non-cash effects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 hMerge="1"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 Depreciation expense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 Gain on sale of land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(8)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 Loss on sale of equipment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 gridSpan="2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i="1" dirty="0">
                          <a:solidFill>
                            <a:srgbClr val="1F48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Changes in operating assets / liabilities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 hMerge="1"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 Increase in A/R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 Decrease in inventory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 Increase in A/P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 Increase in salaries payable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 Discount on bonds payable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 Decrease in prepaid insurance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 Decrease in income tax payable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cash flows from operating activities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223760" y="1517904"/>
            <a:ext cx="4535424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223760" y="1517904"/>
            <a:ext cx="82296" cy="2468880"/>
          </a:xfrm>
          <a:prstGeom prst="rect">
            <a:avLst/>
          </a:prstGeom>
          <a:solidFill>
            <a:srgbClr val="9A6600"/>
          </a:solidFill>
          <a:ln/>
        </p:spPr>
      </p:sp>
      <p:sp>
        <p:nvSpPr>
          <p:cNvPr id="9" name="Shape 6"/>
          <p:cNvSpPr/>
          <p:nvPr/>
        </p:nvSpPr>
        <p:spPr>
          <a:xfrm>
            <a:off x="7223760" y="1517904"/>
            <a:ext cx="4535424" cy="420624"/>
          </a:xfrm>
          <a:prstGeom prst="rect">
            <a:avLst/>
          </a:prstGeom>
          <a:solidFill>
            <a:srgbClr val="9A6600"/>
          </a:solidFill>
          <a:ln/>
        </p:spPr>
      </p:sp>
      <p:sp>
        <p:nvSpPr>
          <p:cNvPr id="10" name="Text 7"/>
          <p:cNvSpPr/>
          <p:nvPr/>
        </p:nvSpPr>
        <p:spPr>
          <a:xfrm>
            <a:off x="7424928" y="1517904"/>
            <a:ext cx="42245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종류의 조정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443216" y="2121408"/>
            <a:ext cx="4114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비현금 손익 항목</a:t>
            </a:r>
            <a:endParaRPr lang="en-US" sz="120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Depreciation · Gain / Loss 등</a:t>
            </a:r>
            <a:endParaRPr lang="en-US" sz="120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endParaRPr lang="en-US" sz="120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운전자본 변동</a:t>
            </a:r>
            <a:endParaRPr lang="en-US" sz="120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A/R · Inventory · A/P 등의 증감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223760" y="4114800"/>
            <a:ext cx="4535424" cy="914400"/>
          </a:xfrm>
          <a:prstGeom prst="rect">
            <a:avLst/>
          </a:prstGeom>
          <a:solidFill>
            <a:srgbClr val="E9F5EE"/>
          </a:solidFill>
          <a:ln w="12700">
            <a:solidFill>
              <a:srgbClr val="1E7A4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388352" y="411480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$22M  ·  </a:t>
            </a:r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Method 결과와 정확히 일치합니다.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9786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1143000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Complete Picture — United Brands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29768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4  ·  Statement of Cash Flows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424160" y="6528816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9768" y="1444752"/>
            <a:ext cx="64008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7" name="Shape 5"/>
          <p:cNvSpPr/>
          <p:nvPr/>
        </p:nvSpPr>
        <p:spPr>
          <a:xfrm>
            <a:off x="493776" y="1444752"/>
            <a:ext cx="11265408" cy="420624"/>
          </a:xfrm>
          <a:prstGeom prst="rect">
            <a:avLst/>
          </a:prstGeom>
          <a:solidFill>
            <a:srgbClr val="EAF0FB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" y="1444752"/>
            <a:ext cx="10917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 활동의 순현금흐름을 합산하면 현금의 순증가와 기말 잔액이 나옵니다.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29768" y="11338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9768" y="2286000"/>
            <a:ext cx="3538728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" y="2286000"/>
            <a:ext cx="3538728" cy="82296"/>
          </a:xfrm>
          <a:prstGeom prst="rect">
            <a:avLst/>
          </a:prstGeom>
          <a:solidFill>
            <a:srgbClr val="1E7A4C"/>
          </a:solidFill>
          <a:ln/>
        </p:spPr>
      </p:sp>
      <p:sp>
        <p:nvSpPr>
          <p:cNvPr id="12" name="Text 10"/>
          <p:cNvSpPr/>
          <p:nvPr/>
        </p:nvSpPr>
        <p:spPr>
          <a:xfrm>
            <a:off x="521208" y="2560320"/>
            <a:ext cx="33558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+$22M</a:t>
            </a:r>
            <a:endParaRPr lang="en-US" sz="4600" dirty="0"/>
          </a:p>
        </p:txBody>
      </p:sp>
      <p:sp>
        <p:nvSpPr>
          <p:cNvPr id="13" name="Text 11"/>
          <p:cNvSpPr/>
          <p:nvPr/>
        </p:nvSpPr>
        <p:spPr>
          <a:xfrm>
            <a:off x="521208" y="3511296"/>
            <a:ext cx="3355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66928" y="3840480"/>
            <a:ext cx="32644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영업활동 (강함)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325112" y="2286000"/>
            <a:ext cx="3538728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25112" y="2286000"/>
            <a:ext cx="3538728" cy="82296"/>
          </a:xfrm>
          <a:prstGeom prst="rect">
            <a:avLst/>
          </a:prstGeom>
          <a:solidFill>
            <a:srgbClr val="9A6600"/>
          </a:solidFill>
          <a:ln/>
        </p:spPr>
      </p:sp>
      <p:sp>
        <p:nvSpPr>
          <p:cNvPr id="17" name="Text 15"/>
          <p:cNvSpPr/>
          <p:nvPr/>
        </p:nvSpPr>
        <p:spPr>
          <a:xfrm>
            <a:off x="4416552" y="2560320"/>
            <a:ext cx="33558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9A6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−$19M</a:t>
            </a:r>
            <a:endParaRPr lang="en-US" sz="4600" dirty="0"/>
          </a:p>
        </p:txBody>
      </p:sp>
      <p:sp>
        <p:nvSpPr>
          <p:cNvPr id="18" name="Text 16"/>
          <p:cNvSpPr/>
          <p:nvPr/>
        </p:nvSpPr>
        <p:spPr>
          <a:xfrm>
            <a:off x="4416552" y="3511296"/>
            <a:ext cx="3355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Investing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462272" y="3840480"/>
            <a:ext cx="32644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투자활동 (성장 투자)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220456" y="2286000"/>
            <a:ext cx="3538728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0456" y="2286000"/>
            <a:ext cx="3538728" cy="82296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22" name="Text 20"/>
          <p:cNvSpPr/>
          <p:nvPr/>
        </p:nvSpPr>
        <p:spPr>
          <a:xfrm>
            <a:off x="8311896" y="2560320"/>
            <a:ext cx="335584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F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+$6M</a:t>
            </a:r>
            <a:endParaRPr lang="en-US" sz="4600" dirty="0"/>
          </a:p>
        </p:txBody>
      </p:sp>
      <p:sp>
        <p:nvSpPr>
          <p:cNvPr id="23" name="Text 21"/>
          <p:cNvSpPr/>
          <p:nvPr/>
        </p:nvSpPr>
        <p:spPr>
          <a:xfrm>
            <a:off x="8311896" y="3511296"/>
            <a:ext cx="3355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Financing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357616" y="3840480"/>
            <a:ext cx="32644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재무활동 (자본 조달)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29768" y="4626864"/>
            <a:ext cx="11329416" cy="548640"/>
          </a:xfrm>
          <a:prstGeom prst="rect">
            <a:avLst/>
          </a:prstGeom>
          <a:solidFill>
            <a:srgbClr val="14306B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4626864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increase in cash: +$9M      ·      Beginning $20M   →   Ending $29M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429768" y="5358384"/>
            <a:ext cx="11329416" cy="548640"/>
          </a:xfrm>
          <a:prstGeom prst="rect">
            <a:avLst/>
          </a:prstGeom>
          <a:solidFill>
            <a:srgbClr val="E9F5EE"/>
          </a:solidFill>
          <a:ln w="12700">
            <a:solidFill>
              <a:srgbClr val="1E7A4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7512" y="5358384"/>
            <a:ext cx="10853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확인: 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$22 − $19 + $6 = $9 순증가;  $20 + $9 = $29 기말 현금.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9786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1143000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Example — United Brands Statement of Cash Flows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29768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4  ·  Statement of Cash Flows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424160" y="6528816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29768" y="1371600"/>
            <a:ext cx="11329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United Brands Corporation  ·  Statement of Cash Flows  ·  For Year Ended Dec 31, 2021</a:t>
            </a:r>
            <a:endParaRPr lang="en-US" sz="12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9768" y="1828800"/>
          <a:ext cx="548640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1463040"/>
              </a:tblGrid>
              <a:tr h="384048">
                <a:tc gridSpan="2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Operating Activities  ·  $ in millions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899"/>
                    </a:solidFill>
                  </a:tcPr>
                </a:tc>
                <a:tc hMerge="1"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From customers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From investment revenue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suppliers of goods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(50)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employees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(11)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 interest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(3)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 insurance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(4)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 income taxes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(11)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cash flows — operating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72784" y="1828800"/>
          <a:ext cx="548640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1463040"/>
              </a:tblGrid>
              <a:tr h="292608">
                <a:tc gridSpan="2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Investing &amp; Financing Activities  ·  $ in millions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899"/>
                    </a:solidFill>
                  </a:tcPr>
                </a:tc>
                <a:tc hMerge="1">
                  <a:tcPr/>
                </a:tc>
              </a:tr>
              <a:tr h="292608">
                <a:tc gridSpan="2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i="1" dirty="0">
                          <a:solidFill>
                            <a:srgbClr val="1F48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Investing Activities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 hMerge="1"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Purchase of land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(30)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Purchase of short-term investment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(12)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 of land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 of equipment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cash flows — investing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(19)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</a:tr>
              <a:tr h="292608">
                <a:tc gridSpan="2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i="1" dirty="0">
                          <a:solidFill>
                            <a:srgbClr val="1F48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Financing Activities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 hMerge="1"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Sale of common shares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Retirement of bonds payable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(15)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 of cash dividends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(5)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cash flows — financing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increase in cash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Cash balance, January 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Cash balance, December 31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12700" marB="12700" anchor="ctr">
                    <a:lnL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9786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1143000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Analyzing United Brands' Performance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29768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4  ·  Statement of Cash Flows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424160" y="6528816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9768" y="1444752"/>
            <a:ext cx="64008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7" name="Shape 5"/>
          <p:cNvSpPr/>
          <p:nvPr/>
        </p:nvSpPr>
        <p:spPr>
          <a:xfrm>
            <a:off x="493776" y="1444752"/>
            <a:ext cx="11265408" cy="420624"/>
          </a:xfrm>
          <a:prstGeom prst="rect">
            <a:avLst/>
          </a:prstGeom>
          <a:solidFill>
            <a:srgbClr val="EAF0FB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" y="1444752"/>
            <a:ext cx="10917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 활동의 조합이 회사의 재무 건강 상태를 말해줍니다.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29768" y="11338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9768" y="2286000"/>
            <a:ext cx="3538728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" y="2286000"/>
            <a:ext cx="82296" cy="2743200"/>
          </a:xfrm>
          <a:prstGeom prst="rect">
            <a:avLst/>
          </a:prstGeom>
          <a:solidFill>
            <a:srgbClr val="1E7A4C"/>
          </a:solidFill>
          <a:ln/>
        </p:spPr>
      </p:sp>
      <p:sp>
        <p:nvSpPr>
          <p:cNvPr id="12" name="Shape 10"/>
          <p:cNvSpPr/>
          <p:nvPr/>
        </p:nvSpPr>
        <p:spPr>
          <a:xfrm>
            <a:off x="429768" y="2286000"/>
            <a:ext cx="3538728" cy="420624"/>
          </a:xfrm>
          <a:prstGeom prst="rect">
            <a:avLst/>
          </a:prstGeom>
          <a:solidFill>
            <a:srgbClr val="1E7A4C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" y="2286000"/>
            <a:ext cx="3227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  +$22M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9224" y="2889504"/>
            <a:ext cx="311810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긍정적이고 강함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Flow ($22M) &gt; NI ($12M)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이익의 질(quality)이 높음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325112" y="2286000"/>
            <a:ext cx="3538728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25112" y="2286000"/>
            <a:ext cx="82296" cy="2743200"/>
          </a:xfrm>
          <a:prstGeom prst="rect">
            <a:avLst/>
          </a:prstGeom>
          <a:solidFill>
            <a:srgbClr val="9A6600"/>
          </a:solidFill>
          <a:ln/>
        </p:spPr>
      </p:sp>
      <p:sp>
        <p:nvSpPr>
          <p:cNvPr id="17" name="Shape 15"/>
          <p:cNvSpPr/>
          <p:nvPr/>
        </p:nvSpPr>
        <p:spPr>
          <a:xfrm>
            <a:off x="4325112" y="2286000"/>
            <a:ext cx="3538728" cy="420624"/>
          </a:xfrm>
          <a:prstGeom prst="rect">
            <a:avLst/>
          </a:prstGeom>
          <a:solidFill>
            <a:srgbClr val="9A6600"/>
          </a:solidFill>
          <a:ln/>
        </p:spPr>
      </p:sp>
      <p:sp>
        <p:nvSpPr>
          <p:cNvPr id="18" name="Text 16"/>
          <p:cNvSpPr/>
          <p:nvPr/>
        </p:nvSpPr>
        <p:spPr>
          <a:xfrm>
            <a:off x="4526280" y="2286000"/>
            <a:ext cx="3227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Investing   −$19M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544568" y="2889504"/>
            <a:ext cx="311810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부정적 (유출)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성장 국면 — 토지·투자자산 매입 중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자산을 처분하지 않음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220456" y="2286000"/>
            <a:ext cx="3538728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0456" y="2286000"/>
            <a:ext cx="82296" cy="2743200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22" name="Shape 20"/>
          <p:cNvSpPr/>
          <p:nvPr/>
        </p:nvSpPr>
        <p:spPr>
          <a:xfrm>
            <a:off x="8220456" y="2286000"/>
            <a:ext cx="3538728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23" name="Text 21"/>
          <p:cNvSpPr/>
          <p:nvPr/>
        </p:nvSpPr>
        <p:spPr>
          <a:xfrm>
            <a:off x="8421624" y="2286000"/>
            <a:ext cx="3227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Financing   +$6M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439912" y="2889504"/>
            <a:ext cx="3118104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긍정적 (유입)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주식($26M)으로 자본 조달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부채 상환($15M)·배당 지급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29768" y="5285232"/>
            <a:ext cx="11329416" cy="548640"/>
          </a:xfrm>
          <a:prstGeom prst="rect">
            <a:avLst/>
          </a:prstGeom>
          <a:solidFill>
            <a:srgbClr val="14306B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5285232"/>
            <a:ext cx="108173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Verdict: 강력한 영업활동과 신규 equity 조달로 자금을 대는, 건강하고 성장하는 회사입니다.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19786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54864"/>
            <a:ext cx="11430000" cy="10881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Key Takeaways — Statement of Cash Flows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29768" y="6528816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 4  ·  Statement of Cash Flows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10424160" y="6528816"/>
            <a:ext cx="13350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8494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29768" y="1444752"/>
            <a:ext cx="64008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7" name="Shape 5"/>
          <p:cNvSpPr/>
          <p:nvPr/>
        </p:nvSpPr>
        <p:spPr>
          <a:xfrm>
            <a:off x="493776" y="1444752"/>
            <a:ext cx="11265408" cy="420624"/>
          </a:xfrm>
          <a:prstGeom prst="rect">
            <a:avLst/>
          </a:prstGeom>
          <a:solidFill>
            <a:srgbClr val="EAF0FB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" y="1444752"/>
            <a:ext cx="1091793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F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 가지 현금 엔진을 하나의 이야기로 읽으세요.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29768" y="113385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20" kern="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29768" y="2487168"/>
            <a:ext cx="353872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" y="2487168"/>
            <a:ext cx="82296" cy="2286000"/>
          </a:xfrm>
          <a:prstGeom prst="rect">
            <a:avLst/>
          </a:prstGeom>
          <a:solidFill>
            <a:srgbClr val="1E7A4C"/>
          </a:solidFill>
          <a:ln/>
        </p:spPr>
      </p:sp>
      <p:sp>
        <p:nvSpPr>
          <p:cNvPr id="12" name="Shape 10"/>
          <p:cNvSpPr/>
          <p:nvPr/>
        </p:nvSpPr>
        <p:spPr>
          <a:xfrm>
            <a:off x="429768" y="2487168"/>
            <a:ext cx="3538728" cy="420624"/>
          </a:xfrm>
          <a:prstGeom prst="rect">
            <a:avLst/>
          </a:prstGeom>
          <a:solidFill>
            <a:srgbClr val="1E7A4C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" y="2487168"/>
            <a:ext cx="3227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 ·  엔진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9224" y="3090672"/>
            <a:ext cx="31181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성과 (Performance)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영업이 창출하는 현금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건강의 기본 지표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325112" y="2487168"/>
            <a:ext cx="353872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25112" y="2487168"/>
            <a:ext cx="82296" cy="2286000"/>
          </a:xfrm>
          <a:prstGeom prst="rect">
            <a:avLst/>
          </a:prstGeom>
          <a:solidFill>
            <a:srgbClr val="9A6600"/>
          </a:solidFill>
          <a:ln/>
        </p:spPr>
      </p:sp>
      <p:sp>
        <p:nvSpPr>
          <p:cNvPr id="17" name="Shape 15"/>
          <p:cNvSpPr/>
          <p:nvPr/>
        </p:nvSpPr>
        <p:spPr>
          <a:xfrm>
            <a:off x="4325112" y="2487168"/>
            <a:ext cx="3538728" cy="420624"/>
          </a:xfrm>
          <a:prstGeom prst="rect">
            <a:avLst/>
          </a:prstGeom>
          <a:solidFill>
            <a:srgbClr val="9A6600"/>
          </a:solidFill>
          <a:ln/>
        </p:spPr>
      </p:sp>
      <p:sp>
        <p:nvSpPr>
          <p:cNvPr id="18" name="Text 16"/>
          <p:cNvSpPr/>
          <p:nvPr/>
        </p:nvSpPr>
        <p:spPr>
          <a:xfrm>
            <a:off x="4526280" y="2487168"/>
            <a:ext cx="3227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Investing  ·  미래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544568" y="3090672"/>
            <a:ext cx="31181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성장 (Growth)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장기 자산에 대한 투자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미래 역량의 구축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220456" y="2487168"/>
            <a:ext cx="3538728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0456" y="2487168"/>
            <a:ext cx="82296" cy="2286000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22" name="Shape 20"/>
          <p:cNvSpPr/>
          <p:nvPr/>
        </p:nvSpPr>
        <p:spPr>
          <a:xfrm>
            <a:off x="8220456" y="2487168"/>
            <a:ext cx="3538728" cy="420624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23" name="Text 21"/>
          <p:cNvSpPr/>
          <p:nvPr/>
        </p:nvSpPr>
        <p:spPr>
          <a:xfrm>
            <a:off x="8421624" y="2487168"/>
            <a:ext cx="322783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Financing  ·  연료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439912" y="3090672"/>
            <a:ext cx="311810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지급능력 (Solvency)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자본의 조달·환원</a:t>
            </a:r>
            <a:endParaRPr lang="en-US" sz="1250" dirty="0"/>
          </a:p>
          <a:p>
            <a:pPr marL="342900" indent="-342900">
              <a:lnSpc>
                <a:spcPct val="105000"/>
              </a:lnSpc>
              <a:buSzPct val="100000"/>
              <a:buChar char="▪"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성장의 연료 공급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29768" y="4956048"/>
            <a:ext cx="11329416" cy="512064"/>
          </a:xfrm>
          <a:prstGeom prst="rect">
            <a:avLst/>
          </a:prstGeom>
          <a:solidFill>
            <a:srgbClr val="14306B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4956048"/>
            <a:ext cx="108173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Operating은 성과를, Investing은 미래를, Financing은 지급능력을 말합니다.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429768" y="5614416"/>
            <a:ext cx="11329416" cy="512064"/>
          </a:xfrm>
          <a:prstGeom prst="rect">
            <a:avLst/>
          </a:prstGeom>
          <a:solidFill>
            <a:srgbClr val="E9F5EE"/>
          </a:solidFill>
          <a:ln w="12700">
            <a:solidFill>
              <a:srgbClr val="1E7A4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7512" y="5614416"/>
            <a:ext cx="10853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1E7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기억할 것:  </a:t>
            </a:r>
            <a:pPr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직접법·간접법은 표현만 다를 뿐, 영업활동 현금흐름의 결과는 같습니다.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489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017520"/>
            <a:ext cx="12191695" cy="502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2304288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OF CHAPTER 4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3255264"/>
            <a:ext cx="10728655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Statement of Cash Flows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731520" y="4206240"/>
            <a:ext cx="107286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8D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Chapter 5 — Analyzing and Interpreting Financial Statements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6126480"/>
            <a:ext cx="10728655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Financial Accounting   |   KAIST College of Business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4 — Statement of Cash Flows</dc:title>
  <dc:subject>Introduction to Financial Accounting · KAIST College of Business</dc:subject>
  <dc:creator>KAIST College of Business</dc:creator>
  <cp:lastModifiedBy>KAIST College of Business</cp:lastModifiedBy>
  <cp:revision>1</cp:revision>
  <dcterms:created xsi:type="dcterms:W3CDTF">2026-07-24T14:07:26Z</dcterms:created>
  <dcterms:modified xsi:type="dcterms:W3CDTF">2026-07-24T14:07:26Z</dcterms:modified>
</cp:coreProperties>
</file>