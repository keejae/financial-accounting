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개의 파트: 수익 인식(Revenue Recognition) → 매출채권(Accounts Receivable) → 대체적 인식방법(Alternative Methods).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move from when revenue is recognised, to how much of the receivable we will collect, to alternative timing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uncertainty gap: two questions frame the chapter — when to recognize revenue and how much of the receivable will be collected.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= an inflow of assets (not necessarily cash) from delivering goods/services. Two conditions: transfer of control and entitlement to payment.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Cash before work → deferred revenue (liability). Work before cash → accrued revenue/receivable (asset). Revenue is recognized when earned, not when cash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Customers often have a right of return. Sellers reduce revenue by the estimated (not actual) returns to avoid overstating revenue and receivables.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Gross sales $2,000,000 less estimated 10% return liability $200,000 = net sales revenue $1,800,000. Actual returns were only $130,000 but the estimate governs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Cash collected before delivery. A $500 gift card is a liability; revenue ($100) is recognised only as the card is redeemed, leaving a $400 deferred-revenue balance.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sold with a right of return: revenue is recognised net of the estimated 10% returns ($9,000), with a $1,000 refund liability.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nonrefundable up-front setup fee ($600) is not revenue at receipt; it is deferred and recognised over the 12-month service period ($50/month).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 consignment agent, Company E does not control the goods, so it recognises only its $500 commission as revenue — not the $10,000 gross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bundle is split into performance obligations: the $700 software is recognised at sale; the $300 support is deferred and recognised over 12 months ($25/month).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NRV is the cash a firm actually expects to collect: gross receivables less the allowance for doubtful accounts and estimated returns ($92,000 here).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 write-off (non-GAAP) recognises bad debts only at default, violating matching. The allowance method (GAAP) estimates uncollectibles in the year of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Beginning: A/R 35,000 less allowance 200 = 34,800 NRV. Ending: A/R 20,000 less allowance 1,000 = 19,000 NRV. (Corrected the source's 24,800 typo to 34,800.)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Allowance method books $800 bad debt expense in 2025 (year of sale) and reports NRV $19,000. Direct write-off books nothing until the $600 default in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$3,000 total gross profit, different timing: point-of-sale recognises it all now; installment spreads it as cash is collected because full collection is uncertain.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timing spectrum: percentage-of-completion (before), time-of-sale/completed-contract (at), installment/cost-recovery/right-of-return expiration (after). Earlier = more relevant, later = more reliable.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to recognise, how much to collect, and which timing method applies — the three threads of the chapter.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kaist_type_two_kit/kaist_ti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24528"/>
            <a:ext cx="12191695" cy="2633472"/>
          </a:xfrm>
          <a:prstGeom prst="rect">
            <a:avLst/>
          </a:prstGeom>
          <a:solidFill>
            <a:srgbClr val="14306B">
              <a:alpha val="8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822960" y="4224528"/>
            <a:ext cx="201168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4443984"/>
            <a:ext cx="7315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4791456"/>
            <a:ext cx="10607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Revenue Recognition &amp; Receivable Valuation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822960" y="56327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 인식과 매출채권 평가  ·  언제·얼마를 인식할 것인가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Study Plan  ·  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" y="1389888"/>
            <a:ext cx="11329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개의 파트:  수익 인식  →  매출채권  →  대체적 인식방법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" y="1810512"/>
            <a:ext cx="3538728" cy="3675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9768" y="1810512"/>
            <a:ext cx="82296" cy="3675888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" y="1810512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" y="1810512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Revenue Recognition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9224" y="2414016"/>
            <a:ext cx="3118104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Cycle (영업순환주기)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Criteria (인식 기준)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Returns (매출환입)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Warranties (제품보증)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Cases (복잡한 사례)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25112" y="1810512"/>
            <a:ext cx="3538728" cy="3675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25112" y="1810512"/>
            <a:ext cx="82296" cy="3675888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4" name="Shape 12"/>
          <p:cNvSpPr/>
          <p:nvPr/>
        </p:nvSpPr>
        <p:spPr>
          <a:xfrm>
            <a:off x="4325112" y="1810512"/>
            <a:ext cx="3538728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810512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Accounts Receivable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44568" y="2414016"/>
            <a:ext cx="3118104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Realizable Value (순실현가능가치)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Allowance Method (충당금설정법)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Write-off (직접상각법)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Debt Estimation (대손 추정)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0456" y="1810512"/>
            <a:ext cx="3538728" cy="3675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0456" y="1810512"/>
            <a:ext cx="82296" cy="3675888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0456" y="1810512"/>
            <a:ext cx="3538728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0" name="Text 18"/>
          <p:cNvSpPr/>
          <p:nvPr/>
        </p:nvSpPr>
        <p:spPr>
          <a:xfrm>
            <a:off x="8421624" y="1810512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Alternative Methods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39912" y="2414016"/>
            <a:ext cx="3118104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of Completion (진행기준)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Contract (완성기준)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Installment (할부기준)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Recovery (원가회수기준)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29768" y="5705856"/>
            <a:ext cx="11329416" cy="475488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5705856"/>
            <a:ext cx="10817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흐름:  언제(When) 인식하고 · 얼마(How much)를 회수하며 · 특수한 시점은 어떻게 다루는가.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Revenue Recognition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3986784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 인식  ·  영업순환주기와 인식 기준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Operating Cycle &amp; Revenue Recognition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가지 핵심 질문:  언제 인식할 것인가, 그리고 얼마를 회수할 것인가?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04288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04288"/>
            <a:ext cx="82296" cy="20116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04288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0428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Recognize?  ·  언제 인식?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07792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 시점에? (일반적)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기간에 걸쳐? (% of completion)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 회수에 따라? (installment)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304288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04288"/>
            <a:ext cx="82296" cy="201168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04288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0428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to Collect?  ·  얼마를 회수?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07792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debts — 지급하지 않음.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returns — 반품.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Realizable Value(NRV)로 보고.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498848"/>
            <a:ext cx="11329416" cy="475488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498848"/>
            <a:ext cx="10817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영업순환주기:  매입 → 보유 → SALE(재화·용역 인도) → RECEIVABLE(현금 회수 권리) → CASH(회수 완료).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5138928"/>
            <a:ext cx="11329416" cy="804672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" y="5138928"/>
            <a:ext cx="108539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Concepts: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Principle · Conservatism · Net Realizable Value · Allowance Method · Bad Debt Expense.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Revenue?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자산의 유입(반드시 현금은 아님) — 고객에게 재화·용역을 제공한 직접적 결과.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1031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of Goods / Services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판매자가 판매 계약상의 의무를 이행해야 함.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통제(control)의 이전.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10312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Entitled to Payment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판매자가 대금을 수취했거나,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수취할 것으로 합리적으로 기대함.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626864"/>
            <a:ext cx="11329416" cy="78638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4626864"/>
            <a:ext cx="10853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통제의 이전이 현금 수취를 요구하지는 않음.  “Recognize”는 income statement에 보고한다는 의미.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5541264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5541264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인식에는 두 가지 조건이 모두 충족되어야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Performance vs. Payment — the Disconnect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accrual accounting에서 cash flow와 revenue recognition은 종종 다른 시점에 발생합니다.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04288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04288"/>
            <a:ext cx="82296" cy="32004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04288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0428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 — 현금 먼저, 작업 나중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07792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Revenue (Liability)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고객에게 재화·용역을 제공할 의무가 있음.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Revenue는 획득된 시점(t=2)에만 인식.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선불로 지급된 잡지 구독료.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304288"/>
            <a:ext cx="5486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04288"/>
            <a:ext cx="82296" cy="32004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04288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0428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 — 작업 먼저, 현금 나중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07792"/>
            <a:ext cx="50657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Accrued Revenue / Receivable (Asset)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현금을 지급할 의무가 있음.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Revenue는 획득된 시점(t=2)에 인식.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Accrued interest revenue.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" y="5742432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742432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반복되는 주제:  성과(performance)와 지급(payment)의 시점은 자주 어긋납니다.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계속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Sales Returns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3986784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매출환입  ·  불확실성의 처리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Sales Returns — Handling the Uncertainty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고객은 구매한 상품을 반품할 권리를 부여받는 경우가 많습니다.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1031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Issue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판매자는 revenue와 receivables의 과대계상을 막아야 함.</a:t>
            </a:r>
            <a:endParaRPr lang="en-US" sz="13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반품액이 아니라 추정 반품액만큼 revenue를 감소.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72784" y="237744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77440"/>
            <a:ext cx="82296" cy="210312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Hawthorne (2026)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80944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첫해 상품을 $2M에 현금 판매(원가 $1.2M, 60%).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추정 반품률 10%($200K), 실제 반품 $130K.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income statement의 revenue는?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4626864"/>
            <a:ext cx="11329416" cy="566928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4626864"/>
            <a:ext cx="10853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보수주의(conservatism) — 실제가 아닌 추정 반품액을 기준으로 net revenue를 보고합니다.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5340096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5340096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과대계상 방지가 핵심 — 다음 슬라이드에서 숫자로 확인합니다.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Sales Returns — Hawthorne Illustration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사례: Hawthorne Manufacturing (2026 · 1차 연도) — 추정 $200K vs. 실제 $130K.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95728"/>
            <a:ext cx="39319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95728"/>
            <a:ext cx="3931920" cy="82296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70048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$1.8M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521208" y="36210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Sales Revenue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950208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$2.0M  −  $200K est. returns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395728"/>
            <a:ext cx="709574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2395728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95728"/>
            <a:ext cx="7095744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8" name="Text 16"/>
          <p:cNvSpPr/>
          <p:nvPr/>
        </p:nvSpPr>
        <p:spPr>
          <a:xfrm>
            <a:off x="4864608" y="2395728"/>
            <a:ext cx="6784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82896" y="2999232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Sales:  $2,000,000</a:t>
            </a:r>
            <a:endParaRPr lang="en-US" sz="14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Less: Est. Return Liability (10%):  ($200,000)</a:t>
            </a:r>
            <a:endParaRPr lang="en-US" sz="14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Net Sales Revenue:  $1,800,000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29768" y="5029200"/>
            <a:ext cx="11329416" cy="82296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5029200"/>
            <a:ext cx="10853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반품은 $130,000에 불과했지만, 과대계상을 막기 위해 추정치가 보고 기준이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계속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Revenue Recognition Cases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3986784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사례  ·  Complex Contracts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Case 1 — Gift Cards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A는 2025년 5월에 $500 gift card를 판매하고, 6월에 그중 $100를 사용함.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8681" y="2212848"/>
            <a:ext cx="4871375" cy="3346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1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33" y="2286000"/>
            <a:ext cx="4725071" cy="320040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15584" y="2286000"/>
          <a:ext cx="5943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 Revenue (Liability)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815584" y="3822192"/>
            <a:ext cx="5943600" cy="12344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98464" y="3822192"/>
            <a:ext cx="5577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Revenue는 gift card 판매 시점이 아니라 카드가 사용되는 시점에 인식합니다.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29768" y="5797296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6" name="Text 12"/>
          <p:cNvSpPr/>
          <p:nvPr/>
        </p:nvSpPr>
        <p:spPr>
          <a:xfrm>
            <a:off x="685800" y="5797296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현금이 먼저 들어오지만 revenue는 미래의 사용 시점으로 이연됩니다 (Deferred Revenue).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Case 2 — Right of Return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B는 2025년 7월에 $10,000의 제품을 판매했으며, 예상 반품률은 10%임.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237744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28016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2025~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Liability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272784" y="237744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72784" y="2377440"/>
            <a:ext cx="82296" cy="19202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3" name="Shape 10"/>
          <p:cNvSpPr/>
          <p:nvPr/>
        </p:nvSpPr>
        <p:spPr>
          <a:xfrm>
            <a:off x="6272784" y="237744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 방법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92240" y="2980944"/>
            <a:ext cx="50657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반품액을 추정하여 gross sales에서 차감.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$10,000 − 10% = $9,000 net revenue.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추정 반품 $1,000은 refund liability로 인식.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29768" y="4663440"/>
            <a:ext cx="11329416" cy="82296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" y="4663440"/>
            <a:ext cx="10853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 시점에 예상 반품을 추정해 revenue를 순액(net)으로 보고합니다.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Case 3 — Nonrefundable Up-front Fees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C는 2025년 1월에 12개월 서비스 계약에 대해 $600의 setup fee를 부과함.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2377440"/>
          <a:ext cx="5852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매월 (Feb25–Jan26)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 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매월 $50 감소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638544" y="2377440"/>
            <a:ext cx="51206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38544" y="2377440"/>
            <a:ext cx="82296" cy="192024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638544" y="2377440"/>
            <a:ext cx="512064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4" name="Text 11"/>
          <p:cNvSpPr/>
          <p:nvPr/>
        </p:nvSpPr>
        <p:spPr>
          <a:xfrm>
            <a:off x="6839712" y="2377440"/>
            <a:ext cx="4809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 방법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858000" y="2980944"/>
            <a:ext cx="47000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fee를 즉시 인식하지 않음.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$600 ÷ 12개월 = 매월 $50 인식.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미래 서비스 인도에 따라 배분.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29768" y="4663440"/>
            <a:ext cx="11329416" cy="82296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" y="4663440"/>
            <a:ext cx="10853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Fee는 지급 시점이 아니라 미래의 재화·용역이 인도되는 시점에 인식합니다.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Case 5 — Consignment Sales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E는 2025년 4월에 타사 제품을 판매가 $10,000(재고원가 $7,000)에 판매하고 $500의 commission을 획득함.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5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2468880"/>
          <a:ext cx="49377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(Commission)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/ Sale of goods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인식 안 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272784" y="2468880"/>
            <a:ext cx="5486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72784" y="2468880"/>
            <a:ext cx="82296" cy="20116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Shape 10"/>
          <p:cNvSpPr/>
          <p:nvPr/>
        </p:nvSpPr>
        <p:spPr>
          <a:xfrm>
            <a:off x="6272784" y="246888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vs. Principal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92240" y="3072384"/>
            <a:ext cx="50657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E는 대리인(agent)으로 활동.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재고를 통제하지 않으므로 매출 총액은 인식 안 함.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$500만 revenue로 인식.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29768" y="4846320"/>
            <a:ext cx="11329416" cy="78638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" y="4846320"/>
            <a:ext cx="10853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대리인으로서 활동하는 경우 판매 총액이 아니라 commission만 인식합니다.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Case 6 — Multiple-Element Contracts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F는 $1,000 번들을 판매: software $700(즉시 인도) + support $300(1년간 제공).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6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2377440"/>
          <a:ext cx="5852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Sale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매월 (Support)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 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매월 $25 감소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638544" y="2377440"/>
            <a:ext cx="51206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38544" y="2377440"/>
            <a:ext cx="82296" cy="19202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3" name="Shape 10"/>
          <p:cNvSpPr/>
          <p:nvPr/>
        </p:nvSpPr>
        <p:spPr>
          <a:xfrm>
            <a:off x="6638544" y="2377440"/>
            <a:ext cx="512064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4" name="Text 11"/>
          <p:cNvSpPr/>
          <p:nvPr/>
        </p:nvSpPr>
        <p:spPr>
          <a:xfrm>
            <a:off x="6839712" y="2377440"/>
            <a:ext cx="4809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 방법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858000" y="2980944"/>
            <a:ext cx="47000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요소(element)를 개별 배분.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$700 — 즉시 인식.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$300 — 12개월에 걸쳐 $25씩.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29768" y="4663440"/>
            <a:ext cx="11329416" cy="82296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" y="4663440"/>
            <a:ext cx="10853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번들 가격을 각 이행의무에 배분 — 즉시 인도분은 즉시, 기간 서비스는 기간에 걸쳐 인식합니다.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Accounts Receivable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3986784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매출채권  ·  순실현가능가치와 대손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Accounts Receivable Valuation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Realizable Value(NRV): receivables에서 실제로 회수할 것으로 기대하는 현금 금액.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2395728"/>
          <a:ext cx="585216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Realizable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Receivables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Allowance for Doubtful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($5,000)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Estimated Returns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($3,000)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Net Realizable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$92,000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638544" y="2395728"/>
            <a:ext cx="51206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38544" y="2395728"/>
            <a:ext cx="82296" cy="26517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Shape 10"/>
          <p:cNvSpPr/>
          <p:nvPr/>
        </p:nvSpPr>
        <p:spPr>
          <a:xfrm>
            <a:off x="6638544" y="2395728"/>
            <a:ext cx="512064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4" name="Text 11"/>
          <p:cNvSpPr/>
          <p:nvPr/>
        </p:nvSpPr>
        <p:spPr>
          <a:xfrm>
            <a:off x="6839712" y="2395728"/>
            <a:ext cx="4809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Insight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858000" y="2999232"/>
            <a:ext cx="470001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신용 공여는 성장을 견인하지만 위험을 수반.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receivables↑ 인데 NRV↓ 라면: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신용의 질이 낮거나,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공격적인 판매 전략을 사용했음을 시사.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29768" y="5230368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523036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NRV = 실제 회수 기대액.  Gross A/R에서 대손·반품 추정치를 차감합니다.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Approaches to Bad Debts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Write-off Method  vs.  The Allowance Method.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04288"/>
            <a:ext cx="54864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04288"/>
            <a:ext cx="82296" cy="301752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04288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0428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Write-off  (Non-GAAP / Tax only)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07792"/>
            <a:ext cx="506577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채무불이행할 때만 bad debt를 상각.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대응이 어긋남 (revenue 2025, expense 2026).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자산을 과대계상함.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이익 조작의 여지를 허용.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304288"/>
            <a:ext cx="54864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04288"/>
            <a:ext cx="82296" cy="301752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04288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0428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Allowance Method  (GAAP 요구)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07792"/>
            <a:ext cx="506577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판매와 동일한 연도에 uncollectibles를 추정.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Debt Expense를 sales revenue에 대응.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A/R을 기대 실현가능액(NRV)으로 보고.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principle을 충족.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9768" y="5541264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541264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GAAP는 Allowance Method를 요구 — 비용을 관련 매출과 같은 기간에 대응시키기 때문입니다.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— Mechanics of the Allowance Method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 A/R $35,000, 기말 A/R $20,000, 추정 대손 $1,000, 이월 allowance $200, 2026 파산 확정 $600.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4864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9260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0657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Allowance method와 direct write-off method 각각에 대해,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1/1/26 과 12/31/26 시점의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debt expense 와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accounts receivable 잔액을 제시하시오.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2784" y="2487168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Sheet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1/1/26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12/31/26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A/R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Allowance for 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(1,000)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Realizable A/R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29768" y="5541264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5541264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Realizable A/R = Gross A/R − Allowance.  기말 NRV $19,000 = $20,000 − $1,000.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— Allowance vs. Direct Write-off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T-account 분석: allowance를 $200 → $1,000으로 조정하려면 2025년 bad debt expense $800이 필요.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3200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3200400" cy="82296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6517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521208" y="360273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Bad Debt Expense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" y="393192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Allowance  $200 → $1,000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2377440"/>
          <a:ext cx="7827264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103120"/>
                <a:gridCol w="1371600"/>
                <a:gridCol w="1463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Allowance (GAAP)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Debt Expense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Allowance (GAAP)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A/R (NRV)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write-off (Non-GAAP)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Debt Expense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write-off (Non-GAAP)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A/R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$19,400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29768" y="4864608"/>
            <a:ext cx="11329416" cy="786384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" y="4864608"/>
            <a:ext cx="108539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대비: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Allowance는 매출 시점(2025)에 비용을 인식하고, direct write-off는 실제 파산 시점(2026)에 인식합니다.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29768" y="5779008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9" name="Text 16"/>
          <p:cNvSpPr/>
          <p:nvPr/>
        </p:nvSpPr>
        <p:spPr>
          <a:xfrm>
            <a:off x="685800" y="577900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사건, 다른 시점 — GAAP(allowance)가 matching principle에 부합합니다.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Alternative Timing of Revenue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3986784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대체적 인식방법  ·  Installment &amp; Beyond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— Installment vs. Point-of-Sale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딜러가 자동차를 $15,000(원가 $12,000)에 판매 — 계약금 $1,500 + 매월 $1,500씩 9회 납부.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151790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언제 Installment method를?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신용 이력이 나빠 $15,000 전액 회수가 불확실할 때.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수취한 현금 범위 내에서만 revenue·cost 인식.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2784" y="2286000"/>
          <a:ext cx="54864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Point-of-Sale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(12,000)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29768" y="4041648"/>
            <a:ext cx="11329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Installment method — 수취 현금에 따라 인식</a:t>
            </a:r>
            <a:endParaRPr lang="en-US" sz="120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4352544"/>
          <a:ext cx="11329416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554480"/>
                <a:gridCol w="1554480"/>
                <a:gridCol w="1600200"/>
                <a:gridCol w="1481328"/>
                <a:gridCol w="16002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3–8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(1,200)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(1,200)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(1,200)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(1,200)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(1,200)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(12,000)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Alternative Timing of Revenue Recognition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 인식 시점의 스펙트럼: 이른 인식(RELEVANCE) ↔ 늦은 인식(RELIABILITY).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04288"/>
            <a:ext cx="353872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04288"/>
            <a:ext cx="82296" cy="27432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04288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0428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인도 전 · Before Delivery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9224" y="2907792"/>
            <a:ext cx="3118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Percentage-of-completion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제품이 설계·생산되고,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건설 계약이 진행 중이며,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광물이 발견되는 단계.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25112" y="2304288"/>
            <a:ext cx="353872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304288"/>
            <a:ext cx="82296" cy="27432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25112" y="2304288"/>
            <a:ext cx="3538728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230428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인도 시점 · At Delivery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44568" y="2907792"/>
            <a:ext cx="3118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Time-of-sale (일반적)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Completed-contract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제품이 완성·판매 가능하고,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고객에게 인도되는 시점.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0456" y="2304288"/>
            <a:ext cx="353872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304288"/>
            <a:ext cx="82296" cy="27432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220456" y="2304288"/>
            <a:ext cx="3538728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3" name="Text 21"/>
          <p:cNvSpPr/>
          <p:nvPr/>
        </p:nvSpPr>
        <p:spPr>
          <a:xfrm>
            <a:off x="8421624" y="230428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인도 후 · After Delivery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439912" y="2907792"/>
            <a:ext cx="3118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Installment · Cost-recovery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Right-of-return expiration (FAS 48)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현금이 회수되거나,</a:t>
            </a:r>
            <a:endParaRPr lang="en-US" sz="12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반품권이 소멸하는 시점.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" y="5248656"/>
            <a:ext cx="11329416" cy="54864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248656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RELEVANCE(이른 인식)  ←──────→  RELIABILITY(늦은 인식):  시점이 이를수록 목적적합성↑, 늦을수록 신뢰성↑.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6  ·  Revenue &amp; Receivables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Principle: Revenue 인식 시점은 financial statements와 의사결정에 영향을 미칩니다.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04288"/>
            <a:ext cx="353872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04288"/>
            <a:ext cx="82296" cy="28346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04288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0428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Recognition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07792"/>
            <a:ext cx="311810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재화·용역 이전 + 의무 이행 + 대금 수취 기대 시 인식.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returns·warranties를 판매 시점에 회계처리.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계약은 신중한 금액 배분이 필요.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25112" y="2304288"/>
            <a:ext cx="353872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304288"/>
            <a:ext cx="82296" cy="283464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7" name="Shape 15"/>
          <p:cNvSpPr/>
          <p:nvPr/>
        </p:nvSpPr>
        <p:spPr>
          <a:xfrm>
            <a:off x="4325112" y="2304288"/>
            <a:ext cx="3538728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230428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Receivable Valuation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44568" y="2907792"/>
            <a:ext cx="311810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A/R을 net realizable value로 보고.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Allowance method 사용 (GAAP 요구사항).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경험에 근거하여 bad debts를 추정.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0456" y="2304288"/>
            <a:ext cx="353872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304288"/>
            <a:ext cx="82296" cy="283464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220456" y="2304288"/>
            <a:ext cx="3538728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3" name="Text 21"/>
          <p:cNvSpPr/>
          <p:nvPr/>
        </p:nvSpPr>
        <p:spPr>
          <a:xfrm>
            <a:off x="8421624" y="230428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Methods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39912" y="2907792"/>
            <a:ext cx="311810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Completion — 장기 계약.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Installment — 회수가 불확실할 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Recovery — 가장 보수적.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29768" y="5340096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340096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언제 인식하고, 얼마를 회수하며, 어떤 시점 규칙을 적용하는가 — 이 세 가지가 이 장의 핵심입니다.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017520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304288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CHAPTER 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55264"/>
            <a:ext cx="1072865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Revenue Recognition &amp; Receivable Valuation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Chapter 7 — Reporting and Analyzing Inventory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6126480"/>
            <a:ext cx="107286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Introduction to Financial Accounting · KAIST College of Business</dc:subject>
  <dc:creator/>
  <cp:lastModifiedBy/>
  <cp:revision>1</cp:revision>
  <dcterms:created xsi:type="dcterms:W3CDTF">2026-07-24T08:48:34Z</dcterms:created>
  <dcterms:modified xsi:type="dcterms:W3CDTF">2026-07-24T08:48:34Z</dcterms:modified>
</cp:coreProperties>
</file>