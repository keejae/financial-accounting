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3">
  <p:sldMasterIdLst>
    <p:sldMasterId id="2147483689" r:id="rId1"/>
  </p:sldMasterIdLst>
  <p:notesMasterIdLst>
    <p:notesMasterId r:id="rId33"/>
  </p:notesMasterIdLst>
  <p:sldIdLst>
    <p:sldId id="256" r:id="rId2"/>
    <p:sldId id="460" r:id="rId3"/>
    <p:sldId id="461" r:id="rId4"/>
    <p:sldId id="474" r:id="rId5"/>
    <p:sldId id="527" r:id="rId6"/>
    <p:sldId id="260" r:id="rId7"/>
    <p:sldId id="528" r:id="rId8"/>
    <p:sldId id="529" r:id="rId9"/>
    <p:sldId id="530" r:id="rId10"/>
    <p:sldId id="475" r:id="rId11"/>
    <p:sldId id="479" r:id="rId12"/>
    <p:sldId id="531" r:id="rId13"/>
    <p:sldId id="497" r:id="rId14"/>
    <p:sldId id="498" r:id="rId15"/>
    <p:sldId id="532" r:id="rId16"/>
    <p:sldId id="499" r:id="rId17"/>
    <p:sldId id="496" r:id="rId18"/>
    <p:sldId id="533" r:id="rId19"/>
    <p:sldId id="534" r:id="rId20"/>
    <p:sldId id="545" r:id="rId21"/>
    <p:sldId id="273" r:id="rId22"/>
    <p:sldId id="274" r:id="rId23"/>
    <p:sldId id="275" r:id="rId24"/>
    <p:sldId id="544" r:id="rId25"/>
    <p:sldId id="501" r:id="rId26"/>
    <p:sldId id="507" r:id="rId27"/>
    <p:sldId id="509" r:id="rId28"/>
    <p:sldId id="542" r:id="rId29"/>
    <p:sldId id="543" r:id="rId30"/>
    <p:sldId id="546" r:id="rId31"/>
    <p:sldId id="547"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EC8D0DD-D71B-46A6-B267-C400D1B4EA80}">
          <p14:sldIdLst>
            <p14:sldId id="256"/>
          </p14:sldIdLst>
        </p14:section>
        <p14:section name="2.5" id="{3F299E8A-D097-4AEE-BBB1-25AF1F23F6E3}">
          <p14:sldIdLst>
            <p14:sldId id="460"/>
            <p14:sldId id="461"/>
            <p14:sldId id="474"/>
            <p14:sldId id="527"/>
            <p14:sldId id="260"/>
            <p14:sldId id="528"/>
            <p14:sldId id="529"/>
            <p14:sldId id="530"/>
            <p14:sldId id="475"/>
            <p14:sldId id="479"/>
            <p14:sldId id="531"/>
            <p14:sldId id="497"/>
            <p14:sldId id="498"/>
            <p14:sldId id="532"/>
            <p14:sldId id="499"/>
            <p14:sldId id="496"/>
            <p14:sldId id="533"/>
            <p14:sldId id="534"/>
            <p14:sldId id="545"/>
            <p14:sldId id="273"/>
            <p14:sldId id="274"/>
            <p14:sldId id="275"/>
            <p14:sldId id="544"/>
            <p14:sldId id="501"/>
            <p14:sldId id="507"/>
            <p14:sldId id="509"/>
            <p14:sldId id="542"/>
            <p14:sldId id="543"/>
            <p14:sldId id="546"/>
            <p14:sldId id="547"/>
          </p14:sldIdLst>
        </p14:section>
      </p14:sectionLst>
    </p:ext>
    <p:ext uri="{EFAFB233-063F-42B5-8137-9DF3F51BA10A}">
      <p15:sldGuideLst xmlns:p15="http://schemas.microsoft.com/office/powerpoint/2012/main">
        <p15:guide id="1" orient="horz" pos="22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2F2"/>
    <a:srgbClr val="1F4899"/>
    <a:srgbClr val="E8F5E9"/>
    <a:srgbClr val="DCFCE7"/>
    <a:srgbClr val="EF4444"/>
    <a:srgbClr val="854D0E"/>
    <a:srgbClr val="E9D5FF"/>
    <a:srgbClr val="2563EB"/>
    <a:srgbClr val="1E40AF"/>
    <a:srgbClr val="DBEAF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73" autoAdjust="0"/>
    <p:restoredTop sz="79389" autoAdjust="0"/>
  </p:normalViewPr>
  <p:slideViewPr>
    <p:cSldViewPr snapToGrid="0" snapToObjects="1" showGuides="1">
      <p:cViewPr varScale="1">
        <p:scale>
          <a:sx n="55" d="100"/>
          <a:sy n="55" d="100"/>
        </p:scale>
        <p:origin x="848" y="40"/>
      </p:cViewPr>
      <p:guideLst>
        <p:guide orient="horz" pos="2260"/>
        <p:guide pos="3840"/>
      </p:guideLst>
    </p:cSldViewPr>
  </p:slideViewPr>
  <p:outlineViewPr>
    <p:cViewPr>
      <p:scale>
        <a:sx n="33" d="100"/>
        <a:sy n="33" d="100"/>
      </p:scale>
      <p:origin x="0" y="-300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34E029D-4975-9049-A4B2-065531108780}" type="datetimeFigureOut">
              <a:rPr lang="en-US" smtClean="0"/>
              <a:t>8/7/2026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E3E56B-C3C4-8E4F-B314-D5C81CC34EEF}" type="slidenum">
              <a:rPr lang="en-US" smtClean="0"/>
              <a:t>‹#›</a:t>
            </a:fld>
            <a:endParaRPr lang="en-US"/>
          </a:p>
        </p:txBody>
      </p:sp>
    </p:spTree>
    <p:extLst>
      <p:ext uri="{BB962C8B-B14F-4D97-AF65-F5344CB8AC3E}">
        <p14:creationId xmlns:p14="http://schemas.microsoft.com/office/powerpoint/2010/main" val="427407859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will move through six sections, starting with why we need accounting information, moving through the mechanics of the statements, and finishing with how to analyze those statements using ratios like ROE.</a:t>
            </a:r>
          </a:p>
        </p:txBody>
      </p:sp>
      <p:sp>
        <p:nvSpPr>
          <p:cNvPr id="4" name="Slide Number Placeholder 3"/>
          <p:cNvSpPr>
            <a:spLocks noGrp="1"/>
          </p:cNvSpPr>
          <p:nvPr>
            <p:ph type="sldNum" sz="quarter" idx="5"/>
          </p:nvPr>
        </p:nvSpPr>
        <p:spPr/>
        <p:txBody>
          <a:bodyPr/>
          <a:lstStyle/>
          <a:p>
            <a:fld id="{D0E3E56B-C3C4-8E4F-B314-D5C81CC34EEF}" type="slidenum">
              <a:rPr lang="en-US" smtClean="0"/>
              <a:t>2</a:t>
            </a:fld>
            <a:endParaRPr lang="en-US"/>
          </a:p>
        </p:txBody>
      </p:sp>
    </p:spTree>
    <p:extLst>
      <p:ext uri="{BB962C8B-B14F-4D97-AF65-F5344CB8AC3E}">
        <p14:creationId xmlns:p14="http://schemas.microsoft.com/office/powerpoint/2010/main" val="3747766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090E7-0C1E-CAA0-4E4C-7B5608616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A0CBB-D610-1099-99E2-510375DDE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76C09-CC5D-1195-A6A4-3B0F2BB0B7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5FC374-48EC-8E86-96E8-DECFB6B2599B}"/>
              </a:ext>
            </a:extLst>
          </p:cNvPr>
          <p:cNvSpPr>
            <a:spLocks noGrp="1"/>
          </p:cNvSpPr>
          <p:nvPr>
            <p:ph type="sldNum" sz="quarter" idx="5"/>
          </p:nvPr>
        </p:nvSpPr>
        <p:spPr/>
        <p:txBody>
          <a:bodyPr/>
          <a:lstStyle/>
          <a:p>
            <a:fld id="{D0E3E56B-C3C4-8E4F-B314-D5C81CC34EEF}" type="slidenum">
              <a:rPr lang="en-US" smtClean="0"/>
              <a:t>4</a:t>
            </a:fld>
            <a:endParaRPr lang="en-US"/>
          </a:p>
        </p:txBody>
      </p:sp>
    </p:spTree>
    <p:extLst>
      <p:ext uri="{BB962C8B-B14F-4D97-AF65-F5344CB8AC3E}">
        <p14:creationId xmlns:p14="http://schemas.microsoft.com/office/powerpoint/2010/main" val="256606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09499-6577-15DD-CCDB-4D59804B3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4A25D8-868F-4374-B809-1EC8C724F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8FF954-4255-5649-ACBD-AF9428F266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D78319-87D0-F742-EC17-A577CC09B07B}"/>
              </a:ext>
            </a:extLst>
          </p:cNvPr>
          <p:cNvSpPr>
            <a:spLocks noGrp="1"/>
          </p:cNvSpPr>
          <p:nvPr>
            <p:ph type="sldNum" sz="quarter" idx="5"/>
          </p:nvPr>
        </p:nvSpPr>
        <p:spPr/>
        <p:txBody>
          <a:bodyPr/>
          <a:lstStyle/>
          <a:p>
            <a:fld id="{D0E3E56B-C3C4-8E4F-B314-D5C81CC34EEF}" type="slidenum">
              <a:rPr lang="en-US" smtClean="0"/>
              <a:t>5</a:t>
            </a:fld>
            <a:endParaRPr lang="en-US"/>
          </a:p>
        </p:txBody>
      </p:sp>
    </p:spTree>
    <p:extLst>
      <p:ext uri="{BB962C8B-B14F-4D97-AF65-F5344CB8AC3E}">
        <p14:creationId xmlns:p14="http://schemas.microsoft.com/office/powerpoint/2010/main" val="532790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18066-49DA-31F9-52DF-531FE17B56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A0E9D8-B60E-E326-F497-1F88A3AC3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F720E-5A3C-6F63-1CCB-BA7E610EE0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506AF9-9975-A986-4FF5-411B3F8543C0}"/>
              </a:ext>
            </a:extLst>
          </p:cNvPr>
          <p:cNvSpPr>
            <a:spLocks noGrp="1"/>
          </p:cNvSpPr>
          <p:nvPr>
            <p:ph type="sldNum" sz="quarter" idx="5"/>
          </p:nvPr>
        </p:nvSpPr>
        <p:spPr/>
        <p:txBody>
          <a:bodyPr/>
          <a:lstStyle/>
          <a:p>
            <a:fld id="{D0E3E56B-C3C4-8E4F-B314-D5C81CC34EEF}" type="slidenum">
              <a:rPr lang="en-US" smtClean="0"/>
              <a:t>7</a:t>
            </a:fld>
            <a:endParaRPr lang="en-US"/>
          </a:p>
        </p:txBody>
      </p:sp>
    </p:spTree>
    <p:extLst>
      <p:ext uri="{BB962C8B-B14F-4D97-AF65-F5344CB8AC3E}">
        <p14:creationId xmlns:p14="http://schemas.microsoft.com/office/powerpoint/2010/main" val="2478918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EF107-D795-358F-1B4B-5922B2499F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59FF9-98AF-FBE3-E22D-341DD6DB09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1D2BF-E57F-3501-255E-D0073F9A04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37E38D-F7C8-33D3-C049-E1C459E35DC9}"/>
              </a:ext>
            </a:extLst>
          </p:cNvPr>
          <p:cNvSpPr>
            <a:spLocks noGrp="1"/>
          </p:cNvSpPr>
          <p:nvPr>
            <p:ph type="sldNum" sz="quarter" idx="5"/>
          </p:nvPr>
        </p:nvSpPr>
        <p:spPr/>
        <p:txBody>
          <a:bodyPr/>
          <a:lstStyle/>
          <a:p>
            <a:fld id="{D0E3E56B-C3C4-8E4F-B314-D5C81CC34EEF}" type="slidenum">
              <a:rPr lang="en-US" smtClean="0"/>
              <a:t>8</a:t>
            </a:fld>
            <a:endParaRPr lang="en-US"/>
          </a:p>
        </p:txBody>
      </p:sp>
    </p:spTree>
    <p:extLst>
      <p:ext uri="{BB962C8B-B14F-4D97-AF65-F5344CB8AC3E}">
        <p14:creationId xmlns:p14="http://schemas.microsoft.com/office/powerpoint/2010/main" val="2273907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ED47B-8E8F-51C9-C9BC-E5F4E9FA87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2CD74B-783F-E7A0-8E55-CA12D8996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AB1628-A78F-A69A-497C-357E02D344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3ABDAF-D325-CAB0-3169-611E237CFF7D}"/>
              </a:ext>
            </a:extLst>
          </p:cNvPr>
          <p:cNvSpPr>
            <a:spLocks noGrp="1"/>
          </p:cNvSpPr>
          <p:nvPr>
            <p:ph type="sldNum" sz="quarter" idx="5"/>
          </p:nvPr>
        </p:nvSpPr>
        <p:spPr/>
        <p:txBody>
          <a:bodyPr/>
          <a:lstStyle/>
          <a:p>
            <a:fld id="{D0E3E56B-C3C4-8E4F-B314-D5C81CC34EEF}" type="slidenum">
              <a:rPr lang="en-US" smtClean="0"/>
              <a:t>10</a:t>
            </a:fld>
            <a:endParaRPr lang="en-US"/>
          </a:p>
        </p:txBody>
      </p:sp>
    </p:spTree>
    <p:extLst>
      <p:ext uri="{BB962C8B-B14F-4D97-AF65-F5344CB8AC3E}">
        <p14:creationId xmlns:p14="http://schemas.microsoft.com/office/powerpoint/2010/main" val="1862709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ADB6F-AA4C-073D-8FBB-5D28544C32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2420B8-FCAB-780F-F38A-E29B3BCA48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F339C-38E9-C585-DFF7-CA6658F28D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C008DE-778A-AF11-8BE9-F29FCB9B0C1D}"/>
              </a:ext>
            </a:extLst>
          </p:cNvPr>
          <p:cNvSpPr>
            <a:spLocks noGrp="1"/>
          </p:cNvSpPr>
          <p:nvPr>
            <p:ph type="sldNum" sz="quarter" idx="5"/>
          </p:nvPr>
        </p:nvSpPr>
        <p:spPr/>
        <p:txBody>
          <a:bodyPr/>
          <a:lstStyle/>
          <a:p>
            <a:fld id="{D0E3E56B-C3C4-8E4F-B314-D5C81CC34EEF}" type="slidenum">
              <a:rPr lang="en-US" smtClean="0"/>
              <a:t>11</a:t>
            </a:fld>
            <a:endParaRPr lang="en-US"/>
          </a:p>
        </p:txBody>
      </p:sp>
    </p:spTree>
    <p:extLst>
      <p:ext uri="{BB962C8B-B14F-4D97-AF65-F5344CB8AC3E}">
        <p14:creationId xmlns:p14="http://schemas.microsoft.com/office/powerpoint/2010/main" val="10741574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32F72-5EAB-CE28-60D3-CDB4B02942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E6B58A-D940-BEF3-7DED-8E54DC091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F7B09C-381B-7625-12D1-4E9B17F1BF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2DBEF4-E497-CBF8-7288-86AE457718F6}"/>
              </a:ext>
            </a:extLst>
          </p:cNvPr>
          <p:cNvSpPr>
            <a:spLocks noGrp="1"/>
          </p:cNvSpPr>
          <p:nvPr>
            <p:ph type="sldNum" sz="quarter" idx="5"/>
          </p:nvPr>
        </p:nvSpPr>
        <p:spPr/>
        <p:txBody>
          <a:bodyPr/>
          <a:lstStyle/>
          <a:p>
            <a:fld id="{D0E3E56B-C3C4-8E4F-B314-D5C81CC34EEF}" type="slidenum">
              <a:rPr lang="en-US" smtClean="0"/>
              <a:t>12</a:t>
            </a:fld>
            <a:endParaRPr lang="en-US"/>
          </a:p>
        </p:txBody>
      </p:sp>
    </p:spTree>
    <p:extLst>
      <p:ext uri="{BB962C8B-B14F-4D97-AF65-F5344CB8AC3E}">
        <p14:creationId xmlns:p14="http://schemas.microsoft.com/office/powerpoint/2010/main" val="266716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EFB7A-4266-39F6-1462-B44745A37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8E008-4B7A-7588-DE02-18E1BC8B2B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BE9F9-5BDE-99ED-6DB9-CB5D59739A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144CE5-59A5-5D42-3ECD-DA25495D9225}"/>
              </a:ext>
            </a:extLst>
          </p:cNvPr>
          <p:cNvSpPr>
            <a:spLocks noGrp="1"/>
          </p:cNvSpPr>
          <p:nvPr>
            <p:ph type="sldNum" sz="quarter" idx="5"/>
          </p:nvPr>
        </p:nvSpPr>
        <p:spPr/>
        <p:txBody>
          <a:bodyPr/>
          <a:lstStyle/>
          <a:p>
            <a:fld id="{D0E3E56B-C3C4-8E4F-B314-D5C81CC34EEF}" type="slidenum">
              <a:rPr lang="en-US" smtClean="0"/>
              <a:t>13</a:t>
            </a:fld>
            <a:endParaRPr lang="en-US"/>
          </a:p>
        </p:txBody>
      </p:sp>
    </p:spTree>
    <p:extLst>
      <p:ext uri="{BB962C8B-B14F-4D97-AF65-F5344CB8AC3E}">
        <p14:creationId xmlns:p14="http://schemas.microsoft.com/office/powerpoint/2010/main" val="1248852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000D7-44A8-76FB-C6AD-EDB21D236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ABA82-9755-DA43-9C02-0FDB568171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253F23-BEF1-4B92-24EF-C2BD4E8E4C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5A960A-2099-59F2-A7FE-7653100581CB}"/>
              </a:ext>
            </a:extLst>
          </p:cNvPr>
          <p:cNvSpPr>
            <a:spLocks noGrp="1"/>
          </p:cNvSpPr>
          <p:nvPr>
            <p:ph type="sldNum" sz="quarter" idx="5"/>
          </p:nvPr>
        </p:nvSpPr>
        <p:spPr/>
        <p:txBody>
          <a:bodyPr/>
          <a:lstStyle/>
          <a:p>
            <a:fld id="{D0E3E56B-C3C4-8E4F-B314-D5C81CC34EEF}" type="slidenum">
              <a:rPr lang="en-US" smtClean="0"/>
              <a:t>14</a:t>
            </a:fld>
            <a:endParaRPr lang="en-US"/>
          </a:p>
        </p:txBody>
      </p:sp>
    </p:spTree>
    <p:extLst>
      <p:ext uri="{BB962C8B-B14F-4D97-AF65-F5344CB8AC3E}">
        <p14:creationId xmlns:p14="http://schemas.microsoft.com/office/powerpoint/2010/main" val="25851593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EEBDA-146C-5036-30BE-FE7BF082D7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F55C22-1945-8583-5F59-67C221AB9E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A5CB04-68DB-5AC6-0F5C-575435751A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74A322-DC3C-26A0-7FC5-BDB52858D481}"/>
              </a:ext>
            </a:extLst>
          </p:cNvPr>
          <p:cNvSpPr>
            <a:spLocks noGrp="1"/>
          </p:cNvSpPr>
          <p:nvPr>
            <p:ph type="sldNum" sz="quarter" idx="5"/>
          </p:nvPr>
        </p:nvSpPr>
        <p:spPr/>
        <p:txBody>
          <a:bodyPr/>
          <a:lstStyle/>
          <a:p>
            <a:fld id="{D0E3E56B-C3C4-8E4F-B314-D5C81CC34EEF}" type="slidenum">
              <a:rPr lang="en-US" smtClean="0"/>
              <a:t>16</a:t>
            </a:fld>
            <a:endParaRPr lang="en-US"/>
          </a:p>
        </p:txBody>
      </p:sp>
    </p:spTree>
    <p:extLst>
      <p:ext uri="{BB962C8B-B14F-4D97-AF65-F5344CB8AC3E}">
        <p14:creationId xmlns:p14="http://schemas.microsoft.com/office/powerpoint/2010/main" val="1493847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41E14-2F01-FF52-1774-0469D34A1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66A70-3C0F-B1AC-999B-6BF3AA12A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658FE3-3E98-7F9B-ADAA-45E63EB16C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E235F7-5C5B-EC6D-A701-05111781358B}"/>
              </a:ext>
            </a:extLst>
          </p:cNvPr>
          <p:cNvSpPr>
            <a:spLocks noGrp="1"/>
          </p:cNvSpPr>
          <p:nvPr>
            <p:ph type="sldNum" sz="quarter" idx="5"/>
          </p:nvPr>
        </p:nvSpPr>
        <p:spPr/>
        <p:txBody>
          <a:bodyPr/>
          <a:lstStyle/>
          <a:p>
            <a:fld id="{D0E3E56B-C3C4-8E4F-B314-D5C81CC34EEF}" type="slidenum">
              <a:rPr lang="en-US" smtClean="0"/>
              <a:t>17</a:t>
            </a:fld>
            <a:endParaRPr lang="en-US"/>
          </a:p>
        </p:txBody>
      </p:sp>
    </p:spTree>
    <p:extLst>
      <p:ext uri="{BB962C8B-B14F-4D97-AF65-F5344CB8AC3E}">
        <p14:creationId xmlns:p14="http://schemas.microsoft.com/office/powerpoint/2010/main" val="996226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58A19-5058-B136-1248-81F287D59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F391C-B19C-5078-D1AE-E0098A3AC0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35E15A-6854-D979-E548-9831910FB0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5814E8-7756-FBDB-C9CD-288D5058D54D}"/>
              </a:ext>
            </a:extLst>
          </p:cNvPr>
          <p:cNvSpPr>
            <a:spLocks noGrp="1"/>
          </p:cNvSpPr>
          <p:nvPr>
            <p:ph type="sldNum" sz="quarter" idx="5"/>
          </p:nvPr>
        </p:nvSpPr>
        <p:spPr/>
        <p:txBody>
          <a:bodyPr/>
          <a:lstStyle/>
          <a:p>
            <a:fld id="{D0E3E56B-C3C4-8E4F-B314-D5C81CC34EEF}" type="slidenum">
              <a:rPr lang="en-US" smtClean="0"/>
              <a:t>18</a:t>
            </a:fld>
            <a:endParaRPr lang="en-US"/>
          </a:p>
        </p:txBody>
      </p:sp>
    </p:spTree>
    <p:extLst>
      <p:ext uri="{BB962C8B-B14F-4D97-AF65-F5344CB8AC3E}">
        <p14:creationId xmlns:p14="http://schemas.microsoft.com/office/powerpoint/2010/main" val="1641671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1A9A6-6DDE-8A63-6775-E9EB9C332D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514AA2-E45B-0816-D434-D24D2DB96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37607-FC06-3D81-A551-5095ECDBE3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3E6717-A496-06CF-9FDB-F7D3B23CC531}"/>
              </a:ext>
            </a:extLst>
          </p:cNvPr>
          <p:cNvSpPr>
            <a:spLocks noGrp="1"/>
          </p:cNvSpPr>
          <p:nvPr>
            <p:ph type="sldNum" sz="quarter" idx="5"/>
          </p:nvPr>
        </p:nvSpPr>
        <p:spPr/>
        <p:txBody>
          <a:bodyPr/>
          <a:lstStyle/>
          <a:p>
            <a:fld id="{D0E3E56B-C3C4-8E4F-B314-D5C81CC34EEF}" type="slidenum">
              <a:rPr lang="en-US" smtClean="0"/>
              <a:t>19</a:t>
            </a:fld>
            <a:endParaRPr lang="en-US"/>
          </a:p>
        </p:txBody>
      </p:sp>
    </p:spTree>
    <p:extLst>
      <p:ext uri="{BB962C8B-B14F-4D97-AF65-F5344CB8AC3E}">
        <p14:creationId xmlns:p14="http://schemas.microsoft.com/office/powerpoint/2010/main" val="12142302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9EDC1-19EF-8AB7-CC59-37A6A32214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CBFF76-C29C-8E8F-9747-6A647B3DB8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70AECA-ABF6-5D25-A869-0839E2250D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9583A4-6BE5-E0CE-090E-B0DC7BFB5E4D}"/>
              </a:ext>
            </a:extLst>
          </p:cNvPr>
          <p:cNvSpPr>
            <a:spLocks noGrp="1"/>
          </p:cNvSpPr>
          <p:nvPr>
            <p:ph type="sldNum" sz="quarter" idx="5"/>
          </p:nvPr>
        </p:nvSpPr>
        <p:spPr/>
        <p:txBody>
          <a:bodyPr/>
          <a:lstStyle/>
          <a:p>
            <a:fld id="{D0E3E56B-C3C4-8E4F-B314-D5C81CC34EEF}" type="slidenum">
              <a:rPr lang="en-US" smtClean="0"/>
              <a:t>25</a:t>
            </a:fld>
            <a:endParaRPr lang="en-US"/>
          </a:p>
        </p:txBody>
      </p:sp>
    </p:spTree>
    <p:extLst>
      <p:ext uri="{BB962C8B-B14F-4D97-AF65-F5344CB8AC3E}">
        <p14:creationId xmlns:p14="http://schemas.microsoft.com/office/powerpoint/2010/main" val="456421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7DC0B-5BFA-170A-68FF-AD26835F18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B0F78C-4457-32CF-929B-A67A8E9BDD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50247D-3FB4-2A10-269C-0B0936125C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EA6DF8-D530-A69E-6B65-E5593922AA10}"/>
              </a:ext>
            </a:extLst>
          </p:cNvPr>
          <p:cNvSpPr>
            <a:spLocks noGrp="1"/>
          </p:cNvSpPr>
          <p:nvPr>
            <p:ph type="sldNum" sz="quarter" idx="5"/>
          </p:nvPr>
        </p:nvSpPr>
        <p:spPr/>
        <p:txBody>
          <a:bodyPr/>
          <a:lstStyle/>
          <a:p>
            <a:fld id="{D0E3E56B-C3C4-8E4F-B314-D5C81CC34EEF}" type="slidenum">
              <a:rPr lang="en-US" smtClean="0"/>
              <a:t>26</a:t>
            </a:fld>
            <a:endParaRPr lang="en-US"/>
          </a:p>
        </p:txBody>
      </p:sp>
    </p:spTree>
    <p:extLst>
      <p:ext uri="{BB962C8B-B14F-4D97-AF65-F5344CB8AC3E}">
        <p14:creationId xmlns:p14="http://schemas.microsoft.com/office/powerpoint/2010/main" val="502748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ABA0B-3956-49A6-35CC-965A23C7DD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8DD04-72B8-0612-07CF-587EF114D5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AD635-205C-DAAC-5013-605C452D1B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AE2C16-8286-D656-1AA8-159C95A42F56}"/>
              </a:ext>
            </a:extLst>
          </p:cNvPr>
          <p:cNvSpPr>
            <a:spLocks noGrp="1"/>
          </p:cNvSpPr>
          <p:nvPr>
            <p:ph type="sldNum" sz="quarter" idx="5"/>
          </p:nvPr>
        </p:nvSpPr>
        <p:spPr/>
        <p:txBody>
          <a:bodyPr/>
          <a:lstStyle/>
          <a:p>
            <a:fld id="{D0E3E56B-C3C4-8E4F-B314-D5C81CC34EEF}" type="slidenum">
              <a:rPr lang="en-US" smtClean="0"/>
              <a:t>27</a:t>
            </a:fld>
            <a:endParaRPr lang="en-US"/>
          </a:p>
        </p:txBody>
      </p:sp>
    </p:spTree>
    <p:extLst>
      <p:ext uri="{BB962C8B-B14F-4D97-AF65-F5344CB8AC3E}">
        <p14:creationId xmlns:p14="http://schemas.microsoft.com/office/powerpoint/2010/main" val="22634734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AD00A-21CA-0298-4EB8-EFF1717795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051DD6-EA65-7120-FFB3-3E9EA2D08A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7E251C-D5AA-8848-7E13-107861677C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ABE486-E572-CECF-05E5-39082AC0CF51}"/>
              </a:ext>
            </a:extLst>
          </p:cNvPr>
          <p:cNvSpPr>
            <a:spLocks noGrp="1"/>
          </p:cNvSpPr>
          <p:nvPr>
            <p:ph type="sldNum" sz="quarter" idx="5"/>
          </p:nvPr>
        </p:nvSpPr>
        <p:spPr/>
        <p:txBody>
          <a:bodyPr/>
          <a:lstStyle/>
          <a:p>
            <a:fld id="{D0E3E56B-C3C4-8E4F-B314-D5C81CC34EEF}" type="slidenum">
              <a:rPr lang="en-US" smtClean="0"/>
              <a:t>28</a:t>
            </a:fld>
            <a:endParaRPr lang="en-US"/>
          </a:p>
        </p:txBody>
      </p:sp>
    </p:spTree>
    <p:extLst>
      <p:ext uri="{BB962C8B-B14F-4D97-AF65-F5344CB8AC3E}">
        <p14:creationId xmlns:p14="http://schemas.microsoft.com/office/powerpoint/2010/main" val="31308449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E0210-90EB-E0CF-BDB8-29BCC7EC2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0F345F-A44A-648D-62DF-D2E33D8C94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9523D-3329-F3EA-F7D8-758DCA734D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D91F29-8EE2-626B-776B-0FED8AF44725}"/>
              </a:ext>
            </a:extLst>
          </p:cNvPr>
          <p:cNvSpPr>
            <a:spLocks noGrp="1"/>
          </p:cNvSpPr>
          <p:nvPr>
            <p:ph type="sldNum" sz="quarter" idx="5"/>
          </p:nvPr>
        </p:nvSpPr>
        <p:spPr/>
        <p:txBody>
          <a:bodyPr/>
          <a:lstStyle/>
          <a:p>
            <a:fld id="{D0E3E56B-C3C4-8E4F-B314-D5C81CC34EEF}" type="slidenum">
              <a:rPr lang="en-US" smtClean="0"/>
              <a:t>29</a:t>
            </a:fld>
            <a:endParaRPr lang="en-US"/>
          </a:p>
        </p:txBody>
      </p:sp>
    </p:spTree>
    <p:extLst>
      <p:ext uri="{BB962C8B-B14F-4D97-AF65-F5344CB8AC3E}">
        <p14:creationId xmlns:p14="http://schemas.microsoft.com/office/powerpoint/2010/main" val="1548942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88E1D-1D7C-70E2-7078-73BF2F9F38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ADBD9F-9661-5EF4-E68E-E10CDEDD50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76C1B-935F-EEB3-1511-0A728AFBE7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2143B2-1052-18C8-6701-7C4708E5D335}"/>
              </a:ext>
            </a:extLst>
          </p:cNvPr>
          <p:cNvSpPr>
            <a:spLocks noGrp="1"/>
          </p:cNvSpPr>
          <p:nvPr>
            <p:ph type="sldNum" sz="quarter" idx="5"/>
          </p:nvPr>
        </p:nvSpPr>
        <p:spPr/>
        <p:txBody>
          <a:bodyPr/>
          <a:lstStyle/>
          <a:p>
            <a:fld id="{D0E3E56B-C3C4-8E4F-B314-D5C81CC34EEF}" type="slidenum">
              <a:rPr lang="en-US" smtClean="0"/>
              <a:t>31</a:t>
            </a:fld>
            <a:endParaRPr lang="en-US"/>
          </a:p>
        </p:txBody>
      </p:sp>
    </p:spTree>
    <p:extLst>
      <p:ext uri="{BB962C8B-B14F-4D97-AF65-F5344CB8AC3E}">
        <p14:creationId xmlns:p14="http://schemas.microsoft.com/office/powerpoint/2010/main" val="3836876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rgbClr val="1F4899"/>
                </a:solidFill>
              </a:defRPr>
            </a:lvl1pPr>
          </a:lstStyle>
          <a:p>
            <a:r>
              <a:rPr lang="en-US" dirty="0"/>
              <a:t>Click to edit Master title style</a:t>
            </a:r>
          </a:p>
        </p:txBody>
      </p:sp>
      <p:sp>
        <p:nvSpPr>
          <p:cNvPr id="3" name="Content Placeholder 2"/>
          <p:cNvSpPr>
            <a:spLocks noGrp="1"/>
          </p:cNvSpPr>
          <p:nvPr>
            <p:ph idx="1" hasCustomPrompt="1"/>
          </p:nvPr>
        </p:nvSpPr>
        <p:spPr>
          <a:xfrm>
            <a:off x="609600" y="1600201"/>
            <a:ext cx="10972800" cy="498316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AD136BD2-9C07-2E33-7016-48C3AB8CE1D7}"/>
              </a:ext>
            </a:extLst>
          </p:cNvPr>
          <p:cNvSpPr/>
          <p:nvPr userDrawn="1"/>
        </p:nvSpPr>
        <p:spPr>
          <a:xfrm>
            <a:off x="11681927" y="0"/>
            <a:ext cx="510073" cy="6858000"/>
          </a:xfrm>
          <a:prstGeom prst="rect">
            <a:avLst/>
          </a:prstGeom>
          <a:gradFill flip="none" rotWithShape="1">
            <a:gsLst>
              <a:gs pos="0">
                <a:srgbClr val="1F4899">
                  <a:shade val="30000"/>
                  <a:satMod val="115000"/>
                </a:srgbClr>
              </a:gs>
              <a:gs pos="50000">
                <a:srgbClr val="1F4899">
                  <a:shade val="67500"/>
                  <a:satMod val="115000"/>
                </a:srgbClr>
              </a:gs>
              <a:gs pos="100000">
                <a:srgbClr val="1F4899">
                  <a:shade val="100000"/>
                  <a:satMod val="115000"/>
                </a:srgbClr>
              </a:gs>
            </a:gsLst>
            <a:lin ang="108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Slide Number Field"/>
          <p:cNvSpPr txBox="1"/>
          <p:nvPr/>
        </p:nvSpPr>
        <p:spPr>
          <a:xfrm>
            <a:off x="11681927" y="6515100"/>
            <a:ext cx="510073" cy="279400"/>
          </a:xfrm>
          <a:prstGeom prst="rect">
            <a:avLst/>
          </a:prstGeom>
          <a:noFill/>
          <a:ln>
            <a:noFill/>
          </a:ln>
        </p:spPr>
        <p:txBody>
          <a:bodyPr wrap="none" lIns="0" tIns="0" rIns="0" bIns="0" anchor="ctr" anchorCtr="0"/>
          <a:lstStyle/>
          <a:p>
            <a:pPr algn="ctr"/>
            <a:fld id="{9C3D2A1B-7E4F-4B6A-8C0D-1A2B3C4D5011}" type="slidenum">
              <a:rPr lang="en-US" sz="1400" dirty="0">
                <a:solidFill>
                  <a:srgbClr val="FFFFFF"/>
                </a:solidFill>
              </a:rPr>
              <a:t>‹#›</a:t>
            </a:fld>
            <a:endParaRPr lang="en-US" sz="1400" dirty="0">
              <a:solidFill>
                <a:srgbClr val="7F7F7F"/>
              </a:solidFill>
            </a:endParaRPr>
          </a:p>
        </p:txBody>
      </p:sp>
    </p:spTree>
    <p:extLst>
      <p:ext uri="{BB962C8B-B14F-4D97-AF65-F5344CB8AC3E}">
        <p14:creationId xmlns:p14="http://schemas.microsoft.com/office/powerpoint/2010/main" val="218595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857500"/>
            <a:ext cx="12191999" cy="1143000"/>
          </a:xfrm>
          <a:gradFill flip="none" rotWithShape="1">
            <a:gsLst>
              <a:gs pos="0">
                <a:srgbClr val="1F4899">
                  <a:shade val="30000"/>
                  <a:satMod val="115000"/>
                </a:srgbClr>
              </a:gs>
              <a:gs pos="50000">
                <a:srgbClr val="1F4899">
                  <a:shade val="67500"/>
                  <a:satMod val="115000"/>
                </a:srgbClr>
              </a:gs>
              <a:gs pos="100000">
                <a:srgbClr val="1F4899">
                  <a:shade val="100000"/>
                  <a:satMod val="115000"/>
                </a:srgbClr>
              </a:gs>
            </a:gsLst>
            <a:lin ang="13500000" scaled="1"/>
            <a:tileRect/>
          </a:gradFill>
        </p:spPr>
        <p:txBody>
          <a:bodyPr/>
          <a:lstStyle>
            <a:lvl1pPr>
              <a:defRPr>
                <a:solidFill>
                  <a:schemeClr val="bg1"/>
                </a:solidFill>
              </a:defRPr>
            </a:lvl1pPr>
          </a:lstStyle>
          <a:p>
            <a:r>
              <a:rPr lang="en-US" dirty="0"/>
              <a:t>Click to edit Master title style</a:t>
            </a:r>
          </a:p>
        </p:txBody>
      </p:sp>
      <p:sp>
        <p:nvSpPr>
          <p:cNvPr id="3" name="Slide Number Field"/>
          <p:cNvSpPr txBox="1"/>
          <p:nvPr/>
        </p:nvSpPr>
        <p:spPr>
          <a:xfrm>
            <a:off x="10922000" y="6515100"/>
            <a:ext cx="698500" cy="279400"/>
          </a:xfrm>
          <a:prstGeom prst="rect">
            <a:avLst/>
          </a:prstGeom>
          <a:noFill/>
          <a:ln>
            <a:noFill/>
          </a:ln>
        </p:spPr>
        <p:txBody>
          <a:bodyPr wrap="none" lIns="0" tIns="0" rIns="0" bIns="0" anchor="ctr" anchorCtr="0"/>
          <a:lstStyle/>
          <a:p>
            <a:pPr algn="r"/>
            <a:fld id="{9C3D2A1B-7E4F-4B6A-8C0D-1A2B3C4D5012}" type="slidenum">
              <a:rPr lang="en-US" sz="1400" dirty="0">
                <a:solidFill>
                  <a:srgbClr val="595959"/>
                </a:solidFill>
              </a:rPr>
              <a:t>‹#›</a:t>
            </a:fld>
            <a:endParaRPr lang="en-US" sz="1400" dirty="0">
              <a:solidFill>
                <a:srgbClr val="7F7F7F"/>
              </a:solidFill>
            </a:endParaRPr>
          </a:p>
        </p:txBody>
      </p:sp>
    </p:spTree>
    <p:extLst>
      <p:ext uri="{BB962C8B-B14F-4D97-AF65-F5344CB8AC3E}">
        <p14:creationId xmlns:p14="http://schemas.microsoft.com/office/powerpoint/2010/main" val="534690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F4899"/>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79E3CA0E-A3BA-AE5E-2446-BAF8B0EE6046}"/>
              </a:ext>
            </a:extLst>
          </p:cNvPr>
          <p:cNvSpPr/>
          <p:nvPr userDrawn="1"/>
        </p:nvSpPr>
        <p:spPr>
          <a:xfrm>
            <a:off x="11681927" y="0"/>
            <a:ext cx="510073" cy="6858000"/>
          </a:xfrm>
          <a:prstGeom prst="rect">
            <a:avLst/>
          </a:prstGeom>
          <a:solidFill>
            <a:srgbClr val="1F48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Slide Number Field"/>
          <p:cNvSpPr txBox="1"/>
          <p:nvPr/>
        </p:nvSpPr>
        <p:spPr>
          <a:xfrm>
            <a:off x="11681927" y="6515100"/>
            <a:ext cx="510073" cy="279400"/>
          </a:xfrm>
          <a:prstGeom prst="rect">
            <a:avLst/>
          </a:prstGeom>
          <a:noFill/>
          <a:ln>
            <a:noFill/>
          </a:ln>
        </p:spPr>
        <p:txBody>
          <a:bodyPr wrap="none" lIns="0" tIns="0" rIns="0" bIns="0" anchor="ctr" anchorCtr="0"/>
          <a:lstStyle/>
          <a:p>
            <a:pPr algn="ctr"/>
            <a:fld id="{9C3D2A1B-7E4F-4B6A-8C0D-1A2B3C4D5013}" type="slidenum">
              <a:rPr lang="en-US" sz="1400" dirty="0">
                <a:solidFill>
                  <a:srgbClr val="FFFFFF"/>
                </a:solidFill>
              </a:rPr>
              <a:t>‹#›</a:t>
            </a:fld>
            <a:endParaRPr lang="en-US" sz="1400" dirty="0">
              <a:solidFill>
                <a:srgbClr val="7F7F7F"/>
              </a:solidFill>
            </a:endParaRPr>
          </a:p>
        </p:txBody>
      </p:sp>
    </p:spTree>
    <p:extLst>
      <p:ext uri="{BB962C8B-B14F-4D97-AF65-F5344CB8AC3E}">
        <p14:creationId xmlns:p14="http://schemas.microsoft.com/office/powerpoint/2010/main" val="1944865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pic>
        <p:nvPicPr>
          <p:cNvPr id="10" name="Picture 9" descr="secondary-footer.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884738"/>
            <a:ext cx="12192000" cy="996696"/>
          </a:xfrm>
          <a:prstGeom prst="rect">
            <a:avLst/>
          </a:prstGeom>
        </p:spPr>
      </p:pic>
      <p:sp>
        <p:nvSpPr>
          <p:cNvPr id="2" name="Title 1"/>
          <p:cNvSpPr>
            <a:spLocks noGrp="1"/>
          </p:cNvSpPr>
          <p:nvPr>
            <p:ph type="title"/>
          </p:nvPr>
        </p:nvSpPr>
        <p:spPr/>
        <p:txBody>
          <a:bodyPr/>
          <a:lstStyle>
            <a:lvl1pPr>
              <a:defRPr>
                <a:solidFill>
                  <a:srgbClr val="1F4899"/>
                </a:solidFill>
              </a:defRPr>
            </a:lvl1pPr>
          </a:lstStyle>
          <a:p>
            <a:r>
              <a:rPr lang="en-US"/>
              <a:t>Click to edit Master title style</a:t>
            </a:r>
            <a:endParaRPr lang="en-US" dirty="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Field"/>
          <p:cNvSpPr txBox="1"/>
          <p:nvPr/>
        </p:nvSpPr>
        <p:spPr>
          <a:xfrm>
            <a:off x="10922000" y="6515100"/>
            <a:ext cx="698500" cy="279400"/>
          </a:xfrm>
          <a:prstGeom prst="rect">
            <a:avLst/>
          </a:prstGeom>
          <a:noFill/>
          <a:ln>
            <a:noFill/>
          </a:ln>
        </p:spPr>
        <p:txBody>
          <a:bodyPr wrap="none" lIns="0" tIns="0" rIns="0" bIns="0" anchor="ctr" anchorCtr="0"/>
          <a:lstStyle/>
          <a:p>
            <a:pPr algn="r"/>
            <a:fld id="{9C3D2A1B-7E4F-4B6A-8C0D-1A2B3C4D5014}" type="slidenum">
              <a:rPr lang="en-US" sz="1400" dirty="0">
                <a:solidFill>
                  <a:srgbClr val="595959"/>
                </a:solidFill>
              </a:rPr>
              <a:t>‹#›</a:t>
            </a:fld>
            <a:endParaRPr lang="en-US" sz="1400" dirty="0">
              <a:solidFill>
                <a:srgbClr val="7F7F7F"/>
              </a:solidFill>
            </a:endParaRPr>
          </a:p>
        </p:txBody>
      </p:sp>
    </p:spTree>
    <p:extLst>
      <p:ext uri="{BB962C8B-B14F-4D97-AF65-F5344CB8AC3E}">
        <p14:creationId xmlns:p14="http://schemas.microsoft.com/office/powerpoint/2010/main" val="2780872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43877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D96C1F-A62A-E649-96ED-1A90FB2BF938}" type="slidenum">
              <a:rPr lang="en-US" smtClean="0"/>
              <a:t>‹#›</a:t>
            </a:fld>
            <a:endParaRPr lang="en-US"/>
          </a:p>
        </p:txBody>
      </p:sp>
    </p:spTree>
    <p:extLst>
      <p:ext uri="{BB962C8B-B14F-4D97-AF65-F5344CB8AC3E}">
        <p14:creationId xmlns:p14="http://schemas.microsoft.com/office/powerpoint/2010/main" val="369842686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root/val_kaist.pn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4114800"/>
            <a:ext cx="12191695" cy="1737360"/>
          </a:xfrm>
          <a:prstGeom prst="rect">
            <a:avLst/>
          </a:prstGeom>
          <a:solidFill>
            <a:srgbClr val="0B1E3F">
              <a:alpha val="80000"/>
            </a:srgbClr>
          </a:solidFill>
          <a:ln/>
        </p:spPr>
        <p:txBody>
          <a:bodyPr/>
          <a:lstStyle/>
          <a:p>
            <a:endParaRPr lang="en-US"/>
          </a:p>
        </p:txBody>
      </p:sp>
      <p:sp>
        <p:nvSpPr>
          <p:cNvPr id="4" name="Text 1"/>
          <p:cNvSpPr/>
          <p:nvPr/>
        </p:nvSpPr>
        <p:spPr>
          <a:xfrm>
            <a:off x="640080" y="4206240"/>
            <a:ext cx="10881360" cy="457200"/>
          </a:xfrm>
          <a:prstGeom prst="rect">
            <a:avLst/>
          </a:prstGeom>
          <a:noFill/>
          <a:ln/>
        </p:spPr>
        <p:txBody>
          <a:bodyPr wrap="square" rtlCol="0" anchor="ctr"/>
          <a:lstStyle/>
          <a:p>
            <a:pPr marL="0" indent="0">
              <a:buNone/>
            </a:pPr>
            <a:r>
              <a:rPr lang="en-US" sz="1700" b="1" dirty="0">
                <a:solidFill>
                  <a:srgbClr val="CADCFC"/>
                </a:solidFill>
                <a:latin typeface="Calibri" pitchFamily="34" charset="0"/>
                <a:ea typeface="Calibri" pitchFamily="34" charset="-122"/>
                <a:cs typeface="Calibri" pitchFamily="34" charset="-120"/>
              </a:rPr>
              <a:t>Introduction to Financial Accounting</a:t>
            </a:r>
            <a:endParaRPr lang="en-US" sz="1700" dirty="0"/>
          </a:p>
        </p:txBody>
      </p:sp>
      <p:sp>
        <p:nvSpPr>
          <p:cNvPr id="5" name="Text 2"/>
          <p:cNvSpPr/>
          <p:nvPr/>
        </p:nvSpPr>
        <p:spPr>
          <a:xfrm>
            <a:off x="640080" y="4617720"/>
            <a:ext cx="10881360" cy="91440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Introduction to Valuation</a:t>
            </a:r>
            <a:endParaRPr lang="en-US" sz="4000" dirty="0"/>
          </a:p>
        </p:txBody>
      </p:sp>
      <p:sp>
        <p:nvSpPr>
          <p:cNvPr id="6" name="Text 3"/>
          <p:cNvSpPr/>
          <p:nvPr/>
        </p:nvSpPr>
        <p:spPr>
          <a:xfrm>
            <a:off x="640080" y="5532120"/>
            <a:ext cx="10881360" cy="365760"/>
          </a:xfrm>
          <a:prstGeom prst="rect">
            <a:avLst/>
          </a:prstGeom>
          <a:noFill/>
          <a:ln/>
        </p:spPr>
        <p:txBody>
          <a:bodyPr wrap="square" rtlCol="0" anchor="ctr"/>
          <a:lstStyle/>
          <a:p>
            <a:pPr marL="0" indent="0">
              <a:buNone/>
            </a:pPr>
            <a:r>
              <a:rPr lang="en-US" sz="1400" i="1" dirty="0">
                <a:solidFill>
                  <a:srgbClr val="E5EDF9"/>
                </a:solidFill>
                <a:latin typeface="Calibri" pitchFamily="34" charset="0"/>
                <a:ea typeface="Calibri" pitchFamily="34" charset="-122"/>
                <a:cs typeface="Calibri" pitchFamily="34" charset="-120"/>
              </a:rPr>
              <a:t>Time Value  ·  DCF  ·  Cost of Capital  ·  Multiples  ·  Margin of Safety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781E-35ED-245C-F85D-64F5555F6948}"/>
              </a:ext>
            </a:extLst>
          </p:cNvPr>
          <p:cNvSpPr>
            <a:spLocks noGrp="1"/>
          </p:cNvSpPr>
          <p:nvPr>
            <p:ph type="title"/>
          </p:nvPr>
        </p:nvSpPr>
        <p:spPr/>
        <p:txBody>
          <a:bodyPr/>
          <a:lstStyle/>
          <a:p>
            <a:r>
              <a:rPr lang="en-US" dirty="0">
                <a:latin typeface="+mn-lt"/>
              </a:rPr>
              <a:t>Table of Contents</a:t>
            </a:r>
          </a:p>
        </p:txBody>
      </p:sp>
      <p:sp>
        <p:nvSpPr>
          <p:cNvPr id="3" name="Content Placeholder 2">
            <a:extLst>
              <a:ext uri="{FF2B5EF4-FFF2-40B4-BE49-F238E27FC236}">
                <a16:creationId xmlns:a16="http://schemas.microsoft.com/office/drawing/2014/main" id="{3475B7FB-EB2C-CA4B-1C14-339864FDB75E}"/>
              </a:ext>
            </a:extLst>
          </p:cNvPr>
          <p:cNvSpPr>
            <a:spLocks noGrp="1"/>
          </p:cNvSpPr>
          <p:nvPr>
            <p:ph idx="1"/>
          </p:nvPr>
        </p:nvSpPr>
        <p:spPr/>
        <p:txBody>
          <a:bodyPr>
            <a:normAutofit/>
          </a:bodyPr>
          <a:lstStyle/>
          <a:p>
            <a:pPr marL="0" indent="0">
              <a:lnSpc>
                <a:spcPct val="150000"/>
              </a:lnSpc>
              <a:buNone/>
            </a:pPr>
            <a:r>
              <a:rPr lang="en-US" sz="2400" dirty="0">
                <a:latin typeface="+mn-lt"/>
              </a:rPr>
              <a:t>Topic 1:	The Time Value of Money -The Engine of Valuation</a:t>
            </a:r>
          </a:p>
          <a:p>
            <a:pPr marL="0" indent="0">
              <a:lnSpc>
                <a:spcPct val="150000"/>
              </a:lnSpc>
              <a:buNone/>
            </a:pPr>
            <a:r>
              <a:rPr lang="en-US" sz="2400" dirty="0">
                <a:latin typeface="+mn-lt"/>
              </a:rPr>
              <a:t>Topic 2:	Meet Mr. Market — Price vs. Value</a:t>
            </a:r>
          </a:p>
          <a:p>
            <a:pPr marL="0" indent="0">
              <a:lnSpc>
                <a:spcPct val="150000"/>
              </a:lnSpc>
              <a:buNone/>
            </a:pPr>
            <a:r>
              <a:rPr lang="en-US" sz="2400" dirty="0">
                <a:latin typeface="+mn-lt"/>
              </a:rPr>
              <a:t>Topic 3:	Discounted Free Cash Flow (DCF) Valuation</a:t>
            </a:r>
          </a:p>
          <a:p>
            <a:pPr marL="0" indent="0">
              <a:lnSpc>
                <a:spcPct val="150000"/>
              </a:lnSpc>
              <a:buNone/>
            </a:pPr>
            <a:r>
              <a:rPr lang="en-US" sz="2400" dirty="0">
                <a:latin typeface="+mn-lt"/>
              </a:rPr>
              <a:t>Topic 4:	The Cost of Equity</a:t>
            </a:r>
          </a:p>
          <a:p>
            <a:pPr marL="0" indent="0">
              <a:lnSpc>
                <a:spcPct val="150000"/>
              </a:lnSpc>
              <a:buNone/>
            </a:pPr>
            <a:r>
              <a:rPr lang="en-US" sz="2400" dirty="0"/>
              <a:t>Topic 5:	</a:t>
            </a:r>
            <a:r>
              <a:rPr lang="en-US" sz="2400" dirty="0">
                <a:latin typeface="+mn-lt"/>
              </a:rPr>
              <a:t>The Price-Earnings (P/E) Ratio</a:t>
            </a:r>
          </a:p>
          <a:p>
            <a:pPr marL="0" indent="0">
              <a:lnSpc>
                <a:spcPct val="150000"/>
              </a:lnSpc>
              <a:buNone/>
            </a:pPr>
            <a:r>
              <a:rPr lang="en-US" sz="2400" dirty="0">
                <a:latin typeface="+mn-lt"/>
              </a:rPr>
              <a:t>Topic </a:t>
            </a:r>
            <a:r>
              <a:rPr lang="en-US" sz="2400" dirty="0"/>
              <a:t>6</a:t>
            </a:r>
            <a:r>
              <a:rPr lang="en-US" sz="2400" dirty="0">
                <a:latin typeface="+mn-lt"/>
              </a:rPr>
              <a:t>:   	Free Cash Flow vs. Net Income as Valuation Input</a:t>
            </a:r>
          </a:p>
          <a:p>
            <a:pPr marL="0" indent="0">
              <a:lnSpc>
                <a:spcPct val="150000"/>
              </a:lnSpc>
              <a:buNone/>
            </a:pPr>
            <a:r>
              <a:rPr lang="en-US" sz="2400" dirty="0">
                <a:latin typeface="+mn-lt"/>
              </a:rPr>
              <a:t>Topic 8:	The Marin of Safey</a:t>
            </a:r>
          </a:p>
          <a:p>
            <a:pPr marL="0" indent="0">
              <a:lnSpc>
                <a:spcPct val="150000"/>
              </a:lnSpc>
              <a:buNone/>
            </a:pPr>
            <a:r>
              <a:rPr lang="en-US" sz="2400" dirty="0">
                <a:latin typeface="+mn-lt"/>
              </a:rPr>
              <a:t>Topic 6:	Earnings Quality</a:t>
            </a:r>
          </a:p>
        </p:txBody>
      </p:sp>
    </p:spTree>
    <p:extLst>
      <p:ext uri="{BB962C8B-B14F-4D97-AF65-F5344CB8AC3E}">
        <p14:creationId xmlns:p14="http://schemas.microsoft.com/office/powerpoint/2010/main" val="1695484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431E1-DCCD-AECB-5CC6-A6A28CC98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A70150-E3CD-D6F5-4134-EB4ADB857847}"/>
              </a:ext>
            </a:extLst>
          </p:cNvPr>
          <p:cNvSpPr>
            <a:spLocks noGrp="1"/>
          </p:cNvSpPr>
          <p:nvPr>
            <p:ph type="title"/>
          </p:nvPr>
        </p:nvSpPr>
        <p:spPr/>
        <p:txBody>
          <a:bodyPr/>
          <a:lstStyle/>
          <a:p>
            <a:r>
              <a:rPr lang="en-US" dirty="0">
                <a:latin typeface="+mn-lt"/>
              </a:rPr>
              <a:t>1. The Time Value of Money</a:t>
            </a:r>
          </a:p>
        </p:txBody>
      </p:sp>
    </p:spTree>
    <p:extLst>
      <p:ext uri="{BB962C8B-B14F-4D97-AF65-F5344CB8AC3E}">
        <p14:creationId xmlns:p14="http://schemas.microsoft.com/office/powerpoint/2010/main" val="4098012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7D0B3-6AEB-5A95-5010-B115F554D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E8DBAD-8402-100A-C419-820C9C46CD7A}"/>
              </a:ext>
            </a:extLst>
          </p:cNvPr>
          <p:cNvSpPr>
            <a:spLocks noGrp="1"/>
          </p:cNvSpPr>
          <p:nvPr>
            <p:ph type="title"/>
          </p:nvPr>
        </p:nvSpPr>
        <p:spPr/>
        <p:txBody>
          <a:bodyPr anchor="ctr">
            <a:normAutofit/>
          </a:bodyPr>
          <a:lstStyle/>
          <a:p>
            <a:r>
              <a:rPr lang="en-US" dirty="0">
                <a:latin typeface="+mn-lt"/>
              </a:rPr>
              <a:t>Future Value – 1 Year Later</a:t>
            </a:r>
          </a:p>
        </p:txBody>
      </p:sp>
      <p:pic>
        <p:nvPicPr>
          <p:cNvPr id="5" name="Picture 4">
            <a:extLst>
              <a:ext uri="{FF2B5EF4-FFF2-40B4-BE49-F238E27FC236}">
                <a16:creationId xmlns:a16="http://schemas.microsoft.com/office/drawing/2014/main" id="{8B289316-2613-9217-2008-1C663A224151}"/>
              </a:ext>
            </a:extLst>
          </p:cNvPr>
          <p:cNvPicPr>
            <a:picLocks noChangeAspect="1"/>
          </p:cNvPicPr>
          <p:nvPr/>
        </p:nvPicPr>
        <p:blipFill>
          <a:blip r:embed="rId3"/>
          <a:stretch>
            <a:fillRect/>
          </a:stretch>
        </p:blipFill>
        <p:spPr>
          <a:xfrm>
            <a:off x="1072334" y="1417638"/>
            <a:ext cx="9723239" cy="4983161"/>
          </a:xfrm>
          <a:prstGeom prst="rect">
            <a:avLst/>
          </a:prstGeom>
          <a:noFill/>
        </p:spPr>
      </p:pic>
    </p:spTree>
    <p:extLst>
      <p:ext uri="{BB962C8B-B14F-4D97-AF65-F5344CB8AC3E}">
        <p14:creationId xmlns:p14="http://schemas.microsoft.com/office/powerpoint/2010/main" val="634367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4EDED-DE21-35CF-EB42-D925775F0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5E8B3-9354-8F15-1438-08557833464B}"/>
              </a:ext>
            </a:extLst>
          </p:cNvPr>
          <p:cNvSpPr>
            <a:spLocks noGrp="1"/>
          </p:cNvSpPr>
          <p:nvPr>
            <p:ph type="title"/>
          </p:nvPr>
        </p:nvSpPr>
        <p:spPr/>
        <p:txBody>
          <a:bodyPr anchor="ctr">
            <a:normAutofit/>
          </a:bodyPr>
          <a:lstStyle/>
          <a:p>
            <a:r>
              <a:rPr lang="en-US" dirty="0">
                <a:latin typeface="+mn-lt"/>
              </a:rPr>
              <a:t>Future Value – 5 Years Later</a:t>
            </a:r>
          </a:p>
        </p:txBody>
      </p:sp>
      <p:sp>
        <p:nvSpPr>
          <p:cNvPr id="6" name="Content Placeholder 5">
            <a:extLst>
              <a:ext uri="{FF2B5EF4-FFF2-40B4-BE49-F238E27FC236}">
                <a16:creationId xmlns:a16="http://schemas.microsoft.com/office/drawing/2014/main" id="{45F19EF7-86D5-1CEC-62A9-584A00853DAD}"/>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748F422B-13B1-1C49-0056-CC381E17EA5B}"/>
              </a:ext>
            </a:extLst>
          </p:cNvPr>
          <p:cNvPicPr>
            <a:picLocks noChangeAspect="1"/>
          </p:cNvPicPr>
          <p:nvPr/>
        </p:nvPicPr>
        <p:blipFill>
          <a:blip r:embed="rId3"/>
          <a:stretch>
            <a:fillRect/>
          </a:stretch>
        </p:blipFill>
        <p:spPr>
          <a:xfrm>
            <a:off x="609600" y="1773777"/>
            <a:ext cx="10972800" cy="4636008"/>
          </a:xfrm>
          <a:prstGeom prst="rect">
            <a:avLst/>
          </a:prstGeom>
          <a:noFill/>
        </p:spPr>
      </p:pic>
    </p:spTree>
    <p:extLst>
      <p:ext uri="{BB962C8B-B14F-4D97-AF65-F5344CB8AC3E}">
        <p14:creationId xmlns:p14="http://schemas.microsoft.com/office/powerpoint/2010/main" val="3950105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86032" y="0"/>
            <a:ext cx="505663" cy="6858000"/>
          </a:xfrm>
          <a:prstGeom prst="rect">
            <a:avLst/>
          </a:prstGeom>
          <a:solidFill>
            <a:srgbClr val="1F4899"/>
          </a:solidFill>
          <a:ln/>
        </p:spPr>
        <p:txBody>
          <a:bodyPr/>
          <a:lstStyle/>
          <a:p>
            <a:endParaRPr lang="en-US"/>
          </a:p>
        </p:txBody>
      </p:sp>
      <p:sp>
        <p:nvSpPr>
          <p:cNvPr id="3" name="Text 1"/>
          <p:cNvSpPr/>
          <p:nvPr/>
        </p:nvSpPr>
        <p:spPr>
          <a:xfrm>
            <a:off x="502920" y="274320"/>
            <a:ext cx="10881360" cy="777240"/>
          </a:xfrm>
          <a:prstGeom prst="rect">
            <a:avLst/>
          </a:prstGeom>
          <a:noFill/>
          <a:ln/>
        </p:spPr>
        <p:txBody>
          <a:bodyPr wrap="square" lIns="0" tIns="0" rIns="0" bIns="0" rtlCol="0" anchor="ctr"/>
          <a:lstStyle/>
          <a:p>
            <a:pPr marL="0" indent="0" algn="l">
              <a:buNone/>
            </a:pPr>
            <a:r>
              <a:rPr lang="en-US" sz="2700" b="1" dirty="0">
                <a:solidFill>
                  <a:srgbClr val="1F4899"/>
                </a:solidFill>
                <a:latin typeface="Calibri" pitchFamily="34" charset="0"/>
                <a:ea typeface="Calibri" pitchFamily="34" charset="-122"/>
                <a:cs typeface="Calibri" pitchFamily="34" charset="-120"/>
              </a:rPr>
              <a:t>1.  Future Value &amp; Present Value</a:t>
            </a:r>
            <a:endParaRPr lang="en-US" sz="2700" dirty="0"/>
          </a:p>
        </p:txBody>
      </p:sp>
      <p:sp>
        <p:nvSpPr>
          <p:cNvPr id="4" name="Text 2"/>
          <p:cNvSpPr/>
          <p:nvPr/>
        </p:nvSpPr>
        <p:spPr>
          <a:xfrm>
            <a:off x="502920" y="18288"/>
            <a:ext cx="10881360" cy="256032"/>
          </a:xfrm>
          <a:prstGeom prst="rect">
            <a:avLst/>
          </a:prstGeom>
          <a:noFill/>
          <a:ln/>
        </p:spPr>
        <p:txBody>
          <a:bodyPr wrap="square" lIns="0" tIns="0" rIns="0" bIns="0" rtlCol="0" anchor="ctr"/>
          <a:lstStyle/>
          <a:p>
            <a:pPr marL="0" indent="0" algn="l">
              <a:buNone/>
            </a:pPr>
            <a:r>
              <a:rPr lang="en-US" sz="1100" b="1" kern="0" spc="100" dirty="0">
                <a:solidFill>
                  <a:srgbClr val="6B7280"/>
                </a:solidFill>
                <a:latin typeface="Calibri" pitchFamily="34" charset="0"/>
                <a:ea typeface="Calibri" pitchFamily="34" charset="-122"/>
                <a:cs typeface="Calibri" pitchFamily="34" charset="-120"/>
              </a:rPr>
              <a:t>TOPIC 1</a:t>
            </a:r>
            <a:endParaRPr lang="en-US" sz="1100" dirty="0"/>
          </a:p>
        </p:txBody>
      </p:sp>
      <p:sp>
        <p:nvSpPr>
          <p:cNvPr id="5" name="Text 3"/>
          <p:cNvSpPr/>
          <p:nvPr/>
        </p:nvSpPr>
        <p:spPr>
          <a:xfrm>
            <a:off x="11686032" y="6446520"/>
            <a:ext cx="505663" cy="32004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5</a:t>
            </a:r>
            <a:endParaRPr lang="en-US" sz="1100" dirty="0"/>
          </a:p>
        </p:txBody>
      </p:sp>
      <p:sp>
        <p:nvSpPr>
          <p:cNvPr id="6" name="Shape 4"/>
          <p:cNvSpPr/>
          <p:nvPr/>
        </p:nvSpPr>
        <p:spPr>
          <a:xfrm>
            <a:off x="502920" y="1234440"/>
            <a:ext cx="5349240" cy="1828800"/>
          </a:xfrm>
          <a:prstGeom prst="roundRect">
            <a:avLst>
              <a:gd name="adj" fmla="val 2500"/>
            </a:avLst>
          </a:prstGeom>
          <a:solidFill>
            <a:srgbClr val="E5FCED"/>
          </a:solidFill>
          <a:ln w="15875">
            <a:solidFill>
              <a:srgbClr val="63B84B"/>
            </a:solidFill>
            <a:prstDash val="solid"/>
          </a:ln>
        </p:spPr>
        <p:txBody>
          <a:bodyPr/>
          <a:lstStyle/>
          <a:p>
            <a:endParaRPr lang="en-US" sz="2800"/>
          </a:p>
        </p:txBody>
      </p:sp>
      <p:sp>
        <p:nvSpPr>
          <p:cNvPr id="7" name="Text 5"/>
          <p:cNvSpPr/>
          <p:nvPr/>
        </p:nvSpPr>
        <p:spPr>
          <a:xfrm>
            <a:off x="630936" y="1325880"/>
            <a:ext cx="5093208" cy="274320"/>
          </a:xfrm>
          <a:prstGeom prst="rect">
            <a:avLst/>
          </a:prstGeom>
          <a:noFill/>
          <a:ln/>
        </p:spPr>
        <p:txBody>
          <a:bodyPr wrap="square" lIns="0" tIns="0" rIns="0" bIns="0" rtlCol="0" anchor="ctr"/>
          <a:lstStyle/>
          <a:p>
            <a:pPr marL="0" indent="0" algn="l">
              <a:buNone/>
            </a:pPr>
            <a:r>
              <a:rPr lang="en-US" b="1" dirty="0">
                <a:solidFill>
                  <a:srgbClr val="15803D"/>
                </a:solidFill>
                <a:latin typeface="Calibri" pitchFamily="34" charset="0"/>
                <a:ea typeface="Calibri" pitchFamily="34" charset="-122"/>
                <a:cs typeface="Calibri" pitchFamily="34" charset="-120"/>
              </a:rPr>
              <a:t>Future Value (compounding)</a:t>
            </a:r>
            <a:endParaRPr lang="en-US" dirty="0"/>
          </a:p>
        </p:txBody>
      </p:sp>
      <p:sp>
        <p:nvSpPr>
          <p:cNvPr id="8" name="Text 6"/>
          <p:cNvSpPr/>
          <p:nvPr/>
        </p:nvSpPr>
        <p:spPr>
          <a:xfrm>
            <a:off x="649224" y="1655064"/>
            <a:ext cx="5056632" cy="1298448"/>
          </a:xfrm>
          <a:prstGeom prst="rect">
            <a:avLst/>
          </a:prstGeom>
          <a:noFill/>
          <a:ln/>
        </p:spPr>
        <p:txBody>
          <a:bodyPr wrap="square" lIns="0" tIns="0" rIns="0" bIns="0" rtlCol="0" anchor="ctr"/>
          <a:lstStyle/>
          <a:p>
            <a:pPr marL="0" indent="0" algn="ctr">
              <a:lnSpc>
                <a:spcPct val="102000"/>
              </a:lnSpc>
              <a:buNone/>
            </a:pPr>
            <a:r>
              <a:rPr lang="en-US" sz="2800" b="1" dirty="0">
                <a:solidFill>
                  <a:srgbClr val="15803D"/>
                </a:solidFill>
                <a:latin typeface="Cambria" pitchFamily="34" charset="0"/>
                <a:ea typeface="Cambria" pitchFamily="34" charset="-122"/>
                <a:cs typeface="Cambria" pitchFamily="34" charset="-120"/>
              </a:rPr>
              <a:t>FV = PV × (1 + r)ⁿ</a:t>
            </a:r>
            <a:endParaRPr lang="en-US" dirty="0"/>
          </a:p>
          <a:p>
            <a:pPr marL="0" indent="0" algn="ctr">
              <a:lnSpc>
                <a:spcPct val="102000"/>
              </a:lnSpc>
              <a:buNone/>
            </a:pPr>
            <a:r>
              <a:rPr lang="en-US" dirty="0">
                <a:solidFill>
                  <a:srgbClr val="6B7280"/>
                </a:solidFill>
                <a:latin typeface="Calibri" pitchFamily="34" charset="0"/>
                <a:ea typeface="Calibri" pitchFamily="34" charset="-122"/>
                <a:cs typeface="Calibri" pitchFamily="34" charset="-120"/>
              </a:rPr>
              <a:t>What a sum today grows into.</a:t>
            </a:r>
            <a:endParaRPr lang="en-US" dirty="0"/>
          </a:p>
        </p:txBody>
      </p:sp>
      <p:sp>
        <p:nvSpPr>
          <p:cNvPr id="9" name="Shape 7"/>
          <p:cNvSpPr/>
          <p:nvPr/>
        </p:nvSpPr>
        <p:spPr>
          <a:xfrm>
            <a:off x="6126480" y="1234440"/>
            <a:ext cx="5349240" cy="1828800"/>
          </a:xfrm>
          <a:prstGeom prst="roundRect">
            <a:avLst>
              <a:gd name="adj" fmla="val 2500"/>
            </a:avLst>
          </a:prstGeom>
          <a:solidFill>
            <a:srgbClr val="EFF6FF"/>
          </a:solidFill>
          <a:ln w="15875">
            <a:solidFill>
              <a:srgbClr val="3B82F6"/>
            </a:solidFill>
            <a:prstDash val="solid"/>
          </a:ln>
        </p:spPr>
        <p:txBody>
          <a:bodyPr/>
          <a:lstStyle/>
          <a:p>
            <a:endParaRPr lang="en-US" sz="2800"/>
          </a:p>
        </p:txBody>
      </p:sp>
      <p:sp>
        <p:nvSpPr>
          <p:cNvPr id="10" name="Text 8"/>
          <p:cNvSpPr/>
          <p:nvPr/>
        </p:nvSpPr>
        <p:spPr>
          <a:xfrm>
            <a:off x="6254496" y="1325880"/>
            <a:ext cx="5093208" cy="274320"/>
          </a:xfrm>
          <a:prstGeom prst="rect">
            <a:avLst/>
          </a:prstGeom>
          <a:noFill/>
          <a:ln/>
        </p:spPr>
        <p:txBody>
          <a:bodyPr wrap="square" lIns="0" tIns="0" rIns="0" bIns="0" rtlCol="0" anchor="ctr"/>
          <a:lstStyle/>
          <a:p>
            <a:pPr marL="0" indent="0" algn="l">
              <a:buNone/>
            </a:pPr>
            <a:r>
              <a:rPr lang="en-US" b="1" dirty="0">
                <a:solidFill>
                  <a:srgbClr val="1E40AF"/>
                </a:solidFill>
                <a:latin typeface="Calibri" pitchFamily="34" charset="0"/>
                <a:ea typeface="Calibri" pitchFamily="34" charset="-122"/>
                <a:cs typeface="Calibri" pitchFamily="34" charset="-120"/>
              </a:rPr>
              <a:t>Present Value (discounting)</a:t>
            </a:r>
            <a:endParaRPr lang="en-US" dirty="0"/>
          </a:p>
        </p:txBody>
      </p:sp>
      <p:sp>
        <p:nvSpPr>
          <p:cNvPr id="11" name="Text 9"/>
          <p:cNvSpPr/>
          <p:nvPr/>
        </p:nvSpPr>
        <p:spPr>
          <a:xfrm>
            <a:off x="6272784" y="1655064"/>
            <a:ext cx="5056632" cy="1298448"/>
          </a:xfrm>
          <a:prstGeom prst="rect">
            <a:avLst/>
          </a:prstGeom>
          <a:noFill/>
          <a:ln/>
        </p:spPr>
        <p:txBody>
          <a:bodyPr wrap="square" lIns="0" tIns="0" rIns="0" bIns="0" rtlCol="0" anchor="ctr"/>
          <a:lstStyle/>
          <a:p>
            <a:pPr marL="0" indent="0" algn="ctr">
              <a:lnSpc>
                <a:spcPct val="102000"/>
              </a:lnSpc>
              <a:buNone/>
            </a:pPr>
            <a:r>
              <a:rPr lang="en-US" sz="2800" b="1" dirty="0">
                <a:solidFill>
                  <a:srgbClr val="1E40AF"/>
                </a:solidFill>
                <a:latin typeface="Cambria" pitchFamily="34" charset="0"/>
                <a:ea typeface="Cambria" pitchFamily="34" charset="-122"/>
                <a:cs typeface="Cambria" pitchFamily="34" charset="-120"/>
              </a:rPr>
              <a:t>PV = FV ÷ (1 + r)ⁿ</a:t>
            </a:r>
            <a:endParaRPr lang="en-US" dirty="0"/>
          </a:p>
          <a:p>
            <a:pPr marL="0" indent="0" algn="ctr">
              <a:lnSpc>
                <a:spcPct val="102000"/>
              </a:lnSpc>
              <a:buNone/>
            </a:pPr>
            <a:r>
              <a:rPr lang="en-US" dirty="0">
                <a:solidFill>
                  <a:srgbClr val="6B7280"/>
                </a:solidFill>
                <a:latin typeface="Calibri" pitchFamily="34" charset="0"/>
                <a:ea typeface="Calibri" pitchFamily="34" charset="-122"/>
                <a:cs typeface="Calibri" pitchFamily="34" charset="-120"/>
              </a:rPr>
              <a:t>What a future sum is worth today.</a:t>
            </a:r>
            <a:endParaRPr lang="en-US" dirty="0"/>
          </a:p>
        </p:txBody>
      </p:sp>
      <p:sp>
        <p:nvSpPr>
          <p:cNvPr id="12" name="Shape 10"/>
          <p:cNvSpPr/>
          <p:nvPr/>
        </p:nvSpPr>
        <p:spPr>
          <a:xfrm>
            <a:off x="502920" y="3337560"/>
            <a:ext cx="10972800" cy="2743200"/>
          </a:xfrm>
          <a:prstGeom prst="roundRect">
            <a:avLst>
              <a:gd name="adj" fmla="val 1667"/>
            </a:avLst>
          </a:prstGeom>
          <a:solidFill>
            <a:srgbClr val="F8FAFC"/>
          </a:solidFill>
          <a:ln w="12700">
            <a:solidFill>
              <a:srgbClr val="D1D5DB"/>
            </a:solidFill>
            <a:prstDash val="solid"/>
          </a:ln>
        </p:spPr>
        <p:txBody>
          <a:bodyPr/>
          <a:lstStyle/>
          <a:p>
            <a:endParaRPr lang="en-US" sz="2800"/>
          </a:p>
        </p:txBody>
      </p:sp>
      <p:sp>
        <p:nvSpPr>
          <p:cNvPr id="13" name="Text 11"/>
          <p:cNvSpPr/>
          <p:nvPr/>
        </p:nvSpPr>
        <p:spPr>
          <a:xfrm>
            <a:off x="777240" y="3520440"/>
            <a:ext cx="10424160" cy="320040"/>
          </a:xfrm>
          <a:prstGeom prst="rect">
            <a:avLst/>
          </a:prstGeom>
          <a:noFill/>
          <a:ln/>
        </p:spPr>
        <p:txBody>
          <a:bodyPr wrap="square" rtlCol="0" anchor="ctr"/>
          <a:lstStyle/>
          <a:p>
            <a:pPr marL="0" indent="0">
              <a:buNone/>
            </a:pPr>
            <a:r>
              <a:rPr lang="en-US" sz="2000" b="1" dirty="0">
                <a:solidFill>
                  <a:srgbClr val="1F4899"/>
                </a:solidFill>
                <a:latin typeface="Calibri" pitchFamily="34" charset="0"/>
                <a:ea typeface="Calibri" pitchFamily="34" charset="-122"/>
                <a:cs typeface="Calibri" pitchFamily="34" charset="-120"/>
              </a:rPr>
              <a:t>Example  ·  r = 10%</a:t>
            </a:r>
            <a:endParaRPr lang="en-US" sz="2000" dirty="0"/>
          </a:p>
        </p:txBody>
      </p:sp>
      <p:sp>
        <p:nvSpPr>
          <p:cNvPr id="14" name="Text 12"/>
          <p:cNvSpPr/>
          <p:nvPr/>
        </p:nvSpPr>
        <p:spPr>
          <a:xfrm>
            <a:off x="1188720" y="3977640"/>
            <a:ext cx="2743200" cy="640080"/>
          </a:xfrm>
          <a:prstGeom prst="rect">
            <a:avLst/>
          </a:prstGeom>
          <a:noFill/>
          <a:ln/>
        </p:spPr>
        <p:txBody>
          <a:bodyPr wrap="square" lIns="0" tIns="0" rIns="0" bIns="0" rtlCol="0" anchor="ctr"/>
          <a:lstStyle/>
          <a:p>
            <a:pPr marL="0" indent="0" algn="ctr">
              <a:buNone/>
            </a:pPr>
            <a:r>
              <a:rPr lang="en-US" sz="4000" b="1" dirty="0">
                <a:solidFill>
                  <a:srgbClr val="1F4899"/>
                </a:solidFill>
                <a:latin typeface="Calibri" pitchFamily="34" charset="0"/>
                <a:ea typeface="Calibri" pitchFamily="34" charset="-122"/>
                <a:cs typeface="Calibri" pitchFamily="34" charset="-120"/>
              </a:rPr>
              <a:t>$10,000</a:t>
            </a:r>
            <a:endParaRPr lang="en-US" sz="4000" dirty="0"/>
          </a:p>
        </p:txBody>
      </p:sp>
      <p:sp>
        <p:nvSpPr>
          <p:cNvPr id="15" name="Text 13"/>
          <p:cNvSpPr/>
          <p:nvPr/>
        </p:nvSpPr>
        <p:spPr>
          <a:xfrm>
            <a:off x="1188720" y="4544568"/>
            <a:ext cx="2743200" cy="365760"/>
          </a:xfrm>
          <a:prstGeom prst="rect">
            <a:avLst/>
          </a:prstGeom>
          <a:noFill/>
          <a:ln/>
        </p:spPr>
        <p:txBody>
          <a:bodyPr wrap="square" lIns="0" tIns="0" rIns="0" bIns="0" rtlCol="0" anchor="ctr"/>
          <a:lstStyle/>
          <a:p>
            <a:pPr marL="0" indent="0" algn="ctr">
              <a:buNone/>
            </a:pPr>
            <a:r>
              <a:rPr lang="en-US" dirty="0">
                <a:solidFill>
                  <a:srgbClr val="6B7280"/>
                </a:solidFill>
                <a:latin typeface="Calibri" pitchFamily="34" charset="0"/>
                <a:ea typeface="Calibri" pitchFamily="34" charset="-122"/>
                <a:cs typeface="Calibri" pitchFamily="34" charset="-120"/>
              </a:rPr>
              <a:t>today (t = 0)</a:t>
            </a:r>
            <a:endParaRPr lang="en-US" dirty="0"/>
          </a:p>
        </p:txBody>
      </p:sp>
      <p:sp>
        <p:nvSpPr>
          <p:cNvPr id="16" name="Shape 14"/>
          <p:cNvSpPr/>
          <p:nvPr/>
        </p:nvSpPr>
        <p:spPr>
          <a:xfrm>
            <a:off x="4114800" y="4297680"/>
            <a:ext cx="1371600" cy="0"/>
          </a:xfrm>
          <a:prstGeom prst="line">
            <a:avLst/>
          </a:prstGeom>
          <a:noFill/>
          <a:ln w="25400">
            <a:solidFill>
              <a:srgbClr val="15803D"/>
            </a:solidFill>
            <a:prstDash val="solid"/>
            <a:tailEnd type="triangle"/>
          </a:ln>
        </p:spPr>
        <p:txBody>
          <a:bodyPr/>
          <a:lstStyle/>
          <a:p>
            <a:endParaRPr lang="en-US" sz="2800"/>
          </a:p>
        </p:txBody>
      </p:sp>
      <p:sp>
        <p:nvSpPr>
          <p:cNvPr id="17" name="Text 15"/>
          <p:cNvSpPr/>
          <p:nvPr/>
        </p:nvSpPr>
        <p:spPr>
          <a:xfrm>
            <a:off x="4114800" y="3977640"/>
            <a:ext cx="1371600" cy="274320"/>
          </a:xfrm>
          <a:prstGeom prst="rect">
            <a:avLst/>
          </a:prstGeom>
          <a:noFill/>
          <a:ln/>
        </p:spPr>
        <p:txBody>
          <a:bodyPr wrap="square" lIns="0" tIns="0" rIns="0" bIns="0" rtlCol="0" anchor="ctr"/>
          <a:lstStyle/>
          <a:p>
            <a:pPr marL="0" indent="0" algn="ctr">
              <a:buNone/>
            </a:pPr>
            <a:r>
              <a:rPr lang="en-US" dirty="0">
                <a:solidFill>
                  <a:srgbClr val="15803D"/>
                </a:solidFill>
                <a:latin typeface="Calibri" pitchFamily="34" charset="0"/>
                <a:ea typeface="Calibri" pitchFamily="34" charset="-122"/>
                <a:cs typeface="Calibri" pitchFamily="34" charset="-120"/>
              </a:rPr>
              <a:t>× 1.10</a:t>
            </a:r>
            <a:endParaRPr lang="en-US" dirty="0"/>
          </a:p>
        </p:txBody>
      </p:sp>
      <p:sp>
        <p:nvSpPr>
          <p:cNvPr id="18" name="Text 16"/>
          <p:cNvSpPr/>
          <p:nvPr/>
        </p:nvSpPr>
        <p:spPr>
          <a:xfrm>
            <a:off x="5577840" y="3977640"/>
            <a:ext cx="2743200" cy="640080"/>
          </a:xfrm>
          <a:prstGeom prst="rect">
            <a:avLst/>
          </a:prstGeom>
          <a:noFill/>
          <a:ln/>
        </p:spPr>
        <p:txBody>
          <a:bodyPr wrap="square" lIns="0" tIns="0" rIns="0" bIns="0" rtlCol="0" anchor="ctr"/>
          <a:lstStyle/>
          <a:p>
            <a:pPr marL="0" indent="0" algn="ctr">
              <a:buNone/>
            </a:pPr>
            <a:r>
              <a:rPr lang="en-US" sz="4000" b="1" dirty="0">
                <a:solidFill>
                  <a:srgbClr val="15803D"/>
                </a:solidFill>
                <a:latin typeface="Calibri" pitchFamily="34" charset="0"/>
                <a:ea typeface="Calibri" pitchFamily="34" charset="-122"/>
                <a:cs typeface="Calibri" pitchFamily="34" charset="-120"/>
              </a:rPr>
              <a:t>$11,000</a:t>
            </a:r>
            <a:endParaRPr lang="en-US" sz="4000" dirty="0"/>
          </a:p>
        </p:txBody>
      </p:sp>
      <p:sp>
        <p:nvSpPr>
          <p:cNvPr id="19" name="Text 17"/>
          <p:cNvSpPr/>
          <p:nvPr/>
        </p:nvSpPr>
        <p:spPr>
          <a:xfrm>
            <a:off x="5577840" y="4544568"/>
            <a:ext cx="2743200" cy="365760"/>
          </a:xfrm>
          <a:prstGeom prst="rect">
            <a:avLst/>
          </a:prstGeom>
          <a:noFill/>
          <a:ln/>
        </p:spPr>
        <p:txBody>
          <a:bodyPr wrap="square" lIns="0" tIns="0" rIns="0" bIns="0" rtlCol="0" anchor="ctr"/>
          <a:lstStyle/>
          <a:p>
            <a:pPr marL="0" indent="0" algn="ctr">
              <a:buNone/>
            </a:pPr>
            <a:r>
              <a:rPr lang="en-US" dirty="0">
                <a:solidFill>
                  <a:srgbClr val="6B7280"/>
                </a:solidFill>
                <a:latin typeface="Calibri" pitchFamily="34" charset="0"/>
                <a:ea typeface="Calibri" pitchFamily="34" charset="-122"/>
                <a:cs typeface="Calibri" pitchFamily="34" charset="-120"/>
              </a:rPr>
              <a:t>in 1 year</a:t>
            </a:r>
            <a:endParaRPr lang="en-US" dirty="0"/>
          </a:p>
        </p:txBody>
      </p:sp>
      <p:sp>
        <p:nvSpPr>
          <p:cNvPr id="20" name="Shape 18"/>
          <p:cNvSpPr/>
          <p:nvPr/>
        </p:nvSpPr>
        <p:spPr>
          <a:xfrm>
            <a:off x="8503920" y="4297680"/>
            <a:ext cx="1371600" cy="0"/>
          </a:xfrm>
          <a:prstGeom prst="line">
            <a:avLst/>
          </a:prstGeom>
          <a:noFill/>
          <a:ln w="25400">
            <a:solidFill>
              <a:srgbClr val="15803D"/>
            </a:solidFill>
            <a:prstDash val="solid"/>
            <a:tailEnd type="triangle"/>
          </a:ln>
        </p:spPr>
        <p:txBody>
          <a:bodyPr/>
          <a:lstStyle/>
          <a:p>
            <a:endParaRPr lang="en-US" sz="2800"/>
          </a:p>
        </p:txBody>
      </p:sp>
      <p:sp>
        <p:nvSpPr>
          <p:cNvPr id="21" name="Text 19"/>
          <p:cNvSpPr/>
          <p:nvPr/>
        </p:nvSpPr>
        <p:spPr>
          <a:xfrm>
            <a:off x="8503920" y="3977640"/>
            <a:ext cx="1371600" cy="274320"/>
          </a:xfrm>
          <a:prstGeom prst="rect">
            <a:avLst/>
          </a:prstGeom>
          <a:noFill/>
          <a:ln/>
        </p:spPr>
        <p:txBody>
          <a:bodyPr wrap="square" lIns="0" tIns="0" rIns="0" bIns="0" rtlCol="0" anchor="ctr"/>
          <a:lstStyle/>
          <a:p>
            <a:pPr marL="0" indent="0" algn="ctr">
              <a:buNone/>
            </a:pPr>
            <a:r>
              <a:rPr lang="en-US" dirty="0">
                <a:solidFill>
                  <a:srgbClr val="15803D"/>
                </a:solidFill>
                <a:latin typeface="Calibri" pitchFamily="34" charset="0"/>
                <a:ea typeface="Calibri" pitchFamily="34" charset="-122"/>
                <a:cs typeface="Calibri" pitchFamily="34" charset="-120"/>
              </a:rPr>
              <a:t>× 1.10⁵</a:t>
            </a:r>
            <a:endParaRPr lang="en-US" dirty="0"/>
          </a:p>
        </p:txBody>
      </p:sp>
      <p:sp>
        <p:nvSpPr>
          <p:cNvPr id="22" name="Text 20"/>
          <p:cNvSpPr/>
          <p:nvPr/>
        </p:nvSpPr>
        <p:spPr>
          <a:xfrm>
            <a:off x="9601200" y="3977640"/>
            <a:ext cx="2011680" cy="640080"/>
          </a:xfrm>
          <a:prstGeom prst="rect">
            <a:avLst/>
          </a:prstGeom>
          <a:noFill/>
          <a:ln/>
        </p:spPr>
        <p:txBody>
          <a:bodyPr wrap="square" lIns="0" tIns="0" rIns="0" bIns="0" rtlCol="0" anchor="ctr"/>
          <a:lstStyle/>
          <a:p>
            <a:pPr marL="0" indent="0" algn="ctr">
              <a:buNone/>
            </a:pPr>
            <a:r>
              <a:rPr lang="en-US" sz="4000" b="1" dirty="0">
                <a:solidFill>
                  <a:srgbClr val="15803D"/>
                </a:solidFill>
                <a:latin typeface="Calibri" pitchFamily="34" charset="0"/>
                <a:ea typeface="Calibri" pitchFamily="34" charset="-122"/>
                <a:cs typeface="Calibri" pitchFamily="34" charset="-120"/>
              </a:rPr>
              <a:t>$16,105</a:t>
            </a:r>
            <a:endParaRPr lang="en-US" sz="4000" dirty="0"/>
          </a:p>
        </p:txBody>
      </p:sp>
      <p:sp>
        <p:nvSpPr>
          <p:cNvPr id="23" name="Text 21"/>
          <p:cNvSpPr/>
          <p:nvPr/>
        </p:nvSpPr>
        <p:spPr>
          <a:xfrm>
            <a:off x="9601200" y="4544568"/>
            <a:ext cx="2011680" cy="365760"/>
          </a:xfrm>
          <a:prstGeom prst="rect">
            <a:avLst/>
          </a:prstGeom>
          <a:noFill/>
          <a:ln/>
        </p:spPr>
        <p:txBody>
          <a:bodyPr wrap="square" lIns="0" tIns="0" rIns="0" bIns="0" rtlCol="0" anchor="ctr"/>
          <a:lstStyle/>
          <a:p>
            <a:pPr marL="0" indent="0" algn="ctr">
              <a:buNone/>
            </a:pPr>
            <a:r>
              <a:rPr lang="en-US" dirty="0">
                <a:solidFill>
                  <a:srgbClr val="6B7280"/>
                </a:solidFill>
                <a:latin typeface="Calibri" pitchFamily="34" charset="0"/>
                <a:ea typeface="Calibri" pitchFamily="34" charset="-122"/>
                <a:cs typeface="Calibri" pitchFamily="34" charset="-120"/>
              </a:rPr>
              <a:t>in 5 years</a:t>
            </a:r>
            <a:endParaRPr lang="en-US" dirty="0"/>
          </a:p>
        </p:txBody>
      </p:sp>
      <p:sp>
        <p:nvSpPr>
          <p:cNvPr id="24" name="Text 22"/>
          <p:cNvSpPr/>
          <p:nvPr/>
        </p:nvSpPr>
        <p:spPr>
          <a:xfrm>
            <a:off x="777240" y="5440680"/>
            <a:ext cx="10424160" cy="457200"/>
          </a:xfrm>
          <a:prstGeom prst="rect">
            <a:avLst/>
          </a:prstGeom>
          <a:noFill/>
          <a:ln/>
        </p:spPr>
        <p:txBody>
          <a:bodyPr wrap="square" rtlCol="0" anchor="ctr"/>
          <a:lstStyle/>
          <a:p>
            <a:pPr marL="0" indent="0">
              <a:buNone/>
            </a:pPr>
            <a:r>
              <a:rPr lang="en-US" i="1" dirty="0">
                <a:solidFill>
                  <a:srgbClr val="6B7280"/>
                </a:solidFill>
                <a:latin typeface="Calibri" pitchFamily="34" charset="0"/>
                <a:ea typeface="Calibri" pitchFamily="34" charset="-122"/>
                <a:cs typeface="Calibri" pitchFamily="34" charset="-120"/>
              </a:rPr>
              <a:t>Run it backwards — discounting — and $16,105 in five years is worth exactly $10,000 today.</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C912D-5100-C337-006B-22467B0BF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3A8C6-8264-E4A9-3201-B11EC2302F7E}"/>
              </a:ext>
            </a:extLst>
          </p:cNvPr>
          <p:cNvSpPr>
            <a:spLocks noGrp="1"/>
          </p:cNvSpPr>
          <p:nvPr>
            <p:ph type="title"/>
          </p:nvPr>
        </p:nvSpPr>
        <p:spPr/>
        <p:txBody>
          <a:bodyPr anchor="ctr">
            <a:normAutofit/>
          </a:bodyPr>
          <a:lstStyle/>
          <a:p>
            <a:r>
              <a:rPr lang="en-US" dirty="0">
                <a:latin typeface="+mn-lt"/>
              </a:rPr>
              <a:t>Annuity</a:t>
            </a:r>
          </a:p>
        </p:txBody>
      </p:sp>
      <p:pic>
        <p:nvPicPr>
          <p:cNvPr id="5" name="Picture 4">
            <a:extLst>
              <a:ext uri="{FF2B5EF4-FFF2-40B4-BE49-F238E27FC236}">
                <a16:creationId xmlns:a16="http://schemas.microsoft.com/office/drawing/2014/main" id="{107309DC-0961-736C-8D25-EF7B36949564}"/>
              </a:ext>
            </a:extLst>
          </p:cNvPr>
          <p:cNvPicPr>
            <a:picLocks noChangeAspect="1"/>
          </p:cNvPicPr>
          <p:nvPr/>
        </p:nvPicPr>
        <p:blipFill>
          <a:blip r:embed="rId3"/>
          <a:stretch>
            <a:fillRect/>
          </a:stretch>
        </p:blipFill>
        <p:spPr>
          <a:xfrm>
            <a:off x="1835843" y="1229032"/>
            <a:ext cx="7731067" cy="5504378"/>
          </a:xfrm>
          <a:prstGeom prst="rect">
            <a:avLst/>
          </a:prstGeom>
        </p:spPr>
      </p:pic>
    </p:spTree>
    <p:extLst>
      <p:ext uri="{BB962C8B-B14F-4D97-AF65-F5344CB8AC3E}">
        <p14:creationId xmlns:p14="http://schemas.microsoft.com/office/powerpoint/2010/main" val="3523042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76ECA-870D-DEAE-E1D2-5F9707A81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7B4A6-9AA6-03D9-351E-95E182C2B190}"/>
              </a:ext>
            </a:extLst>
          </p:cNvPr>
          <p:cNvSpPr>
            <a:spLocks noGrp="1"/>
          </p:cNvSpPr>
          <p:nvPr>
            <p:ph type="title"/>
          </p:nvPr>
        </p:nvSpPr>
        <p:spPr/>
        <p:txBody>
          <a:bodyPr anchor="ctr">
            <a:normAutofit/>
          </a:bodyPr>
          <a:lstStyle/>
          <a:p>
            <a:r>
              <a:rPr lang="en-US" dirty="0">
                <a:latin typeface="+mn-lt"/>
              </a:rPr>
              <a:t>Perpetuity</a:t>
            </a:r>
          </a:p>
        </p:txBody>
      </p:sp>
      <p:pic>
        <p:nvPicPr>
          <p:cNvPr id="5" name="Picture 4">
            <a:extLst>
              <a:ext uri="{FF2B5EF4-FFF2-40B4-BE49-F238E27FC236}">
                <a16:creationId xmlns:a16="http://schemas.microsoft.com/office/drawing/2014/main" id="{FEE4D5BE-9F68-5868-FF4F-5091D8AB86EE}"/>
              </a:ext>
            </a:extLst>
          </p:cNvPr>
          <p:cNvPicPr>
            <a:picLocks noChangeAspect="1"/>
          </p:cNvPicPr>
          <p:nvPr/>
        </p:nvPicPr>
        <p:blipFill>
          <a:blip r:embed="rId3"/>
          <a:stretch>
            <a:fillRect/>
          </a:stretch>
        </p:blipFill>
        <p:spPr>
          <a:xfrm>
            <a:off x="1528125" y="1173584"/>
            <a:ext cx="8518845" cy="5409778"/>
          </a:xfrm>
          <a:prstGeom prst="rect">
            <a:avLst/>
          </a:prstGeom>
        </p:spPr>
      </p:pic>
    </p:spTree>
    <p:extLst>
      <p:ext uri="{BB962C8B-B14F-4D97-AF65-F5344CB8AC3E}">
        <p14:creationId xmlns:p14="http://schemas.microsoft.com/office/powerpoint/2010/main" val="1486874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C4169-BEEB-BD26-8462-F361384178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05527-06FA-6411-2815-0ADA9779BAF8}"/>
              </a:ext>
            </a:extLst>
          </p:cNvPr>
          <p:cNvSpPr>
            <a:spLocks noGrp="1"/>
          </p:cNvSpPr>
          <p:nvPr>
            <p:ph type="title"/>
          </p:nvPr>
        </p:nvSpPr>
        <p:spPr/>
        <p:txBody>
          <a:bodyPr/>
          <a:lstStyle/>
          <a:p>
            <a:r>
              <a:rPr lang="en-US" dirty="0">
                <a:latin typeface="+mn-lt"/>
              </a:rPr>
              <a:t>2. Meet Mr. Market – Price vs Value</a:t>
            </a:r>
          </a:p>
        </p:txBody>
      </p:sp>
    </p:spTree>
    <p:extLst>
      <p:ext uri="{BB962C8B-B14F-4D97-AF65-F5344CB8AC3E}">
        <p14:creationId xmlns:p14="http://schemas.microsoft.com/office/powerpoint/2010/main" val="3516434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67123-BA79-6371-69D8-601CA6105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60BC4E-2693-1987-DD5D-94A0ACAC795B}"/>
              </a:ext>
            </a:extLst>
          </p:cNvPr>
          <p:cNvSpPr>
            <a:spLocks noGrp="1"/>
          </p:cNvSpPr>
          <p:nvPr>
            <p:ph type="title"/>
          </p:nvPr>
        </p:nvSpPr>
        <p:spPr/>
        <p:txBody>
          <a:bodyPr>
            <a:normAutofit/>
          </a:bodyPr>
          <a:lstStyle/>
          <a:p>
            <a:r>
              <a:rPr lang="en-US" dirty="0">
                <a:latin typeface="+mn-lt"/>
              </a:rPr>
              <a:t>Who is Mr. Market? </a:t>
            </a:r>
          </a:p>
        </p:txBody>
      </p:sp>
      <p:sp>
        <p:nvSpPr>
          <p:cNvPr id="8" name="Text 4">
            <a:extLst>
              <a:ext uri="{FF2B5EF4-FFF2-40B4-BE49-F238E27FC236}">
                <a16:creationId xmlns:a16="http://schemas.microsoft.com/office/drawing/2014/main" id="{DA1FD122-9FA1-7603-938E-E631EF76BF28}"/>
              </a:ext>
            </a:extLst>
          </p:cNvPr>
          <p:cNvSpPr/>
          <p:nvPr/>
        </p:nvSpPr>
        <p:spPr>
          <a:xfrm>
            <a:off x="508000" y="2841626"/>
            <a:ext cx="10751676" cy="3489726"/>
          </a:xfrm>
          <a:prstGeom prst="roundRect">
            <a:avLst>
              <a:gd name="adj" fmla="val 0"/>
            </a:avLst>
          </a:prstGeom>
          <a:solidFill>
            <a:srgbClr val="EFF6FF"/>
          </a:solidFill>
          <a:ln w="12700">
            <a:solidFill>
              <a:srgbClr val="3B82F6"/>
            </a:solidFill>
          </a:ln>
        </p:spPr>
        <p:txBody>
          <a:bodyPr wrap="square" rtlCol="0" anchor="ctr"/>
          <a:lstStyle/>
          <a:p>
            <a:pPr marL="285750" lvl="0" indent="-285750">
              <a:buFont typeface="Arial" panose="020B0604020202020204" pitchFamily="34" charset="0"/>
              <a:buChar char="•"/>
            </a:pPr>
            <a:endParaRPr lang="en-US" sz="2000" dirty="0"/>
          </a:p>
          <a:p>
            <a:pPr marL="285750" lvl="0" indent="-285750">
              <a:buFont typeface="Arial" panose="020B0604020202020204" pitchFamily="34" charset="0"/>
              <a:buChar char="•"/>
            </a:pPr>
            <a:r>
              <a:rPr lang="en-US" sz="2000" dirty="0"/>
              <a:t>Imagine you own a small business with a partner, Mr. Market. Every day, without fail, he offers to either buy your share or sell you his — and he names a price.</a:t>
            </a:r>
          </a:p>
          <a:p>
            <a:pPr marL="285750" lvl="0" indent="-285750">
              <a:buFont typeface="Arial" panose="020B0604020202020204" pitchFamily="34" charset="0"/>
              <a:buChar char="•"/>
            </a:pPr>
            <a:r>
              <a:rPr lang="en-US" sz="2000" dirty="0"/>
              <a:t>Mr. Market is emotional. Some days he is euphoric and quotes a wildly high price; other days he is despondent and quotes a price far below the business’s worth. His </a:t>
            </a:r>
            <a:r>
              <a:rPr lang="en-US" sz="2000" i="1" dirty="0"/>
              <a:t>mood</a:t>
            </a:r>
            <a:r>
              <a:rPr lang="en-US" sz="2000" dirty="0"/>
              <a:t>, not the business, drives his quote.</a:t>
            </a:r>
          </a:p>
          <a:p>
            <a:pPr marL="285750" lvl="0" indent="-285750">
              <a:buFont typeface="Arial" panose="020B0604020202020204" pitchFamily="34" charset="0"/>
              <a:buChar char="•"/>
            </a:pPr>
            <a:r>
              <a:rPr lang="en-US" sz="2000" dirty="0"/>
              <a:t>The crucial point: Mr. Market is there to </a:t>
            </a:r>
            <a:r>
              <a:rPr lang="en-US" sz="2000" b="1" dirty="0"/>
              <a:t>serve</a:t>
            </a:r>
            <a:r>
              <a:rPr lang="en-US" sz="2000" dirty="0"/>
              <a:t> you, not to </a:t>
            </a:r>
            <a:r>
              <a:rPr lang="en-US" sz="2000" b="1" dirty="0"/>
              <a:t>instruct</a:t>
            </a:r>
            <a:r>
              <a:rPr lang="en-US" sz="2000" dirty="0"/>
              <a:t> you. You may trade with him when his price is attractive and ignore him when it is not. He will be back tomorrow with a new quote.</a:t>
            </a:r>
          </a:p>
        </p:txBody>
      </p:sp>
      <p:sp>
        <p:nvSpPr>
          <p:cNvPr id="9" name="Text 5">
            <a:extLst>
              <a:ext uri="{FF2B5EF4-FFF2-40B4-BE49-F238E27FC236}">
                <a16:creationId xmlns:a16="http://schemas.microsoft.com/office/drawing/2014/main" id="{2D75BFC6-0CA1-108F-67A4-D00356289994}"/>
              </a:ext>
            </a:extLst>
          </p:cNvPr>
          <p:cNvSpPr/>
          <p:nvPr/>
        </p:nvSpPr>
        <p:spPr>
          <a:xfrm>
            <a:off x="736601" y="3070226"/>
            <a:ext cx="5155692" cy="284361"/>
          </a:xfrm>
          <a:prstGeom prst="rect">
            <a:avLst/>
          </a:prstGeom>
          <a:noFill/>
          <a:ln/>
        </p:spPr>
        <p:txBody>
          <a:bodyPr wrap="square" lIns="0" tIns="0" rIns="0" bIns="0" rtlCol="0" anchor="t"/>
          <a:lstStyle/>
          <a:p>
            <a:pPr>
              <a:lnSpc>
                <a:spcPts val="2240"/>
              </a:lnSpc>
              <a:spcAft>
                <a:spcPts val="800"/>
              </a:spcAft>
            </a:pPr>
            <a:r>
              <a:rPr lang="en-US" sz="1600" b="1" dirty="0">
                <a:solidFill>
                  <a:srgbClr val="1E40AF"/>
                </a:solidFill>
                <a:latin typeface="Arial" pitchFamily="34" charset="0"/>
                <a:ea typeface="Arial" pitchFamily="34" charset="-122"/>
                <a:cs typeface="Arial" pitchFamily="34" charset="-120"/>
              </a:rPr>
              <a:t> </a:t>
            </a:r>
            <a:r>
              <a:rPr lang="en-US" sz="2000" b="1" dirty="0">
                <a:solidFill>
                  <a:srgbClr val="1E40AF"/>
                </a:solidFill>
                <a:latin typeface="Arial" pitchFamily="34" charset="0"/>
                <a:ea typeface="Arial" pitchFamily="34" charset="-122"/>
                <a:cs typeface="Arial" pitchFamily="34" charset="-120"/>
              </a:rPr>
              <a:t>The Parable (in brief)</a:t>
            </a:r>
            <a:endParaRPr lang="en-US" sz="1600" dirty="0"/>
          </a:p>
        </p:txBody>
      </p:sp>
      <p:sp>
        <p:nvSpPr>
          <p:cNvPr id="5" name="Text 1">
            <a:extLst>
              <a:ext uri="{FF2B5EF4-FFF2-40B4-BE49-F238E27FC236}">
                <a16:creationId xmlns:a16="http://schemas.microsoft.com/office/drawing/2014/main" id="{2C2F89D8-F085-FF05-F186-F412B4D0FFFC}"/>
              </a:ext>
            </a:extLst>
          </p:cNvPr>
          <p:cNvSpPr/>
          <p:nvPr/>
        </p:nvSpPr>
        <p:spPr>
          <a:xfrm>
            <a:off x="508000" y="1416128"/>
            <a:ext cx="10733936" cy="1006407"/>
          </a:xfrm>
          <a:prstGeom prst="roundRect">
            <a:avLst>
              <a:gd name="adj" fmla="val 0"/>
            </a:avLst>
          </a:prstGeom>
          <a:solidFill>
            <a:srgbClr val="E8F5E9"/>
          </a:solidFill>
          <a:ln w="12700">
            <a:solidFill>
              <a:srgbClr val="92D050"/>
            </a:solidFill>
          </a:ln>
        </p:spPr>
        <p:txBody>
          <a:bodyPr wrap="square" rtlCol="0" anchor="ctr"/>
          <a:lstStyle/>
          <a:p>
            <a:endParaRPr lang="en-US" sz="2000" dirty="0"/>
          </a:p>
        </p:txBody>
      </p:sp>
      <p:sp>
        <p:nvSpPr>
          <p:cNvPr id="13" name="Text 3">
            <a:extLst>
              <a:ext uri="{FF2B5EF4-FFF2-40B4-BE49-F238E27FC236}">
                <a16:creationId xmlns:a16="http://schemas.microsoft.com/office/drawing/2014/main" id="{0B39A343-157E-E738-C9C6-1117DA679946}"/>
              </a:ext>
            </a:extLst>
          </p:cNvPr>
          <p:cNvSpPr/>
          <p:nvPr/>
        </p:nvSpPr>
        <p:spPr>
          <a:xfrm>
            <a:off x="684999" y="1589137"/>
            <a:ext cx="10574676" cy="282748"/>
          </a:xfrm>
          <a:prstGeom prst="rect">
            <a:avLst/>
          </a:prstGeom>
          <a:noFill/>
          <a:ln/>
        </p:spPr>
        <p:txBody>
          <a:bodyPr wrap="square" lIns="0" tIns="0" rIns="0" bIns="0" rtlCol="0" anchor="t"/>
          <a:lstStyle/>
          <a:p>
            <a:pPr>
              <a:lnSpc>
                <a:spcPts val="1540"/>
              </a:lnSpc>
              <a:spcAft>
                <a:spcPts val="400"/>
              </a:spcAft>
            </a:pPr>
            <a:r>
              <a:rPr lang="en-US" sz="2000" b="1" dirty="0">
                <a:solidFill>
                  <a:srgbClr val="15803D"/>
                </a:solidFill>
                <a:latin typeface="Arial" pitchFamily="34" charset="0"/>
                <a:ea typeface="Arial" pitchFamily="34" charset="-122"/>
                <a:cs typeface="Arial" pitchFamily="34" charset="-120"/>
              </a:rPr>
              <a:t>The parable told by Benjamin Graham in </a:t>
            </a:r>
            <a:r>
              <a:rPr lang="en-US" sz="2000" b="1" i="1" dirty="0">
                <a:solidFill>
                  <a:srgbClr val="15803D"/>
                </a:solidFill>
                <a:latin typeface="Arial" pitchFamily="34" charset="0"/>
                <a:ea typeface="Arial" pitchFamily="34" charset="-122"/>
                <a:cs typeface="Arial" pitchFamily="34" charset="-120"/>
              </a:rPr>
              <a:t>The Intelligent Investor</a:t>
            </a:r>
            <a:endParaRPr lang="en-US" sz="2000" i="1" dirty="0"/>
          </a:p>
        </p:txBody>
      </p:sp>
      <p:sp>
        <p:nvSpPr>
          <p:cNvPr id="15" name="Text 4">
            <a:extLst>
              <a:ext uri="{FF2B5EF4-FFF2-40B4-BE49-F238E27FC236}">
                <a16:creationId xmlns:a16="http://schemas.microsoft.com/office/drawing/2014/main" id="{5EC90E31-D517-B517-03DD-6385C92653BB}"/>
              </a:ext>
            </a:extLst>
          </p:cNvPr>
          <p:cNvSpPr/>
          <p:nvPr/>
        </p:nvSpPr>
        <p:spPr>
          <a:xfrm>
            <a:off x="968870" y="1919331"/>
            <a:ext cx="9957631" cy="497006"/>
          </a:xfrm>
          <a:prstGeom prst="rect">
            <a:avLst/>
          </a:prstGeom>
          <a:noFill/>
          <a:ln/>
        </p:spPr>
        <p:txBody>
          <a:bodyPr wrap="square" lIns="0" tIns="0" rIns="0" bIns="0" rtlCol="0" anchor="t"/>
          <a:lstStyle/>
          <a:p>
            <a:pPr marL="342900" indent="-342900">
              <a:lnSpc>
                <a:spcPts val="2551"/>
              </a:lnSpc>
              <a:buFont typeface="Arial" panose="020B0604020202020204" pitchFamily="34" charset="0"/>
              <a:buChar char="•"/>
            </a:pPr>
            <a:r>
              <a:rPr lang="en-US" sz="2000" dirty="0"/>
              <a:t>Warren Buffett retold the story in his 1987 letter to Berkshire Hathaway shareholders </a:t>
            </a:r>
            <a:endParaRPr lang="en-US" sz="1600" dirty="0"/>
          </a:p>
        </p:txBody>
      </p:sp>
    </p:spTree>
    <p:extLst>
      <p:ext uri="{BB962C8B-B14F-4D97-AF65-F5344CB8AC3E}">
        <p14:creationId xmlns:p14="http://schemas.microsoft.com/office/powerpoint/2010/main" val="2821748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374A6-ECD7-C05B-EF44-CBA40EE91F3D}"/>
            </a:ext>
          </a:extLst>
        </p:cNvPr>
        <p:cNvGrpSpPr/>
        <p:nvPr/>
      </p:nvGrpSpPr>
      <p:grpSpPr>
        <a:xfrm>
          <a:off x="0" y="0"/>
          <a:ext cx="0" cy="0"/>
          <a:chOff x="0" y="0"/>
          <a:chExt cx="0" cy="0"/>
        </a:xfrm>
      </p:grpSpPr>
      <p:sp>
        <p:nvSpPr>
          <p:cNvPr id="7" name="Text 26">
            <a:extLst>
              <a:ext uri="{FF2B5EF4-FFF2-40B4-BE49-F238E27FC236}">
                <a16:creationId xmlns:a16="http://schemas.microsoft.com/office/drawing/2014/main" id="{B7CFD5E7-A455-92BA-E309-DA46105C01E3}"/>
              </a:ext>
            </a:extLst>
          </p:cNvPr>
          <p:cNvSpPr/>
          <p:nvPr/>
        </p:nvSpPr>
        <p:spPr>
          <a:xfrm>
            <a:off x="387353" y="1817369"/>
            <a:ext cx="10972800" cy="4103053"/>
          </a:xfrm>
          <a:prstGeom prst="roundRect">
            <a:avLst>
              <a:gd name="adj" fmla="val 0"/>
            </a:avLst>
          </a:prstGeom>
          <a:solidFill>
            <a:srgbClr val="FEF2F2"/>
          </a:solidFill>
          <a:ln w="9525">
            <a:solidFill>
              <a:srgbClr val="EF4444"/>
            </a:solidFill>
          </a:ln>
        </p:spPr>
        <p:txBody>
          <a:bodyPr wrap="square" rtlCol="0" anchor="ctr"/>
          <a:lstStyle/>
          <a:p>
            <a:pPr marL="342900" lvl="0" indent="-342900">
              <a:buFont typeface="Arial" panose="020B0604020202020204" pitchFamily="34" charset="0"/>
              <a:buChar char="•"/>
            </a:pPr>
            <a:r>
              <a:rPr lang="en-US" sz="2000" b="1" dirty="0"/>
              <a:t>Price</a:t>
            </a:r>
            <a:r>
              <a:rPr lang="en-US" sz="2000" dirty="0"/>
              <a:t> is what Mr. Market quotes today; </a:t>
            </a:r>
            <a:r>
              <a:rPr lang="en-US" sz="2000" b="1" dirty="0"/>
              <a:t>value</a:t>
            </a:r>
            <a:r>
              <a:rPr lang="en-US" sz="2000" dirty="0"/>
              <a:t> is what the business is actually worth. The two diverge constantly because price is set by crowd psychology in the short run.</a:t>
            </a:r>
          </a:p>
          <a:p>
            <a:pPr marL="342900" lvl="0" indent="-342900">
              <a:buFont typeface="Arial" panose="020B0604020202020204" pitchFamily="34" charset="0"/>
              <a:buChar char="•"/>
            </a:pPr>
            <a:endParaRPr lang="en-US" sz="2000" dirty="0"/>
          </a:p>
          <a:p>
            <a:pPr marL="342900" lvl="0" indent="-342900">
              <a:buFont typeface="Arial" panose="020B0604020202020204" pitchFamily="34" charset="0"/>
              <a:buChar char="•"/>
            </a:pPr>
            <a:r>
              <a:rPr lang="en-US" sz="2000" dirty="0"/>
              <a:t>Graham’s famous formulation: in the short run the market is a </a:t>
            </a:r>
            <a:r>
              <a:rPr lang="en-US" sz="2000" i="1" dirty="0"/>
              <a:t>voting machine</a:t>
            </a:r>
            <a:r>
              <a:rPr lang="en-US" sz="2000" dirty="0"/>
              <a:t>; in the long run, a </a:t>
            </a:r>
            <a:r>
              <a:rPr lang="en-US" sz="2000" i="1" dirty="0"/>
              <a:t>weighing machine</a:t>
            </a:r>
            <a:r>
              <a:rPr lang="en-US" sz="2000" dirty="0"/>
              <a:t>. Sentiment sets prices day to day; fundamentals set them over time.</a:t>
            </a:r>
          </a:p>
          <a:p>
            <a:pPr marL="342900" lvl="0" indent="-342900">
              <a:buFont typeface="Arial" panose="020B0604020202020204" pitchFamily="34" charset="0"/>
              <a:buChar char="•"/>
            </a:pPr>
            <a:endParaRPr lang="en-US" sz="2000" dirty="0"/>
          </a:p>
          <a:p>
            <a:pPr marL="342900" lvl="0" indent="-342900">
              <a:buFont typeface="Arial" panose="020B0604020202020204" pitchFamily="34" charset="0"/>
              <a:buChar char="•"/>
            </a:pPr>
            <a:r>
              <a:rPr lang="en-US" sz="2000" dirty="0"/>
              <a:t>The investor’s job is therefore not to predict Mr. Market’s mood, but to (a) form an independent estimate of value, and (b) act only when price departs far enough from value to offer a </a:t>
            </a:r>
            <a:r>
              <a:rPr lang="en-US" sz="2000" b="1" u="sng" dirty="0"/>
              <a:t>margin of safety</a:t>
            </a:r>
            <a:r>
              <a:rPr lang="en-US" sz="2000" dirty="0"/>
              <a:t> (Topic 5).</a:t>
            </a:r>
          </a:p>
        </p:txBody>
      </p:sp>
      <p:sp>
        <p:nvSpPr>
          <p:cNvPr id="2" name="Title 1">
            <a:extLst>
              <a:ext uri="{FF2B5EF4-FFF2-40B4-BE49-F238E27FC236}">
                <a16:creationId xmlns:a16="http://schemas.microsoft.com/office/drawing/2014/main" id="{52744CB9-B2F7-168C-9147-81505536EC72}"/>
              </a:ext>
            </a:extLst>
          </p:cNvPr>
          <p:cNvSpPr>
            <a:spLocks noGrp="1"/>
          </p:cNvSpPr>
          <p:nvPr>
            <p:ph type="title"/>
          </p:nvPr>
        </p:nvSpPr>
        <p:spPr/>
        <p:txBody>
          <a:bodyPr>
            <a:normAutofit/>
          </a:bodyPr>
          <a:lstStyle/>
          <a:p>
            <a:r>
              <a:rPr lang="en-US" dirty="0">
                <a:latin typeface="+mn-lt"/>
              </a:rPr>
              <a:t>The Lesson: Price ≠ Value </a:t>
            </a:r>
          </a:p>
        </p:txBody>
      </p:sp>
    </p:spTree>
    <p:extLst>
      <p:ext uri="{BB962C8B-B14F-4D97-AF65-F5344CB8AC3E}">
        <p14:creationId xmlns:p14="http://schemas.microsoft.com/office/powerpoint/2010/main" val="3442784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FF7CE-91EB-E9B7-FB98-24B1FBD3B398}"/>
            </a:ext>
          </a:extLst>
        </p:cNvPr>
        <p:cNvGrpSpPr/>
        <p:nvPr/>
      </p:nvGrpSpPr>
      <p:grpSpPr>
        <a:xfrm>
          <a:off x="0" y="0"/>
          <a:ext cx="0" cy="0"/>
          <a:chOff x="0" y="0"/>
          <a:chExt cx="0" cy="0"/>
        </a:xfrm>
      </p:grpSpPr>
      <p:sp>
        <p:nvSpPr>
          <p:cNvPr id="3" name="Text 12">
            <a:extLst>
              <a:ext uri="{FF2B5EF4-FFF2-40B4-BE49-F238E27FC236}">
                <a16:creationId xmlns:a16="http://schemas.microsoft.com/office/drawing/2014/main" id="{40F1B31E-78E5-013A-43D1-234BFBDDFC9C}"/>
              </a:ext>
            </a:extLst>
          </p:cNvPr>
          <p:cNvSpPr/>
          <p:nvPr/>
        </p:nvSpPr>
        <p:spPr>
          <a:xfrm>
            <a:off x="444502" y="1428878"/>
            <a:ext cx="10768277" cy="1665702"/>
          </a:xfrm>
          <a:prstGeom prst="roundRect">
            <a:avLst>
              <a:gd name="adj" fmla="val 0"/>
            </a:avLst>
          </a:prstGeom>
          <a:solidFill>
            <a:srgbClr val="EFF6FF"/>
          </a:solidFill>
          <a:ln>
            <a:solidFill>
              <a:srgbClr val="3B82F6"/>
            </a:solidFill>
          </a:ln>
        </p:spPr>
        <p:txBody>
          <a:bodyPr wrap="square" rtlCol="0" anchor="ctr"/>
          <a:lstStyle/>
          <a:p>
            <a:endParaRPr lang="en-US" sz="3200" dirty="0"/>
          </a:p>
        </p:txBody>
      </p:sp>
      <p:sp>
        <p:nvSpPr>
          <p:cNvPr id="6" name="Text 26">
            <a:extLst>
              <a:ext uri="{FF2B5EF4-FFF2-40B4-BE49-F238E27FC236}">
                <a16:creationId xmlns:a16="http://schemas.microsoft.com/office/drawing/2014/main" id="{983C4111-C7BB-6A62-D904-F6E425CC0088}"/>
              </a:ext>
            </a:extLst>
          </p:cNvPr>
          <p:cNvSpPr/>
          <p:nvPr/>
        </p:nvSpPr>
        <p:spPr>
          <a:xfrm>
            <a:off x="444502" y="3318965"/>
            <a:ext cx="10768277" cy="1516261"/>
          </a:xfrm>
          <a:prstGeom prst="roundRect">
            <a:avLst>
              <a:gd name="adj" fmla="val 0"/>
            </a:avLst>
          </a:prstGeom>
          <a:solidFill>
            <a:srgbClr val="FEF2F2"/>
          </a:solidFill>
          <a:ln w="9525">
            <a:solidFill>
              <a:srgbClr val="EF4444"/>
            </a:solidFill>
          </a:ln>
        </p:spPr>
        <p:txBody>
          <a:bodyPr wrap="square" rtlCol="0" anchor="ctr"/>
          <a:lstStyle/>
          <a:p>
            <a:endParaRPr lang="en-US" sz="3200" dirty="0"/>
          </a:p>
        </p:txBody>
      </p:sp>
      <p:sp>
        <p:nvSpPr>
          <p:cNvPr id="2" name="Title 1">
            <a:extLst>
              <a:ext uri="{FF2B5EF4-FFF2-40B4-BE49-F238E27FC236}">
                <a16:creationId xmlns:a16="http://schemas.microsoft.com/office/drawing/2014/main" id="{8DF6B302-2F52-BF37-97D2-0C4A54D27E6A}"/>
              </a:ext>
            </a:extLst>
          </p:cNvPr>
          <p:cNvSpPr>
            <a:spLocks noGrp="1"/>
          </p:cNvSpPr>
          <p:nvPr>
            <p:ph type="title"/>
          </p:nvPr>
        </p:nvSpPr>
        <p:spPr/>
        <p:txBody>
          <a:bodyPr>
            <a:normAutofit/>
          </a:bodyPr>
          <a:lstStyle/>
          <a:p>
            <a:r>
              <a:rPr lang="en-US" dirty="0">
                <a:latin typeface="+mn-lt"/>
              </a:rPr>
              <a:t>Two Ways People try to Beat the Market</a:t>
            </a:r>
          </a:p>
        </p:txBody>
      </p:sp>
      <p:sp>
        <p:nvSpPr>
          <p:cNvPr id="4" name="Text 2">
            <a:extLst>
              <a:ext uri="{FF2B5EF4-FFF2-40B4-BE49-F238E27FC236}">
                <a16:creationId xmlns:a16="http://schemas.microsoft.com/office/drawing/2014/main" id="{ECC91803-364B-9754-D1C9-58FE292D1E13}"/>
              </a:ext>
            </a:extLst>
          </p:cNvPr>
          <p:cNvSpPr/>
          <p:nvPr/>
        </p:nvSpPr>
        <p:spPr>
          <a:xfrm>
            <a:off x="736600" y="1727581"/>
            <a:ext cx="10534312" cy="505422"/>
          </a:xfrm>
          <a:prstGeom prst="rect">
            <a:avLst/>
          </a:prstGeom>
          <a:noFill/>
          <a:ln/>
        </p:spPr>
        <p:txBody>
          <a:bodyPr wrap="square" lIns="0" tIns="0" rIns="0" bIns="0" rtlCol="0" anchor="t"/>
          <a:lstStyle/>
          <a:p>
            <a:pPr>
              <a:lnSpc>
                <a:spcPts val="2380"/>
              </a:lnSpc>
              <a:spcAft>
                <a:spcPts val="1000"/>
              </a:spcAft>
            </a:pPr>
            <a:r>
              <a:rPr lang="en-US" sz="2800" b="1" dirty="0">
                <a:solidFill>
                  <a:srgbClr val="1E40AF"/>
                </a:solidFill>
                <a:latin typeface="Arial" pitchFamily="34" charset="0"/>
                <a:ea typeface="Arial" pitchFamily="34" charset="-122"/>
                <a:cs typeface="Arial" pitchFamily="34" charset="-120"/>
              </a:rPr>
              <a:t>Fundamental Analysis</a:t>
            </a:r>
            <a:endParaRPr lang="en-US" sz="2800" dirty="0"/>
          </a:p>
        </p:txBody>
      </p:sp>
      <p:sp>
        <p:nvSpPr>
          <p:cNvPr id="5" name="Text 3">
            <a:extLst>
              <a:ext uri="{FF2B5EF4-FFF2-40B4-BE49-F238E27FC236}">
                <a16:creationId xmlns:a16="http://schemas.microsoft.com/office/drawing/2014/main" id="{FBDE9463-50B5-529F-8574-105EB7CE0D71}"/>
              </a:ext>
            </a:extLst>
          </p:cNvPr>
          <p:cNvSpPr/>
          <p:nvPr/>
        </p:nvSpPr>
        <p:spPr>
          <a:xfrm>
            <a:off x="838580" y="2163911"/>
            <a:ext cx="10064772" cy="686929"/>
          </a:xfrm>
          <a:prstGeom prst="rect">
            <a:avLst/>
          </a:prstGeom>
          <a:noFill/>
          <a:ln/>
        </p:spPr>
        <p:txBody>
          <a:bodyPr wrap="square" lIns="0" tIns="0" rIns="0" bIns="0" rtlCol="0" anchor="t"/>
          <a:lstStyle/>
          <a:p>
            <a:pPr marL="342900" indent="-342900">
              <a:lnSpc>
                <a:spcPts val="2800"/>
              </a:lnSpc>
              <a:spcBef>
                <a:spcPts val="400"/>
              </a:spcBef>
              <a:spcAft>
                <a:spcPts val="400"/>
              </a:spcAft>
              <a:buFont typeface="Arial" panose="020B0604020202020204" pitchFamily="34" charset="0"/>
              <a:buChar char="•"/>
            </a:pPr>
            <a:r>
              <a:rPr lang="en-US" sz="2000" dirty="0"/>
              <a:t>Estimates intrinsic value from the business’s cash flows and financial statements (the approach of this course), then buy when price is below value.</a:t>
            </a:r>
            <a:endParaRPr lang="en-US" dirty="0"/>
          </a:p>
        </p:txBody>
      </p:sp>
      <p:sp>
        <p:nvSpPr>
          <p:cNvPr id="20" name="Text 6">
            <a:extLst>
              <a:ext uri="{FF2B5EF4-FFF2-40B4-BE49-F238E27FC236}">
                <a16:creationId xmlns:a16="http://schemas.microsoft.com/office/drawing/2014/main" id="{0B9B7A6B-B3E3-30CA-CD67-B732291E40E1}"/>
              </a:ext>
            </a:extLst>
          </p:cNvPr>
          <p:cNvSpPr/>
          <p:nvPr/>
        </p:nvSpPr>
        <p:spPr>
          <a:xfrm>
            <a:off x="716280" y="3505954"/>
            <a:ext cx="10534312" cy="284361"/>
          </a:xfrm>
          <a:prstGeom prst="rect">
            <a:avLst/>
          </a:prstGeom>
          <a:noFill/>
          <a:ln/>
        </p:spPr>
        <p:txBody>
          <a:bodyPr wrap="square" lIns="0" tIns="0" rIns="0" bIns="0" rtlCol="0" anchor="t"/>
          <a:lstStyle/>
          <a:p>
            <a:pPr>
              <a:lnSpc>
                <a:spcPts val="2240"/>
              </a:lnSpc>
              <a:spcAft>
                <a:spcPts val="800"/>
              </a:spcAft>
            </a:pPr>
            <a:r>
              <a:rPr lang="en-US" sz="2800" b="1" dirty="0">
                <a:solidFill>
                  <a:srgbClr val="991B1B"/>
                </a:solidFill>
                <a:latin typeface="Arial" pitchFamily="34" charset="0"/>
                <a:ea typeface="Arial" pitchFamily="34" charset="-122"/>
                <a:cs typeface="Arial" pitchFamily="34" charset="-120"/>
              </a:rPr>
              <a:t> Technical Analysis</a:t>
            </a:r>
            <a:endParaRPr lang="en-US" sz="2800" dirty="0"/>
          </a:p>
        </p:txBody>
      </p:sp>
      <p:sp>
        <p:nvSpPr>
          <p:cNvPr id="21" name="Text 7">
            <a:extLst>
              <a:ext uri="{FF2B5EF4-FFF2-40B4-BE49-F238E27FC236}">
                <a16:creationId xmlns:a16="http://schemas.microsoft.com/office/drawing/2014/main" id="{11DEF085-2D9B-C35E-AB19-3B3808728469}"/>
              </a:ext>
            </a:extLst>
          </p:cNvPr>
          <p:cNvSpPr/>
          <p:nvPr/>
        </p:nvSpPr>
        <p:spPr>
          <a:xfrm>
            <a:off x="762000" y="3891913"/>
            <a:ext cx="10141352" cy="566664"/>
          </a:xfrm>
          <a:prstGeom prst="rect">
            <a:avLst/>
          </a:prstGeom>
          <a:noFill/>
          <a:ln/>
        </p:spPr>
        <p:txBody>
          <a:bodyPr wrap="square" lIns="0" tIns="0" rIns="0" bIns="0" rtlCol="0" anchor="t"/>
          <a:lstStyle/>
          <a:p>
            <a:pPr marL="342900" lvl="0" indent="-342900">
              <a:buFont typeface="Arial" panose="020B0604020202020204" pitchFamily="34" charset="0"/>
              <a:buChar char="•"/>
            </a:pPr>
            <a:r>
              <a:rPr lang="en-US" sz="2000" dirty="0"/>
              <a:t>Studies patterns in past prices and volume to predict future prices. It ignores intrinsic value and focuses on Mr. Market’s mood swings themselves.</a:t>
            </a:r>
          </a:p>
        </p:txBody>
      </p:sp>
    </p:spTree>
    <p:extLst>
      <p:ext uri="{BB962C8B-B14F-4D97-AF65-F5344CB8AC3E}">
        <p14:creationId xmlns:p14="http://schemas.microsoft.com/office/powerpoint/2010/main" val="3127643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500" fill="hold"/>
                                        <p:tgtEl>
                                          <p:spTgt spid="20"/>
                                        </p:tgtEl>
                                        <p:attrNameLst>
                                          <p:attrName>ppt_x</p:attrName>
                                        </p:attrNameLst>
                                      </p:cBhvr>
                                      <p:tavLst>
                                        <p:tav tm="0">
                                          <p:val>
                                            <p:strVal val="#ppt_x"/>
                                          </p:val>
                                        </p:tav>
                                        <p:tav tm="100000">
                                          <p:val>
                                            <p:strVal val="#ppt_x"/>
                                          </p:val>
                                        </p:tav>
                                      </p:tavLst>
                                    </p:anim>
                                    <p:anim calcmode="lin" valueType="num">
                                      <p:cBhvr additive="base">
                                        <p:cTn id="16" dur="500" fill="hold"/>
                                        <p:tgtEl>
                                          <p:spTgt spid="2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20" grpId="0" animBg="1"/>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46F7C-ED2B-16D4-7618-5BF05EADB610}"/>
            </a:ext>
          </a:extLst>
        </p:cNvPr>
        <p:cNvGrpSpPr/>
        <p:nvPr/>
      </p:nvGrpSpPr>
      <p:grpSpPr>
        <a:xfrm>
          <a:off x="0" y="0"/>
          <a:ext cx="0" cy="0"/>
          <a:chOff x="0" y="0"/>
          <a:chExt cx="0" cy="0"/>
        </a:xfrm>
      </p:grpSpPr>
      <p:sp>
        <p:nvSpPr>
          <p:cNvPr id="9" name="Text 2">
            <a:extLst>
              <a:ext uri="{FF2B5EF4-FFF2-40B4-BE49-F238E27FC236}">
                <a16:creationId xmlns:a16="http://schemas.microsoft.com/office/drawing/2014/main" id="{F2161E04-555D-FCE9-85E8-848B4DBC2F97}"/>
              </a:ext>
            </a:extLst>
          </p:cNvPr>
          <p:cNvSpPr/>
          <p:nvPr/>
        </p:nvSpPr>
        <p:spPr>
          <a:xfrm>
            <a:off x="374557" y="1253735"/>
            <a:ext cx="11176000" cy="1878085"/>
          </a:xfrm>
          <a:prstGeom prst="roundRect">
            <a:avLst>
              <a:gd name="adj" fmla="val 578"/>
            </a:avLst>
          </a:prstGeom>
          <a:solidFill>
            <a:srgbClr val="E8F5E9"/>
          </a:solidFill>
          <a:ln w="9525">
            <a:solidFill>
              <a:schemeClr val="accent3">
                <a:lumMod val="40000"/>
                <a:lumOff val="60000"/>
              </a:schemeClr>
            </a:solidFill>
          </a:ln>
        </p:spPr>
        <p:txBody>
          <a:bodyPr wrap="square" rtlCol="0" anchor="ctr"/>
          <a:lstStyle/>
          <a:p>
            <a:endParaRPr lang="en-US" sz="2400" dirty="0"/>
          </a:p>
        </p:txBody>
      </p:sp>
      <p:sp>
        <p:nvSpPr>
          <p:cNvPr id="7" name="Text 26">
            <a:extLst>
              <a:ext uri="{FF2B5EF4-FFF2-40B4-BE49-F238E27FC236}">
                <a16:creationId xmlns:a16="http://schemas.microsoft.com/office/drawing/2014/main" id="{8B2B9224-9007-0896-908F-DDBCF22DF8C3}"/>
              </a:ext>
            </a:extLst>
          </p:cNvPr>
          <p:cNvSpPr/>
          <p:nvPr/>
        </p:nvSpPr>
        <p:spPr>
          <a:xfrm>
            <a:off x="374557" y="3561077"/>
            <a:ext cx="11176000" cy="1922796"/>
          </a:xfrm>
          <a:prstGeom prst="roundRect">
            <a:avLst>
              <a:gd name="adj" fmla="val 0"/>
            </a:avLst>
          </a:prstGeom>
          <a:solidFill>
            <a:srgbClr val="FEF2F2"/>
          </a:solidFill>
          <a:ln w="9525">
            <a:solidFill>
              <a:srgbClr val="EF4444"/>
            </a:solidFill>
          </a:ln>
        </p:spPr>
        <p:txBody>
          <a:bodyPr wrap="square" rtlCol="0" anchor="ctr"/>
          <a:lstStyle/>
          <a:p>
            <a:endParaRPr lang="en-US" sz="24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0364BD60-1D55-C917-9347-EF7110E9528B}"/>
              </a:ext>
            </a:extLst>
          </p:cNvPr>
          <p:cNvSpPr>
            <a:spLocks noGrp="1"/>
          </p:cNvSpPr>
          <p:nvPr>
            <p:ph type="title"/>
          </p:nvPr>
        </p:nvSpPr>
        <p:spPr/>
        <p:txBody>
          <a:bodyPr>
            <a:normAutofit/>
          </a:bodyPr>
          <a:lstStyle/>
          <a:p>
            <a:r>
              <a:rPr lang="en-US" dirty="0">
                <a:latin typeface="+mn-lt"/>
              </a:rPr>
              <a:t>A Note on Market Efficiency</a:t>
            </a:r>
          </a:p>
        </p:txBody>
      </p:sp>
      <p:sp>
        <p:nvSpPr>
          <p:cNvPr id="4" name="Text 3">
            <a:extLst>
              <a:ext uri="{FF2B5EF4-FFF2-40B4-BE49-F238E27FC236}">
                <a16:creationId xmlns:a16="http://schemas.microsoft.com/office/drawing/2014/main" id="{0162C6DD-C6BB-02B0-1F97-AF54033B03D2}"/>
              </a:ext>
            </a:extLst>
          </p:cNvPr>
          <p:cNvSpPr/>
          <p:nvPr/>
        </p:nvSpPr>
        <p:spPr>
          <a:xfrm>
            <a:off x="736600" y="1374128"/>
            <a:ext cx="10933176" cy="319881"/>
          </a:xfrm>
          <a:prstGeom prst="rect">
            <a:avLst/>
          </a:prstGeom>
          <a:noFill/>
          <a:ln/>
        </p:spPr>
        <p:txBody>
          <a:bodyPr wrap="square" lIns="0" tIns="0" rIns="0" bIns="0" rtlCol="0" anchor="t"/>
          <a:lstStyle/>
          <a:p>
            <a:pPr>
              <a:lnSpc>
                <a:spcPts val="2520"/>
              </a:lnSpc>
              <a:spcAft>
                <a:spcPts val="1200"/>
              </a:spcAft>
            </a:pPr>
            <a:r>
              <a:rPr lang="en-US" b="1" dirty="0">
                <a:solidFill>
                  <a:srgbClr val="15803D"/>
                </a:solidFill>
                <a:latin typeface="Arial" pitchFamily="34" charset="0"/>
                <a:cs typeface="Arial" pitchFamily="34" charset="-120"/>
              </a:rPr>
              <a:t>The efficient market hypothesis </a:t>
            </a:r>
          </a:p>
          <a:p>
            <a:pPr>
              <a:lnSpc>
                <a:spcPts val="2520"/>
              </a:lnSpc>
              <a:spcAft>
                <a:spcPts val="1200"/>
              </a:spcAft>
            </a:pPr>
            <a:endParaRPr lang="en-US" dirty="0"/>
          </a:p>
        </p:txBody>
      </p:sp>
      <p:sp>
        <p:nvSpPr>
          <p:cNvPr id="13" name="Text 6">
            <a:extLst>
              <a:ext uri="{FF2B5EF4-FFF2-40B4-BE49-F238E27FC236}">
                <a16:creationId xmlns:a16="http://schemas.microsoft.com/office/drawing/2014/main" id="{8F6E518D-53B7-0621-8585-6D2898E7A423}"/>
              </a:ext>
            </a:extLst>
          </p:cNvPr>
          <p:cNvSpPr/>
          <p:nvPr/>
        </p:nvSpPr>
        <p:spPr>
          <a:xfrm>
            <a:off x="1129030" y="1846409"/>
            <a:ext cx="10140950" cy="612520"/>
          </a:xfrm>
          <a:prstGeom prst="rect">
            <a:avLst/>
          </a:prstGeom>
          <a:solidFill>
            <a:srgbClr val="E8F5E9"/>
          </a:solidFill>
          <a:ln/>
        </p:spPr>
        <p:txBody>
          <a:bodyPr wrap="square" lIns="0" tIns="0" rIns="0" bIns="0" rtlCol="0" anchor="t"/>
          <a:lstStyle/>
          <a:p>
            <a:pPr marL="285750" lvl="0" indent="-285750">
              <a:buFont typeface="Arial" panose="020B0604020202020204" pitchFamily="34" charset="0"/>
              <a:buChar char="•"/>
            </a:pPr>
            <a:r>
              <a:rPr lang="en-US" sz="2000" dirty="0"/>
              <a:t>Holds that prices already reflect all available information, so Mr. Market is rarely “wrong.” Reality is more nuanced: markets are largely efficient, but emotion, frictions, and information gaps create periodic </a:t>
            </a:r>
            <a:r>
              <a:rPr lang="en-US" sz="2000" dirty="0" err="1"/>
              <a:t>mispricings</a:t>
            </a:r>
            <a:r>
              <a:rPr lang="en-US" sz="2000" dirty="0"/>
              <a:t>.</a:t>
            </a:r>
          </a:p>
          <a:p>
            <a:pPr>
              <a:lnSpc>
                <a:spcPts val="1960"/>
              </a:lnSpc>
              <a:spcAft>
                <a:spcPts val="400"/>
              </a:spcAft>
            </a:pPr>
            <a:endParaRPr lang="en-US" dirty="0"/>
          </a:p>
        </p:txBody>
      </p:sp>
      <p:sp>
        <p:nvSpPr>
          <p:cNvPr id="23" name="Text 10">
            <a:extLst>
              <a:ext uri="{FF2B5EF4-FFF2-40B4-BE49-F238E27FC236}">
                <a16:creationId xmlns:a16="http://schemas.microsoft.com/office/drawing/2014/main" id="{B899E562-7AE7-6105-5881-C343CEEAEF08}"/>
              </a:ext>
            </a:extLst>
          </p:cNvPr>
          <p:cNvSpPr/>
          <p:nvPr/>
        </p:nvSpPr>
        <p:spPr>
          <a:xfrm>
            <a:off x="1130269" y="2214310"/>
            <a:ext cx="5711206" cy="434581"/>
          </a:xfrm>
          <a:prstGeom prst="rect">
            <a:avLst/>
          </a:prstGeom>
          <a:noFill/>
          <a:ln/>
        </p:spPr>
        <p:txBody>
          <a:bodyPr wrap="square" lIns="0" tIns="0" rIns="0" bIns="0" rtlCol="0" anchor="t"/>
          <a:lstStyle/>
          <a:p>
            <a:pPr>
              <a:lnSpc>
                <a:spcPts val="1960"/>
              </a:lnSpc>
              <a:spcAft>
                <a:spcPts val="400"/>
              </a:spcAft>
            </a:pPr>
            <a:endParaRPr lang="en-US" dirty="0"/>
          </a:p>
        </p:txBody>
      </p:sp>
      <p:sp>
        <p:nvSpPr>
          <p:cNvPr id="5" name="TextBox 4">
            <a:extLst>
              <a:ext uri="{FF2B5EF4-FFF2-40B4-BE49-F238E27FC236}">
                <a16:creationId xmlns:a16="http://schemas.microsoft.com/office/drawing/2014/main" id="{AB5DB2D7-4DDE-EF15-3DB5-DC697D0B416F}"/>
              </a:ext>
            </a:extLst>
          </p:cNvPr>
          <p:cNvSpPr txBox="1"/>
          <p:nvPr/>
        </p:nvSpPr>
        <p:spPr>
          <a:xfrm>
            <a:off x="736600" y="3685740"/>
            <a:ext cx="3787899" cy="323165"/>
          </a:xfrm>
          <a:prstGeom prst="rect">
            <a:avLst/>
          </a:prstGeom>
          <a:noFill/>
        </p:spPr>
        <p:txBody>
          <a:bodyPr wrap="square">
            <a:spAutoFit/>
          </a:bodyPr>
          <a:lstStyle/>
          <a:p>
            <a:pPr>
              <a:lnSpc>
                <a:spcPts val="1800"/>
              </a:lnSpc>
              <a:spcAft>
                <a:spcPts val="1000"/>
              </a:spcAft>
            </a:pPr>
            <a:r>
              <a:rPr lang="en-US" b="1" dirty="0">
                <a:solidFill>
                  <a:srgbClr val="991B1B"/>
                </a:solidFill>
                <a:latin typeface="Arial" pitchFamily="34" charset="0"/>
                <a:cs typeface="Arial" pitchFamily="34" charset="-120"/>
              </a:rPr>
              <a:t>Implication for Investors</a:t>
            </a:r>
            <a:endParaRPr lang="en-US" sz="1400" kern="100" dirty="0">
              <a:effectLst/>
              <a:latin typeface="Arial" panose="020B0604020202020204" pitchFamily="34" charset="0"/>
              <a:ea typeface="Malgun Gothic" panose="020B0503020000020004" pitchFamily="34" charset="-127"/>
              <a:cs typeface="Arial" panose="020B0604020202020204" pitchFamily="34" charset="0"/>
            </a:endParaRPr>
          </a:p>
        </p:txBody>
      </p:sp>
      <p:graphicFrame>
        <p:nvGraphicFramePr>
          <p:cNvPr id="11" name="Table 10">
            <a:extLst>
              <a:ext uri="{FF2B5EF4-FFF2-40B4-BE49-F238E27FC236}">
                <a16:creationId xmlns:a16="http://schemas.microsoft.com/office/drawing/2014/main" id="{3CB6FF7B-1800-30CD-96CE-ABDDFEEA6C17}"/>
              </a:ext>
            </a:extLst>
          </p:cNvPr>
          <p:cNvGraphicFramePr>
            <a:graphicFrameLocks noGrp="1"/>
          </p:cNvGraphicFramePr>
          <p:nvPr/>
        </p:nvGraphicFramePr>
        <p:xfrm>
          <a:off x="984158" y="4202208"/>
          <a:ext cx="10285821" cy="1299464"/>
        </p:xfrm>
        <a:graphic>
          <a:graphicData uri="http://schemas.openxmlformats.org/drawingml/2006/table">
            <a:tbl>
              <a:tblPr firstRow="1" bandRow="1">
                <a:tableStyleId>{2D5ABB26-0587-4C30-8999-92F81FD0307C}</a:tableStyleId>
              </a:tblPr>
              <a:tblGrid>
                <a:gridCol w="10285821">
                  <a:extLst>
                    <a:ext uri="{9D8B030D-6E8A-4147-A177-3AD203B41FA5}">
                      <a16:colId xmlns:a16="http://schemas.microsoft.com/office/drawing/2014/main" val="1436725066"/>
                    </a:ext>
                  </a:extLst>
                </a:gridCol>
              </a:tblGrid>
              <a:tr h="381660">
                <a:tc>
                  <a:txBody>
                    <a:bodyPr/>
                    <a:lstStyle/>
                    <a:p>
                      <a:pPr marL="342900" marR="0" lvl="0" indent="-342900">
                        <a:lnSpc>
                          <a:spcPct val="106000"/>
                        </a:lnSpc>
                        <a:spcAft>
                          <a:spcPts val="200"/>
                        </a:spcAft>
                        <a:buFont typeface="Arial" panose="020B0604020202020204" pitchFamily="34" charset="0"/>
                        <a:buChar char="▪"/>
                      </a:pPr>
                      <a:r>
                        <a:rPr lang="en-US" sz="2000" dirty="0">
                          <a:effectLst/>
                          <a:latin typeface="Calibri" panose="020F0502020204030204" pitchFamily="34" charset="0"/>
                          <a:ea typeface="Calibri" panose="020F0502020204030204" pitchFamily="34" charset="0"/>
                          <a:cs typeface="Calibri" panose="020F0502020204030204" pitchFamily="34" charset="0"/>
                        </a:rPr>
                        <a:t>Whether or not you can consistently beat the market, the Mr. Market discipline — knowing your own estimate of value and refusing to be ruled by price — protects you from the most common and costly investing mistakes.</a:t>
                      </a:r>
                    </a:p>
                    <a:p>
                      <a:pPr marL="0" marR="0">
                        <a:spcAft>
                          <a:spcPts val="600"/>
                        </a:spcAft>
                        <a:buNone/>
                      </a:pPr>
                      <a:r>
                        <a:rPr lang="en-US" sz="2000" dirty="0">
                          <a:effectLst/>
                          <a:latin typeface="Calibri" panose="020F0502020204030204" pitchFamily="34" charset="0"/>
                          <a:ea typeface="Batang" panose="02030600000101010101" pitchFamily="18" charset="-127"/>
                        </a:rPr>
                        <a:t> </a:t>
                      </a:r>
                    </a:p>
                  </a:txBody>
                  <a:tcPr marL="68580" marR="68580" marT="0" marB="0"/>
                </a:tc>
                <a:extLst>
                  <a:ext uri="{0D108BD9-81ED-4DB2-BD59-A6C34878D82A}">
                    <a16:rowId xmlns:a16="http://schemas.microsoft.com/office/drawing/2014/main" val="1383349648"/>
                  </a:ext>
                </a:extLst>
              </a:tr>
            </a:tbl>
          </a:graphicData>
        </a:graphic>
      </p:graphicFrame>
    </p:spTree>
    <p:extLst>
      <p:ext uri="{BB962C8B-B14F-4D97-AF65-F5344CB8AC3E}">
        <p14:creationId xmlns:p14="http://schemas.microsoft.com/office/powerpoint/2010/main" val="320104816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D43C0-692C-9A12-66C8-CE0915BCE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A0F94-CB86-C759-09EE-95E07B9E5AD0}"/>
              </a:ext>
            </a:extLst>
          </p:cNvPr>
          <p:cNvSpPr>
            <a:spLocks noGrp="1"/>
          </p:cNvSpPr>
          <p:nvPr>
            <p:ph type="title"/>
          </p:nvPr>
        </p:nvSpPr>
        <p:spPr/>
        <p:txBody>
          <a:bodyPr>
            <a:normAutofit/>
          </a:bodyPr>
          <a:lstStyle/>
          <a:p>
            <a:r>
              <a:rPr lang="en-US" dirty="0">
                <a:latin typeface="+mn-lt"/>
              </a:rPr>
              <a:t>Discussion Questions</a:t>
            </a:r>
          </a:p>
        </p:txBody>
      </p:sp>
      <p:sp>
        <p:nvSpPr>
          <p:cNvPr id="4" name="Text 3">
            <a:extLst>
              <a:ext uri="{FF2B5EF4-FFF2-40B4-BE49-F238E27FC236}">
                <a16:creationId xmlns:a16="http://schemas.microsoft.com/office/drawing/2014/main" id="{4269D060-1A78-76AC-8892-2DD9219C6390}"/>
              </a:ext>
            </a:extLst>
          </p:cNvPr>
          <p:cNvSpPr/>
          <p:nvPr/>
        </p:nvSpPr>
        <p:spPr>
          <a:xfrm>
            <a:off x="736600" y="1374128"/>
            <a:ext cx="10718800" cy="4398022"/>
          </a:xfrm>
          <a:prstGeom prst="rect">
            <a:avLst/>
          </a:prstGeom>
          <a:noFill/>
          <a:ln/>
        </p:spPr>
        <p:txBody>
          <a:bodyPr wrap="square" lIns="0" tIns="0" rIns="0" bIns="0" rtlCol="0" anchor="t"/>
          <a:lstStyle/>
          <a:p>
            <a:pPr>
              <a:lnSpc>
                <a:spcPts val="2520"/>
              </a:lnSpc>
              <a:spcAft>
                <a:spcPts val="1200"/>
              </a:spcAft>
            </a:pPr>
            <a:endParaRPr lang="en-US" b="1" dirty="0">
              <a:solidFill>
                <a:srgbClr val="1E40AF"/>
              </a:solidFill>
              <a:latin typeface="Arial" pitchFamily="34" charset="0"/>
              <a:ea typeface="Arial" pitchFamily="34" charset="-122"/>
              <a:cs typeface="Arial" pitchFamily="34" charset="-120"/>
            </a:endParaRPr>
          </a:p>
          <a:p>
            <a:r>
              <a:rPr lang="en-US" sz="2400" dirty="0"/>
              <a:t>a.	In your own words, explain the difference between the price of a stock and the value of the underlying business. Why do the two diverge?</a:t>
            </a:r>
          </a:p>
          <a:p>
            <a:r>
              <a:rPr lang="en-US" sz="2400" dirty="0"/>
              <a:t> </a:t>
            </a:r>
          </a:p>
          <a:p>
            <a:r>
              <a:rPr lang="en-US" sz="2400" dirty="0"/>
              <a:t>b.	Buffett writes that Mr. Market is there to serve you, not to instruct you. What does this imply about how an investor should react to a sudden 20% drop in a stock’s price?</a:t>
            </a:r>
          </a:p>
          <a:p>
            <a:r>
              <a:rPr lang="en-US" sz="2400" dirty="0"/>
              <a:t> </a:t>
            </a:r>
          </a:p>
          <a:p>
            <a:r>
              <a:rPr lang="en-US" sz="2400" dirty="0"/>
              <a:t>c.	Graham distinguishes a voting machine from a weighing machine. Give one example (real or hypothetical) of each force acting on a stock price.</a:t>
            </a:r>
          </a:p>
          <a:p>
            <a:r>
              <a:rPr lang="en-US" sz="2400" dirty="0"/>
              <a:t> </a:t>
            </a:r>
          </a:p>
          <a:p>
            <a:r>
              <a:rPr lang="en-US" sz="2400" dirty="0"/>
              <a:t>d.	If markets were perfectly efficient, would the Mr. Market parable still be useful? Explain.</a:t>
            </a:r>
          </a:p>
          <a:p>
            <a:pPr>
              <a:lnSpc>
                <a:spcPts val="2520"/>
              </a:lnSpc>
              <a:spcAft>
                <a:spcPts val="1200"/>
              </a:spcAft>
            </a:pPr>
            <a:endParaRPr lang="en-US" dirty="0">
              <a:solidFill>
                <a:srgbClr val="1F4899"/>
              </a:solidFill>
            </a:endParaRPr>
          </a:p>
          <a:p>
            <a:pPr>
              <a:lnSpc>
                <a:spcPts val="2520"/>
              </a:lnSpc>
              <a:spcAft>
                <a:spcPts val="1200"/>
              </a:spcAft>
            </a:pPr>
            <a:endParaRPr lang="en-US" dirty="0"/>
          </a:p>
        </p:txBody>
      </p:sp>
      <p:sp>
        <p:nvSpPr>
          <p:cNvPr id="23" name="Text 10">
            <a:extLst>
              <a:ext uri="{FF2B5EF4-FFF2-40B4-BE49-F238E27FC236}">
                <a16:creationId xmlns:a16="http://schemas.microsoft.com/office/drawing/2014/main" id="{D8AB7E1C-890D-FEA6-F25E-49135F31E7D9}"/>
              </a:ext>
            </a:extLst>
          </p:cNvPr>
          <p:cNvSpPr/>
          <p:nvPr/>
        </p:nvSpPr>
        <p:spPr>
          <a:xfrm>
            <a:off x="1130269" y="2214310"/>
            <a:ext cx="5711206" cy="434581"/>
          </a:xfrm>
          <a:prstGeom prst="rect">
            <a:avLst/>
          </a:prstGeom>
          <a:noFill/>
          <a:ln/>
        </p:spPr>
        <p:txBody>
          <a:bodyPr wrap="square" lIns="0" tIns="0" rIns="0" bIns="0" rtlCol="0" anchor="t"/>
          <a:lstStyle/>
          <a:p>
            <a:pPr>
              <a:lnSpc>
                <a:spcPts val="1960"/>
              </a:lnSpc>
              <a:spcAft>
                <a:spcPts val="400"/>
              </a:spcAft>
            </a:pPr>
            <a:endParaRPr lang="en-US" dirty="0"/>
          </a:p>
        </p:txBody>
      </p:sp>
    </p:spTree>
    <p:extLst>
      <p:ext uri="{BB962C8B-B14F-4D97-AF65-F5344CB8AC3E}">
        <p14:creationId xmlns:p14="http://schemas.microsoft.com/office/powerpoint/2010/main" val="129093640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DFB39-E630-2465-7D10-5435CA220B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50C5F-B439-9264-4F3C-FCA90E29647D}"/>
              </a:ext>
            </a:extLst>
          </p:cNvPr>
          <p:cNvSpPr>
            <a:spLocks noGrp="1"/>
          </p:cNvSpPr>
          <p:nvPr>
            <p:ph type="title"/>
          </p:nvPr>
        </p:nvSpPr>
        <p:spPr/>
        <p:txBody>
          <a:bodyPr/>
          <a:lstStyle/>
          <a:p>
            <a:r>
              <a:rPr lang="en-US" dirty="0">
                <a:latin typeface="+mn-lt"/>
              </a:rPr>
              <a:t>3. Discounted Free Cash Flow (DCF) Valuation</a:t>
            </a:r>
          </a:p>
        </p:txBody>
      </p:sp>
    </p:spTree>
    <p:extLst>
      <p:ext uri="{BB962C8B-B14F-4D97-AF65-F5344CB8AC3E}">
        <p14:creationId xmlns:p14="http://schemas.microsoft.com/office/powerpoint/2010/main" val="1757640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B1DCC-6889-F4DE-6734-6DB2C74211EB}"/>
            </a:ext>
          </a:extLst>
        </p:cNvPr>
        <p:cNvGrpSpPr/>
        <p:nvPr/>
      </p:nvGrpSpPr>
      <p:grpSpPr>
        <a:xfrm>
          <a:off x="0" y="0"/>
          <a:ext cx="0" cy="0"/>
          <a:chOff x="0" y="0"/>
          <a:chExt cx="0" cy="0"/>
        </a:xfrm>
      </p:grpSpPr>
      <p:sp>
        <p:nvSpPr>
          <p:cNvPr id="3" name="Text 12">
            <a:extLst>
              <a:ext uri="{FF2B5EF4-FFF2-40B4-BE49-F238E27FC236}">
                <a16:creationId xmlns:a16="http://schemas.microsoft.com/office/drawing/2014/main" id="{8BD17483-7BF9-B271-86E1-664DCBB11A68}"/>
              </a:ext>
            </a:extLst>
          </p:cNvPr>
          <p:cNvSpPr/>
          <p:nvPr/>
        </p:nvSpPr>
        <p:spPr>
          <a:xfrm>
            <a:off x="444502" y="1483422"/>
            <a:ext cx="11176000" cy="2000228"/>
          </a:xfrm>
          <a:prstGeom prst="roundRect">
            <a:avLst>
              <a:gd name="adj" fmla="val 0"/>
            </a:avLst>
          </a:prstGeom>
          <a:solidFill>
            <a:srgbClr val="EFF6FF"/>
          </a:solidFill>
          <a:ln>
            <a:solidFill>
              <a:srgbClr val="3B82F6"/>
            </a:solidFill>
          </a:ln>
        </p:spPr>
        <p:txBody>
          <a:bodyPr wrap="square" rtlCol="0" anchor="ctr"/>
          <a:lstStyle/>
          <a:p>
            <a:endParaRPr lang="en-US" sz="3200" dirty="0"/>
          </a:p>
        </p:txBody>
      </p:sp>
      <p:sp>
        <p:nvSpPr>
          <p:cNvPr id="6" name="Text 26">
            <a:extLst>
              <a:ext uri="{FF2B5EF4-FFF2-40B4-BE49-F238E27FC236}">
                <a16:creationId xmlns:a16="http://schemas.microsoft.com/office/drawing/2014/main" id="{98BD21FB-1842-E13D-1AE5-37FEB2878354}"/>
              </a:ext>
            </a:extLst>
          </p:cNvPr>
          <p:cNvSpPr/>
          <p:nvPr/>
        </p:nvSpPr>
        <p:spPr>
          <a:xfrm>
            <a:off x="444502" y="5364939"/>
            <a:ext cx="11176000" cy="1139612"/>
          </a:xfrm>
          <a:prstGeom prst="roundRect">
            <a:avLst>
              <a:gd name="adj" fmla="val 4837"/>
            </a:avLst>
          </a:prstGeom>
          <a:solidFill>
            <a:srgbClr val="FEF2F2"/>
          </a:solidFill>
          <a:ln w="9525">
            <a:solidFill>
              <a:srgbClr val="EF4444"/>
            </a:solidFill>
          </a:ln>
        </p:spPr>
        <p:txBody>
          <a:bodyPr wrap="square" rtlCol="0" anchor="ctr"/>
          <a:lstStyle/>
          <a:p>
            <a:endParaRPr lang="en-US" sz="3200" dirty="0"/>
          </a:p>
        </p:txBody>
      </p:sp>
      <p:sp>
        <p:nvSpPr>
          <p:cNvPr id="2" name="Title 1">
            <a:extLst>
              <a:ext uri="{FF2B5EF4-FFF2-40B4-BE49-F238E27FC236}">
                <a16:creationId xmlns:a16="http://schemas.microsoft.com/office/drawing/2014/main" id="{26DD1C73-306A-94C8-AD1E-71D996916C70}"/>
              </a:ext>
            </a:extLst>
          </p:cNvPr>
          <p:cNvSpPr>
            <a:spLocks noGrp="1"/>
          </p:cNvSpPr>
          <p:nvPr>
            <p:ph type="title"/>
          </p:nvPr>
        </p:nvSpPr>
        <p:spPr/>
        <p:txBody>
          <a:bodyPr>
            <a:normAutofit/>
          </a:bodyPr>
          <a:lstStyle/>
          <a:p>
            <a:r>
              <a:rPr lang="en-US" dirty="0">
                <a:latin typeface="+mn-lt"/>
              </a:rPr>
              <a:t>Discounted Cash Flow (DCF) Model </a:t>
            </a:r>
          </a:p>
        </p:txBody>
      </p:sp>
      <p:sp>
        <p:nvSpPr>
          <p:cNvPr id="4" name="Text 2">
            <a:extLst>
              <a:ext uri="{FF2B5EF4-FFF2-40B4-BE49-F238E27FC236}">
                <a16:creationId xmlns:a16="http://schemas.microsoft.com/office/drawing/2014/main" id="{44956044-7B15-35A6-79A3-6D8505790032}"/>
              </a:ext>
            </a:extLst>
          </p:cNvPr>
          <p:cNvSpPr/>
          <p:nvPr/>
        </p:nvSpPr>
        <p:spPr>
          <a:xfrm>
            <a:off x="736600" y="1782126"/>
            <a:ext cx="10933176" cy="505422"/>
          </a:xfrm>
          <a:prstGeom prst="rect">
            <a:avLst/>
          </a:prstGeom>
          <a:noFill/>
          <a:ln/>
        </p:spPr>
        <p:txBody>
          <a:bodyPr wrap="square" lIns="0" tIns="0" rIns="0" bIns="0" rtlCol="0" anchor="t"/>
          <a:lstStyle/>
          <a:p>
            <a:pPr>
              <a:lnSpc>
                <a:spcPts val="2380"/>
              </a:lnSpc>
              <a:spcAft>
                <a:spcPts val="1000"/>
              </a:spcAft>
            </a:pPr>
            <a:r>
              <a:rPr lang="en-US" sz="2800" b="1" dirty="0">
                <a:solidFill>
                  <a:srgbClr val="1E40AF"/>
                </a:solidFill>
                <a:latin typeface="Arial" pitchFamily="34" charset="0"/>
                <a:ea typeface="Arial" pitchFamily="34" charset="-122"/>
                <a:cs typeface="Arial" pitchFamily="34" charset="-120"/>
              </a:rPr>
              <a:t>To Value </a:t>
            </a:r>
            <a:r>
              <a:rPr lang="en-US" sz="2800" b="1" u="sng" dirty="0">
                <a:solidFill>
                  <a:srgbClr val="1E40AF"/>
                </a:solidFill>
                <a:latin typeface="Arial" pitchFamily="34" charset="0"/>
                <a:ea typeface="Arial" pitchFamily="34" charset="-122"/>
                <a:cs typeface="Arial" pitchFamily="34" charset="-120"/>
              </a:rPr>
              <a:t>a Business </a:t>
            </a:r>
            <a:r>
              <a:rPr lang="en-US" sz="2800" b="1" dirty="0">
                <a:solidFill>
                  <a:srgbClr val="1E40AF"/>
                </a:solidFill>
                <a:latin typeface="Arial" pitchFamily="34" charset="0"/>
                <a:ea typeface="Arial" pitchFamily="34" charset="-122"/>
                <a:cs typeface="Arial" pitchFamily="34" charset="-120"/>
              </a:rPr>
              <a:t>, FCF to firm is used</a:t>
            </a:r>
            <a:endParaRPr lang="en-US" sz="2800" u="sng" dirty="0"/>
          </a:p>
        </p:txBody>
      </p:sp>
      <p:sp>
        <p:nvSpPr>
          <p:cNvPr id="5" name="Text 3">
            <a:extLst>
              <a:ext uri="{FF2B5EF4-FFF2-40B4-BE49-F238E27FC236}">
                <a16:creationId xmlns:a16="http://schemas.microsoft.com/office/drawing/2014/main" id="{D9961D8A-272D-677C-5AC2-29F3063DB3FA}"/>
              </a:ext>
            </a:extLst>
          </p:cNvPr>
          <p:cNvSpPr/>
          <p:nvPr/>
        </p:nvSpPr>
        <p:spPr>
          <a:xfrm>
            <a:off x="838580" y="2218456"/>
            <a:ext cx="10933176" cy="686929"/>
          </a:xfrm>
          <a:prstGeom prst="rect">
            <a:avLst/>
          </a:prstGeom>
          <a:noFill/>
          <a:ln/>
        </p:spPr>
        <p:txBody>
          <a:bodyPr wrap="square" lIns="0" tIns="0" rIns="0" bIns="0" rtlCol="0" anchor="t"/>
          <a:lstStyle/>
          <a:p>
            <a:pPr marL="342900" indent="-342900">
              <a:lnSpc>
                <a:spcPts val="2800"/>
              </a:lnSpc>
              <a:spcBef>
                <a:spcPts val="400"/>
              </a:spcBef>
              <a:spcAft>
                <a:spcPts val="400"/>
              </a:spcAft>
              <a:buFont typeface="Arial" panose="020B0604020202020204" pitchFamily="34" charset="0"/>
              <a:buChar char="•"/>
            </a:pPr>
            <a:r>
              <a:rPr lang="en-US" sz="2000" dirty="0">
                <a:latin typeface="Arial" pitchFamily="34" charset="0"/>
                <a:ea typeface="Arial" pitchFamily="34" charset="-122"/>
                <a:cs typeface="Arial" pitchFamily="34" charset="-120"/>
              </a:rPr>
              <a:t>The value of a business equals the present value of the </a:t>
            </a:r>
            <a:r>
              <a:rPr lang="en-US" sz="2000" u="sng" dirty="0">
                <a:solidFill>
                  <a:srgbClr val="C00000"/>
                </a:solidFill>
                <a:latin typeface="Arial" pitchFamily="34" charset="0"/>
                <a:ea typeface="Arial" pitchFamily="34" charset="-122"/>
                <a:cs typeface="Arial" pitchFamily="34" charset="-120"/>
              </a:rPr>
              <a:t>free cash flow </a:t>
            </a:r>
            <a:r>
              <a:rPr lang="en-US" sz="2000" dirty="0">
                <a:latin typeface="Arial" pitchFamily="34" charset="0"/>
                <a:ea typeface="Arial" pitchFamily="34" charset="-122"/>
                <a:cs typeface="Arial" pitchFamily="34" charset="-120"/>
              </a:rPr>
              <a:t>it will generate to </a:t>
            </a:r>
            <a:r>
              <a:rPr lang="en-US" sz="2000" b="1" dirty="0">
                <a:solidFill>
                  <a:srgbClr val="C00000"/>
                </a:solidFill>
                <a:latin typeface="Arial" pitchFamily="34" charset="0"/>
                <a:ea typeface="Arial" pitchFamily="34" charset="-122"/>
                <a:cs typeface="Arial" pitchFamily="34" charset="-120"/>
              </a:rPr>
              <a:t>the firm.</a:t>
            </a:r>
          </a:p>
          <a:p>
            <a:pPr marL="342900" indent="-342900">
              <a:lnSpc>
                <a:spcPts val="2800"/>
              </a:lnSpc>
              <a:spcBef>
                <a:spcPts val="400"/>
              </a:spcBef>
              <a:spcAft>
                <a:spcPts val="400"/>
              </a:spcAft>
              <a:buFont typeface="Arial" panose="020B0604020202020204" pitchFamily="34" charset="0"/>
              <a:buChar char="•"/>
            </a:pPr>
            <a:r>
              <a:rPr lang="en-US" sz="2000" dirty="0">
                <a:latin typeface="Arial" pitchFamily="34" charset="0"/>
                <a:cs typeface="Arial" pitchFamily="34" charset="-120"/>
              </a:rPr>
              <a:t>FCF to Firm (FCFF) = CFO + Interest (1-t) – </a:t>
            </a:r>
            <a:r>
              <a:rPr lang="en-US" sz="2000" dirty="0" err="1">
                <a:latin typeface="Arial" pitchFamily="34" charset="0"/>
                <a:cs typeface="Arial" pitchFamily="34" charset="-120"/>
              </a:rPr>
              <a:t>CapEx</a:t>
            </a:r>
            <a:endParaRPr lang="en-US" sz="2000" dirty="0">
              <a:latin typeface="Arial" pitchFamily="34" charset="0"/>
              <a:cs typeface="Arial" pitchFamily="34" charset="-120"/>
            </a:endParaRPr>
          </a:p>
          <a:p>
            <a:pPr>
              <a:lnSpc>
                <a:spcPts val="2800"/>
              </a:lnSpc>
              <a:spcBef>
                <a:spcPts val="400"/>
              </a:spcBef>
              <a:spcAft>
                <a:spcPts val="400"/>
              </a:spcAft>
            </a:pPr>
            <a:endParaRPr lang="en-US" sz="2000" dirty="0"/>
          </a:p>
          <a:p>
            <a:pPr marL="285750" indent="-285750">
              <a:lnSpc>
                <a:spcPts val="2080"/>
              </a:lnSpc>
              <a:buFont typeface="Arial" panose="020B0604020202020204" pitchFamily="34" charset="0"/>
              <a:buChar char="•"/>
            </a:pPr>
            <a:endParaRPr lang="en-US" sz="1600" dirty="0"/>
          </a:p>
        </p:txBody>
      </p:sp>
      <p:sp>
        <p:nvSpPr>
          <p:cNvPr id="20" name="Text 6">
            <a:extLst>
              <a:ext uri="{FF2B5EF4-FFF2-40B4-BE49-F238E27FC236}">
                <a16:creationId xmlns:a16="http://schemas.microsoft.com/office/drawing/2014/main" id="{7F7DEA54-3393-ED43-7A80-AFAA6140959B}"/>
              </a:ext>
            </a:extLst>
          </p:cNvPr>
          <p:cNvSpPr/>
          <p:nvPr/>
        </p:nvSpPr>
        <p:spPr>
          <a:xfrm>
            <a:off x="716280" y="5551927"/>
            <a:ext cx="10933176" cy="284361"/>
          </a:xfrm>
          <a:prstGeom prst="rect">
            <a:avLst/>
          </a:prstGeom>
          <a:noFill/>
          <a:ln/>
        </p:spPr>
        <p:txBody>
          <a:bodyPr wrap="square" lIns="0" tIns="0" rIns="0" bIns="0" rtlCol="0" anchor="t"/>
          <a:lstStyle/>
          <a:p>
            <a:pPr>
              <a:lnSpc>
                <a:spcPts val="2240"/>
              </a:lnSpc>
              <a:spcAft>
                <a:spcPts val="800"/>
              </a:spcAft>
            </a:pPr>
            <a:r>
              <a:rPr lang="en-US" sz="2800" b="1" dirty="0">
                <a:solidFill>
                  <a:srgbClr val="991B1B"/>
                </a:solidFill>
                <a:latin typeface="Arial" pitchFamily="34" charset="0"/>
                <a:ea typeface="Arial" pitchFamily="34" charset="-122"/>
                <a:cs typeface="Arial" pitchFamily="34" charset="-120"/>
              </a:rPr>
              <a:t> DCF Formula in Practice</a:t>
            </a:r>
            <a:endParaRPr lang="en-US" sz="2800" dirty="0"/>
          </a:p>
        </p:txBody>
      </p:sp>
      <p:sp>
        <p:nvSpPr>
          <p:cNvPr id="21" name="Text 7">
            <a:extLst>
              <a:ext uri="{FF2B5EF4-FFF2-40B4-BE49-F238E27FC236}">
                <a16:creationId xmlns:a16="http://schemas.microsoft.com/office/drawing/2014/main" id="{B2031944-05EB-A1BA-C89B-20D3EC1013CB}"/>
              </a:ext>
            </a:extLst>
          </p:cNvPr>
          <p:cNvSpPr/>
          <p:nvPr/>
        </p:nvSpPr>
        <p:spPr>
          <a:xfrm>
            <a:off x="762000" y="5937886"/>
            <a:ext cx="10933176" cy="566664"/>
          </a:xfrm>
          <a:prstGeom prst="rect">
            <a:avLst/>
          </a:prstGeom>
          <a:noFill/>
          <a:ln/>
        </p:spPr>
        <p:txBody>
          <a:bodyPr wrap="square" lIns="0" tIns="0" rIns="0" bIns="0" rtlCol="0" anchor="t"/>
          <a:lstStyle/>
          <a:p>
            <a:pPr algn="ctr"/>
            <a:r>
              <a:rPr lang="en-US" sz="2800" b="1" dirty="0">
                <a:latin typeface="Calibri" panose="020F0502020204030204" pitchFamily="34" charset="0"/>
                <a:ea typeface="Calibri" panose="020F0502020204030204" pitchFamily="34" charset="0"/>
                <a:cs typeface="Calibri" panose="020F0502020204030204" pitchFamily="34" charset="0"/>
              </a:rPr>
              <a:t>V₀  =  Σ  FCFₜ ÷ (1 + r)ᵗ   +   Terminal Value ÷ (1 + r)ᴺ</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2">
            <a:extLst>
              <a:ext uri="{FF2B5EF4-FFF2-40B4-BE49-F238E27FC236}">
                <a16:creationId xmlns:a16="http://schemas.microsoft.com/office/drawing/2014/main" id="{7B952F7F-3C1F-31D4-9AEA-576DB16358A2}"/>
              </a:ext>
            </a:extLst>
          </p:cNvPr>
          <p:cNvSpPr/>
          <p:nvPr/>
        </p:nvSpPr>
        <p:spPr>
          <a:xfrm>
            <a:off x="406400" y="3670639"/>
            <a:ext cx="11176000" cy="1592702"/>
          </a:xfrm>
          <a:prstGeom prst="roundRect">
            <a:avLst>
              <a:gd name="adj" fmla="val 0"/>
            </a:avLst>
          </a:prstGeom>
          <a:solidFill>
            <a:srgbClr val="DCFCE7"/>
          </a:solidFill>
          <a:ln w="9525">
            <a:solidFill>
              <a:srgbClr val="22C55E"/>
            </a:solidFill>
          </a:ln>
        </p:spPr>
        <p:txBody>
          <a:bodyPr wrap="square" rtlCol="0" anchor="ctr"/>
          <a:lstStyle/>
          <a:p>
            <a:endParaRPr lang="en-US" sz="2400" dirty="0"/>
          </a:p>
        </p:txBody>
      </p:sp>
      <p:sp>
        <p:nvSpPr>
          <p:cNvPr id="9" name="Text 6">
            <a:extLst>
              <a:ext uri="{FF2B5EF4-FFF2-40B4-BE49-F238E27FC236}">
                <a16:creationId xmlns:a16="http://schemas.microsoft.com/office/drawing/2014/main" id="{3F379083-37D2-DCC0-8FB1-6C143C355F99}"/>
              </a:ext>
            </a:extLst>
          </p:cNvPr>
          <p:cNvSpPr/>
          <p:nvPr/>
        </p:nvSpPr>
        <p:spPr>
          <a:xfrm>
            <a:off x="1129030" y="4094155"/>
            <a:ext cx="10209530" cy="406403"/>
          </a:xfrm>
          <a:prstGeom prst="rect">
            <a:avLst/>
          </a:prstGeom>
          <a:noFill/>
          <a:ln/>
        </p:spPr>
        <p:txBody>
          <a:bodyPr wrap="square" lIns="0" tIns="0" rIns="0" bIns="0" rtlCol="0" anchor="t"/>
          <a:lstStyle/>
          <a:p>
            <a:pPr>
              <a:lnSpc>
                <a:spcPts val="1960"/>
              </a:lnSpc>
              <a:spcAft>
                <a:spcPts val="400"/>
              </a:spcAft>
            </a:pPr>
            <a:endParaRPr lang="en-US" dirty="0"/>
          </a:p>
        </p:txBody>
      </p:sp>
      <p:sp>
        <p:nvSpPr>
          <p:cNvPr id="10" name="Text 10">
            <a:extLst>
              <a:ext uri="{FF2B5EF4-FFF2-40B4-BE49-F238E27FC236}">
                <a16:creationId xmlns:a16="http://schemas.microsoft.com/office/drawing/2014/main" id="{6FF19DCE-DC26-22D3-BE4E-0A1D94CD83BB}"/>
              </a:ext>
            </a:extLst>
          </p:cNvPr>
          <p:cNvSpPr/>
          <p:nvPr/>
        </p:nvSpPr>
        <p:spPr>
          <a:xfrm>
            <a:off x="1130269" y="4434500"/>
            <a:ext cx="5711206" cy="288341"/>
          </a:xfrm>
          <a:prstGeom prst="rect">
            <a:avLst/>
          </a:prstGeom>
          <a:noFill/>
          <a:ln/>
        </p:spPr>
        <p:txBody>
          <a:bodyPr wrap="square" lIns="0" tIns="0" rIns="0" bIns="0" rtlCol="0" anchor="t"/>
          <a:lstStyle/>
          <a:p>
            <a:pPr>
              <a:lnSpc>
                <a:spcPts val="1960"/>
              </a:lnSpc>
              <a:spcAft>
                <a:spcPts val="400"/>
              </a:spcAft>
            </a:pPr>
            <a:endParaRPr lang="en-US" dirty="0"/>
          </a:p>
        </p:txBody>
      </p:sp>
      <p:sp>
        <p:nvSpPr>
          <p:cNvPr id="14" name="Text 2">
            <a:extLst>
              <a:ext uri="{FF2B5EF4-FFF2-40B4-BE49-F238E27FC236}">
                <a16:creationId xmlns:a16="http://schemas.microsoft.com/office/drawing/2014/main" id="{4C1AF9F8-5CAA-89E7-E07C-3EAD3DD5802F}"/>
              </a:ext>
            </a:extLst>
          </p:cNvPr>
          <p:cNvSpPr/>
          <p:nvPr/>
        </p:nvSpPr>
        <p:spPr>
          <a:xfrm>
            <a:off x="634354" y="3821198"/>
            <a:ext cx="10933176" cy="505422"/>
          </a:xfrm>
          <a:prstGeom prst="rect">
            <a:avLst/>
          </a:prstGeom>
          <a:noFill/>
          <a:ln/>
        </p:spPr>
        <p:txBody>
          <a:bodyPr wrap="square" lIns="0" tIns="0" rIns="0" bIns="0" rtlCol="0" anchor="t"/>
          <a:lstStyle/>
          <a:p>
            <a:pPr>
              <a:lnSpc>
                <a:spcPts val="2380"/>
              </a:lnSpc>
              <a:spcAft>
                <a:spcPts val="1000"/>
              </a:spcAft>
            </a:pPr>
            <a:r>
              <a:rPr lang="en-US" sz="2800" b="1" dirty="0">
                <a:solidFill>
                  <a:srgbClr val="1E40AF"/>
                </a:solidFill>
                <a:latin typeface="Arial" pitchFamily="34" charset="0"/>
                <a:ea typeface="Arial" pitchFamily="34" charset="-122"/>
                <a:cs typeface="Arial" pitchFamily="34" charset="-120"/>
              </a:rPr>
              <a:t>To Value </a:t>
            </a:r>
            <a:r>
              <a:rPr lang="en-US" sz="2800" b="1" u="sng" dirty="0">
                <a:solidFill>
                  <a:srgbClr val="1E40AF"/>
                </a:solidFill>
                <a:latin typeface="Arial" pitchFamily="34" charset="0"/>
                <a:ea typeface="Arial" pitchFamily="34" charset="-122"/>
                <a:cs typeface="Arial" pitchFamily="34" charset="-120"/>
              </a:rPr>
              <a:t> Equity Value</a:t>
            </a:r>
            <a:r>
              <a:rPr lang="en-US" sz="2800" b="1" dirty="0">
                <a:solidFill>
                  <a:srgbClr val="1E40AF"/>
                </a:solidFill>
                <a:latin typeface="Arial" pitchFamily="34" charset="0"/>
                <a:ea typeface="Arial" pitchFamily="34" charset="-122"/>
                <a:cs typeface="Arial" pitchFamily="34" charset="-120"/>
              </a:rPr>
              <a:t>, FCF to Equity should be used </a:t>
            </a:r>
            <a:endParaRPr lang="en-US" sz="2800" u="sng" dirty="0"/>
          </a:p>
        </p:txBody>
      </p:sp>
      <p:sp>
        <p:nvSpPr>
          <p:cNvPr id="16" name="Text 3">
            <a:extLst>
              <a:ext uri="{FF2B5EF4-FFF2-40B4-BE49-F238E27FC236}">
                <a16:creationId xmlns:a16="http://schemas.microsoft.com/office/drawing/2014/main" id="{70A6D455-FFB4-9515-5D35-0E9BCB1BB03C}"/>
              </a:ext>
            </a:extLst>
          </p:cNvPr>
          <p:cNvSpPr/>
          <p:nvPr/>
        </p:nvSpPr>
        <p:spPr>
          <a:xfrm>
            <a:off x="852081" y="4130206"/>
            <a:ext cx="10933176" cy="686929"/>
          </a:xfrm>
          <a:prstGeom prst="rect">
            <a:avLst/>
          </a:prstGeom>
          <a:noFill/>
          <a:ln/>
        </p:spPr>
        <p:txBody>
          <a:bodyPr wrap="square" lIns="0" tIns="0" rIns="0" bIns="0" rtlCol="0" anchor="t"/>
          <a:lstStyle/>
          <a:p>
            <a:pPr marL="342900" indent="-342900">
              <a:lnSpc>
                <a:spcPts val="2800"/>
              </a:lnSpc>
              <a:spcBef>
                <a:spcPts val="400"/>
              </a:spcBef>
              <a:spcAft>
                <a:spcPts val="400"/>
              </a:spcAft>
              <a:buFont typeface="Arial" panose="020B0604020202020204" pitchFamily="34" charset="0"/>
              <a:buChar char="•"/>
            </a:pPr>
            <a:r>
              <a:rPr lang="en-US" sz="2000" dirty="0">
                <a:latin typeface="Arial" pitchFamily="34" charset="0"/>
                <a:ea typeface="Arial" pitchFamily="34" charset="-122"/>
                <a:cs typeface="Arial" pitchFamily="34" charset="-120"/>
              </a:rPr>
              <a:t>The value of a business equals the present value of the </a:t>
            </a:r>
            <a:r>
              <a:rPr lang="en-US" sz="2000" u="sng" dirty="0">
                <a:solidFill>
                  <a:srgbClr val="C00000"/>
                </a:solidFill>
                <a:latin typeface="Arial" pitchFamily="34" charset="0"/>
                <a:ea typeface="Arial" pitchFamily="34" charset="-122"/>
                <a:cs typeface="Arial" pitchFamily="34" charset="-120"/>
              </a:rPr>
              <a:t>free cash flow </a:t>
            </a:r>
            <a:r>
              <a:rPr lang="en-US" sz="2000" dirty="0">
                <a:latin typeface="Arial" pitchFamily="34" charset="0"/>
                <a:ea typeface="Arial" pitchFamily="34" charset="-122"/>
                <a:cs typeface="Arial" pitchFamily="34" charset="-120"/>
              </a:rPr>
              <a:t>it will generate to the </a:t>
            </a:r>
            <a:r>
              <a:rPr lang="en-US" sz="2000" b="1" dirty="0">
                <a:solidFill>
                  <a:srgbClr val="C00000"/>
                </a:solidFill>
                <a:latin typeface="Arial" pitchFamily="34" charset="0"/>
                <a:ea typeface="Arial" pitchFamily="34" charset="-122"/>
                <a:cs typeface="Arial" pitchFamily="34" charset="-120"/>
              </a:rPr>
              <a:t>equity holder </a:t>
            </a:r>
          </a:p>
          <a:p>
            <a:pPr marL="342900" indent="-342900">
              <a:lnSpc>
                <a:spcPts val="2800"/>
              </a:lnSpc>
              <a:spcBef>
                <a:spcPts val="400"/>
              </a:spcBef>
              <a:spcAft>
                <a:spcPts val="400"/>
              </a:spcAft>
              <a:buFont typeface="Arial" panose="020B0604020202020204" pitchFamily="34" charset="0"/>
              <a:buChar char="•"/>
            </a:pPr>
            <a:r>
              <a:rPr lang="en-US" sz="2000" dirty="0">
                <a:latin typeface="Arial" pitchFamily="34" charset="0"/>
                <a:cs typeface="Arial" pitchFamily="34" charset="-120"/>
              </a:rPr>
              <a:t>FCF to Equity (FCFE) = CFO  – </a:t>
            </a:r>
            <a:r>
              <a:rPr lang="en-US" sz="2000" dirty="0" err="1">
                <a:latin typeface="Arial" pitchFamily="34" charset="0"/>
                <a:cs typeface="Arial" pitchFamily="34" charset="-120"/>
              </a:rPr>
              <a:t>CapEx</a:t>
            </a:r>
            <a:r>
              <a:rPr lang="en-US" sz="2000" dirty="0">
                <a:latin typeface="Arial" pitchFamily="34" charset="0"/>
                <a:cs typeface="Arial" pitchFamily="34" charset="-120"/>
              </a:rPr>
              <a:t> + net borrowing</a:t>
            </a:r>
          </a:p>
          <a:p>
            <a:pPr>
              <a:lnSpc>
                <a:spcPts val="2800"/>
              </a:lnSpc>
              <a:spcBef>
                <a:spcPts val="400"/>
              </a:spcBef>
              <a:spcAft>
                <a:spcPts val="400"/>
              </a:spcAft>
            </a:pPr>
            <a:endParaRPr lang="en-US" sz="2000" dirty="0"/>
          </a:p>
          <a:p>
            <a:pPr marL="285750" indent="-285750">
              <a:lnSpc>
                <a:spcPts val="2080"/>
              </a:lnSpc>
              <a:buFont typeface="Arial" panose="020B0604020202020204" pitchFamily="34" charset="0"/>
              <a:buChar char="•"/>
            </a:pPr>
            <a:endParaRPr lang="en-US" sz="1600" dirty="0"/>
          </a:p>
        </p:txBody>
      </p:sp>
    </p:spTree>
    <p:extLst>
      <p:ext uri="{BB962C8B-B14F-4D97-AF65-F5344CB8AC3E}">
        <p14:creationId xmlns:p14="http://schemas.microsoft.com/office/powerpoint/2010/main" val="134798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9" grpId="0" animBg="1"/>
      <p:bldP spid="10" grpId="0" animBg="1"/>
      <p:bldP spid="14" grpId="0" animBg="1"/>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F1B69-3171-3A94-6E9E-1DF768DA52D0}"/>
            </a:ext>
          </a:extLst>
        </p:cNvPr>
        <p:cNvGrpSpPr/>
        <p:nvPr/>
      </p:nvGrpSpPr>
      <p:grpSpPr>
        <a:xfrm>
          <a:off x="0" y="0"/>
          <a:ext cx="0" cy="0"/>
          <a:chOff x="0" y="0"/>
          <a:chExt cx="0" cy="0"/>
        </a:xfrm>
      </p:grpSpPr>
      <p:sp>
        <p:nvSpPr>
          <p:cNvPr id="9" name="Text 2">
            <a:extLst>
              <a:ext uri="{FF2B5EF4-FFF2-40B4-BE49-F238E27FC236}">
                <a16:creationId xmlns:a16="http://schemas.microsoft.com/office/drawing/2014/main" id="{736C1CD4-C9E3-9A4B-1342-2EEB63D43D70}"/>
              </a:ext>
            </a:extLst>
          </p:cNvPr>
          <p:cNvSpPr/>
          <p:nvPr/>
        </p:nvSpPr>
        <p:spPr>
          <a:xfrm>
            <a:off x="406400" y="1253735"/>
            <a:ext cx="11176000" cy="1704830"/>
          </a:xfrm>
          <a:prstGeom prst="roundRect">
            <a:avLst>
              <a:gd name="adj" fmla="val 5074"/>
            </a:avLst>
          </a:prstGeom>
          <a:solidFill>
            <a:srgbClr val="DCFCE7"/>
          </a:solidFill>
          <a:ln w="9525">
            <a:solidFill>
              <a:srgbClr val="22C55E"/>
            </a:solidFill>
          </a:ln>
        </p:spPr>
        <p:txBody>
          <a:bodyPr wrap="square" rtlCol="0" anchor="ctr"/>
          <a:lstStyle/>
          <a:p>
            <a:endParaRPr lang="en-US" sz="2400" dirty="0"/>
          </a:p>
        </p:txBody>
      </p:sp>
      <p:sp>
        <p:nvSpPr>
          <p:cNvPr id="7" name="Text 26">
            <a:extLst>
              <a:ext uri="{FF2B5EF4-FFF2-40B4-BE49-F238E27FC236}">
                <a16:creationId xmlns:a16="http://schemas.microsoft.com/office/drawing/2014/main" id="{DB842C25-A2CB-E4C9-1259-725D44E05549}"/>
              </a:ext>
            </a:extLst>
          </p:cNvPr>
          <p:cNvSpPr/>
          <p:nvPr/>
        </p:nvSpPr>
        <p:spPr>
          <a:xfrm>
            <a:off x="387353" y="4200987"/>
            <a:ext cx="11176000" cy="1445433"/>
          </a:xfrm>
          <a:prstGeom prst="roundRect">
            <a:avLst>
              <a:gd name="adj" fmla="val 3101"/>
            </a:avLst>
          </a:prstGeom>
          <a:solidFill>
            <a:srgbClr val="FEF2F2"/>
          </a:solidFill>
          <a:ln w="9525">
            <a:solidFill>
              <a:srgbClr val="EF4444"/>
            </a:solidFill>
          </a:ln>
        </p:spPr>
        <p:txBody>
          <a:bodyPr wrap="square" rtlCol="0" anchor="ctr"/>
          <a:lstStyle/>
          <a:p>
            <a:endParaRPr lang="en-US" sz="24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7C24EDB2-A39B-D39E-74FA-8EE6DEFF302A}"/>
              </a:ext>
            </a:extLst>
          </p:cNvPr>
          <p:cNvSpPr>
            <a:spLocks noGrp="1"/>
          </p:cNvSpPr>
          <p:nvPr>
            <p:ph type="title"/>
          </p:nvPr>
        </p:nvSpPr>
        <p:spPr/>
        <p:txBody>
          <a:bodyPr>
            <a:normAutofit/>
          </a:bodyPr>
          <a:lstStyle/>
          <a:p>
            <a:r>
              <a:rPr lang="en-US" dirty="0">
                <a:latin typeface="+mn-lt"/>
              </a:rPr>
              <a:t>DCF in Practice : Five-Step Procedure</a:t>
            </a:r>
          </a:p>
        </p:txBody>
      </p:sp>
      <p:sp>
        <p:nvSpPr>
          <p:cNvPr id="4" name="Text 3">
            <a:extLst>
              <a:ext uri="{FF2B5EF4-FFF2-40B4-BE49-F238E27FC236}">
                <a16:creationId xmlns:a16="http://schemas.microsoft.com/office/drawing/2014/main" id="{CBAECA5C-0E62-8392-6938-52AF9808572D}"/>
              </a:ext>
            </a:extLst>
          </p:cNvPr>
          <p:cNvSpPr/>
          <p:nvPr/>
        </p:nvSpPr>
        <p:spPr>
          <a:xfrm>
            <a:off x="736600" y="1374128"/>
            <a:ext cx="10933176" cy="319881"/>
          </a:xfrm>
          <a:prstGeom prst="rect">
            <a:avLst/>
          </a:prstGeom>
          <a:noFill/>
          <a:ln/>
        </p:spPr>
        <p:txBody>
          <a:bodyPr wrap="square" lIns="0" tIns="0" rIns="0" bIns="0" rtlCol="0" anchor="t"/>
          <a:lstStyle/>
          <a:p>
            <a:pPr>
              <a:lnSpc>
                <a:spcPts val="2520"/>
              </a:lnSpc>
              <a:spcAft>
                <a:spcPts val="1200"/>
              </a:spcAft>
            </a:pPr>
            <a:r>
              <a:rPr lang="en-US" b="1" dirty="0">
                <a:solidFill>
                  <a:srgbClr val="15803D"/>
                </a:solidFill>
                <a:latin typeface="Arial" pitchFamily="34" charset="0"/>
                <a:ea typeface="Arial" pitchFamily="34" charset="-122"/>
                <a:cs typeface="Arial" pitchFamily="34" charset="-120"/>
              </a:rPr>
              <a:t>1. Forecast Sales (Revenue)</a:t>
            </a:r>
            <a:endParaRPr lang="en-US" dirty="0"/>
          </a:p>
          <a:p>
            <a:pPr>
              <a:lnSpc>
                <a:spcPts val="2520"/>
              </a:lnSpc>
              <a:spcAft>
                <a:spcPts val="1200"/>
              </a:spcAft>
            </a:pPr>
            <a:endParaRPr lang="en-US" dirty="0"/>
          </a:p>
        </p:txBody>
      </p:sp>
      <p:sp>
        <p:nvSpPr>
          <p:cNvPr id="13" name="Text 6">
            <a:extLst>
              <a:ext uri="{FF2B5EF4-FFF2-40B4-BE49-F238E27FC236}">
                <a16:creationId xmlns:a16="http://schemas.microsoft.com/office/drawing/2014/main" id="{8E4A4A39-9CEB-8237-4F93-C086FA358AE0}"/>
              </a:ext>
            </a:extLst>
          </p:cNvPr>
          <p:cNvSpPr/>
          <p:nvPr/>
        </p:nvSpPr>
        <p:spPr>
          <a:xfrm>
            <a:off x="1129030" y="1846409"/>
            <a:ext cx="10209530" cy="612520"/>
          </a:xfrm>
          <a:prstGeom prst="rect">
            <a:avLst/>
          </a:prstGeom>
          <a:noFill/>
          <a:ln/>
        </p:spPr>
        <p:txBody>
          <a:bodyPr wrap="square" lIns="0" tIns="0" rIns="0" bIns="0" rtlCol="0" anchor="t"/>
          <a:lstStyle/>
          <a:p>
            <a:pPr marL="285750" indent="-285750">
              <a:lnSpc>
                <a:spcPts val="1960"/>
              </a:lnSpc>
              <a:spcAft>
                <a:spcPts val="400"/>
              </a:spcAft>
              <a:buFont typeface="Arial" panose="020B0604020202020204" pitchFamily="34" charset="0"/>
              <a:buChar char="•"/>
            </a:pPr>
            <a:r>
              <a:rPr lang="en-US" dirty="0">
                <a:solidFill>
                  <a:srgbClr val="1F2937"/>
                </a:solidFill>
                <a:latin typeface="Arial" pitchFamily="34" charset="0"/>
                <a:ea typeface="Arial" pitchFamily="34" charset="-122"/>
                <a:cs typeface="Arial" pitchFamily="34" charset="-120"/>
              </a:rPr>
              <a:t>for the explicit horizon, anchored to the most recent actual results. </a:t>
            </a:r>
          </a:p>
          <a:p>
            <a:pPr>
              <a:lnSpc>
                <a:spcPts val="1960"/>
              </a:lnSpc>
              <a:spcAft>
                <a:spcPts val="400"/>
              </a:spcAft>
            </a:pPr>
            <a:endParaRPr lang="en-US" dirty="0"/>
          </a:p>
        </p:txBody>
      </p:sp>
      <p:sp>
        <p:nvSpPr>
          <p:cNvPr id="23" name="Text 10">
            <a:extLst>
              <a:ext uri="{FF2B5EF4-FFF2-40B4-BE49-F238E27FC236}">
                <a16:creationId xmlns:a16="http://schemas.microsoft.com/office/drawing/2014/main" id="{3A2EA045-298E-8745-6015-8B632AF9FA89}"/>
              </a:ext>
            </a:extLst>
          </p:cNvPr>
          <p:cNvSpPr/>
          <p:nvPr/>
        </p:nvSpPr>
        <p:spPr>
          <a:xfrm>
            <a:off x="1130269" y="2214310"/>
            <a:ext cx="5711206" cy="434581"/>
          </a:xfrm>
          <a:prstGeom prst="rect">
            <a:avLst/>
          </a:prstGeom>
          <a:noFill/>
          <a:ln/>
        </p:spPr>
        <p:txBody>
          <a:bodyPr wrap="square" lIns="0" tIns="0" rIns="0" bIns="0" rtlCol="0" anchor="t"/>
          <a:lstStyle/>
          <a:p>
            <a:pPr>
              <a:lnSpc>
                <a:spcPts val="1960"/>
              </a:lnSpc>
              <a:spcAft>
                <a:spcPts val="400"/>
              </a:spcAft>
            </a:pPr>
            <a:endParaRPr lang="en-US" dirty="0"/>
          </a:p>
        </p:txBody>
      </p:sp>
      <p:sp>
        <p:nvSpPr>
          <p:cNvPr id="25" name="Text 12">
            <a:extLst>
              <a:ext uri="{FF2B5EF4-FFF2-40B4-BE49-F238E27FC236}">
                <a16:creationId xmlns:a16="http://schemas.microsoft.com/office/drawing/2014/main" id="{43BB0082-A296-48C4-D180-6F89251D60C7}"/>
              </a:ext>
            </a:extLst>
          </p:cNvPr>
          <p:cNvSpPr/>
          <p:nvPr/>
        </p:nvSpPr>
        <p:spPr>
          <a:xfrm>
            <a:off x="385636" y="3012152"/>
            <a:ext cx="11176000" cy="1117655"/>
          </a:xfrm>
          <a:prstGeom prst="roundRect">
            <a:avLst>
              <a:gd name="adj" fmla="val 6701"/>
            </a:avLst>
          </a:prstGeom>
          <a:solidFill>
            <a:srgbClr val="EFF6FF"/>
          </a:solidFill>
          <a:ln>
            <a:solidFill>
              <a:srgbClr val="3B82F6"/>
            </a:solidFill>
          </a:ln>
        </p:spPr>
        <p:txBody>
          <a:bodyPr wrap="square" rtlCol="0" anchor="ctr"/>
          <a:lstStyle/>
          <a:p>
            <a:endParaRPr lang="en-US" sz="2400" dirty="0"/>
          </a:p>
        </p:txBody>
      </p:sp>
      <p:sp>
        <p:nvSpPr>
          <p:cNvPr id="27" name="Text 13">
            <a:extLst>
              <a:ext uri="{FF2B5EF4-FFF2-40B4-BE49-F238E27FC236}">
                <a16:creationId xmlns:a16="http://schemas.microsoft.com/office/drawing/2014/main" id="{0E23926F-E63A-EBFC-90AF-495846778CB5}"/>
              </a:ext>
            </a:extLst>
          </p:cNvPr>
          <p:cNvSpPr/>
          <p:nvPr/>
        </p:nvSpPr>
        <p:spPr>
          <a:xfrm>
            <a:off x="783567" y="2110232"/>
            <a:ext cx="10984992" cy="302220"/>
          </a:xfrm>
          <a:prstGeom prst="rect">
            <a:avLst/>
          </a:prstGeom>
          <a:noFill/>
          <a:ln/>
        </p:spPr>
        <p:txBody>
          <a:bodyPr wrap="square" lIns="0" tIns="0" rIns="0" bIns="0" rtlCol="0" anchor="t"/>
          <a:lstStyle/>
          <a:p>
            <a:pPr>
              <a:lnSpc>
                <a:spcPts val="2520"/>
              </a:lnSpc>
              <a:spcAft>
                <a:spcPts val="1200"/>
              </a:spcAft>
            </a:pPr>
            <a:r>
              <a:rPr lang="en-US" b="1" dirty="0">
                <a:solidFill>
                  <a:srgbClr val="15803D"/>
                </a:solidFill>
                <a:latin typeface="Arial" pitchFamily="34" charset="0"/>
                <a:ea typeface="Arial" pitchFamily="34" charset="-122"/>
                <a:cs typeface="Arial" pitchFamily="34" charset="-120"/>
              </a:rPr>
              <a:t>2. Project Expenses</a:t>
            </a:r>
          </a:p>
        </p:txBody>
      </p:sp>
      <p:sp>
        <p:nvSpPr>
          <p:cNvPr id="42" name="Text 27">
            <a:extLst>
              <a:ext uri="{FF2B5EF4-FFF2-40B4-BE49-F238E27FC236}">
                <a16:creationId xmlns:a16="http://schemas.microsoft.com/office/drawing/2014/main" id="{E4B7B3E0-60F5-A088-4972-2248EA67A3B2}"/>
              </a:ext>
            </a:extLst>
          </p:cNvPr>
          <p:cNvSpPr/>
          <p:nvPr/>
        </p:nvSpPr>
        <p:spPr>
          <a:xfrm>
            <a:off x="711200" y="4340174"/>
            <a:ext cx="10984992" cy="284361"/>
          </a:xfrm>
          <a:prstGeom prst="rect">
            <a:avLst/>
          </a:prstGeom>
          <a:noFill/>
          <a:ln/>
        </p:spPr>
        <p:txBody>
          <a:bodyPr wrap="square" lIns="0" tIns="0" rIns="0" bIns="0" rtlCol="0" anchor="t"/>
          <a:lstStyle/>
          <a:p>
            <a:pPr>
              <a:lnSpc>
                <a:spcPts val="2240"/>
              </a:lnSpc>
              <a:spcAft>
                <a:spcPts val="800"/>
              </a:spcAft>
            </a:pPr>
            <a:r>
              <a:rPr lang="en-US" b="1" dirty="0">
                <a:solidFill>
                  <a:srgbClr val="991B1B"/>
                </a:solidFill>
                <a:latin typeface="Arial" panose="020B0604020202020204" pitchFamily="34" charset="0"/>
                <a:ea typeface="Arial" pitchFamily="34" charset="-122"/>
                <a:cs typeface="Arial" panose="020B0604020202020204" pitchFamily="34" charset="0"/>
              </a:rPr>
              <a:t>4. Estimate the Terminal Value (TV)</a:t>
            </a:r>
            <a:endParaRPr lang="en-US" dirty="0">
              <a:latin typeface="Arial" panose="020B0604020202020204" pitchFamily="34" charset="0"/>
              <a:cs typeface="Arial" panose="020B0604020202020204" pitchFamily="34" charset="0"/>
            </a:endParaRPr>
          </a:p>
        </p:txBody>
      </p:sp>
      <p:sp>
        <p:nvSpPr>
          <p:cNvPr id="20" name="Text 6">
            <a:extLst>
              <a:ext uri="{FF2B5EF4-FFF2-40B4-BE49-F238E27FC236}">
                <a16:creationId xmlns:a16="http://schemas.microsoft.com/office/drawing/2014/main" id="{D061B9BE-4A6E-9C14-C0DA-4E2E4C95B3FF}"/>
              </a:ext>
            </a:extLst>
          </p:cNvPr>
          <p:cNvSpPr/>
          <p:nvPr/>
        </p:nvSpPr>
        <p:spPr>
          <a:xfrm>
            <a:off x="1129030" y="2526128"/>
            <a:ext cx="8424433" cy="398749"/>
          </a:xfrm>
          <a:prstGeom prst="rect">
            <a:avLst/>
          </a:prstGeom>
          <a:noFill/>
          <a:ln/>
        </p:spPr>
        <p:txBody>
          <a:bodyPr wrap="square" lIns="0" tIns="0" rIns="0" bIns="0" rtlCol="0" anchor="t"/>
          <a:lstStyle/>
          <a:p>
            <a:pPr marL="285750" indent="-285750">
              <a:lnSpc>
                <a:spcPts val="1960"/>
              </a:lnSpc>
              <a:spcAft>
                <a:spcPts val="400"/>
              </a:spcAft>
              <a:buFont typeface="Arial" panose="020B0604020202020204" pitchFamily="34" charset="0"/>
              <a:buChar char="•"/>
            </a:pPr>
            <a:r>
              <a:rPr lang="en-US" dirty="0">
                <a:solidFill>
                  <a:srgbClr val="1F2937"/>
                </a:solidFill>
                <a:latin typeface="Arial" pitchFamily="34" charset="0"/>
                <a:ea typeface="Arial" pitchFamily="34" charset="-122"/>
                <a:cs typeface="Arial" pitchFamily="34" charset="-120"/>
              </a:rPr>
              <a:t>from the sales forecast to arrive at operating income.</a:t>
            </a:r>
            <a:endParaRPr lang="en-US" sz="1600" dirty="0"/>
          </a:p>
        </p:txBody>
      </p:sp>
      <p:sp>
        <p:nvSpPr>
          <p:cNvPr id="22" name="Text 26">
            <a:extLst>
              <a:ext uri="{FF2B5EF4-FFF2-40B4-BE49-F238E27FC236}">
                <a16:creationId xmlns:a16="http://schemas.microsoft.com/office/drawing/2014/main" id="{35FF4D19-3938-CE62-179F-E7E2025E606A}"/>
              </a:ext>
            </a:extLst>
          </p:cNvPr>
          <p:cNvSpPr/>
          <p:nvPr/>
        </p:nvSpPr>
        <p:spPr>
          <a:xfrm>
            <a:off x="374557" y="5723801"/>
            <a:ext cx="11176000" cy="939890"/>
          </a:xfrm>
          <a:prstGeom prst="roundRect">
            <a:avLst>
              <a:gd name="adj" fmla="val 7846"/>
            </a:avLst>
          </a:prstGeom>
          <a:solidFill>
            <a:schemeClr val="accent6">
              <a:lumMod val="20000"/>
              <a:lumOff val="80000"/>
            </a:schemeClr>
          </a:solidFill>
          <a:ln w="9525">
            <a:solidFill>
              <a:srgbClr val="854D0E"/>
            </a:solidFill>
          </a:ln>
        </p:spPr>
        <p:txBody>
          <a:bodyPr wrap="square" rtlCol="0" anchor="ctr"/>
          <a:lstStyle/>
          <a:p>
            <a:endParaRPr lang="en-US" sz="2400" dirty="0"/>
          </a:p>
        </p:txBody>
      </p:sp>
      <p:sp>
        <p:nvSpPr>
          <p:cNvPr id="26" name="Text 13">
            <a:extLst>
              <a:ext uri="{FF2B5EF4-FFF2-40B4-BE49-F238E27FC236}">
                <a16:creationId xmlns:a16="http://schemas.microsoft.com/office/drawing/2014/main" id="{6544FE98-9C24-DB53-9EE5-61A89E0DE9A7}"/>
              </a:ext>
            </a:extLst>
          </p:cNvPr>
          <p:cNvSpPr/>
          <p:nvPr/>
        </p:nvSpPr>
        <p:spPr>
          <a:xfrm>
            <a:off x="600617" y="5907792"/>
            <a:ext cx="10984992" cy="266700"/>
          </a:xfrm>
          <a:prstGeom prst="rect">
            <a:avLst/>
          </a:prstGeom>
          <a:noFill/>
          <a:ln/>
        </p:spPr>
        <p:txBody>
          <a:bodyPr wrap="square" lIns="0" tIns="0" rIns="0" bIns="0" rtlCol="0" anchor="t"/>
          <a:lstStyle/>
          <a:p>
            <a:pPr>
              <a:lnSpc>
                <a:spcPts val="2100"/>
              </a:lnSpc>
              <a:spcAft>
                <a:spcPts val="800"/>
              </a:spcAft>
            </a:pPr>
            <a:r>
              <a:rPr lang="en-US" sz="1500" b="1" dirty="0">
                <a:solidFill>
                  <a:srgbClr val="854D0E"/>
                </a:solidFill>
                <a:latin typeface="Arial" pitchFamily="34" charset="0"/>
                <a:ea typeface="Arial" pitchFamily="34" charset="-122"/>
                <a:cs typeface="Arial" pitchFamily="34" charset="-120"/>
              </a:rPr>
              <a:t> </a:t>
            </a:r>
            <a:r>
              <a:rPr lang="en-US" b="1" dirty="0">
                <a:solidFill>
                  <a:srgbClr val="854D0E"/>
                </a:solidFill>
                <a:latin typeface="Arial" pitchFamily="34" charset="0"/>
                <a:ea typeface="Arial" pitchFamily="34" charset="-122"/>
                <a:cs typeface="Arial" pitchFamily="34" charset="-120"/>
              </a:rPr>
              <a:t>5. </a:t>
            </a:r>
            <a:r>
              <a:rPr lang="en-US" b="1" dirty="0">
                <a:solidFill>
                  <a:srgbClr val="854D0E"/>
                </a:solidFill>
              </a:rPr>
              <a:t>Discount the explicit FCFs and the TV :</a:t>
            </a:r>
          </a:p>
          <a:p>
            <a:pPr>
              <a:lnSpc>
                <a:spcPts val="2100"/>
              </a:lnSpc>
              <a:spcAft>
                <a:spcPts val="800"/>
              </a:spcAft>
            </a:pPr>
            <a:endParaRPr lang="en-US" sz="1500" dirty="0"/>
          </a:p>
        </p:txBody>
      </p:sp>
      <p:sp>
        <p:nvSpPr>
          <p:cNvPr id="29" name="Text 14">
            <a:extLst>
              <a:ext uri="{FF2B5EF4-FFF2-40B4-BE49-F238E27FC236}">
                <a16:creationId xmlns:a16="http://schemas.microsoft.com/office/drawing/2014/main" id="{7CE8BEA0-C3C2-9CDA-9BE0-D46E47E97A13}"/>
              </a:ext>
            </a:extLst>
          </p:cNvPr>
          <p:cNvSpPr/>
          <p:nvPr/>
        </p:nvSpPr>
        <p:spPr>
          <a:xfrm>
            <a:off x="986305" y="6245105"/>
            <a:ext cx="7760771" cy="418585"/>
          </a:xfrm>
          <a:prstGeom prst="rect">
            <a:avLst/>
          </a:prstGeom>
          <a:noFill/>
          <a:ln/>
        </p:spPr>
        <p:txBody>
          <a:bodyPr wrap="square" lIns="0" tIns="0" rIns="0" bIns="0" rtlCol="0" anchor="t"/>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 </a:t>
            </a:r>
            <a:r>
              <a:rPr lang="en-US" dirty="0">
                <a:solidFill>
                  <a:srgbClr val="1F2937"/>
                </a:solidFill>
                <a:latin typeface="Arial" pitchFamily="34" charset="0"/>
                <a:ea typeface="Arial" pitchFamily="34" charset="-122"/>
                <a:cs typeface="Arial" pitchFamily="34" charset="-120"/>
              </a:rPr>
              <a:t>to the present at the discount rate r, and sum them to obtain firm value.</a:t>
            </a:r>
          </a:p>
        </p:txBody>
      </p:sp>
      <p:sp>
        <p:nvSpPr>
          <p:cNvPr id="17" name="Text 13">
            <a:extLst>
              <a:ext uri="{FF2B5EF4-FFF2-40B4-BE49-F238E27FC236}">
                <a16:creationId xmlns:a16="http://schemas.microsoft.com/office/drawing/2014/main" id="{FB16F7CA-715D-D1D4-178B-DBB8F4D4B4A6}"/>
              </a:ext>
            </a:extLst>
          </p:cNvPr>
          <p:cNvSpPr/>
          <p:nvPr/>
        </p:nvSpPr>
        <p:spPr>
          <a:xfrm>
            <a:off x="741299" y="3236058"/>
            <a:ext cx="10984992" cy="302220"/>
          </a:xfrm>
          <a:prstGeom prst="rect">
            <a:avLst/>
          </a:prstGeom>
          <a:noFill/>
          <a:ln/>
        </p:spPr>
        <p:txBody>
          <a:bodyPr wrap="square" lIns="0" tIns="0" rIns="0" bIns="0" rtlCol="0" anchor="t"/>
          <a:lstStyle/>
          <a:p>
            <a:pPr>
              <a:lnSpc>
                <a:spcPts val="2380"/>
              </a:lnSpc>
              <a:spcAft>
                <a:spcPts val="1000"/>
              </a:spcAft>
            </a:pPr>
            <a:r>
              <a:rPr lang="en-US" b="1" dirty="0">
                <a:solidFill>
                  <a:srgbClr val="1E40AF"/>
                </a:solidFill>
                <a:latin typeface="Arial" pitchFamily="34" charset="0"/>
                <a:ea typeface="Arial" pitchFamily="34" charset="-122"/>
                <a:cs typeface="Arial" pitchFamily="34" charset="-120"/>
              </a:rPr>
              <a:t>3. Convert Income into Free Cash Flow (FCF)</a:t>
            </a:r>
            <a:endParaRPr lang="en-US" dirty="0"/>
          </a:p>
        </p:txBody>
      </p:sp>
      <p:sp>
        <p:nvSpPr>
          <p:cNvPr id="18" name="Text 6">
            <a:extLst>
              <a:ext uri="{FF2B5EF4-FFF2-40B4-BE49-F238E27FC236}">
                <a16:creationId xmlns:a16="http://schemas.microsoft.com/office/drawing/2014/main" id="{60DCE3F7-1E72-D185-E455-B8FBDA872135}"/>
              </a:ext>
            </a:extLst>
          </p:cNvPr>
          <p:cNvSpPr/>
          <p:nvPr/>
        </p:nvSpPr>
        <p:spPr>
          <a:xfrm>
            <a:off x="1096795" y="3717595"/>
            <a:ext cx="8424433" cy="398749"/>
          </a:xfrm>
          <a:prstGeom prst="rect">
            <a:avLst/>
          </a:prstGeom>
          <a:noFill/>
          <a:ln/>
        </p:spPr>
        <p:txBody>
          <a:bodyPr wrap="square" lIns="0" tIns="0" rIns="0" bIns="0" rtlCol="0" anchor="t"/>
          <a:lstStyle/>
          <a:p>
            <a:pPr marL="285750" indent="-285750">
              <a:lnSpc>
                <a:spcPts val="1960"/>
              </a:lnSpc>
              <a:spcAft>
                <a:spcPts val="400"/>
              </a:spcAft>
              <a:buFont typeface="Arial" panose="020B0604020202020204" pitchFamily="34" charset="0"/>
              <a:buChar char="•"/>
            </a:pPr>
            <a:r>
              <a:rPr lang="en-US" dirty="0">
                <a:solidFill>
                  <a:srgbClr val="1F2937"/>
                </a:solidFill>
                <a:latin typeface="Arial" pitchFamily="34" charset="0"/>
                <a:ea typeface="Arial" pitchFamily="34" charset="-122"/>
                <a:cs typeface="Arial" pitchFamily="34" charset="-120"/>
              </a:rPr>
              <a:t>(adjust for non-cash items and reinvestment).</a:t>
            </a:r>
            <a:endParaRPr lang="en-US" sz="1600" dirty="0"/>
          </a:p>
        </p:txBody>
      </p:sp>
      <p:sp>
        <p:nvSpPr>
          <p:cNvPr id="19" name="Text 6">
            <a:extLst>
              <a:ext uri="{FF2B5EF4-FFF2-40B4-BE49-F238E27FC236}">
                <a16:creationId xmlns:a16="http://schemas.microsoft.com/office/drawing/2014/main" id="{8EC90807-CF76-A1E2-C227-1655A6B5E693}"/>
              </a:ext>
            </a:extLst>
          </p:cNvPr>
          <p:cNvSpPr/>
          <p:nvPr/>
        </p:nvSpPr>
        <p:spPr>
          <a:xfrm>
            <a:off x="986305" y="4750105"/>
            <a:ext cx="8424433" cy="398749"/>
          </a:xfrm>
          <a:prstGeom prst="rect">
            <a:avLst/>
          </a:prstGeom>
          <a:noFill/>
          <a:ln/>
        </p:spPr>
        <p:txBody>
          <a:bodyPr wrap="square" lIns="0" tIns="0" rIns="0" bIns="0" rtlCol="0" anchor="t"/>
          <a:lstStyle/>
          <a:p>
            <a:pPr marL="285750" indent="-285750">
              <a:lnSpc>
                <a:spcPts val="1960"/>
              </a:lnSpc>
              <a:spcAft>
                <a:spcPts val="400"/>
              </a:spcAft>
              <a:buFont typeface="Arial" panose="020B0604020202020204" pitchFamily="34" charset="0"/>
              <a:buChar char="•"/>
            </a:pPr>
            <a:r>
              <a:rPr lang="en-US" dirty="0">
                <a:solidFill>
                  <a:srgbClr val="1F2937"/>
                </a:solidFill>
                <a:latin typeface="Arial" pitchFamily="34" charset="0"/>
                <a:ea typeface="Arial" pitchFamily="34" charset="-122"/>
                <a:cs typeface="Arial" pitchFamily="34" charset="-120"/>
              </a:rPr>
              <a:t>at the end of the horizon, assuming FCF grows at a steady long-run rate forever:</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FFF33AB-142E-E5E0-6E13-73096F456D2C}"/>
                  </a:ext>
                </a:extLst>
              </p:cNvPr>
              <p:cNvSpPr txBox="1"/>
              <p:nvPr/>
            </p:nvSpPr>
            <p:spPr>
              <a:xfrm>
                <a:off x="1753220" y="5023795"/>
                <a:ext cx="6096000" cy="6613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b="0" smtClean="0"/>
                        <m:t>Terminal</m:t>
                      </m:r>
                      <m:r>
                        <m:rPr>
                          <m:nor/>
                        </m:rPr>
                        <a:rPr lang="en-US" b="0" smtClean="0"/>
                        <m:t> </m:t>
                      </m:r>
                      <m:r>
                        <m:rPr>
                          <m:nor/>
                        </m:rPr>
                        <a:rPr lang="en-US" b="0" smtClean="0"/>
                        <m:t>Value</m:t>
                      </m:r>
                      <m:r>
                        <m:rPr>
                          <m:nor/>
                        </m:rPr>
                        <a:rPr lang="en-US" b="0" smtClean="0"/>
                        <m:t> </m:t>
                      </m:r>
                      <m:d>
                        <m:dPr>
                          <m:ctrlPr>
                            <a:rPr lang="en-US" b="0" i="1">
                              <a:latin typeface="Cambria Math" panose="02040503050406030204" pitchFamily="18" charset="0"/>
                            </a:rPr>
                          </m:ctrlPr>
                        </m:dPr>
                        <m:e>
                          <m:r>
                            <m:rPr>
                              <m:nor/>
                            </m:rPr>
                            <a:rPr lang="en-US" b="0" i="1">
                              <a:latin typeface="Cambria Math" panose="02040503050406030204" pitchFamily="18" charset="0"/>
                            </a:rPr>
                            <m:t>end</m:t>
                          </m:r>
                          <m:r>
                            <m:rPr>
                              <m:nor/>
                            </m:rPr>
                            <a:rPr lang="en-US" b="0" i="1">
                              <a:latin typeface="Cambria Math" panose="02040503050406030204" pitchFamily="18" charset="0"/>
                            </a:rPr>
                            <m:t> </m:t>
                          </m:r>
                          <m:r>
                            <m:rPr>
                              <m:nor/>
                            </m:rPr>
                            <a:rPr lang="en-US" b="0" i="1">
                              <a:latin typeface="Cambria Math" panose="02040503050406030204" pitchFamily="18" charset="0"/>
                            </a:rPr>
                            <m:t>of</m:t>
                          </m:r>
                          <m:r>
                            <m:rPr>
                              <m:nor/>
                            </m:rPr>
                            <a:rPr lang="en-US" b="0" i="1">
                              <a:latin typeface="Cambria Math" panose="02040503050406030204" pitchFamily="18" charset="0"/>
                            </a:rPr>
                            <m:t> </m:t>
                          </m:r>
                          <m:r>
                            <m:rPr>
                              <m:nor/>
                            </m:rPr>
                            <a:rPr lang="en-US" b="0" i="1">
                              <a:latin typeface="Cambria Math" panose="02040503050406030204" pitchFamily="18" charset="0"/>
                            </a:rPr>
                            <m:t>Year</m:t>
                          </m:r>
                          <m:r>
                            <m:rPr>
                              <m:nor/>
                            </m:rPr>
                            <a:rPr lang="en-US" b="0" i="1">
                              <a:latin typeface="Cambria Math" panose="02040503050406030204" pitchFamily="18" charset="0"/>
                            </a:rPr>
                            <m:t> </m:t>
                          </m:r>
                          <m:r>
                            <a:rPr lang="en-US" b="0" i="1">
                              <a:latin typeface="Cambria Math" panose="02040503050406030204" pitchFamily="18" charset="0"/>
                            </a:rPr>
                            <m:t>𝑛</m:t>
                          </m:r>
                        </m:e>
                      </m:d>
                      <m:r>
                        <a:rPr lang="en-US" b="0" i="0">
                          <a:latin typeface="Cambria Math" panose="02040503050406030204" pitchFamily="18" charset="0"/>
                        </a:rPr>
                        <m:t>=</m:t>
                      </m:r>
                      <m:f>
                        <m:fPr>
                          <m:ctrlPr>
                            <a:rPr lang="en-US" b="0" i="1">
                              <a:latin typeface="Cambria Math" panose="02040503050406030204" pitchFamily="18" charset="0"/>
                            </a:rPr>
                          </m:ctrlPr>
                        </m:fPr>
                        <m:num>
                          <m:sSub>
                            <m:sSubPr>
                              <m:ctrlPr>
                                <a:rPr lang="en-US" b="0" i="1">
                                  <a:latin typeface="Cambria Math" panose="02040503050406030204" pitchFamily="18" charset="0"/>
                                </a:rPr>
                              </m:ctrlPr>
                            </m:sSubPr>
                            <m:e>
                              <m:r>
                                <a:rPr lang="en-US" b="0" i="1">
                                  <a:latin typeface="Cambria Math" panose="02040503050406030204" pitchFamily="18" charset="0"/>
                                </a:rPr>
                                <m:t>𝐹𝐶𝐹</m:t>
                              </m:r>
                            </m:e>
                            <m:sub>
                              <m:r>
                                <a:rPr lang="en-US" b="0" i="1">
                                  <a:latin typeface="Cambria Math" panose="02040503050406030204" pitchFamily="18" charset="0"/>
                                </a:rPr>
                                <m:t>𝑛</m:t>
                              </m:r>
                              <m:r>
                                <a:rPr lang="en-US" b="0" i="0">
                                  <a:latin typeface="Cambria Math" panose="02040503050406030204" pitchFamily="18" charset="0"/>
                                </a:rPr>
                                <m:t>+1</m:t>
                              </m:r>
                            </m:sub>
                          </m:sSub>
                        </m:num>
                        <m:den>
                          <m:r>
                            <a:rPr lang="en-US" b="0" i="1">
                              <a:latin typeface="Cambria Math" panose="02040503050406030204" pitchFamily="18" charset="0"/>
                            </a:rPr>
                            <m:t>𝑟</m:t>
                          </m:r>
                          <m:r>
                            <a:rPr lang="en-US" b="0" i="0">
                              <a:latin typeface="Cambria Math" panose="02040503050406030204" pitchFamily="18" charset="0"/>
                            </a:rPr>
                            <m:t>−</m:t>
                          </m:r>
                          <m:r>
                            <a:rPr lang="en-US" b="0" i="1">
                              <a:latin typeface="Cambria Math" panose="02040503050406030204" pitchFamily="18" charset="0"/>
                            </a:rPr>
                            <m:t>𝑔</m:t>
                          </m:r>
                        </m:den>
                      </m:f>
                    </m:oMath>
                  </m:oMathPara>
                </a14:m>
                <a:endParaRPr lang="en-US" dirty="0"/>
              </a:p>
            </p:txBody>
          </p:sp>
        </mc:Choice>
        <mc:Fallback xmlns="">
          <p:sp>
            <p:nvSpPr>
              <p:cNvPr id="24" name="TextBox 23">
                <a:extLst>
                  <a:ext uri="{FF2B5EF4-FFF2-40B4-BE49-F238E27FC236}">
                    <a16:creationId xmlns:a16="http://schemas.microsoft.com/office/drawing/2014/main" id="{FFFF33AB-142E-E5E0-6E13-73096F456D2C}"/>
                  </a:ext>
                </a:extLst>
              </p:cNvPr>
              <p:cNvSpPr txBox="1">
                <a:spLocks noRot="1" noChangeAspect="1" noMove="1" noResize="1" noEditPoints="1" noAdjustHandles="1" noChangeArrowheads="1" noChangeShapeType="1" noTextEdit="1"/>
              </p:cNvSpPr>
              <p:nvPr/>
            </p:nvSpPr>
            <p:spPr>
              <a:xfrm>
                <a:off x="1753220" y="5023795"/>
                <a:ext cx="6096000" cy="66133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08843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fill="hold"/>
                                        <p:tgtEl>
                                          <p:spTgt spid="26"/>
                                        </p:tgtEl>
                                        <p:attrNameLst>
                                          <p:attrName>ppt_x</p:attrName>
                                        </p:attrNameLst>
                                      </p:cBhvr>
                                      <p:tavLst>
                                        <p:tav tm="0">
                                          <p:val>
                                            <p:strVal val="#ppt_x"/>
                                          </p:val>
                                        </p:tav>
                                        <p:tav tm="100000">
                                          <p:val>
                                            <p:strVal val="#ppt_x"/>
                                          </p:val>
                                        </p:tav>
                                      </p:tavLst>
                                    </p:anim>
                                    <p:anim calcmode="lin" valueType="num">
                                      <p:cBhvr additive="base">
                                        <p:cTn id="30" dur="500" fill="hold"/>
                                        <p:tgtEl>
                                          <p:spTgt spid="26"/>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additive="base">
                                        <p:cTn id="33" dur="500" fill="hold"/>
                                        <p:tgtEl>
                                          <p:spTgt spid="29"/>
                                        </p:tgtEl>
                                        <p:attrNameLst>
                                          <p:attrName>ppt_x</p:attrName>
                                        </p:attrNameLst>
                                      </p:cBhvr>
                                      <p:tavLst>
                                        <p:tav tm="0">
                                          <p:val>
                                            <p:strVal val="#ppt_x"/>
                                          </p:val>
                                        </p:tav>
                                        <p:tav tm="100000">
                                          <p:val>
                                            <p:strVal val="#ppt_x"/>
                                          </p:val>
                                        </p:tav>
                                      </p:tavLst>
                                    </p:anim>
                                    <p:anim calcmode="lin" valueType="num">
                                      <p:cBhvr additive="base">
                                        <p:cTn id="34" dur="500" fill="hold"/>
                                        <p:tgtEl>
                                          <p:spTgt spid="29"/>
                                        </p:tgtEl>
                                        <p:attrNameLst>
                                          <p:attrName>ppt_y</p:attrName>
                                        </p:attrNameLst>
                                      </p:cBhvr>
                                      <p:tavLst>
                                        <p:tav tm="0">
                                          <p:val>
                                            <p:strVal val="1+#ppt_h/2"/>
                                          </p:val>
                                        </p:tav>
                                        <p:tav tm="100000">
                                          <p:val>
                                            <p:strVal val="#ppt_y"/>
                                          </p:val>
                                        </p:tav>
                                      </p:tavLst>
                                    </p:anim>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5" grpId="0" animBg="1"/>
      <p:bldP spid="27" grpId="0" animBg="1"/>
      <p:bldP spid="42" grpId="0" animBg="1"/>
      <p:bldP spid="20" grpId="0" animBg="1"/>
      <p:bldP spid="22" grpId="0" animBg="1"/>
      <p:bldP spid="26" grpId="0" animBg="1"/>
      <p:bldP spid="29" grpId="0" animBg="1"/>
      <p:bldP spid="18"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8E938-A874-551D-5D1E-D2C97AFE302B}"/>
            </a:ext>
          </a:extLst>
        </p:cNvPr>
        <p:cNvGrpSpPr/>
        <p:nvPr/>
      </p:nvGrpSpPr>
      <p:grpSpPr>
        <a:xfrm>
          <a:off x="0" y="0"/>
          <a:ext cx="0" cy="0"/>
          <a:chOff x="0" y="0"/>
          <a:chExt cx="0" cy="0"/>
        </a:xfrm>
      </p:grpSpPr>
      <p:sp>
        <p:nvSpPr>
          <p:cNvPr id="6" name="Text 26">
            <a:extLst>
              <a:ext uri="{FF2B5EF4-FFF2-40B4-BE49-F238E27FC236}">
                <a16:creationId xmlns:a16="http://schemas.microsoft.com/office/drawing/2014/main" id="{3D8FBFE8-A710-05CF-319E-ECA9BA12AE3D}"/>
              </a:ext>
            </a:extLst>
          </p:cNvPr>
          <p:cNvSpPr/>
          <p:nvPr/>
        </p:nvSpPr>
        <p:spPr>
          <a:xfrm>
            <a:off x="444502" y="2995885"/>
            <a:ext cx="11176000" cy="3587477"/>
          </a:xfrm>
          <a:prstGeom prst="roundRect">
            <a:avLst>
              <a:gd name="adj" fmla="val 3138"/>
            </a:avLst>
          </a:prstGeom>
          <a:solidFill>
            <a:srgbClr val="FEF2F2"/>
          </a:solidFill>
          <a:ln w="9525">
            <a:solidFill>
              <a:srgbClr val="EF4444"/>
            </a:solidFill>
          </a:ln>
        </p:spPr>
        <p:txBody>
          <a:bodyPr wrap="square" rtlCol="0" anchor="ctr"/>
          <a:lstStyle/>
          <a:p>
            <a:endParaRPr lang="en-US" sz="3200" dirty="0"/>
          </a:p>
        </p:txBody>
      </p:sp>
      <p:sp>
        <p:nvSpPr>
          <p:cNvPr id="2" name="Title 1">
            <a:extLst>
              <a:ext uri="{FF2B5EF4-FFF2-40B4-BE49-F238E27FC236}">
                <a16:creationId xmlns:a16="http://schemas.microsoft.com/office/drawing/2014/main" id="{04EA5E0B-6A37-8E77-9E41-6E25B1F88BE7}"/>
              </a:ext>
            </a:extLst>
          </p:cNvPr>
          <p:cNvSpPr>
            <a:spLocks noGrp="1"/>
          </p:cNvSpPr>
          <p:nvPr>
            <p:ph type="title"/>
          </p:nvPr>
        </p:nvSpPr>
        <p:spPr/>
        <p:txBody>
          <a:bodyPr>
            <a:normAutofit/>
          </a:bodyPr>
          <a:lstStyle/>
          <a:p>
            <a:r>
              <a:rPr lang="en-US" dirty="0">
                <a:latin typeface="+mn-lt"/>
              </a:rPr>
              <a:t>DCF Model – A Worked Example</a:t>
            </a:r>
          </a:p>
        </p:txBody>
      </p:sp>
      <p:sp>
        <p:nvSpPr>
          <p:cNvPr id="4" name="Text 2">
            <a:extLst>
              <a:ext uri="{FF2B5EF4-FFF2-40B4-BE49-F238E27FC236}">
                <a16:creationId xmlns:a16="http://schemas.microsoft.com/office/drawing/2014/main" id="{A9FA684B-4854-AE79-44B1-A0595BD1FF78}"/>
              </a:ext>
            </a:extLst>
          </p:cNvPr>
          <p:cNvSpPr/>
          <p:nvPr/>
        </p:nvSpPr>
        <p:spPr>
          <a:xfrm>
            <a:off x="736600" y="1782126"/>
            <a:ext cx="10933176" cy="505422"/>
          </a:xfrm>
          <a:prstGeom prst="rect">
            <a:avLst/>
          </a:prstGeom>
          <a:noFill/>
          <a:ln/>
        </p:spPr>
        <p:txBody>
          <a:bodyPr wrap="square" lIns="0" tIns="0" rIns="0" bIns="0" rtlCol="0" anchor="t"/>
          <a:lstStyle/>
          <a:p>
            <a:pPr>
              <a:lnSpc>
                <a:spcPts val="2380"/>
              </a:lnSpc>
              <a:spcAft>
                <a:spcPts val="1000"/>
              </a:spcAft>
            </a:pPr>
            <a:r>
              <a:rPr lang="en-US" sz="2400" b="1" dirty="0">
                <a:solidFill>
                  <a:srgbClr val="1E40AF"/>
                </a:solidFill>
                <a:latin typeface="Arial" pitchFamily="34" charset="0"/>
                <a:ea typeface="Arial" pitchFamily="34" charset="-122"/>
                <a:cs typeface="Arial" pitchFamily="34" charset="-120"/>
              </a:rPr>
              <a:t>A Set-up</a:t>
            </a:r>
            <a:endParaRPr lang="en-US" sz="2400" dirty="0"/>
          </a:p>
        </p:txBody>
      </p:sp>
      <p:sp>
        <p:nvSpPr>
          <p:cNvPr id="5" name="Text 3">
            <a:extLst>
              <a:ext uri="{FF2B5EF4-FFF2-40B4-BE49-F238E27FC236}">
                <a16:creationId xmlns:a16="http://schemas.microsoft.com/office/drawing/2014/main" id="{EA1645CD-574A-CE84-800F-BAD61B448549}"/>
              </a:ext>
            </a:extLst>
          </p:cNvPr>
          <p:cNvSpPr/>
          <p:nvPr/>
        </p:nvSpPr>
        <p:spPr>
          <a:xfrm>
            <a:off x="838580" y="2218456"/>
            <a:ext cx="10225660" cy="686929"/>
          </a:xfrm>
          <a:prstGeom prst="rect">
            <a:avLst/>
          </a:prstGeom>
          <a:noFill/>
          <a:ln/>
        </p:spPr>
        <p:txBody>
          <a:bodyPr wrap="square" lIns="0" tIns="0" rIns="0" bIns="0" rtlCol="0" anchor="t"/>
          <a:lstStyle/>
          <a:p>
            <a:pPr marL="285750" lvl="0" indent="-285750">
              <a:buFont typeface="Arial" panose="020B0604020202020204" pitchFamily="34" charset="0"/>
              <a:buChar char="•"/>
            </a:pPr>
            <a:r>
              <a:rPr lang="en-US" dirty="0"/>
              <a:t>Assume a discount rate </a:t>
            </a:r>
            <a:r>
              <a:rPr lang="en-US" i="1" dirty="0"/>
              <a:t>r</a:t>
            </a:r>
            <a:r>
              <a:rPr lang="en-US" dirty="0"/>
              <a:t> = 10% and a long-run growth rate </a:t>
            </a:r>
            <a:r>
              <a:rPr lang="en-US" i="1" dirty="0"/>
              <a:t>g</a:t>
            </a:r>
            <a:r>
              <a:rPr lang="en-US" dirty="0"/>
              <a:t> = 3%. The projected free cash flows and their present values are shown below ($ in millions).</a:t>
            </a:r>
          </a:p>
          <a:p>
            <a:pPr marL="285750" indent="-285750">
              <a:lnSpc>
                <a:spcPts val="2080"/>
              </a:lnSpc>
              <a:buFont typeface="Arial" panose="020B0604020202020204" pitchFamily="34" charset="0"/>
              <a:buChar char="•"/>
            </a:pPr>
            <a:endParaRPr lang="en-US" sz="1600" dirty="0"/>
          </a:p>
        </p:txBody>
      </p:sp>
      <p:sp>
        <p:nvSpPr>
          <p:cNvPr id="20" name="Text 6">
            <a:extLst>
              <a:ext uri="{FF2B5EF4-FFF2-40B4-BE49-F238E27FC236}">
                <a16:creationId xmlns:a16="http://schemas.microsoft.com/office/drawing/2014/main" id="{C1185C66-4B3E-B8E1-979A-69D9BAF4CAA5}"/>
              </a:ext>
            </a:extLst>
          </p:cNvPr>
          <p:cNvSpPr/>
          <p:nvPr/>
        </p:nvSpPr>
        <p:spPr>
          <a:xfrm>
            <a:off x="716280" y="3182874"/>
            <a:ext cx="10933176" cy="284361"/>
          </a:xfrm>
          <a:prstGeom prst="rect">
            <a:avLst/>
          </a:prstGeom>
          <a:noFill/>
          <a:ln/>
        </p:spPr>
        <p:txBody>
          <a:bodyPr wrap="square" lIns="0" tIns="0" rIns="0" bIns="0" rtlCol="0" anchor="t"/>
          <a:lstStyle/>
          <a:p>
            <a:pPr>
              <a:lnSpc>
                <a:spcPts val="2240"/>
              </a:lnSpc>
              <a:spcAft>
                <a:spcPts val="800"/>
              </a:spcAft>
            </a:pPr>
            <a:r>
              <a:rPr lang="en-US" sz="2800" b="1" dirty="0">
                <a:solidFill>
                  <a:srgbClr val="991B1B"/>
                </a:solidFill>
                <a:latin typeface="Arial" pitchFamily="34" charset="0"/>
                <a:ea typeface="Arial" pitchFamily="34" charset="-122"/>
                <a:cs typeface="Arial" pitchFamily="34" charset="-120"/>
              </a:rPr>
              <a:t> </a:t>
            </a:r>
            <a:r>
              <a:rPr lang="en-US" sz="2400" b="1" dirty="0">
                <a:solidFill>
                  <a:srgbClr val="991B1B"/>
                </a:solidFill>
                <a:latin typeface="Arial" pitchFamily="34" charset="0"/>
                <a:ea typeface="Arial" pitchFamily="34" charset="-122"/>
                <a:cs typeface="Arial" pitchFamily="34" charset="-120"/>
              </a:rPr>
              <a:t>FCF for Years 1 -5</a:t>
            </a:r>
            <a:endParaRPr lang="en-US" sz="2800" dirty="0"/>
          </a:p>
        </p:txBody>
      </p:sp>
      <p:sp>
        <p:nvSpPr>
          <p:cNvPr id="21" name="Text 7">
            <a:extLst>
              <a:ext uri="{FF2B5EF4-FFF2-40B4-BE49-F238E27FC236}">
                <a16:creationId xmlns:a16="http://schemas.microsoft.com/office/drawing/2014/main" id="{F7D9816B-1D19-038A-2CA4-F0D49424AD53}"/>
              </a:ext>
            </a:extLst>
          </p:cNvPr>
          <p:cNvSpPr/>
          <p:nvPr/>
        </p:nvSpPr>
        <p:spPr>
          <a:xfrm>
            <a:off x="762000" y="3568833"/>
            <a:ext cx="10933176" cy="566664"/>
          </a:xfrm>
          <a:prstGeom prst="rect">
            <a:avLst/>
          </a:prstGeom>
          <a:noFill/>
          <a:ln/>
        </p:spPr>
        <p:txBody>
          <a:bodyPr wrap="square" lIns="0" tIns="0" rIns="0" bIns="0" rtlCol="0" anchor="t"/>
          <a:lstStyle/>
          <a:p>
            <a:pPr marL="285750" indent="-285750">
              <a:buFont typeface="Arial" panose="020B0604020202020204" pitchFamily="34" charset="0"/>
              <a:buChar char="•"/>
            </a:pPr>
            <a:endParaRPr lang="en-US" sz="2400" dirty="0"/>
          </a:p>
        </p:txBody>
      </p:sp>
      <p:graphicFrame>
        <p:nvGraphicFramePr>
          <p:cNvPr id="7" name="Table 6">
            <a:extLst>
              <a:ext uri="{FF2B5EF4-FFF2-40B4-BE49-F238E27FC236}">
                <a16:creationId xmlns:a16="http://schemas.microsoft.com/office/drawing/2014/main" id="{8401752B-1716-5161-B4A5-D06387A01C2E}"/>
              </a:ext>
            </a:extLst>
          </p:cNvPr>
          <p:cNvGraphicFramePr>
            <a:graphicFrameLocks noGrp="1"/>
          </p:cNvGraphicFramePr>
          <p:nvPr>
            <p:extLst>
              <p:ext uri="{D42A27DB-BD31-4B8C-83A1-F6EECF244321}">
                <p14:modId xmlns:p14="http://schemas.microsoft.com/office/powerpoint/2010/main" val="4046173558"/>
              </p:ext>
            </p:extLst>
          </p:nvPr>
        </p:nvGraphicFramePr>
        <p:xfrm>
          <a:off x="1986280" y="3817196"/>
          <a:ext cx="8128000" cy="2275840"/>
        </p:xfrm>
        <a:graphic>
          <a:graphicData uri="http://schemas.openxmlformats.org/drawingml/2006/table">
            <a:tbl>
              <a:tblPr firstRow="1" bandRow="1">
                <a:tableStyleId>{0E3FDE45-AF77-4B5C-9715-49D594BDF05E}</a:tableStyleId>
              </a:tblPr>
              <a:tblGrid>
                <a:gridCol w="1522730">
                  <a:extLst>
                    <a:ext uri="{9D8B030D-6E8A-4147-A177-3AD203B41FA5}">
                      <a16:colId xmlns:a16="http://schemas.microsoft.com/office/drawing/2014/main" val="2219187793"/>
                    </a:ext>
                  </a:extLst>
                </a:gridCol>
                <a:gridCol w="1908810">
                  <a:extLst>
                    <a:ext uri="{9D8B030D-6E8A-4147-A177-3AD203B41FA5}">
                      <a16:colId xmlns:a16="http://schemas.microsoft.com/office/drawing/2014/main" val="210348932"/>
                    </a:ext>
                  </a:extLst>
                </a:gridCol>
                <a:gridCol w="2664460">
                  <a:extLst>
                    <a:ext uri="{9D8B030D-6E8A-4147-A177-3AD203B41FA5}">
                      <a16:colId xmlns:a16="http://schemas.microsoft.com/office/drawing/2014/main" val="226044544"/>
                    </a:ext>
                  </a:extLst>
                </a:gridCol>
                <a:gridCol w="2032000">
                  <a:extLst>
                    <a:ext uri="{9D8B030D-6E8A-4147-A177-3AD203B41FA5}">
                      <a16:colId xmlns:a16="http://schemas.microsoft.com/office/drawing/2014/main" val="59078903"/>
                    </a:ext>
                  </a:extLst>
                </a:gridCol>
              </a:tblGrid>
              <a:tr h="370840">
                <a:tc>
                  <a:txBody>
                    <a:bodyPr/>
                    <a:lstStyle/>
                    <a:p>
                      <a:pPr marL="0" marR="0" algn="ctr">
                        <a:buNone/>
                      </a:pPr>
                      <a:r>
                        <a:rPr lang="en-US" sz="1800" b="1" kern="1200" dirty="0">
                          <a:solidFill>
                            <a:srgbClr val="991B1B"/>
                          </a:solidFill>
                          <a:latin typeface="Arial" pitchFamily="34" charset="0"/>
                          <a:ea typeface="Calibri" panose="020F0502020204030204" pitchFamily="34" charset="0"/>
                          <a:cs typeface="Arial" pitchFamily="34" charset="-120"/>
                        </a:rPr>
                        <a:t>Year</a:t>
                      </a:r>
                      <a:endParaRPr lang="en-US" sz="1800" b="1" kern="1200" dirty="0">
                        <a:solidFill>
                          <a:srgbClr val="991B1B"/>
                        </a:solidFill>
                        <a:latin typeface="Arial" pitchFamily="34" charset="0"/>
                        <a:ea typeface="Batang" panose="02030600000101010101" pitchFamily="18" charset="-127"/>
                        <a:cs typeface="Arial" pitchFamily="34" charset="-120"/>
                      </a:endParaRPr>
                    </a:p>
                  </a:txBody>
                  <a:tcPr marL="76200" marR="76200" marT="38100" marB="38100" anchor="ctr"/>
                </a:tc>
                <a:tc>
                  <a:txBody>
                    <a:bodyPr/>
                    <a:lstStyle/>
                    <a:p>
                      <a:pPr marL="0" marR="0" algn="ctr">
                        <a:buNone/>
                      </a:pPr>
                      <a:r>
                        <a:rPr lang="en-US" sz="1800" b="1" kern="1200" dirty="0">
                          <a:solidFill>
                            <a:srgbClr val="991B1B"/>
                          </a:solidFill>
                          <a:latin typeface="Arial" pitchFamily="34" charset="0"/>
                          <a:ea typeface="Calibri" panose="020F0502020204030204" pitchFamily="34" charset="0"/>
                          <a:cs typeface="Arial" pitchFamily="34" charset="-120"/>
                        </a:rPr>
                        <a:t>FCF ($M)</a:t>
                      </a:r>
                      <a:endParaRPr lang="en-US" sz="1800" b="1" kern="1200" dirty="0">
                        <a:solidFill>
                          <a:srgbClr val="991B1B"/>
                        </a:solidFill>
                        <a:latin typeface="Arial" pitchFamily="34" charset="0"/>
                        <a:ea typeface="Batang" panose="02030600000101010101" pitchFamily="18" charset="-127"/>
                        <a:cs typeface="Arial" pitchFamily="34" charset="-120"/>
                      </a:endParaRPr>
                    </a:p>
                  </a:txBody>
                  <a:tcPr marL="76200" marR="76200" marT="38100" marB="38100" anchor="ctr"/>
                </a:tc>
                <a:tc>
                  <a:txBody>
                    <a:bodyPr/>
                    <a:lstStyle/>
                    <a:p>
                      <a:pPr marL="0" marR="0" algn="ctr">
                        <a:buNone/>
                      </a:pPr>
                      <a:r>
                        <a:rPr lang="en-US" sz="1800" b="1" kern="1200" dirty="0">
                          <a:solidFill>
                            <a:srgbClr val="991B1B"/>
                          </a:solidFill>
                          <a:latin typeface="Arial" pitchFamily="34" charset="0"/>
                          <a:ea typeface="Calibri" panose="020F0502020204030204" pitchFamily="34" charset="0"/>
                          <a:cs typeface="Arial" pitchFamily="34" charset="-120"/>
                        </a:rPr>
                        <a:t>Discount factor @ 10%</a:t>
                      </a:r>
                      <a:endParaRPr lang="en-US" sz="1800" b="1" kern="1200" dirty="0">
                        <a:solidFill>
                          <a:srgbClr val="991B1B"/>
                        </a:solidFill>
                        <a:latin typeface="Arial" pitchFamily="34" charset="0"/>
                        <a:ea typeface="Batang" panose="02030600000101010101" pitchFamily="18" charset="-127"/>
                        <a:cs typeface="Arial" pitchFamily="34" charset="-120"/>
                      </a:endParaRPr>
                    </a:p>
                  </a:txBody>
                  <a:tcPr marL="76200" marR="76200" marT="38100" marB="38100" anchor="ctr"/>
                </a:tc>
                <a:tc>
                  <a:txBody>
                    <a:bodyPr/>
                    <a:lstStyle/>
                    <a:p>
                      <a:pPr marL="0" marR="0" algn="ctr">
                        <a:buNone/>
                      </a:pPr>
                      <a:r>
                        <a:rPr lang="en-US" sz="1800" b="1" kern="1200" dirty="0">
                          <a:solidFill>
                            <a:srgbClr val="991B1B"/>
                          </a:solidFill>
                          <a:latin typeface="Arial" pitchFamily="34" charset="0"/>
                          <a:ea typeface="Calibri" panose="020F0502020204030204" pitchFamily="34" charset="0"/>
                          <a:cs typeface="Arial" pitchFamily="34" charset="-120"/>
                        </a:rPr>
                        <a:t>PV of FCF ($M)</a:t>
                      </a:r>
                      <a:endParaRPr lang="en-US" sz="1800" b="1" kern="1200" dirty="0">
                        <a:solidFill>
                          <a:srgbClr val="991B1B"/>
                        </a:solidFill>
                        <a:latin typeface="Arial" pitchFamily="34" charset="0"/>
                        <a:ea typeface="Batang" panose="02030600000101010101" pitchFamily="18" charset="-127"/>
                        <a:cs typeface="Arial" pitchFamily="34" charset="-120"/>
                      </a:endParaRPr>
                    </a:p>
                  </a:txBody>
                  <a:tcPr marL="76200" marR="76200" marT="38100" marB="38100" anchor="ctr"/>
                </a:tc>
                <a:extLst>
                  <a:ext uri="{0D108BD9-81ED-4DB2-BD59-A6C34878D82A}">
                    <a16:rowId xmlns:a16="http://schemas.microsoft.com/office/drawing/2014/main" val="3029075850"/>
                  </a:ext>
                </a:extLst>
              </a:tr>
              <a:tr h="370840">
                <a:tc>
                  <a:txBody>
                    <a:bodyPr/>
                    <a:lstStyle/>
                    <a:p>
                      <a:pPr marL="0" marR="0" algn="ctr">
                        <a:buNone/>
                      </a:pPr>
                      <a:r>
                        <a:rPr lang="en-US" sz="2000">
                          <a:effectLst/>
                          <a:latin typeface="Calibri" panose="020F0502020204030204" pitchFamily="34" charset="0"/>
                          <a:ea typeface="Calibri" panose="020F0502020204030204" pitchFamily="34" charset="0"/>
                        </a:rPr>
                        <a:t>1</a:t>
                      </a:r>
                      <a:endParaRPr lang="en-US" sz="2400">
                        <a:effectLst/>
                        <a:latin typeface="Calibri" panose="020F0502020204030204" pitchFamily="34" charset="0"/>
                        <a:ea typeface="Batang" panose="02030600000101010101" pitchFamily="18" charset="-127"/>
                      </a:endParaRPr>
                    </a:p>
                  </a:txBody>
                  <a:tcPr marL="76200" marR="76200" marT="38100" marB="38100" anchor="ctr"/>
                </a:tc>
                <a:tc>
                  <a:txBody>
                    <a:bodyPr/>
                    <a:lstStyle/>
                    <a:p>
                      <a:pPr marL="0" marR="0" algn="ctr">
                        <a:buNone/>
                      </a:pPr>
                      <a:r>
                        <a:rPr lang="en-US" sz="2000">
                          <a:effectLst/>
                          <a:latin typeface="Calibri" panose="020F0502020204030204" pitchFamily="34" charset="0"/>
                          <a:ea typeface="Calibri" panose="020F0502020204030204" pitchFamily="34" charset="0"/>
                        </a:rPr>
                        <a:t>100.0</a:t>
                      </a:r>
                      <a:endParaRPr lang="en-US" sz="2400">
                        <a:effectLst/>
                        <a:latin typeface="Calibri" panose="020F0502020204030204" pitchFamily="34" charset="0"/>
                        <a:ea typeface="Batang" panose="02030600000101010101" pitchFamily="18" charset="-127"/>
                      </a:endParaRPr>
                    </a:p>
                  </a:txBody>
                  <a:tcPr marL="76200" marR="76200" marT="38100" marB="38100" anchor="ctr"/>
                </a:tc>
                <a:tc>
                  <a:txBody>
                    <a:bodyPr/>
                    <a:lstStyle/>
                    <a:p>
                      <a:pPr marL="0" marR="0" algn="ctr">
                        <a:buNone/>
                      </a:pPr>
                      <a:r>
                        <a:rPr lang="en-US" sz="2000" dirty="0">
                          <a:effectLst/>
                          <a:latin typeface="Calibri" panose="020F0502020204030204" pitchFamily="34" charset="0"/>
                          <a:ea typeface="Calibri" panose="020F0502020204030204" pitchFamily="34" charset="0"/>
                        </a:rPr>
                        <a:t>0.9091</a:t>
                      </a:r>
                      <a:endParaRPr lang="en-US" sz="2400" dirty="0">
                        <a:effectLst/>
                        <a:latin typeface="Calibri" panose="020F0502020204030204" pitchFamily="34" charset="0"/>
                        <a:ea typeface="Batang" panose="02030600000101010101" pitchFamily="18" charset="-127"/>
                      </a:endParaRPr>
                    </a:p>
                  </a:txBody>
                  <a:tcPr marL="76200" marR="76200" marT="38100" marB="38100" anchor="ctr"/>
                </a:tc>
                <a:tc>
                  <a:txBody>
                    <a:bodyPr/>
                    <a:lstStyle/>
                    <a:p>
                      <a:pPr marL="0" marR="0" algn="ctr">
                        <a:buNone/>
                      </a:pPr>
                      <a:r>
                        <a:rPr lang="en-US" sz="2000">
                          <a:effectLst/>
                          <a:latin typeface="Calibri" panose="020F0502020204030204" pitchFamily="34" charset="0"/>
                          <a:ea typeface="Calibri" panose="020F0502020204030204" pitchFamily="34" charset="0"/>
                        </a:rPr>
                        <a:t>90.9</a:t>
                      </a:r>
                      <a:endParaRPr lang="en-US" sz="2400">
                        <a:effectLst/>
                        <a:latin typeface="Calibri" panose="020F0502020204030204" pitchFamily="34" charset="0"/>
                        <a:ea typeface="Batang" panose="02030600000101010101" pitchFamily="18" charset="-127"/>
                      </a:endParaRPr>
                    </a:p>
                  </a:txBody>
                  <a:tcPr marL="76200" marR="76200" marT="38100" marB="38100" anchor="ctr"/>
                </a:tc>
                <a:extLst>
                  <a:ext uri="{0D108BD9-81ED-4DB2-BD59-A6C34878D82A}">
                    <a16:rowId xmlns:a16="http://schemas.microsoft.com/office/drawing/2014/main" val="3526419837"/>
                  </a:ext>
                </a:extLst>
              </a:tr>
              <a:tr h="370840">
                <a:tc>
                  <a:txBody>
                    <a:bodyPr/>
                    <a:lstStyle/>
                    <a:p>
                      <a:pPr marL="0" marR="0" algn="ctr">
                        <a:buNone/>
                      </a:pPr>
                      <a:r>
                        <a:rPr lang="en-US" sz="2000">
                          <a:solidFill>
                            <a:srgbClr val="000000"/>
                          </a:solidFill>
                          <a:effectLst/>
                          <a:latin typeface="Calibri" panose="020F0502020204030204" pitchFamily="34" charset="0"/>
                          <a:ea typeface="Calibri" panose="020F0502020204030204" pitchFamily="34" charset="0"/>
                        </a:rPr>
                        <a:t>2</a:t>
                      </a:r>
                      <a:endParaRPr lang="en-US" sz="2400">
                        <a:effectLst/>
                        <a:latin typeface="Calibri" panose="020F0502020204030204" pitchFamily="34" charset="0"/>
                        <a:ea typeface="Batang" panose="02030600000101010101" pitchFamily="18" charset="-127"/>
                      </a:endParaRPr>
                    </a:p>
                  </a:txBody>
                  <a:tcPr marL="76200" marR="76200" marT="38100" marB="38100" anchor="ctr"/>
                </a:tc>
                <a:tc>
                  <a:txBody>
                    <a:bodyPr/>
                    <a:lstStyle/>
                    <a:p>
                      <a:pPr marL="0" marR="0" algn="ctr">
                        <a:buNone/>
                      </a:pPr>
                      <a:r>
                        <a:rPr lang="en-US" sz="2000">
                          <a:solidFill>
                            <a:srgbClr val="000000"/>
                          </a:solidFill>
                          <a:effectLst/>
                          <a:latin typeface="Calibri" panose="020F0502020204030204" pitchFamily="34" charset="0"/>
                          <a:ea typeface="Calibri" panose="020F0502020204030204" pitchFamily="34" charset="0"/>
                        </a:rPr>
                        <a:t>115.0</a:t>
                      </a:r>
                      <a:endParaRPr lang="en-US" sz="2400">
                        <a:effectLst/>
                        <a:latin typeface="Calibri" panose="020F0502020204030204" pitchFamily="34" charset="0"/>
                        <a:ea typeface="Batang" panose="02030600000101010101" pitchFamily="18" charset="-127"/>
                      </a:endParaRPr>
                    </a:p>
                  </a:txBody>
                  <a:tcPr marL="76200" marR="76200" marT="38100" marB="38100" anchor="ctr"/>
                </a:tc>
                <a:tc>
                  <a:txBody>
                    <a:bodyPr/>
                    <a:lstStyle/>
                    <a:p>
                      <a:pPr marL="0" marR="0" algn="ctr">
                        <a:buNone/>
                      </a:pPr>
                      <a:r>
                        <a:rPr lang="en-US" sz="2000" dirty="0">
                          <a:solidFill>
                            <a:srgbClr val="000000"/>
                          </a:solidFill>
                          <a:effectLst/>
                          <a:latin typeface="Calibri" panose="020F0502020204030204" pitchFamily="34" charset="0"/>
                          <a:ea typeface="Calibri" panose="020F0502020204030204" pitchFamily="34" charset="0"/>
                        </a:rPr>
                        <a:t>0.8264</a:t>
                      </a:r>
                      <a:endParaRPr lang="en-US" sz="2400" dirty="0">
                        <a:effectLst/>
                        <a:latin typeface="Calibri" panose="020F0502020204030204" pitchFamily="34" charset="0"/>
                        <a:ea typeface="Batang" panose="02030600000101010101" pitchFamily="18" charset="-127"/>
                      </a:endParaRPr>
                    </a:p>
                  </a:txBody>
                  <a:tcPr marL="76200" marR="76200" marT="38100" marB="38100" anchor="ctr"/>
                </a:tc>
                <a:tc>
                  <a:txBody>
                    <a:bodyPr/>
                    <a:lstStyle/>
                    <a:p>
                      <a:pPr marL="0" marR="0" algn="ctr">
                        <a:buNone/>
                      </a:pPr>
                      <a:r>
                        <a:rPr lang="en-US" sz="2000">
                          <a:solidFill>
                            <a:srgbClr val="000000"/>
                          </a:solidFill>
                          <a:effectLst/>
                          <a:latin typeface="Calibri" panose="020F0502020204030204" pitchFamily="34" charset="0"/>
                          <a:ea typeface="Calibri" panose="020F0502020204030204" pitchFamily="34" charset="0"/>
                        </a:rPr>
                        <a:t>95.0</a:t>
                      </a:r>
                      <a:endParaRPr lang="en-US" sz="2400">
                        <a:effectLst/>
                        <a:latin typeface="Calibri" panose="020F0502020204030204" pitchFamily="34" charset="0"/>
                        <a:ea typeface="Batang" panose="02030600000101010101" pitchFamily="18" charset="-127"/>
                      </a:endParaRPr>
                    </a:p>
                  </a:txBody>
                  <a:tcPr marL="76200" marR="76200" marT="38100" marB="38100" anchor="ctr"/>
                </a:tc>
                <a:extLst>
                  <a:ext uri="{0D108BD9-81ED-4DB2-BD59-A6C34878D82A}">
                    <a16:rowId xmlns:a16="http://schemas.microsoft.com/office/drawing/2014/main" val="3485464316"/>
                  </a:ext>
                </a:extLst>
              </a:tr>
              <a:tr h="370840">
                <a:tc>
                  <a:txBody>
                    <a:bodyPr/>
                    <a:lstStyle/>
                    <a:p>
                      <a:pPr marL="0" marR="0" algn="ctr">
                        <a:buNone/>
                      </a:pPr>
                      <a:r>
                        <a:rPr lang="en-US" sz="2000">
                          <a:effectLst/>
                          <a:latin typeface="Calibri" panose="020F0502020204030204" pitchFamily="34" charset="0"/>
                          <a:ea typeface="Calibri" panose="020F0502020204030204" pitchFamily="34" charset="0"/>
                        </a:rPr>
                        <a:t>3</a:t>
                      </a:r>
                      <a:endParaRPr lang="en-US" sz="2400">
                        <a:effectLst/>
                        <a:latin typeface="Calibri" panose="020F0502020204030204" pitchFamily="34" charset="0"/>
                        <a:ea typeface="Batang" panose="02030600000101010101" pitchFamily="18" charset="-127"/>
                      </a:endParaRPr>
                    </a:p>
                  </a:txBody>
                  <a:tcPr marL="76200" marR="76200" marT="38100" marB="38100" anchor="ctr"/>
                </a:tc>
                <a:tc>
                  <a:txBody>
                    <a:bodyPr/>
                    <a:lstStyle/>
                    <a:p>
                      <a:pPr marL="0" marR="0" algn="ctr">
                        <a:buNone/>
                      </a:pPr>
                      <a:r>
                        <a:rPr lang="en-US" sz="2000">
                          <a:effectLst/>
                          <a:latin typeface="Calibri" panose="020F0502020204030204" pitchFamily="34" charset="0"/>
                          <a:ea typeface="Calibri" panose="020F0502020204030204" pitchFamily="34" charset="0"/>
                        </a:rPr>
                        <a:t>130.0</a:t>
                      </a:r>
                      <a:endParaRPr lang="en-US" sz="2400">
                        <a:effectLst/>
                        <a:latin typeface="Calibri" panose="020F0502020204030204" pitchFamily="34" charset="0"/>
                        <a:ea typeface="Batang" panose="02030600000101010101" pitchFamily="18" charset="-127"/>
                      </a:endParaRPr>
                    </a:p>
                  </a:txBody>
                  <a:tcPr marL="76200" marR="76200" marT="38100" marB="38100" anchor="ctr"/>
                </a:tc>
                <a:tc>
                  <a:txBody>
                    <a:bodyPr/>
                    <a:lstStyle/>
                    <a:p>
                      <a:pPr marL="0" marR="0" algn="ctr">
                        <a:buNone/>
                      </a:pPr>
                      <a:r>
                        <a:rPr lang="en-US" sz="2000">
                          <a:effectLst/>
                          <a:latin typeface="Calibri" panose="020F0502020204030204" pitchFamily="34" charset="0"/>
                          <a:ea typeface="Calibri" panose="020F0502020204030204" pitchFamily="34" charset="0"/>
                        </a:rPr>
                        <a:t>0.7513</a:t>
                      </a:r>
                      <a:endParaRPr lang="en-US" sz="2400">
                        <a:effectLst/>
                        <a:latin typeface="Calibri" panose="020F0502020204030204" pitchFamily="34" charset="0"/>
                        <a:ea typeface="Batang" panose="02030600000101010101" pitchFamily="18" charset="-127"/>
                      </a:endParaRPr>
                    </a:p>
                  </a:txBody>
                  <a:tcPr marL="76200" marR="76200" marT="38100" marB="38100" anchor="ctr"/>
                </a:tc>
                <a:tc>
                  <a:txBody>
                    <a:bodyPr/>
                    <a:lstStyle/>
                    <a:p>
                      <a:pPr marL="0" marR="0" algn="ctr">
                        <a:buNone/>
                      </a:pPr>
                      <a:r>
                        <a:rPr lang="en-US" sz="2000" dirty="0">
                          <a:effectLst/>
                          <a:latin typeface="Calibri" panose="020F0502020204030204" pitchFamily="34" charset="0"/>
                          <a:ea typeface="Calibri" panose="020F0502020204030204" pitchFamily="34" charset="0"/>
                        </a:rPr>
                        <a:t>97.7</a:t>
                      </a:r>
                      <a:endParaRPr lang="en-US" sz="2400" dirty="0">
                        <a:effectLst/>
                        <a:latin typeface="Calibri" panose="020F0502020204030204" pitchFamily="34" charset="0"/>
                        <a:ea typeface="Batang" panose="02030600000101010101" pitchFamily="18" charset="-127"/>
                      </a:endParaRPr>
                    </a:p>
                  </a:txBody>
                  <a:tcPr marL="76200" marR="76200" marT="38100" marB="38100" anchor="ctr"/>
                </a:tc>
                <a:extLst>
                  <a:ext uri="{0D108BD9-81ED-4DB2-BD59-A6C34878D82A}">
                    <a16:rowId xmlns:a16="http://schemas.microsoft.com/office/drawing/2014/main" val="1475141862"/>
                  </a:ext>
                </a:extLst>
              </a:tr>
              <a:tr h="370840">
                <a:tc>
                  <a:txBody>
                    <a:bodyPr/>
                    <a:lstStyle/>
                    <a:p>
                      <a:pPr marL="0" marR="0" algn="ctr">
                        <a:buNone/>
                      </a:pPr>
                      <a:r>
                        <a:rPr lang="en-US" sz="2000">
                          <a:solidFill>
                            <a:srgbClr val="000000"/>
                          </a:solidFill>
                          <a:effectLst/>
                          <a:latin typeface="Calibri" panose="020F0502020204030204" pitchFamily="34" charset="0"/>
                          <a:ea typeface="Calibri" panose="020F0502020204030204" pitchFamily="34" charset="0"/>
                        </a:rPr>
                        <a:t>4</a:t>
                      </a:r>
                      <a:endParaRPr lang="en-US" sz="2400">
                        <a:effectLst/>
                        <a:latin typeface="Calibri" panose="020F0502020204030204" pitchFamily="34" charset="0"/>
                        <a:ea typeface="Batang" panose="02030600000101010101" pitchFamily="18" charset="-127"/>
                      </a:endParaRPr>
                    </a:p>
                  </a:txBody>
                  <a:tcPr marL="76200" marR="76200" marT="38100" marB="38100" anchor="ctr"/>
                </a:tc>
                <a:tc>
                  <a:txBody>
                    <a:bodyPr/>
                    <a:lstStyle/>
                    <a:p>
                      <a:pPr marL="0" marR="0" algn="ctr">
                        <a:buNone/>
                      </a:pPr>
                      <a:r>
                        <a:rPr lang="en-US" sz="2000">
                          <a:solidFill>
                            <a:srgbClr val="000000"/>
                          </a:solidFill>
                          <a:effectLst/>
                          <a:latin typeface="Calibri" panose="020F0502020204030204" pitchFamily="34" charset="0"/>
                          <a:ea typeface="Calibri" panose="020F0502020204030204" pitchFamily="34" charset="0"/>
                        </a:rPr>
                        <a:t>145.0</a:t>
                      </a:r>
                      <a:endParaRPr lang="en-US" sz="2400">
                        <a:effectLst/>
                        <a:latin typeface="Calibri" panose="020F0502020204030204" pitchFamily="34" charset="0"/>
                        <a:ea typeface="Batang" panose="02030600000101010101" pitchFamily="18" charset="-127"/>
                      </a:endParaRPr>
                    </a:p>
                  </a:txBody>
                  <a:tcPr marL="76200" marR="76200" marT="38100" marB="38100" anchor="ctr"/>
                </a:tc>
                <a:tc>
                  <a:txBody>
                    <a:bodyPr/>
                    <a:lstStyle/>
                    <a:p>
                      <a:pPr marL="0" marR="0" algn="ctr">
                        <a:buNone/>
                      </a:pPr>
                      <a:r>
                        <a:rPr lang="en-US" sz="2000">
                          <a:solidFill>
                            <a:srgbClr val="000000"/>
                          </a:solidFill>
                          <a:effectLst/>
                          <a:latin typeface="Calibri" panose="020F0502020204030204" pitchFamily="34" charset="0"/>
                          <a:ea typeface="Calibri" panose="020F0502020204030204" pitchFamily="34" charset="0"/>
                        </a:rPr>
                        <a:t>0.6830</a:t>
                      </a:r>
                      <a:endParaRPr lang="en-US" sz="2400">
                        <a:effectLst/>
                        <a:latin typeface="Calibri" panose="020F0502020204030204" pitchFamily="34" charset="0"/>
                        <a:ea typeface="Batang" panose="02030600000101010101" pitchFamily="18" charset="-127"/>
                      </a:endParaRPr>
                    </a:p>
                  </a:txBody>
                  <a:tcPr marL="76200" marR="76200" marT="38100" marB="38100" anchor="ctr"/>
                </a:tc>
                <a:tc>
                  <a:txBody>
                    <a:bodyPr/>
                    <a:lstStyle/>
                    <a:p>
                      <a:pPr marL="0" marR="0" algn="ctr">
                        <a:buNone/>
                      </a:pPr>
                      <a:r>
                        <a:rPr lang="en-US" sz="2000" dirty="0">
                          <a:solidFill>
                            <a:srgbClr val="000000"/>
                          </a:solidFill>
                          <a:effectLst/>
                          <a:latin typeface="Calibri" panose="020F0502020204030204" pitchFamily="34" charset="0"/>
                          <a:ea typeface="Calibri" panose="020F0502020204030204" pitchFamily="34" charset="0"/>
                        </a:rPr>
                        <a:t>99.0</a:t>
                      </a:r>
                      <a:endParaRPr lang="en-US" sz="2400" dirty="0">
                        <a:effectLst/>
                        <a:latin typeface="Calibri" panose="020F0502020204030204" pitchFamily="34" charset="0"/>
                        <a:ea typeface="Batang" panose="02030600000101010101" pitchFamily="18" charset="-127"/>
                      </a:endParaRPr>
                    </a:p>
                  </a:txBody>
                  <a:tcPr marL="76200" marR="76200" marT="38100" marB="38100" anchor="ctr"/>
                </a:tc>
                <a:extLst>
                  <a:ext uri="{0D108BD9-81ED-4DB2-BD59-A6C34878D82A}">
                    <a16:rowId xmlns:a16="http://schemas.microsoft.com/office/drawing/2014/main" val="394768626"/>
                  </a:ext>
                </a:extLst>
              </a:tr>
              <a:tr h="370840">
                <a:tc>
                  <a:txBody>
                    <a:bodyPr/>
                    <a:lstStyle/>
                    <a:p>
                      <a:pPr marL="0" marR="0" algn="ctr">
                        <a:buNone/>
                      </a:pPr>
                      <a:r>
                        <a:rPr lang="en-US" sz="2000">
                          <a:effectLst/>
                          <a:latin typeface="Calibri" panose="020F0502020204030204" pitchFamily="34" charset="0"/>
                          <a:ea typeface="Calibri" panose="020F0502020204030204" pitchFamily="34" charset="0"/>
                        </a:rPr>
                        <a:t>5</a:t>
                      </a:r>
                      <a:endParaRPr lang="en-US" sz="2400">
                        <a:effectLst/>
                        <a:latin typeface="Calibri" panose="020F0502020204030204" pitchFamily="34" charset="0"/>
                        <a:ea typeface="Batang" panose="02030600000101010101" pitchFamily="18" charset="-127"/>
                      </a:endParaRPr>
                    </a:p>
                  </a:txBody>
                  <a:tcPr marL="76200" marR="76200" marT="38100" marB="38100" anchor="ctr"/>
                </a:tc>
                <a:tc>
                  <a:txBody>
                    <a:bodyPr/>
                    <a:lstStyle/>
                    <a:p>
                      <a:pPr marL="0" marR="0" algn="ctr">
                        <a:buNone/>
                      </a:pPr>
                      <a:r>
                        <a:rPr lang="en-US" sz="2000">
                          <a:effectLst/>
                          <a:latin typeface="Calibri" panose="020F0502020204030204" pitchFamily="34" charset="0"/>
                          <a:ea typeface="Calibri" panose="020F0502020204030204" pitchFamily="34" charset="0"/>
                        </a:rPr>
                        <a:t>160.0</a:t>
                      </a:r>
                      <a:endParaRPr lang="en-US" sz="2400">
                        <a:effectLst/>
                        <a:latin typeface="Calibri" panose="020F0502020204030204" pitchFamily="34" charset="0"/>
                        <a:ea typeface="Batang" panose="02030600000101010101" pitchFamily="18" charset="-127"/>
                      </a:endParaRPr>
                    </a:p>
                  </a:txBody>
                  <a:tcPr marL="76200" marR="76200" marT="38100" marB="38100" anchor="ctr"/>
                </a:tc>
                <a:tc>
                  <a:txBody>
                    <a:bodyPr/>
                    <a:lstStyle/>
                    <a:p>
                      <a:pPr marL="0" marR="0" algn="ctr">
                        <a:buNone/>
                      </a:pPr>
                      <a:r>
                        <a:rPr lang="en-US" sz="2000">
                          <a:effectLst/>
                          <a:latin typeface="Calibri" panose="020F0502020204030204" pitchFamily="34" charset="0"/>
                          <a:ea typeface="Calibri" panose="020F0502020204030204" pitchFamily="34" charset="0"/>
                        </a:rPr>
                        <a:t>0.6209</a:t>
                      </a:r>
                      <a:endParaRPr lang="en-US" sz="2400">
                        <a:effectLst/>
                        <a:latin typeface="Calibri" panose="020F0502020204030204" pitchFamily="34" charset="0"/>
                        <a:ea typeface="Batang" panose="02030600000101010101" pitchFamily="18" charset="-127"/>
                      </a:endParaRPr>
                    </a:p>
                  </a:txBody>
                  <a:tcPr marL="76200" marR="76200" marT="38100" marB="38100" anchor="ctr"/>
                </a:tc>
                <a:tc>
                  <a:txBody>
                    <a:bodyPr/>
                    <a:lstStyle/>
                    <a:p>
                      <a:pPr marL="0" marR="0" algn="ctr">
                        <a:buNone/>
                      </a:pPr>
                      <a:r>
                        <a:rPr lang="en-US" sz="2000" dirty="0">
                          <a:effectLst/>
                          <a:latin typeface="Calibri" panose="020F0502020204030204" pitchFamily="34" charset="0"/>
                          <a:ea typeface="Calibri" panose="020F0502020204030204" pitchFamily="34" charset="0"/>
                        </a:rPr>
                        <a:t>99.3</a:t>
                      </a:r>
                      <a:endParaRPr lang="en-US" sz="2400" dirty="0">
                        <a:effectLst/>
                        <a:latin typeface="Calibri" panose="020F0502020204030204" pitchFamily="34" charset="0"/>
                        <a:ea typeface="Batang" panose="02030600000101010101" pitchFamily="18" charset="-127"/>
                      </a:endParaRPr>
                    </a:p>
                  </a:txBody>
                  <a:tcPr marL="76200" marR="76200" marT="38100" marB="38100" anchor="ctr"/>
                </a:tc>
                <a:extLst>
                  <a:ext uri="{0D108BD9-81ED-4DB2-BD59-A6C34878D82A}">
                    <a16:rowId xmlns:a16="http://schemas.microsoft.com/office/drawing/2014/main" val="3720984030"/>
                  </a:ext>
                </a:extLst>
              </a:tr>
            </a:tbl>
          </a:graphicData>
        </a:graphic>
      </p:graphicFrame>
    </p:spTree>
    <p:extLst>
      <p:ext uri="{BB962C8B-B14F-4D97-AF65-F5344CB8AC3E}">
        <p14:creationId xmlns:p14="http://schemas.microsoft.com/office/powerpoint/2010/main" val="1746007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820BD-F79E-D044-441B-45EADBD1EB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6CD48-6DF9-527A-D0C8-83F2E40CAAF2}"/>
              </a:ext>
            </a:extLst>
          </p:cNvPr>
          <p:cNvSpPr>
            <a:spLocks noGrp="1"/>
          </p:cNvSpPr>
          <p:nvPr>
            <p:ph type="title"/>
          </p:nvPr>
        </p:nvSpPr>
        <p:spPr/>
        <p:txBody>
          <a:bodyPr>
            <a:normAutofit/>
          </a:bodyPr>
          <a:lstStyle/>
          <a:p>
            <a:r>
              <a:rPr lang="en-US" dirty="0">
                <a:latin typeface="+mn-lt"/>
              </a:rPr>
              <a:t>DCF Model – A Worked Example</a:t>
            </a:r>
          </a:p>
        </p:txBody>
      </p:sp>
      <p:pic>
        <p:nvPicPr>
          <p:cNvPr id="8" name="Picture 7" descr="DCF timeline. Free cash flows of $100.0M, $115.0M, $130.0M, $145.0M and $160.0M stand on the axis at years 1 to 5 in green, each box area proportional to the amount, so the bars climb 60 percent. The terminal value TV5 of $2,354.3M sits stacked directly on top of the Year 5 cash flow bar, because both are Year 5 amounts. Present values of $90.9M, $95.0M, $97.7M, $99.0M and $99.3M hang below the axis in purple and are nearly flat, climbing only 9 percent. The present value of TV5, $1,461.8M, is stacked directly beneath the Year 5 present value bar, mirroring the stack above. All of them flow left to a firm value at time zero of $1,943.8M, shown as $482.0M plus $1,461.8M.">
            <a:extLst>
              <a:ext uri="{FF2B5EF4-FFF2-40B4-BE49-F238E27FC236}">
                <a16:creationId xmlns:a16="http://schemas.microsoft.com/office/drawing/2014/main" id="{042F3DC8-628C-0503-CA91-4991B03A33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4510" y="1318198"/>
            <a:ext cx="7621131" cy="5265164"/>
          </a:xfrm>
          <a:prstGeom prst="rect">
            <a:avLst/>
          </a:prstGeom>
        </p:spPr>
      </p:pic>
    </p:spTree>
    <p:extLst>
      <p:ext uri="{BB962C8B-B14F-4D97-AF65-F5344CB8AC3E}">
        <p14:creationId xmlns:p14="http://schemas.microsoft.com/office/powerpoint/2010/main" val="855295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A4BA3-8A7A-7D8F-3A54-DB3019D06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155D0-F17E-2D58-97ED-61AFA5B307A4}"/>
              </a:ext>
            </a:extLst>
          </p:cNvPr>
          <p:cNvSpPr>
            <a:spLocks noGrp="1"/>
          </p:cNvSpPr>
          <p:nvPr>
            <p:ph type="title"/>
          </p:nvPr>
        </p:nvSpPr>
        <p:spPr/>
        <p:txBody>
          <a:bodyPr/>
          <a:lstStyle/>
          <a:p>
            <a:r>
              <a:rPr lang="en-US" dirty="0">
                <a:latin typeface="+mn-lt"/>
              </a:rPr>
              <a:t>4. Cost of Capital vs. Cost of Equity </a:t>
            </a:r>
          </a:p>
        </p:txBody>
      </p:sp>
    </p:spTree>
    <p:extLst>
      <p:ext uri="{BB962C8B-B14F-4D97-AF65-F5344CB8AC3E}">
        <p14:creationId xmlns:p14="http://schemas.microsoft.com/office/powerpoint/2010/main" val="3639973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86032" y="0"/>
            <a:ext cx="505663" cy="6858000"/>
          </a:xfrm>
          <a:prstGeom prst="rect">
            <a:avLst/>
          </a:prstGeom>
          <a:solidFill>
            <a:srgbClr val="1F4899"/>
          </a:solidFill>
          <a:ln/>
        </p:spPr>
        <p:txBody>
          <a:bodyPr/>
          <a:lstStyle/>
          <a:p>
            <a:endParaRPr lang="en-US"/>
          </a:p>
        </p:txBody>
      </p:sp>
      <p:sp>
        <p:nvSpPr>
          <p:cNvPr id="3" name="Text 1"/>
          <p:cNvSpPr/>
          <p:nvPr/>
        </p:nvSpPr>
        <p:spPr>
          <a:xfrm>
            <a:off x="502920" y="274320"/>
            <a:ext cx="10881360" cy="777240"/>
          </a:xfrm>
          <a:prstGeom prst="rect">
            <a:avLst/>
          </a:prstGeom>
          <a:noFill/>
          <a:ln/>
        </p:spPr>
        <p:txBody>
          <a:bodyPr wrap="square" lIns="0" tIns="0" rIns="0" bIns="0" rtlCol="0" anchor="ctr"/>
          <a:lstStyle/>
          <a:p>
            <a:pPr marL="0" indent="0" algn="l">
              <a:buNone/>
            </a:pPr>
            <a:r>
              <a:rPr lang="en-US" sz="2700" b="1" dirty="0">
                <a:solidFill>
                  <a:srgbClr val="1F4899"/>
                </a:solidFill>
                <a:latin typeface="Calibri" pitchFamily="34" charset="0"/>
                <a:ea typeface="Calibri" pitchFamily="34" charset="-122"/>
                <a:cs typeface="Calibri" pitchFamily="34" charset="-120"/>
              </a:rPr>
              <a:t>4.  One Number, Three Names</a:t>
            </a:r>
            <a:endParaRPr lang="en-US" sz="2700" dirty="0"/>
          </a:p>
        </p:txBody>
      </p:sp>
      <p:sp>
        <p:nvSpPr>
          <p:cNvPr id="4" name="Text 2"/>
          <p:cNvSpPr/>
          <p:nvPr/>
        </p:nvSpPr>
        <p:spPr>
          <a:xfrm>
            <a:off x="502920" y="18288"/>
            <a:ext cx="10881360" cy="256032"/>
          </a:xfrm>
          <a:prstGeom prst="rect">
            <a:avLst/>
          </a:prstGeom>
          <a:noFill/>
          <a:ln/>
        </p:spPr>
        <p:txBody>
          <a:bodyPr wrap="square" lIns="0" tIns="0" rIns="0" bIns="0" rtlCol="0" anchor="ctr"/>
          <a:lstStyle/>
          <a:p>
            <a:pPr marL="0" indent="0" algn="l">
              <a:buNone/>
            </a:pPr>
            <a:r>
              <a:rPr lang="en-US" sz="1100" b="1" kern="0" spc="100" dirty="0">
                <a:solidFill>
                  <a:srgbClr val="6B7280"/>
                </a:solidFill>
                <a:latin typeface="Calibri" pitchFamily="34" charset="0"/>
                <a:ea typeface="Calibri" pitchFamily="34" charset="-122"/>
                <a:cs typeface="Calibri" pitchFamily="34" charset="-120"/>
              </a:rPr>
              <a:t>TOPIC 4</a:t>
            </a:r>
            <a:endParaRPr lang="en-US" sz="1100" dirty="0"/>
          </a:p>
        </p:txBody>
      </p:sp>
      <p:sp>
        <p:nvSpPr>
          <p:cNvPr id="5" name="Text 3"/>
          <p:cNvSpPr/>
          <p:nvPr/>
        </p:nvSpPr>
        <p:spPr>
          <a:xfrm>
            <a:off x="11686032" y="6446520"/>
            <a:ext cx="505663" cy="32004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18</a:t>
            </a:r>
            <a:endParaRPr lang="en-US" sz="1100" dirty="0"/>
          </a:p>
        </p:txBody>
      </p:sp>
      <p:sp>
        <p:nvSpPr>
          <p:cNvPr id="6" name="Text 4"/>
          <p:cNvSpPr/>
          <p:nvPr/>
        </p:nvSpPr>
        <p:spPr>
          <a:xfrm>
            <a:off x="502920" y="1188720"/>
            <a:ext cx="10972800" cy="411480"/>
          </a:xfrm>
          <a:prstGeom prst="rect">
            <a:avLst/>
          </a:prstGeom>
          <a:noFill/>
          <a:ln/>
        </p:spPr>
        <p:txBody>
          <a:bodyPr wrap="square" rtlCol="0" anchor="ctr"/>
          <a:lstStyle/>
          <a:p>
            <a:pPr marL="0" indent="0">
              <a:buNone/>
            </a:pPr>
            <a:r>
              <a:rPr lang="en-US" i="1" dirty="0">
                <a:solidFill>
                  <a:srgbClr val="374151"/>
                </a:solidFill>
                <a:latin typeface="Calibri" pitchFamily="34" charset="0"/>
                <a:ea typeface="Calibri" pitchFamily="34" charset="-122"/>
                <a:cs typeface="Calibri" pitchFamily="34" charset="-120"/>
              </a:rPr>
              <a:t>The discount rate for equity is the same number seen from three seats — identical in an efficient market.</a:t>
            </a:r>
            <a:endParaRPr lang="en-US" dirty="0"/>
          </a:p>
        </p:txBody>
      </p:sp>
      <p:sp>
        <p:nvSpPr>
          <p:cNvPr id="7" name="Shape 5"/>
          <p:cNvSpPr/>
          <p:nvPr/>
        </p:nvSpPr>
        <p:spPr>
          <a:xfrm>
            <a:off x="502920" y="1783080"/>
            <a:ext cx="3474720" cy="2148840"/>
          </a:xfrm>
          <a:prstGeom prst="roundRect">
            <a:avLst>
              <a:gd name="adj" fmla="val 0"/>
            </a:avLst>
          </a:prstGeom>
          <a:solidFill>
            <a:srgbClr val="EFF6FF"/>
          </a:solidFill>
          <a:ln w="15875">
            <a:solidFill>
              <a:srgbClr val="3B82F6"/>
            </a:solidFill>
            <a:prstDash val="solid"/>
          </a:ln>
        </p:spPr>
        <p:txBody>
          <a:bodyPr/>
          <a:lstStyle/>
          <a:p>
            <a:endParaRPr lang="en-US" sz="2800"/>
          </a:p>
        </p:txBody>
      </p:sp>
      <p:sp>
        <p:nvSpPr>
          <p:cNvPr id="8" name="Text 6"/>
          <p:cNvSpPr/>
          <p:nvPr/>
        </p:nvSpPr>
        <p:spPr>
          <a:xfrm>
            <a:off x="630936" y="1874520"/>
            <a:ext cx="3218688" cy="274320"/>
          </a:xfrm>
          <a:prstGeom prst="rect">
            <a:avLst/>
          </a:prstGeom>
          <a:noFill/>
          <a:ln/>
        </p:spPr>
        <p:txBody>
          <a:bodyPr wrap="square" lIns="0" tIns="0" rIns="0" bIns="0" rtlCol="0" anchor="ctr"/>
          <a:lstStyle/>
          <a:p>
            <a:pPr marL="0" indent="0" algn="l">
              <a:buNone/>
            </a:pPr>
            <a:r>
              <a:rPr lang="en-US" sz="2000" b="1" dirty="0">
                <a:solidFill>
                  <a:srgbClr val="1E40AF"/>
                </a:solidFill>
                <a:latin typeface="Calibri" pitchFamily="34" charset="0"/>
                <a:ea typeface="Calibri" pitchFamily="34" charset="-122"/>
                <a:cs typeface="Calibri" pitchFamily="34" charset="-120"/>
              </a:rPr>
              <a:t>Expected return</a:t>
            </a:r>
            <a:endParaRPr lang="en-US" sz="2000" dirty="0"/>
          </a:p>
        </p:txBody>
      </p:sp>
      <p:sp>
        <p:nvSpPr>
          <p:cNvPr id="9" name="Text 7"/>
          <p:cNvSpPr/>
          <p:nvPr/>
        </p:nvSpPr>
        <p:spPr>
          <a:xfrm>
            <a:off x="649224" y="2203704"/>
            <a:ext cx="3182112" cy="1618488"/>
          </a:xfrm>
          <a:prstGeom prst="rect">
            <a:avLst/>
          </a:prstGeom>
          <a:noFill/>
          <a:ln/>
        </p:spPr>
        <p:txBody>
          <a:bodyPr wrap="square" lIns="0" tIns="0" rIns="0" bIns="0" rtlCol="0" anchor="t"/>
          <a:lstStyle/>
          <a:p>
            <a:pPr marL="0" indent="0" algn="l">
              <a:lnSpc>
                <a:spcPct val="102000"/>
              </a:lnSpc>
              <a:buNone/>
            </a:pPr>
            <a:r>
              <a:rPr lang="en-US" dirty="0">
                <a:solidFill>
                  <a:srgbClr val="374151"/>
                </a:solidFill>
                <a:latin typeface="Calibri" pitchFamily="34" charset="0"/>
                <a:ea typeface="Calibri" pitchFamily="34" charset="-122"/>
                <a:cs typeface="Calibri" pitchFamily="34" charset="-120"/>
              </a:rPr>
              <a:t>The investor's view — what shareholders expect to earn for the risk.</a:t>
            </a:r>
            <a:endParaRPr lang="en-US" dirty="0"/>
          </a:p>
        </p:txBody>
      </p:sp>
      <p:sp>
        <p:nvSpPr>
          <p:cNvPr id="10" name="Shape 8"/>
          <p:cNvSpPr/>
          <p:nvPr/>
        </p:nvSpPr>
        <p:spPr>
          <a:xfrm>
            <a:off x="4206240" y="1783080"/>
            <a:ext cx="3474720" cy="2148840"/>
          </a:xfrm>
          <a:prstGeom prst="roundRect">
            <a:avLst>
              <a:gd name="adj" fmla="val 0"/>
            </a:avLst>
          </a:prstGeom>
          <a:solidFill>
            <a:srgbClr val="E5FCED"/>
          </a:solidFill>
          <a:ln w="15875">
            <a:solidFill>
              <a:srgbClr val="63B84B"/>
            </a:solidFill>
            <a:prstDash val="solid"/>
          </a:ln>
        </p:spPr>
        <p:txBody>
          <a:bodyPr/>
          <a:lstStyle/>
          <a:p>
            <a:endParaRPr lang="en-US" sz="2800"/>
          </a:p>
        </p:txBody>
      </p:sp>
      <p:sp>
        <p:nvSpPr>
          <p:cNvPr id="11" name="Text 9"/>
          <p:cNvSpPr/>
          <p:nvPr/>
        </p:nvSpPr>
        <p:spPr>
          <a:xfrm>
            <a:off x="4334256" y="1874520"/>
            <a:ext cx="3218688" cy="274320"/>
          </a:xfrm>
          <a:prstGeom prst="rect">
            <a:avLst/>
          </a:prstGeom>
          <a:noFill/>
          <a:ln/>
        </p:spPr>
        <p:txBody>
          <a:bodyPr wrap="square" lIns="0" tIns="0" rIns="0" bIns="0" rtlCol="0" anchor="ctr"/>
          <a:lstStyle/>
          <a:p>
            <a:pPr marL="0" indent="0" algn="l">
              <a:buNone/>
            </a:pPr>
            <a:r>
              <a:rPr lang="en-US" sz="2000" b="1" dirty="0">
                <a:solidFill>
                  <a:srgbClr val="15803D"/>
                </a:solidFill>
                <a:latin typeface="Calibri" pitchFamily="34" charset="0"/>
                <a:ea typeface="Calibri" pitchFamily="34" charset="-122"/>
                <a:cs typeface="Calibri" pitchFamily="34" charset="-120"/>
              </a:rPr>
              <a:t>Cost of capital</a:t>
            </a:r>
            <a:endParaRPr lang="en-US" sz="2000" dirty="0"/>
          </a:p>
        </p:txBody>
      </p:sp>
      <p:sp>
        <p:nvSpPr>
          <p:cNvPr id="12" name="Text 10"/>
          <p:cNvSpPr/>
          <p:nvPr/>
        </p:nvSpPr>
        <p:spPr>
          <a:xfrm>
            <a:off x="4352544" y="2203704"/>
            <a:ext cx="3182112" cy="1618488"/>
          </a:xfrm>
          <a:prstGeom prst="rect">
            <a:avLst/>
          </a:prstGeom>
          <a:noFill/>
          <a:ln/>
        </p:spPr>
        <p:txBody>
          <a:bodyPr wrap="square" lIns="0" tIns="0" rIns="0" bIns="0" rtlCol="0" anchor="t"/>
          <a:lstStyle/>
          <a:p>
            <a:pPr marL="0" indent="0" algn="l">
              <a:lnSpc>
                <a:spcPct val="102000"/>
              </a:lnSpc>
              <a:buNone/>
            </a:pPr>
            <a:r>
              <a:rPr lang="en-US" dirty="0">
                <a:solidFill>
                  <a:srgbClr val="374151"/>
                </a:solidFill>
                <a:latin typeface="Calibri" pitchFamily="34" charset="0"/>
                <a:ea typeface="Calibri" pitchFamily="34" charset="-122"/>
                <a:cs typeface="Calibri" pitchFamily="34" charset="-120"/>
              </a:rPr>
              <a:t>The firm's view — what it must deliver to attract equity. One person's return is another's cost.</a:t>
            </a:r>
            <a:endParaRPr lang="en-US" dirty="0"/>
          </a:p>
        </p:txBody>
      </p:sp>
      <p:sp>
        <p:nvSpPr>
          <p:cNvPr id="13" name="Shape 11"/>
          <p:cNvSpPr/>
          <p:nvPr/>
        </p:nvSpPr>
        <p:spPr>
          <a:xfrm>
            <a:off x="7909560" y="1783080"/>
            <a:ext cx="3474720" cy="2148840"/>
          </a:xfrm>
          <a:prstGeom prst="roundRect">
            <a:avLst>
              <a:gd name="adj" fmla="val 0"/>
            </a:avLst>
          </a:prstGeom>
          <a:solidFill>
            <a:srgbClr val="FEF3C7"/>
          </a:solidFill>
          <a:ln w="15875">
            <a:solidFill>
              <a:srgbClr val="F59E0B"/>
            </a:solidFill>
            <a:prstDash val="solid"/>
          </a:ln>
        </p:spPr>
        <p:txBody>
          <a:bodyPr/>
          <a:lstStyle/>
          <a:p>
            <a:endParaRPr lang="en-US" sz="2800"/>
          </a:p>
        </p:txBody>
      </p:sp>
      <p:sp>
        <p:nvSpPr>
          <p:cNvPr id="14" name="Text 12"/>
          <p:cNvSpPr/>
          <p:nvPr/>
        </p:nvSpPr>
        <p:spPr>
          <a:xfrm>
            <a:off x="8037576" y="1874520"/>
            <a:ext cx="3218688" cy="274320"/>
          </a:xfrm>
          <a:prstGeom prst="rect">
            <a:avLst/>
          </a:prstGeom>
          <a:noFill/>
          <a:ln/>
        </p:spPr>
        <p:txBody>
          <a:bodyPr wrap="square" lIns="0" tIns="0" rIns="0" bIns="0" rtlCol="0" anchor="ctr"/>
          <a:lstStyle/>
          <a:p>
            <a:pPr marL="0" indent="0" algn="l">
              <a:buNone/>
            </a:pPr>
            <a:r>
              <a:rPr lang="en-US" sz="2000" b="1" dirty="0">
                <a:solidFill>
                  <a:srgbClr val="92400E"/>
                </a:solidFill>
                <a:latin typeface="Calibri" pitchFamily="34" charset="0"/>
                <a:ea typeface="Calibri" pitchFamily="34" charset="-122"/>
                <a:cs typeface="Calibri" pitchFamily="34" charset="-120"/>
              </a:rPr>
              <a:t>Discount rate</a:t>
            </a:r>
            <a:endParaRPr lang="en-US" sz="2000" dirty="0"/>
          </a:p>
        </p:txBody>
      </p:sp>
      <p:sp>
        <p:nvSpPr>
          <p:cNvPr id="15" name="Text 13"/>
          <p:cNvSpPr/>
          <p:nvPr/>
        </p:nvSpPr>
        <p:spPr>
          <a:xfrm>
            <a:off x="8055864" y="2203704"/>
            <a:ext cx="3182112" cy="1618488"/>
          </a:xfrm>
          <a:prstGeom prst="rect">
            <a:avLst/>
          </a:prstGeom>
          <a:noFill/>
          <a:ln/>
        </p:spPr>
        <p:txBody>
          <a:bodyPr wrap="square" lIns="0" tIns="0" rIns="0" bIns="0" rtlCol="0" anchor="t"/>
          <a:lstStyle/>
          <a:p>
            <a:pPr marL="0" indent="0" algn="l">
              <a:lnSpc>
                <a:spcPct val="102000"/>
              </a:lnSpc>
              <a:buNone/>
            </a:pPr>
            <a:r>
              <a:rPr lang="en-US" dirty="0">
                <a:solidFill>
                  <a:srgbClr val="374151"/>
                </a:solidFill>
                <a:latin typeface="Calibri" pitchFamily="34" charset="0"/>
                <a:ea typeface="Calibri" pitchFamily="34" charset="-122"/>
                <a:cs typeface="Calibri" pitchFamily="34" charset="-120"/>
              </a:rPr>
              <a:t>The analyst's view — the rate that converts future cash flows to today's value.</a:t>
            </a:r>
            <a:endParaRPr lang="en-US" dirty="0"/>
          </a:p>
        </p:txBody>
      </p:sp>
      <p:sp>
        <p:nvSpPr>
          <p:cNvPr id="16" name="Shape 14"/>
          <p:cNvSpPr/>
          <p:nvPr/>
        </p:nvSpPr>
        <p:spPr>
          <a:xfrm>
            <a:off x="502920" y="4160520"/>
            <a:ext cx="10972800" cy="1737360"/>
          </a:xfrm>
          <a:prstGeom prst="roundRect">
            <a:avLst>
              <a:gd name="adj" fmla="val 0"/>
            </a:avLst>
          </a:prstGeom>
          <a:solidFill>
            <a:srgbClr val="EEF2FB"/>
          </a:solidFill>
          <a:ln w="15875">
            <a:solidFill>
              <a:srgbClr val="1F4899"/>
            </a:solidFill>
            <a:prstDash val="solid"/>
          </a:ln>
        </p:spPr>
        <p:txBody>
          <a:bodyPr/>
          <a:lstStyle/>
          <a:p>
            <a:endParaRPr lang="en-US" sz="2800"/>
          </a:p>
        </p:txBody>
      </p:sp>
      <p:sp>
        <p:nvSpPr>
          <p:cNvPr id="17" name="Text 15"/>
          <p:cNvSpPr/>
          <p:nvPr/>
        </p:nvSpPr>
        <p:spPr>
          <a:xfrm>
            <a:off x="630936" y="4251960"/>
            <a:ext cx="10716768" cy="274320"/>
          </a:xfrm>
          <a:prstGeom prst="rect">
            <a:avLst/>
          </a:prstGeom>
          <a:noFill/>
          <a:ln/>
        </p:spPr>
        <p:txBody>
          <a:bodyPr wrap="square" lIns="0" tIns="0" rIns="0" bIns="0" rtlCol="0" anchor="ctr"/>
          <a:lstStyle/>
          <a:p>
            <a:pPr marL="0" indent="0" algn="l">
              <a:buNone/>
            </a:pPr>
            <a:r>
              <a:rPr lang="en-US" sz="2000" b="1" dirty="0">
                <a:solidFill>
                  <a:srgbClr val="16346B"/>
                </a:solidFill>
                <a:latin typeface="Calibri" pitchFamily="34" charset="0"/>
                <a:ea typeface="Calibri" pitchFamily="34" charset="-122"/>
                <a:cs typeface="Calibri" pitchFamily="34" charset="-120"/>
              </a:rPr>
              <a:t>Golden rule — match the rate to the cash flows</a:t>
            </a:r>
            <a:endParaRPr lang="en-US" sz="2000" dirty="0"/>
          </a:p>
        </p:txBody>
      </p:sp>
      <p:sp>
        <p:nvSpPr>
          <p:cNvPr id="18" name="Text 16"/>
          <p:cNvSpPr/>
          <p:nvPr/>
        </p:nvSpPr>
        <p:spPr>
          <a:xfrm>
            <a:off x="649224" y="4581144"/>
            <a:ext cx="10680192" cy="1207008"/>
          </a:xfrm>
          <a:prstGeom prst="rect">
            <a:avLst/>
          </a:prstGeom>
          <a:noFill/>
          <a:ln/>
        </p:spPr>
        <p:txBody>
          <a:bodyPr wrap="square" lIns="0" tIns="0" rIns="0" bIns="0" rtlCol="0" anchor="t"/>
          <a:lstStyle/>
          <a:p>
            <a:pPr marL="152400" indent="-152400" algn="l">
              <a:lnSpc>
                <a:spcPct val="102000"/>
              </a:lnSpc>
              <a:spcAft>
                <a:spcPts val="400"/>
              </a:spcAft>
              <a:buSzPct val="100000"/>
              <a:buChar char="•"/>
            </a:pPr>
            <a:r>
              <a:rPr lang="en-US" dirty="0">
                <a:solidFill>
                  <a:srgbClr val="374151"/>
                </a:solidFill>
                <a:latin typeface="Calibri" pitchFamily="34" charset="0"/>
                <a:ea typeface="Calibri" pitchFamily="34" charset="-122"/>
                <a:cs typeface="Calibri" pitchFamily="34" charset="-120"/>
              </a:rPr>
              <a:t>Equity cash flows (dividends, FCFE)  →  discount at the cost of equity.</a:t>
            </a:r>
            <a:endParaRPr lang="en-US" dirty="0"/>
          </a:p>
          <a:p>
            <a:pPr marL="152400" indent="-152400" algn="l">
              <a:lnSpc>
                <a:spcPct val="102000"/>
              </a:lnSpc>
              <a:spcAft>
                <a:spcPts val="400"/>
              </a:spcAft>
              <a:buSzPct val="100000"/>
              <a:buChar char="•"/>
            </a:pPr>
            <a:r>
              <a:rPr lang="en-US" dirty="0">
                <a:solidFill>
                  <a:srgbClr val="374151"/>
                </a:solidFill>
                <a:latin typeface="Calibri" pitchFamily="34" charset="0"/>
                <a:ea typeface="Calibri" pitchFamily="34" charset="-122"/>
                <a:cs typeface="Calibri" pitchFamily="34" charset="-120"/>
              </a:rPr>
              <a:t>Whole-firm cash flows (FCFF)  →  discount at the WACC.</a:t>
            </a:r>
            <a:endParaRPr lang="en-US" dirty="0"/>
          </a:p>
          <a:p>
            <a:pPr marL="0" indent="0" algn="l">
              <a:lnSpc>
                <a:spcPct val="102000"/>
              </a:lnSpc>
              <a:spcBef>
                <a:spcPts val="200"/>
              </a:spcBef>
              <a:buNone/>
            </a:pPr>
            <a:r>
              <a:rPr lang="en-US" i="1" dirty="0">
                <a:solidFill>
                  <a:srgbClr val="991B1B"/>
                </a:solidFill>
                <a:latin typeface="Calibri" pitchFamily="34" charset="0"/>
                <a:ea typeface="Calibri" pitchFamily="34" charset="-122"/>
                <a:cs typeface="Calibri" pitchFamily="34" charset="-120"/>
              </a:rPr>
              <a:t>Discounting equity cash flows at WACC overstates value — a classic error.</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86032" y="0"/>
            <a:ext cx="505663" cy="6858000"/>
          </a:xfrm>
          <a:prstGeom prst="rect">
            <a:avLst/>
          </a:prstGeom>
          <a:solidFill>
            <a:srgbClr val="1F4899"/>
          </a:solidFill>
          <a:ln/>
        </p:spPr>
        <p:txBody>
          <a:bodyPr/>
          <a:lstStyle/>
          <a:p>
            <a:endParaRPr lang="en-US"/>
          </a:p>
        </p:txBody>
      </p:sp>
      <p:sp>
        <p:nvSpPr>
          <p:cNvPr id="3" name="Text 1"/>
          <p:cNvSpPr/>
          <p:nvPr/>
        </p:nvSpPr>
        <p:spPr>
          <a:xfrm>
            <a:off x="502920" y="274320"/>
            <a:ext cx="10881360" cy="777240"/>
          </a:xfrm>
          <a:prstGeom prst="rect">
            <a:avLst/>
          </a:prstGeom>
          <a:noFill/>
          <a:ln/>
        </p:spPr>
        <p:txBody>
          <a:bodyPr wrap="square" lIns="0" tIns="0" rIns="0" bIns="0" rtlCol="0" anchor="ctr"/>
          <a:lstStyle/>
          <a:p>
            <a:pPr marL="0" indent="0" algn="l">
              <a:buNone/>
            </a:pPr>
            <a:r>
              <a:rPr lang="en-US" sz="2700" b="1" dirty="0">
                <a:solidFill>
                  <a:srgbClr val="1F4899"/>
                </a:solidFill>
                <a:latin typeface="Calibri" pitchFamily="34" charset="0"/>
                <a:ea typeface="Calibri" pitchFamily="34" charset="-122"/>
                <a:cs typeface="Calibri" pitchFamily="34" charset="-120"/>
              </a:rPr>
              <a:t>4.  The Building Blocks — CAPM</a:t>
            </a:r>
            <a:endParaRPr lang="en-US" sz="2700" dirty="0"/>
          </a:p>
        </p:txBody>
      </p:sp>
      <p:sp>
        <p:nvSpPr>
          <p:cNvPr id="4" name="Text 2"/>
          <p:cNvSpPr/>
          <p:nvPr/>
        </p:nvSpPr>
        <p:spPr>
          <a:xfrm>
            <a:off x="502920" y="18288"/>
            <a:ext cx="10881360" cy="256032"/>
          </a:xfrm>
          <a:prstGeom prst="rect">
            <a:avLst/>
          </a:prstGeom>
          <a:noFill/>
          <a:ln/>
        </p:spPr>
        <p:txBody>
          <a:bodyPr wrap="square" lIns="0" tIns="0" rIns="0" bIns="0" rtlCol="0" anchor="ctr"/>
          <a:lstStyle/>
          <a:p>
            <a:pPr marL="0" indent="0" algn="l">
              <a:buNone/>
            </a:pPr>
            <a:r>
              <a:rPr lang="en-US" sz="1100" b="1" kern="0" spc="100" dirty="0">
                <a:solidFill>
                  <a:srgbClr val="6B7280"/>
                </a:solidFill>
                <a:latin typeface="Calibri" pitchFamily="34" charset="0"/>
                <a:ea typeface="Calibri" pitchFamily="34" charset="-122"/>
                <a:cs typeface="Calibri" pitchFamily="34" charset="-120"/>
              </a:rPr>
              <a:t>TOPIC 4</a:t>
            </a:r>
            <a:endParaRPr lang="en-US" sz="1100" dirty="0"/>
          </a:p>
        </p:txBody>
      </p:sp>
      <p:sp>
        <p:nvSpPr>
          <p:cNvPr id="5" name="Text 3"/>
          <p:cNvSpPr/>
          <p:nvPr/>
        </p:nvSpPr>
        <p:spPr>
          <a:xfrm>
            <a:off x="11686032" y="6446520"/>
            <a:ext cx="505663" cy="32004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19</a:t>
            </a:r>
            <a:endParaRPr lang="en-US" sz="1100" dirty="0"/>
          </a:p>
        </p:txBody>
      </p:sp>
      <p:sp>
        <p:nvSpPr>
          <p:cNvPr id="6" name="Shape 4"/>
          <p:cNvSpPr/>
          <p:nvPr/>
        </p:nvSpPr>
        <p:spPr>
          <a:xfrm>
            <a:off x="502920" y="1234440"/>
            <a:ext cx="10972800" cy="640080"/>
          </a:xfrm>
          <a:prstGeom prst="roundRect">
            <a:avLst>
              <a:gd name="adj" fmla="val 7143"/>
            </a:avLst>
          </a:prstGeom>
          <a:solidFill>
            <a:srgbClr val="16346B"/>
          </a:solidFill>
          <a:ln/>
        </p:spPr>
        <p:txBody>
          <a:bodyPr/>
          <a:lstStyle/>
          <a:p>
            <a:endParaRPr lang="en-US"/>
          </a:p>
        </p:txBody>
      </p:sp>
      <p:sp>
        <p:nvSpPr>
          <p:cNvPr id="7" name="Text 5"/>
          <p:cNvSpPr/>
          <p:nvPr/>
        </p:nvSpPr>
        <p:spPr>
          <a:xfrm>
            <a:off x="502920" y="1234440"/>
            <a:ext cx="10972800" cy="64008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Cost of Equity  =  Risk-free rate  +  β × Equity Risk Premium</a:t>
            </a:r>
            <a:endParaRPr lang="en-US" sz="1700" dirty="0"/>
          </a:p>
        </p:txBody>
      </p:sp>
      <p:sp>
        <p:nvSpPr>
          <p:cNvPr id="8" name="Shape 6"/>
          <p:cNvSpPr/>
          <p:nvPr/>
        </p:nvSpPr>
        <p:spPr>
          <a:xfrm>
            <a:off x="1005840" y="4480560"/>
            <a:ext cx="2194560" cy="914400"/>
          </a:xfrm>
          <a:prstGeom prst="rect">
            <a:avLst/>
          </a:prstGeom>
          <a:solidFill>
            <a:srgbClr val="3B82F6"/>
          </a:solidFill>
          <a:ln/>
        </p:spPr>
        <p:txBody>
          <a:bodyPr/>
          <a:lstStyle/>
          <a:p>
            <a:endParaRPr lang="en-US" sz="2800"/>
          </a:p>
        </p:txBody>
      </p:sp>
      <p:sp>
        <p:nvSpPr>
          <p:cNvPr id="9" name="Text 7"/>
          <p:cNvSpPr/>
          <p:nvPr/>
        </p:nvSpPr>
        <p:spPr>
          <a:xfrm>
            <a:off x="1005840" y="4480560"/>
            <a:ext cx="2194560" cy="9144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Risk-free rate</a:t>
            </a:r>
            <a:endParaRPr lang="en-US" dirty="0"/>
          </a:p>
          <a:p>
            <a:pPr marL="0" indent="0" algn="ctr">
              <a:buNone/>
            </a:pPr>
            <a:r>
              <a:rPr lang="en-US" b="1" dirty="0">
                <a:solidFill>
                  <a:srgbClr val="FFFFFF"/>
                </a:solidFill>
                <a:latin typeface="Calibri" pitchFamily="34" charset="0"/>
                <a:ea typeface="Calibri" pitchFamily="34" charset="-122"/>
                <a:cs typeface="Calibri" pitchFamily="34" charset="-120"/>
              </a:rPr>
              <a:t>(price of time)</a:t>
            </a:r>
            <a:endParaRPr lang="en-US" dirty="0"/>
          </a:p>
        </p:txBody>
      </p:sp>
      <p:sp>
        <p:nvSpPr>
          <p:cNvPr id="10" name="Shape 8"/>
          <p:cNvSpPr/>
          <p:nvPr/>
        </p:nvSpPr>
        <p:spPr>
          <a:xfrm>
            <a:off x="1005840" y="3108960"/>
            <a:ext cx="2194560" cy="1371600"/>
          </a:xfrm>
          <a:prstGeom prst="rect">
            <a:avLst/>
          </a:prstGeom>
          <a:solidFill>
            <a:srgbClr val="63B84B"/>
          </a:solidFill>
          <a:ln/>
        </p:spPr>
        <p:txBody>
          <a:bodyPr/>
          <a:lstStyle/>
          <a:p>
            <a:endParaRPr lang="en-US" sz="2800"/>
          </a:p>
        </p:txBody>
      </p:sp>
      <p:sp>
        <p:nvSpPr>
          <p:cNvPr id="11" name="Text 9"/>
          <p:cNvSpPr/>
          <p:nvPr/>
        </p:nvSpPr>
        <p:spPr>
          <a:xfrm>
            <a:off x="1005840" y="3108960"/>
            <a:ext cx="2194560" cy="13716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β × ERP</a:t>
            </a:r>
            <a:endParaRPr lang="en-US" dirty="0"/>
          </a:p>
          <a:p>
            <a:pPr marL="0" indent="0" algn="ctr">
              <a:buNone/>
            </a:pPr>
            <a:r>
              <a:rPr lang="en-US" b="1" dirty="0">
                <a:solidFill>
                  <a:srgbClr val="FFFFFF"/>
                </a:solidFill>
                <a:latin typeface="Calibri" pitchFamily="34" charset="0"/>
                <a:ea typeface="Calibri" pitchFamily="34" charset="-122"/>
                <a:cs typeface="Calibri" pitchFamily="34" charset="-120"/>
              </a:rPr>
              <a:t>(price of risk)</a:t>
            </a:r>
            <a:endParaRPr lang="en-US" dirty="0"/>
          </a:p>
        </p:txBody>
      </p:sp>
      <p:sp>
        <p:nvSpPr>
          <p:cNvPr id="12" name="Shape 10"/>
          <p:cNvSpPr/>
          <p:nvPr/>
        </p:nvSpPr>
        <p:spPr>
          <a:xfrm>
            <a:off x="3383280" y="3108960"/>
            <a:ext cx="0" cy="2286000"/>
          </a:xfrm>
          <a:prstGeom prst="line">
            <a:avLst/>
          </a:prstGeom>
          <a:noFill/>
          <a:ln w="19050">
            <a:solidFill>
              <a:srgbClr val="1F4899"/>
            </a:solidFill>
            <a:prstDash val="solid"/>
            <a:headEnd type="triangle"/>
            <a:tailEnd type="triangle"/>
          </a:ln>
        </p:spPr>
        <p:txBody>
          <a:bodyPr/>
          <a:lstStyle/>
          <a:p>
            <a:endParaRPr lang="en-US" sz="2800"/>
          </a:p>
        </p:txBody>
      </p:sp>
      <p:sp>
        <p:nvSpPr>
          <p:cNvPr id="13" name="Text 11"/>
          <p:cNvSpPr/>
          <p:nvPr/>
        </p:nvSpPr>
        <p:spPr>
          <a:xfrm>
            <a:off x="3474720" y="4023360"/>
            <a:ext cx="1097280" cy="548640"/>
          </a:xfrm>
          <a:prstGeom prst="rect">
            <a:avLst/>
          </a:prstGeom>
          <a:noFill/>
          <a:ln/>
        </p:spPr>
        <p:txBody>
          <a:bodyPr wrap="square" lIns="0" tIns="0" rIns="0" bIns="0" rtlCol="0" anchor="ctr"/>
          <a:lstStyle/>
          <a:p>
            <a:pPr marL="0" indent="0">
              <a:buNone/>
            </a:pPr>
            <a:r>
              <a:rPr lang="en-US" b="1" dirty="0">
                <a:solidFill>
                  <a:srgbClr val="1F4899"/>
                </a:solidFill>
                <a:latin typeface="Calibri" pitchFamily="34" charset="0"/>
                <a:ea typeface="Calibri" pitchFamily="34" charset="-122"/>
                <a:cs typeface="Calibri" pitchFamily="34" charset="-120"/>
              </a:rPr>
              <a:t>Cost of</a:t>
            </a:r>
            <a:endParaRPr lang="en-US" dirty="0"/>
          </a:p>
          <a:p>
            <a:pPr marL="0" indent="0">
              <a:buNone/>
            </a:pPr>
            <a:r>
              <a:rPr lang="en-US" b="1" dirty="0">
                <a:solidFill>
                  <a:srgbClr val="1F4899"/>
                </a:solidFill>
                <a:latin typeface="Calibri" pitchFamily="34" charset="0"/>
                <a:ea typeface="Calibri" pitchFamily="34" charset="-122"/>
                <a:cs typeface="Calibri" pitchFamily="34" charset="-120"/>
              </a:rPr>
              <a:t>equity</a:t>
            </a:r>
            <a:endParaRPr lang="en-US" dirty="0"/>
          </a:p>
        </p:txBody>
      </p:sp>
      <p:sp>
        <p:nvSpPr>
          <p:cNvPr id="14" name="Shape 12"/>
          <p:cNvSpPr/>
          <p:nvPr/>
        </p:nvSpPr>
        <p:spPr>
          <a:xfrm>
            <a:off x="5760720" y="2103120"/>
            <a:ext cx="5715000" cy="3474720"/>
          </a:xfrm>
          <a:prstGeom prst="roundRect">
            <a:avLst>
              <a:gd name="adj" fmla="val 1429"/>
            </a:avLst>
          </a:prstGeom>
          <a:solidFill>
            <a:srgbClr val="EFF6FF"/>
          </a:solidFill>
          <a:ln w="15875">
            <a:solidFill>
              <a:srgbClr val="3B82F6"/>
            </a:solidFill>
            <a:prstDash val="solid"/>
          </a:ln>
        </p:spPr>
        <p:txBody>
          <a:bodyPr/>
          <a:lstStyle/>
          <a:p>
            <a:endParaRPr lang="en-US" sz="2800"/>
          </a:p>
        </p:txBody>
      </p:sp>
      <p:sp>
        <p:nvSpPr>
          <p:cNvPr id="15" name="Text 13"/>
          <p:cNvSpPr/>
          <p:nvPr/>
        </p:nvSpPr>
        <p:spPr>
          <a:xfrm>
            <a:off x="5888736" y="2194560"/>
            <a:ext cx="5458968" cy="274320"/>
          </a:xfrm>
          <a:prstGeom prst="rect">
            <a:avLst/>
          </a:prstGeom>
          <a:noFill/>
          <a:ln/>
        </p:spPr>
        <p:txBody>
          <a:bodyPr wrap="square" lIns="0" tIns="0" rIns="0" bIns="0" rtlCol="0" anchor="ctr"/>
          <a:lstStyle/>
          <a:p>
            <a:pPr marL="0" indent="0" algn="l">
              <a:buNone/>
            </a:pPr>
            <a:r>
              <a:rPr lang="en-US" b="1" dirty="0">
                <a:solidFill>
                  <a:srgbClr val="1E40AF"/>
                </a:solidFill>
                <a:latin typeface="Calibri" pitchFamily="34" charset="0"/>
                <a:ea typeface="Calibri" pitchFamily="34" charset="-122"/>
                <a:cs typeface="Calibri" pitchFamily="34" charset="-120"/>
              </a:rPr>
              <a:t>The three ingredients</a:t>
            </a:r>
            <a:endParaRPr lang="en-US" dirty="0"/>
          </a:p>
        </p:txBody>
      </p:sp>
      <p:sp>
        <p:nvSpPr>
          <p:cNvPr id="16" name="Text 14"/>
          <p:cNvSpPr/>
          <p:nvPr/>
        </p:nvSpPr>
        <p:spPr>
          <a:xfrm>
            <a:off x="5907024" y="2523744"/>
            <a:ext cx="5422392" cy="2670048"/>
          </a:xfrm>
          <a:prstGeom prst="rect">
            <a:avLst/>
          </a:prstGeom>
          <a:noFill/>
          <a:ln/>
        </p:spPr>
        <p:txBody>
          <a:bodyPr wrap="square" lIns="0" tIns="0" rIns="0" bIns="0" rtlCol="0" anchor="t"/>
          <a:lstStyle/>
          <a:p>
            <a:pPr marL="285750" indent="-285750" algn="l">
              <a:lnSpc>
                <a:spcPct val="102000"/>
              </a:lnSpc>
              <a:spcAft>
                <a:spcPts val="600"/>
              </a:spcAft>
              <a:buFont typeface="Wingdings" panose="05000000000000000000" pitchFamily="2" charset="2"/>
              <a:buChar char="§"/>
            </a:pPr>
            <a:r>
              <a:rPr lang="en-US" dirty="0">
                <a:solidFill>
                  <a:srgbClr val="374151"/>
                </a:solidFill>
                <a:latin typeface="Calibri" pitchFamily="34" charset="0"/>
                <a:ea typeface="Calibri" pitchFamily="34" charset="-122"/>
                <a:cs typeface="Calibri" pitchFamily="34" charset="-120"/>
              </a:rPr>
              <a:t>Risk-free rate — a government-bond yield; match its maturity to the cash flows (10-yr, not 3-month).  </a:t>
            </a:r>
            <a:r>
              <a:rPr lang="en-US" b="1" dirty="0">
                <a:solidFill>
                  <a:srgbClr val="C00000"/>
                </a:solidFill>
                <a:latin typeface="Calibri" pitchFamily="34" charset="0"/>
                <a:ea typeface="Calibri" pitchFamily="34" charset="-122"/>
                <a:cs typeface="Calibri" pitchFamily="34" charset="-120"/>
              </a:rPr>
              <a:t>4.6% (Aug 2026)</a:t>
            </a:r>
            <a:endParaRPr lang="en-US" b="1" dirty="0">
              <a:solidFill>
                <a:srgbClr val="C00000"/>
              </a:solidFill>
            </a:endParaRPr>
          </a:p>
          <a:p>
            <a:pPr marL="285750" indent="-285750" algn="l">
              <a:lnSpc>
                <a:spcPct val="102000"/>
              </a:lnSpc>
              <a:spcAft>
                <a:spcPts val="600"/>
              </a:spcAft>
              <a:buFont typeface="Wingdings" panose="05000000000000000000" pitchFamily="2" charset="2"/>
              <a:buChar char="§"/>
            </a:pPr>
            <a:r>
              <a:rPr lang="en-US" dirty="0">
                <a:solidFill>
                  <a:srgbClr val="374151"/>
                </a:solidFill>
                <a:latin typeface="Calibri" pitchFamily="34" charset="0"/>
                <a:ea typeface="Calibri" pitchFamily="34" charset="-122"/>
                <a:cs typeface="Calibri" pitchFamily="34" charset="-120"/>
              </a:rPr>
              <a:t>β (beta) — how much the stock amplifies market risk; </a:t>
            </a:r>
            <a:r>
              <a:rPr lang="en-US" b="1" dirty="0">
                <a:solidFill>
                  <a:srgbClr val="C00000"/>
                </a:solidFill>
                <a:latin typeface="Calibri" pitchFamily="34" charset="0"/>
                <a:ea typeface="Calibri" pitchFamily="34" charset="-122"/>
                <a:cs typeface="Calibri" pitchFamily="34" charset="-120"/>
              </a:rPr>
              <a:t>β = 1 </a:t>
            </a:r>
            <a:r>
              <a:rPr lang="en-US" dirty="0">
                <a:solidFill>
                  <a:srgbClr val="374151"/>
                </a:solidFill>
                <a:latin typeface="Calibri" pitchFamily="34" charset="0"/>
                <a:ea typeface="Calibri" pitchFamily="34" charset="-122"/>
                <a:cs typeface="Calibri" pitchFamily="34" charset="-120"/>
              </a:rPr>
              <a:t>is average.</a:t>
            </a:r>
            <a:endParaRPr lang="en-US" dirty="0"/>
          </a:p>
          <a:p>
            <a:pPr marL="285750" indent="-285750" algn="l">
              <a:lnSpc>
                <a:spcPct val="102000"/>
              </a:lnSpc>
              <a:spcAft>
                <a:spcPts val="600"/>
              </a:spcAft>
              <a:buFont typeface="Wingdings" panose="05000000000000000000" pitchFamily="2" charset="2"/>
              <a:buChar char="§"/>
            </a:pPr>
            <a:r>
              <a:rPr lang="en-US" dirty="0">
                <a:solidFill>
                  <a:srgbClr val="374151"/>
                </a:solidFill>
                <a:latin typeface="Calibri" pitchFamily="34" charset="0"/>
                <a:ea typeface="Calibri" pitchFamily="34" charset="-122"/>
                <a:cs typeface="Calibri" pitchFamily="34" charset="-120"/>
              </a:rPr>
              <a:t>ERP — the extra return demanded for holding stocks over bonds. (</a:t>
            </a:r>
            <a:r>
              <a:rPr lang="en-US" b="1" dirty="0">
                <a:solidFill>
                  <a:srgbClr val="C00000"/>
                </a:solidFill>
                <a:latin typeface="Calibri" pitchFamily="34" charset="0"/>
                <a:ea typeface="Calibri" pitchFamily="34" charset="-122"/>
                <a:cs typeface="Calibri" pitchFamily="34" charset="-120"/>
              </a:rPr>
              <a:t>about 5%</a:t>
            </a:r>
            <a:r>
              <a:rPr lang="en-US" dirty="0">
                <a:solidFill>
                  <a:srgbClr val="374151"/>
                </a:solidFill>
                <a:latin typeface="Calibri" pitchFamily="34" charset="0"/>
                <a:ea typeface="Calibri" pitchFamily="34" charset="-122"/>
                <a:cs typeface="Calibri" pitchFamily="34" charset="-120"/>
              </a:rPr>
              <a:t>)</a:t>
            </a:r>
            <a:endParaRPr lang="en-US" dirty="0"/>
          </a:p>
          <a:p>
            <a:pPr marL="0" indent="0" algn="l">
              <a:lnSpc>
                <a:spcPct val="102000"/>
              </a:lnSpc>
              <a:buNone/>
            </a:pPr>
            <a:r>
              <a:rPr lang="en-US" b="1" dirty="0">
                <a:solidFill>
                  <a:srgbClr val="1F4899"/>
                </a:solidFill>
                <a:latin typeface="Calibri" pitchFamily="34" charset="0"/>
                <a:ea typeface="Calibri" pitchFamily="34" charset="-122"/>
                <a:cs typeface="Calibri" pitchFamily="34" charset="-120"/>
              </a:rPr>
              <a:t>In words:  </a:t>
            </a:r>
            <a:r>
              <a:rPr lang="en-US" i="1" dirty="0">
                <a:solidFill>
                  <a:srgbClr val="374151"/>
                </a:solidFill>
                <a:latin typeface="Calibri" pitchFamily="34" charset="0"/>
                <a:ea typeface="Calibri" pitchFamily="34" charset="-122"/>
                <a:cs typeface="Calibri" pitchFamily="34" charset="-120"/>
              </a:rPr>
              <a:t>pay for waiting + pay for worrying.</a:t>
            </a:r>
          </a:p>
          <a:p>
            <a:pPr marL="0" indent="0" algn="l">
              <a:lnSpc>
                <a:spcPct val="102000"/>
              </a:lnSpc>
              <a:buNone/>
            </a:pPr>
            <a:endParaRPr lang="en-US" i="1" dirty="0">
              <a:solidFill>
                <a:srgbClr val="374151"/>
              </a:solidFill>
              <a:latin typeface="Calibri" pitchFamily="34" charset="0"/>
              <a:ea typeface="Calibri" pitchFamily="34" charset="-122"/>
              <a:cs typeface="Calibri" pitchFamily="34" charset="-120"/>
            </a:endParaRPr>
          </a:p>
          <a:p>
            <a:pPr marL="0" indent="0" algn="l">
              <a:lnSpc>
                <a:spcPct val="102000"/>
              </a:lnSpc>
              <a:buNone/>
            </a:pPr>
            <a:r>
              <a:rPr lang="en-US" i="1" dirty="0">
                <a:solidFill>
                  <a:srgbClr val="374151"/>
                </a:solidFill>
                <a:latin typeface="Calibri" pitchFamily="34" charset="0"/>
                <a:ea typeface="Calibri" pitchFamily="34" charset="-122"/>
                <a:cs typeface="Calibri" pitchFamily="34" charset="-120"/>
              </a:rPr>
              <a:t> </a:t>
            </a:r>
            <a:r>
              <a:rPr lang="en-US" b="1" i="1" dirty="0">
                <a:solidFill>
                  <a:srgbClr val="C00000"/>
                </a:solidFill>
                <a:latin typeface="Calibri" pitchFamily="34" charset="0"/>
                <a:ea typeface="Calibri" pitchFamily="34" charset="-122"/>
                <a:cs typeface="Calibri" pitchFamily="34" charset="-120"/>
              </a:rPr>
              <a:t>Cost of Equity =  4.6% + 1*5% = 9.6%</a:t>
            </a:r>
          </a:p>
          <a:p>
            <a:pPr marL="0" indent="0" algn="l">
              <a:lnSpc>
                <a:spcPct val="102000"/>
              </a:lnSpc>
              <a:buNone/>
            </a:pPr>
            <a:endParaRPr lang="en-US" i="1" dirty="0">
              <a:solidFill>
                <a:srgbClr val="374151"/>
              </a:solidFill>
              <a:latin typeface="Calibri" pitchFamily="34" charset="0"/>
              <a:ea typeface="Calibri" pitchFamily="34" charset="-122"/>
              <a:cs typeface="Calibri" pitchFamily="34" charset="-120"/>
            </a:endParaRPr>
          </a:p>
          <a:p>
            <a:pPr marL="0" indent="0" algn="l">
              <a:lnSpc>
                <a:spcPct val="102000"/>
              </a:lnSpc>
              <a:buNone/>
            </a:pPr>
            <a:endParaRPr lang="en-US" dirty="0"/>
          </a:p>
        </p:txBody>
      </p:sp>
      <p:sp>
        <p:nvSpPr>
          <p:cNvPr id="17" name="Text 15"/>
          <p:cNvSpPr/>
          <p:nvPr/>
        </p:nvSpPr>
        <p:spPr>
          <a:xfrm>
            <a:off x="502920" y="5840730"/>
            <a:ext cx="10972800" cy="365760"/>
          </a:xfrm>
          <a:prstGeom prst="rect">
            <a:avLst/>
          </a:prstGeom>
          <a:noFill/>
          <a:ln/>
        </p:spPr>
        <p:txBody>
          <a:bodyPr wrap="square" rtlCol="0" anchor="ctr"/>
          <a:lstStyle/>
          <a:p>
            <a:pPr marL="0" indent="0">
              <a:buNone/>
            </a:pPr>
            <a:r>
              <a:rPr lang="en-US" i="1" dirty="0">
                <a:solidFill>
                  <a:srgbClr val="6B7280"/>
                </a:solidFill>
                <a:latin typeface="Calibri" pitchFamily="34" charset="0"/>
                <a:ea typeface="Calibri" pitchFamily="34" charset="-122"/>
                <a:cs typeface="Calibri" pitchFamily="34" charset="-120"/>
              </a:rPr>
              <a:t>Expected stock return = compensation for time + compensation for risk.</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686032" y="0"/>
            <a:ext cx="505663" cy="6858000"/>
          </a:xfrm>
          <a:prstGeom prst="rect">
            <a:avLst/>
          </a:prstGeom>
          <a:solidFill>
            <a:srgbClr val="1F4899"/>
          </a:solidFill>
          <a:ln/>
        </p:spPr>
        <p:txBody>
          <a:bodyPr/>
          <a:lstStyle/>
          <a:p>
            <a:endParaRPr lang="en-US"/>
          </a:p>
        </p:txBody>
      </p:sp>
      <p:sp>
        <p:nvSpPr>
          <p:cNvPr id="3" name="Text 1"/>
          <p:cNvSpPr/>
          <p:nvPr/>
        </p:nvSpPr>
        <p:spPr>
          <a:xfrm>
            <a:off x="502920" y="274320"/>
            <a:ext cx="10881360" cy="777240"/>
          </a:xfrm>
          <a:prstGeom prst="rect">
            <a:avLst/>
          </a:prstGeom>
          <a:noFill/>
          <a:ln/>
        </p:spPr>
        <p:txBody>
          <a:bodyPr wrap="square" lIns="0" tIns="0" rIns="0" bIns="0" rtlCol="0" anchor="ctr"/>
          <a:lstStyle/>
          <a:p>
            <a:pPr marL="0" indent="0" algn="l">
              <a:buNone/>
            </a:pPr>
            <a:r>
              <a:rPr lang="en-US" sz="2700" b="1" dirty="0">
                <a:solidFill>
                  <a:srgbClr val="1F4899"/>
                </a:solidFill>
                <a:latin typeface="Calibri" pitchFamily="34" charset="0"/>
                <a:ea typeface="Calibri" pitchFamily="34" charset="-122"/>
                <a:cs typeface="Calibri" pitchFamily="34" charset="-120"/>
              </a:rPr>
              <a:t>4.  Equity Risk Premium &amp; the Cost of Capital</a:t>
            </a:r>
            <a:endParaRPr lang="en-US" sz="2700" dirty="0"/>
          </a:p>
        </p:txBody>
      </p:sp>
      <p:sp>
        <p:nvSpPr>
          <p:cNvPr id="4" name="Text 2"/>
          <p:cNvSpPr/>
          <p:nvPr/>
        </p:nvSpPr>
        <p:spPr>
          <a:xfrm>
            <a:off x="502920" y="18288"/>
            <a:ext cx="10881360" cy="256032"/>
          </a:xfrm>
          <a:prstGeom prst="rect">
            <a:avLst/>
          </a:prstGeom>
          <a:noFill/>
          <a:ln/>
        </p:spPr>
        <p:txBody>
          <a:bodyPr wrap="square" lIns="0" tIns="0" rIns="0" bIns="0" rtlCol="0" anchor="ctr"/>
          <a:lstStyle/>
          <a:p>
            <a:pPr marL="0" indent="0" algn="l">
              <a:buNone/>
            </a:pPr>
            <a:r>
              <a:rPr lang="en-US" sz="1100" b="1" kern="0" spc="100" dirty="0">
                <a:solidFill>
                  <a:srgbClr val="6B7280"/>
                </a:solidFill>
                <a:latin typeface="Calibri" pitchFamily="34" charset="0"/>
                <a:ea typeface="Calibri" pitchFamily="34" charset="-122"/>
                <a:cs typeface="Calibri" pitchFamily="34" charset="-120"/>
              </a:rPr>
              <a:t>TOPIC 4</a:t>
            </a:r>
            <a:endParaRPr lang="en-US" sz="1100" dirty="0"/>
          </a:p>
        </p:txBody>
      </p:sp>
      <p:sp>
        <p:nvSpPr>
          <p:cNvPr id="5" name="Text 3"/>
          <p:cNvSpPr/>
          <p:nvPr/>
        </p:nvSpPr>
        <p:spPr>
          <a:xfrm>
            <a:off x="11686032" y="6446520"/>
            <a:ext cx="505663" cy="32004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20</a:t>
            </a:r>
            <a:endParaRPr lang="en-US" sz="1100" dirty="0"/>
          </a:p>
        </p:txBody>
      </p:sp>
      <p:sp>
        <p:nvSpPr>
          <p:cNvPr id="6" name="Shape 4"/>
          <p:cNvSpPr/>
          <p:nvPr/>
        </p:nvSpPr>
        <p:spPr>
          <a:xfrm>
            <a:off x="502920" y="1234440"/>
            <a:ext cx="5349240" cy="1920240"/>
          </a:xfrm>
          <a:prstGeom prst="roundRect">
            <a:avLst>
              <a:gd name="adj" fmla="val 2381"/>
            </a:avLst>
          </a:prstGeom>
          <a:solidFill>
            <a:srgbClr val="FEF3C7"/>
          </a:solidFill>
          <a:ln w="15875">
            <a:solidFill>
              <a:srgbClr val="F59E0B"/>
            </a:solidFill>
            <a:prstDash val="solid"/>
          </a:ln>
        </p:spPr>
        <p:txBody>
          <a:bodyPr/>
          <a:lstStyle/>
          <a:p>
            <a:endParaRPr lang="en-US" sz="2800"/>
          </a:p>
        </p:txBody>
      </p:sp>
      <p:sp>
        <p:nvSpPr>
          <p:cNvPr id="7" name="Text 5"/>
          <p:cNvSpPr/>
          <p:nvPr/>
        </p:nvSpPr>
        <p:spPr>
          <a:xfrm>
            <a:off x="630936" y="1325880"/>
            <a:ext cx="5093208" cy="274320"/>
          </a:xfrm>
          <a:prstGeom prst="rect">
            <a:avLst/>
          </a:prstGeom>
          <a:noFill/>
          <a:ln/>
        </p:spPr>
        <p:txBody>
          <a:bodyPr wrap="square" lIns="0" tIns="0" rIns="0" bIns="0" rtlCol="0" anchor="ctr"/>
          <a:lstStyle/>
          <a:p>
            <a:pPr marL="0" indent="0" algn="l">
              <a:buNone/>
            </a:pPr>
            <a:r>
              <a:rPr lang="en-US" b="1" dirty="0">
                <a:solidFill>
                  <a:srgbClr val="92400E"/>
                </a:solidFill>
                <a:latin typeface="Calibri" pitchFamily="34" charset="0"/>
                <a:ea typeface="Calibri" pitchFamily="34" charset="-122"/>
                <a:cs typeface="Calibri" pitchFamily="34" charset="-120"/>
              </a:rPr>
              <a:t>The Equity Risk Premium (ERP)</a:t>
            </a:r>
            <a:endParaRPr lang="en-US" dirty="0"/>
          </a:p>
        </p:txBody>
      </p:sp>
      <p:sp>
        <p:nvSpPr>
          <p:cNvPr id="8" name="Text 6"/>
          <p:cNvSpPr/>
          <p:nvPr/>
        </p:nvSpPr>
        <p:spPr>
          <a:xfrm>
            <a:off x="649224" y="1655064"/>
            <a:ext cx="5056632" cy="1389888"/>
          </a:xfrm>
          <a:prstGeom prst="rect">
            <a:avLst/>
          </a:prstGeom>
          <a:noFill/>
          <a:ln/>
        </p:spPr>
        <p:txBody>
          <a:bodyPr wrap="square" lIns="0" tIns="0" rIns="0" bIns="0" rtlCol="0" anchor="t"/>
          <a:lstStyle/>
          <a:p>
            <a:pPr marL="0" indent="0" algn="l">
              <a:lnSpc>
                <a:spcPct val="102000"/>
              </a:lnSpc>
              <a:buNone/>
            </a:pPr>
            <a:r>
              <a:rPr lang="en-US" dirty="0">
                <a:solidFill>
                  <a:srgbClr val="374151"/>
                </a:solidFill>
                <a:latin typeface="Calibri" pitchFamily="34" charset="0"/>
                <a:ea typeface="Calibri" pitchFamily="34" charset="-122"/>
                <a:cs typeface="Calibri" pitchFamily="34" charset="-120"/>
              </a:rPr>
              <a:t>The market's “hazard pay” — extra expected return for holding risky stocks over safe bonds.</a:t>
            </a:r>
            <a:endParaRPr lang="en-US" dirty="0"/>
          </a:p>
          <a:p>
            <a:pPr marL="0" indent="0" algn="l">
              <a:lnSpc>
                <a:spcPct val="102000"/>
              </a:lnSpc>
              <a:buNone/>
            </a:pPr>
            <a:r>
              <a:rPr lang="en-US" dirty="0">
                <a:solidFill>
                  <a:srgbClr val="6B7280"/>
                </a:solidFill>
                <a:latin typeface="Calibri" pitchFamily="34" charset="0"/>
                <a:ea typeface="Calibri" pitchFamily="34" charset="-122"/>
                <a:cs typeface="Calibri" pitchFamily="34" charset="-120"/>
              </a:rPr>
              <a:t>Historical ≈ 5–6%;  implied (today) ≈ 4–5%.  </a:t>
            </a:r>
            <a:r>
              <a:rPr lang="en-US" b="1" dirty="0">
                <a:solidFill>
                  <a:srgbClr val="92400E"/>
                </a:solidFill>
                <a:latin typeface="Calibri" pitchFamily="34" charset="0"/>
                <a:ea typeface="Calibri" pitchFamily="34" charset="-122"/>
                <a:cs typeface="Calibri" pitchFamily="34" charset="-120"/>
              </a:rPr>
              <a:t>A common working choice is ~5%.</a:t>
            </a:r>
            <a:endParaRPr lang="en-US" dirty="0"/>
          </a:p>
        </p:txBody>
      </p:sp>
      <p:sp>
        <p:nvSpPr>
          <p:cNvPr id="9" name="Shape 7"/>
          <p:cNvSpPr/>
          <p:nvPr/>
        </p:nvSpPr>
        <p:spPr>
          <a:xfrm>
            <a:off x="6126480" y="1234440"/>
            <a:ext cx="5349240" cy="1920240"/>
          </a:xfrm>
          <a:prstGeom prst="roundRect">
            <a:avLst>
              <a:gd name="adj" fmla="val 2381"/>
            </a:avLst>
          </a:prstGeom>
          <a:solidFill>
            <a:srgbClr val="E5FCED"/>
          </a:solidFill>
          <a:ln w="15875">
            <a:solidFill>
              <a:srgbClr val="63B84B"/>
            </a:solidFill>
            <a:prstDash val="solid"/>
          </a:ln>
        </p:spPr>
        <p:txBody>
          <a:bodyPr/>
          <a:lstStyle/>
          <a:p>
            <a:endParaRPr lang="en-US" sz="2800"/>
          </a:p>
        </p:txBody>
      </p:sp>
      <p:sp>
        <p:nvSpPr>
          <p:cNvPr id="10" name="Text 8"/>
          <p:cNvSpPr/>
          <p:nvPr/>
        </p:nvSpPr>
        <p:spPr>
          <a:xfrm>
            <a:off x="6254496" y="1325880"/>
            <a:ext cx="5093208" cy="274320"/>
          </a:xfrm>
          <a:prstGeom prst="rect">
            <a:avLst/>
          </a:prstGeom>
          <a:noFill/>
          <a:ln/>
        </p:spPr>
        <p:txBody>
          <a:bodyPr wrap="square" lIns="0" tIns="0" rIns="0" bIns="0" rtlCol="0" anchor="ctr"/>
          <a:lstStyle/>
          <a:p>
            <a:pPr marL="0" indent="0" algn="l">
              <a:buNone/>
            </a:pPr>
            <a:r>
              <a:rPr lang="en-US" b="1" dirty="0">
                <a:solidFill>
                  <a:srgbClr val="15803D"/>
                </a:solidFill>
                <a:latin typeface="Calibri" pitchFamily="34" charset="0"/>
                <a:ea typeface="Calibri" pitchFamily="34" charset="-122"/>
                <a:cs typeface="Calibri" pitchFamily="34" charset="-120"/>
              </a:rPr>
              <a:t>From Cost of Equity to Cost of Capital</a:t>
            </a:r>
            <a:endParaRPr lang="en-US" dirty="0"/>
          </a:p>
        </p:txBody>
      </p:sp>
      <p:sp>
        <p:nvSpPr>
          <p:cNvPr id="11" name="Text 9"/>
          <p:cNvSpPr/>
          <p:nvPr/>
        </p:nvSpPr>
        <p:spPr>
          <a:xfrm>
            <a:off x="6272784" y="1655064"/>
            <a:ext cx="5056632" cy="1389888"/>
          </a:xfrm>
          <a:prstGeom prst="rect">
            <a:avLst/>
          </a:prstGeom>
          <a:noFill/>
          <a:ln/>
        </p:spPr>
        <p:txBody>
          <a:bodyPr wrap="square" lIns="0" tIns="0" rIns="0" bIns="0" rtlCol="0" anchor="t"/>
          <a:lstStyle/>
          <a:p>
            <a:pPr marL="0" indent="0" algn="l">
              <a:lnSpc>
                <a:spcPct val="102000"/>
              </a:lnSpc>
              <a:buNone/>
            </a:pPr>
            <a:r>
              <a:rPr lang="en-US" dirty="0">
                <a:solidFill>
                  <a:srgbClr val="374151"/>
                </a:solidFill>
                <a:latin typeface="Calibri" pitchFamily="34" charset="0"/>
                <a:ea typeface="Calibri" pitchFamily="34" charset="-122"/>
                <a:cs typeface="Calibri" pitchFamily="34" charset="-120"/>
              </a:rPr>
              <a:t>A firm raises money from shareholders AND lenders. Its overall cost is the WACC — a weighted blend:</a:t>
            </a:r>
            <a:endParaRPr lang="en-US" dirty="0"/>
          </a:p>
          <a:p>
            <a:pPr marL="0" indent="0" algn="l">
              <a:lnSpc>
                <a:spcPct val="102000"/>
              </a:lnSpc>
              <a:spcBef>
                <a:spcPts val="400"/>
              </a:spcBef>
              <a:buNone/>
            </a:pPr>
            <a:r>
              <a:rPr lang="en-US" sz="1600" b="1" dirty="0">
                <a:solidFill>
                  <a:srgbClr val="15803D"/>
                </a:solidFill>
                <a:latin typeface="Cambria" pitchFamily="34" charset="0"/>
                <a:ea typeface="Cambria" pitchFamily="34" charset="-122"/>
                <a:cs typeface="Cambria" pitchFamily="34" charset="-120"/>
              </a:rPr>
              <a:t>WACC = wₑ × cost of equity + w_d × after-tax cost of debt</a:t>
            </a:r>
            <a:endParaRPr lang="en-US" dirty="0"/>
          </a:p>
        </p:txBody>
      </p:sp>
      <p:sp>
        <p:nvSpPr>
          <p:cNvPr id="12" name="Shape 10"/>
          <p:cNvSpPr/>
          <p:nvPr/>
        </p:nvSpPr>
        <p:spPr>
          <a:xfrm>
            <a:off x="502920" y="3337560"/>
            <a:ext cx="10972800" cy="1874520"/>
          </a:xfrm>
          <a:prstGeom prst="roundRect">
            <a:avLst>
              <a:gd name="adj" fmla="val 2439"/>
            </a:avLst>
          </a:prstGeom>
          <a:solidFill>
            <a:srgbClr val="F8FAFC"/>
          </a:solidFill>
          <a:ln w="12700">
            <a:solidFill>
              <a:srgbClr val="D1D5DB"/>
            </a:solidFill>
            <a:prstDash val="solid"/>
          </a:ln>
        </p:spPr>
        <p:txBody>
          <a:bodyPr/>
          <a:lstStyle/>
          <a:p>
            <a:endParaRPr lang="en-US" sz="2800"/>
          </a:p>
        </p:txBody>
      </p:sp>
      <p:sp>
        <p:nvSpPr>
          <p:cNvPr id="13" name="Text 11"/>
          <p:cNvSpPr/>
          <p:nvPr/>
        </p:nvSpPr>
        <p:spPr>
          <a:xfrm>
            <a:off x="731520" y="3474720"/>
            <a:ext cx="10515600" cy="320040"/>
          </a:xfrm>
          <a:prstGeom prst="rect">
            <a:avLst/>
          </a:prstGeom>
          <a:noFill/>
          <a:ln/>
        </p:spPr>
        <p:txBody>
          <a:bodyPr wrap="square" rtlCol="0" anchor="ctr"/>
          <a:lstStyle/>
          <a:p>
            <a:pPr marL="0" indent="0">
              <a:buNone/>
            </a:pPr>
            <a:r>
              <a:rPr lang="en-US" b="1" dirty="0">
                <a:solidFill>
                  <a:srgbClr val="1F4899"/>
                </a:solidFill>
                <a:latin typeface="Calibri" pitchFamily="34" charset="0"/>
                <a:ea typeface="Calibri" pitchFamily="34" charset="-122"/>
                <a:cs typeface="Calibri" pitchFamily="34" charset="-120"/>
              </a:rPr>
              <a:t>Example  ·  cost of equity 10%,  cost of debt 5%,  tax 20%,  60% equity / 40% debt</a:t>
            </a:r>
            <a:endParaRPr lang="en-US" dirty="0"/>
          </a:p>
        </p:txBody>
      </p:sp>
      <p:sp>
        <p:nvSpPr>
          <p:cNvPr id="14" name="Shape 12"/>
          <p:cNvSpPr/>
          <p:nvPr/>
        </p:nvSpPr>
        <p:spPr>
          <a:xfrm>
            <a:off x="822960" y="3977640"/>
            <a:ext cx="5486400" cy="777240"/>
          </a:xfrm>
          <a:prstGeom prst="rect">
            <a:avLst/>
          </a:prstGeom>
          <a:solidFill>
            <a:srgbClr val="63B84B"/>
          </a:solidFill>
          <a:ln/>
        </p:spPr>
        <p:txBody>
          <a:bodyPr/>
          <a:lstStyle/>
          <a:p>
            <a:endParaRPr lang="en-US" sz="2800"/>
          </a:p>
        </p:txBody>
      </p:sp>
      <p:sp>
        <p:nvSpPr>
          <p:cNvPr id="15" name="Text 13"/>
          <p:cNvSpPr/>
          <p:nvPr/>
        </p:nvSpPr>
        <p:spPr>
          <a:xfrm>
            <a:off x="822960" y="3977640"/>
            <a:ext cx="5486400" cy="77724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Equity  60% × 10% = 6.0%</a:t>
            </a:r>
            <a:endParaRPr lang="en-US" dirty="0"/>
          </a:p>
        </p:txBody>
      </p:sp>
      <p:sp>
        <p:nvSpPr>
          <p:cNvPr id="16" name="Shape 14"/>
          <p:cNvSpPr/>
          <p:nvPr/>
        </p:nvSpPr>
        <p:spPr>
          <a:xfrm>
            <a:off x="6309360" y="3977640"/>
            <a:ext cx="2377440" cy="777240"/>
          </a:xfrm>
          <a:prstGeom prst="rect">
            <a:avLst/>
          </a:prstGeom>
          <a:solidFill>
            <a:srgbClr val="3B82F6"/>
          </a:solidFill>
          <a:ln/>
        </p:spPr>
        <p:txBody>
          <a:bodyPr/>
          <a:lstStyle/>
          <a:p>
            <a:endParaRPr lang="en-US" sz="2800"/>
          </a:p>
        </p:txBody>
      </p:sp>
      <p:sp>
        <p:nvSpPr>
          <p:cNvPr id="17" name="Text 15"/>
          <p:cNvSpPr/>
          <p:nvPr/>
        </p:nvSpPr>
        <p:spPr>
          <a:xfrm>
            <a:off x="6309360" y="3977640"/>
            <a:ext cx="2377440" cy="77724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Debt  40% × 4% = 1.6%</a:t>
            </a:r>
            <a:endParaRPr lang="en-US" dirty="0"/>
          </a:p>
        </p:txBody>
      </p:sp>
      <p:sp>
        <p:nvSpPr>
          <p:cNvPr id="18" name="Shape 16"/>
          <p:cNvSpPr/>
          <p:nvPr/>
        </p:nvSpPr>
        <p:spPr>
          <a:xfrm>
            <a:off x="8869680" y="4361688"/>
            <a:ext cx="640080" cy="0"/>
          </a:xfrm>
          <a:prstGeom prst="line">
            <a:avLst/>
          </a:prstGeom>
          <a:noFill/>
          <a:ln w="25400">
            <a:solidFill>
              <a:srgbClr val="1F4899"/>
            </a:solidFill>
            <a:prstDash val="solid"/>
            <a:tailEnd type="triangle"/>
          </a:ln>
        </p:spPr>
        <p:txBody>
          <a:bodyPr/>
          <a:lstStyle/>
          <a:p>
            <a:endParaRPr lang="en-US" sz="2800"/>
          </a:p>
        </p:txBody>
      </p:sp>
      <p:sp>
        <p:nvSpPr>
          <p:cNvPr id="19" name="Text 17"/>
          <p:cNvSpPr/>
          <p:nvPr/>
        </p:nvSpPr>
        <p:spPr>
          <a:xfrm>
            <a:off x="9509760" y="3931920"/>
            <a:ext cx="1920240" cy="640080"/>
          </a:xfrm>
          <a:prstGeom prst="rect">
            <a:avLst/>
          </a:prstGeom>
          <a:noFill/>
          <a:ln/>
        </p:spPr>
        <p:txBody>
          <a:bodyPr wrap="square" lIns="0" tIns="0" rIns="0" bIns="0" rtlCol="0" anchor="ctr"/>
          <a:lstStyle/>
          <a:p>
            <a:pPr marL="0" indent="0" algn="ctr">
              <a:buNone/>
            </a:pPr>
            <a:r>
              <a:rPr lang="en-US" sz="4400" b="1" dirty="0">
                <a:solidFill>
                  <a:srgbClr val="1F4899"/>
                </a:solidFill>
                <a:latin typeface="Calibri" pitchFamily="34" charset="0"/>
                <a:ea typeface="Calibri" pitchFamily="34" charset="-122"/>
                <a:cs typeface="Calibri" pitchFamily="34" charset="-120"/>
              </a:rPr>
              <a:t>7.6%</a:t>
            </a:r>
            <a:endParaRPr lang="en-US" sz="4400" dirty="0"/>
          </a:p>
        </p:txBody>
      </p:sp>
      <p:sp>
        <p:nvSpPr>
          <p:cNvPr id="20" name="Text 18"/>
          <p:cNvSpPr/>
          <p:nvPr/>
        </p:nvSpPr>
        <p:spPr>
          <a:xfrm>
            <a:off x="9509760" y="4498848"/>
            <a:ext cx="1920240" cy="365760"/>
          </a:xfrm>
          <a:prstGeom prst="rect">
            <a:avLst/>
          </a:prstGeom>
          <a:noFill/>
          <a:ln/>
        </p:spPr>
        <p:txBody>
          <a:bodyPr wrap="square" lIns="0" tIns="0" rIns="0" bIns="0" rtlCol="0" anchor="ctr"/>
          <a:lstStyle/>
          <a:p>
            <a:pPr marL="0" indent="0" algn="ctr">
              <a:buNone/>
            </a:pPr>
            <a:r>
              <a:rPr lang="en-US" dirty="0">
                <a:solidFill>
                  <a:srgbClr val="6B7280"/>
                </a:solidFill>
                <a:latin typeface="Calibri" pitchFamily="34" charset="0"/>
                <a:ea typeface="Calibri" pitchFamily="34" charset="-122"/>
                <a:cs typeface="Calibri" pitchFamily="34" charset="-120"/>
              </a:rPr>
              <a:t>WACC</a:t>
            </a:r>
            <a:endParaRPr lang="en-US" dirty="0"/>
          </a:p>
        </p:txBody>
      </p:sp>
      <p:sp>
        <p:nvSpPr>
          <p:cNvPr id="21" name="Shape 19"/>
          <p:cNvSpPr/>
          <p:nvPr/>
        </p:nvSpPr>
        <p:spPr>
          <a:xfrm>
            <a:off x="502920" y="5440680"/>
            <a:ext cx="10972800" cy="548640"/>
          </a:xfrm>
          <a:prstGeom prst="roundRect">
            <a:avLst>
              <a:gd name="adj" fmla="val 8333"/>
            </a:avLst>
          </a:prstGeom>
          <a:solidFill>
            <a:srgbClr val="EEF2FB"/>
          </a:solidFill>
          <a:ln w="12700">
            <a:solidFill>
              <a:srgbClr val="C7D6F0"/>
            </a:solidFill>
            <a:prstDash val="solid"/>
          </a:ln>
        </p:spPr>
        <p:txBody>
          <a:bodyPr/>
          <a:lstStyle/>
          <a:p>
            <a:endParaRPr lang="en-US" sz="2800"/>
          </a:p>
        </p:txBody>
      </p:sp>
      <p:sp>
        <p:nvSpPr>
          <p:cNvPr id="22" name="Text 20"/>
          <p:cNvSpPr/>
          <p:nvPr/>
        </p:nvSpPr>
        <p:spPr>
          <a:xfrm>
            <a:off x="649224" y="5532120"/>
            <a:ext cx="10680192" cy="365760"/>
          </a:xfrm>
          <a:prstGeom prst="rect">
            <a:avLst/>
          </a:prstGeom>
          <a:noFill/>
          <a:ln/>
        </p:spPr>
        <p:txBody>
          <a:bodyPr wrap="square" lIns="0" tIns="0" rIns="0" bIns="0" rtlCol="0" anchor="ctr"/>
          <a:lstStyle/>
          <a:p>
            <a:pPr marL="0" indent="0" algn="l">
              <a:lnSpc>
                <a:spcPct val="103000"/>
              </a:lnSpc>
              <a:buNone/>
            </a:pPr>
            <a:r>
              <a:rPr lang="en-US" dirty="0">
                <a:solidFill>
                  <a:srgbClr val="1F4899"/>
                </a:solidFill>
                <a:latin typeface="Calibri" pitchFamily="34" charset="0"/>
                <a:ea typeface="Calibri" pitchFamily="34" charset="-122"/>
                <a:cs typeface="Calibri" pitchFamily="34" charset="-120"/>
              </a:rPr>
              <a:t>Debt is cheaper (lower risk + tax-deductible interest), so some debt lowers WACC — but too much raises risk.</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40EC8-92ED-4080-C888-694030D93C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AC2A7-3D18-2612-360A-8D420B221E90}"/>
              </a:ext>
            </a:extLst>
          </p:cNvPr>
          <p:cNvSpPr>
            <a:spLocks noGrp="1"/>
          </p:cNvSpPr>
          <p:nvPr>
            <p:ph type="title"/>
          </p:nvPr>
        </p:nvSpPr>
        <p:spPr/>
        <p:txBody>
          <a:bodyPr/>
          <a:lstStyle/>
          <a:p>
            <a:r>
              <a:rPr lang="en-US" dirty="0">
                <a:latin typeface="+mn-lt"/>
              </a:rPr>
              <a:t>5. The Price-Earnings (P/E) Ratio</a:t>
            </a:r>
          </a:p>
        </p:txBody>
      </p:sp>
    </p:spTree>
    <p:extLst>
      <p:ext uri="{BB962C8B-B14F-4D97-AF65-F5344CB8AC3E}">
        <p14:creationId xmlns:p14="http://schemas.microsoft.com/office/powerpoint/2010/main" val="6742869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E7671-1984-4ABC-C598-8AD2A3D8C7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FD769-9F4E-9833-3B85-D62FBB23F71C}"/>
              </a:ext>
            </a:extLst>
          </p:cNvPr>
          <p:cNvSpPr>
            <a:spLocks noGrp="1"/>
          </p:cNvSpPr>
          <p:nvPr>
            <p:ph type="title"/>
          </p:nvPr>
        </p:nvSpPr>
        <p:spPr/>
        <p:txBody>
          <a:bodyPr>
            <a:normAutofit/>
          </a:bodyPr>
          <a:lstStyle/>
          <a:p>
            <a:r>
              <a:rPr lang="en-US" dirty="0">
                <a:latin typeface="+mn-lt"/>
                <a:cs typeface="Arial" pitchFamily="34" charset="-120"/>
              </a:rPr>
              <a:t>What is  P/E Ratio?</a:t>
            </a:r>
          </a:p>
        </p:txBody>
      </p:sp>
      <p:sp>
        <p:nvSpPr>
          <p:cNvPr id="5" name="Text 1"/>
          <p:cNvSpPr/>
          <p:nvPr/>
        </p:nvSpPr>
        <p:spPr>
          <a:xfrm>
            <a:off x="411946" y="1404556"/>
            <a:ext cx="10829990" cy="1006407"/>
          </a:xfrm>
          <a:prstGeom prst="roundRect">
            <a:avLst>
              <a:gd name="adj" fmla="val 0"/>
            </a:avLst>
          </a:prstGeom>
          <a:solidFill>
            <a:srgbClr val="E8F5E9"/>
          </a:solidFill>
          <a:ln/>
        </p:spPr>
        <p:txBody>
          <a:bodyPr wrap="square" rtlCol="0" anchor="ctr"/>
          <a:lstStyle/>
          <a:p>
            <a:endParaRPr lang="en-US" sz="2000" dirty="0"/>
          </a:p>
        </p:txBody>
      </p:sp>
      <p:sp>
        <p:nvSpPr>
          <p:cNvPr id="6" name="Shape 2"/>
          <p:cNvSpPr/>
          <p:nvPr/>
        </p:nvSpPr>
        <p:spPr>
          <a:xfrm>
            <a:off x="463873" y="1404556"/>
            <a:ext cx="0" cy="1006407"/>
          </a:xfrm>
          <a:prstGeom prst="line">
            <a:avLst/>
          </a:prstGeom>
          <a:noFill/>
          <a:ln w="47625">
            <a:solidFill>
              <a:srgbClr val="4CAF50"/>
            </a:solidFill>
            <a:prstDash val="solid"/>
          </a:ln>
        </p:spPr>
        <p:txBody>
          <a:bodyPr/>
          <a:lstStyle/>
          <a:p>
            <a:endParaRPr lang="en-US" sz="2000"/>
          </a:p>
        </p:txBody>
      </p:sp>
      <p:sp>
        <p:nvSpPr>
          <p:cNvPr id="8" name="Text 3"/>
          <p:cNvSpPr/>
          <p:nvPr/>
        </p:nvSpPr>
        <p:spPr>
          <a:xfrm>
            <a:off x="684999" y="1577565"/>
            <a:ext cx="10574676" cy="282748"/>
          </a:xfrm>
          <a:prstGeom prst="rect">
            <a:avLst/>
          </a:prstGeom>
          <a:noFill/>
          <a:ln/>
        </p:spPr>
        <p:txBody>
          <a:bodyPr wrap="square" lIns="0" tIns="0" rIns="0" bIns="0" rtlCol="0" anchor="t"/>
          <a:lstStyle/>
          <a:p>
            <a:pPr>
              <a:lnSpc>
                <a:spcPts val="1540"/>
              </a:lnSpc>
              <a:spcAft>
                <a:spcPts val="400"/>
              </a:spcAft>
            </a:pPr>
            <a:r>
              <a:rPr lang="en-US" sz="2000" b="1" dirty="0">
                <a:solidFill>
                  <a:srgbClr val="2E7D32"/>
                </a:solidFill>
                <a:latin typeface="Arial" pitchFamily="34" charset="0"/>
                <a:cs typeface="Arial" pitchFamily="34" charset="-120"/>
              </a:rPr>
              <a:t>The P/E Ratio answers a</a:t>
            </a:r>
            <a:r>
              <a:rPr lang="en-US" sz="2000" dirty="0"/>
              <a:t> </a:t>
            </a:r>
            <a:r>
              <a:rPr lang="en-US" sz="2000" b="1" dirty="0">
                <a:solidFill>
                  <a:srgbClr val="2E7D32"/>
                </a:solidFill>
                <a:latin typeface="Arial" pitchFamily="34" charset="0"/>
                <a:cs typeface="Arial" pitchFamily="34" charset="-120"/>
              </a:rPr>
              <a:t>simple</a:t>
            </a:r>
            <a:r>
              <a:rPr lang="en-US" sz="2000" dirty="0"/>
              <a:t> </a:t>
            </a:r>
            <a:r>
              <a:rPr lang="en-US" sz="2000" b="1" dirty="0">
                <a:solidFill>
                  <a:srgbClr val="2E7D32"/>
                </a:solidFill>
                <a:latin typeface="Arial" pitchFamily="34" charset="0"/>
                <a:cs typeface="Arial" pitchFamily="34" charset="-120"/>
              </a:rPr>
              <a:t>question: </a:t>
            </a:r>
          </a:p>
        </p:txBody>
      </p:sp>
      <p:sp>
        <p:nvSpPr>
          <p:cNvPr id="14" name="Text 4"/>
          <p:cNvSpPr/>
          <p:nvPr/>
        </p:nvSpPr>
        <p:spPr>
          <a:xfrm>
            <a:off x="684999" y="1880688"/>
            <a:ext cx="10290806" cy="497006"/>
          </a:xfrm>
          <a:prstGeom prst="rect">
            <a:avLst/>
          </a:prstGeom>
          <a:noFill/>
          <a:ln/>
        </p:spPr>
        <p:txBody>
          <a:bodyPr wrap="square" lIns="0" tIns="0" rIns="0" bIns="0" rtlCol="0" anchor="t"/>
          <a:lstStyle/>
          <a:p>
            <a:pPr marL="342900" lvl="0" indent="-342900">
              <a:buFont typeface="Arial" panose="020B0604020202020204" pitchFamily="34" charset="0"/>
              <a:buChar char="•"/>
            </a:pPr>
            <a:r>
              <a:rPr lang="en-US" sz="2000" dirty="0"/>
              <a:t>how many dollars will investors pay today for one dollar of the company’s annual earnings?</a:t>
            </a:r>
          </a:p>
        </p:txBody>
      </p:sp>
      <p:sp>
        <p:nvSpPr>
          <p:cNvPr id="21" name="Text 5"/>
          <p:cNvSpPr/>
          <p:nvPr/>
        </p:nvSpPr>
        <p:spPr>
          <a:xfrm>
            <a:off x="443699" y="2585868"/>
            <a:ext cx="5227896" cy="2444635"/>
          </a:xfrm>
          <a:prstGeom prst="roundRect">
            <a:avLst>
              <a:gd name="adj" fmla="val 1143"/>
            </a:avLst>
          </a:prstGeom>
          <a:solidFill>
            <a:srgbClr val="E3F2FD"/>
          </a:solidFill>
          <a:ln/>
        </p:spPr>
        <p:txBody>
          <a:bodyPr wrap="square" rtlCol="0" anchor="ctr"/>
          <a:lstStyle/>
          <a:p>
            <a:endParaRPr lang="en-US" sz="2000" dirty="0"/>
          </a:p>
        </p:txBody>
      </p:sp>
      <p:sp>
        <p:nvSpPr>
          <p:cNvPr id="22" name="Shape 6"/>
          <p:cNvSpPr/>
          <p:nvPr/>
        </p:nvSpPr>
        <p:spPr>
          <a:xfrm>
            <a:off x="475448" y="2585868"/>
            <a:ext cx="0" cy="2444635"/>
          </a:xfrm>
          <a:prstGeom prst="line">
            <a:avLst/>
          </a:prstGeom>
          <a:noFill/>
          <a:ln w="47625">
            <a:solidFill>
              <a:srgbClr val="1976D2"/>
            </a:solidFill>
            <a:prstDash val="solid"/>
          </a:ln>
        </p:spPr>
        <p:txBody>
          <a:bodyPr/>
          <a:lstStyle/>
          <a:p>
            <a:endParaRPr lang="en-US" sz="2000"/>
          </a:p>
        </p:txBody>
      </p:sp>
      <p:sp>
        <p:nvSpPr>
          <p:cNvPr id="24" name="Text 7"/>
          <p:cNvSpPr/>
          <p:nvPr/>
        </p:nvSpPr>
        <p:spPr>
          <a:xfrm>
            <a:off x="684998" y="2738268"/>
            <a:ext cx="4930464" cy="360944"/>
          </a:xfrm>
          <a:prstGeom prst="rect">
            <a:avLst/>
          </a:prstGeom>
          <a:noFill/>
          <a:ln/>
        </p:spPr>
        <p:txBody>
          <a:bodyPr wrap="square" lIns="0" tIns="0" rIns="0" bIns="0" rtlCol="0" anchor="t"/>
          <a:lstStyle/>
          <a:p>
            <a:pPr>
              <a:lnSpc>
                <a:spcPts val="1820"/>
              </a:lnSpc>
              <a:spcAft>
                <a:spcPts val="600"/>
              </a:spcAft>
            </a:pPr>
            <a:r>
              <a:rPr lang="en-US" sz="2000" b="1" dirty="0">
                <a:solidFill>
                  <a:srgbClr val="1565C0"/>
                </a:solidFill>
                <a:latin typeface="Arial" pitchFamily="34" charset="0"/>
                <a:cs typeface="Arial" pitchFamily="34" charset="-120"/>
              </a:rPr>
              <a:t>Computed as follows:</a:t>
            </a:r>
            <a:endParaRPr lang="en-US" sz="2000" dirty="0"/>
          </a:p>
        </p:txBody>
      </p:sp>
      <p:sp>
        <p:nvSpPr>
          <p:cNvPr id="25" name="Text 10"/>
          <p:cNvSpPr/>
          <p:nvPr/>
        </p:nvSpPr>
        <p:spPr>
          <a:xfrm>
            <a:off x="5997980" y="2585868"/>
            <a:ext cx="5227896" cy="2444635"/>
          </a:xfrm>
          <a:prstGeom prst="roundRect">
            <a:avLst>
              <a:gd name="adj" fmla="val 1143"/>
            </a:avLst>
          </a:prstGeom>
          <a:solidFill>
            <a:srgbClr val="FFEBEE"/>
          </a:solidFill>
          <a:ln/>
        </p:spPr>
        <p:txBody>
          <a:bodyPr wrap="square" rtlCol="0" anchor="ctr"/>
          <a:lstStyle/>
          <a:p>
            <a:endParaRPr lang="en-US" sz="2000" dirty="0"/>
          </a:p>
        </p:txBody>
      </p:sp>
      <p:sp>
        <p:nvSpPr>
          <p:cNvPr id="26" name="Shape 11"/>
          <p:cNvSpPr/>
          <p:nvPr/>
        </p:nvSpPr>
        <p:spPr>
          <a:xfrm>
            <a:off x="6029728" y="2585868"/>
            <a:ext cx="0" cy="2444635"/>
          </a:xfrm>
          <a:prstGeom prst="line">
            <a:avLst/>
          </a:prstGeom>
          <a:noFill/>
          <a:ln w="47625">
            <a:solidFill>
              <a:srgbClr val="C62828"/>
            </a:solidFill>
            <a:prstDash val="solid"/>
          </a:ln>
        </p:spPr>
        <p:txBody>
          <a:bodyPr/>
          <a:lstStyle/>
          <a:p>
            <a:endParaRPr lang="en-US" sz="2000"/>
          </a:p>
        </p:txBody>
      </p:sp>
      <p:sp>
        <p:nvSpPr>
          <p:cNvPr id="27" name="Text 12"/>
          <p:cNvSpPr/>
          <p:nvPr/>
        </p:nvSpPr>
        <p:spPr>
          <a:xfrm>
            <a:off x="6239279" y="2738267"/>
            <a:ext cx="4930464" cy="322254"/>
          </a:xfrm>
          <a:prstGeom prst="rect">
            <a:avLst/>
          </a:prstGeom>
          <a:noFill/>
          <a:ln/>
        </p:spPr>
        <p:txBody>
          <a:bodyPr wrap="square" lIns="0" tIns="0" rIns="0" bIns="0" rtlCol="0" anchor="t"/>
          <a:lstStyle/>
          <a:p>
            <a:pPr>
              <a:lnSpc>
                <a:spcPts val="1820"/>
              </a:lnSpc>
              <a:spcAft>
                <a:spcPts val="600"/>
              </a:spcAft>
            </a:pPr>
            <a:r>
              <a:rPr lang="en-US" sz="2000" b="1" dirty="0">
                <a:solidFill>
                  <a:srgbClr val="B71C1C"/>
                </a:solidFill>
                <a:latin typeface="Arial" pitchFamily="34" charset="0"/>
                <a:ea typeface="Arial" pitchFamily="34" charset="-122"/>
                <a:cs typeface="Arial" pitchFamily="34" charset="-120"/>
              </a:rPr>
              <a:t>A Quick worked example:</a:t>
            </a:r>
            <a:endParaRPr lang="en-US" sz="2000" dirty="0"/>
          </a:p>
        </p:txBody>
      </p:sp>
      <p:sp>
        <p:nvSpPr>
          <p:cNvPr id="28" name="Text 13"/>
          <p:cNvSpPr/>
          <p:nvPr/>
        </p:nvSpPr>
        <p:spPr>
          <a:xfrm>
            <a:off x="6239279" y="3045449"/>
            <a:ext cx="4736526" cy="664766"/>
          </a:xfrm>
          <a:prstGeom prst="rect">
            <a:avLst/>
          </a:prstGeom>
          <a:noFill/>
          <a:ln/>
        </p:spPr>
        <p:txBody>
          <a:bodyPr wrap="square" lIns="0" tIns="0" rIns="0" bIns="0" rtlCol="0" anchor="t"/>
          <a:lstStyle/>
          <a:p>
            <a:pPr marL="285750" lvl="0" indent="-285750">
              <a:buFont typeface="Arial" panose="020B0604020202020204" pitchFamily="34" charset="0"/>
              <a:buChar char="•"/>
            </a:pPr>
            <a:r>
              <a:rPr lang="en-US" sz="2000" dirty="0"/>
              <a:t>Company A earns EPS of $4.00 and trades at $60.00 per share:</a:t>
            </a:r>
          </a:p>
        </p:txBody>
      </p:sp>
      <p:sp>
        <p:nvSpPr>
          <p:cNvPr id="29" name="Text 14"/>
          <p:cNvSpPr/>
          <p:nvPr/>
        </p:nvSpPr>
        <p:spPr>
          <a:xfrm>
            <a:off x="6239279" y="3710214"/>
            <a:ext cx="4930464" cy="103730"/>
          </a:xfrm>
          <a:prstGeom prst="rect">
            <a:avLst/>
          </a:prstGeom>
          <a:noFill/>
          <a:ln/>
        </p:spPr>
        <p:txBody>
          <a:bodyPr wrap="square" lIns="0" tIns="0" rIns="0" bIns="0" rtlCol="0" anchor="t"/>
          <a:lstStyle/>
          <a:p>
            <a:pPr>
              <a:lnSpc>
                <a:spcPts val="1485"/>
              </a:lnSpc>
              <a:spcAft>
                <a:spcPts val="600"/>
              </a:spcAft>
            </a:pPr>
            <a:endParaRPr lang="en-US" sz="2000" dirty="0"/>
          </a:p>
        </p:txBody>
      </p:sp>
      <p:sp>
        <p:nvSpPr>
          <p:cNvPr id="30" name="Text 15"/>
          <p:cNvSpPr/>
          <p:nvPr/>
        </p:nvSpPr>
        <p:spPr>
          <a:xfrm>
            <a:off x="6478166" y="5187290"/>
            <a:ext cx="4773882" cy="880256"/>
          </a:xfrm>
          <a:prstGeom prst="rect">
            <a:avLst/>
          </a:prstGeom>
          <a:noFill/>
          <a:ln/>
        </p:spPr>
        <p:txBody>
          <a:bodyPr wrap="square" lIns="0" tIns="0" rIns="0" bIns="0" rtlCol="0" anchor="t"/>
          <a:lstStyle/>
          <a:p>
            <a:pPr>
              <a:lnSpc>
                <a:spcPts val="1300"/>
              </a:lnSpc>
            </a:pPr>
            <a:endParaRPr lang="en-US" sz="2000" dirty="0"/>
          </a:p>
        </p:txBody>
      </p:sp>
      <p:sp>
        <p:nvSpPr>
          <p:cNvPr id="31" name="Text 16"/>
          <p:cNvSpPr/>
          <p:nvPr/>
        </p:nvSpPr>
        <p:spPr>
          <a:xfrm>
            <a:off x="443697" y="5246359"/>
            <a:ext cx="10738501" cy="1351207"/>
          </a:xfrm>
          <a:prstGeom prst="roundRect">
            <a:avLst>
              <a:gd name="adj" fmla="val 2735"/>
            </a:avLst>
          </a:prstGeom>
          <a:solidFill>
            <a:srgbClr val="FFF3E0"/>
          </a:solidFill>
          <a:ln/>
        </p:spPr>
        <p:txBody>
          <a:bodyPr wrap="square" rtlCol="0" anchor="ctr"/>
          <a:lstStyle/>
          <a:p>
            <a:pPr>
              <a:lnSpc>
                <a:spcPts val="2000"/>
              </a:lnSpc>
            </a:pPr>
            <a:endParaRPr lang="en-US" sz="2000" dirty="0"/>
          </a:p>
        </p:txBody>
      </p:sp>
      <p:sp>
        <p:nvSpPr>
          <p:cNvPr id="32" name="Shape 17"/>
          <p:cNvSpPr/>
          <p:nvPr/>
        </p:nvSpPr>
        <p:spPr>
          <a:xfrm>
            <a:off x="475448" y="5246359"/>
            <a:ext cx="0" cy="1351207"/>
          </a:xfrm>
          <a:prstGeom prst="line">
            <a:avLst/>
          </a:prstGeom>
          <a:noFill/>
          <a:ln w="47625">
            <a:solidFill>
              <a:srgbClr val="FF9800"/>
            </a:solidFill>
            <a:prstDash val="solid"/>
          </a:ln>
        </p:spPr>
        <p:txBody>
          <a:bodyPr/>
          <a:lstStyle/>
          <a:p>
            <a:pPr>
              <a:lnSpc>
                <a:spcPts val="2000"/>
              </a:lnSpc>
            </a:pPr>
            <a:endParaRPr lang="en-US" sz="2000"/>
          </a:p>
        </p:txBody>
      </p:sp>
      <p:sp>
        <p:nvSpPr>
          <p:cNvPr id="33" name="Text 18"/>
          <p:cNvSpPr/>
          <p:nvPr/>
        </p:nvSpPr>
        <p:spPr>
          <a:xfrm>
            <a:off x="685000" y="5453443"/>
            <a:ext cx="10287652" cy="969073"/>
          </a:xfrm>
          <a:prstGeom prst="rect">
            <a:avLst/>
          </a:prstGeom>
          <a:noFill/>
          <a:ln/>
        </p:spPr>
        <p:txBody>
          <a:bodyPr wrap="square" lIns="0" tIns="0" rIns="0" bIns="0" rtlCol="0" anchor="t"/>
          <a:lstStyle/>
          <a:p>
            <a:pPr>
              <a:lnSpc>
                <a:spcPts val="2000"/>
              </a:lnSpc>
            </a:pPr>
            <a:r>
              <a:rPr lang="en-US" sz="2000" b="1" dirty="0">
                <a:solidFill>
                  <a:srgbClr val="E65100"/>
                </a:solidFill>
                <a:latin typeface="Arial" pitchFamily="34" charset="0"/>
                <a:ea typeface="Arial" pitchFamily="34" charset="-122"/>
                <a:cs typeface="Arial" pitchFamily="34" charset="-120"/>
              </a:rPr>
              <a:t>P/E ratio  is often used to value a share:</a:t>
            </a:r>
            <a:r>
              <a:rPr lang="en-US" sz="2000" dirty="0">
                <a:solidFill>
                  <a:srgbClr val="1D1D1D"/>
                </a:solidFill>
                <a:latin typeface="Arial" pitchFamily="34" charset="0"/>
                <a:ea typeface="Arial" pitchFamily="34" charset="-122"/>
                <a:cs typeface="Arial" pitchFamily="34" charset="-120"/>
              </a:rPr>
              <a:t> </a:t>
            </a:r>
          </a:p>
          <a:p>
            <a:pPr marL="342900" indent="-342900">
              <a:lnSpc>
                <a:spcPts val="2000"/>
              </a:lnSpc>
              <a:buFont typeface="Arial" panose="020B0604020202020204" pitchFamily="34" charset="0"/>
              <a:buChar char="•"/>
            </a:pPr>
            <a:endParaRPr lang="en-US" sz="2000" dirty="0"/>
          </a:p>
          <a:p>
            <a:pPr marL="342900" indent="-342900">
              <a:lnSpc>
                <a:spcPts val="2000"/>
              </a:lnSpc>
              <a:buFont typeface="Arial" panose="020B0604020202020204" pitchFamily="34" charset="0"/>
              <a:buChar char="•"/>
            </a:pPr>
            <a:r>
              <a:rPr lang="en-US" sz="2000" dirty="0"/>
              <a:t>If comparable firms trade at 18× and Company A is expected to earn $4.50 next year, a quick comp-based value is 18 × $4.50 = </a:t>
            </a:r>
            <a:r>
              <a:rPr lang="en-US" sz="2000" b="1" dirty="0"/>
              <a:t>$81.00</a:t>
            </a:r>
            <a:r>
              <a:rPr lang="en-US" sz="2000" dirty="0"/>
              <a:t> per share.</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9FC2299-9F94-2F95-70F0-921F23633F3B}"/>
                  </a:ext>
                </a:extLst>
              </p:cNvPr>
              <p:cNvSpPr txBox="1"/>
              <p:nvPr/>
            </p:nvSpPr>
            <p:spPr>
              <a:xfrm>
                <a:off x="684999" y="3375751"/>
                <a:ext cx="3906242" cy="730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2000" b="0" i="0" smtClean="0"/>
                        <m:t>P</m:t>
                      </m:r>
                      <m:r>
                        <m:rPr>
                          <m:nor/>
                        </m:rPr>
                        <a:rPr lang="en-US" sz="2000" b="0" smtClean="0"/>
                        <m:t>/</m:t>
                      </m:r>
                      <m:r>
                        <m:rPr>
                          <m:nor/>
                        </m:rPr>
                        <a:rPr lang="en-US" sz="2000" b="0" smtClean="0"/>
                        <m:t>E</m:t>
                      </m:r>
                      <m:r>
                        <a:rPr lang="en-US" sz="2000" b="0" i="0">
                          <a:latin typeface="Cambria Math" panose="02040503050406030204" pitchFamily="18" charset="0"/>
                        </a:rPr>
                        <m:t>=</m:t>
                      </m:r>
                      <m:f>
                        <m:fPr>
                          <m:ctrlPr>
                            <a:rPr lang="en-US" sz="2000" b="0" i="1">
                              <a:latin typeface="Cambria Math" panose="02040503050406030204" pitchFamily="18" charset="0"/>
                            </a:rPr>
                          </m:ctrlPr>
                        </m:fPr>
                        <m:num>
                          <m:r>
                            <m:rPr>
                              <m:nor/>
                            </m:rPr>
                            <a:rPr lang="en-US" sz="2000" b="0" i="1">
                              <a:latin typeface="Cambria Math" panose="02040503050406030204" pitchFamily="18" charset="0"/>
                            </a:rPr>
                            <m:t>Market</m:t>
                          </m:r>
                          <m:r>
                            <m:rPr>
                              <m:nor/>
                            </m:rPr>
                            <a:rPr lang="en-US" sz="2000" b="0" i="1">
                              <a:latin typeface="Cambria Math" panose="02040503050406030204" pitchFamily="18" charset="0"/>
                            </a:rPr>
                            <m:t> </m:t>
                          </m:r>
                          <m:r>
                            <m:rPr>
                              <m:nor/>
                            </m:rPr>
                            <a:rPr lang="en-US" sz="2000" b="0" i="1">
                              <a:latin typeface="Cambria Math" panose="02040503050406030204" pitchFamily="18" charset="0"/>
                            </a:rPr>
                            <m:t>Price</m:t>
                          </m:r>
                          <m:r>
                            <m:rPr>
                              <m:nor/>
                            </m:rPr>
                            <a:rPr lang="en-US" sz="2000" b="0" i="1">
                              <a:latin typeface="Cambria Math" panose="02040503050406030204" pitchFamily="18" charset="0"/>
                            </a:rPr>
                            <m:t> </m:t>
                          </m:r>
                          <m:r>
                            <m:rPr>
                              <m:nor/>
                            </m:rPr>
                            <a:rPr lang="en-US" sz="2000" b="0" i="1">
                              <a:latin typeface="Cambria Math" panose="02040503050406030204" pitchFamily="18" charset="0"/>
                            </a:rPr>
                            <m:t>per</m:t>
                          </m:r>
                          <m:r>
                            <m:rPr>
                              <m:nor/>
                            </m:rPr>
                            <a:rPr lang="en-US" sz="2000" b="0" i="1">
                              <a:latin typeface="Cambria Math" panose="02040503050406030204" pitchFamily="18" charset="0"/>
                            </a:rPr>
                            <m:t> </m:t>
                          </m:r>
                          <m:r>
                            <m:rPr>
                              <m:nor/>
                            </m:rPr>
                            <a:rPr lang="en-US" sz="2000" b="0" i="1">
                              <a:latin typeface="Cambria Math" panose="02040503050406030204" pitchFamily="18" charset="0"/>
                            </a:rPr>
                            <m:t>Share</m:t>
                          </m:r>
                        </m:num>
                        <m:den>
                          <m:r>
                            <m:rPr>
                              <m:nor/>
                            </m:rPr>
                            <a:rPr lang="en-US" sz="2000" b="0" i="1">
                              <a:latin typeface="Cambria Math" panose="02040503050406030204" pitchFamily="18" charset="0"/>
                            </a:rPr>
                            <m:t>Earnings</m:t>
                          </m:r>
                          <m:r>
                            <m:rPr>
                              <m:nor/>
                            </m:rPr>
                            <a:rPr lang="en-US" sz="2000" b="0" i="1">
                              <a:latin typeface="Cambria Math" panose="02040503050406030204" pitchFamily="18" charset="0"/>
                            </a:rPr>
                            <m:t> </m:t>
                          </m:r>
                          <m:r>
                            <m:rPr>
                              <m:nor/>
                            </m:rPr>
                            <a:rPr lang="en-US" sz="2000" b="0" i="1">
                              <a:latin typeface="Cambria Math" panose="02040503050406030204" pitchFamily="18" charset="0"/>
                            </a:rPr>
                            <m:t>per</m:t>
                          </m:r>
                          <m:r>
                            <m:rPr>
                              <m:nor/>
                            </m:rPr>
                            <a:rPr lang="en-US" sz="2000" b="0" i="1">
                              <a:latin typeface="Cambria Math" panose="02040503050406030204" pitchFamily="18" charset="0"/>
                            </a:rPr>
                            <m:t> </m:t>
                          </m:r>
                          <m:r>
                            <m:rPr>
                              <m:nor/>
                            </m:rPr>
                            <a:rPr lang="en-US" sz="2000" b="0" i="1">
                              <a:latin typeface="Cambria Math" panose="02040503050406030204" pitchFamily="18" charset="0"/>
                            </a:rPr>
                            <m:t>Share</m:t>
                          </m:r>
                          <m:r>
                            <m:rPr>
                              <m:nor/>
                            </m:rPr>
                            <a:rPr lang="en-US" sz="2000" b="0" i="1">
                              <a:latin typeface="Cambria Math" panose="02040503050406030204" pitchFamily="18" charset="0"/>
                            </a:rPr>
                            <m:t> </m:t>
                          </m:r>
                          <m:d>
                            <m:dPr>
                              <m:ctrlPr>
                                <a:rPr lang="en-US" sz="2000" b="0" i="1">
                                  <a:latin typeface="Cambria Math" panose="02040503050406030204" pitchFamily="18" charset="0"/>
                                </a:rPr>
                              </m:ctrlPr>
                            </m:dPr>
                            <m:e>
                              <m:r>
                                <m:rPr>
                                  <m:nor/>
                                </m:rPr>
                                <a:rPr lang="en-US" sz="2000" b="0" i="1">
                                  <a:latin typeface="Cambria Math" panose="02040503050406030204" pitchFamily="18" charset="0"/>
                                </a:rPr>
                                <m:t>EPS</m:t>
                              </m:r>
                            </m:e>
                          </m:d>
                        </m:den>
                      </m:f>
                    </m:oMath>
                  </m:oMathPara>
                </a14:m>
                <a:endParaRPr lang="en-US" sz="2000" dirty="0"/>
              </a:p>
            </p:txBody>
          </p:sp>
        </mc:Choice>
        <mc:Fallback xmlns="">
          <p:sp>
            <p:nvSpPr>
              <p:cNvPr id="34" name="TextBox 33">
                <a:extLst>
                  <a:ext uri="{FF2B5EF4-FFF2-40B4-BE49-F238E27FC236}">
                    <a16:creationId xmlns:a16="http://schemas.microsoft.com/office/drawing/2014/main" id="{59FC2299-9F94-2F95-70F0-921F23633F3B}"/>
                  </a:ext>
                </a:extLst>
              </p:cNvPr>
              <p:cNvSpPr txBox="1">
                <a:spLocks noRot="1" noChangeAspect="1" noMove="1" noResize="1" noEditPoints="1" noAdjustHandles="1" noChangeArrowheads="1" noChangeShapeType="1" noTextEdit="1"/>
              </p:cNvSpPr>
              <p:nvPr/>
            </p:nvSpPr>
            <p:spPr>
              <a:xfrm>
                <a:off x="684999" y="3375751"/>
                <a:ext cx="3906242" cy="730777"/>
              </a:xfrm>
              <a:prstGeom prst="rect">
                <a:avLst/>
              </a:prstGeom>
              <a:blipFill>
                <a:blip r:embed="rId3"/>
                <a:stretch>
                  <a:fillRect/>
                </a:stretch>
              </a:blipFill>
            </p:spPr>
            <p:txBody>
              <a:bodyPr/>
              <a:lstStyle/>
              <a:p>
                <a:r>
                  <a:rPr lang="en-US">
                    <a:noFill/>
                  </a:rPr>
                  <a:t> </a:t>
                </a:r>
              </a:p>
            </p:txBody>
          </p:sp>
        </mc:Fallback>
      </mc:AlternateContent>
      <p:graphicFrame>
        <p:nvGraphicFramePr>
          <p:cNvPr id="35" name="Table 34">
            <a:extLst>
              <a:ext uri="{FF2B5EF4-FFF2-40B4-BE49-F238E27FC236}">
                <a16:creationId xmlns:a16="http://schemas.microsoft.com/office/drawing/2014/main" id="{7DF8B79C-0196-A9FE-C246-B2C68856166D}"/>
              </a:ext>
            </a:extLst>
          </p:cNvPr>
          <p:cNvGraphicFramePr>
            <a:graphicFrameLocks noGrp="1"/>
          </p:cNvGraphicFramePr>
          <p:nvPr>
            <p:extLst>
              <p:ext uri="{D42A27DB-BD31-4B8C-83A1-F6EECF244321}">
                <p14:modId xmlns:p14="http://schemas.microsoft.com/office/powerpoint/2010/main" val="1001968073"/>
              </p:ext>
            </p:extLst>
          </p:nvPr>
        </p:nvGraphicFramePr>
        <p:xfrm>
          <a:off x="6486695" y="3775119"/>
          <a:ext cx="4485956" cy="1097280"/>
        </p:xfrm>
        <a:graphic>
          <a:graphicData uri="http://schemas.openxmlformats.org/drawingml/2006/table">
            <a:tbl>
              <a:tblPr firstRow="1" bandRow="1">
                <a:tableStyleId>{C083E6E3-FA7D-4D7B-A595-EF9225AFEA82}</a:tableStyleId>
              </a:tblPr>
              <a:tblGrid>
                <a:gridCol w="3270845">
                  <a:extLst>
                    <a:ext uri="{9D8B030D-6E8A-4147-A177-3AD203B41FA5}">
                      <a16:colId xmlns:a16="http://schemas.microsoft.com/office/drawing/2014/main" val="721522990"/>
                    </a:ext>
                  </a:extLst>
                </a:gridCol>
                <a:gridCol w="1215111">
                  <a:extLst>
                    <a:ext uri="{9D8B030D-6E8A-4147-A177-3AD203B41FA5}">
                      <a16:colId xmlns:a16="http://schemas.microsoft.com/office/drawing/2014/main" val="736482805"/>
                    </a:ext>
                  </a:extLst>
                </a:gridCol>
              </a:tblGrid>
              <a:tr h="298233">
                <a:tc>
                  <a:txBody>
                    <a:bodyPr/>
                    <a:lstStyle/>
                    <a:p>
                      <a:r>
                        <a:rPr lang="en-US" b="0" dirty="0"/>
                        <a:t>Market price per share</a:t>
                      </a:r>
                    </a:p>
                  </a:txBody>
                  <a:tcPr/>
                </a:tc>
                <a:tc>
                  <a:txBody>
                    <a:bodyPr/>
                    <a:lstStyle/>
                    <a:p>
                      <a:pPr algn="r"/>
                      <a:r>
                        <a:rPr lang="en-US" b="0" dirty="0"/>
                        <a:t>$60.00</a:t>
                      </a:r>
                    </a:p>
                  </a:txBody>
                  <a:tcPr/>
                </a:tc>
                <a:extLst>
                  <a:ext uri="{0D108BD9-81ED-4DB2-BD59-A6C34878D82A}">
                    <a16:rowId xmlns:a16="http://schemas.microsoft.com/office/drawing/2014/main" val="701430789"/>
                  </a:ext>
                </a:extLst>
              </a:tr>
              <a:tr h="298233">
                <a:tc>
                  <a:txBody>
                    <a:bodyPr/>
                    <a:lstStyle/>
                    <a:p>
                      <a:r>
                        <a:rPr lang="en-US" b="0" dirty="0"/>
                        <a:t>Earnings per share (EPS)</a:t>
                      </a:r>
                    </a:p>
                  </a:txBody>
                  <a:tcPr/>
                </a:tc>
                <a:tc>
                  <a:txBody>
                    <a:bodyPr/>
                    <a:lstStyle/>
                    <a:p>
                      <a:pPr algn="r"/>
                      <a:r>
                        <a:rPr lang="en-US" b="0" dirty="0"/>
                        <a:t>$  4.00</a:t>
                      </a:r>
                    </a:p>
                  </a:txBody>
                  <a:tcPr/>
                </a:tc>
                <a:extLst>
                  <a:ext uri="{0D108BD9-81ED-4DB2-BD59-A6C34878D82A}">
                    <a16:rowId xmlns:a16="http://schemas.microsoft.com/office/drawing/2014/main" val="3818137240"/>
                  </a:ext>
                </a:extLst>
              </a:tr>
              <a:tr h="298233">
                <a:tc>
                  <a:txBody>
                    <a:bodyPr/>
                    <a:lstStyle/>
                    <a:p>
                      <a:r>
                        <a:rPr lang="en-US" b="1" dirty="0"/>
                        <a:t>P/E ratio</a:t>
                      </a:r>
                    </a:p>
                  </a:txBody>
                  <a:tcPr/>
                </a:tc>
                <a:tc>
                  <a:txBody>
                    <a:bodyPr/>
                    <a:lstStyle/>
                    <a:p>
                      <a:pPr algn="r"/>
                      <a:r>
                        <a:rPr lang="en-US" b="1" dirty="0"/>
                        <a:t>15.0x</a:t>
                      </a:r>
                    </a:p>
                  </a:txBody>
                  <a:tcPr/>
                </a:tc>
                <a:extLst>
                  <a:ext uri="{0D108BD9-81ED-4DB2-BD59-A6C34878D82A}">
                    <a16:rowId xmlns:a16="http://schemas.microsoft.com/office/drawing/2014/main" val="2481733678"/>
                  </a:ext>
                </a:extLst>
              </a:tr>
            </a:tbl>
          </a:graphicData>
        </a:graphic>
      </p:graphicFrame>
    </p:spTree>
    <p:extLst>
      <p:ext uri="{BB962C8B-B14F-4D97-AF65-F5344CB8AC3E}">
        <p14:creationId xmlns:p14="http://schemas.microsoft.com/office/powerpoint/2010/main" val="195426234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ppt_x"/>
                                          </p:val>
                                        </p:tav>
                                        <p:tav tm="100000">
                                          <p:val>
                                            <p:strVal val="#ppt_x"/>
                                          </p:val>
                                        </p:tav>
                                      </p:tavLst>
                                    </p:anim>
                                    <p:anim calcmode="lin" valueType="num">
                                      <p:cBhvr additive="base">
                                        <p:cTn id="1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fill="hold"/>
                                        <p:tgtEl>
                                          <p:spTgt spid="25"/>
                                        </p:tgtEl>
                                        <p:attrNameLst>
                                          <p:attrName>ppt_x</p:attrName>
                                        </p:attrNameLst>
                                      </p:cBhvr>
                                      <p:tavLst>
                                        <p:tav tm="0">
                                          <p:val>
                                            <p:strVal val="#ppt_x"/>
                                          </p:val>
                                        </p:tav>
                                        <p:tav tm="100000">
                                          <p:val>
                                            <p:strVal val="#ppt_x"/>
                                          </p:val>
                                        </p:tav>
                                      </p:tavLst>
                                    </p:anim>
                                    <p:anim calcmode="lin" valueType="num">
                                      <p:cBhvr additive="base">
                                        <p:cTn id="22" dur="500" fill="hold"/>
                                        <p:tgtEl>
                                          <p:spTgt spid="25"/>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 calcmode="lin" valueType="num">
                                      <p:cBhvr additive="base">
                                        <p:cTn id="29" dur="500" fill="hold"/>
                                        <p:tgtEl>
                                          <p:spTgt spid="27"/>
                                        </p:tgtEl>
                                        <p:attrNameLst>
                                          <p:attrName>ppt_x</p:attrName>
                                        </p:attrNameLst>
                                      </p:cBhvr>
                                      <p:tavLst>
                                        <p:tav tm="0">
                                          <p:val>
                                            <p:strVal val="#ppt_x"/>
                                          </p:val>
                                        </p:tav>
                                        <p:tav tm="100000">
                                          <p:val>
                                            <p:strVal val="#ppt_x"/>
                                          </p:val>
                                        </p:tav>
                                      </p:tavLst>
                                    </p:anim>
                                    <p:anim calcmode="lin" valueType="num">
                                      <p:cBhvr additive="base">
                                        <p:cTn id="30" dur="500" fill="hold"/>
                                        <p:tgtEl>
                                          <p:spTgt spid="27"/>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 calcmode="lin" valueType="num">
                                      <p:cBhvr additive="base">
                                        <p:cTn id="33" dur="500" fill="hold"/>
                                        <p:tgtEl>
                                          <p:spTgt spid="28"/>
                                        </p:tgtEl>
                                        <p:attrNameLst>
                                          <p:attrName>ppt_x</p:attrName>
                                        </p:attrNameLst>
                                      </p:cBhvr>
                                      <p:tavLst>
                                        <p:tav tm="0">
                                          <p:val>
                                            <p:strVal val="#ppt_x"/>
                                          </p:val>
                                        </p:tav>
                                        <p:tav tm="100000">
                                          <p:val>
                                            <p:strVal val="#ppt_x"/>
                                          </p:val>
                                        </p:tav>
                                      </p:tavLst>
                                    </p:anim>
                                    <p:anim calcmode="lin" valueType="num">
                                      <p:cBhvr additive="base">
                                        <p:cTn id="34" dur="500" fill="hold"/>
                                        <p:tgtEl>
                                          <p:spTgt spid="2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fill="hold"/>
                                        <p:tgtEl>
                                          <p:spTgt spid="29"/>
                                        </p:tgtEl>
                                        <p:attrNameLst>
                                          <p:attrName>ppt_x</p:attrName>
                                        </p:attrNameLst>
                                      </p:cBhvr>
                                      <p:tavLst>
                                        <p:tav tm="0">
                                          <p:val>
                                            <p:strVal val="#ppt_x"/>
                                          </p:val>
                                        </p:tav>
                                        <p:tav tm="100000">
                                          <p:val>
                                            <p:strVal val="#ppt_x"/>
                                          </p:val>
                                        </p:tav>
                                      </p:tavLst>
                                    </p:anim>
                                    <p:anim calcmode="lin" valueType="num">
                                      <p:cBhvr additive="base">
                                        <p:cTn id="3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4" grpId="0" animBg="1"/>
      <p:bldP spid="25" grpId="0" animBg="1"/>
      <p:bldP spid="26" grpId="0" animBg="1"/>
      <p:bldP spid="27" grpId="0" animBg="1"/>
      <p:bldP spid="28" grpId="0" animBg="1"/>
      <p:bldP spid="29" grpId="0" animBg="1"/>
      <p:bldP spid="31" grpId="0" animBg="1"/>
      <p:bldP spid="32" grpId="0" animBg="1"/>
      <p:bldP spid="3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6E4E2-8A05-6788-49EC-386FAA62A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75A1CB-BD5A-FD80-DFD5-1848B5767C34}"/>
              </a:ext>
            </a:extLst>
          </p:cNvPr>
          <p:cNvSpPr>
            <a:spLocks noGrp="1"/>
          </p:cNvSpPr>
          <p:nvPr>
            <p:ph type="title"/>
          </p:nvPr>
        </p:nvSpPr>
        <p:spPr/>
        <p:txBody>
          <a:bodyPr>
            <a:normAutofit/>
          </a:bodyPr>
          <a:lstStyle/>
          <a:p>
            <a:r>
              <a:rPr lang="en-US" dirty="0">
                <a:latin typeface="+mn-lt"/>
              </a:rPr>
              <a:t>What Drives the P/E?</a:t>
            </a:r>
          </a:p>
        </p:txBody>
      </p:sp>
      <p:sp>
        <p:nvSpPr>
          <p:cNvPr id="8" name="Text 26">
            <a:extLst>
              <a:ext uri="{FF2B5EF4-FFF2-40B4-BE49-F238E27FC236}">
                <a16:creationId xmlns:a16="http://schemas.microsoft.com/office/drawing/2014/main" id="{C266018C-52B6-FFB9-3EAF-E575FCBC3F4B}"/>
              </a:ext>
            </a:extLst>
          </p:cNvPr>
          <p:cNvSpPr/>
          <p:nvPr/>
        </p:nvSpPr>
        <p:spPr>
          <a:xfrm>
            <a:off x="901703" y="2730294"/>
            <a:ext cx="9983467" cy="1295003"/>
          </a:xfrm>
          <a:prstGeom prst="roundRect">
            <a:avLst>
              <a:gd name="adj" fmla="val 0"/>
            </a:avLst>
          </a:prstGeom>
          <a:solidFill>
            <a:srgbClr val="FEF2F2"/>
          </a:solidFill>
          <a:ln w="9525">
            <a:solidFill>
              <a:srgbClr val="EF4444"/>
            </a:solidFill>
          </a:ln>
        </p:spPr>
        <p:txBody>
          <a:bodyPr wrap="square" rtlCol="0" anchor="ctr"/>
          <a:lstStyle/>
          <a:p>
            <a:endParaRPr lang="en-US" sz="2400" dirty="0">
              <a:latin typeface="Arial" panose="020B0604020202020204" pitchFamily="34" charset="0"/>
              <a:cs typeface="Arial" panose="020B0604020202020204" pitchFamily="34" charset="0"/>
            </a:endParaRPr>
          </a:p>
        </p:txBody>
      </p:sp>
      <p:sp>
        <p:nvSpPr>
          <p:cNvPr id="14" name="Text 12">
            <a:extLst>
              <a:ext uri="{FF2B5EF4-FFF2-40B4-BE49-F238E27FC236}">
                <a16:creationId xmlns:a16="http://schemas.microsoft.com/office/drawing/2014/main" id="{0E23DA75-92A2-9678-D838-FB3AEE52EBE8}"/>
              </a:ext>
            </a:extLst>
          </p:cNvPr>
          <p:cNvSpPr/>
          <p:nvPr/>
        </p:nvSpPr>
        <p:spPr>
          <a:xfrm>
            <a:off x="899985" y="1472135"/>
            <a:ext cx="9983467" cy="1053128"/>
          </a:xfrm>
          <a:prstGeom prst="roundRect">
            <a:avLst>
              <a:gd name="adj" fmla="val 107"/>
            </a:avLst>
          </a:prstGeom>
          <a:solidFill>
            <a:srgbClr val="EFF6FF"/>
          </a:solidFill>
          <a:ln>
            <a:solidFill>
              <a:srgbClr val="3B82F6"/>
            </a:solidFill>
          </a:ln>
        </p:spPr>
        <p:txBody>
          <a:bodyPr wrap="square" rtlCol="0" anchor="ctr"/>
          <a:lstStyle/>
          <a:p>
            <a:endParaRPr lang="en-US" sz="2400" dirty="0"/>
          </a:p>
        </p:txBody>
      </p:sp>
      <p:sp>
        <p:nvSpPr>
          <p:cNvPr id="22" name="Text 6">
            <a:extLst>
              <a:ext uri="{FF2B5EF4-FFF2-40B4-BE49-F238E27FC236}">
                <a16:creationId xmlns:a16="http://schemas.microsoft.com/office/drawing/2014/main" id="{577A0BD1-B8EF-53D7-211E-57AFB3367F93}"/>
              </a:ext>
            </a:extLst>
          </p:cNvPr>
          <p:cNvSpPr/>
          <p:nvPr/>
        </p:nvSpPr>
        <p:spPr>
          <a:xfrm>
            <a:off x="1144714" y="1659557"/>
            <a:ext cx="9586002" cy="682029"/>
          </a:xfrm>
          <a:prstGeom prst="rect">
            <a:avLst/>
          </a:prstGeom>
          <a:noFill/>
          <a:ln/>
        </p:spPr>
        <p:txBody>
          <a:bodyPr wrap="square" lIns="0" tIns="0" rIns="0" bIns="0" rtlCol="0" anchor="t"/>
          <a:lstStyle/>
          <a:p>
            <a:r>
              <a:rPr lang="en-US" sz="2000" b="1" dirty="0">
                <a:solidFill>
                  <a:srgbClr val="1E40AF"/>
                </a:solidFill>
                <a:latin typeface="Arial" pitchFamily="34" charset="0"/>
                <a:ea typeface="Arial" pitchFamily="34" charset="-122"/>
                <a:cs typeface="Arial" pitchFamily="34" charset="-120"/>
              </a:rPr>
              <a:t>Growth</a:t>
            </a:r>
            <a:endParaRPr lang="en-US" sz="2000" dirty="0"/>
          </a:p>
          <a:p>
            <a:pPr marL="342900" indent="-342900">
              <a:buFont typeface="Arial" panose="020B0604020202020204" pitchFamily="34" charset="0"/>
              <a:buChar char="•"/>
            </a:pPr>
            <a:r>
              <a:rPr lang="en-US" sz="2000" dirty="0"/>
              <a:t>faster expected earnings growth → higher P/E.</a:t>
            </a:r>
            <a:endParaRPr lang="en-US" sz="2000" dirty="0">
              <a:latin typeface="Arial" panose="020B0604020202020204" pitchFamily="34" charset="0"/>
              <a:cs typeface="Arial" panose="020B0604020202020204" pitchFamily="34" charset="0"/>
            </a:endParaRPr>
          </a:p>
        </p:txBody>
      </p:sp>
      <p:sp>
        <p:nvSpPr>
          <p:cNvPr id="24" name="Text 6">
            <a:extLst>
              <a:ext uri="{FF2B5EF4-FFF2-40B4-BE49-F238E27FC236}">
                <a16:creationId xmlns:a16="http://schemas.microsoft.com/office/drawing/2014/main" id="{D34E6BC8-0D62-A215-01CE-7AE8AF49E9AC}"/>
              </a:ext>
            </a:extLst>
          </p:cNvPr>
          <p:cNvSpPr/>
          <p:nvPr/>
        </p:nvSpPr>
        <p:spPr>
          <a:xfrm>
            <a:off x="1142996" y="2900667"/>
            <a:ext cx="9586003" cy="953225"/>
          </a:xfrm>
          <a:prstGeom prst="rect">
            <a:avLst/>
          </a:prstGeom>
          <a:noFill/>
          <a:ln/>
        </p:spPr>
        <p:txBody>
          <a:bodyPr wrap="square" lIns="0" tIns="0" rIns="0" bIns="0" rtlCol="0" anchor="t"/>
          <a:lstStyle/>
          <a:p>
            <a:r>
              <a:rPr lang="en-US" sz="2000" b="1" dirty="0">
                <a:solidFill>
                  <a:srgbClr val="B71C1C"/>
                </a:solidFill>
                <a:latin typeface="Arial" panose="020B0604020202020204" pitchFamily="34" charset="0"/>
                <a:ea typeface="Arial" pitchFamily="34" charset="-122"/>
                <a:cs typeface="Arial" panose="020B0604020202020204" pitchFamily="34" charset="0"/>
              </a:rPr>
              <a:t>Risk</a:t>
            </a:r>
            <a:endParaRPr lang="en-US" sz="2000" dirty="0"/>
          </a:p>
          <a:p>
            <a:pPr marL="342900" lvl="0" indent="-342900">
              <a:buFont typeface="Arial" panose="020B0604020202020204" pitchFamily="34" charset="0"/>
              <a:buChar char="•"/>
            </a:pPr>
            <a:r>
              <a:rPr lang="en-US" sz="2000" dirty="0"/>
              <a:t>higher risk (a higher discount rate) → lower P/E</a:t>
            </a:r>
            <a:r>
              <a:rPr lang="en-US" dirty="0"/>
              <a:t>.</a:t>
            </a:r>
            <a:endParaRPr lang="en-US" dirty="0">
              <a:latin typeface="Arial" panose="020B0604020202020204" pitchFamily="34" charset="0"/>
              <a:cs typeface="Arial" panose="020B0604020202020204" pitchFamily="34" charset="0"/>
            </a:endParaRPr>
          </a:p>
        </p:txBody>
      </p:sp>
      <p:sp>
        <p:nvSpPr>
          <p:cNvPr id="29" name="Text 26">
            <a:extLst>
              <a:ext uri="{FF2B5EF4-FFF2-40B4-BE49-F238E27FC236}">
                <a16:creationId xmlns:a16="http://schemas.microsoft.com/office/drawing/2014/main" id="{E6F455D5-61F1-440B-BD15-763D1998D693}"/>
              </a:ext>
            </a:extLst>
          </p:cNvPr>
          <p:cNvSpPr/>
          <p:nvPr/>
        </p:nvSpPr>
        <p:spPr>
          <a:xfrm>
            <a:off x="887730" y="4220882"/>
            <a:ext cx="9998086" cy="1066721"/>
          </a:xfrm>
          <a:prstGeom prst="roundRect">
            <a:avLst>
              <a:gd name="adj" fmla="val 0"/>
            </a:avLst>
          </a:prstGeom>
          <a:solidFill>
            <a:schemeClr val="accent6">
              <a:lumMod val="20000"/>
              <a:lumOff val="80000"/>
            </a:schemeClr>
          </a:solidFill>
          <a:ln w="9525">
            <a:solidFill>
              <a:srgbClr val="854D0E"/>
            </a:solidFill>
          </a:ln>
        </p:spPr>
        <p:txBody>
          <a:bodyPr wrap="square" rtlCol="0" anchor="ctr"/>
          <a:lstStyle/>
          <a:p>
            <a:endParaRPr lang="en-US" sz="2400" dirty="0"/>
          </a:p>
        </p:txBody>
      </p:sp>
      <p:sp>
        <p:nvSpPr>
          <p:cNvPr id="30" name="Text 13">
            <a:extLst>
              <a:ext uri="{FF2B5EF4-FFF2-40B4-BE49-F238E27FC236}">
                <a16:creationId xmlns:a16="http://schemas.microsoft.com/office/drawing/2014/main" id="{EA5A9333-BB93-54E6-1F83-5478BF5BF227}"/>
              </a:ext>
            </a:extLst>
          </p:cNvPr>
          <p:cNvSpPr/>
          <p:nvPr/>
        </p:nvSpPr>
        <p:spPr>
          <a:xfrm>
            <a:off x="1145539" y="4404873"/>
            <a:ext cx="9433721" cy="739957"/>
          </a:xfrm>
          <a:prstGeom prst="rect">
            <a:avLst/>
          </a:prstGeom>
          <a:noFill/>
          <a:ln/>
        </p:spPr>
        <p:txBody>
          <a:bodyPr wrap="square" lIns="0" tIns="0" rIns="0" bIns="0" rtlCol="0" anchor="t"/>
          <a:lstStyle/>
          <a:p>
            <a:pPr>
              <a:lnSpc>
                <a:spcPts val="2100"/>
              </a:lnSpc>
              <a:spcAft>
                <a:spcPts val="800"/>
              </a:spcAft>
            </a:pPr>
            <a:r>
              <a:rPr lang="en-US" sz="2000" b="1" dirty="0">
                <a:solidFill>
                  <a:srgbClr val="854D0E"/>
                </a:solidFill>
                <a:latin typeface="Arial" pitchFamily="34" charset="0"/>
                <a:ea typeface="Arial" pitchFamily="34" charset="-122"/>
                <a:cs typeface="Arial" pitchFamily="34" charset="-120"/>
              </a:rPr>
              <a:t>Earnings Quality</a:t>
            </a:r>
          </a:p>
          <a:p>
            <a:pPr marL="285750" indent="-285750">
              <a:lnSpc>
                <a:spcPts val="2100"/>
              </a:lnSpc>
              <a:spcAft>
                <a:spcPts val="800"/>
              </a:spcAft>
              <a:buFont typeface="Arial" panose="020B0604020202020204" pitchFamily="34" charset="0"/>
              <a:buChar char="•"/>
            </a:pPr>
            <a:r>
              <a:rPr lang="en-US" dirty="0"/>
              <a:t>more durable, cash-backed earnings → higher P/E</a:t>
            </a:r>
            <a:endParaRPr lang="en-US" sz="1500" dirty="0"/>
          </a:p>
        </p:txBody>
      </p:sp>
    </p:spTree>
    <p:extLst>
      <p:ext uri="{BB962C8B-B14F-4D97-AF65-F5344CB8AC3E}">
        <p14:creationId xmlns:p14="http://schemas.microsoft.com/office/powerpoint/2010/main" val="83002820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fill="hold"/>
                                        <p:tgtEl>
                                          <p:spTgt spid="29"/>
                                        </p:tgtEl>
                                        <p:attrNameLst>
                                          <p:attrName>ppt_x</p:attrName>
                                        </p:attrNameLst>
                                      </p:cBhvr>
                                      <p:tavLst>
                                        <p:tav tm="0">
                                          <p:val>
                                            <p:strVal val="#ppt_x"/>
                                          </p:val>
                                        </p:tav>
                                        <p:tav tm="100000">
                                          <p:val>
                                            <p:strVal val="#ppt_x"/>
                                          </p:val>
                                        </p:tav>
                                      </p:tavLst>
                                    </p:anim>
                                    <p:anim calcmode="lin" valueType="num">
                                      <p:cBhvr additive="base">
                                        <p:cTn id="28" dur="500" fill="hold"/>
                                        <p:tgtEl>
                                          <p:spTgt spid="2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fill="hold"/>
                                        <p:tgtEl>
                                          <p:spTgt spid="30"/>
                                        </p:tgtEl>
                                        <p:attrNameLst>
                                          <p:attrName>ppt_x</p:attrName>
                                        </p:attrNameLst>
                                      </p:cBhvr>
                                      <p:tavLst>
                                        <p:tav tm="0">
                                          <p:val>
                                            <p:strVal val="#ppt_x"/>
                                          </p:val>
                                        </p:tav>
                                        <p:tav tm="100000">
                                          <p:val>
                                            <p:strVal val="#ppt_x"/>
                                          </p:val>
                                        </p:tav>
                                      </p:tavLst>
                                    </p:anim>
                                    <p:anim calcmode="lin" valueType="num">
                                      <p:cBhvr additive="base">
                                        <p:cTn id="3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2" grpId="0" animBg="1"/>
      <p:bldP spid="24" grpId="0" animBg="1"/>
      <p:bldP spid="29" grpId="0" animBg="1"/>
      <p:bldP spid="3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35DE3-214F-EA4E-526A-84814CAEC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6519C7-25EF-B5AA-BF53-07C4556DDAF3}"/>
              </a:ext>
            </a:extLst>
          </p:cNvPr>
          <p:cNvSpPr>
            <a:spLocks noGrp="1"/>
          </p:cNvSpPr>
          <p:nvPr>
            <p:ph type="title"/>
          </p:nvPr>
        </p:nvSpPr>
        <p:spPr/>
        <p:txBody>
          <a:bodyPr>
            <a:normAutofit/>
          </a:bodyPr>
          <a:lstStyle/>
          <a:p>
            <a:r>
              <a:rPr lang="en-US" dirty="0">
                <a:latin typeface="+mn-lt"/>
              </a:rPr>
              <a:t>The Algebra Behind the Three Forces – Step 1 </a:t>
            </a:r>
          </a:p>
        </p:txBody>
      </p:sp>
      <p:sp>
        <p:nvSpPr>
          <p:cNvPr id="14" name="Text 12">
            <a:extLst>
              <a:ext uri="{FF2B5EF4-FFF2-40B4-BE49-F238E27FC236}">
                <a16:creationId xmlns:a16="http://schemas.microsoft.com/office/drawing/2014/main" id="{5B456B57-7F1E-C858-60E0-6C43C757730D}"/>
              </a:ext>
            </a:extLst>
          </p:cNvPr>
          <p:cNvSpPr/>
          <p:nvPr/>
        </p:nvSpPr>
        <p:spPr>
          <a:xfrm>
            <a:off x="912240" y="1330836"/>
            <a:ext cx="9983467" cy="1712676"/>
          </a:xfrm>
          <a:prstGeom prst="roundRect">
            <a:avLst>
              <a:gd name="adj" fmla="val 0"/>
            </a:avLst>
          </a:prstGeom>
          <a:solidFill>
            <a:srgbClr val="EFF6FF"/>
          </a:solidFill>
          <a:ln>
            <a:solidFill>
              <a:srgbClr val="3B82F6"/>
            </a:solidFill>
          </a:ln>
        </p:spPr>
        <p:txBody>
          <a:bodyPr wrap="square" rtlCol="0" anchor="ctr"/>
          <a:lstStyle/>
          <a:p>
            <a:endParaRPr lang="en-US" sz="2400" dirty="0"/>
          </a:p>
        </p:txBody>
      </p:sp>
      <p:sp>
        <p:nvSpPr>
          <p:cNvPr id="22" name="Text 6">
            <a:extLst>
              <a:ext uri="{FF2B5EF4-FFF2-40B4-BE49-F238E27FC236}">
                <a16:creationId xmlns:a16="http://schemas.microsoft.com/office/drawing/2014/main" id="{A5976285-1F1C-311E-FE1A-707EFC774A2F}"/>
              </a:ext>
            </a:extLst>
          </p:cNvPr>
          <p:cNvSpPr/>
          <p:nvPr/>
        </p:nvSpPr>
        <p:spPr>
          <a:xfrm>
            <a:off x="1144714" y="1511007"/>
            <a:ext cx="9586002" cy="1248490"/>
          </a:xfrm>
          <a:prstGeom prst="rect">
            <a:avLst/>
          </a:prstGeom>
          <a:noFill/>
          <a:ln/>
        </p:spPr>
        <p:txBody>
          <a:bodyPr wrap="square" lIns="0" tIns="0" rIns="0" bIns="0" rtlCol="0" anchor="t"/>
          <a:lstStyle/>
          <a:p>
            <a:r>
              <a:rPr lang="en-US" sz="2000" b="1" dirty="0">
                <a:solidFill>
                  <a:srgbClr val="1E40AF"/>
                </a:solidFill>
                <a:latin typeface="Arial" pitchFamily="34" charset="0"/>
                <a:cs typeface="Arial" pitchFamily="34" charset="-120"/>
              </a:rPr>
              <a:t>Step 1 – No Growth</a:t>
            </a:r>
            <a:endParaRPr lang="en-US" sz="2000" dirty="0"/>
          </a:p>
          <a:p>
            <a:pPr marL="342900" lvl="0" indent="-342900">
              <a:lnSpc>
                <a:spcPts val="3000"/>
              </a:lnSpc>
              <a:buFont typeface="Arial" panose="020B0604020202020204" pitchFamily="34" charset="0"/>
              <a:buChar char="•"/>
            </a:pPr>
            <a:r>
              <a:rPr lang="en-US" sz="2000" dirty="0">
                <a:latin typeface="Arial" panose="020B0604020202020204" pitchFamily="34" charset="0"/>
                <a:cs typeface="Arial" panose="020B0604020202020204" pitchFamily="34" charset="0"/>
              </a:rPr>
              <a:t>A firm that pays out all of its </a:t>
            </a:r>
            <a:r>
              <a:rPr lang="en-US" sz="2000" b="1" dirty="0">
                <a:latin typeface="Arial" panose="020B0604020202020204" pitchFamily="34" charset="0"/>
                <a:cs typeface="Arial" panose="020B0604020202020204" pitchFamily="34" charset="0"/>
              </a:rPr>
              <a:t>earnings (</a:t>
            </a:r>
            <a:r>
              <a:rPr lang="en-US" sz="2000" b="1" i="1" dirty="0">
                <a:latin typeface="Arial" panose="020B0604020202020204" pitchFamily="34" charset="0"/>
                <a:cs typeface="Arial" panose="020B0604020202020204" pitchFamily="34" charset="0"/>
              </a:rPr>
              <a:t>E</a:t>
            </a:r>
            <a:r>
              <a:rPr lang="en-US" sz="2000" b="1"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in perpetuity with no earnings growth.</a:t>
            </a:r>
          </a:p>
          <a:p>
            <a:endParaRPr lang="en-US" dirty="0"/>
          </a:p>
          <a:p>
            <a:pPr marL="285750" lvl="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97212CE-4C4D-E90E-ACCD-FBCF56E046DE}"/>
                  </a:ext>
                </a:extLst>
              </p:cNvPr>
              <p:cNvSpPr txBox="1"/>
              <p:nvPr/>
            </p:nvSpPr>
            <p:spPr>
              <a:xfrm>
                <a:off x="3515096" y="2240727"/>
                <a:ext cx="4667002" cy="6685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1" i="1" smtClean="0">
                          <a:solidFill>
                            <a:srgbClr val="1F4899"/>
                          </a:solidFill>
                          <a:latin typeface="Cambria Math" panose="02040503050406030204" pitchFamily="18" charset="0"/>
                        </a:rPr>
                        <m:t>𝑷</m:t>
                      </m:r>
                      <m:r>
                        <a:rPr lang="en-US" sz="2000" b="1" i="0">
                          <a:solidFill>
                            <a:srgbClr val="1F4899"/>
                          </a:solidFill>
                          <a:latin typeface="Cambria Math" panose="02040503050406030204" pitchFamily="18" charset="0"/>
                        </a:rPr>
                        <m:t>=</m:t>
                      </m:r>
                      <m:f>
                        <m:fPr>
                          <m:ctrlPr>
                            <a:rPr lang="en-US" sz="2000" b="1" i="1">
                              <a:solidFill>
                                <a:srgbClr val="1F4899"/>
                              </a:solidFill>
                              <a:latin typeface="Cambria Math" panose="02040503050406030204" pitchFamily="18" charset="0"/>
                            </a:rPr>
                          </m:ctrlPr>
                        </m:fPr>
                        <m:num>
                          <m:r>
                            <a:rPr lang="en-US" sz="2000" b="1" i="1">
                              <a:solidFill>
                                <a:srgbClr val="1F4899"/>
                              </a:solidFill>
                              <a:latin typeface="Cambria Math" panose="02040503050406030204" pitchFamily="18" charset="0"/>
                            </a:rPr>
                            <m:t>𝑬</m:t>
                          </m:r>
                        </m:num>
                        <m:den>
                          <m:r>
                            <a:rPr lang="en-US" sz="2000" b="1" i="1">
                              <a:solidFill>
                                <a:srgbClr val="1F4899"/>
                              </a:solidFill>
                              <a:latin typeface="Cambria Math" panose="02040503050406030204" pitchFamily="18" charset="0"/>
                            </a:rPr>
                            <m:t>𝒓</m:t>
                          </m:r>
                        </m:den>
                      </m:f>
                      <m:r>
                        <a:rPr lang="en-US" sz="2000" b="1" i="0">
                          <a:solidFill>
                            <a:srgbClr val="1F4899"/>
                          </a:solidFill>
                          <a:latin typeface="Cambria Math" panose="02040503050406030204" pitchFamily="18" charset="0"/>
                        </a:rPr>
                        <m:t>    </m:t>
                      </m:r>
                      <m:r>
                        <a:rPr lang="en-US" sz="2000" b="1" i="1">
                          <a:solidFill>
                            <a:srgbClr val="1F4899"/>
                          </a:solidFill>
                          <a:latin typeface="Cambria Math" panose="02040503050406030204" pitchFamily="18" charset="0"/>
                        </a:rPr>
                        <m:t>𝒔𝒐</m:t>
                      </m:r>
                      <m:r>
                        <a:rPr lang="en-US" sz="2000" b="1" i="0">
                          <a:solidFill>
                            <a:srgbClr val="1F4899"/>
                          </a:solidFill>
                          <a:latin typeface="Cambria Math" panose="02040503050406030204" pitchFamily="18" charset="0"/>
                        </a:rPr>
                        <m:t>  </m:t>
                      </m:r>
                      <m:r>
                        <m:rPr>
                          <m:nor/>
                        </m:rPr>
                        <a:rPr lang="en-US" sz="2000" b="1" i="1">
                          <a:solidFill>
                            <a:srgbClr val="1F4899"/>
                          </a:solidFill>
                          <a:latin typeface="Cambria Math" panose="02040503050406030204" pitchFamily="18" charset="0"/>
                        </a:rPr>
                        <m:t>P</m:t>
                      </m:r>
                      <m:r>
                        <m:rPr>
                          <m:nor/>
                        </m:rPr>
                        <a:rPr lang="en-US" sz="2000" b="1" i="1">
                          <a:solidFill>
                            <a:srgbClr val="1F4899"/>
                          </a:solidFill>
                          <a:latin typeface="Cambria Math" panose="02040503050406030204" pitchFamily="18" charset="0"/>
                        </a:rPr>
                        <m:t>/</m:t>
                      </m:r>
                      <m:r>
                        <m:rPr>
                          <m:nor/>
                        </m:rPr>
                        <a:rPr lang="en-US" sz="2000" b="1" i="1">
                          <a:solidFill>
                            <a:srgbClr val="1F4899"/>
                          </a:solidFill>
                          <a:latin typeface="Cambria Math" panose="02040503050406030204" pitchFamily="18" charset="0"/>
                        </a:rPr>
                        <m:t>E</m:t>
                      </m:r>
                      <m:r>
                        <a:rPr lang="en-US" sz="2000" b="1" i="0">
                          <a:solidFill>
                            <a:srgbClr val="1F4899"/>
                          </a:solidFill>
                          <a:latin typeface="Cambria Math" panose="02040503050406030204" pitchFamily="18" charset="0"/>
                        </a:rPr>
                        <m:t>=</m:t>
                      </m:r>
                      <m:f>
                        <m:fPr>
                          <m:ctrlPr>
                            <a:rPr lang="en-US" sz="2000" b="1" i="1">
                              <a:solidFill>
                                <a:srgbClr val="1F4899"/>
                              </a:solidFill>
                              <a:latin typeface="Cambria Math" panose="02040503050406030204" pitchFamily="18" charset="0"/>
                            </a:rPr>
                          </m:ctrlPr>
                        </m:fPr>
                        <m:num>
                          <m:r>
                            <a:rPr lang="en-US" sz="2000" b="1" i="0">
                              <a:solidFill>
                                <a:srgbClr val="1F4899"/>
                              </a:solidFill>
                              <a:latin typeface="Cambria Math" panose="02040503050406030204" pitchFamily="18" charset="0"/>
                            </a:rPr>
                            <m:t>𝟏</m:t>
                          </m:r>
                        </m:num>
                        <m:den>
                          <m:r>
                            <a:rPr lang="en-US" sz="2000" b="1" i="1">
                              <a:solidFill>
                                <a:srgbClr val="1F4899"/>
                              </a:solidFill>
                              <a:latin typeface="Cambria Math" panose="02040503050406030204" pitchFamily="18" charset="0"/>
                            </a:rPr>
                            <m:t>𝒓</m:t>
                          </m:r>
                        </m:den>
                      </m:f>
                    </m:oMath>
                  </m:oMathPara>
                </a14:m>
                <a:endParaRPr lang="en-US" b="1" dirty="0"/>
              </a:p>
            </p:txBody>
          </p:sp>
        </mc:Choice>
        <mc:Fallback xmlns="">
          <p:sp>
            <p:nvSpPr>
              <p:cNvPr id="7" name="TextBox 6">
                <a:extLst>
                  <a:ext uri="{FF2B5EF4-FFF2-40B4-BE49-F238E27FC236}">
                    <a16:creationId xmlns:a16="http://schemas.microsoft.com/office/drawing/2014/main" id="{697212CE-4C4D-E90E-ACCD-FBCF56E046DE}"/>
                  </a:ext>
                </a:extLst>
              </p:cNvPr>
              <p:cNvSpPr txBox="1">
                <a:spLocks noRot="1" noChangeAspect="1" noMove="1" noResize="1" noEditPoints="1" noAdjustHandles="1" noChangeArrowheads="1" noChangeShapeType="1" noTextEdit="1"/>
              </p:cNvSpPr>
              <p:nvPr/>
            </p:nvSpPr>
            <p:spPr>
              <a:xfrm>
                <a:off x="3515096" y="2240727"/>
                <a:ext cx="4667002" cy="668516"/>
              </a:xfrm>
              <a:prstGeom prst="rect">
                <a:avLst/>
              </a:prstGeom>
              <a:blipFill>
                <a:blip r:embed="rId3"/>
                <a:stretch>
                  <a:fillRect/>
                </a:stretch>
              </a:blipFill>
            </p:spPr>
            <p:txBody>
              <a:bodyPr/>
              <a:lstStyle/>
              <a:p>
                <a:r>
                  <a:rPr lang="en-US">
                    <a:noFill/>
                  </a:rPr>
                  <a:t> </a:t>
                </a:r>
              </a:p>
            </p:txBody>
          </p:sp>
        </mc:Fallback>
      </mc:AlternateContent>
      <p:sp>
        <p:nvSpPr>
          <p:cNvPr id="11" name="Shape 10">
            <a:extLst>
              <a:ext uri="{FF2B5EF4-FFF2-40B4-BE49-F238E27FC236}">
                <a16:creationId xmlns:a16="http://schemas.microsoft.com/office/drawing/2014/main" id="{340D0206-1C1F-8098-64FE-536A0B3A2A99}"/>
              </a:ext>
            </a:extLst>
          </p:cNvPr>
          <p:cNvSpPr/>
          <p:nvPr/>
        </p:nvSpPr>
        <p:spPr>
          <a:xfrm>
            <a:off x="911480" y="3126439"/>
            <a:ext cx="9995722" cy="3511869"/>
          </a:xfrm>
          <a:prstGeom prst="roundRect">
            <a:avLst>
              <a:gd name="adj" fmla="val 0"/>
            </a:avLst>
          </a:prstGeom>
          <a:solidFill>
            <a:srgbClr val="EAF3DE"/>
          </a:solidFill>
          <a:ln w="12700">
            <a:solidFill>
              <a:srgbClr val="3B6D11"/>
            </a:solidFill>
            <a:prstDash val="solid"/>
          </a:ln>
        </p:spPr>
        <p:txBody>
          <a:bodyPr/>
          <a:lstStyle/>
          <a:p>
            <a:endParaRPr lang="en-US" sz="2400" dirty="0"/>
          </a:p>
        </p:txBody>
      </p:sp>
      <p:sp>
        <p:nvSpPr>
          <p:cNvPr id="13" name="Text 11">
            <a:extLst>
              <a:ext uri="{FF2B5EF4-FFF2-40B4-BE49-F238E27FC236}">
                <a16:creationId xmlns:a16="http://schemas.microsoft.com/office/drawing/2014/main" id="{57F9C5FF-9879-809B-A3F2-09D9B2EFD272}"/>
              </a:ext>
            </a:extLst>
          </p:cNvPr>
          <p:cNvSpPr/>
          <p:nvPr/>
        </p:nvSpPr>
        <p:spPr>
          <a:xfrm>
            <a:off x="1121548" y="3410454"/>
            <a:ext cx="8424414" cy="365760"/>
          </a:xfrm>
          <a:prstGeom prst="rect">
            <a:avLst/>
          </a:prstGeom>
          <a:noFill/>
          <a:ln/>
        </p:spPr>
        <p:txBody>
          <a:bodyPr wrap="square" rtlCol="0" anchor="ctr"/>
          <a:lstStyle/>
          <a:p>
            <a:pPr marL="0" indent="0">
              <a:buNone/>
            </a:pPr>
            <a:r>
              <a:rPr lang="en-US" sz="2400" b="1" dirty="0">
                <a:solidFill>
                  <a:srgbClr val="27500A"/>
                </a:solidFill>
                <a:latin typeface="Calibri" pitchFamily="34" charset="0"/>
                <a:ea typeface="Calibri" pitchFamily="34" charset="-122"/>
                <a:cs typeface="Calibri" pitchFamily="34" charset="-120"/>
              </a:rPr>
              <a:t>What goes in the numerator</a:t>
            </a:r>
            <a:endParaRPr lang="en-US" sz="2400" dirty="0"/>
          </a:p>
        </p:txBody>
      </p:sp>
      <p:sp>
        <p:nvSpPr>
          <p:cNvPr id="16" name="Text 12">
            <a:extLst>
              <a:ext uri="{FF2B5EF4-FFF2-40B4-BE49-F238E27FC236}">
                <a16:creationId xmlns:a16="http://schemas.microsoft.com/office/drawing/2014/main" id="{909F7968-B5FB-7142-E73F-C232052B158B}"/>
              </a:ext>
            </a:extLst>
          </p:cNvPr>
          <p:cNvSpPr/>
          <p:nvPr/>
        </p:nvSpPr>
        <p:spPr>
          <a:xfrm>
            <a:off x="1121548" y="3896362"/>
            <a:ext cx="8343410" cy="868680"/>
          </a:xfrm>
          <a:prstGeom prst="rect">
            <a:avLst/>
          </a:prstGeom>
          <a:noFill/>
          <a:ln/>
        </p:spPr>
        <p:txBody>
          <a:bodyPr wrap="square" rtlCol="0" anchor="t"/>
          <a:lstStyle/>
          <a:p>
            <a:pPr marL="285750" indent="-285750">
              <a:buFont typeface="Arial" panose="020B0604020202020204" pitchFamily="34" charset="0"/>
              <a:buChar char="•"/>
            </a:pPr>
            <a:r>
              <a:rPr lang="en-US" dirty="0">
                <a:solidFill>
                  <a:srgbClr val="27500A"/>
                </a:solidFill>
                <a:latin typeface="Calibri" pitchFamily="34" charset="0"/>
                <a:ea typeface="Calibri" pitchFamily="34" charset="-122"/>
                <a:cs typeface="Calibri" pitchFamily="34" charset="-120"/>
              </a:rPr>
              <a:t>A business is worth the present value of its </a:t>
            </a:r>
            <a:r>
              <a:rPr lang="en-US" b="1" dirty="0">
                <a:solidFill>
                  <a:srgbClr val="27500A"/>
                </a:solidFill>
                <a:latin typeface="Calibri" pitchFamily="34" charset="0"/>
                <a:ea typeface="Calibri" pitchFamily="34" charset="-122"/>
                <a:cs typeface="Calibri" pitchFamily="34" charset="-120"/>
              </a:rPr>
              <a:t>cash flows</a:t>
            </a:r>
            <a:r>
              <a:rPr lang="en-US" dirty="0">
                <a:solidFill>
                  <a:srgbClr val="27500A"/>
                </a:solidFill>
                <a:latin typeface="Calibri" pitchFamily="34" charset="0"/>
                <a:ea typeface="Calibri" pitchFamily="34" charset="-122"/>
                <a:cs typeface="Calibri" pitchFamily="34" charset="-120"/>
              </a:rPr>
              <a:t>, so the formula strictly wants </a:t>
            </a:r>
            <a:r>
              <a:rPr lang="en-US" b="1" dirty="0">
                <a:solidFill>
                  <a:srgbClr val="27500A"/>
                </a:solidFill>
                <a:latin typeface="Calibri" pitchFamily="34" charset="0"/>
                <a:ea typeface="Calibri" pitchFamily="34" charset="-122"/>
                <a:cs typeface="Calibri" pitchFamily="34" charset="-120"/>
              </a:rPr>
              <a:t>free cash flow</a:t>
            </a:r>
            <a:r>
              <a:rPr lang="en-US" dirty="0">
                <a:solidFill>
                  <a:srgbClr val="27500A"/>
                </a:solidFill>
                <a:latin typeface="Calibri" pitchFamily="34" charset="0"/>
                <a:ea typeface="Calibri" pitchFamily="34" charset="-122"/>
                <a:cs typeface="Calibri" pitchFamily="34" charset="-120"/>
              </a:rPr>
              <a:t> — not accounting earnings.</a:t>
            </a:r>
            <a:endParaRPr lang="en-US" dirty="0"/>
          </a:p>
        </p:txBody>
      </p:sp>
      <p:sp>
        <p:nvSpPr>
          <p:cNvPr id="18" name="Text 13">
            <a:extLst>
              <a:ext uri="{FF2B5EF4-FFF2-40B4-BE49-F238E27FC236}">
                <a16:creationId xmlns:a16="http://schemas.microsoft.com/office/drawing/2014/main" id="{DA29DBA0-D8DE-62F2-7ECA-240C3EE150BD}"/>
              </a:ext>
            </a:extLst>
          </p:cNvPr>
          <p:cNvSpPr/>
          <p:nvPr/>
        </p:nvSpPr>
        <p:spPr>
          <a:xfrm>
            <a:off x="1144714" y="4583744"/>
            <a:ext cx="8343410" cy="320040"/>
          </a:xfrm>
          <a:prstGeom prst="rect">
            <a:avLst/>
          </a:prstGeom>
          <a:noFill/>
          <a:ln/>
        </p:spPr>
        <p:txBody>
          <a:bodyPr wrap="square" rtlCol="0" anchor="ctr"/>
          <a:lstStyle/>
          <a:p>
            <a:pPr marL="285750" indent="-285750">
              <a:buFont typeface="Arial" panose="020B0604020202020204" pitchFamily="34" charset="0"/>
              <a:buChar char="•"/>
            </a:pPr>
            <a:r>
              <a:rPr lang="en-US" b="1" dirty="0">
                <a:solidFill>
                  <a:srgbClr val="27500A"/>
                </a:solidFill>
                <a:latin typeface="Calibri" pitchFamily="34" charset="0"/>
                <a:ea typeface="Calibri" pitchFamily="34" charset="-122"/>
                <a:cs typeface="Calibri" pitchFamily="34" charset="-120"/>
              </a:rPr>
              <a:t>Step 1 is the one case where they coincide:</a:t>
            </a:r>
            <a:endParaRPr lang="en-US" dirty="0"/>
          </a:p>
        </p:txBody>
      </p:sp>
      <p:sp>
        <p:nvSpPr>
          <p:cNvPr id="20" name="Text 14">
            <a:extLst>
              <a:ext uri="{FF2B5EF4-FFF2-40B4-BE49-F238E27FC236}">
                <a16:creationId xmlns:a16="http://schemas.microsoft.com/office/drawing/2014/main" id="{E33C3B2B-0DA6-6D8A-4DC7-068194362EB4}"/>
              </a:ext>
            </a:extLst>
          </p:cNvPr>
          <p:cNvSpPr/>
          <p:nvPr/>
        </p:nvSpPr>
        <p:spPr>
          <a:xfrm>
            <a:off x="1121548" y="4903784"/>
            <a:ext cx="8262406" cy="1253261"/>
          </a:xfrm>
          <a:prstGeom prst="rect">
            <a:avLst/>
          </a:prstGeom>
          <a:noFill/>
          <a:ln/>
        </p:spPr>
        <p:txBody>
          <a:bodyPr wrap="square" rtlCol="0" anchor="ctr"/>
          <a:lstStyle/>
          <a:p>
            <a:pPr marL="285750" indent="-285750">
              <a:spcAft>
                <a:spcPts val="700"/>
              </a:spcAft>
              <a:buSzPct val="100000"/>
              <a:buFontTx/>
              <a:buChar char="−"/>
            </a:pPr>
            <a:r>
              <a:rPr lang="en-US" dirty="0">
                <a:solidFill>
                  <a:srgbClr val="27500A"/>
                </a:solidFill>
                <a:latin typeface="Calibri" pitchFamily="34" charset="0"/>
                <a:ea typeface="Calibri" pitchFamily="34" charset="-122"/>
                <a:cs typeface="Calibri" pitchFamily="34" charset="-120"/>
              </a:rPr>
              <a:t>No growth means net new investment is zero</a:t>
            </a:r>
            <a:endParaRPr lang="en-US" dirty="0"/>
          </a:p>
          <a:p>
            <a:pPr marL="285750" indent="-285750">
              <a:spcAft>
                <a:spcPts val="700"/>
              </a:spcAft>
              <a:buSzPct val="100000"/>
              <a:buFontTx/>
              <a:buChar char="−"/>
            </a:pPr>
            <a:r>
              <a:rPr lang="en-US" dirty="0">
                <a:solidFill>
                  <a:srgbClr val="27500A"/>
                </a:solidFill>
                <a:latin typeface="Calibri" pitchFamily="34" charset="0"/>
                <a:ea typeface="Calibri" pitchFamily="34" charset="-122"/>
                <a:cs typeface="Calibri" pitchFamily="34" charset="-120"/>
              </a:rPr>
              <a:t>CapEx merely replaces depreciation; working capital is flat</a:t>
            </a:r>
            <a:endParaRPr lang="en-US" dirty="0"/>
          </a:p>
          <a:p>
            <a:pPr marL="285750" indent="-285750">
              <a:spcAft>
                <a:spcPts val="700"/>
              </a:spcAft>
              <a:buSzPct val="100000"/>
              <a:buFontTx/>
              <a:buChar char="−"/>
            </a:pPr>
            <a:r>
              <a:rPr lang="en-US" dirty="0">
                <a:solidFill>
                  <a:srgbClr val="27500A"/>
                </a:solidFill>
                <a:latin typeface="Calibri" pitchFamily="34" charset="0"/>
                <a:ea typeface="Calibri" pitchFamily="34" charset="-122"/>
                <a:cs typeface="Calibri" pitchFamily="34" charset="-120"/>
              </a:rPr>
              <a:t>The non-cash items that split earnings from cash flow cancel</a:t>
            </a:r>
            <a:endParaRPr lang="en-US" dirty="0"/>
          </a:p>
        </p:txBody>
      </p:sp>
      <p:sp>
        <p:nvSpPr>
          <p:cNvPr id="23" name="Text 15">
            <a:extLst>
              <a:ext uri="{FF2B5EF4-FFF2-40B4-BE49-F238E27FC236}">
                <a16:creationId xmlns:a16="http://schemas.microsoft.com/office/drawing/2014/main" id="{8B412558-5D9F-82C3-91ED-D776ED9392BB}"/>
              </a:ext>
            </a:extLst>
          </p:cNvPr>
          <p:cNvSpPr/>
          <p:nvPr/>
        </p:nvSpPr>
        <p:spPr>
          <a:xfrm>
            <a:off x="1202552" y="6066787"/>
            <a:ext cx="8343410" cy="457200"/>
          </a:xfrm>
          <a:prstGeom prst="rect">
            <a:avLst/>
          </a:prstGeom>
          <a:noFill/>
          <a:ln/>
        </p:spPr>
        <p:txBody>
          <a:bodyPr wrap="square" rtlCol="0" anchor="ctr"/>
          <a:lstStyle/>
          <a:p>
            <a:pPr marL="285750" indent="-285750">
              <a:buFont typeface="Arial" panose="020B0604020202020204" pitchFamily="34" charset="0"/>
              <a:buChar char="•"/>
            </a:pPr>
            <a:r>
              <a:rPr lang="en-US" b="1" i="1" dirty="0">
                <a:solidFill>
                  <a:srgbClr val="C00000"/>
                </a:solidFill>
                <a:latin typeface="Calibri" pitchFamily="34" charset="0"/>
                <a:ea typeface="Calibri" pitchFamily="34" charset="-122"/>
                <a:cs typeface="Calibri" pitchFamily="34" charset="-120"/>
              </a:rPr>
              <a:t>Earnings = Dividends = Free cash flow</a:t>
            </a:r>
            <a:r>
              <a:rPr lang="en-US" i="1" dirty="0">
                <a:solidFill>
                  <a:srgbClr val="C00000"/>
                </a:solidFill>
                <a:latin typeface="Calibri" pitchFamily="34" charset="0"/>
                <a:ea typeface="Calibri" pitchFamily="34" charset="-122"/>
                <a:cs typeface="Calibri" pitchFamily="34" charset="-120"/>
              </a:rPr>
              <a:t> </a:t>
            </a:r>
            <a:r>
              <a:rPr lang="en-US" i="1" dirty="0">
                <a:solidFill>
                  <a:srgbClr val="27500A"/>
                </a:solidFill>
                <a:latin typeface="Calibri" pitchFamily="34" charset="0"/>
                <a:ea typeface="Calibri" pitchFamily="34" charset="-122"/>
                <a:cs typeface="Calibri" pitchFamily="34" charset="-120"/>
              </a:rPr>
              <a:t>— by the assumption, not by approximation.</a:t>
            </a:r>
            <a:endParaRPr lang="en-US" dirty="0"/>
          </a:p>
        </p:txBody>
      </p:sp>
    </p:spTree>
    <p:extLst>
      <p:ext uri="{BB962C8B-B14F-4D97-AF65-F5344CB8AC3E}">
        <p14:creationId xmlns:p14="http://schemas.microsoft.com/office/powerpoint/2010/main" val="35524401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7EDBE-29F9-153B-0633-FD4BD74E3A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F2BE35-5274-E8D1-0A39-69CCB716E5BC}"/>
              </a:ext>
            </a:extLst>
          </p:cNvPr>
          <p:cNvSpPr>
            <a:spLocks noGrp="1"/>
          </p:cNvSpPr>
          <p:nvPr>
            <p:ph type="title"/>
          </p:nvPr>
        </p:nvSpPr>
        <p:spPr/>
        <p:txBody>
          <a:bodyPr>
            <a:normAutofit/>
          </a:bodyPr>
          <a:lstStyle/>
          <a:p>
            <a:r>
              <a:rPr lang="en-US" dirty="0">
                <a:latin typeface="+mn-lt"/>
              </a:rPr>
              <a:t>The Algebra Behind the Three Forces – Step 2 </a:t>
            </a:r>
          </a:p>
        </p:txBody>
      </p:sp>
      <p:sp>
        <p:nvSpPr>
          <p:cNvPr id="14" name="Text 12">
            <a:extLst>
              <a:ext uri="{FF2B5EF4-FFF2-40B4-BE49-F238E27FC236}">
                <a16:creationId xmlns:a16="http://schemas.microsoft.com/office/drawing/2014/main" id="{01A880FF-EFFB-D98D-FC76-0B54EE214AB5}"/>
              </a:ext>
            </a:extLst>
          </p:cNvPr>
          <p:cNvSpPr/>
          <p:nvPr/>
        </p:nvSpPr>
        <p:spPr>
          <a:xfrm>
            <a:off x="912240" y="1437711"/>
            <a:ext cx="9983467" cy="1712676"/>
          </a:xfrm>
          <a:prstGeom prst="roundRect">
            <a:avLst>
              <a:gd name="adj" fmla="val 0"/>
            </a:avLst>
          </a:prstGeom>
          <a:solidFill>
            <a:srgbClr val="EFF6FF"/>
          </a:solidFill>
          <a:ln>
            <a:solidFill>
              <a:srgbClr val="3B82F6"/>
            </a:solidFill>
          </a:ln>
        </p:spPr>
        <p:txBody>
          <a:bodyPr wrap="square" rtlCol="0" anchor="ctr"/>
          <a:lstStyle/>
          <a:p>
            <a:endParaRPr lang="en-US" sz="2400" dirty="0"/>
          </a:p>
        </p:txBody>
      </p:sp>
      <p:sp>
        <p:nvSpPr>
          <p:cNvPr id="22" name="Text 6">
            <a:extLst>
              <a:ext uri="{FF2B5EF4-FFF2-40B4-BE49-F238E27FC236}">
                <a16:creationId xmlns:a16="http://schemas.microsoft.com/office/drawing/2014/main" id="{BF981303-4F1F-E214-B1A3-200001782959}"/>
              </a:ext>
            </a:extLst>
          </p:cNvPr>
          <p:cNvSpPr/>
          <p:nvPr/>
        </p:nvSpPr>
        <p:spPr>
          <a:xfrm>
            <a:off x="1144714" y="1617882"/>
            <a:ext cx="9586002" cy="1248490"/>
          </a:xfrm>
          <a:prstGeom prst="rect">
            <a:avLst/>
          </a:prstGeom>
          <a:noFill/>
          <a:ln/>
        </p:spPr>
        <p:txBody>
          <a:bodyPr wrap="square" lIns="0" tIns="0" rIns="0" bIns="0" rtlCol="0" anchor="t"/>
          <a:lstStyle/>
          <a:p>
            <a:r>
              <a:rPr lang="en-US" sz="2000" b="1" dirty="0">
                <a:solidFill>
                  <a:srgbClr val="1E40AF"/>
                </a:solidFill>
                <a:latin typeface="Arial" pitchFamily="34" charset="0"/>
                <a:cs typeface="Arial" pitchFamily="34" charset="-120"/>
              </a:rPr>
              <a:t>Step 2 – Let the firm reinvest</a:t>
            </a:r>
            <a:endParaRPr lang="en-US" sz="2000" dirty="0"/>
          </a:p>
          <a:p>
            <a:pPr marL="285750" lvl="0" indent="-285750">
              <a:buFont typeface="Arial" panose="020B0604020202020204" pitchFamily="34" charset="0"/>
              <a:buChar char="•"/>
            </a:pPr>
            <a:r>
              <a:rPr lang="en-US" dirty="0"/>
              <a:t>Write the payout ratio as b, so the numerator = b × E₁. The Gordon growth model then gives:</a:t>
            </a:r>
          </a:p>
          <a:p>
            <a:pPr marL="285750" lvl="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D68F2BF-8710-3596-B8BD-15B02153B57A}"/>
                  </a:ext>
                </a:extLst>
              </p:cNvPr>
              <p:cNvSpPr txBox="1"/>
              <p:nvPr/>
            </p:nvSpPr>
            <p:spPr>
              <a:xfrm>
                <a:off x="3523375" y="2318937"/>
                <a:ext cx="4757322" cy="7309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1" i="1" smtClean="0">
                          <a:solidFill>
                            <a:srgbClr val="1F4899"/>
                          </a:solidFill>
                          <a:latin typeface="Cambria Math" panose="02040503050406030204" pitchFamily="18" charset="0"/>
                        </a:rPr>
                        <m:t>𝑷</m:t>
                      </m:r>
                      <m:r>
                        <a:rPr lang="en-US" sz="2000" b="1" i="0">
                          <a:solidFill>
                            <a:srgbClr val="1F4899"/>
                          </a:solidFill>
                          <a:latin typeface="Cambria Math" panose="02040503050406030204" pitchFamily="18" charset="0"/>
                        </a:rPr>
                        <m:t>=</m:t>
                      </m:r>
                      <m:f>
                        <m:fPr>
                          <m:ctrlPr>
                            <a:rPr lang="en-US" sz="2000" b="1" i="1">
                              <a:solidFill>
                                <a:srgbClr val="1F4899"/>
                              </a:solidFill>
                              <a:latin typeface="Cambria Math" panose="02040503050406030204" pitchFamily="18" charset="0"/>
                            </a:rPr>
                          </m:ctrlPr>
                        </m:fPr>
                        <m:num>
                          <m:r>
                            <a:rPr lang="en-US" sz="2000" b="1" i="1" smtClean="0">
                              <a:solidFill>
                                <a:srgbClr val="1F4899"/>
                              </a:solidFill>
                              <a:latin typeface="Cambria Math" panose="02040503050406030204" pitchFamily="18" charset="0"/>
                            </a:rPr>
                            <m:t>𝒃</m:t>
                          </m:r>
                          <m:r>
                            <a:rPr lang="en-US" sz="2000" b="1" i="1" smtClean="0">
                              <a:solidFill>
                                <a:srgbClr val="1F4899"/>
                              </a:solidFill>
                              <a:latin typeface="Cambria Math" panose="02040503050406030204" pitchFamily="18" charset="0"/>
                            </a:rPr>
                            <m:t> ∗ </m:t>
                          </m:r>
                          <m:sSub>
                            <m:sSubPr>
                              <m:ctrlPr>
                                <a:rPr lang="en-US" sz="2000" b="1" i="1" smtClean="0">
                                  <a:solidFill>
                                    <a:srgbClr val="1F4899"/>
                                  </a:solidFill>
                                  <a:latin typeface="Cambria Math" panose="02040503050406030204" pitchFamily="18" charset="0"/>
                                </a:rPr>
                              </m:ctrlPr>
                            </m:sSubPr>
                            <m:e>
                              <m:r>
                                <a:rPr lang="en-US" sz="2000" b="1" i="1" smtClean="0">
                                  <a:solidFill>
                                    <a:srgbClr val="1F4899"/>
                                  </a:solidFill>
                                  <a:latin typeface="Cambria Math" panose="02040503050406030204" pitchFamily="18" charset="0"/>
                                </a:rPr>
                                <m:t>𝑬</m:t>
                              </m:r>
                            </m:e>
                            <m:sub>
                              <m:r>
                                <a:rPr lang="en-US" sz="2000" b="1" i="1" smtClean="0">
                                  <a:solidFill>
                                    <a:srgbClr val="1F4899"/>
                                  </a:solidFill>
                                  <a:latin typeface="Cambria Math" panose="02040503050406030204" pitchFamily="18" charset="0"/>
                                </a:rPr>
                                <m:t>𝟏</m:t>
                              </m:r>
                            </m:sub>
                          </m:sSub>
                        </m:num>
                        <m:den>
                          <m:r>
                            <a:rPr lang="en-US" sz="2000" b="1" i="1">
                              <a:solidFill>
                                <a:srgbClr val="1F4899"/>
                              </a:solidFill>
                              <a:latin typeface="Cambria Math" panose="02040503050406030204" pitchFamily="18" charset="0"/>
                            </a:rPr>
                            <m:t>𝒓</m:t>
                          </m:r>
                        </m:den>
                      </m:f>
                      <m:r>
                        <a:rPr lang="en-US" sz="2000" b="1" i="0">
                          <a:solidFill>
                            <a:srgbClr val="1F4899"/>
                          </a:solidFill>
                          <a:latin typeface="Cambria Math" panose="02040503050406030204" pitchFamily="18" charset="0"/>
                        </a:rPr>
                        <m:t>    </m:t>
                      </m:r>
                      <m:r>
                        <a:rPr lang="en-US" sz="2000" b="1" i="1">
                          <a:solidFill>
                            <a:srgbClr val="1F4899"/>
                          </a:solidFill>
                          <a:latin typeface="Cambria Math" panose="02040503050406030204" pitchFamily="18" charset="0"/>
                        </a:rPr>
                        <m:t>𝒔𝒐</m:t>
                      </m:r>
                      <m:r>
                        <a:rPr lang="en-US" sz="2000" b="1" i="0">
                          <a:solidFill>
                            <a:srgbClr val="1F4899"/>
                          </a:solidFill>
                          <a:latin typeface="Cambria Math" panose="02040503050406030204" pitchFamily="18" charset="0"/>
                        </a:rPr>
                        <m:t>  </m:t>
                      </m:r>
                      <m:r>
                        <m:rPr>
                          <m:nor/>
                        </m:rPr>
                        <a:rPr lang="en-US" sz="2000" b="1" i="1">
                          <a:solidFill>
                            <a:srgbClr val="1F4899"/>
                          </a:solidFill>
                          <a:latin typeface="Cambria Math" panose="02040503050406030204" pitchFamily="18" charset="0"/>
                        </a:rPr>
                        <m:t>P</m:t>
                      </m:r>
                      <m:r>
                        <m:rPr>
                          <m:nor/>
                        </m:rPr>
                        <a:rPr lang="en-US" sz="2000" b="1" i="1">
                          <a:solidFill>
                            <a:srgbClr val="1F4899"/>
                          </a:solidFill>
                          <a:latin typeface="Cambria Math" panose="02040503050406030204" pitchFamily="18" charset="0"/>
                        </a:rPr>
                        <m:t>/</m:t>
                      </m:r>
                      <m:r>
                        <m:rPr>
                          <m:nor/>
                        </m:rPr>
                        <a:rPr lang="en-US" sz="2000" b="1" i="1">
                          <a:solidFill>
                            <a:srgbClr val="1F4899"/>
                          </a:solidFill>
                          <a:latin typeface="Cambria Math" panose="02040503050406030204" pitchFamily="18" charset="0"/>
                        </a:rPr>
                        <m:t>E</m:t>
                      </m:r>
                      <m:r>
                        <a:rPr lang="en-US" sz="2000" b="1" i="0">
                          <a:solidFill>
                            <a:srgbClr val="1F4899"/>
                          </a:solidFill>
                          <a:latin typeface="Cambria Math" panose="02040503050406030204" pitchFamily="18" charset="0"/>
                        </a:rPr>
                        <m:t>=</m:t>
                      </m:r>
                      <m:f>
                        <m:fPr>
                          <m:ctrlPr>
                            <a:rPr lang="en-US" sz="2000" b="1" i="1">
                              <a:solidFill>
                                <a:srgbClr val="1F4899"/>
                              </a:solidFill>
                              <a:latin typeface="Cambria Math" panose="02040503050406030204" pitchFamily="18" charset="0"/>
                            </a:rPr>
                          </m:ctrlPr>
                        </m:fPr>
                        <m:num>
                          <m:r>
                            <a:rPr lang="en-US" sz="2000" b="1" i="0" smtClean="0">
                              <a:solidFill>
                                <a:srgbClr val="1F4899"/>
                              </a:solidFill>
                              <a:latin typeface="Cambria Math" panose="02040503050406030204" pitchFamily="18" charset="0"/>
                            </a:rPr>
                            <m:t>𝐛</m:t>
                          </m:r>
                        </m:num>
                        <m:den>
                          <m:r>
                            <a:rPr lang="en-US" sz="2000" b="1" i="1">
                              <a:solidFill>
                                <a:srgbClr val="1F4899"/>
                              </a:solidFill>
                              <a:latin typeface="Cambria Math" panose="02040503050406030204" pitchFamily="18" charset="0"/>
                            </a:rPr>
                            <m:t>𝒓</m:t>
                          </m:r>
                          <m:r>
                            <a:rPr lang="en-US" sz="2000" b="1" i="1" smtClean="0">
                              <a:solidFill>
                                <a:srgbClr val="1F4899"/>
                              </a:solidFill>
                              <a:latin typeface="Cambria Math" panose="02040503050406030204" pitchFamily="18" charset="0"/>
                            </a:rPr>
                            <m:t>−</m:t>
                          </m:r>
                          <m:r>
                            <a:rPr lang="en-US" sz="2000" b="1" i="1" smtClean="0">
                              <a:solidFill>
                                <a:srgbClr val="1F4899"/>
                              </a:solidFill>
                              <a:latin typeface="Cambria Math" panose="02040503050406030204" pitchFamily="18" charset="0"/>
                            </a:rPr>
                            <m:t>𝒈</m:t>
                          </m:r>
                        </m:den>
                      </m:f>
                    </m:oMath>
                  </m:oMathPara>
                </a14:m>
                <a:endParaRPr lang="en-US" b="1" dirty="0"/>
              </a:p>
            </p:txBody>
          </p:sp>
        </mc:Choice>
        <mc:Fallback xmlns="">
          <p:sp>
            <p:nvSpPr>
              <p:cNvPr id="7" name="TextBox 6">
                <a:extLst>
                  <a:ext uri="{FF2B5EF4-FFF2-40B4-BE49-F238E27FC236}">
                    <a16:creationId xmlns:a16="http://schemas.microsoft.com/office/drawing/2014/main" id="{BD68F2BF-8710-3596-B8BD-15B02153B57A}"/>
                  </a:ext>
                </a:extLst>
              </p:cNvPr>
              <p:cNvSpPr txBox="1">
                <a:spLocks noRot="1" noChangeAspect="1" noMove="1" noResize="1" noEditPoints="1" noAdjustHandles="1" noChangeArrowheads="1" noChangeShapeType="1" noTextEdit="1"/>
              </p:cNvSpPr>
              <p:nvPr/>
            </p:nvSpPr>
            <p:spPr>
              <a:xfrm>
                <a:off x="3523375" y="2318937"/>
                <a:ext cx="4757322" cy="730906"/>
              </a:xfrm>
              <a:prstGeom prst="rect">
                <a:avLst/>
              </a:prstGeom>
              <a:blipFill>
                <a:blip r:embed="rId3"/>
                <a:stretch>
                  <a:fillRect/>
                </a:stretch>
              </a:blipFill>
            </p:spPr>
            <p:txBody>
              <a:bodyPr/>
              <a:lstStyle/>
              <a:p>
                <a:r>
                  <a:rPr lang="en-US">
                    <a:noFill/>
                  </a:rPr>
                  <a:t> </a:t>
                </a:r>
              </a:p>
            </p:txBody>
          </p:sp>
        </mc:Fallback>
      </mc:AlternateContent>
      <p:sp>
        <p:nvSpPr>
          <p:cNvPr id="11" name="Shape 10">
            <a:extLst>
              <a:ext uri="{FF2B5EF4-FFF2-40B4-BE49-F238E27FC236}">
                <a16:creationId xmlns:a16="http://schemas.microsoft.com/office/drawing/2014/main" id="{F1EE0D89-3A0D-B75C-1FC4-93E046510A83}"/>
              </a:ext>
            </a:extLst>
          </p:cNvPr>
          <p:cNvSpPr/>
          <p:nvPr/>
        </p:nvSpPr>
        <p:spPr>
          <a:xfrm>
            <a:off x="911480" y="3292690"/>
            <a:ext cx="9995722" cy="2220554"/>
          </a:xfrm>
          <a:prstGeom prst="roundRect">
            <a:avLst>
              <a:gd name="adj" fmla="val 0"/>
            </a:avLst>
          </a:prstGeom>
          <a:solidFill>
            <a:srgbClr val="FEF2F2"/>
          </a:solidFill>
          <a:ln w="12700">
            <a:solidFill>
              <a:schemeClr val="accent2">
                <a:lumMod val="60000"/>
                <a:lumOff val="40000"/>
              </a:schemeClr>
            </a:solidFill>
            <a:prstDash val="solid"/>
          </a:ln>
        </p:spPr>
        <p:txBody>
          <a:bodyPr/>
          <a:lstStyle/>
          <a:p>
            <a:endParaRPr lang="en-US" sz="2400" dirty="0"/>
          </a:p>
        </p:txBody>
      </p:sp>
      <p:sp>
        <p:nvSpPr>
          <p:cNvPr id="16" name="Text 12">
            <a:extLst>
              <a:ext uri="{FF2B5EF4-FFF2-40B4-BE49-F238E27FC236}">
                <a16:creationId xmlns:a16="http://schemas.microsoft.com/office/drawing/2014/main" id="{CE393806-44FB-6485-97EF-794FF01A9702}"/>
              </a:ext>
            </a:extLst>
          </p:cNvPr>
          <p:cNvSpPr/>
          <p:nvPr/>
        </p:nvSpPr>
        <p:spPr>
          <a:xfrm>
            <a:off x="854402" y="3695601"/>
            <a:ext cx="9360676" cy="868680"/>
          </a:xfrm>
          <a:prstGeom prst="rect">
            <a:avLst/>
          </a:prstGeom>
          <a:noFill/>
          <a:ln/>
        </p:spPr>
        <p:txBody>
          <a:bodyPr wrap="square" rtlCol="0" anchor="t"/>
          <a:lstStyle/>
          <a:p>
            <a:pPr marL="742950" lvl="1" indent="-285750">
              <a:buFont typeface="Arial" panose="020B0604020202020204" pitchFamily="34" charset="0"/>
              <a:buChar char="•"/>
            </a:pPr>
            <a:r>
              <a:rPr lang="en-US" sz="2000" dirty="0"/>
              <a:t>Step 1 is the special case where g = 0 and b = 1. </a:t>
            </a:r>
            <a:r>
              <a:rPr lang="en-US" sz="2000" b="1" dirty="0"/>
              <a:t>Growth</a:t>
            </a:r>
            <a:r>
              <a:rPr lang="en-US" sz="2000" dirty="0"/>
              <a:t> enters by eating into the denominator — it does not act on its own, it acts on the spread between r and g.</a:t>
            </a:r>
          </a:p>
        </p:txBody>
      </p:sp>
      <p:sp>
        <p:nvSpPr>
          <p:cNvPr id="20" name="Text 14">
            <a:extLst>
              <a:ext uri="{FF2B5EF4-FFF2-40B4-BE49-F238E27FC236}">
                <a16:creationId xmlns:a16="http://schemas.microsoft.com/office/drawing/2014/main" id="{2D08217D-49CE-27FC-2084-2A923B721A25}"/>
              </a:ext>
            </a:extLst>
          </p:cNvPr>
          <p:cNvSpPr/>
          <p:nvPr/>
        </p:nvSpPr>
        <p:spPr>
          <a:xfrm>
            <a:off x="1243054" y="4465778"/>
            <a:ext cx="8262406" cy="643718"/>
          </a:xfrm>
          <a:prstGeom prst="rect">
            <a:avLst/>
          </a:prstGeom>
          <a:noFill/>
          <a:ln/>
        </p:spPr>
        <p:txBody>
          <a:bodyPr wrap="square" rtlCol="0" anchor="ctr"/>
          <a:lstStyle/>
          <a:p>
            <a:pPr>
              <a:spcAft>
                <a:spcPts val="700"/>
              </a:spcAft>
              <a:buSzPct val="100000"/>
            </a:pPr>
            <a:endParaRPr lang="en-US" dirty="0"/>
          </a:p>
        </p:txBody>
      </p:sp>
      <p:sp>
        <p:nvSpPr>
          <p:cNvPr id="23" name="Text 15">
            <a:extLst>
              <a:ext uri="{FF2B5EF4-FFF2-40B4-BE49-F238E27FC236}">
                <a16:creationId xmlns:a16="http://schemas.microsoft.com/office/drawing/2014/main" id="{846DC259-9242-67C6-CF8D-12E46D155209}"/>
              </a:ext>
            </a:extLst>
          </p:cNvPr>
          <p:cNvSpPr/>
          <p:nvPr/>
        </p:nvSpPr>
        <p:spPr>
          <a:xfrm>
            <a:off x="1363035" y="4485589"/>
            <a:ext cx="8343410" cy="457200"/>
          </a:xfrm>
          <a:prstGeom prst="rect">
            <a:avLst/>
          </a:prstGeom>
          <a:noFill/>
          <a:ln/>
        </p:spPr>
        <p:txBody>
          <a:bodyPr wrap="square" rtlCol="0" anchor="ctr"/>
          <a:lstStyle/>
          <a:p>
            <a:pPr marL="285750" indent="-285750">
              <a:buFont typeface="Arial" panose="020B0604020202020204" pitchFamily="34" charset="0"/>
              <a:buChar char="•"/>
            </a:pPr>
            <a:r>
              <a:rPr lang="en-US" b="1" i="1" dirty="0">
                <a:solidFill>
                  <a:srgbClr val="C00000"/>
                </a:solidFill>
                <a:latin typeface="Calibri" pitchFamily="34" charset="0"/>
                <a:ea typeface="Calibri" pitchFamily="34" charset="-122"/>
                <a:cs typeface="Calibri" pitchFamily="34" charset="-120"/>
              </a:rPr>
              <a:t>Earnings = Dividends = Free cash flow</a:t>
            </a:r>
            <a:r>
              <a:rPr lang="en-US" i="1" dirty="0">
                <a:solidFill>
                  <a:srgbClr val="C00000"/>
                </a:solidFill>
                <a:latin typeface="Calibri" pitchFamily="34" charset="0"/>
                <a:ea typeface="Calibri" pitchFamily="34" charset="-122"/>
                <a:cs typeface="Calibri" pitchFamily="34" charset="-120"/>
              </a:rPr>
              <a:t> </a:t>
            </a:r>
            <a:r>
              <a:rPr lang="en-US" i="1" dirty="0">
                <a:solidFill>
                  <a:srgbClr val="27500A"/>
                </a:solidFill>
                <a:latin typeface="Calibri" pitchFamily="34" charset="0"/>
                <a:ea typeface="Calibri" pitchFamily="34" charset="-122"/>
                <a:cs typeface="Calibri" pitchFamily="34" charset="-120"/>
              </a:rPr>
              <a:t>— by the assumption, not by approximation.</a:t>
            </a:r>
            <a:endParaRPr lang="en-US" dirty="0"/>
          </a:p>
        </p:txBody>
      </p:sp>
    </p:spTree>
    <p:extLst>
      <p:ext uri="{BB962C8B-B14F-4D97-AF65-F5344CB8AC3E}">
        <p14:creationId xmlns:p14="http://schemas.microsoft.com/office/powerpoint/2010/main" val="37330484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ppt_x"/>
                                          </p:val>
                                        </p:tav>
                                        <p:tav tm="100000">
                                          <p:val>
                                            <p:strVal val="#ppt_x"/>
                                          </p:val>
                                        </p:tav>
                                      </p:tavLst>
                                    </p:anim>
                                    <p:anim calcmode="lin" valueType="num">
                                      <p:cBhvr additive="base">
                                        <p:cTn id="22" dur="500" fill="hold"/>
                                        <p:tgtEl>
                                          <p:spTgt spid="1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ppt_x"/>
                                          </p:val>
                                        </p:tav>
                                        <p:tav tm="100000">
                                          <p:val>
                                            <p:strVal val="#ppt_x"/>
                                          </p:val>
                                        </p:tav>
                                      </p:tavLst>
                                    </p:anim>
                                    <p:anim calcmode="lin" valueType="num">
                                      <p:cBhvr additive="base">
                                        <p:cTn id="26" dur="500" fill="hold"/>
                                        <p:tgtEl>
                                          <p:spTgt spid="2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ppt_x"/>
                                          </p:val>
                                        </p:tav>
                                        <p:tav tm="100000">
                                          <p:val>
                                            <p:strVal val="#ppt_x"/>
                                          </p:val>
                                        </p:tav>
                                      </p:tavLst>
                                    </p:anim>
                                    <p:anim calcmode="lin" valueType="num">
                                      <p:cBhvr additive="base">
                                        <p:cTn id="3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P spid="11" grpId="0" animBg="1"/>
      <p:bldP spid="16" grpId="0" animBg="1"/>
      <p:bldP spid="20" grpId="0" animBg="1"/>
      <p:bldP spid="2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30D89-D0AA-ECC4-693A-506067EA0B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3EB46C-9364-1A46-3FCF-AC0B33EBEE43}"/>
              </a:ext>
            </a:extLst>
          </p:cNvPr>
          <p:cNvSpPr>
            <a:spLocks noGrp="1"/>
          </p:cNvSpPr>
          <p:nvPr>
            <p:ph type="title"/>
          </p:nvPr>
        </p:nvSpPr>
        <p:spPr/>
        <p:txBody>
          <a:bodyPr>
            <a:normAutofit/>
          </a:bodyPr>
          <a:lstStyle/>
          <a:p>
            <a:r>
              <a:rPr lang="en-US" dirty="0">
                <a:latin typeface="+mn-lt"/>
              </a:rPr>
              <a:t>The Algebra Behind the Three Forces – Step 3 </a:t>
            </a:r>
          </a:p>
        </p:txBody>
      </p:sp>
      <p:sp>
        <p:nvSpPr>
          <p:cNvPr id="14" name="Text 12">
            <a:extLst>
              <a:ext uri="{FF2B5EF4-FFF2-40B4-BE49-F238E27FC236}">
                <a16:creationId xmlns:a16="http://schemas.microsoft.com/office/drawing/2014/main" id="{DEC2A934-1317-F504-D2B1-6C5AF834850D}"/>
              </a:ext>
            </a:extLst>
          </p:cNvPr>
          <p:cNvSpPr/>
          <p:nvPr/>
        </p:nvSpPr>
        <p:spPr>
          <a:xfrm>
            <a:off x="923735" y="1512638"/>
            <a:ext cx="9983467" cy="1916362"/>
          </a:xfrm>
          <a:prstGeom prst="roundRect">
            <a:avLst>
              <a:gd name="adj" fmla="val 0"/>
            </a:avLst>
          </a:prstGeom>
          <a:solidFill>
            <a:srgbClr val="EFF6FF"/>
          </a:solidFill>
          <a:ln>
            <a:solidFill>
              <a:srgbClr val="3B82F6"/>
            </a:solidFill>
          </a:ln>
        </p:spPr>
        <p:txBody>
          <a:bodyPr wrap="square" rtlCol="0" anchor="ctr"/>
          <a:lstStyle/>
          <a:p>
            <a:endParaRPr lang="en-US" sz="2400" dirty="0"/>
          </a:p>
        </p:txBody>
      </p:sp>
      <p:sp>
        <p:nvSpPr>
          <p:cNvPr id="22" name="Text 6">
            <a:extLst>
              <a:ext uri="{FF2B5EF4-FFF2-40B4-BE49-F238E27FC236}">
                <a16:creationId xmlns:a16="http://schemas.microsoft.com/office/drawing/2014/main" id="{F93EAE16-87B8-7383-F484-60227EE32383}"/>
              </a:ext>
            </a:extLst>
          </p:cNvPr>
          <p:cNvSpPr/>
          <p:nvPr/>
        </p:nvSpPr>
        <p:spPr>
          <a:xfrm>
            <a:off x="1144714" y="1712882"/>
            <a:ext cx="9586002" cy="1248490"/>
          </a:xfrm>
          <a:prstGeom prst="rect">
            <a:avLst/>
          </a:prstGeom>
          <a:noFill/>
          <a:ln/>
        </p:spPr>
        <p:txBody>
          <a:bodyPr wrap="square" lIns="0" tIns="0" rIns="0" bIns="0" rtlCol="0" anchor="t"/>
          <a:lstStyle/>
          <a:p>
            <a:r>
              <a:rPr lang="en-US" sz="2000" b="1" dirty="0">
                <a:solidFill>
                  <a:srgbClr val="1E40AF"/>
                </a:solidFill>
                <a:latin typeface="Arial" pitchFamily="34" charset="0"/>
                <a:cs typeface="Arial" pitchFamily="34" charset="-120"/>
              </a:rPr>
              <a:t>Step 3 – Let earnings quality matter</a:t>
            </a:r>
            <a:endParaRPr lang="en-US" sz="2000" dirty="0"/>
          </a:p>
          <a:p>
            <a:pPr marL="285750" lvl="0" indent="-285750">
              <a:buFont typeface="Arial" panose="020B0604020202020204" pitchFamily="34" charset="0"/>
              <a:buChar char="•"/>
            </a:pPr>
            <a:r>
              <a:rPr lang="en-US" dirty="0"/>
              <a:t>If only a fraction q of reported earnings is durable (earnings quality issue) and cash-backed, the market capitalizes q × E rather than E:</a:t>
            </a: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4D55705-B734-8527-D221-987CE3A91934}"/>
                  </a:ext>
                </a:extLst>
              </p:cNvPr>
              <p:cNvSpPr txBox="1"/>
              <p:nvPr/>
            </p:nvSpPr>
            <p:spPr>
              <a:xfrm>
                <a:off x="3523375" y="2651437"/>
                <a:ext cx="4757322" cy="7309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1" i="1" smtClean="0">
                          <a:solidFill>
                            <a:srgbClr val="1F4899"/>
                          </a:solidFill>
                          <a:latin typeface="Cambria Math" panose="02040503050406030204" pitchFamily="18" charset="0"/>
                        </a:rPr>
                        <m:t>𝑷</m:t>
                      </m:r>
                      <m:r>
                        <a:rPr lang="en-US" sz="2000" b="1" i="0">
                          <a:solidFill>
                            <a:srgbClr val="1F4899"/>
                          </a:solidFill>
                          <a:latin typeface="Cambria Math" panose="02040503050406030204" pitchFamily="18" charset="0"/>
                        </a:rPr>
                        <m:t>=</m:t>
                      </m:r>
                      <m:f>
                        <m:fPr>
                          <m:ctrlPr>
                            <a:rPr lang="en-US" sz="2000" b="1" i="1">
                              <a:solidFill>
                                <a:srgbClr val="1F4899"/>
                              </a:solidFill>
                              <a:latin typeface="Cambria Math" panose="02040503050406030204" pitchFamily="18" charset="0"/>
                            </a:rPr>
                          </m:ctrlPr>
                        </m:fPr>
                        <m:num>
                          <m:r>
                            <a:rPr lang="en-US" sz="2000" b="1" i="1" smtClean="0">
                              <a:solidFill>
                                <a:srgbClr val="1F4899"/>
                              </a:solidFill>
                              <a:latin typeface="Cambria Math" panose="02040503050406030204" pitchFamily="18" charset="0"/>
                            </a:rPr>
                            <m:t>𝒃</m:t>
                          </m:r>
                          <m:r>
                            <a:rPr lang="en-US" sz="2000" b="1" i="1" smtClean="0">
                              <a:solidFill>
                                <a:srgbClr val="1F4899"/>
                              </a:solidFill>
                              <a:latin typeface="Cambria Math" panose="02040503050406030204" pitchFamily="18" charset="0"/>
                            </a:rPr>
                            <m:t> ∗ </m:t>
                          </m:r>
                          <m:sSub>
                            <m:sSubPr>
                              <m:ctrlPr>
                                <a:rPr lang="en-US" sz="2000" b="1" i="1" smtClean="0">
                                  <a:solidFill>
                                    <a:srgbClr val="1F4899"/>
                                  </a:solidFill>
                                  <a:latin typeface="Cambria Math" panose="02040503050406030204" pitchFamily="18" charset="0"/>
                                </a:rPr>
                              </m:ctrlPr>
                            </m:sSubPr>
                            <m:e>
                              <m:r>
                                <a:rPr lang="en-US" sz="2000" b="1" i="1" smtClean="0">
                                  <a:solidFill>
                                    <a:srgbClr val="1F4899"/>
                                  </a:solidFill>
                                  <a:latin typeface="Cambria Math" panose="02040503050406030204" pitchFamily="18" charset="0"/>
                                </a:rPr>
                                <m:t>𝑬</m:t>
                              </m:r>
                            </m:e>
                            <m:sub>
                              <m:r>
                                <a:rPr lang="en-US" sz="2000" b="1" i="1" smtClean="0">
                                  <a:solidFill>
                                    <a:srgbClr val="1F4899"/>
                                  </a:solidFill>
                                  <a:latin typeface="Cambria Math" panose="02040503050406030204" pitchFamily="18" charset="0"/>
                                </a:rPr>
                                <m:t>𝟏</m:t>
                              </m:r>
                            </m:sub>
                          </m:sSub>
                          <m:r>
                            <a:rPr lang="en-US" sz="2000" b="1" i="1">
                              <a:solidFill>
                                <a:srgbClr val="1F4899"/>
                              </a:solidFill>
                              <a:latin typeface="Cambria Math" panose="02040503050406030204" pitchFamily="18" charset="0"/>
                            </a:rPr>
                            <m:t>∗</m:t>
                          </m:r>
                          <m:r>
                            <a:rPr lang="en-US" sz="2000" b="1" i="1" smtClean="0">
                              <a:solidFill>
                                <a:srgbClr val="1F4899"/>
                              </a:solidFill>
                              <a:latin typeface="Cambria Math" panose="02040503050406030204" pitchFamily="18" charset="0"/>
                            </a:rPr>
                            <m:t>𝒒</m:t>
                          </m:r>
                        </m:num>
                        <m:den>
                          <m:r>
                            <a:rPr lang="en-US" sz="2000" b="1" i="1">
                              <a:solidFill>
                                <a:srgbClr val="1F4899"/>
                              </a:solidFill>
                              <a:latin typeface="Cambria Math" panose="02040503050406030204" pitchFamily="18" charset="0"/>
                            </a:rPr>
                            <m:t>𝒓</m:t>
                          </m:r>
                        </m:den>
                      </m:f>
                      <m:r>
                        <a:rPr lang="en-US" sz="2000" b="1" i="0">
                          <a:solidFill>
                            <a:srgbClr val="1F4899"/>
                          </a:solidFill>
                          <a:latin typeface="Cambria Math" panose="02040503050406030204" pitchFamily="18" charset="0"/>
                        </a:rPr>
                        <m:t>    </m:t>
                      </m:r>
                      <m:r>
                        <a:rPr lang="en-US" sz="2000" b="1" i="1">
                          <a:solidFill>
                            <a:srgbClr val="1F4899"/>
                          </a:solidFill>
                          <a:latin typeface="Cambria Math" panose="02040503050406030204" pitchFamily="18" charset="0"/>
                        </a:rPr>
                        <m:t>𝒔𝒐</m:t>
                      </m:r>
                      <m:r>
                        <a:rPr lang="en-US" sz="2000" b="1" i="0">
                          <a:solidFill>
                            <a:srgbClr val="1F4899"/>
                          </a:solidFill>
                          <a:latin typeface="Cambria Math" panose="02040503050406030204" pitchFamily="18" charset="0"/>
                        </a:rPr>
                        <m:t>  </m:t>
                      </m:r>
                      <m:r>
                        <m:rPr>
                          <m:nor/>
                        </m:rPr>
                        <a:rPr lang="en-US" sz="2000" b="1" i="1">
                          <a:solidFill>
                            <a:srgbClr val="1F4899"/>
                          </a:solidFill>
                          <a:latin typeface="Cambria Math" panose="02040503050406030204" pitchFamily="18" charset="0"/>
                        </a:rPr>
                        <m:t>P</m:t>
                      </m:r>
                      <m:r>
                        <m:rPr>
                          <m:nor/>
                        </m:rPr>
                        <a:rPr lang="en-US" sz="2000" b="1" i="1">
                          <a:solidFill>
                            <a:srgbClr val="1F4899"/>
                          </a:solidFill>
                          <a:latin typeface="Cambria Math" panose="02040503050406030204" pitchFamily="18" charset="0"/>
                        </a:rPr>
                        <m:t>/</m:t>
                      </m:r>
                      <m:r>
                        <m:rPr>
                          <m:nor/>
                        </m:rPr>
                        <a:rPr lang="en-US" sz="2000" b="1" i="1">
                          <a:solidFill>
                            <a:srgbClr val="1F4899"/>
                          </a:solidFill>
                          <a:latin typeface="Cambria Math" panose="02040503050406030204" pitchFamily="18" charset="0"/>
                        </a:rPr>
                        <m:t>E</m:t>
                      </m:r>
                      <m:r>
                        <a:rPr lang="en-US" sz="2000" b="1" i="0">
                          <a:solidFill>
                            <a:srgbClr val="1F4899"/>
                          </a:solidFill>
                          <a:latin typeface="Cambria Math" panose="02040503050406030204" pitchFamily="18" charset="0"/>
                        </a:rPr>
                        <m:t>=</m:t>
                      </m:r>
                      <m:f>
                        <m:fPr>
                          <m:ctrlPr>
                            <a:rPr lang="en-US" sz="2000" b="1" i="1">
                              <a:solidFill>
                                <a:srgbClr val="1F4899"/>
                              </a:solidFill>
                              <a:latin typeface="Cambria Math" panose="02040503050406030204" pitchFamily="18" charset="0"/>
                            </a:rPr>
                          </m:ctrlPr>
                        </m:fPr>
                        <m:num>
                          <m:r>
                            <a:rPr lang="en-US" sz="2000" b="1" i="1" smtClean="0">
                              <a:solidFill>
                                <a:srgbClr val="1F4899"/>
                              </a:solidFill>
                              <a:latin typeface="Cambria Math" panose="02040503050406030204" pitchFamily="18" charset="0"/>
                            </a:rPr>
                            <m:t>𝒃</m:t>
                          </m:r>
                          <m:r>
                            <a:rPr lang="en-US" sz="2000" b="1" i="1" smtClean="0">
                              <a:solidFill>
                                <a:srgbClr val="1F4899"/>
                              </a:solidFill>
                              <a:latin typeface="Cambria Math" panose="02040503050406030204" pitchFamily="18" charset="0"/>
                            </a:rPr>
                            <m:t>∗</m:t>
                          </m:r>
                          <m:r>
                            <a:rPr lang="en-US" sz="2000" b="1" i="1" smtClean="0">
                              <a:solidFill>
                                <a:srgbClr val="1F4899"/>
                              </a:solidFill>
                              <a:latin typeface="Cambria Math" panose="02040503050406030204" pitchFamily="18" charset="0"/>
                            </a:rPr>
                            <m:t>𝒒</m:t>
                          </m:r>
                        </m:num>
                        <m:den>
                          <m:r>
                            <a:rPr lang="en-US" sz="2000" b="1" i="1">
                              <a:solidFill>
                                <a:srgbClr val="1F4899"/>
                              </a:solidFill>
                              <a:latin typeface="Cambria Math" panose="02040503050406030204" pitchFamily="18" charset="0"/>
                            </a:rPr>
                            <m:t>𝒓</m:t>
                          </m:r>
                          <m:r>
                            <a:rPr lang="en-US" sz="2000" b="1" i="1" smtClean="0">
                              <a:solidFill>
                                <a:srgbClr val="1F4899"/>
                              </a:solidFill>
                              <a:latin typeface="Cambria Math" panose="02040503050406030204" pitchFamily="18" charset="0"/>
                            </a:rPr>
                            <m:t>−</m:t>
                          </m:r>
                          <m:r>
                            <a:rPr lang="en-US" sz="2000" b="1" i="1" smtClean="0">
                              <a:solidFill>
                                <a:srgbClr val="1F4899"/>
                              </a:solidFill>
                              <a:latin typeface="Cambria Math" panose="02040503050406030204" pitchFamily="18" charset="0"/>
                            </a:rPr>
                            <m:t>𝒈</m:t>
                          </m:r>
                        </m:den>
                      </m:f>
                    </m:oMath>
                  </m:oMathPara>
                </a14:m>
                <a:endParaRPr lang="en-US" b="1" i="1" dirty="0"/>
              </a:p>
            </p:txBody>
          </p:sp>
        </mc:Choice>
        <mc:Fallback xmlns="">
          <p:sp>
            <p:nvSpPr>
              <p:cNvPr id="7" name="TextBox 6">
                <a:extLst>
                  <a:ext uri="{FF2B5EF4-FFF2-40B4-BE49-F238E27FC236}">
                    <a16:creationId xmlns:a16="http://schemas.microsoft.com/office/drawing/2014/main" id="{84D55705-B734-8527-D221-987CE3A91934}"/>
                  </a:ext>
                </a:extLst>
              </p:cNvPr>
              <p:cNvSpPr txBox="1">
                <a:spLocks noRot="1" noChangeAspect="1" noMove="1" noResize="1" noEditPoints="1" noAdjustHandles="1" noChangeArrowheads="1" noChangeShapeType="1" noTextEdit="1"/>
              </p:cNvSpPr>
              <p:nvPr/>
            </p:nvSpPr>
            <p:spPr>
              <a:xfrm>
                <a:off x="3523375" y="2651437"/>
                <a:ext cx="4757322" cy="730906"/>
              </a:xfrm>
              <a:prstGeom prst="rect">
                <a:avLst/>
              </a:prstGeom>
              <a:blipFill>
                <a:blip r:embed="rId3"/>
                <a:stretch>
                  <a:fillRect/>
                </a:stretch>
              </a:blipFill>
            </p:spPr>
            <p:txBody>
              <a:bodyPr/>
              <a:lstStyle/>
              <a:p>
                <a:r>
                  <a:rPr lang="en-US">
                    <a:noFill/>
                  </a:rPr>
                  <a:t> </a:t>
                </a:r>
              </a:p>
            </p:txBody>
          </p:sp>
        </mc:Fallback>
      </mc:AlternateContent>
      <p:sp>
        <p:nvSpPr>
          <p:cNvPr id="11" name="Shape 10">
            <a:extLst>
              <a:ext uri="{FF2B5EF4-FFF2-40B4-BE49-F238E27FC236}">
                <a16:creationId xmlns:a16="http://schemas.microsoft.com/office/drawing/2014/main" id="{49AF71B8-D11D-B31E-AB0B-0F625A124C5F}"/>
              </a:ext>
            </a:extLst>
          </p:cNvPr>
          <p:cNvSpPr/>
          <p:nvPr/>
        </p:nvSpPr>
        <p:spPr>
          <a:xfrm>
            <a:off x="911480" y="3696448"/>
            <a:ext cx="9995722" cy="1173088"/>
          </a:xfrm>
          <a:prstGeom prst="roundRect">
            <a:avLst>
              <a:gd name="adj" fmla="val 0"/>
            </a:avLst>
          </a:prstGeom>
          <a:solidFill>
            <a:schemeClr val="bg2"/>
          </a:solidFill>
          <a:ln w="19050">
            <a:solidFill>
              <a:schemeClr val="bg2">
                <a:lumMod val="75000"/>
              </a:schemeClr>
            </a:solidFill>
            <a:prstDash val="solid"/>
          </a:ln>
        </p:spPr>
        <p:txBody>
          <a:bodyPr/>
          <a:lstStyle/>
          <a:p>
            <a:endParaRPr lang="en-US" sz="2400" dirty="0"/>
          </a:p>
        </p:txBody>
      </p:sp>
      <p:sp>
        <p:nvSpPr>
          <p:cNvPr id="16" name="Text 12">
            <a:extLst>
              <a:ext uri="{FF2B5EF4-FFF2-40B4-BE49-F238E27FC236}">
                <a16:creationId xmlns:a16="http://schemas.microsoft.com/office/drawing/2014/main" id="{3FD27154-7D64-352A-7E12-4E80BC016327}"/>
              </a:ext>
            </a:extLst>
          </p:cNvPr>
          <p:cNvSpPr/>
          <p:nvPr/>
        </p:nvSpPr>
        <p:spPr>
          <a:xfrm>
            <a:off x="854402" y="3944981"/>
            <a:ext cx="9360676" cy="868680"/>
          </a:xfrm>
          <a:prstGeom prst="rect">
            <a:avLst/>
          </a:prstGeom>
          <a:noFill/>
          <a:ln/>
        </p:spPr>
        <p:txBody>
          <a:bodyPr wrap="square" rtlCol="0" anchor="t"/>
          <a:lstStyle/>
          <a:p>
            <a:pPr lvl="1"/>
            <a:r>
              <a:rPr lang="en-US" sz="2000" b="1" dirty="0"/>
              <a:t>Earnings quality</a:t>
            </a:r>
            <a:r>
              <a:rPr lang="en-US" sz="2000" dirty="0"/>
              <a:t> sits in the numerator. Two firms with identical growth and risk will trade at different multiples if one firm’s earnings are accrual-heavy (Topic 6).</a:t>
            </a:r>
          </a:p>
        </p:txBody>
      </p:sp>
    </p:spTree>
    <p:extLst>
      <p:ext uri="{BB962C8B-B14F-4D97-AF65-F5344CB8AC3E}">
        <p14:creationId xmlns:p14="http://schemas.microsoft.com/office/powerpoint/2010/main" val="150304989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ppt_x"/>
                                          </p:val>
                                        </p:tav>
                                        <p:tav tm="100000">
                                          <p:val>
                                            <p:strVal val="#ppt_x"/>
                                          </p:val>
                                        </p:tav>
                                      </p:tavLst>
                                    </p:anim>
                                    <p:anim calcmode="lin" valueType="num">
                                      <p:cBhvr additive="base">
                                        <p:cTn id="2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P spid="11" grpId="0" animBg="1"/>
      <p:bldP spid="1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B9EB3-761D-32BC-02A9-A7E1D2314E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963AE-2BD3-4BFC-D90E-799F77F3D7E6}"/>
              </a:ext>
            </a:extLst>
          </p:cNvPr>
          <p:cNvSpPr>
            <a:spLocks noGrp="1"/>
          </p:cNvSpPr>
          <p:nvPr>
            <p:ph type="title"/>
          </p:nvPr>
        </p:nvSpPr>
        <p:spPr/>
        <p:txBody>
          <a:bodyPr>
            <a:normAutofit/>
          </a:bodyPr>
          <a:lstStyle/>
          <a:p>
            <a:r>
              <a:rPr lang="en-US" sz="4000" dirty="0">
                <a:latin typeface="+mn-lt"/>
              </a:rPr>
              <a:t> Appendix- Warren Buffett’s Famous Investing Quotes</a:t>
            </a:r>
          </a:p>
        </p:txBody>
      </p:sp>
    </p:spTree>
    <p:extLst>
      <p:ext uri="{BB962C8B-B14F-4D97-AF65-F5344CB8AC3E}">
        <p14:creationId xmlns:p14="http://schemas.microsoft.com/office/powerpoint/2010/main" val="2514561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4DD22-DD7B-18AB-9D6A-2A77B3ED3D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1E6E6-6CA8-FE82-5AB3-BE8456F9B2FF}"/>
              </a:ext>
            </a:extLst>
          </p:cNvPr>
          <p:cNvSpPr>
            <a:spLocks noGrp="1"/>
          </p:cNvSpPr>
          <p:nvPr>
            <p:ph type="title"/>
          </p:nvPr>
        </p:nvSpPr>
        <p:spPr/>
        <p:txBody>
          <a:bodyPr>
            <a:normAutofit/>
          </a:bodyPr>
          <a:lstStyle/>
          <a:p>
            <a:r>
              <a:rPr lang="en-US" dirty="0"/>
              <a:t>Warren Buffett’s Famous Investing Quotes</a:t>
            </a:r>
            <a:r>
              <a:rPr lang="en-US" dirty="0">
                <a:latin typeface="+mn-lt"/>
              </a:rPr>
              <a:t> </a:t>
            </a:r>
          </a:p>
        </p:txBody>
      </p:sp>
      <p:sp>
        <p:nvSpPr>
          <p:cNvPr id="14" name="Text 12">
            <a:extLst>
              <a:ext uri="{FF2B5EF4-FFF2-40B4-BE49-F238E27FC236}">
                <a16:creationId xmlns:a16="http://schemas.microsoft.com/office/drawing/2014/main" id="{52D479AC-D59B-A66B-327D-AD0549CEF806}"/>
              </a:ext>
            </a:extLst>
          </p:cNvPr>
          <p:cNvSpPr/>
          <p:nvPr/>
        </p:nvSpPr>
        <p:spPr>
          <a:xfrm>
            <a:off x="923735" y="1512638"/>
            <a:ext cx="9983467" cy="5070724"/>
          </a:xfrm>
          <a:prstGeom prst="roundRect">
            <a:avLst>
              <a:gd name="adj" fmla="val 0"/>
            </a:avLst>
          </a:prstGeom>
          <a:solidFill>
            <a:srgbClr val="EFF6FF"/>
          </a:solidFill>
          <a:ln>
            <a:solidFill>
              <a:srgbClr val="3B82F6"/>
            </a:solidFill>
          </a:ln>
        </p:spPr>
        <p:txBody>
          <a:bodyPr wrap="square" rtlCol="0" anchor="ctr"/>
          <a:lstStyle/>
          <a:p>
            <a:endParaRPr lang="en-US" sz="2400" dirty="0"/>
          </a:p>
        </p:txBody>
      </p:sp>
      <p:sp>
        <p:nvSpPr>
          <p:cNvPr id="22" name="Text 6">
            <a:extLst>
              <a:ext uri="{FF2B5EF4-FFF2-40B4-BE49-F238E27FC236}">
                <a16:creationId xmlns:a16="http://schemas.microsoft.com/office/drawing/2014/main" id="{66B099D6-684F-F3F6-1000-FFD923521B79}"/>
              </a:ext>
            </a:extLst>
          </p:cNvPr>
          <p:cNvSpPr/>
          <p:nvPr/>
        </p:nvSpPr>
        <p:spPr>
          <a:xfrm>
            <a:off x="1144714" y="1712882"/>
            <a:ext cx="9586002" cy="1248490"/>
          </a:xfrm>
          <a:prstGeom prst="rect">
            <a:avLst/>
          </a:prstGeom>
          <a:noFill/>
          <a:ln/>
        </p:spPr>
        <p:txBody>
          <a:bodyPr wrap="square" lIns="0" tIns="0" rIns="0" bIns="0" rtlCol="0" anchor="t"/>
          <a:lstStyle/>
          <a:p>
            <a:pPr lvl="0"/>
            <a:r>
              <a:rPr lang="en-US" b="1" dirty="0"/>
              <a:t>“Price is what you pay. Value is what you get.”</a:t>
            </a:r>
            <a:br>
              <a:rPr lang="en-US" dirty="0"/>
            </a:br>
            <a:r>
              <a:rPr lang="en-US" dirty="0"/>
              <a:t>→ Focus on intrinsic value, not just the stock price. </a:t>
            </a:r>
          </a:p>
          <a:p>
            <a:pPr lvl="0"/>
            <a:endParaRPr lang="en-US" b="1" dirty="0"/>
          </a:p>
          <a:p>
            <a:pPr lvl="0"/>
            <a:r>
              <a:rPr lang="en-US" b="1" dirty="0"/>
              <a:t>“Rule No. 1: Never lose money. Rule No. 2: Never forget Rule No. 1.”</a:t>
            </a:r>
            <a:br>
              <a:rPr lang="en-US" dirty="0"/>
            </a:br>
            <a:r>
              <a:rPr lang="en-US" dirty="0"/>
              <a:t>→ Protecting capital matters enormously. </a:t>
            </a:r>
          </a:p>
          <a:p>
            <a:pPr lvl="0"/>
            <a:endParaRPr lang="en-US" b="1" dirty="0"/>
          </a:p>
          <a:p>
            <a:pPr lvl="0"/>
            <a:r>
              <a:rPr lang="en-US" b="1" dirty="0"/>
              <a:t>“Be fearful when others are greedy and greedy when others are fearful.”</a:t>
            </a:r>
            <a:br>
              <a:rPr lang="en-US" dirty="0"/>
            </a:br>
            <a:r>
              <a:rPr lang="en-US" dirty="0"/>
              <a:t>→ Great opportunities can appear when markets are pessimistic. </a:t>
            </a:r>
          </a:p>
          <a:p>
            <a:pPr lvl="0"/>
            <a:endParaRPr lang="en-US" b="1" dirty="0"/>
          </a:p>
          <a:p>
            <a:pPr lvl="0"/>
            <a:r>
              <a:rPr lang="en-US" b="1" dirty="0"/>
              <a:t>“Our favorite holding period is forever.”</a:t>
            </a:r>
            <a:br>
              <a:rPr lang="en-US" dirty="0"/>
            </a:br>
            <a:r>
              <a:rPr lang="en-US" dirty="0"/>
              <a:t>→ Buy excellent businesses you’d be comfortable owning for decades. </a:t>
            </a:r>
          </a:p>
          <a:p>
            <a:pPr lvl="0"/>
            <a:endParaRPr lang="en-US" b="1" dirty="0"/>
          </a:p>
          <a:p>
            <a:pPr lvl="0"/>
            <a:r>
              <a:rPr lang="en-US" b="1" dirty="0"/>
              <a:t>“It’s far better to buy a wonderful company at a fair price than a fair company at a wonderful price.”</a:t>
            </a:r>
            <a:br>
              <a:rPr lang="en-US" dirty="0"/>
            </a:br>
            <a:r>
              <a:rPr lang="en-US" dirty="0"/>
              <a:t>→ Business quality often matters more than getting the absolute cheapest  valuation. </a:t>
            </a:r>
          </a:p>
          <a:p>
            <a:endParaRPr lang="en-US" b="1" dirty="0"/>
          </a:p>
          <a:p>
            <a:r>
              <a:rPr lang="en-US" b="1" dirty="0"/>
              <a:t>Buffett’s philosophy in one sentence:</a:t>
            </a:r>
            <a:r>
              <a:rPr lang="en-US" dirty="0"/>
              <a:t> Buy high-quality businesses at sensible prices, understand what you own, avoid permanent losses, and let compounding work for a very long time.</a:t>
            </a:r>
          </a:p>
        </p:txBody>
      </p:sp>
    </p:spTree>
    <p:extLst>
      <p:ext uri="{BB962C8B-B14F-4D97-AF65-F5344CB8AC3E}">
        <p14:creationId xmlns:p14="http://schemas.microsoft.com/office/powerpoint/2010/main" val="255891288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Lst>
  </p:timing>
</p:sld>
</file>

<file path=ppt/theme/theme1.xml><?xml version="1.0" encoding="utf-8"?>
<a:theme xmlns:a="http://schemas.openxmlformats.org/drawingml/2006/main" name="CBA [1784383129294]">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63C69DD-4CFB-44C8-85E4-B6BE897DB3AB}">
  <we:reference id="WA200010001" version="1.0.0.1" store="Omex" storeType="OMEX"/>
  <we:alternateReferences>
    <we:reference id="WA200010001" version="1.0.0.1" store="WA200010001" storeType="OMEX"/>
  </we:alternateReferences>
  <we:properties>
    <we:property name="claude.fileId" value="&quot;11f1db90-eded-43f8-bacd-8bacaf197a3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CBA</Template>
  <TotalTime>9451</TotalTime>
  <Words>2352</Words>
  <Application>Microsoft Office PowerPoint</Application>
  <PresentationFormat>Widescreen</PresentationFormat>
  <Paragraphs>255</Paragraphs>
  <Slides>31</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Cambria</vt:lpstr>
      <vt:lpstr>Cambria Math</vt:lpstr>
      <vt:lpstr>Wingdings</vt:lpstr>
      <vt:lpstr>CBA [1784383129294]</vt:lpstr>
      <vt:lpstr>PowerPoint Presentation</vt:lpstr>
      <vt:lpstr>Table of Contents</vt:lpstr>
      <vt:lpstr>1. The Time Value of Money</vt:lpstr>
      <vt:lpstr>Future Value – 1 Year Later</vt:lpstr>
      <vt:lpstr>Future Value – 5 Years Later</vt:lpstr>
      <vt:lpstr>PowerPoint Presentation</vt:lpstr>
      <vt:lpstr>Annuity</vt:lpstr>
      <vt:lpstr>Perpetuity</vt:lpstr>
      <vt:lpstr>2. Meet Mr. Market – Price vs Value</vt:lpstr>
      <vt:lpstr>Who is Mr. Market? </vt:lpstr>
      <vt:lpstr>The Lesson: Price ≠ Value </vt:lpstr>
      <vt:lpstr>Two Ways People try to Beat the Market</vt:lpstr>
      <vt:lpstr>A Note on Market Efficiency</vt:lpstr>
      <vt:lpstr>Discussion Questions</vt:lpstr>
      <vt:lpstr>3. Discounted Free Cash Flow (DCF) Valuation</vt:lpstr>
      <vt:lpstr>Discounted Cash Flow (DCF) Model </vt:lpstr>
      <vt:lpstr>DCF in Practice : Five-Step Procedure</vt:lpstr>
      <vt:lpstr>DCF Model – A Worked Example</vt:lpstr>
      <vt:lpstr>DCF Model – A Worked Example</vt:lpstr>
      <vt:lpstr>4. Cost of Capital vs. Cost of Equity </vt:lpstr>
      <vt:lpstr>PowerPoint Presentation</vt:lpstr>
      <vt:lpstr>PowerPoint Presentation</vt:lpstr>
      <vt:lpstr>PowerPoint Presentation</vt:lpstr>
      <vt:lpstr>5. The Price-Earnings (P/E) Ratio</vt:lpstr>
      <vt:lpstr>What is  P/E Ratio?</vt:lpstr>
      <vt:lpstr>What Drives the P/E?</vt:lpstr>
      <vt:lpstr>The Algebra Behind the Three Forces – Step 1 </vt:lpstr>
      <vt:lpstr>The Algebra Behind the Three Forces – Step 2 </vt:lpstr>
      <vt:lpstr>The Algebra Behind the Three Forces – Step 3 </vt:lpstr>
      <vt:lpstr> Appendix- Warren Buffett’s Famous Investing Quotes</vt:lpstr>
      <vt:lpstr>Warren Buffett’s Famous Investing Quotes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157</cp:revision>
  <dcterms:created xsi:type="dcterms:W3CDTF">2017-10-25T17:52:39Z</dcterms:created>
  <dcterms:modified xsi:type="dcterms:W3CDTF">2026-08-07T15:39:32Z</dcterms:modified>
</cp:coreProperties>
</file>