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1508" r:id="rId29"/>
    <p:sldId id="284" r:id="rId30"/>
    <p:sldId id="1507" r:id="rId31"/>
    <p:sldId id="286" r:id="rId32"/>
    <p:sldId id="1506" r:id="rId33"/>
    <p:sldId id="288" r:id="rId34"/>
    <p:sldId id="289" r:id="rId35"/>
    <p:sldId id="290" r:id="rId36"/>
    <p:sldId id="1505" r:id="rId37"/>
    <p:sldId id="292" r:id="rId38"/>
    <p:sldId id="1504" r:id="rId39"/>
    <p:sldId id="294" r:id="rId40"/>
    <p:sldId id="295" r:id="rId41"/>
    <p:sldId id="296" r:id="rId42"/>
    <p:sldId id="297" r:id="rId43"/>
    <p:sldId id="298" r:id="rId44"/>
    <p:sldId id="1503" r:id="rId45"/>
    <p:sldId id="300" r:id="rId46"/>
    <p:sldId id="1502" r:id="rId47"/>
    <p:sldId id="302" r:id="rId48"/>
    <p:sldId id="1501" r:id="rId49"/>
    <p:sldId id="304" r:id="rId50"/>
    <p:sldId id="1500" r:id="rId51"/>
    <p:sldId id="306" r:id="rId52"/>
    <p:sldId id="1499" r:id="rId53"/>
    <p:sldId id="308" r:id="rId54"/>
    <p:sldId id="1498" r:id="rId55"/>
    <p:sldId id="310" r:id="rId56"/>
    <p:sldId id="1497" r:id="rId57"/>
    <p:sldId id="312" r:id="rId58"/>
    <p:sldId id="1496" r:id="rId59"/>
    <p:sldId id="314" r:id="rId60"/>
    <p:sldId id="1495" r:id="rId61"/>
    <p:sldId id="316" r:id="rId62"/>
    <p:sldId id="1494" r:id="rId63"/>
    <p:sldId id="318" r:id="rId64"/>
    <p:sldId id="1493" r:id="rId65"/>
    <p:sldId id="320" r:id="rId66"/>
    <p:sldId id="321" r:id="rId67"/>
    <p:sldId id="322" r:id="rId68"/>
    <p:sldId id="1528" r:id="rId69"/>
    <p:sldId id="324" r:id="rId70"/>
    <p:sldId id="1490" r:id="rId71"/>
    <p:sldId id="326" r:id="rId72"/>
    <p:sldId id="1512" r:id="rId73"/>
    <p:sldId id="328" r:id="rId74"/>
    <p:sldId id="329" r:id="rId75"/>
    <p:sldId id="330" r:id="rId76"/>
  </p:sldIdLst>
  <p:sldSz cx="12192000" cy="6858000"/>
  <p:notesSz cx="6858000" cy="9144000"/>
  <p:embeddedFontLst>
    <p:embeddedFont>
      <p:font typeface="ＭＳ Ｐゴシック" panose="020B0600070205080204" pitchFamily="34" charset="-128"/>
      <p:regular r:id="rId78"/>
    </p:embeddedFont>
    <p:embeddedFont>
      <p:font typeface="Helvetica" panose="020B0604020202020204" pitchFamily="34" charset="0"/>
      <p:regular r:id="rId79"/>
      <p:bold r:id="rId80"/>
      <p:italic r:id="rId81"/>
      <p:boldItalic r:id="rId82"/>
    </p:embeddedFont>
    <p:embeddedFont>
      <p:font typeface="Helvetica Neue" panose="020B0604020202020204"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3B7C02-C20F-42C7-878E-1E52F1C29615}">
  <a:tblStyle styleId="{EC3B7C02-C20F-42C7-878E-1E52F1C29615}"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954" y="90"/>
      </p:cViewPr>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7.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2.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6.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5.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1pPr>
            <a:lvl2pPr marL="914400" marR="0" lvl="1"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2pPr>
            <a:lvl3pPr marL="1371600" marR="0" lvl="2"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3pPr>
            <a:lvl4pPr marL="1828800" marR="0" lvl="3"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4pPr>
            <a:lvl5pPr marL="2286000" marR="0" lvl="4" indent="-228600" algn="l" rtl="0">
              <a:spcBef>
                <a:spcPts val="0"/>
              </a:spcBef>
              <a:spcAft>
                <a:spcPts val="0"/>
              </a:spcAft>
              <a:buSzPts val="1400"/>
              <a:buNone/>
              <a:defRPr sz="1200" b="0" i="0" u="none" strike="noStrike" cap="none">
                <a:solidFill>
                  <a:schemeClr val="dk1"/>
                </a:solidFill>
                <a:latin typeface="Avenir"/>
                <a:ea typeface="Avenir"/>
                <a:cs typeface="Avenir"/>
                <a:sym typeface="Avenir"/>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
        <p:nvSpPr>
          <p:cNvPr id="5" name="Google Shape;5;n"/>
          <p:cNvSpPr>
            <a:spLocks noGrp="1" noRot="1" noChangeAspect="1"/>
          </p:cNvSpPr>
          <p:nvPr>
            <p:ph type="sldImg" idx="2"/>
          </p:nvPr>
        </p:nvSpPr>
        <p:spPr>
          <a:xfrm>
            <a:off x="4336473" y="458788"/>
            <a:ext cx="2157057" cy="121334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4065588" y="458788"/>
            <a:ext cx="2417762" cy="13604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venir"/>
              <a:buNone/>
            </a:pPr>
            <a:r>
              <a:rPr lang="en-US"/>
              <a:t>Welcome to Middlesex University</a:t>
            </a:r>
            <a:endParaRPr/>
          </a:p>
          <a:p>
            <a:pPr marL="0" lvl="0" indent="0" algn="l" rtl="0">
              <a:spcBef>
                <a:spcPts val="0"/>
              </a:spcBef>
              <a:spcAft>
                <a:spcPts val="0"/>
              </a:spcAft>
              <a:buNone/>
            </a:pPr>
            <a:endParaRPr/>
          </a:p>
        </p:txBody>
      </p:sp>
      <p:sp>
        <p:nvSpPr>
          <p:cNvPr id="84" name="Google Shape;84;p1: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Today is about doing….</a:t>
            </a:r>
            <a:endParaRPr/>
          </a:p>
          <a:p>
            <a:pPr marL="0" lvl="0" indent="0" algn="l" rtl="0">
              <a:spcBef>
                <a:spcPts val="0"/>
              </a:spcBef>
              <a:spcAft>
                <a:spcPts val="0"/>
              </a:spcAft>
              <a:buNone/>
            </a:pPr>
            <a:endParaRPr/>
          </a:p>
          <a:p>
            <a:pPr marL="0" lvl="0" indent="0" algn="l" rtl="0">
              <a:spcBef>
                <a:spcPts val="0"/>
              </a:spcBef>
              <a:spcAft>
                <a:spcPts val="0"/>
              </a:spcAft>
              <a:buNone/>
            </a:pPr>
            <a:r>
              <a:rPr lang="en-US"/>
              <a:t>The board set-up is important so take your time with this. It can take around 10 minutes for the participants to get everything straight.</a:t>
            </a: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Avenir"/>
              <a:buNone/>
            </a:pPr>
            <a:r>
              <a:rPr lang="en-US" sz="1200" b="1">
                <a:solidFill>
                  <a:schemeClr val="dk1"/>
                </a:solidFill>
              </a:rPr>
              <a:t>Tips, tricks and pitfalls</a:t>
            </a:r>
            <a:endParaRPr sz="1200">
              <a:solidFill>
                <a:schemeClr val="dk1"/>
              </a:solidFill>
            </a:endParaRPr>
          </a:p>
          <a:p>
            <a:pPr marL="0" lvl="0" indent="0" algn="l" rtl="0">
              <a:spcBef>
                <a:spcPts val="0"/>
              </a:spcBef>
              <a:spcAft>
                <a:spcPts val="0"/>
              </a:spcAft>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We have done definitions of assets, liabilities and equity in the butterfly. </a:t>
            </a:r>
            <a:endParaRPr/>
          </a:p>
          <a:p>
            <a:pPr marL="171450" lvl="0" indent="-82550" algn="l" rtl="0">
              <a:spcBef>
                <a:spcPts val="0"/>
              </a:spcBef>
              <a:spcAft>
                <a:spcPts val="0"/>
              </a:spcAft>
              <a:buClr>
                <a:schemeClr val="dk1"/>
              </a:buClr>
              <a:buSzPts val="1400"/>
              <a:buFont typeface="Arial"/>
              <a:buNone/>
            </a:pPr>
            <a:endParaRPr sz="14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This section does them again and introduces the all-important definitions of VGA (value generating activity) </a:t>
            </a:r>
            <a:r>
              <a:rPr lang="en-US" sz="1200" b="1" u="sng">
                <a:solidFill>
                  <a:schemeClr val="dk1"/>
                </a:solidFill>
              </a:rPr>
              <a:t>income</a:t>
            </a:r>
            <a:r>
              <a:rPr lang="en-US" sz="1200">
                <a:solidFill>
                  <a:schemeClr val="dk1"/>
                </a:solidFill>
              </a:rPr>
              <a:t> and VSA (value sacrificing activity) </a:t>
            </a:r>
            <a:r>
              <a:rPr lang="en-US" sz="1200" b="1" u="sng">
                <a:solidFill>
                  <a:schemeClr val="dk1"/>
                </a:solidFill>
              </a:rPr>
              <a:t>expense</a:t>
            </a:r>
            <a:r>
              <a:rPr lang="en-US" sz="1200">
                <a:solidFill>
                  <a:schemeClr val="dk1"/>
                </a:solidFill>
              </a:rPr>
              <a:t>.</a:t>
            </a:r>
            <a:endParaRPr/>
          </a:p>
          <a:p>
            <a:pPr marL="171450" lvl="0" indent="-82550" algn="l" rtl="0">
              <a:spcBef>
                <a:spcPts val="0"/>
              </a:spcBef>
              <a:spcAft>
                <a:spcPts val="0"/>
              </a:spcAft>
              <a:buClr>
                <a:schemeClr val="dk1"/>
              </a:buClr>
              <a:buSzPts val="1400"/>
              <a:buFont typeface="Arial"/>
              <a:buNone/>
            </a:pPr>
            <a:endParaRPr sz="14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These are “educational definitions”, not official definitions. They’ve proved to work really well in overcoming classic errors, like thinking that income is money. </a:t>
            </a:r>
            <a:endParaRPr/>
          </a:p>
          <a:p>
            <a:pPr marL="171450" lvl="0" indent="-82550" algn="l" rtl="0">
              <a:spcBef>
                <a:spcPts val="0"/>
              </a:spcBef>
              <a:spcAft>
                <a:spcPts val="0"/>
              </a:spcAft>
              <a:buClr>
                <a:schemeClr val="dk1"/>
              </a:buClr>
              <a:buSzPts val="1400"/>
              <a:buFont typeface="Arial"/>
              <a:buNone/>
            </a:pPr>
            <a:endParaRPr sz="14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To derive the income part of the framework you’ll do some of the Classic Transactions [ 1; 2; 6a and 6b ], but with different numbers: </a:t>
            </a:r>
            <a:endParaRPr/>
          </a:p>
          <a:p>
            <a:pPr marL="171450" lvl="0" indent="-82550" algn="l" rtl="0">
              <a:spcBef>
                <a:spcPts val="0"/>
              </a:spcBef>
              <a:spcAft>
                <a:spcPts val="0"/>
              </a:spcAft>
              <a:buClr>
                <a:schemeClr val="dk1"/>
              </a:buClr>
              <a:buSzPts val="1400"/>
              <a:buFont typeface="Arial"/>
              <a:buNone/>
            </a:pPr>
            <a:endParaRPr sz="14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Borrow money from lender £30,000</a:t>
            </a:r>
            <a:endParaRPr sz="1400">
              <a:solidFill>
                <a:schemeClr val="dk1"/>
              </a:solidFill>
            </a:endParaRPr>
          </a:p>
          <a:p>
            <a:pPr marL="628650" lvl="1" indent="-95250" algn="l" rtl="0">
              <a:spcBef>
                <a:spcPts val="0"/>
              </a:spcBef>
              <a:spcAft>
                <a:spcPts val="0"/>
              </a:spcAft>
              <a:buClr>
                <a:schemeClr val="dk1"/>
              </a:buClr>
              <a:buSzPts val="1200"/>
              <a:buFont typeface="Arial"/>
              <a:buNone/>
            </a:pPr>
            <a:endParaRPr sz="12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Owner invests money as equity £20,000</a:t>
            </a:r>
            <a:endParaRPr sz="1400">
              <a:solidFill>
                <a:schemeClr val="dk1"/>
              </a:solidFill>
            </a:endParaRPr>
          </a:p>
          <a:p>
            <a:pPr marL="628650" lvl="1" indent="-95250" algn="l" rtl="0">
              <a:spcBef>
                <a:spcPts val="0"/>
              </a:spcBef>
              <a:spcAft>
                <a:spcPts val="0"/>
              </a:spcAft>
              <a:buClr>
                <a:schemeClr val="dk1"/>
              </a:buClr>
              <a:buSzPts val="1200"/>
              <a:buFont typeface="Arial"/>
              <a:buNone/>
            </a:pPr>
            <a:endParaRPr sz="12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Make a sale £700</a:t>
            </a:r>
            <a:endParaRPr sz="1400">
              <a:solidFill>
                <a:schemeClr val="dk1"/>
              </a:solidFill>
            </a:endParaRPr>
          </a:p>
          <a:p>
            <a:pPr marL="628650" lvl="1" indent="-95250" algn="l" rtl="0">
              <a:spcBef>
                <a:spcPts val="0"/>
              </a:spcBef>
              <a:spcAft>
                <a:spcPts val="0"/>
              </a:spcAft>
              <a:buClr>
                <a:schemeClr val="dk1"/>
              </a:buClr>
              <a:buSzPts val="1200"/>
              <a:buFont typeface="Arial"/>
              <a:buNone/>
            </a:pPr>
            <a:endParaRPr sz="12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Cost associated with that sale £300</a:t>
            </a:r>
            <a:endParaRPr sz="1400">
              <a:solidFill>
                <a:schemeClr val="dk1"/>
              </a:solidFill>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We use the last two transactions to introduce the concept of profit as generated equity.</a:t>
            </a:r>
            <a:endParaRPr/>
          </a:p>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4194175" y="458788"/>
            <a:ext cx="2289175" cy="1289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0" name="Google Shape;90;p2: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Helvetica Neue"/>
                <a:ea typeface="Helvetica Neue"/>
                <a:cs typeface="Helvetica Neue"/>
                <a:sym typeface="Helvetica Neue"/>
              </a:rPr>
              <a:t>2</a:t>
            </a:fld>
            <a:endParaRPr sz="12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0">
                <a:solidFill>
                  <a:srgbClr val="7030A0"/>
                </a:solidFill>
                <a:highlight>
                  <a:srgbClr val="FFFF00"/>
                </a:highlight>
              </a:rPr>
              <a:t>Do a super-quick re-cap of the butterfly conversation</a:t>
            </a:r>
            <a:endParaRPr/>
          </a:p>
          <a:p>
            <a:pPr marL="0" lvl="0" indent="0" algn="l" rtl="0">
              <a:spcBef>
                <a:spcPts val="0"/>
              </a:spcBef>
              <a:spcAft>
                <a:spcPts val="0"/>
              </a:spcAft>
              <a:buNone/>
            </a:pPr>
            <a:endParaRPr sz="1600" b="0">
              <a:solidFill>
                <a:srgbClr val="7030A0"/>
              </a:solidFill>
              <a:highlight>
                <a:srgbClr val="FFFF00"/>
              </a:highlight>
            </a:endParaRPr>
          </a:p>
          <a:p>
            <a:pPr marL="0" lvl="0" indent="0" algn="l" rtl="0">
              <a:spcBef>
                <a:spcPts val="0"/>
              </a:spcBef>
              <a:spcAft>
                <a:spcPts val="0"/>
              </a:spcAft>
              <a:buNone/>
            </a:pPr>
            <a:r>
              <a:rPr lang="en-US" sz="1600" b="0">
                <a:solidFill>
                  <a:srgbClr val="7030A0"/>
                </a:solidFill>
                <a:highlight>
                  <a:srgbClr val="FFFF00"/>
                </a:highlight>
              </a:rPr>
              <a:t>Point students to re-run of induction session at 3pm on Tuesday, or recordings if that session has passed.</a:t>
            </a:r>
            <a:endParaRPr b="0"/>
          </a:p>
        </p:txBody>
      </p:sp>
      <p:sp>
        <p:nvSpPr>
          <p:cNvPr id="98" name="Google Shape;98;p3:notes"/>
          <p:cNvSpPr>
            <a:spLocks noGrp="1" noRot="1" noChangeAspect="1"/>
          </p:cNvSpPr>
          <p:nvPr>
            <p:ph type="sldImg" idx="2"/>
          </p:nvPr>
        </p:nvSpPr>
        <p:spPr>
          <a:xfrm>
            <a:off x="4256088" y="458788"/>
            <a:ext cx="2227262" cy="1254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9" name="Google Shape;99;p3: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Helvetica Neue"/>
                <a:ea typeface="Helvetica Neue"/>
                <a:cs typeface="Helvetica Neue"/>
                <a:sym typeface="Helvetica Neue"/>
              </a:rPr>
              <a:t>3</a:t>
            </a:fld>
            <a:endParaRPr sz="1200" b="0" i="0" u="none" strike="noStrike" cap="none">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Headlines</a:t>
            </a:r>
            <a:endParaRPr/>
          </a:p>
          <a:p>
            <a:pPr marL="0" lvl="0" indent="0" algn="l" rtl="0">
              <a:spcBef>
                <a:spcPts val="0"/>
              </a:spcBef>
              <a:spcAft>
                <a:spcPts val="0"/>
              </a:spcAft>
              <a:buNone/>
            </a:pPr>
            <a:endParaRPr/>
          </a:p>
          <a:p>
            <a:pPr marL="0" lvl="0" indent="0" algn="l" rtl="0">
              <a:spcBef>
                <a:spcPts val="0"/>
              </a:spcBef>
              <a:spcAft>
                <a:spcPts val="0"/>
              </a:spcAft>
              <a:buNone/>
            </a:pPr>
            <a:r>
              <a:rPr lang="en-US"/>
              <a:t>Build the story with numbers:</a:t>
            </a:r>
            <a:endParaRPr/>
          </a:p>
          <a:p>
            <a:pPr marL="457200" lvl="1" indent="0" algn="l" rtl="0">
              <a:spcBef>
                <a:spcPts val="0"/>
              </a:spcBef>
              <a:spcAft>
                <a:spcPts val="0"/>
              </a:spcAft>
              <a:buNone/>
            </a:pPr>
            <a:r>
              <a:rPr lang="en-US" b="1">
                <a:solidFill>
                  <a:schemeClr val="accent1"/>
                </a:solidFill>
              </a:rPr>
              <a:t>A = 50,000</a:t>
            </a:r>
            <a:endParaRPr>
              <a:solidFill>
                <a:schemeClr val="accent1"/>
              </a:solidFill>
            </a:endParaRPr>
          </a:p>
          <a:p>
            <a:pPr marL="457200" lvl="1" indent="0" algn="l" rtl="0">
              <a:spcBef>
                <a:spcPts val="0"/>
              </a:spcBef>
              <a:spcAft>
                <a:spcPts val="0"/>
              </a:spcAft>
              <a:buNone/>
            </a:pPr>
            <a:r>
              <a:rPr lang="en-US" b="1">
                <a:solidFill>
                  <a:schemeClr val="accent1"/>
                </a:solidFill>
              </a:rPr>
              <a:t>L = 30,000</a:t>
            </a:r>
            <a:endParaRPr>
              <a:solidFill>
                <a:schemeClr val="accent1"/>
              </a:solidFill>
            </a:endParaRPr>
          </a:p>
          <a:p>
            <a:pPr marL="457200" lvl="1" indent="0" algn="l" rtl="0">
              <a:spcBef>
                <a:spcPts val="0"/>
              </a:spcBef>
              <a:spcAft>
                <a:spcPts val="0"/>
              </a:spcAft>
              <a:buNone/>
            </a:pPr>
            <a:r>
              <a:rPr lang="en-US" b="1">
                <a:solidFill>
                  <a:schemeClr val="accent1"/>
                </a:solidFill>
              </a:rPr>
              <a:t>E = 20,000</a:t>
            </a:r>
            <a:endParaRPr>
              <a:solidFill>
                <a:schemeClr val="accent1"/>
              </a:solidFill>
            </a:endParaRPr>
          </a:p>
          <a:p>
            <a:pPr marL="0" lvl="0" indent="0" algn="l" rtl="0">
              <a:spcBef>
                <a:spcPts val="0"/>
              </a:spcBef>
              <a:spcAft>
                <a:spcPts val="0"/>
              </a:spcAft>
              <a:buNone/>
            </a:pPr>
            <a:endParaRPr/>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spcBef>
                <a:spcPts val="0"/>
              </a:spcBef>
              <a:spcAft>
                <a:spcPts val="0"/>
              </a:spcAft>
              <a:buNone/>
            </a:pPr>
            <a:r>
              <a:rPr lang="en-US" b="1"/>
              <a:t>Sequence Steps</a:t>
            </a:r>
            <a:endParaRPr/>
          </a:p>
          <a:p>
            <a:pPr marL="0" lvl="0" indent="0" algn="l" rtl="0">
              <a:spcBef>
                <a:spcPts val="0"/>
              </a:spcBef>
              <a:spcAft>
                <a:spcPts val="0"/>
              </a:spcAft>
              <a:buNone/>
            </a:pPr>
            <a:endParaRPr b="1"/>
          </a:p>
          <a:p>
            <a:pPr marL="171450" lvl="0" indent="-171450" algn="l" rtl="0">
              <a:spcBef>
                <a:spcPts val="0"/>
              </a:spcBef>
              <a:spcAft>
                <a:spcPts val="0"/>
              </a:spcAft>
              <a:buClr>
                <a:schemeClr val="dk1"/>
              </a:buClr>
              <a:buSzPts val="1200"/>
              <a:buFont typeface="Arial"/>
              <a:buChar char="•"/>
            </a:pPr>
            <a:r>
              <a:rPr lang="en-US"/>
              <a:t>Say: let’s assume this is a start-up business and we need all these assets we’ve identified. Let’s say we need </a:t>
            </a:r>
            <a:r>
              <a:rPr lang="en-US" b="1">
                <a:solidFill>
                  <a:schemeClr val="accent1"/>
                </a:solidFill>
              </a:rPr>
              <a:t>£50,000 </a:t>
            </a:r>
            <a:r>
              <a:rPr lang="en-US"/>
              <a:t>worth of assets. </a:t>
            </a:r>
            <a:r>
              <a:rPr lang="en-US" b="1">
                <a:solidFill>
                  <a:srgbClr val="C00000"/>
                </a:solidFill>
              </a:rPr>
              <a:t>[ CLICK ]</a:t>
            </a:r>
            <a:r>
              <a:rPr lang="en-US"/>
              <a:t> to reveal </a:t>
            </a:r>
            <a:r>
              <a:rPr lang="en-US" b="1">
                <a:solidFill>
                  <a:schemeClr val="accent1"/>
                </a:solidFill>
              </a:rPr>
              <a:t>50,000</a:t>
            </a:r>
            <a:r>
              <a:rPr lang="en-US"/>
              <a:t> in assets wing.</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Ask: where will we get the 50,000 from for the assets? </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Start with debt. Ask them what accountants call this element of the story – Liabilities and get them to write it in the wing like your example </a:t>
            </a:r>
            <a:r>
              <a:rPr lang="en-US" b="1">
                <a:solidFill>
                  <a:srgbClr val="C00000"/>
                </a:solidFill>
              </a:rPr>
              <a:t>[ CLICK ]</a:t>
            </a:r>
            <a:r>
              <a:rPr lang="en-US"/>
              <a:t>. State that we can borrow the funds from the lenders (creditors) and then we are contractually obligated to return those assets later. Say: let’s assume we have borrowed £30,000 – </a:t>
            </a:r>
            <a:r>
              <a:rPr lang="en-US" b="1">
                <a:solidFill>
                  <a:srgbClr val="C00000"/>
                </a:solidFill>
              </a:rPr>
              <a:t>[ CLICK ]</a:t>
            </a:r>
            <a:r>
              <a:rPr lang="en-US"/>
              <a:t> to reveal </a:t>
            </a:r>
            <a:r>
              <a:rPr lang="en-US" b="1"/>
              <a:t>30,000</a:t>
            </a:r>
            <a:r>
              <a:rPr lang="en-US"/>
              <a:t> in blue.</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Ask: where else can we get funds for the assets we need? </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From the owners. Accountants call this element of the story? Equity. </a:t>
            </a:r>
            <a:r>
              <a:rPr lang="en-US" b="1">
                <a:solidFill>
                  <a:srgbClr val="C00000"/>
                </a:solidFill>
              </a:rPr>
              <a:t>[ CLICK ]</a:t>
            </a:r>
            <a:r>
              <a:rPr lang="en-US"/>
              <a:t>  to reveal Equity in the wing. State that if we source the funds from the owners (shareholders) then we are “morally” obliged to return those assets later (should also be a growth in net assets from profits). </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How much do the owners? £20,000 – </a:t>
            </a:r>
            <a:r>
              <a:rPr lang="en-US" b="1">
                <a:solidFill>
                  <a:srgbClr val="C00000"/>
                </a:solidFill>
              </a:rPr>
              <a:t>[ CLICK ]</a:t>
            </a:r>
            <a:r>
              <a:rPr lang="en-US"/>
              <a:t> to reveal </a:t>
            </a:r>
            <a:r>
              <a:rPr lang="en-US" b="1"/>
              <a:t>20,000</a:t>
            </a:r>
            <a:r>
              <a:rPr lang="en-US"/>
              <a:t> in blue.</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rgbClr val="C00000"/>
              </a:buClr>
              <a:buSzPts val="1200"/>
              <a:buFont typeface="Arial"/>
              <a:buChar char="•"/>
            </a:pPr>
            <a:r>
              <a:rPr lang="en-US" i="1">
                <a:solidFill>
                  <a:srgbClr val="C00000"/>
                </a:solidFill>
              </a:rPr>
              <a:t>Note the POV distinction with owners – students may say ‘investment’ or ‘savings’ which are only correct if you are using the owners’ POV, which we are not. These examples can only be Assets from the entity’s POV.</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If necessary, refer to “Point of view” discussion “A rabble of butterflies” on page 10. Also consider using ‘pineapple’ example if not done already.</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Write ‘</a:t>
            </a:r>
            <a:r>
              <a:rPr lang="en-US" b="1"/>
              <a:t>sources</a:t>
            </a:r>
            <a:r>
              <a:rPr lang="en-US"/>
              <a:t>’ and ‘</a:t>
            </a:r>
            <a:r>
              <a:rPr lang="en-US" b="1"/>
              <a:t>uses</a:t>
            </a:r>
            <a:r>
              <a:rPr lang="en-US"/>
              <a:t>’ names to head each side and highlight ‘sources’ wing in yellow and ‘uses’ wing in green – they should replicate in their workbook. </a:t>
            </a:r>
            <a:r>
              <a:rPr lang="en-US" i="1">
                <a:solidFill>
                  <a:srgbClr val="C00000"/>
                </a:solidFill>
              </a:rPr>
              <a:t>From here on, only refer to the sides by their colour or title – don’t use ‘right hand’ or ‘left hand’ as this can be very confusing for some people who mix up directions. </a:t>
            </a:r>
            <a:endParaRPr sz="1200">
              <a:solidFill>
                <a:srgbClr val="C00000"/>
              </a:solidFill>
            </a:endParaRPr>
          </a:p>
        </p:txBody>
      </p:sp>
      <p:sp>
        <p:nvSpPr>
          <p:cNvPr id="107" name="Google Shape;107;p4:notes"/>
          <p:cNvSpPr>
            <a:spLocks noGrp="1" noRot="1" noChangeAspect="1"/>
          </p:cNvSpPr>
          <p:nvPr>
            <p:ph type="sldImg" idx="2"/>
          </p:nvPr>
        </p:nvSpPr>
        <p:spPr>
          <a:xfrm>
            <a:off x="4246563" y="458788"/>
            <a:ext cx="2236787" cy="12588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8" name="Google Shape;108;p4: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Headlines</a:t>
            </a:r>
            <a:endParaRPr/>
          </a:p>
          <a:p>
            <a:pPr marL="0" lvl="0" indent="0" algn="l" rtl="0">
              <a:spcBef>
                <a:spcPts val="0"/>
              </a:spcBef>
              <a:spcAft>
                <a:spcPts val="0"/>
              </a:spcAft>
              <a:buNone/>
            </a:pPr>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The green side defines assets as VALUABLE THINGS – the only place you will find anything of value, and the yellow side defines liabilities and equity as OBLIGATIONS of the entity – assets come with obligations – the duality. </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And also CLAIM per the accounting standards. Obligation is cleaner from entity POV.</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They have created a balance sheet: Assets, Liabilities &amp; Equity.</a:t>
            </a:r>
            <a:r>
              <a:rPr lang="en-US"/>
              <a:t> </a:t>
            </a:r>
            <a:endParaRPr sz="1200">
              <a:solidFill>
                <a:schemeClr val="dk1"/>
              </a:solidFill>
            </a:endParaRPr>
          </a:p>
          <a:p>
            <a:pPr marL="171450" lvl="0" indent="-95250" algn="l" rtl="0">
              <a:spcBef>
                <a:spcPts val="0"/>
              </a:spcBef>
              <a:spcAft>
                <a:spcPts val="0"/>
              </a:spcAft>
              <a:buClr>
                <a:schemeClr val="dk1"/>
              </a:buClr>
              <a:buSzPts val="1200"/>
              <a:buFont typeface="Arial"/>
              <a:buNone/>
            </a:pPr>
            <a:endParaRPr sz="1200">
              <a:solidFill>
                <a:srgbClr val="C00000"/>
              </a:solidFill>
            </a:endParaRPr>
          </a:p>
        </p:txBody>
      </p:sp>
      <p:sp>
        <p:nvSpPr>
          <p:cNvPr id="128" name="Google Shape;128;p5:notes"/>
          <p:cNvSpPr>
            <a:spLocks noGrp="1" noRot="1" noChangeAspect="1"/>
          </p:cNvSpPr>
          <p:nvPr>
            <p:ph type="sldImg" idx="2"/>
          </p:nvPr>
        </p:nvSpPr>
        <p:spPr>
          <a:xfrm>
            <a:off x="4246563" y="458788"/>
            <a:ext cx="2236787" cy="12588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9" name="Google Shape;129;p5: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Headlines</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Address meaning of the equals sign: Equivalence of amount, but not of nature.</a:t>
            </a:r>
            <a:endParaRPr/>
          </a:p>
          <a:p>
            <a:pPr marL="0" lvl="0" indent="0" algn="l" rtl="0">
              <a:spcBef>
                <a:spcPts val="0"/>
              </a:spcBef>
              <a:spcAft>
                <a:spcPts val="0"/>
              </a:spcAft>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Facilitate the Accounting Equation underneath and the expression of the accounting equation in its other form: </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0" lvl="0" indent="0" algn="l" rtl="0">
              <a:spcBef>
                <a:spcPts val="0"/>
              </a:spcBef>
              <a:spcAft>
                <a:spcPts val="0"/>
              </a:spcAft>
              <a:buNone/>
            </a:pPr>
            <a:r>
              <a:rPr lang="en-US" sz="1200" b="1">
                <a:solidFill>
                  <a:schemeClr val="dk1"/>
                </a:solidFill>
              </a:rPr>
              <a:t>			A  –  L  =  Net assets</a:t>
            </a:r>
            <a:endParaRPr sz="1200">
              <a:solidFill>
                <a:schemeClr val="dk1"/>
              </a:solidFill>
            </a:endParaRPr>
          </a:p>
          <a:p>
            <a:pPr marL="0" lvl="0" indent="0" algn="l" rtl="0">
              <a:spcBef>
                <a:spcPts val="0"/>
              </a:spcBef>
              <a:spcAft>
                <a:spcPts val="0"/>
              </a:spcAft>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Discuss intention of business, which is to grow net assets (more so than just growing assets).</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Address source of confusion: monetisation (both sides) versus money (green asset side only). Expressing values in currency, versus actual money. Add currency symbols.</a:t>
            </a:r>
            <a:endParaRPr sz="1200">
              <a:solidFill>
                <a:srgbClr val="C00000"/>
              </a:solidFill>
            </a:endParaRPr>
          </a:p>
        </p:txBody>
      </p:sp>
      <p:sp>
        <p:nvSpPr>
          <p:cNvPr id="152" name="Google Shape;152;p6:notes"/>
          <p:cNvSpPr>
            <a:spLocks noGrp="1" noRot="1" noChangeAspect="1"/>
          </p:cNvSpPr>
          <p:nvPr>
            <p:ph type="sldImg" idx="2"/>
          </p:nvPr>
        </p:nvSpPr>
        <p:spPr>
          <a:xfrm>
            <a:off x="4246563" y="458788"/>
            <a:ext cx="2236787" cy="12588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53" name="Google Shape;153;p6: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6</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Headlines</a:t>
            </a:r>
            <a:endParaRPr/>
          </a:p>
          <a:p>
            <a:pPr marL="0" lvl="0" indent="0" algn="l" rtl="0">
              <a:spcBef>
                <a:spcPts val="0"/>
              </a:spcBef>
              <a:spcAft>
                <a:spcPts val="0"/>
              </a:spcAft>
              <a:buNone/>
            </a:pPr>
            <a:endParaRPr/>
          </a:p>
          <a:p>
            <a:pPr marL="0" lvl="0" indent="0" algn="l" rtl="0">
              <a:spcBef>
                <a:spcPts val="0"/>
              </a:spcBef>
              <a:spcAft>
                <a:spcPts val="0"/>
              </a:spcAft>
              <a:buNone/>
            </a:pPr>
            <a:endParaRPr b="1"/>
          </a:p>
          <a:p>
            <a:pPr marL="171450" lvl="0" indent="-171450" algn="l" rtl="0">
              <a:spcBef>
                <a:spcPts val="0"/>
              </a:spcBef>
              <a:spcAft>
                <a:spcPts val="0"/>
              </a:spcAft>
              <a:buClr>
                <a:schemeClr val="dk1"/>
              </a:buClr>
              <a:buSzPts val="1200"/>
              <a:buFont typeface="Arial"/>
              <a:buChar char="•"/>
            </a:pPr>
            <a:r>
              <a:rPr lang="en-US" sz="1200">
                <a:solidFill>
                  <a:schemeClr val="dk1"/>
                </a:solidFill>
              </a:rPr>
              <a:t>Address source of confusion: monetisation (both sides) versus money (green asset side only). Expressing values in currency, versus actual money. </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Add currency symbols. </a:t>
            </a:r>
            <a:endParaRPr/>
          </a:p>
          <a:p>
            <a:pPr marL="171450" lvl="0" indent="-95250" algn="l" rtl="0">
              <a:spcBef>
                <a:spcPts val="0"/>
              </a:spcBef>
              <a:spcAft>
                <a:spcPts val="0"/>
              </a:spcAft>
              <a:buClr>
                <a:schemeClr val="dk1"/>
              </a:buClr>
              <a:buSzPts val="1200"/>
              <a:buFont typeface="Arial"/>
              <a:buNone/>
            </a:pPr>
            <a:endParaRPr sz="1200">
              <a:solidFill>
                <a:srgbClr val="C00000"/>
              </a:solidFill>
            </a:endParaRPr>
          </a:p>
        </p:txBody>
      </p:sp>
      <p:sp>
        <p:nvSpPr>
          <p:cNvPr id="186" name="Google Shape;186;p7:notes"/>
          <p:cNvSpPr>
            <a:spLocks noGrp="1" noRot="1" noChangeAspect="1"/>
          </p:cNvSpPr>
          <p:nvPr>
            <p:ph type="sldImg" idx="2"/>
          </p:nvPr>
        </p:nvSpPr>
        <p:spPr>
          <a:xfrm>
            <a:off x="4246563" y="458788"/>
            <a:ext cx="2236787" cy="12588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7" name="Google Shape;187;p7: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7</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8: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a:solidFill>
                  <a:schemeClr val="dk1"/>
                </a:solidFill>
              </a:rPr>
              <a:t>Headlines</a:t>
            </a:r>
            <a:endParaRPr/>
          </a:p>
          <a:p>
            <a:pPr marL="0" lvl="0" indent="0" algn="l" rtl="0">
              <a:spcBef>
                <a:spcPts val="0"/>
              </a:spcBef>
              <a:spcAft>
                <a:spcPts val="0"/>
              </a:spcAft>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Point of view</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Equity is never an asset.  EQUITY IS NEVER VALUABLE</a:t>
            </a:r>
            <a:endParaRPr sz="1200" b="1">
              <a:solidFill>
                <a:schemeClr val="dk1"/>
              </a:solidFill>
            </a:endParaRPr>
          </a:p>
          <a:p>
            <a:pPr marL="0" lvl="0" indent="0" algn="l" rtl="0">
              <a:spcBef>
                <a:spcPts val="0"/>
              </a:spcBef>
              <a:spcAft>
                <a:spcPts val="0"/>
              </a:spcAft>
              <a:buNone/>
            </a:pPr>
            <a:endParaRPr sz="1200" b="1">
              <a:solidFill>
                <a:schemeClr val="dk1"/>
              </a:solidFill>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b="1"/>
              <a:t>Detailed notes</a:t>
            </a:r>
            <a:endParaRPr/>
          </a:p>
          <a:p>
            <a:pPr marL="0" lvl="0" indent="0" algn="l" rtl="0">
              <a:spcBef>
                <a:spcPts val="0"/>
              </a:spcBef>
              <a:spcAft>
                <a:spcPts val="0"/>
              </a:spcAft>
              <a:buNone/>
            </a:pPr>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Point of view is such a common cause for erroneous thinking. For example, people think equity is valuable/an asset because they are standing in the owners’ position but talking from the entity’s position.</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Talking of equity: whenever we can, it’s impactful and usefully dramatic in a Colour Accounting session to make big, absolute statements such as: </a:t>
            </a:r>
            <a:endParaRPr/>
          </a:p>
          <a:p>
            <a:pPr marL="0" lvl="0" indent="0" algn="l" rtl="0">
              <a:spcBef>
                <a:spcPts val="0"/>
              </a:spcBef>
              <a:spcAft>
                <a:spcPts val="0"/>
              </a:spcAft>
              <a:buClr>
                <a:schemeClr val="dk1"/>
              </a:buClr>
              <a:buSzPts val="1200"/>
              <a:buFont typeface="Arial"/>
              <a:buNone/>
            </a:pPr>
            <a:endParaRPr sz="1200">
              <a:solidFill>
                <a:schemeClr val="dk1"/>
              </a:solidFill>
            </a:endParaRPr>
          </a:p>
          <a:p>
            <a:pPr marL="0" lvl="0" indent="0" algn="l" rtl="0">
              <a:spcBef>
                <a:spcPts val="0"/>
              </a:spcBef>
              <a:spcAft>
                <a:spcPts val="0"/>
              </a:spcAft>
              <a:buClr>
                <a:schemeClr val="dk1"/>
              </a:buClr>
              <a:buSzPts val="1200"/>
              <a:buFont typeface="Arial"/>
              <a:buNone/>
            </a:pPr>
            <a:r>
              <a:rPr lang="en-US" sz="1200">
                <a:solidFill>
                  <a:schemeClr val="dk1"/>
                </a:solidFill>
              </a:rPr>
              <a:t>		“Equity is never an asset!” </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People love absolutes. Hopefully a learner will challenge you and you can stand your ground: From the entity’s own point of view, equity’s never an asset. It’s an obligation. (It’s only an asset from the owner’s perspective and then it’s not called equity, but more likely investment).</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This page supports the discussion why a heading identifying the entity on the butterfly diagram is so important… to lock down the point of view. </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i="1">
                <a:solidFill>
                  <a:schemeClr val="dk1"/>
                </a:solidFill>
              </a:rPr>
              <a:t>‘Rabble’ is one of the collective nouns for a group of butterflies.</a:t>
            </a:r>
            <a:r>
              <a:rPr lang="en-US" sz="1200">
                <a:solidFill>
                  <a:schemeClr val="dk1"/>
                </a:solidFill>
              </a:rPr>
              <a:t> </a:t>
            </a:r>
            <a:endParaRPr/>
          </a:p>
          <a:p>
            <a:pPr marL="0" lvl="0" indent="0" algn="l" rtl="0">
              <a:spcBef>
                <a:spcPts val="0"/>
              </a:spcBef>
              <a:spcAft>
                <a:spcPts val="0"/>
              </a:spcAft>
              <a:buNone/>
            </a:pPr>
            <a:endParaRPr sz="1200">
              <a:solidFill>
                <a:schemeClr val="dk1"/>
              </a:solidFill>
            </a:endParaRPr>
          </a:p>
        </p:txBody>
      </p:sp>
      <p:sp>
        <p:nvSpPr>
          <p:cNvPr id="220" name="Google Shape;220;p8:notes"/>
          <p:cNvSpPr>
            <a:spLocks noGrp="1" noRot="1" noChangeAspect="1"/>
          </p:cNvSpPr>
          <p:nvPr>
            <p:ph type="sldImg" idx="2"/>
          </p:nvPr>
        </p:nvSpPr>
        <p:spPr>
          <a:xfrm>
            <a:off x="4252913" y="458788"/>
            <a:ext cx="2230437" cy="125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1" name="Google Shape;221;p8: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8</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9: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b="1">
                <a:solidFill>
                  <a:srgbClr val="7030A0"/>
                </a:solidFill>
                <a:highlight>
                  <a:srgbClr val="FFFF00"/>
                </a:highlight>
              </a:rPr>
              <a:t>Conversation 3</a:t>
            </a:r>
            <a:endParaRPr/>
          </a:p>
          <a:p>
            <a:pPr marL="0" lvl="0" indent="0" algn="l" rtl="0">
              <a:spcBef>
                <a:spcPts val="0"/>
              </a:spcBef>
              <a:spcAft>
                <a:spcPts val="0"/>
              </a:spcAft>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The Accounting Framework</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The value cycle</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Accrual accounting</a:t>
            </a:r>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0" marR="0" lvl="0" indent="0" algn="l" rtl="0">
              <a:lnSpc>
                <a:spcPct val="100000"/>
              </a:lnSpc>
              <a:spcBef>
                <a:spcPts val="0"/>
              </a:spcBef>
              <a:spcAft>
                <a:spcPts val="0"/>
              </a:spcAft>
              <a:buClr>
                <a:schemeClr val="dk1"/>
              </a:buClr>
              <a:buSzPts val="1200"/>
              <a:buFont typeface="Avenir"/>
              <a:buNone/>
            </a:pPr>
            <a:r>
              <a:rPr lang="en-US" sz="1200" b="1">
                <a:solidFill>
                  <a:schemeClr val="dk1"/>
                </a:solidFill>
              </a:rPr>
              <a:t>Tips, tricks and pitfalls</a:t>
            </a:r>
            <a:endParaRPr sz="1200">
              <a:solidFill>
                <a:schemeClr val="dk1"/>
              </a:solidFill>
            </a:endParaRPr>
          </a:p>
          <a:p>
            <a:pPr marL="0" lvl="0" indent="0" algn="l" rtl="0">
              <a:spcBef>
                <a:spcPts val="0"/>
              </a:spcBef>
              <a:spcAft>
                <a:spcPts val="0"/>
              </a:spcAft>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You will have done definitions of assets, liabilities and equity in the butterfly. </a:t>
            </a:r>
            <a:endParaRPr/>
          </a:p>
          <a:p>
            <a:pPr marL="171450" lvl="0" indent="-82550" algn="l" rtl="0">
              <a:spcBef>
                <a:spcPts val="0"/>
              </a:spcBef>
              <a:spcAft>
                <a:spcPts val="0"/>
              </a:spcAft>
              <a:buClr>
                <a:schemeClr val="dk1"/>
              </a:buClr>
              <a:buSzPts val="1400"/>
              <a:buFont typeface="Arial"/>
              <a:buNone/>
            </a:pPr>
            <a:endParaRPr sz="14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This section does them again and introduces the all-important definitions of VGA (value generating activity) </a:t>
            </a:r>
            <a:r>
              <a:rPr lang="en-US" sz="1200" b="1" u="sng">
                <a:solidFill>
                  <a:schemeClr val="dk1"/>
                </a:solidFill>
              </a:rPr>
              <a:t>income</a:t>
            </a:r>
            <a:r>
              <a:rPr lang="en-US" sz="1200">
                <a:solidFill>
                  <a:schemeClr val="dk1"/>
                </a:solidFill>
              </a:rPr>
              <a:t> and VSA (value sacrificing activity) </a:t>
            </a:r>
            <a:r>
              <a:rPr lang="en-US" sz="1200" b="1" u="sng">
                <a:solidFill>
                  <a:schemeClr val="dk1"/>
                </a:solidFill>
              </a:rPr>
              <a:t>expense</a:t>
            </a:r>
            <a:r>
              <a:rPr lang="en-US" sz="1200">
                <a:solidFill>
                  <a:schemeClr val="dk1"/>
                </a:solidFill>
              </a:rPr>
              <a:t>.</a:t>
            </a:r>
            <a:endParaRPr/>
          </a:p>
          <a:p>
            <a:pPr marL="171450" lvl="0" indent="-82550" algn="l" rtl="0">
              <a:spcBef>
                <a:spcPts val="0"/>
              </a:spcBef>
              <a:spcAft>
                <a:spcPts val="0"/>
              </a:spcAft>
              <a:buClr>
                <a:schemeClr val="dk1"/>
              </a:buClr>
              <a:buSzPts val="1400"/>
              <a:buFont typeface="Arial"/>
              <a:buNone/>
            </a:pPr>
            <a:endParaRPr sz="14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These are “educational definitions”, not official definitions. They’ve proved to work really well in overcoming classic errors, like thinking that income is money. </a:t>
            </a:r>
            <a:endParaRPr/>
          </a:p>
          <a:p>
            <a:pPr marL="171450" lvl="0" indent="-82550" algn="l" rtl="0">
              <a:spcBef>
                <a:spcPts val="0"/>
              </a:spcBef>
              <a:spcAft>
                <a:spcPts val="0"/>
              </a:spcAft>
              <a:buClr>
                <a:schemeClr val="dk1"/>
              </a:buClr>
              <a:buSzPts val="1400"/>
              <a:buFont typeface="Arial"/>
              <a:buNone/>
            </a:pPr>
            <a:endParaRPr sz="14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To derive the income part of the framework you’ll do some of the Classic Transactions [ 1; 2; 6a and 6b ], but with different numbers: </a:t>
            </a:r>
            <a:endParaRPr/>
          </a:p>
          <a:p>
            <a:pPr marL="171450" lvl="0" indent="-82550" algn="l" rtl="0">
              <a:spcBef>
                <a:spcPts val="0"/>
              </a:spcBef>
              <a:spcAft>
                <a:spcPts val="0"/>
              </a:spcAft>
              <a:buClr>
                <a:schemeClr val="dk1"/>
              </a:buClr>
              <a:buSzPts val="1400"/>
              <a:buFont typeface="Arial"/>
              <a:buNone/>
            </a:pPr>
            <a:endParaRPr sz="14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Borrow money from lender £30,000</a:t>
            </a:r>
            <a:endParaRPr sz="1400">
              <a:solidFill>
                <a:schemeClr val="dk1"/>
              </a:solidFill>
            </a:endParaRPr>
          </a:p>
          <a:p>
            <a:pPr marL="628650" lvl="1" indent="-95250" algn="l" rtl="0">
              <a:spcBef>
                <a:spcPts val="0"/>
              </a:spcBef>
              <a:spcAft>
                <a:spcPts val="0"/>
              </a:spcAft>
              <a:buClr>
                <a:schemeClr val="dk1"/>
              </a:buClr>
              <a:buSzPts val="1200"/>
              <a:buFont typeface="Arial"/>
              <a:buNone/>
            </a:pPr>
            <a:endParaRPr sz="12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Owner invests money as equity £20,000</a:t>
            </a:r>
            <a:endParaRPr sz="1400">
              <a:solidFill>
                <a:schemeClr val="dk1"/>
              </a:solidFill>
            </a:endParaRPr>
          </a:p>
          <a:p>
            <a:pPr marL="628650" lvl="1" indent="-95250" algn="l" rtl="0">
              <a:spcBef>
                <a:spcPts val="0"/>
              </a:spcBef>
              <a:spcAft>
                <a:spcPts val="0"/>
              </a:spcAft>
              <a:buClr>
                <a:schemeClr val="dk1"/>
              </a:buClr>
              <a:buSzPts val="1200"/>
              <a:buFont typeface="Arial"/>
              <a:buNone/>
            </a:pPr>
            <a:endParaRPr sz="12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Make a sale £700</a:t>
            </a:r>
            <a:endParaRPr sz="1400">
              <a:solidFill>
                <a:schemeClr val="dk1"/>
              </a:solidFill>
            </a:endParaRPr>
          </a:p>
          <a:p>
            <a:pPr marL="628650" lvl="1" indent="-95250" algn="l" rtl="0">
              <a:spcBef>
                <a:spcPts val="0"/>
              </a:spcBef>
              <a:spcAft>
                <a:spcPts val="0"/>
              </a:spcAft>
              <a:buClr>
                <a:schemeClr val="dk1"/>
              </a:buClr>
              <a:buSzPts val="1200"/>
              <a:buFont typeface="Arial"/>
              <a:buNone/>
            </a:pPr>
            <a:endParaRPr sz="12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Cost associated with that sale £300</a:t>
            </a:r>
            <a:endParaRPr sz="1400">
              <a:solidFill>
                <a:schemeClr val="dk1"/>
              </a:solidFill>
            </a:endParaRPr>
          </a:p>
          <a:p>
            <a:pPr marL="171450" lvl="0" indent="-95250" algn="l" rtl="0">
              <a:spcBef>
                <a:spcPts val="0"/>
              </a:spcBef>
              <a:spcAft>
                <a:spcPts val="0"/>
              </a:spcAft>
              <a:buClr>
                <a:schemeClr val="dk1"/>
              </a:buClr>
              <a:buSzPts val="1200"/>
              <a:buFont typeface="Arial"/>
              <a:buNone/>
            </a:pPr>
            <a:endParaRPr sz="1200">
              <a:solidFill>
                <a:schemeClr val="dk1"/>
              </a:solidFill>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We use the last two transactions to introduce the concept of profit as generated equity.</a:t>
            </a:r>
            <a:endParaRPr/>
          </a:p>
        </p:txBody>
      </p:sp>
      <p:sp>
        <p:nvSpPr>
          <p:cNvPr id="264" name="Google Shape;264;p9:notes"/>
          <p:cNvSpPr>
            <a:spLocks noGrp="1" noRot="1" noChangeAspect="1"/>
          </p:cNvSpPr>
          <p:nvPr>
            <p:ph type="sldImg" idx="2"/>
          </p:nvPr>
        </p:nvSpPr>
        <p:spPr>
          <a:xfrm>
            <a:off x="4256088" y="458788"/>
            <a:ext cx="2227262" cy="1254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65" name="Google Shape;265;p9: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9</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0: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Headlines</a:t>
            </a:r>
            <a:endParaRPr/>
          </a:p>
          <a:p>
            <a:pPr marL="0" lvl="0" indent="0" algn="l" rtl="0">
              <a:spcBef>
                <a:spcPts val="0"/>
              </a:spcBef>
              <a:spcAft>
                <a:spcPts val="0"/>
              </a:spcAft>
              <a:buNone/>
            </a:pPr>
            <a:endParaRPr b="1"/>
          </a:p>
          <a:p>
            <a:pPr marL="171450" lvl="0" indent="-171450" algn="l" rtl="0">
              <a:spcBef>
                <a:spcPts val="0"/>
              </a:spcBef>
              <a:spcAft>
                <a:spcPts val="0"/>
              </a:spcAft>
              <a:buClr>
                <a:schemeClr val="dk1"/>
              </a:buClr>
              <a:buSzPts val="1200"/>
              <a:buFont typeface="Arial"/>
              <a:buChar char="•"/>
            </a:pPr>
            <a:r>
              <a:rPr lang="en-US"/>
              <a:t>Relate “butterfly” to Accounting Framework</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There’s another source of funds – income</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Students should do what you do, in their workbooks, </a:t>
            </a:r>
            <a:br>
              <a:rPr lang="en-US"/>
            </a:br>
            <a:r>
              <a:rPr lang="en-US"/>
              <a:t>pages 12 – 13.</a:t>
            </a:r>
            <a:endParaRPr/>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spcBef>
                <a:spcPts val="0"/>
              </a:spcBef>
              <a:spcAft>
                <a:spcPts val="0"/>
              </a:spcAft>
              <a:buNone/>
            </a:pPr>
            <a:r>
              <a:rPr lang="en-US" b="1"/>
              <a:t>Sequence Steps</a:t>
            </a:r>
            <a:endParaRPr/>
          </a:p>
          <a:p>
            <a:pPr marL="0" lvl="0" indent="0" algn="l" rtl="0">
              <a:spcBef>
                <a:spcPts val="0"/>
              </a:spcBef>
              <a:spcAft>
                <a:spcPts val="0"/>
              </a:spcAft>
              <a:buNone/>
            </a:pPr>
            <a:endParaRPr/>
          </a:p>
          <a:p>
            <a:pPr marL="171450" lvl="0" indent="-171450" algn="l" rtl="0">
              <a:spcBef>
                <a:spcPts val="0"/>
              </a:spcBef>
              <a:spcAft>
                <a:spcPts val="0"/>
              </a:spcAft>
              <a:buClr>
                <a:schemeClr val="dk1"/>
              </a:buClr>
              <a:buSzPts val="1200"/>
              <a:buFont typeface="Arial"/>
              <a:buChar char="•"/>
            </a:pPr>
            <a:r>
              <a:rPr lang="en-US"/>
              <a:t>Point out that the Funding Butterfly is now shown as the top 3 boxes in the Framework – the balance sheet and they can ignore the bottom section for now.</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Explain that we are now going to use some transactions to explore the third source of funds – that received from the customers. To do so we will start an imaginary consulting business.</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Whose story? Reveal an entity name at top </a:t>
            </a:r>
            <a:r>
              <a:rPr lang="en-US" b="1">
                <a:solidFill>
                  <a:srgbClr val="C00000"/>
                </a:solidFill>
              </a:rPr>
              <a:t>[ CLICK ]</a:t>
            </a:r>
            <a:r>
              <a:rPr lang="en-US"/>
              <a:t>. Point of view!</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Say: this story is a funding story. </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Tell students to highlight the </a:t>
            </a:r>
            <a:r>
              <a:rPr lang="en-US" b="1"/>
              <a:t>Uses of funds</a:t>
            </a:r>
            <a:r>
              <a:rPr lang="en-US"/>
              <a:t> heading box in green and also the border of the </a:t>
            </a:r>
            <a:r>
              <a:rPr lang="en-US" b="1"/>
              <a:t>assets</a:t>
            </a:r>
            <a:r>
              <a:rPr lang="en-US"/>
              <a:t> box.</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Tell students to highlight the </a:t>
            </a:r>
            <a:r>
              <a:rPr lang="en-US" b="1"/>
              <a:t>Sources of funds</a:t>
            </a:r>
            <a:r>
              <a:rPr lang="en-US"/>
              <a:t> heading box in yellow and also the border of </a:t>
            </a:r>
            <a:r>
              <a:rPr lang="en-US" b="1"/>
              <a:t>liabilities </a:t>
            </a:r>
            <a:r>
              <a:rPr lang="en-US"/>
              <a:t>and </a:t>
            </a:r>
            <a:r>
              <a:rPr lang="en-US" b="1"/>
              <a:t>equity</a:t>
            </a:r>
            <a:r>
              <a:rPr lang="en-US"/>
              <a:t> boxes and the dividing line.</a:t>
            </a:r>
            <a:endParaRPr/>
          </a:p>
          <a:p>
            <a:pPr marL="0" lvl="0" indent="0" algn="l" rtl="0">
              <a:spcBef>
                <a:spcPts val="0"/>
              </a:spcBef>
              <a:spcAft>
                <a:spcPts val="0"/>
              </a:spcAft>
              <a:buNone/>
            </a:pPr>
            <a:endParaRPr/>
          </a:p>
        </p:txBody>
      </p:sp>
      <p:sp>
        <p:nvSpPr>
          <p:cNvPr id="275" name="Google Shape;275;p10:notes"/>
          <p:cNvSpPr>
            <a:spLocks noGrp="1" noRot="1" noChangeAspect="1"/>
          </p:cNvSpPr>
          <p:nvPr>
            <p:ph type="sldImg" idx="2"/>
          </p:nvPr>
        </p:nvSpPr>
        <p:spPr>
          <a:xfrm>
            <a:off x="4246563" y="458788"/>
            <a:ext cx="2236787" cy="12588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6" name="Google Shape;276;p10: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10</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1:notes"/>
          <p:cNvSpPr>
            <a:spLocks noGrp="1" noRot="1" noChangeAspect="1"/>
          </p:cNvSpPr>
          <p:nvPr>
            <p:ph type="sldImg" idx="2"/>
          </p:nvPr>
        </p:nvSpPr>
        <p:spPr>
          <a:xfrm>
            <a:off x="4246563" y="458788"/>
            <a:ext cx="2236787" cy="12588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7" name="Google Shape;287;p11: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11</a:t>
            </a:fld>
            <a:endParaRPr sz="1200">
              <a:solidFill>
                <a:schemeClr val="dk1"/>
              </a:solidFill>
              <a:latin typeface="Helvetica Neue"/>
              <a:ea typeface="Helvetica Neue"/>
              <a:cs typeface="Helvetica Neue"/>
              <a:sym typeface="Helvetica Neue"/>
            </a:endParaRPr>
          </a:p>
        </p:txBody>
      </p:sp>
      <p:sp>
        <p:nvSpPr>
          <p:cNvPr id="288" name="Google Shape;288;p11: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2:notes"/>
          <p:cNvSpPr>
            <a:spLocks noGrp="1" noRot="1" noChangeAspect="1"/>
          </p:cNvSpPr>
          <p:nvPr>
            <p:ph type="sldImg" idx="2"/>
          </p:nvPr>
        </p:nvSpPr>
        <p:spPr>
          <a:xfrm>
            <a:off x="4252913" y="458788"/>
            <a:ext cx="2230437" cy="125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05" name="Google Shape;305;p12: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12</a:t>
            </a:fld>
            <a:endParaRPr sz="1200">
              <a:solidFill>
                <a:schemeClr val="dk1"/>
              </a:solidFill>
              <a:latin typeface="Helvetica Neue"/>
              <a:ea typeface="Helvetica Neue"/>
              <a:cs typeface="Helvetica Neue"/>
              <a:sym typeface="Helvetica Neue"/>
            </a:endParaRPr>
          </a:p>
        </p:txBody>
      </p:sp>
      <p:sp>
        <p:nvSpPr>
          <p:cNvPr id="306" name="Google Shape;306;p12: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3:notes"/>
          <p:cNvSpPr>
            <a:spLocks noGrp="1" noRot="1" noChangeAspect="1"/>
          </p:cNvSpPr>
          <p:nvPr>
            <p:ph type="sldImg" idx="2"/>
          </p:nvPr>
        </p:nvSpPr>
        <p:spPr>
          <a:xfrm>
            <a:off x="4252913" y="458788"/>
            <a:ext cx="2230437" cy="125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31" name="Google Shape;331;p13: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13</a:t>
            </a:fld>
            <a:endParaRPr sz="1200">
              <a:solidFill>
                <a:schemeClr val="dk1"/>
              </a:solidFill>
              <a:latin typeface="Helvetica Neue"/>
              <a:ea typeface="Helvetica Neue"/>
              <a:cs typeface="Helvetica Neue"/>
              <a:sym typeface="Helvetica Neue"/>
            </a:endParaRPr>
          </a:p>
        </p:txBody>
      </p:sp>
      <p:sp>
        <p:nvSpPr>
          <p:cNvPr id="332" name="Google Shape;332;p13: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4:notes"/>
          <p:cNvSpPr>
            <a:spLocks noGrp="1" noRot="1" noChangeAspect="1"/>
          </p:cNvSpPr>
          <p:nvPr>
            <p:ph type="sldImg" idx="2"/>
          </p:nvPr>
        </p:nvSpPr>
        <p:spPr>
          <a:xfrm>
            <a:off x="4252913" y="458788"/>
            <a:ext cx="2230437" cy="125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63" name="Google Shape;363;p14: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14</a:t>
            </a:fld>
            <a:endParaRPr sz="1200">
              <a:solidFill>
                <a:schemeClr val="dk1"/>
              </a:solidFill>
              <a:latin typeface="Helvetica Neue"/>
              <a:ea typeface="Helvetica Neue"/>
              <a:cs typeface="Helvetica Neue"/>
              <a:sym typeface="Helvetica Neue"/>
            </a:endParaRPr>
          </a:p>
        </p:txBody>
      </p:sp>
      <p:sp>
        <p:nvSpPr>
          <p:cNvPr id="364" name="Google Shape;364;p14: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5:notes"/>
          <p:cNvSpPr>
            <a:spLocks noGrp="1" noRot="1" noChangeAspect="1"/>
          </p:cNvSpPr>
          <p:nvPr>
            <p:ph type="sldImg" idx="2"/>
          </p:nvPr>
        </p:nvSpPr>
        <p:spPr>
          <a:xfrm>
            <a:off x="4252913" y="458788"/>
            <a:ext cx="2230437" cy="12557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98" name="Google Shape;398;p15: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15</a:t>
            </a:fld>
            <a:endParaRPr sz="1200">
              <a:solidFill>
                <a:schemeClr val="dk1"/>
              </a:solidFill>
              <a:latin typeface="Helvetica Neue"/>
              <a:ea typeface="Helvetica Neue"/>
              <a:cs typeface="Helvetica Neue"/>
              <a:sym typeface="Helvetica Neue"/>
            </a:endParaRPr>
          </a:p>
        </p:txBody>
      </p:sp>
      <p:sp>
        <p:nvSpPr>
          <p:cNvPr id="399" name="Google Shape;399;p15: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6:notes"/>
          <p:cNvSpPr>
            <a:spLocks noGrp="1" noRot="1" noChangeAspect="1"/>
          </p:cNvSpPr>
          <p:nvPr>
            <p:ph type="sldImg" idx="2"/>
          </p:nvPr>
        </p:nvSpPr>
        <p:spPr>
          <a:xfrm>
            <a:off x="4246563" y="458788"/>
            <a:ext cx="2236787" cy="12588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38" name="Google Shape;438;p16: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16</a:t>
            </a:fld>
            <a:endParaRPr sz="1200">
              <a:solidFill>
                <a:schemeClr val="dk1"/>
              </a:solidFill>
              <a:latin typeface="Helvetica Neue"/>
              <a:ea typeface="Helvetica Neue"/>
              <a:cs typeface="Helvetica Neue"/>
              <a:sym typeface="Helvetica Neue"/>
            </a:endParaRPr>
          </a:p>
        </p:txBody>
      </p:sp>
      <p:sp>
        <p:nvSpPr>
          <p:cNvPr id="439" name="Google Shape;439;p16: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17: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46" name="Google Shape;446;p17: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17</a:t>
            </a:fld>
            <a:endParaRPr sz="1200">
              <a:solidFill>
                <a:schemeClr val="dk1"/>
              </a:solidFill>
              <a:latin typeface="Helvetica Neue"/>
              <a:ea typeface="Helvetica Neue"/>
              <a:cs typeface="Helvetica Neue"/>
              <a:sym typeface="Helvetica Neue"/>
            </a:endParaRPr>
          </a:p>
        </p:txBody>
      </p:sp>
      <p:sp>
        <p:nvSpPr>
          <p:cNvPr id="447" name="Google Shape;447;p17: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18: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Headlines</a:t>
            </a:r>
            <a:endParaRPr/>
          </a:p>
          <a:p>
            <a:pPr marL="0" lvl="0" indent="0" algn="l" rtl="0">
              <a:spcBef>
                <a:spcPts val="0"/>
              </a:spcBef>
              <a:spcAft>
                <a:spcPts val="0"/>
              </a:spcAft>
              <a:buNone/>
            </a:pPr>
            <a:endParaRPr b="1"/>
          </a:p>
          <a:p>
            <a:pPr marL="171450" lvl="0" indent="-171450" algn="l" rtl="0">
              <a:spcBef>
                <a:spcPts val="0"/>
              </a:spcBef>
              <a:spcAft>
                <a:spcPts val="0"/>
              </a:spcAft>
              <a:buClr>
                <a:schemeClr val="dk1"/>
              </a:buClr>
              <a:buSzPts val="1200"/>
              <a:buFont typeface="Arial"/>
              <a:buChar char="•"/>
            </a:pPr>
            <a:r>
              <a:rPr lang="en-US"/>
              <a:t>Determine which is income and which is expense.</a:t>
            </a:r>
            <a:endParaRPr/>
          </a:p>
          <a:p>
            <a:pPr marL="171450" lvl="0" indent="-95250" algn="l" rtl="0">
              <a:spcBef>
                <a:spcPts val="0"/>
              </a:spcBef>
              <a:spcAft>
                <a:spcPts val="0"/>
              </a:spcAft>
              <a:buClr>
                <a:schemeClr val="dk1"/>
              </a:buClr>
              <a:buSzPts val="1200"/>
              <a:buFont typeface="Arial"/>
              <a:buNone/>
            </a:pPr>
            <a:endParaRPr/>
          </a:p>
          <a:p>
            <a:pPr marL="171450" lvl="0" indent="-171450" algn="l" rtl="0">
              <a:spcBef>
                <a:spcPts val="0"/>
              </a:spcBef>
              <a:spcAft>
                <a:spcPts val="0"/>
              </a:spcAft>
              <a:buClr>
                <a:schemeClr val="dk1"/>
              </a:buClr>
              <a:buSzPts val="1200"/>
              <a:buFont typeface="Arial"/>
              <a:buChar char="•"/>
            </a:pPr>
            <a:r>
              <a:rPr lang="en-US"/>
              <a:t>Let them try to work this out.</a:t>
            </a:r>
            <a:endParaRPr/>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spcBef>
                <a:spcPts val="0"/>
              </a:spcBef>
              <a:spcAft>
                <a:spcPts val="0"/>
              </a:spcAft>
              <a:buNone/>
            </a:pPr>
            <a:r>
              <a:rPr lang="en-US" b="1"/>
              <a:t>Sequence Steps</a:t>
            </a:r>
            <a:endParaRPr/>
          </a:p>
          <a:p>
            <a:pPr marL="0" lvl="0" indent="0" algn="l" rtl="0">
              <a:spcBef>
                <a:spcPts val="0"/>
              </a:spcBef>
              <a:spcAft>
                <a:spcPts val="0"/>
              </a:spcAft>
              <a:buNone/>
            </a:pPr>
            <a:endParaRPr/>
          </a:p>
          <a:p>
            <a:pPr marL="171450" lvl="0" indent="-171450" algn="l" rtl="0">
              <a:spcBef>
                <a:spcPts val="0"/>
              </a:spcBef>
              <a:spcAft>
                <a:spcPts val="0"/>
              </a:spcAft>
              <a:buClr>
                <a:schemeClr val="dk1"/>
              </a:buClr>
              <a:buSzPts val="1200"/>
              <a:buFont typeface="Arial"/>
              <a:buChar char="•"/>
            </a:pPr>
            <a:r>
              <a:rPr lang="en-US" sz="1200">
                <a:solidFill>
                  <a:schemeClr val="dk1"/>
                </a:solidFill>
              </a:rPr>
              <a:t>Give the following instructions very clearly and precisely – they should copy what you are doing on the whiteboard into their workbooks.</a:t>
            </a:r>
            <a:endParaRPr/>
          </a:p>
          <a:p>
            <a:pPr marL="171450" lvl="0" indent="-82550" algn="l" rtl="0">
              <a:spcBef>
                <a:spcPts val="0"/>
              </a:spcBef>
              <a:spcAft>
                <a:spcPts val="0"/>
              </a:spcAft>
              <a:buClr>
                <a:schemeClr val="dk1"/>
              </a:buClr>
              <a:buSzPts val="1400"/>
              <a:buFont typeface="Arial"/>
              <a:buNone/>
            </a:pPr>
            <a:endParaRPr sz="14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They can now continue the colour of each side down the page to the two smaller boxes in the Income Statement section. Green on the Uses of Funds Side and yellow on the Sources of Funds side.</a:t>
            </a:r>
            <a:r>
              <a:rPr lang="en-US" sz="1200" b="1">
                <a:solidFill>
                  <a:srgbClr val="C00000"/>
                </a:solidFill>
              </a:rPr>
              <a:t> [ CLICK ]</a:t>
            </a:r>
            <a:endParaRPr/>
          </a:p>
          <a:p>
            <a:pPr marL="628650" lvl="1" indent="-95250" algn="l" rtl="0">
              <a:spcBef>
                <a:spcPts val="0"/>
              </a:spcBef>
              <a:spcAft>
                <a:spcPts val="0"/>
              </a:spcAft>
              <a:buClr>
                <a:schemeClr val="dk1"/>
              </a:buClr>
              <a:buSzPts val="1200"/>
              <a:buFont typeface="Arial"/>
              <a:buNone/>
            </a:pPr>
            <a:endParaRPr sz="1200">
              <a:solidFill>
                <a:schemeClr val="dk1"/>
              </a:solidFill>
            </a:endParaRPr>
          </a:p>
          <a:p>
            <a:pPr marL="628650" lvl="1" indent="-171450" algn="l" rtl="0">
              <a:spcBef>
                <a:spcPts val="0"/>
              </a:spcBef>
              <a:spcAft>
                <a:spcPts val="0"/>
              </a:spcAft>
              <a:buClr>
                <a:schemeClr val="dk1"/>
              </a:buClr>
              <a:buSzPts val="1200"/>
              <a:buFont typeface="Arial"/>
              <a:buChar char="•"/>
            </a:pPr>
            <a:r>
              <a:rPr lang="en-US" sz="1200" b="1">
                <a:solidFill>
                  <a:schemeClr val="dk1"/>
                </a:solidFill>
              </a:rPr>
              <a:t>Don’t write Income and Expense headings in yet or tell which is which.</a:t>
            </a:r>
            <a:endParaRPr sz="1400" b="1">
              <a:solidFill>
                <a:schemeClr val="dk1"/>
              </a:solidFill>
            </a:endParaRPr>
          </a:p>
          <a:p>
            <a:pPr marL="628650" lvl="1" indent="-95250" algn="l" rtl="0">
              <a:spcBef>
                <a:spcPts val="0"/>
              </a:spcBef>
              <a:spcAft>
                <a:spcPts val="0"/>
              </a:spcAft>
              <a:buClr>
                <a:schemeClr val="dk1"/>
              </a:buClr>
              <a:buSzPts val="1200"/>
              <a:buFont typeface="Arial"/>
              <a:buNone/>
            </a:pPr>
            <a:endParaRPr sz="1200">
              <a:solidFill>
                <a:schemeClr val="dk1"/>
              </a:solidFill>
            </a:endParaRPr>
          </a:p>
          <a:p>
            <a:pPr marL="628650" lvl="1" indent="-171450" algn="l" rtl="0">
              <a:spcBef>
                <a:spcPts val="0"/>
              </a:spcBef>
              <a:spcAft>
                <a:spcPts val="0"/>
              </a:spcAft>
              <a:buClr>
                <a:schemeClr val="dk1"/>
              </a:buClr>
              <a:buSzPts val="1200"/>
              <a:buFont typeface="Arial"/>
              <a:buChar char="•"/>
            </a:pPr>
            <a:r>
              <a:rPr lang="en-US" sz="1200">
                <a:solidFill>
                  <a:schemeClr val="dk1"/>
                </a:solidFill>
              </a:rPr>
              <a:t>Explain the double-click computer analogy where a folder opens and reveals sub-folders (more detailed info). This is how the Income Statement works – we ‘double-click’ the single Profit number in Equity, and the Income Statement explains how it was calculated.</a:t>
            </a:r>
            <a:endParaRPr/>
          </a:p>
          <a:p>
            <a:pPr marL="171450" marR="0" lvl="0" indent="-95250" algn="l" rtl="0">
              <a:lnSpc>
                <a:spcPct val="100000"/>
              </a:lnSpc>
              <a:spcBef>
                <a:spcPts val="0"/>
              </a:spcBef>
              <a:spcAft>
                <a:spcPts val="0"/>
              </a:spcAft>
              <a:buClr>
                <a:schemeClr val="dk1"/>
              </a:buClr>
              <a:buSzPts val="1200"/>
              <a:buFont typeface="Arial"/>
              <a:buNone/>
            </a:pPr>
            <a:endParaRPr sz="1200">
              <a:solidFill>
                <a:schemeClr val="dk1"/>
              </a:solidFill>
            </a:endParaRPr>
          </a:p>
        </p:txBody>
      </p:sp>
      <p:sp>
        <p:nvSpPr>
          <p:cNvPr id="491" name="Google Shape;491;p18:notes"/>
          <p:cNvSpPr>
            <a:spLocks noGrp="1" noRot="1" noChangeAspect="1"/>
          </p:cNvSpPr>
          <p:nvPr>
            <p:ph type="sldImg" idx="2"/>
          </p:nvPr>
        </p:nvSpPr>
        <p:spPr>
          <a:xfrm>
            <a:off x="4359275"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92" name="Google Shape;492;p18: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18</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9: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36" name="Google Shape;536;p19: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19</a:t>
            </a:fld>
            <a:endParaRPr sz="1200">
              <a:solidFill>
                <a:schemeClr val="dk1"/>
              </a:solidFill>
              <a:latin typeface="Helvetica Neue"/>
              <a:ea typeface="Helvetica Neue"/>
              <a:cs typeface="Helvetica Neue"/>
              <a:sym typeface="Helvetica Neue"/>
            </a:endParaRPr>
          </a:p>
        </p:txBody>
      </p:sp>
      <p:sp>
        <p:nvSpPr>
          <p:cNvPr id="537" name="Google Shape;537;p19: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20: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87" name="Google Shape;587;p20: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20</a:t>
            </a:fld>
            <a:endParaRPr sz="1200">
              <a:solidFill>
                <a:schemeClr val="dk1"/>
              </a:solidFill>
              <a:latin typeface="Helvetica Neue"/>
              <a:ea typeface="Helvetica Neue"/>
              <a:cs typeface="Helvetica Neue"/>
              <a:sym typeface="Helvetica Neue"/>
            </a:endParaRPr>
          </a:p>
        </p:txBody>
      </p:sp>
      <p:sp>
        <p:nvSpPr>
          <p:cNvPr id="588" name="Google Shape;588;p20: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21: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38" name="Google Shape;638;p21: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21</a:t>
            </a:fld>
            <a:endParaRPr sz="1200">
              <a:solidFill>
                <a:schemeClr val="dk1"/>
              </a:solidFill>
              <a:latin typeface="Helvetica Neue"/>
              <a:ea typeface="Helvetica Neue"/>
              <a:cs typeface="Helvetica Neue"/>
              <a:sym typeface="Helvetica Neue"/>
            </a:endParaRPr>
          </a:p>
        </p:txBody>
      </p:sp>
      <p:sp>
        <p:nvSpPr>
          <p:cNvPr id="639" name="Google Shape;639;p21: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22: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94" name="Google Shape;694;p22: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22</a:t>
            </a:fld>
            <a:endParaRPr sz="1200">
              <a:solidFill>
                <a:schemeClr val="dk1"/>
              </a:solidFill>
              <a:latin typeface="Helvetica Neue"/>
              <a:ea typeface="Helvetica Neue"/>
              <a:cs typeface="Helvetica Neue"/>
              <a:sym typeface="Helvetica Neue"/>
            </a:endParaRPr>
          </a:p>
        </p:txBody>
      </p:sp>
      <p:sp>
        <p:nvSpPr>
          <p:cNvPr id="695" name="Google Shape;695;p22: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23: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51" name="Google Shape;751;p23: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23</a:t>
            </a:fld>
            <a:endParaRPr sz="1200">
              <a:solidFill>
                <a:schemeClr val="dk1"/>
              </a:solidFill>
              <a:latin typeface="Helvetica Neue"/>
              <a:ea typeface="Helvetica Neue"/>
              <a:cs typeface="Helvetica Neue"/>
              <a:sym typeface="Helvetica Neue"/>
            </a:endParaRPr>
          </a:p>
        </p:txBody>
      </p:sp>
      <p:sp>
        <p:nvSpPr>
          <p:cNvPr id="752" name="Google Shape;752;p23: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24:notes"/>
          <p:cNvSpPr>
            <a:spLocks noGrp="1" noRot="1" noChangeAspect="1"/>
          </p:cNvSpPr>
          <p:nvPr>
            <p:ph type="sldImg" idx="2"/>
          </p:nvPr>
        </p:nvSpPr>
        <p:spPr>
          <a:xfrm>
            <a:off x="4337050" y="458788"/>
            <a:ext cx="2155825" cy="1212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p24: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5" name="Google Shape;775;p24: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25:notes"/>
          <p:cNvSpPr>
            <a:spLocks noGrp="1" noRot="1" noChangeAspect="1"/>
          </p:cNvSpPr>
          <p:nvPr>
            <p:ph type="sldImg" idx="2"/>
          </p:nvPr>
        </p:nvSpPr>
        <p:spPr>
          <a:xfrm>
            <a:off x="4256088" y="458788"/>
            <a:ext cx="2227262" cy="1254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79" name="Google Shape;779;p25: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25</a:t>
            </a:fld>
            <a:endParaRPr sz="1200">
              <a:solidFill>
                <a:schemeClr val="dk1"/>
              </a:solidFill>
              <a:latin typeface="Helvetica Neue"/>
              <a:ea typeface="Helvetica Neue"/>
              <a:cs typeface="Helvetica Neue"/>
              <a:sym typeface="Helvetica Neue"/>
            </a:endParaRPr>
          </a:p>
        </p:txBody>
      </p:sp>
      <p:sp>
        <p:nvSpPr>
          <p:cNvPr id="780" name="Google Shape;780;p25: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26: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89" name="Google Shape;789;p26: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26</a:t>
            </a:fld>
            <a:endParaRPr sz="1200">
              <a:solidFill>
                <a:schemeClr val="dk1"/>
              </a:solidFill>
              <a:latin typeface="Helvetica Neue"/>
              <a:ea typeface="Helvetica Neue"/>
              <a:cs typeface="Helvetica Neue"/>
              <a:sym typeface="Helvetica Neue"/>
            </a:endParaRPr>
          </a:p>
        </p:txBody>
      </p:sp>
      <p:sp>
        <p:nvSpPr>
          <p:cNvPr id="790" name="Google Shape;790;p26: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27: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08" name="Google Shape;808;p27: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27</a:t>
            </a:fld>
            <a:endParaRPr sz="1200">
              <a:solidFill>
                <a:schemeClr val="dk1"/>
              </a:solidFill>
              <a:latin typeface="Helvetica Neue"/>
              <a:ea typeface="Helvetica Neue"/>
              <a:cs typeface="Helvetica Neue"/>
              <a:sym typeface="Helvetica Neue"/>
            </a:endParaRPr>
          </a:p>
        </p:txBody>
      </p:sp>
      <p:sp>
        <p:nvSpPr>
          <p:cNvPr id="809" name="Google Shape;809;p27: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r>
              <a:rPr lang="en-GB" dirty="0"/>
              <a:t>Have them open a green bucket in assets and a yellow bucket in liabilities.</a:t>
            </a:r>
          </a:p>
          <a:p>
            <a:pPr lvl="0"/>
            <a:endParaRPr lang="en-GB" dirty="0"/>
          </a:p>
          <a:p>
            <a:pPr lvl="0"/>
            <a:r>
              <a:rPr lang="en-GB" dirty="0"/>
              <a:t>Walk around and check that they only have the three buckets open on their board: assets, liabilities, equity (profit).</a:t>
            </a:r>
          </a:p>
          <a:p>
            <a:pPr lvl="0"/>
            <a:endParaRPr lang="en-GB" dirty="0"/>
          </a:p>
          <a:p>
            <a:pPr lvl="0"/>
            <a:r>
              <a:rPr lang="en-GB" dirty="0"/>
              <a:t>Ask what further information can we add to the story so far? </a:t>
            </a:r>
          </a:p>
          <a:p>
            <a:pPr lvl="0"/>
            <a:endParaRPr lang="en-GB" dirty="0"/>
          </a:p>
          <a:p>
            <a:pPr lvl="0"/>
            <a:r>
              <a:rPr lang="en-GB" dirty="0"/>
              <a:t>Facilitate their responses to get ‘account names’. </a:t>
            </a:r>
          </a:p>
          <a:p>
            <a:pPr lvl="0"/>
            <a:endParaRPr lang="en-GB" dirty="0"/>
          </a:p>
          <a:p>
            <a:pPr lvl="0"/>
            <a:r>
              <a:rPr lang="en-GB" dirty="0"/>
              <a:t>Direct them to the stickers or ask for suggestions – facilitate the asset account being ‘Cash’ (they can also add Bank label if they want) and the Liability account being ‘Loan from:”.</a:t>
            </a:r>
          </a:p>
          <a:p>
            <a:endParaRPr lang="en-GB" dirty="0"/>
          </a:p>
          <a:p>
            <a:r>
              <a:rPr lang="en-GB" dirty="0"/>
              <a:t>Say: Look inside the </a:t>
            </a:r>
            <a:r>
              <a:rPr lang="en-GB" dirty="0" err="1"/>
              <a:t>the</a:t>
            </a:r>
            <a:r>
              <a:rPr lang="en-GB" dirty="0"/>
              <a:t> cash account – what is its current balance? (facilitate – zero).</a:t>
            </a:r>
          </a:p>
          <a:p>
            <a:endParaRPr lang="en-GB" dirty="0"/>
          </a:p>
          <a:p>
            <a:r>
              <a:rPr lang="en-GB" dirty="0"/>
              <a:t>Say: What should its balance be? (facilitate – 30,000).</a:t>
            </a:r>
          </a:p>
          <a:p>
            <a:endParaRPr lang="en-GB" dirty="0"/>
          </a:p>
          <a:p>
            <a:r>
              <a:rPr lang="en-GB" dirty="0"/>
              <a:t>Say: So, we need to increase our cash account balance – a way to make this green account, more green. </a:t>
            </a:r>
          </a:p>
          <a:p>
            <a:endParaRPr lang="en-GB" dirty="0"/>
          </a:p>
          <a:p>
            <a:r>
              <a:rPr lang="en-GB" dirty="0"/>
              <a:t>Which colour ticket (green or yellow) will make our green account, more green? (facilitate – green).</a:t>
            </a:r>
          </a:p>
          <a:p>
            <a:endParaRPr lang="en-GB" i="1" dirty="0"/>
          </a:p>
          <a:p>
            <a:r>
              <a:rPr lang="en-GB" i="1" dirty="0"/>
              <a:t>Hint: if someone responds orange (it’s rare), it may be that they weren’t following you closely. Or they may have a logic error happening which you will need to help them with.</a:t>
            </a:r>
            <a:endParaRPr lang="en-GB" dirty="0"/>
          </a:p>
          <a:p>
            <a:endParaRPr lang="en-GB" dirty="0"/>
          </a:p>
          <a:p>
            <a:r>
              <a:rPr lang="en-GB" dirty="0"/>
              <a:t>Say: So, we have a rule. If we place a green ticket into a green bucket, that means ‘increase’.</a:t>
            </a:r>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28</a:t>
            </a:fld>
            <a:endParaRPr lang="en-GB" altLang="en-US">
              <a:latin typeface="Helvetica Regular" charset="0"/>
            </a:endParaRPr>
          </a:p>
        </p:txBody>
      </p:sp>
    </p:spTree>
    <p:extLst>
      <p:ext uri="{BB962C8B-B14F-4D97-AF65-F5344CB8AC3E}">
        <p14:creationId xmlns:p14="http://schemas.microsoft.com/office/powerpoint/2010/main" val="1383260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29: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71" name="Google Shape;871;p29: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29</a:t>
            </a:fld>
            <a:endParaRPr sz="1200">
              <a:solidFill>
                <a:schemeClr val="dk1"/>
              </a:solidFill>
              <a:latin typeface="Helvetica Neue"/>
              <a:ea typeface="Helvetica Neue"/>
              <a:cs typeface="Helvetica Neue"/>
              <a:sym typeface="Helvetica Neue"/>
            </a:endParaRPr>
          </a:p>
        </p:txBody>
      </p:sp>
      <p:sp>
        <p:nvSpPr>
          <p:cNvPr id="872" name="Google Shape;872;p29: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r>
              <a:rPr lang="en-GB" dirty="0"/>
              <a:t>As the ticket moves into a bucket say “I am increasing the cash account by $20,000” which is more useful than saying “I am putting a green ticket into a green bucket”.</a:t>
            </a:r>
          </a:p>
          <a:p>
            <a:endParaRPr lang="en-GB" dirty="0"/>
          </a:p>
          <a:p>
            <a:r>
              <a:rPr lang="en-GB" i="1" dirty="0"/>
              <a:t>Have the participants use all their primary learning senses while putting the ticket in the bucket: </a:t>
            </a:r>
            <a:r>
              <a:rPr lang="en-GB" i="1" u="sng" dirty="0"/>
              <a:t>feel</a:t>
            </a:r>
            <a:r>
              <a:rPr lang="en-GB" i="1" dirty="0"/>
              <a:t> ticket, </a:t>
            </a:r>
            <a:r>
              <a:rPr lang="en-GB" i="1" u="sng" dirty="0"/>
              <a:t>see</a:t>
            </a:r>
            <a:r>
              <a:rPr lang="en-GB" i="1" dirty="0"/>
              <a:t> movement, </a:t>
            </a:r>
            <a:r>
              <a:rPr lang="en-GB" i="1" u="sng" dirty="0"/>
              <a:t>say</a:t>
            </a:r>
            <a:r>
              <a:rPr lang="en-GB" i="1" dirty="0"/>
              <a:t> “I’m increasing/decreasing the x account by $x).</a:t>
            </a:r>
            <a:endParaRPr lang="en-GB" dirty="0"/>
          </a:p>
          <a:p>
            <a:pPr lvl="0"/>
            <a:endParaRPr lang="en-GB" dirty="0"/>
          </a:p>
          <a:p>
            <a:pPr lvl="0"/>
            <a:r>
              <a:rPr lang="en-GB" dirty="0"/>
              <a:t>Carefully drill the </a:t>
            </a:r>
            <a:r>
              <a:rPr lang="en-GB" i="1" dirty="0"/>
              <a:t>increase</a:t>
            </a:r>
            <a:r>
              <a:rPr lang="en-GB" dirty="0"/>
              <a:t> rule when you get to that.</a:t>
            </a:r>
            <a:endParaRPr lang="en-GB" sz="1500" dirty="0"/>
          </a:p>
          <a:p>
            <a:pPr lvl="0"/>
            <a:endParaRPr lang="en-GB" dirty="0"/>
          </a:p>
          <a:p>
            <a:pPr lvl="0"/>
            <a:r>
              <a:rPr lang="en-GB" dirty="0"/>
              <a:t>Ask the group: Are we in balance? </a:t>
            </a:r>
          </a:p>
          <a:p>
            <a:pPr lvl="0"/>
            <a:endParaRPr lang="en-GB" dirty="0"/>
          </a:p>
          <a:p>
            <a:pPr lvl="0"/>
            <a:r>
              <a:rPr lang="en-GB" dirty="0"/>
              <a:t>Stand centred in front of the screen with your arms out straight out from your sides and horizontal to floor (nothing in your hands). </a:t>
            </a:r>
          </a:p>
          <a:p>
            <a:pPr lvl="0"/>
            <a:endParaRPr lang="en-GB" dirty="0"/>
          </a:p>
          <a:p>
            <a:pPr lvl="0"/>
            <a:r>
              <a:rPr lang="en-GB" dirty="0"/>
              <a:t>Say: we had an increase in Assets (lift your right arm) and the same increase in Equity (lift your left arm) so we remain in balance (return both arms to level position).</a:t>
            </a:r>
            <a:endParaRPr lang="en-GB" sz="1500" dirty="0"/>
          </a:p>
          <a:p>
            <a:pPr lvl="0"/>
            <a:r>
              <a:rPr lang="en-GB" dirty="0"/>
              <a:t>Additional:</a:t>
            </a:r>
            <a:endParaRPr lang="en-GB" sz="1500" dirty="0"/>
          </a:p>
          <a:p>
            <a:pPr lvl="0"/>
            <a:endParaRPr lang="en-GB" sz="1500" dirty="0"/>
          </a:p>
          <a:p>
            <a:pPr lvl="0"/>
            <a:r>
              <a:rPr lang="en-GB" dirty="0"/>
              <a:t>Point to Liabilities and Equity on the whiteboard and say: How much money is here in Liabilities and Equity? Facilitate: None. </a:t>
            </a:r>
          </a:p>
          <a:p>
            <a:pPr lvl="0"/>
            <a:endParaRPr lang="en-GB" dirty="0"/>
          </a:p>
          <a:p>
            <a:pPr lvl="0"/>
            <a:r>
              <a:rPr lang="en-GB" dirty="0"/>
              <a:t>Money is an asset and can only be shown there. </a:t>
            </a:r>
          </a:p>
          <a:p>
            <a:pPr lvl="0"/>
            <a:endParaRPr lang="en-GB" dirty="0"/>
          </a:p>
          <a:p>
            <a:pPr lvl="0"/>
            <a:r>
              <a:rPr lang="en-GB" dirty="0"/>
              <a:t>Everything in Liabilities and Equity are just intangible legal concepts – evidencing obligation against the assets.</a:t>
            </a:r>
            <a:endParaRPr lang="en-GB" sz="1500" dirty="0"/>
          </a:p>
          <a:p>
            <a:pPr lvl="2"/>
            <a:endParaRPr lang="en-GB" dirty="0"/>
          </a:p>
          <a:p>
            <a:pPr lvl="2"/>
            <a:r>
              <a:rPr lang="en-GB" dirty="0"/>
              <a:t>The current accounting net worth will be the owner’s contribution.</a:t>
            </a:r>
            <a:br>
              <a:rPr lang="en-GB" dirty="0"/>
            </a:br>
            <a:endParaRPr lang="en-GB" sz="1500" dirty="0"/>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30</a:t>
            </a:fld>
            <a:endParaRPr lang="en-GB" altLang="en-US">
              <a:latin typeface="Helvetica Regular" charset="0"/>
            </a:endParaRPr>
          </a:p>
        </p:txBody>
      </p:sp>
    </p:spTree>
    <p:extLst>
      <p:ext uri="{BB962C8B-B14F-4D97-AF65-F5344CB8AC3E}">
        <p14:creationId xmlns:p14="http://schemas.microsoft.com/office/powerpoint/2010/main" val="28181538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p31: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48" name="Google Shape;948;p31: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31</a:t>
            </a:fld>
            <a:endParaRPr sz="1200">
              <a:solidFill>
                <a:schemeClr val="dk1"/>
              </a:solidFill>
              <a:latin typeface="Helvetica Neue"/>
              <a:ea typeface="Helvetica Neue"/>
              <a:cs typeface="Helvetica Neue"/>
              <a:sym typeface="Helvetica Neue"/>
            </a:endParaRPr>
          </a:p>
        </p:txBody>
      </p:sp>
      <p:sp>
        <p:nvSpPr>
          <p:cNvPr id="949" name="Google Shape;949;p31: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pPr lvl="0"/>
            <a:r>
              <a:rPr lang="en-GB" dirty="0"/>
              <a:t>In the debrief, drill the new rule for decreases. </a:t>
            </a:r>
          </a:p>
          <a:p>
            <a:pPr lvl="0"/>
            <a:endParaRPr lang="en-GB" dirty="0"/>
          </a:p>
          <a:p>
            <a:pPr lvl="0"/>
            <a:r>
              <a:rPr lang="en-GB" dirty="0"/>
              <a:t>Say: If we use the same colour ticket as the bucket, that means increase. </a:t>
            </a:r>
          </a:p>
          <a:p>
            <a:pPr lvl="0"/>
            <a:endParaRPr lang="en-GB" dirty="0"/>
          </a:p>
          <a:p>
            <a:pPr lvl="0"/>
            <a:r>
              <a:rPr lang="en-GB" dirty="0"/>
              <a:t>And if we use the opposite colour ticket and bucket, that means decrease. </a:t>
            </a:r>
          </a:p>
          <a:p>
            <a:pPr lvl="0"/>
            <a:endParaRPr lang="en-GB" dirty="0"/>
          </a:p>
          <a:p>
            <a:pPr lvl="0"/>
            <a:r>
              <a:rPr lang="en-GB" dirty="0"/>
              <a:t>That’s debits and credits using colour. </a:t>
            </a:r>
          </a:p>
          <a:p>
            <a:pPr lvl="0"/>
            <a:endParaRPr lang="en-GB" dirty="0"/>
          </a:p>
          <a:p>
            <a:pPr lvl="0"/>
            <a:r>
              <a:rPr lang="en-GB" dirty="0"/>
              <a:t>The flight attendant pose will this time see a decrease on each side.</a:t>
            </a:r>
          </a:p>
          <a:p>
            <a:r>
              <a:rPr lang="en-GB" dirty="0"/>
              <a:t> </a:t>
            </a:r>
          </a:p>
          <a:p>
            <a:pPr lvl="0"/>
            <a:r>
              <a:rPr lang="en-GB" dirty="0"/>
              <a:t>Remain vigilant for any students using a ‘positive / negative’ model to explain how accounting works and encourage them to just use green and yellow for now.</a:t>
            </a:r>
          </a:p>
          <a:p>
            <a:pPr lvl="0"/>
            <a:endParaRPr lang="en-GB" dirty="0"/>
          </a:p>
          <a:p>
            <a:pPr lvl="0"/>
            <a:r>
              <a:rPr lang="en-GB" b="1" dirty="0"/>
              <a:t>More options:</a:t>
            </a:r>
          </a:p>
          <a:p>
            <a:pPr lvl="0"/>
            <a:endParaRPr lang="en-GB" dirty="0"/>
          </a:p>
          <a:p>
            <a:pPr lvl="0"/>
            <a:r>
              <a:rPr lang="en-GB" dirty="0"/>
              <a:t>Tickets represent ‘effects’. </a:t>
            </a:r>
          </a:p>
          <a:p>
            <a:pPr lvl="0"/>
            <a:endParaRPr lang="en-GB" dirty="0"/>
          </a:p>
          <a:p>
            <a:pPr lvl="0"/>
            <a:r>
              <a:rPr lang="en-GB" dirty="0"/>
              <a:t>Realising that that is all a ticket is, just an effect, is an ‘aha’ for learners. They often think tickets have more meaning than they do.</a:t>
            </a:r>
          </a:p>
          <a:p>
            <a:endParaRPr lang="en-GB" dirty="0"/>
          </a:p>
          <a:p>
            <a:r>
              <a:rPr lang="en-GB" dirty="0"/>
              <a:t>Note also, we use the word ‘impact’ to refer to the result of the ticket upon a bucket, i.e., an increasing impact or a decreasing impact.</a:t>
            </a:r>
          </a:p>
          <a:p>
            <a:pPr lvl="0"/>
            <a:endParaRPr lang="en-GB" dirty="0"/>
          </a:p>
          <a:p>
            <a:pPr lvl="0"/>
            <a:r>
              <a:rPr lang="en-GB" dirty="0"/>
              <a:t>Conclusion: There are two effects: green and yellow and there are two impacts: increase and decrease.</a:t>
            </a:r>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32</a:t>
            </a:fld>
            <a:endParaRPr lang="en-GB" altLang="en-US">
              <a:latin typeface="Helvetica Regular" charset="0"/>
            </a:endParaRPr>
          </a:p>
        </p:txBody>
      </p:sp>
    </p:spTree>
    <p:extLst>
      <p:ext uri="{BB962C8B-B14F-4D97-AF65-F5344CB8AC3E}">
        <p14:creationId xmlns:p14="http://schemas.microsoft.com/office/powerpoint/2010/main" val="25526199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p33:notes"/>
          <p:cNvSpPr>
            <a:spLocks noGrp="1" noRot="1" noChangeAspect="1"/>
          </p:cNvSpPr>
          <p:nvPr>
            <p:ph type="sldImg" idx="2"/>
          </p:nvPr>
        </p:nvSpPr>
        <p:spPr>
          <a:xfrm>
            <a:off x="4256088" y="458788"/>
            <a:ext cx="2227262" cy="1254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34" name="Google Shape;1034;p33: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33</a:t>
            </a:fld>
            <a:endParaRPr sz="1200">
              <a:solidFill>
                <a:schemeClr val="dk1"/>
              </a:solidFill>
              <a:latin typeface="Helvetica Neue"/>
              <a:ea typeface="Helvetica Neue"/>
              <a:cs typeface="Helvetica Neue"/>
              <a:sym typeface="Helvetica Neue"/>
            </a:endParaRPr>
          </a:p>
        </p:txBody>
      </p:sp>
      <p:sp>
        <p:nvSpPr>
          <p:cNvPr id="1035" name="Google Shape;1035;p33: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34:notes"/>
          <p:cNvSpPr>
            <a:spLocks noGrp="1" noRot="1" noChangeAspect="1"/>
          </p:cNvSpPr>
          <p:nvPr>
            <p:ph type="sldImg" idx="2"/>
          </p:nvPr>
        </p:nvSpPr>
        <p:spPr>
          <a:xfrm>
            <a:off x="4256088" y="458788"/>
            <a:ext cx="2227262" cy="1254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75" name="Google Shape;1075;p34: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34</a:t>
            </a:fld>
            <a:endParaRPr sz="1200">
              <a:solidFill>
                <a:schemeClr val="dk1"/>
              </a:solidFill>
              <a:latin typeface="Helvetica Neue"/>
              <a:ea typeface="Helvetica Neue"/>
              <a:cs typeface="Helvetica Neue"/>
              <a:sym typeface="Helvetica Neue"/>
            </a:endParaRPr>
          </a:p>
        </p:txBody>
      </p:sp>
      <p:sp>
        <p:nvSpPr>
          <p:cNvPr id="1076" name="Google Shape;1076;p34: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35: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86" name="Google Shape;1086;p35: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35</a:t>
            </a:fld>
            <a:endParaRPr sz="1200">
              <a:solidFill>
                <a:schemeClr val="dk1"/>
              </a:solidFill>
              <a:latin typeface="Helvetica Neue"/>
              <a:ea typeface="Helvetica Neue"/>
              <a:cs typeface="Helvetica Neue"/>
              <a:sym typeface="Helvetica Neue"/>
            </a:endParaRPr>
          </a:p>
        </p:txBody>
      </p:sp>
      <p:sp>
        <p:nvSpPr>
          <p:cNvPr id="1087" name="Google Shape;1087;p35: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pPr lvl="0"/>
            <a:r>
              <a:rPr lang="en-GB"/>
              <a:t>In debrief, work through logic carefully. </a:t>
            </a:r>
          </a:p>
          <a:p>
            <a:pPr lvl="0"/>
            <a:endParaRPr lang="en-GB"/>
          </a:p>
          <a:p>
            <a:pPr lvl="0"/>
            <a:r>
              <a:rPr lang="en-GB"/>
              <a:t>New asset and new obligation.</a:t>
            </a:r>
          </a:p>
          <a:p>
            <a:pPr lvl="0"/>
            <a:endParaRPr lang="en-GB"/>
          </a:p>
          <a:p>
            <a:pPr lvl="0"/>
            <a:r>
              <a:rPr lang="en-GB"/>
              <a:t>In accounting, we record things as they occur, not necessarily when cash is received or paid.</a:t>
            </a:r>
          </a:p>
          <a:p>
            <a:pPr lvl="0"/>
            <a:endParaRPr lang="en-GB"/>
          </a:p>
          <a:p>
            <a:pPr lvl="0"/>
            <a:r>
              <a:rPr lang="en-GB"/>
              <a:t>Today we owe – tomorrow we’ll pay – we record the payment only when it happens.</a:t>
            </a:r>
            <a:br>
              <a:rPr lang="en-GB"/>
            </a:br>
            <a:endParaRPr lang="en-GB"/>
          </a:p>
          <a:p>
            <a:endParaRPr lang="en-GB" altLang="en-US">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36</a:t>
            </a:fld>
            <a:endParaRPr lang="en-GB" altLang="en-US">
              <a:latin typeface="Helvetica Regular" charset="0"/>
            </a:endParaRPr>
          </a:p>
        </p:txBody>
      </p:sp>
    </p:spTree>
    <p:extLst>
      <p:ext uri="{BB962C8B-B14F-4D97-AF65-F5344CB8AC3E}">
        <p14:creationId xmlns:p14="http://schemas.microsoft.com/office/powerpoint/2010/main" val="7622718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8"/>
        <p:cNvGrpSpPr/>
        <p:nvPr/>
      </p:nvGrpSpPr>
      <p:grpSpPr>
        <a:xfrm>
          <a:off x="0" y="0"/>
          <a:ext cx="0" cy="0"/>
          <a:chOff x="0" y="0"/>
          <a:chExt cx="0" cy="0"/>
        </a:xfrm>
      </p:grpSpPr>
      <p:sp>
        <p:nvSpPr>
          <p:cNvPr id="1189" name="Google Shape;1189;p37: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First Tx with both effects on the same side. </a:t>
            </a:r>
            <a:endParaRPr/>
          </a:p>
          <a:p>
            <a:pPr marL="0" lvl="0" indent="0" algn="l" rtl="0">
              <a:spcBef>
                <a:spcPts val="0"/>
              </a:spcBef>
              <a:spcAft>
                <a:spcPts val="0"/>
              </a:spcAft>
              <a:buNone/>
            </a:pPr>
            <a:endParaRPr/>
          </a:p>
        </p:txBody>
      </p:sp>
      <p:sp>
        <p:nvSpPr>
          <p:cNvPr id="1190" name="Google Shape;1190;p37: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91" name="Google Shape;1191;p37: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37</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pPr lvl="0"/>
            <a:r>
              <a:rPr lang="en-GB"/>
              <a:t>Watch participants as they look over at the yellow side of the board thinking that there must be a yellow bucket. </a:t>
            </a:r>
          </a:p>
          <a:p>
            <a:pPr lvl="0"/>
            <a:endParaRPr lang="en-GB"/>
          </a:p>
          <a:p>
            <a:pPr lvl="0"/>
            <a:r>
              <a:rPr lang="en-GB"/>
              <a:t>Let them work it out.</a:t>
            </a:r>
          </a:p>
          <a:p>
            <a:endParaRPr lang="en-GB"/>
          </a:p>
          <a:p>
            <a:r>
              <a:rPr lang="en-GB"/>
              <a:t>If necessary, prompt them with a vague question like ‘Why are you looking at the yellow side?’</a:t>
            </a:r>
          </a:p>
          <a:p>
            <a:pPr lvl="0"/>
            <a:endParaRPr lang="en-GB"/>
          </a:p>
          <a:p>
            <a:r>
              <a:rPr lang="en-GB"/>
              <a:t>When doing the solution piece, get them to start with the cash entry first (good form, and eliminates half of the entry in one go!).</a:t>
            </a:r>
          </a:p>
          <a:p>
            <a:endParaRPr lang="en-GB"/>
          </a:p>
          <a:p>
            <a:r>
              <a:rPr lang="en-GB"/>
              <a:t>In flight attendant pose, show decrease first (right arm for assets) and then increase back to level.</a:t>
            </a: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38</a:t>
            </a:fld>
            <a:endParaRPr lang="en-GB" altLang="en-US">
              <a:latin typeface="Helvetica Regular" charset="0"/>
            </a:endParaRPr>
          </a:p>
        </p:txBody>
      </p:sp>
    </p:spTree>
    <p:extLst>
      <p:ext uri="{BB962C8B-B14F-4D97-AF65-F5344CB8AC3E}">
        <p14:creationId xmlns:p14="http://schemas.microsoft.com/office/powerpoint/2010/main" val="20140634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Google Shape;1307;p39: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8" name="Google Shape;1308;p39:notes"/>
          <p:cNvSpPr>
            <a:spLocks noGrp="1" noRot="1" noChangeAspect="1"/>
          </p:cNvSpPr>
          <p:nvPr>
            <p:ph type="sldImg" idx="2"/>
          </p:nvPr>
        </p:nvSpPr>
        <p:spPr>
          <a:xfrm>
            <a:off x="4256088" y="458788"/>
            <a:ext cx="2227262" cy="1254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09" name="Google Shape;1309;p39: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39</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5"/>
        <p:cNvGrpSpPr/>
        <p:nvPr/>
      </p:nvGrpSpPr>
      <p:grpSpPr>
        <a:xfrm>
          <a:off x="0" y="0"/>
          <a:ext cx="0" cy="0"/>
          <a:chOff x="0" y="0"/>
          <a:chExt cx="0" cy="0"/>
        </a:xfrm>
      </p:grpSpPr>
      <p:sp>
        <p:nvSpPr>
          <p:cNvPr id="1316" name="Google Shape;1316;p40: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7" name="Google Shape;1317;p40:notes"/>
          <p:cNvSpPr>
            <a:spLocks noGrp="1" noRot="1" noChangeAspect="1"/>
          </p:cNvSpPr>
          <p:nvPr>
            <p:ph type="sldImg" idx="2"/>
          </p:nvPr>
        </p:nvSpPr>
        <p:spPr>
          <a:xfrm>
            <a:off x="4256088" y="458788"/>
            <a:ext cx="2227262" cy="1254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8" name="Google Shape;1318;p40: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40</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4"/>
        <p:cNvGrpSpPr/>
        <p:nvPr/>
      </p:nvGrpSpPr>
      <p:grpSpPr>
        <a:xfrm>
          <a:off x="0" y="0"/>
          <a:ext cx="0" cy="0"/>
          <a:chOff x="0" y="0"/>
          <a:chExt cx="0" cy="0"/>
        </a:xfrm>
      </p:grpSpPr>
      <p:sp>
        <p:nvSpPr>
          <p:cNvPr id="1325" name="Google Shape;1325;p41: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6" name="Google Shape;1326;p41:notes"/>
          <p:cNvSpPr>
            <a:spLocks noGrp="1" noRot="1" noChangeAspect="1"/>
          </p:cNvSpPr>
          <p:nvPr>
            <p:ph type="sldImg" idx="2"/>
          </p:nvPr>
        </p:nvSpPr>
        <p:spPr>
          <a:xfrm>
            <a:off x="4256088" y="458788"/>
            <a:ext cx="2227262" cy="1254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27" name="Google Shape;1327;p41: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41</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p42: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5" name="Google Shape;1335;p42:notes"/>
          <p:cNvSpPr>
            <a:spLocks noGrp="1" noRot="1" noChangeAspect="1"/>
          </p:cNvSpPr>
          <p:nvPr>
            <p:ph type="sldImg" idx="2"/>
          </p:nvPr>
        </p:nvSpPr>
        <p:spPr>
          <a:xfrm>
            <a:off x="4256088" y="458788"/>
            <a:ext cx="2227262" cy="1254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36" name="Google Shape;1336;p42: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42</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2"/>
        <p:cNvGrpSpPr/>
        <p:nvPr/>
      </p:nvGrpSpPr>
      <p:grpSpPr>
        <a:xfrm>
          <a:off x="0" y="0"/>
          <a:ext cx="0" cy="0"/>
          <a:chOff x="0" y="0"/>
          <a:chExt cx="0" cy="0"/>
        </a:xfrm>
      </p:grpSpPr>
      <p:sp>
        <p:nvSpPr>
          <p:cNvPr id="1343" name="Google Shape;1343;p43: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44" name="Google Shape;1344;p43: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43</a:t>
            </a:fld>
            <a:endParaRPr sz="1200">
              <a:solidFill>
                <a:schemeClr val="dk1"/>
              </a:solidFill>
              <a:latin typeface="Helvetica Neue"/>
              <a:ea typeface="Helvetica Neue"/>
              <a:cs typeface="Helvetica Neue"/>
              <a:sym typeface="Helvetica Neue"/>
            </a:endParaRPr>
          </a:p>
        </p:txBody>
      </p:sp>
      <p:sp>
        <p:nvSpPr>
          <p:cNvPr id="1345" name="Google Shape;1345;p43: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pPr lvl="0"/>
            <a:r>
              <a:rPr lang="en-GB"/>
              <a:t>It’s OK for them to struggle a bit here while they work it out.</a:t>
            </a:r>
          </a:p>
          <a:p>
            <a:pPr lvl="0"/>
            <a:endParaRPr lang="en-GB"/>
          </a:p>
          <a:p>
            <a:pPr lvl="0"/>
            <a:r>
              <a:rPr lang="en-GB"/>
              <a:t>If helpful, act out a little role play while you say: a customer came in, picked up some books and brought them to the cash register to buy them. </a:t>
            </a:r>
          </a:p>
          <a:p>
            <a:pPr lvl="0"/>
            <a:endParaRPr lang="en-GB"/>
          </a:p>
          <a:p>
            <a:pPr lvl="0"/>
            <a:r>
              <a:rPr lang="en-GB"/>
              <a:t>Have we earned (income) the right to be paid (asset)? Yes. </a:t>
            </a:r>
          </a:p>
          <a:p>
            <a:pPr lvl="0"/>
            <a:endParaRPr lang="en-GB"/>
          </a:p>
          <a:p>
            <a:pPr lvl="0"/>
            <a:r>
              <a:rPr lang="en-GB"/>
              <a:t>And were we paid? Yes. </a:t>
            </a:r>
          </a:p>
          <a:p>
            <a:pPr lvl="0"/>
            <a:endParaRPr lang="en-GB"/>
          </a:p>
          <a:p>
            <a:pPr marL="2027201"/>
            <a:r>
              <a:rPr lang="en-GB"/>
              <a:t>(This sets up an anchor for later Tx 8a, 9, 12a and 13 – separation of cash from accrual).</a:t>
            </a:r>
          </a:p>
          <a:p>
            <a:pPr lvl="0"/>
            <a:endParaRPr lang="en-GB"/>
          </a:p>
          <a:p>
            <a:pPr lvl="0"/>
            <a:r>
              <a:rPr lang="en-GB"/>
              <a:t>In the debrief, ask them – if the clock stopped now, what would our profit show as? </a:t>
            </a:r>
          </a:p>
          <a:p>
            <a:pPr lvl="0"/>
            <a:endParaRPr lang="en-GB"/>
          </a:p>
          <a:p>
            <a:pPr lvl="0"/>
            <a:r>
              <a:rPr lang="en-GB"/>
              <a:t>Facilitate how the income statement is a detailed version of the single number for profit in Equity. Double-click!</a:t>
            </a:r>
          </a:p>
          <a:p>
            <a:endParaRPr lang="en-GB" altLang="en-US">
              <a:ea typeface="ＭＳ Ｐゴシック" charset="-128"/>
            </a:endParaRPr>
          </a:p>
          <a:p>
            <a:pPr lvl="0"/>
            <a:endParaRPr lang="en-GB"/>
          </a:p>
          <a:p>
            <a:endParaRPr lang="en-GB" altLang="en-US">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44</a:t>
            </a:fld>
            <a:endParaRPr lang="en-GB" altLang="en-US">
              <a:latin typeface="Helvetica Regular" charset="0"/>
            </a:endParaRPr>
          </a:p>
        </p:txBody>
      </p:sp>
    </p:spTree>
    <p:extLst>
      <p:ext uri="{BB962C8B-B14F-4D97-AF65-F5344CB8AC3E}">
        <p14:creationId xmlns:p14="http://schemas.microsoft.com/office/powerpoint/2010/main" val="4900561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5"/>
        <p:cNvGrpSpPr/>
        <p:nvPr/>
      </p:nvGrpSpPr>
      <p:grpSpPr>
        <a:xfrm>
          <a:off x="0" y="0"/>
          <a:ext cx="0" cy="0"/>
          <a:chOff x="0" y="0"/>
          <a:chExt cx="0" cy="0"/>
        </a:xfrm>
      </p:grpSpPr>
      <p:sp>
        <p:nvSpPr>
          <p:cNvPr id="1476" name="Google Shape;1476;p45: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477" name="Google Shape;1477;p45: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45</a:t>
            </a:fld>
            <a:endParaRPr sz="1200">
              <a:solidFill>
                <a:schemeClr val="dk1"/>
              </a:solidFill>
              <a:latin typeface="Helvetica Neue"/>
              <a:ea typeface="Helvetica Neue"/>
              <a:cs typeface="Helvetica Neue"/>
              <a:sym typeface="Helvetica Neue"/>
            </a:endParaRPr>
          </a:p>
        </p:txBody>
      </p:sp>
      <p:sp>
        <p:nvSpPr>
          <p:cNvPr id="1478" name="Google Shape;1478;p45: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r>
              <a:rPr lang="en-GB" dirty="0"/>
              <a:t>Drill the causal effect between the sale event triggering the cost of sale event.</a:t>
            </a:r>
          </a:p>
          <a:p>
            <a:pPr lvl="0"/>
            <a:endParaRPr lang="en-GB" dirty="0"/>
          </a:p>
          <a:p>
            <a:pPr lvl="0"/>
            <a:r>
              <a:rPr lang="en-GB" dirty="0"/>
              <a:t>Ask: what effect do sales and other income have on Equity? So, do the owners love or hate income? Love. </a:t>
            </a:r>
          </a:p>
          <a:p>
            <a:pPr lvl="0"/>
            <a:endParaRPr lang="en-GB" dirty="0"/>
          </a:p>
          <a:p>
            <a:pPr lvl="0"/>
            <a:r>
              <a:rPr lang="en-GB" dirty="0"/>
              <a:t>Ask: what effect do expenses have on Equity? </a:t>
            </a:r>
          </a:p>
          <a:p>
            <a:pPr lvl="0"/>
            <a:endParaRPr lang="en-GB" dirty="0"/>
          </a:p>
          <a:p>
            <a:pPr lvl="0"/>
            <a:r>
              <a:rPr lang="en-GB" dirty="0"/>
              <a:t>So, do the owners love or hate income? Hate. (necessary evil)</a:t>
            </a:r>
          </a:p>
          <a:p>
            <a:pPr lvl="0"/>
            <a:endParaRPr lang="en-GB" dirty="0"/>
          </a:p>
          <a:p>
            <a:r>
              <a:rPr lang="en-GB" dirty="0"/>
              <a:t>Point out that 6a and 6b are the classic VGA and VSA transactions that we referred to in the Value Cycle conversation. The business sacrifices value (inventory walks out the door) in order to generate more value (cash flows into the bank account). </a:t>
            </a:r>
          </a:p>
          <a:p>
            <a:endParaRPr lang="en-GB" dirty="0"/>
          </a:p>
          <a:p>
            <a:r>
              <a:rPr lang="en-GB" dirty="0"/>
              <a:t>More value is generated than sacrificed. Assets overall have increased by $400, and to whom is the business obligated for the $400 of additional assets… the owners, which is what profit is… the increase in the net assets on behalf of the owners.</a:t>
            </a:r>
          </a:p>
          <a:p>
            <a:pPr lvl="0"/>
            <a:endParaRPr lang="en-GB" dirty="0"/>
          </a:p>
          <a:p>
            <a:pPr lvl="0"/>
            <a:r>
              <a:rPr lang="en-GB" b="1" dirty="0"/>
              <a:t>OPTIONAL DISCUSSION ABOUT MARGIN</a:t>
            </a:r>
          </a:p>
          <a:p>
            <a:pPr lvl="0"/>
            <a:endParaRPr lang="en-GB" dirty="0"/>
          </a:p>
          <a:p>
            <a:pPr lvl="0"/>
            <a:r>
              <a:rPr lang="en-GB" dirty="0"/>
              <a:t>Margin - Facilitate a discussion on the new information that has appeared in the Income Statement – the Gross Profit Margin $ &amp; %. Ask: Is this enough? Facilitate some discussion around, ‘it depends’ – type of business, length of operating cycle etc. Give following example:</a:t>
            </a:r>
          </a:p>
          <a:p>
            <a:endParaRPr lang="en-GB" dirty="0"/>
          </a:p>
          <a:p>
            <a:r>
              <a:rPr lang="en-GB" dirty="0"/>
              <a:t>Let’s say we were selling loads of paper clips, and for everyone we sold we made $400 gross profit – would that work?</a:t>
            </a:r>
          </a:p>
          <a:p>
            <a:endParaRPr lang="en-GB" dirty="0"/>
          </a:p>
          <a:p>
            <a:r>
              <a:rPr lang="en-GB" dirty="0"/>
              <a:t>But let’s say we were making submarines, one every two years, and we made $400 gross profit – would that work?</a:t>
            </a:r>
          </a:p>
          <a:p>
            <a:endParaRPr lang="en-GB" dirty="0"/>
          </a:p>
          <a:p>
            <a:r>
              <a:rPr lang="en-GB" dirty="0"/>
              <a:t>Summarise: the business needs to make sufficient gross margin so as to pay the other expenses, service the debt, pay the taxes, replenish the assets and reward the owners. Therefore, they must pay close attention to this important metric.</a:t>
            </a:r>
            <a:endParaRPr lang="en-GB" b="1" dirty="0"/>
          </a:p>
          <a:p>
            <a:pPr lvl="0"/>
            <a:endParaRPr lang="en-GB" b="1" dirty="0"/>
          </a:p>
          <a:p>
            <a:pPr lvl="0" algn="ctr"/>
            <a:r>
              <a:rPr lang="en-GB" b="1" dirty="0">
                <a:solidFill>
                  <a:srgbClr val="C00000"/>
                </a:solidFill>
              </a:rPr>
              <a:t>***  FINISH HERE UNLESS TIME ALLOWS FOR MORE  *** </a:t>
            </a:r>
          </a:p>
          <a:p>
            <a:pPr lvl="0"/>
            <a:endParaRPr lang="en-GB" dirty="0"/>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46</a:t>
            </a:fld>
            <a:endParaRPr lang="en-GB" altLang="en-US">
              <a:latin typeface="Helvetica Regular" charset="0"/>
            </a:endParaRPr>
          </a:p>
        </p:txBody>
      </p:sp>
    </p:spTree>
    <p:extLst>
      <p:ext uri="{BB962C8B-B14F-4D97-AF65-F5344CB8AC3E}">
        <p14:creationId xmlns:p14="http://schemas.microsoft.com/office/powerpoint/2010/main" val="23846648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3"/>
        <p:cNvGrpSpPr/>
        <p:nvPr/>
      </p:nvGrpSpPr>
      <p:grpSpPr>
        <a:xfrm>
          <a:off x="0" y="0"/>
          <a:ext cx="0" cy="0"/>
          <a:chOff x="0" y="0"/>
          <a:chExt cx="0" cy="0"/>
        </a:xfrm>
      </p:grpSpPr>
      <p:sp>
        <p:nvSpPr>
          <p:cNvPr id="1624" name="Google Shape;1624;p47: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25" name="Google Shape;1625;p47: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47</a:t>
            </a:fld>
            <a:endParaRPr sz="1200">
              <a:solidFill>
                <a:schemeClr val="dk1"/>
              </a:solidFill>
              <a:latin typeface="Helvetica Neue"/>
              <a:ea typeface="Helvetica Neue"/>
              <a:cs typeface="Helvetica Neue"/>
              <a:sym typeface="Helvetica Neue"/>
            </a:endParaRPr>
          </a:p>
        </p:txBody>
      </p:sp>
      <p:sp>
        <p:nvSpPr>
          <p:cNvPr id="1626" name="Google Shape;1626;p47: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pPr lvl="0"/>
            <a:r>
              <a:rPr lang="en-GB"/>
              <a:t>Profit effect? Cash impact?</a:t>
            </a:r>
          </a:p>
          <a:p>
            <a:pPr lvl="0"/>
            <a:endParaRPr lang="en-GB"/>
          </a:p>
          <a:p>
            <a:pPr lvl="0"/>
            <a:r>
              <a:rPr lang="en-GB"/>
              <a:t>Did this affect the gross profit? </a:t>
            </a:r>
          </a:p>
          <a:p>
            <a:pPr lvl="0"/>
            <a:endParaRPr lang="en-GB"/>
          </a:p>
          <a:p>
            <a:pPr lvl="0"/>
            <a:r>
              <a:rPr lang="en-GB"/>
              <a:t>No – not a direct expense. </a:t>
            </a:r>
          </a:p>
          <a:p>
            <a:pPr lvl="0"/>
            <a:endParaRPr lang="en-GB"/>
          </a:p>
          <a:p>
            <a:pPr lvl="0"/>
            <a:r>
              <a:rPr lang="en-GB"/>
              <a:t>It is an expense of doing business, so comes between the gross profit and the net profit.</a:t>
            </a:r>
            <a:br>
              <a:rPr lang="en-GB"/>
            </a:br>
            <a:endParaRPr lang="en-GB"/>
          </a:p>
          <a:p>
            <a:endParaRPr lang="en-GB" altLang="en-US">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48</a:t>
            </a:fld>
            <a:endParaRPr lang="en-GB" altLang="en-US">
              <a:latin typeface="Helvetica Regular" charset="0"/>
            </a:endParaRPr>
          </a:p>
        </p:txBody>
      </p:sp>
    </p:spTree>
    <p:extLst>
      <p:ext uri="{BB962C8B-B14F-4D97-AF65-F5344CB8AC3E}">
        <p14:creationId xmlns:p14="http://schemas.microsoft.com/office/powerpoint/2010/main" val="1836464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5"/>
        <p:cNvGrpSpPr/>
        <p:nvPr/>
      </p:nvGrpSpPr>
      <p:grpSpPr>
        <a:xfrm>
          <a:off x="0" y="0"/>
          <a:ext cx="0" cy="0"/>
          <a:chOff x="0" y="0"/>
          <a:chExt cx="0" cy="0"/>
        </a:xfrm>
      </p:grpSpPr>
      <p:sp>
        <p:nvSpPr>
          <p:cNvPr id="1786" name="Google Shape;1786;p49: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87" name="Google Shape;1787;p49: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49</a:t>
            </a:fld>
            <a:endParaRPr sz="1200">
              <a:solidFill>
                <a:schemeClr val="dk1"/>
              </a:solidFill>
              <a:latin typeface="Helvetica Neue"/>
              <a:ea typeface="Helvetica Neue"/>
              <a:cs typeface="Helvetica Neue"/>
              <a:sym typeface="Helvetica Neue"/>
            </a:endParaRPr>
          </a:p>
        </p:txBody>
      </p:sp>
      <p:sp>
        <p:nvSpPr>
          <p:cNvPr id="1788" name="Google Shape;1788;p49: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pPr lvl="0"/>
            <a:r>
              <a:rPr lang="en-GB" dirty="0"/>
              <a:t>Some students may still muddle up 8a (the sale event) and 8b (the consequent COS event). </a:t>
            </a:r>
          </a:p>
          <a:p>
            <a:pPr lvl="0"/>
            <a:endParaRPr lang="en-GB" dirty="0"/>
          </a:p>
          <a:p>
            <a:pPr lvl="0"/>
            <a:r>
              <a:rPr lang="en-GB" dirty="0"/>
              <a:t>Refer back to Tx 6. </a:t>
            </a:r>
          </a:p>
          <a:p>
            <a:pPr lvl="0"/>
            <a:endParaRPr lang="en-GB" dirty="0"/>
          </a:p>
          <a:p>
            <a:pPr lvl="0"/>
            <a:r>
              <a:rPr lang="en-GB" dirty="0"/>
              <a:t>They should be able to work this out with minimal guidance from you.</a:t>
            </a:r>
          </a:p>
          <a:p>
            <a:pPr lvl="0"/>
            <a:endParaRPr lang="en-GB" dirty="0"/>
          </a:p>
          <a:p>
            <a:pPr lvl="0"/>
            <a:r>
              <a:rPr lang="en-GB" dirty="0"/>
              <a:t>If helpful, act out a little role play while you say: a customer came in, picked up some books and brought them to the cash register to buy them. </a:t>
            </a:r>
          </a:p>
          <a:p>
            <a:pPr lvl="0"/>
            <a:endParaRPr lang="en-GB" dirty="0"/>
          </a:p>
          <a:p>
            <a:pPr lvl="0"/>
            <a:r>
              <a:rPr lang="en-GB" dirty="0"/>
              <a:t>Have we earned (income) the right to be paid (asset)? Yes. </a:t>
            </a:r>
          </a:p>
          <a:p>
            <a:pPr lvl="0"/>
            <a:endParaRPr lang="en-GB" dirty="0"/>
          </a:p>
          <a:p>
            <a:pPr lvl="0"/>
            <a:r>
              <a:rPr lang="en-GB" dirty="0"/>
              <a:t>And were we paid? No. (separation of cash from accrual). </a:t>
            </a:r>
          </a:p>
          <a:p>
            <a:pPr lvl="0"/>
            <a:endParaRPr lang="en-GB" dirty="0"/>
          </a:p>
          <a:p>
            <a:pPr lvl="0"/>
            <a:r>
              <a:rPr lang="en-GB" dirty="0"/>
              <a:t>So the customer got the books, what did we get?</a:t>
            </a:r>
          </a:p>
          <a:p>
            <a:pPr lvl="0"/>
            <a:endParaRPr lang="en-GB" dirty="0"/>
          </a:p>
          <a:p>
            <a:pPr lvl="0"/>
            <a:r>
              <a:rPr lang="en-GB" dirty="0"/>
              <a:t>Objection: ‘But we haven’t been paid, so how can we recognise the sale?’ remind them of the definition of income – have we generated value (a receivable is valuable).</a:t>
            </a:r>
          </a:p>
          <a:p>
            <a:pPr lvl="0"/>
            <a:endParaRPr lang="en-GB" dirty="0"/>
          </a:p>
          <a:p>
            <a:pPr lvl="0"/>
            <a:r>
              <a:rPr lang="en-GB" dirty="0"/>
              <a:t>Note also that Global Books would only grant credit if at the time of the sale it was believed that the customer would keep their promise. A business would not want to make a credit sale to a bad credit risk. So at the time of sale Global Books believes the promise to be paid is a valuable promise.</a:t>
            </a:r>
          </a:p>
          <a:p>
            <a:pPr lvl="0"/>
            <a:endParaRPr lang="en-GB" dirty="0"/>
          </a:p>
          <a:p>
            <a:pPr lvl="0"/>
            <a:r>
              <a:rPr lang="en-GB" dirty="0"/>
              <a:t>Remind them that the definition of income is ‘value generating activity’ not ‘cash generating activity’. The form of the value-generated can be cash or accounts receivable or gold watches!</a:t>
            </a:r>
          </a:p>
          <a:p>
            <a:pPr lvl="0"/>
            <a:endParaRPr lang="en-GB" dirty="0"/>
          </a:p>
          <a:p>
            <a:r>
              <a:rPr lang="en-GB" i="1" dirty="0"/>
              <a:t>Note: you could draw your Receivables account immediately beside the Cash account to spatially demonstrate the closeness of these two accounts: cash and pre-cash.</a:t>
            </a:r>
            <a:endParaRPr lang="en-GB" dirty="0"/>
          </a:p>
          <a:p>
            <a:endParaRPr lang="en-GB" altLang="en-US" dirty="0">
              <a:ea typeface="ＭＳ Ｐゴシック" charset="-128"/>
            </a:endParaRPr>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50</a:t>
            </a:fld>
            <a:endParaRPr lang="en-GB" altLang="en-US">
              <a:latin typeface="Helvetica Regular" charset="0"/>
            </a:endParaRPr>
          </a:p>
        </p:txBody>
      </p:sp>
    </p:spTree>
    <p:extLst>
      <p:ext uri="{BB962C8B-B14F-4D97-AF65-F5344CB8AC3E}">
        <p14:creationId xmlns:p14="http://schemas.microsoft.com/office/powerpoint/2010/main" val="649774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1"/>
        <p:cNvGrpSpPr/>
        <p:nvPr/>
      </p:nvGrpSpPr>
      <p:grpSpPr>
        <a:xfrm>
          <a:off x="0" y="0"/>
          <a:ext cx="0" cy="0"/>
          <a:chOff x="0" y="0"/>
          <a:chExt cx="0" cy="0"/>
        </a:xfrm>
      </p:grpSpPr>
      <p:sp>
        <p:nvSpPr>
          <p:cNvPr id="1962" name="Google Shape;1962;p51: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63" name="Google Shape;1963;p51: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51</a:t>
            </a:fld>
            <a:endParaRPr sz="1200">
              <a:solidFill>
                <a:schemeClr val="dk1"/>
              </a:solidFill>
              <a:latin typeface="Helvetica Neue"/>
              <a:ea typeface="Helvetica Neue"/>
              <a:cs typeface="Helvetica Neue"/>
              <a:sym typeface="Helvetica Neue"/>
            </a:endParaRPr>
          </a:p>
        </p:txBody>
      </p:sp>
      <p:sp>
        <p:nvSpPr>
          <p:cNvPr id="1964" name="Google Shape;1964;p51: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r>
              <a:rPr lang="en-GB" dirty="0"/>
              <a:t>Review the margin on this sale – same $ but different %.</a:t>
            </a:r>
            <a:br>
              <a:rPr lang="en-GB" dirty="0"/>
            </a:br>
            <a:endParaRPr lang="en-GB" dirty="0"/>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52</a:t>
            </a:fld>
            <a:endParaRPr lang="en-GB" altLang="en-US">
              <a:latin typeface="Helvetica Regular" charset="0"/>
            </a:endParaRPr>
          </a:p>
        </p:txBody>
      </p:sp>
    </p:spTree>
    <p:extLst>
      <p:ext uri="{BB962C8B-B14F-4D97-AF65-F5344CB8AC3E}">
        <p14:creationId xmlns:p14="http://schemas.microsoft.com/office/powerpoint/2010/main" val="31948178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7"/>
        <p:cNvGrpSpPr/>
        <p:nvPr/>
      </p:nvGrpSpPr>
      <p:grpSpPr>
        <a:xfrm>
          <a:off x="0" y="0"/>
          <a:ext cx="0" cy="0"/>
          <a:chOff x="0" y="0"/>
          <a:chExt cx="0" cy="0"/>
        </a:xfrm>
      </p:grpSpPr>
      <p:sp>
        <p:nvSpPr>
          <p:cNvPr id="2148" name="Google Shape;2148;p53: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49" name="Google Shape;2149;p53: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53</a:t>
            </a:fld>
            <a:endParaRPr sz="1200">
              <a:solidFill>
                <a:schemeClr val="dk1"/>
              </a:solidFill>
              <a:latin typeface="Helvetica Neue"/>
              <a:ea typeface="Helvetica Neue"/>
              <a:cs typeface="Helvetica Neue"/>
              <a:sym typeface="Helvetica Neue"/>
            </a:endParaRPr>
          </a:p>
        </p:txBody>
      </p:sp>
      <p:sp>
        <p:nvSpPr>
          <p:cNvPr id="2150" name="Google Shape;2150;p53: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pPr lvl="0"/>
            <a:r>
              <a:rPr lang="en-GB" dirty="0"/>
              <a:t>We got a clean shop to the value of $250. </a:t>
            </a:r>
          </a:p>
          <a:p>
            <a:pPr lvl="0"/>
            <a:endParaRPr lang="en-GB" dirty="0"/>
          </a:p>
          <a:p>
            <a:pPr lvl="0"/>
            <a:r>
              <a:rPr lang="en-GB" dirty="0"/>
              <a:t>What did the cleaners get in return? </a:t>
            </a:r>
          </a:p>
          <a:p>
            <a:pPr lvl="0"/>
            <a:endParaRPr lang="en-GB" dirty="0"/>
          </a:p>
          <a:p>
            <a:pPr lvl="0"/>
            <a:r>
              <a:rPr lang="en-GB" dirty="0"/>
              <a:t>Another operating expense. </a:t>
            </a:r>
          </a:p>
          <a:p>
            <a:pPr lvl="0"/>
            <a:endParaRPr lang="en-GB" dirty="0"/>
          </a:p>
          <a:p>
            <a:pPr lvl="0"/>
            <a:r>
              <a:rPr lang="en-GB" dirty="0"/>
              <a:t>Should we have a separate account or a single cleaning account? Depends on what questions we will later need to answer. Cost-benefit.</a:t>
            </a:r>
          </a:p>
          <a:p>
            <a:pPr lvl="0"/>
            <a:endParaRPr lang="en-GB" dirty="0"/>
          </a:p>
          <a:p>
            <a:pPr lvl="0"/>
            <a:r>
              <a:rPr lang="en-GB" dirty="0"/>
              <a:t>Introduce the terms Debit and Credit about now</a:t>
            </a:r>
          </a:p>
          <a:p>
            <a:pPr lvl="0"/>
            <a:endParaRPr lang="en-GB" dirty="0"/>
          </a:p>
          <a:p>
            <a:pPr marL="181240" indent="-181240">
              <a:buFontTx/>
              <a:buChar char="-"/>
            </a:pPr>
            <a:r>
              <a:rPr lang="en-GB" dirty="0"/>
              <a:t>Get them to re-articulate the solution using the terms Debit and Credit instead of Increase and Decrease.</a:t>
            </a:r>
            <a:br>
              <a:rPr lang="en-GB" dirty="0"/>
            </a:br>
            <a:endParaRPr lang="en-GB" dirty="0"/>
          </a:p>
          <a:p>
            <a:pPr marL="181240" indent="-181240">
              <a:buFontTx/>
              <a:buChar char="-"/>
            </a:pPr>
            <a:r>
              <a:rPr lang="en-GB" dirty="0"/>
              <a:t>When talking about effects, try and use the words debiting and crediting. When talking about accounts (buckets), talk about debit and credit accounts.</a:t>
            </a:r>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54</a:t>
            </a:fld>
            <a:endParaRPr lang="en-GB" altLang="en-US">
              <a:latin typeface="Helvetica Regular" charset="0"/>
            </a:endParaRPr>
          </a:p>
        </p:txBody>
      </p:sp>
    </p:spTree>
    <p:extLst>
      <p:ext uri="{BB962C8B-B14F-4D97-AF65-F5344CB8AC3E}">
        <p14:creationId xmlns:p14="http://schemas.microsoft.com/office/powerpoint/2010/main" val="19667435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3"/>
        <p:cNvGrpSpPr/>
        <p:nvPr/>
      </p:nvGrpSpPr>
      <p:grpSpPr>
        <a:xfrm>
          <a:off x="0" y="0"/>
          <a:ext cx="0" cy="0"/>
          <a:chOff x="0" y="0"/>
          <a:chExt cx="0" cy="0"/>
        </a:xfrm>
      </p:grpSpPr>
      <p:sp>
        <p:nvSpPr>
          <p:cNvPr id="2344" name="Google Shape;2344;p55: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45" name="Google Shape;2345;p55: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55</a:t>
            </a:fld>
            <a:endParaRPr sz="1200">
              <a:solidFill>
                <a:schemeClr val="dk1"/>
              </a:solidFill>
              <a:latin typeface="Helvetica Neue"/>
              <a:ea typeface="Helvetica Neue"/>
              <a:cs typeface="Helvetica Neue"/>
              <a:sym typeface="Helvetica Neue"/>
            </a:endParaRPr>
          </a:p>
        </p:txBody>
      </p:sp>
      <p:sp>
        <p:nvSpPr>
          <p:cNvPr id="2346" name="Google Shape;2346;p55: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pPr lvl="0"/>
            <a:r>
              <a:rPr lang="en-GB" dirty="0"/>
              <a:t>The customer gave us $100. </a:t>
            </a:r>
          </a:p>
          <a:p>
            <a:pPr lvl="0"/>
            <a:endParaRPr lang="en-GB" dirty="0"/>
          </a:p>
          <a:p>
            <a:pPr lvl="0"/>
            <a:r>
              <a:rPr lang="en-GB" dirty="0"/>
              <a:t>What did we give them in return? </a:t>
            </a:r>
          </a:p>
          <a:p>
            <a:pPr lvl="0"/>
            <a:endParaRPr lang="en-GB" dirty="0"/>
          </a:p>
          <a:p>
            <a:pPr lvl="0"/>
            <a:r>
              <a:rPr lang="en-GB" dirty="0"/>
              <a:t>(It must be something that the customer believes is worth at least $100).</a:t>
            </a:r>
          </a:p>
          <a:p>
            <a:endParaRPr lang="en-GB" dirty="0"/>
          </a:p>
          <a:p>
            <a:r>
              <a:rPr lang="en-GB" dirty="0"/>
              <a:t>Let them struggle a bit. We gave them a promise (to serve) in return. </a:t>
            </a:r>
          </a:p>
          <a:p>
            <a:endParaRPr lang="en-GB" dirty="0"/>
          </a:p>
          <a:p>
            <a:r>
              <a:rPr lang="en-GB" dirty="0"/>
              <a:t>To us, that is an obligation. </a:t>
            </a:r>
          </a:p>
          <a:p>
            <a:endParaRPr lang="en-GB" dirty="0"/>
          </a:p>
          <a:p>
            <a:r>
              <a:rPr lang="en-GB" dirty="0"/>
              <a:t>Since we haven’t yet delivered goods or services in return for the cash (and thereby haven’t earned anything), the obligation is clearly to the creditor (in this case a customer becomes a creditor), not the owners.</a:t>
            </a:r>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56</a:t>
            </a:fld>
            <a:endParaRPr lang="en-GB" altLang="en-US">
              <a:latin typeface="Helvetica Regular" charset="0"/>
            </a:endParaRPr>
          </a:p>
        </p:txBody>
      </p:sp>
    </p:spTree>
    <p:extLst>
      <p:ext uri="{BB962C8B-B14F-4D97-AF65-F5344CB8AC3E}">
        <p14:creationId xmlns:p14="http://schemas.microsoft.com/office/powerpoint/2010/main" val="22878639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2"/>
        <p:cNvGrpSpPr/>
        <p:nvPr/>
      </p:nvGrpSpPr>
      <p:grpSpPr>
        <a:xfrm>
          <a:off x="0" y="0"/>
          <a:ext cx="0" cy="0"/>
          <a:chOff x="0" y="0"/>
          <a:chExt cx="0" cy="0"/>
        </a:xfrm>
      </p:grpSpPr>
      <p:sp>
        <p:nvSpPr>
          <p:cNvPr id="2553" name="Google Shape;2553;p57: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554" name="Google Shape;2554;p57: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57</a:t>
            </a:fld>
            <a:endParaRPr sz="1200">
              <a:solidFill>
                <a:schemeClr val="dk1"/>
              </a:solidFill>
              <a:latin typeface="Helvetica Neue"/>
              <a:ea typeface="Helvetica Neue"/>
              <a:cs typeface="Helvetica Neue"/>
              <a:sym typeface="Helvetica Neue"/>
            </a:endParaRPr>
          </a:p>
        </p:txBody>
      </p:sp>
      <p:sp>
        <p:nvSpPr>
          <p:cNvPr id="2555" name="Google Shape;2555;p57: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dirty="0"/>
          </a:p>
          <a:p>
            <a:endParaRPr lang="en-GB" dirty="0"/>
          </a:p>
          <a:p>
            <a:endParaRPr lang="en-GB" dirty="0"/>
          </a:p>
          <a:p>
            <a:endParaRPr lang="en-GB" dirty="0"/>
          </a:p>
          <a:p>
            <a:endParaRPr lang="en-GB" dirty="0"/>
          </a:p>
          <a:p>
            <a:endParaRPr lang="en-GB" dirty="0"/>
          </a:p>
          <a:p>
            <a:endParaRPr lang="en-GB" dirty="0"/>
          </a:p>
          <a:p>
            <a:r>
              <a:rPr lang="en-GB" dirty="0"/>
              <a:t>Global Books has swapped one asset (a promise to be paid) for another, better asset––cash.</a:t>
            </a:r>
          </a:p>
          <a:p>
            <a:endParaRPr lang="en-GB" altLang="en-US" dirty="0">
              <a:ea typeface="ＭＳ Ｐゴシック" charset="-128"/>
            </a:endParaRPr>
          </a:p>
          <a:p>
            <a:r>
              <a:rPr lang="en-GB" altLang="en-US" dirty="0">
                <a:ea typeface="ＭＳ Ｐゴシック" charset="-128"/>
              </a:rPr>
              <a:t>Note that the receipt of cash had no impact on income––income is activity that generates value, it is not the value.</a:t>
            </a: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pPr lvl="0"/>
            <a:r>
              <a:rPr lang="en-GB" dirty="0"/>
              <a:t>Detail oriented students (audit types) may notice that the payment was late – promised payment within 1 day – took 2 weeks. Not good form.</a:t>
            </a:r>
          </a:p>
          <a:p>
            <a:br>
              <a:rPr lang="en-GB" dirty="0"/>
            </a:br>
            <a:r>
              <a:rPr lang="en-GB" dirty="0"/>
              <a:t> </a:t>
            </a:r>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58</a:t>
            </a:fld>
            <a:endParaRPr lang="en-GB" altLang="en-US">
              <a:latin typeface="Helvetica Regular" charset="0"/>
            </a:endParaRPr>
          </a:p>
        </p:txBody>
      </p:sp>
    </p:spTree>
    <p:extLst>
      <p:ext uri="{BB962C8B-B14F-4D97-AF65-F5344CB8AC3E}">
        <p14:creationId xmlns:p14="http://schemas.microsoft.com/office/powerpoint/2010/main" val="28916131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1"/>
        <p:cNvGrpSpPr/>
        <p:nvPr/>
      </p:nvGrpSpPr>
      <p:grpSpPr>
        <a:xfrm>
          <a:off x="0" y="0"/>
          <a:ext cx="0" cy="0"/>
          <a:chOff x="0" y="0"/>
          <a:chExt cx="0" cy="0"/>
        </a:xfrm>
      </p:grpSpPr>
      <p:sp>
        <p:nvSpPr>
          <p:cNvPr id="2772" name="Google Shape;2772;p59: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73" name="Google Shape;2773;p59: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59</a:t>
            </a:fld>
            <a:endParaRPr sz="1200">
              <a:solidFill>
                <a:schemeClr val="dk1"/>
              </a:solidFill>
              <a:latin typeface="Helvetica Neue"/>
              <a:ea typeface="Helvetica Neue"/>
              <a:cs typeface="Helvetica Neue"/>
              <a:sym typeface="Helvetica Neue"/>
            </a:endParaRPr>
          </a:p>
        </p:txBody>
      </p:sp>
      <p:sp>
        <p:nvSpPr>
          <p:cNvPr id="2774" name="Google Shape;2774;p59: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pPr lvl="0"/>
            <a:r>
              <a:rPr lang="en-GB" dirty="0"/>
              <a:t>Demonstrate them how the obligation associated </a:t>
            </a:r>
          </a:p>
          <a:p>
            <a:pPr lvl="0"/>
            <a:r>
              <a:rPr lang="en-GB" dirty="0"/>
              <a:t>with $90 of the $100 cash has shifted from creditors </a:t>
            </a:r>
          </a:p>
          <a:p>
            <a:pPr lvl="0"/>
            <a:r>
              <a:rPr lang="en-GB" dirty="0"/>
              <a:t>to owners (via generated equity – profit).</a:t>
            </a:r>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60</a:t>
            </a:fld>
            <a:endParaRPr lang="en-GB" altLang="en-US">
              <a:latin typeface="Helvetica Regular" charset="0"/>
            </a:endParaRPr>
          </a:p>
        </p:txBody>
      </p:sp>
    </p:spTree>
    <p:extLst>
      <p:ext uri="{BB962C8B-B14F-4D97-AF65-F5344CB8AC3E}">
        <p14:creationId xmlns:p14="http://schemas.microsoft.com/office/powerpoint/2010/main" val="19152519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1"/>
        <p:cNvGrpSpPr/>
        <p:nvPr/>
      </p:nvGrpSpPr>
      <p:grpSpPr>
        <a:xfrm>
          <a:off x="0" y="0"/>
          <a:ext cx="0" cy="0"/>
          <a:chOff x="0" y="0"/>
          <a:chExt cx="0" cy="0"/>
        </a:xfrm>
      </p:grpSpPr>
      <p:sp>
        <p:nvSpPr>
          <p:cNvPr id="3002" name="Google Shape;3002;p61:notes"/>
          <p:cNvSpPr>
            <a:spLocks noGrp="1" noRot="1" noChangeAspect="1"/>
          </p:cNvSpPr>
          <p:nvPr>
            <p:ph type="sldImg" idx="2"/>
          </p:nvPr>
        </p:nvSpPr>
        <p:spPr>
          <a:xfrm>
            <a:off x="4359275"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003" name="Google Shape;3003;p61: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61</a:t>
            </a:fld>
            <a:endParaRPr sz="1200">
              <a:solidFill>
                <a:schemeClr val="dk1"/>
              </a:solidFill>
              <a:latin typeface="Helvetica Neue"/>
              <a:ea typeface="Helvetica Neue"/>
              <a:cs typeface="Helvetica Neue"/>
              <a:sym typeface="Helvetica Neue"/>
            </a:endParaRPr>
          </a:p>
        </p:txBody>
      </p:sp>
      <p:sp>
        <p:nvSpPr>
          <p:cNvPr id="3004" name="Google Shape;3004;p61: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62</a:t>
            </a:fld>
            <a:endParaRPr lang="en-GB" altLang="en-US">
              <a:latin typeface="Helvetica Regular" charset="0"/>
            </a:endParaRPr>
          </a:p>
        </p:txBody>
      </p:sp>
    </p:spTree>
    <p:extLst>
      <p:ext uri="{BB962C8B-B14F-4D97-AF65-F5344CB8AC3E}">
        <p14:creationId xmlns:p14="http://schemas.microsoft.com/office/powerpoint/2010/main" val="30606040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1"/>
        <p:cNvGrpSpPr/>
        <p:nvPr/>
      </p:nvGrpSpPr>
      <p:grpSpPr>
        <a:xfrm>
          <a:off x="0" y="0"/>
          <a:ext cx="0" cy="0"/>
          <a:chOff x="0" y="0"/>
          <a:chExt cx="0" cy="0"/>
        </a:xfrm>
      </p:grpSpPr>
      <p:sp>
        <p:nvSpPr>
          <p:cNvPr id="3242" name="Google Shape;3242;p63: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243" name="Google Shape;3243;p63: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63</a:t>
            </a:fld>
            <a:endParaRPr sz="1200">
              <a:solidFill>
                <a:schemeClr val="dk1"/>
              </a:solidFill>
              <a:latin typeface="Helvetica Neue"/>
              <a:ea typeface="Helvetica Neue"/>
              <a:cs typeface="Helvetica Neue"/>
              <a:sym typeface="Helvetica Neue"/>
            </a:endParaRPr>
          </a:p>
        </p:txBody>
      </p:sp>
      <p:sp>
        <p:nvSpPr>
          <p:cNvPr id="3244" name="Google Shape;3244;p63: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pPr lvl="0"/>
            <a:r>
              <a:rPr lang="en-GB" dirty="0"/>
              <a:t>They will typically think it is an expense: because we spent money or because advertising is an expense. </a:t>
            </a:r>
          </a:p>
          <a:p>
            <a:pPr lvl="0"/>
            <a:endParaRPr lang="en-GB" dirty="0"/>
          </a:p>
          <a:p>
            <a:pPr lvl="0"/>
            <a:r>
              <a:rPr lang="en-GB" dirty="0"/>
              <a:t>Help them work through the logic – refer them to the dates.</a:t>
            </a:r>
          </a:p>
          <a:p>
            <a:pPr lvl="0"/>
            <a:endParaRPr lang="en-GB" dirty="0"/>
          </a:p>
          <a:p>
            <a:pPr lvl="0"/>
            <a:r>
              <a:rPr lang="en-GB" dirty="0"/>
              <a:t>We gave the supplier $800. What did they give us in return?</a:t>
            </a:r>
          </a:p>
          <a:p>
            <a:pPr lvl="0"/>
            <a:endParaRPr lang="en-GB" dirty="0"/>
          </a:p>
          <a:p>
            <a:r>
              <a:rPr lang="en-GB" dirty="0"/>
              <a:t>The business has bought the right to receive advertising.</a:t>
            </a:r>
          </a:p>
          <a:p>
            <a:endParaRPr lang="en-GB" dirty="0"/>
          </a:p>
          <a:p>
            <a:r>
              <a:rPr lang="en-GB" dirty="0"/>
              <a:t>Only if a participant raises the issue: acknowledge that simplified bookkeeping practice can expense the payment immediately, and then – as a closing entry for the period/year - capitalise the portion that is not yet consumed. </a:t>
            </a:r>
          </a:p>
          <a:p>
            <a:endParaRPr lang="en-GB" dirty="0"/>
          </a:p>
          <a:p>
            <a:r>
              <a:rPr lang="en-GB" dirty="0"/>
              <a:t>Same result at the end of the period but the monthly P&amp;Ls will not reflect the underlying business activities.</a:t>
            </a:r>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64</a:t>
            </a:fld>
            <a:endParaRPr lang="en-GB" altLang="en-US">
              <a:latin typeface="Helvetica Regular" charset="0"/>
            </a:endParaRPr>
          </a:p>
        </p:txBody>
      </p:sp>
    </p:spTree>
    <p:extLst>
      <p:ext uri="{BB962C8B-B14F-4D97-AF65-F5344CB8AC3E}">
        <p14:creationId xmlns:p14="http://schemas.microsoft.com/office/powerpoint/2010/main" val="211743295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4"/>
        <p:cNvGrpSpPr/>
        <p:nvPr/>
      </p:nvGrpSpPr>
      <p:grpSpPr>
        <a:xfrm>
          <a:off x="0" y="0"/>
          <a:ext cx="0" cy="0"/>
          <a:chOff x="0" y="0"/>
          <a:chExt cx="0" cy="0"/>
        </a:xfrm>
      </p:grpSpPr>
      <p:sp>
        <p:nvSpPr>
          <p:cNvPr id="3495" name="Google Shape;3495;p65: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496" name="Google Shape;3496;p65: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65</a:t>
            </a:fld>
            <a:endParaRPr sz="1200">
              <a:solidFill>
                <a:schemeClr val="dk1"/>
              </a:solidFill>
              <a:latin typeface="Helvetica Neue"/>
              <a:ea typeface="Helvetica Neue"/>
              <a:cs typeface="Helvetica Neue"/>
              <a:sym typeface="Helvetica Neue"/>
            </a:endParaRPr>
          </a:p>
        </p:txBody>
      </p:sp>
      <p:sp>
        <p:nvSpPr>
          <p:cNvPr id="3497" name="Google Shape;3497;p65: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9"/>
        <p:cNvGrpSpPr/>
        <p:nvPr/>
      </p:nvGrpSpPr>
      <p:grpSpPr>
        <a:xfrm>
          <a:off x="0" y="0"/>
          <a:ext cx="0" cy="0"/>
          <a:chOff x="0" y="0"/>
          <a:chExt cx="0" cy="0"/>
        </a:xfrm>
      </p:grpSpPr>
      <p:sp>
        <p:nvSpPr>
          <p:cNvPr id="3510" name="Google Shape;3510;p66: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511" name="Google Shape;3511;p66: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66</a:t>
            </a:fld>
            <a:endParaRPr sz="1200">
              <a:solidFill>
                <a:schemeClr val="dk1"/>
              </a:solidFill>
              <a:latin typeface="Helvetica Neue"/>
              <a:ea typeface="Helvetica Neue"/>
              <a:cs typeface="Helvetica Neue"/>
              <a:sym typeface="Helvetica Neue"/>
            </a:endParaRPr>
          </a:p>
        </p:txBody>
      </p:sp>
      <p:sp>
        <p:nvSpPr>
          <p:cNvPr id="3512" name="Google Shape;3512;p66: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4"/>
        <p:cNvGrpSpPr/>
        <p:nvPr/>
      </p:nvGrpSpPr>
      <p:grpSpPr>
        <a:xfrm>
          <a:off x="0" y="0"/>
          <a:ext cx="0" cy="0"/>
          <a:chOff x="0" y="0"/>
          <a:chExt cx="0" cy="0"/>
        </a:xfrm>
      </p:grpSpPr>
      <p:sp>
        <p:nvSpPr>
          <p:cNvPr id="3575" name="Google Shape;3575;p67: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576" name="Google Shape;3576;p67: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67</a:t>
            </a:fld>
            <a:endParaRPr sz="1200">
              <a:solidFill>
                <a:schemeClr val="dk1"/>
              </a:solidFill>
              <a:latin typeface="Helvetica Neue"/>
              <a:ea typeface="Helvetica Neue"/>
              <a:cs typeface="Helvetica Neue"/>
              <a:sym typeface="Helvetica Neue"/>
            </a:endParaRPr>
          </a:p>
        </p:txBody>
      </p:sp>
      <p:sp>
        <p:nvSpPr>
          <p:cNvPr id="3577" name="Google Shape;3577;p67: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endParaRPr lang="en-GB" altLang="en-US" dirty="0">
              <a:ea typeface="ＭＳ Ｐゴシック" charset="-128"/>
            </a:endParaRPr>
          </a:p>
          <a:p>
            <a:pPr lvl="0"/>
            <a:r>
              <a:rPr lang="en-GB" dirty="0"/>
              <a:t>Monthly depreciation amount is $100 being </a:t>
            </a:r>
          </a:p>
          <a:p>
            <a:pPr lvl="0"/>
            <a:r>
              <a:rPr lang="en-GB" dirty="0"/>
              <a:t>$6,000 divided by 60 months.</a:t>
            </a:r>
          </a:p>
          <a:p>
            <a:pPr lvl="0"/>
            <a:endParaRPr lang="en-GB" dirty="0"/>
          </a:p>
          <a:p>
            <a:r>
              <a:rPr lang="en-GB" altLang="en-US" dirty="0">
                <a:ea typeface="ＭＳ Ｐゴシック" charset="-128"/>
              </a:rPr>
              <a:t>Depreciation causes a lot of confusion, in part, because it is doing two things at once, and students need to know which part of the transaction they are looking at.</a:t>
            </a:r>
          </a:p>
          <a:p>
            <a:endParaRPr lang="en-GB" altLang="en-US" dirty="0">
              <a:ea typeface="ＭＳ Ｐゴシック" charset="-128"/>
            </a:endParaRPr>
          </a:p>
          <a:p>
            <a:r>
              <a:rPr lang="en-GB" altLang="en-US" dirty="0">
                <a:ea typeface="ＭＳ Ｐゴシック" charset="-128"/>
              </a:rPr>
              <a:t>Accounting duality means that depreciation does two things:</a:t>
            </a:r>
          </a:p>
          <a:p>
            <a:endParaRPr lang="en-GB" altLang="en-US" dirty="0">
              <a:ea typeface="ＭＳ Ｐゴシック" charset="-128"/>
            </a:endParaRPr>
          </a:p>
          <a:p>
            <a:pPr marL="187952" indent="-187952"/>
            <a:r>
              <a:rPr lang="en-GB" altLang="en-US" dirty="0">
                <a:ea typeface="ＭＳ Ｐゴシック" charset="-128"/>
              </a:rPr>
              <a:t>– 	it Books, Inc. the reduction of an asset’s value as it is used up and this “loss of value” </a:t>
            </a:r>
            <a:r>
              <a:rPr lang="en-GB" altLang="en-US" i="1" u="sng" dirty="0">
                <a:ea typeface="ＭＳ Ｐゴシック" charset="-128"/>
              </a:rPr>
              <a:t>accumulates</a:t>
            </a:r>
            <a:r>
              <a:rPr lang="en-GB" altLang="en-US" dirty="0">
                <a:ea typeface="ＭＳ Ｐゴシック" charset="-128"/>
              </a:rPr>
              <a:t> (builds up) in the balance sheet.</a:t>
            </a:r>
          </a:p>
          <a:p>
            <a:pPr marL="187952" indent="-187952"/>
            <a:r>
              <a:rPr lang="en-GB" altLang="en-US" dirty="0">
                <a:ea typeface="ＭＳ Ｐゴシック" charset="-128"/>
              </a:rPr>
              <a:t>					</a:t>
            </a:r>
            <a:r>
              <a:rPr lang="en-GB" altLang="en-US" i="1" dirty="0">
                <a:ea typeface="ＭＳ Ｐゴシック" charset="-128"/>
              </a:rPr>
              <a:t>This is the </a:t>
            </a:r>
            <a:r>
              <a:rPr lang="en-GB" altLang="en-US" i="1" dirty="0">
                <a:solidFill>
                  <a:schemeClr val="accent2"/>
                </a:solidFill>
                <a:ea typeface="ＭＳ Ｐゴシック" charset="-128"/>
              </a:rPr>
              <a:t>“credit” </a:t>
            </a:r>
          </a:p>
          <a:p>
            <a:endParaRPr lang="en-GB" altLang="en-US" dirty="0">
              <a:ea typeface="ＭＳ Ｐゴシック" charset="-128"/>
            </a:endParaRPr>
          </a:p>
          <a:p>
            <a:pPr marL="187952" indent="-187952"/>
            <a:r>
              <a:rPr lang="en-GB" altLang="en-US" dirty="0">
                <a:ea typeface="ＭＳ Ｐゴシック" charset="-128"/>
              </a:rPr>
              <a:t>–	it Books, Inc. the sacrifice of value as an expense: the depreciation charge.</a:t>
            </a:r>
          </a:p>
          <a:p>
            <a:pPr marL="187952" indent="-187952"/>
            <a:r>
              <a:rPr lang="en-GB" altLang="en-US" i="1" dirty="0">
                <a:ea typeface="ＭＳ Ｐゴシック" charset="-128"/>
              </a:rPr>
              <a:t>					This is the </a:t>
            </a:r>
            <a:r>
              <a:rPr lang="en-GB" altLang="en-US" i="1" dirty="0">
                <a:solidFill>
                  <a:schemeClr val="accent6"/>
                </a:solidFill>
                <a:ea typeface="ＭＳ Ｐゴシック" charset="-128"/>
              </a:rPr>
              <a:t>“debit”</a:t>
            </a:r>
            <a:endParaRPr lang="en-GB" altLang="en-US" dirty="0">
              <a:solidFill>
                <a:schemeClr val="accent6"/>
              </a:solidFill>
              <a:ea typeface="ＭＳ Ｐゴシック" charset="-128"/>
            </a:endParaRPr>
          </a:p>
          <a:p>
            <a:endParaRPr lang="en-GB" altLang="en-US" dirty="0">
              <a:ea typeface="ＭＳ Ｐゴシック" charset="-128"/>
            </a:endParaRPr>
          </a:p>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68</a:t>
            </a:fld>
            <a:endParaRPr lang="en-GB" altLang="en-US">
              <a:latin typeface="Helvetica Regular" charset="0"/>
            </a:endParaRPr>
          </a:p>
        </p:txBody>
      </p:sp>
    </p:spTree>
    <p:extLst>
      <p:ext uri="{BB962C8B-B14F-4D97-AF65-F5344CB8AC3E}">
        <p14:creationId xmlns:p14="http://schemas.microsoft.com/office/powerpoint/2010/main" val="37421940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9"/>
        <p:cNvGrpSpPr/>
        <p:nvPr/>
      </p:nvGrpSpPr>
      <p:grpSpPr>
        <a:xfrm>
          <a:off x="0" y="0"/>
          <a:ext cx="0" cy="0"/>
          <a:chOff x="0" y="0"/>
          <a:chExt cx="0" cy="0"/>
        </a:xfrm>
      </p:grpSpPr>
      <p:sp>
        <p:nvSpPr>
          <p:cNvPr id="3870" name="Google Shape;3870;p69: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Let the students attempt the calculation.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marR="0" lvl="0" indent="0" algn="l" rtl="0">
              <a:lnSpc>
                <a:spcPct val="100000"/>
              </a:lnSpc>
              <a:spcBef>
                <a:spcPts val="0"/>
              </a:spcBef>
              <a:spcAft>
                <a:spcPts val="0"/>
              </a:spcAft>
              <a:buClr>
                <a:schemeClr val="dk1"/>
              </a:buClr>
              <a:buSzPts val="1200"/>
              <a:buFont typeface="Avenir"/>
              <a:buNone/>
            </a:pPr>
            <a:r>
              <a:rPr lang="en-US" sz="1200">
                <a:latin typeface="Avenir"/>
                <a:ea typeface="Avenir"/>
                <a:cs typeface="Avenir"/>
                <a:sym typeface="Avenir"/>
              </a:rPr>
              <a:t>Account for deferred advertising used up in the month to 31 March.</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871" name="Google Shape;3871;p69: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872" name="Google Shape;3872;p69: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69</a:t>
            </a:fld>
            <a:endParaRPr sz="12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endParaRPr lang="en-GB" altLang="en-US">
              <a:ea typeface="ＭＳ Ｐゴシック" charset="-128"/>
            </a:endParaRPr>
          </a:p>
          <a:p>
            <a:r>
              <a:rPr lang="en-GB"/>
              <a:t>One quarter of the advertising is consumed, according to the dates and using a straight-line matching/pro rata concept for recognising the expense.</a:t>
            </a:r>
          </a:p>
          <a:p>
            <a:endParaRPr lang="en-GB" altLang="en-US">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70</a:t>
            </a:fld>
            <a:endParaRPr lang="en-GB" altLang="en-US">
              <a:latin typeface="Helvetica Regular" charset="0"/>
            </a:endParaRPr>
          </a:p>
        </p:txBody>
      </p:sp>
    </p:spTree>
    <p:extLst>
      <p:ext uri="{BB962C8B-B14F-4D97-AF65-F5344CB8AC3E}">
        <p14:creationId xmlns:p14="http://schemas.microsoft.com/office/powerpoint/2010/main" val="165104904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5"/>
        <p:cNvGrpSpPr/>
        <p:nvPr/>
      </p:nvGrpSpPr>
      <p:grpSpPr>
        <a:xfrm>
          <a:off x="0" y="0"/>
          <a:ext cx="0" cy="0"/>
          <a:chOff x="0" y="0"/>
          <a:chExt cx="0" cy="0"/>
        </a:xfrm>
      </p:grpSpPr>
      <p:sp>
        <p:nvSpPr>
          <p:cNvPr id="4156" name="Google Shape;4156;p71: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157" name="Google Shape;4157;p71: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71</a:t>
            </a:fld>
            <a:endParaRPr sz="1200">
              <a:solidFill>
                <a:schemeClr val="dk1"/>
              </a:solidFill>
              <a:latin typeface="Helvetica Neue"/>
              <a:ea typeface="Helvetica Neue"/>
              <a:cs typeface="Helvetica Neue"/>
              <a:sym typeface="Helvetica Neue"/>
            </a:endParaRPr>
          </a:p>
        </p:txBody>
      </p:sp>
      <p:sp>
        <p:nvSpPr>
          <p:cNvPr id="4158" name="Google Shape;4158;p71: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GB" altLang="en-US" dirty="0">
              <a:ea typeface="ＭＳ Ｐゴシック" charset="-128"/>
            </a:endParaRPr>
          </a:p>
        </p:txBody>
      </p:sp>
      <p:sp>
        <p:nvSpPr>
          <p:cNvPr id="82946" name="Slide Image Placeholder 1"/>
          <p:cNvSpPr>
            <a:spLocks noGrp="1" noRot="1" noChangeAspect="1" noTextEdit="1"/>
          </p:cNvSpPr>
          <p:nvPr>
            <p:ph type="sldImg"/>
          </p:nvPr>
        </p:nvSpPr>
        <p:spPr bwMode="auto">
          <a:xfrm>
            <a:off x="4627563" y="481013"/>
            <a:ext cx="2273300" cy="1277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300">
                <a:solidFill>
                  <a:schemeClr val="tx1"/>
                </a:solidFill>
                <a:latin typeface="Calibri" charset="0"/>
                <a:ea typeface="ＭＳ Ｐゴシック" charset="-128"/>
              </a:defRPr>
            </a:lvl1pPr>
            <a:lvl2pPr marL="785372" indent="-302066" eaLnBrk="0" hangingPunct="0">
              <a:spcBef>
                <a:spcPct val="30000"/>
              </a:spcBef>
              <a:defRPr sz="1300">
                <a:solidFill>
                  <a:schemeClr val="tx1"/>
                </a:solidFill>
                <a:latin typeface="Calibri" charset="0"/>
                <a:ea typeface="ＭＳ Ｐゴシック" charset="-128"/>
              </a:defRPr>
            </a:lvl2pPr>
            <a:lvl3pPr marL="1208265" indent="-241653" eaLnBrk="0" hangingPunct="0">
              <a:spcBef>
                <a:spcPct val="30000"/>
              </a:spcBef>
              <a:defRPr sz="1300">
                <a:solidFill>
                  <a:schemeClr val="tx1"/>
                </a:solidFill>
                <a:latin typeface="Calibri" charset="0"/>
                <a:ea typeface="ＭＳ Ｐゴシック" charset="-128"/>
              </a:defRPr>
            </a:lvl3pPr>
            <a:lvl4pPr marL="1691571" indent="-241653" eaLnBrk="0" hangingPunct="0">
              <a:spcBef>
                <a:spcPct val="30000"/>
              </a:spcBef>
              <a:defRPr sz="1300">
                <a:solidFill>
                  <a:schemeClr val="tx1"/>
                </a:solidFill>
                <a:latin typeface="Calibri" charset="0"/>
                <a:ea typeface="ＭＳ Ｐゴシック" charset="-128"/>
              </a:defRPr>
            </a:lvl4pPr>
            <a:lvl5pPr marL="2174878" indent="-241653" eaLnBrk="0" hangingPunct="0">
              <a:spcBef>
                <a:spcPct val="30000"/>
              </a:spcBef>
              <a:defRPr sz="1300">
                <a:solidFill>
                  <a:schemeClr val="tx1"/>
                </a:solidFill>
                <a:latin typeface="Calibri" charset="0"/>
                <a:ea typeface="ＭＳ Ｐゴシック" charset="-128"/>
              </a:defRPr>
            </a:lvl5pPr>
            <a:lvl6pPr marL="2658184" indent="-241653" defTabSz="483306" eaLnBrk="0" fontAlgn="base" hangingPunct="0">
              <a:spcBef>
                <a:spcPct val="30000"/>
              </a:spcBef>
              <a:spcAft>
                <a:spcPct val="0"/>
              </a:spcAft>
              <a:defRPr sz="1300">
                <a:solidFill>
                  <a:schemeClr val="tx1"/>
                </a:solidFill>
                <a:latin typeface="Calibri" charset="0"/>
                <a:ea typeface="ＭＳ Ｐゴシック" charset="-128"/>
              </a:defRPr>
            </a:lvl6pPr>
            <a:lvl7pPr marL="3141490" indent="-241653" defTabSz="483306" eaLnBrk="0" fontAlgn="base" hangingPunct="0">
              <a:spcBef>
                <a:spcPct val="30000"/>
              </a:spcBef>
              <a:spcAft>
                <a:spcPct val="0"/>
              </a:spcAft>
              <a:defRPr sz="1300">
                <a:solidFill>
                  <a:schemeClr val="tx1"/>
                </a:solidFill>
                <a:latin typeface="Calibri" charset="0"/>
                <a:ea typeface="ＭＳ Ｐゴシック" charset="-128"/>
              </a:defRPr>
            </a:lvl7pPr>
            <a:lvl8pPr marL="3624796" indent="-241653" defTabSz="483306" eaLnBrk="0" fontAlgn="base" hangingPunct="0">
              <a:spcBef>
                <a:spcPct val="30000"/>
              </a:spcBef>
              <a:spcAft>
                <a:spcPct val="0"/>
              </a:spcAft>
              <a:defRPr sz="1300">
                <a:solidFill>
                  <a:schemeClr val="tx1"/>
                </a:solidFill>
                <a:latin typeface="Calibri" charset="0"/>
                <a:ea typeface="ＭＳ Ｐゴシック" charset="-128"/>
              </a:defRPr>
            </a:lvl8pPr>
            <a:lvl9pPr marL="4108102" indent="-241653" defTabSz="483306" eaLnBrk="0" fontAlgn="base" hangingPunct="0">
              <a:spcBef>
                <a:spcPct val="30000"/>
              </a:spcBef>
              <a:spcAft>
                <a:spcPct val="0"/>
              </a:spcAft>
              <a:defRPr sz="1300">
                <a:solidFill>
                  <a:schemeClr val="tx1"/>
                </a:solidFill>
                <a:latin typeface="Calibri" charset="0"/>
                <a:ea typeface="ＭＳ Ｐゴシック" charset="-128"/>
              </a:defRPr>
            </a:lvl9pPr>
          </a:lstStyle>
          <a:p>
            <a:pPr eaLnBrk="1" hangingPunct="1">
              <a:spcBef>
                <a:spcPct val="0"/>
              </a:spcBef>
            </a:pPr>
            <a:fld id="{12A15F59-AC6F-5045-925E-116BA534E36C}" type="slidenum">
              <a:rPr lang="en-GB" altLang="en-US">
                <a:latin typeface="Helvetica Regular" charset="0"/>
              </a:rPr>
              <a:pPr eaLnBrk="1" hangingPunct="1">
                <a:spcBef>
                  <a:spcPct val="0"/>
                </a:spcBef>
              </a:pPr>
              <a:t>72</a:t>
            </a:fld>
            <a:endParaRPr lang="en-GB" altLang="en-US">
              <a:latin typeface="Helvetica Regular" charset="0"/>
            </a:endParaRPr>
          </a:p>
        </p:txBody>
      </p:sp>
    </p:spTree>
    <p:extLst>
      <p:ext uri="{BB962C8B-B14F-4D97-AF65-F5344CB8AC3E}">
        <p14:creationId xmlns:p14="http://schemas.microsoft.com/office/powerpoint/2010/main" val="299385322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7"/>
        <p:cNvGrpSpPr/>
        <p:nvPr/>
      </p:nvGrpSpPr>
      <p:grpSpPr>
        <a:xfrm>
          <a:off x="0" y="0"/>
          <a:ext cx="0" cy="0"/>
          <a:chOff x="0" y="0"/>
          <a:chExt cx="0" cy="0"/>
        </a:xfrm>
      </p:grpSpPr>
      <p:sp>
        <p:nvSpPr>
          <p:cNvPr id="4398" name="Google Shape;4398;p73:notes"/>
          <p:cNvSpPr>
            <a:spLocks noGrp="1" noRot="1" noChangeAspect="1"/>
          </p:cNvSpPr>
          <p:nvPr>
            <p:ph type="sldImg" idx="2"/>
          </p:nvPr>
        </p:nvSpPr>
        <p:spPr>
          <a:xfrm>
            <a:off x="4324350" y="458788"/>
            <a:ext cx="2159000" cy="121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399" name="Google Shape;4399;p73: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73</a:t>
            </a:fld>
            <a:endParaRPr sz="1200">
              <a:solidFill>
                <a:schemeClr val="dk1"/>
              </a:solidFill>
              <a:latin typeface="Helvetica Neue"/>
              <a:ea typeface="Helvetica Neue"/>
              <a:cs typeface="Helvetica Neue"/>
              <a:sym typeface="Helvetica Neue"/>
            </a:endParaRPr>
          </a:p>
        </p:txBody>
      </p:sp>
      <p:sp>
        <p:nvSpPr>
          <p:cNvPr id="4400" name="Google Shape;4400;p73: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8"/>
        <p:cNvGrpSpPr/>
        <p:nvPr/>
      </p:nvGrpSpPr>
      <p:grpSpPr>
        <a:xfrm>
          <a:off x="0" y="0"/>
          <a:ext cx="0" cy="0"/>
          <a:chOff x="0" y="0"/>
          <a:chExt cx="0" cy="0"/>
        </a:xfrm>
      </p:grpSpPr>
      <p:sp>
        <p:nvSpPr>
          <p:cNvPr id="4619" name="Google Shape;4619;p74:notes"/>
          <p:cNvSpPr>
            <a:spLocks noGrp="1" noRot="1" noChangeAspect="1"/>
          </p:cNvSpPr>
          <p:nvPr>
            <p:ph type="sldImg" idx="2"/>
          </p:nvPr>
        </p:nvSpPr>
        <p:spPr>
          <a:xfrm>
            <a:off x="4337050" y="458788"/>
            <a:ext cx="2155825" cy="12128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0" name="Google Shape;4620;p74: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1" name="Google Shape;4621;p74: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74</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3"/>
        <p:cNvGrpSpPr/>
        <p:nvPr/>
      </p:nvGrpSpPr>
      <p:grpSpPr>
        <a:xfrm>
          <a:off x="0" y="0"/>
          <a:ext cx="0" cy="0"/>
          <a:chOff x="0" y="0"/>
          <a:chExt cx="0" cy="0"/>
        </a:xfrm>
      </p:grpSpPr>
      <p:sp>
        <p:nvSpPr>
          <p:cNvPr id="4624" name="Google Shape;4624;p75:notes"/>
          <p:cNvSpPr>
            <a:spLocks noGrp="1" noRot="1" noChangeAspect="1"/>
          </p:cNvSpPr>
          <p:nvPr>
            <p:ph type="sldImg" idx="2"/>
          </p:nvPr>
        </p:nvSpPr>
        <p:spPr>
          <a:xfrm>
            <a:off x="4065588" y="458788"/>
            <a:ext cx="2417762" cy="13604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5" name="Google Shape;4625;p75:notes"/>
          <p:cNvSpPr txBox="1">
            <a:spLocks noGrp="1"/>
          </p:cNvSpPr>
          <p:nvPr>
            <p:ph type="sldNum" idx="12"/>
          </p:nvPr>
        </p:nvSpPr>
        <p:spPr>
          <a:xfrm>
            <a:off x="4642859" y="8683625"/>
            <a:ext cx="1841068"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75</a:t>
            </a:fld>
            <a:endParaRPr/>
          </a:p>
        </p:txBody>
      </p:sp>
      <p:sp>
        <p:nvSpPr>
          <p:cNvPr id="4626" name="Google Shape;4626;p75:notes"/>
          <p:cNvSpPr txBox="1">
            <a:spLocks noGrp="1"/>
          </p:cNvSpPr>
          <p:nvPr>
            <p:ph type="body" idx="1"/>
          </p:nvPr>
        </p:nvSpPr>
        <p:spPr>
          <a:xfrm>
            <a:off x="339435" y="458788"/>
            <a:ext cx="6144492" cy="806175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venir"/>
              <a:buNone/>
              <a:defRPr sz="6000"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b="0" i="0">
                <a:latin typeface="Avenir"/>
                <a:ea typeface="Avenir"/>
                <a:cs typeface="Avenir"/>
                <a:sym typeface="Avenir"/>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 name="Google Shape;15;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venir"/>
              <a:buNone/>
              <a:defRPr sz="6000"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b="0" i="0">
                <a:solidFill>
                  <a:srgbClr val="888888"/>
                </a:solidFill>
                <a:latin typeface="Avenir"/>
                <a:ea typeface="Avenir"/>
                <a:cs typeface="Avenir"/>
                <a:sym typeface="Avenir"/>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7" name="Google Shape;27;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0" i="0">
                <a:latin typeface="Avenir"/>
                <a:ea typeface="Avenir"/>
                <a:cs typeface="Avenir"/>
                <a:sym typeface="Avenir"/>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0" name="Google Shape;40;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0" i="0">
                <a:latin typeface="Avenir"/>
                <a:ea typeface="Avenir"/>
                <a:cs typeface="Avenir"/>
                <a:sym typeface="Avenir"/>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Google Shape;52;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venir"/>
              <a:buNone/>
              <a:defRPr sz="3200"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b="0" i="0">
                <a:latin typeface="Avenir"/>
                <a:ea typeface="Avenir"/>
                <a:cs typeface="Avenir"/>
                <a:sym typeface="Avenir"/>
              </a:defRPr>
            </a:lvl1pPr>
            <a:lvl2pPr marL="914400" lvl="1" indent="-406400" algn="l">
              <a:lnSpc>
                <a:spcPct val="90000"/>
              </a:lnSpc>
              <a:spcBef>
                <a:spcPts val="500"/>
              </a:spcBef>
              <a:spcAft>
                <a:spcPts val="0"/>
              </a:spcAft>
              <a:buClr>
                <a:schemeClr val="dk1"/>
              </a:buClr>
              <a:buSzPts val="2800"/>
              <a:buChar char="•"/>
              <a:defRPr sz="2800" b="0" i="0">
                <a:latin typeface="Avenir"/>
                <a:ea typeface="Avenir"/>
                <a:cs typeface="Avenir"/>
                <a:sym typeface="Avenir"/>
              </a:defRPr>
            </a:lvl2pPr>
            <a:lvl3pPr marL="1371600" lvl="2" indent="-381000" algn="l">
              <a:lnSpc>
                <a:spcPct val="90000"/>
              </a:lnSpc>
              <a:spcBef>
                <a:spcPts val="500"/>
              </a:spcBef>
              <a:spcAft>
                <a:spcPts val="0"/>
              </a:spcAft>
              <a:buClr>
                <a:schemeClr val="dk1"/>
              </a:buClr>
              <a:buSzPts val="2400"/>
              <a:buChar char="•"/>
              <a:defRPr sz="2400" b="0" i="0">
                <a:latin typeface="Avenir"/>
                <a:ea typeface="Avenir"/>
                <a:cs typeface="Avenir"/>
                <a:sym typeface="Avenir"/>
              </a:defRPr>
            </a:lvl3pPr>
            <a:lvl4pPr marL="1828800" lvl="3" indent="-355600" algn="l">
              <a:lnSpc>
                <a:spcPct val="90000"/>
              </a:lnSpc>
              <a:spcBef>
                <a:spcPts val="500"/>
              </a:spcBef>
              <a:spcAft>
                <a:spcPts val="0"/>
              </a:spcAft>
              <a:buClr>
                <a:schemeClr val="dk1"/>
              </a:buClr>
              <a:buSzPts val="2000"/>
              <a:buChar char="•"/>
              <a:defRPr sz="2000" b="0" i="0">
                <a:latin typeface="Avenir"/>
                <a:ea typeface="Avenir"/>
                <a:cs typeface="Avenir"/>
                <a:sym typeface="Avenir"/>
              </a:defRPr>
            </a:lvl4pPr>
            <a:lvl5pPr marL="2286000" lvl="4" indent="-355600" algn="l">
              <a:lnSpc>
                <a:spcPct val="90000"/>
              </a:lnSpc>
              <a:spcBef>
                <a:spcPts val="500"/>
              </a:spcBef>
              <a:spcAft>
                <a:spcPts val="0"/>
              </a:spcAft>
              <a:buClr>
                <a:schemeClr val="dk1"/>
              </a:buClr>
              <a:buSzPts val="2000"/>
              <a:buChar char="•"/>
              <a:defRPr sz="2000" b="0" i="0">
                <a:latin typeface="Avenir"/>
                <a:ea typeface="Avenir"/>
                <a:cs typeface="Avenir"/>
                <a:sym typeface="Avenir"/>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8" name="Google Shape;58;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0" i="0">
                <a:latin typeface="Avenir"/>
                <a:ea typeface="Avenir"/>
                <a:cs typeface="Avenir"/>
                <a:sym typeface="Avenir"/>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venir"/>
              <a:buNone/>
              <a:defRPr sz="3200"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0"/>
          <p:cNvSpPr>
            <a:spLocks noGrp="1"/>
          </p:cNvSpPr>
          <p:nvPr>
            <p:ph type="pic" idx="2"/>
          </p:nvPr>
        </p:nvSpPr>
        <p:spPr>
          <a:xfrm>
            <a:off x="5183188" y="987425"/>
            <a:ext cx="6172200" cy="4873625"/>
          </a:xfrm>
          <a:prstGeom prst="rect">
            <a:avLst/>
          </a:prstGeom>
          <a:noFill/>
          <a:ln>
            <a:noFill/>
          </a:ln>
        </p:spPr>
      </p:sp>
      <p:sp>
        <p:nvSpPr>
          <p:cNvPr id="65" name="Google Shape;65;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b="0" i="0">
                <a:latin typeface="Avenir"/>
                <a:ea typeface="Avenir"/>
                <a:cs typeface="Avenir"/>
                <a:sym typeface="Avenir"/>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venir"/>
              <a:buNone/>
              <a:defRPr b="0" i="0">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b="0" i="0">
                <a:latin typeface="Avenir"/>
                <a:ea typeface="Avenir"/>
                <a:cs typeface="Avenir"/>
                <a:sym typeface="Avenir"/>
              </a:defRPr>
            </a:lvl1pPr>
            <a:lvl2pPr marL="914400" lvl="1" indent="-381000" algn="l">
              <a:lnSpc>
                <a:spcPct val="90000"/>
              </a:lnSpc>
              <a:spcBef>
                <a:spcPts val="500"/>
              </a:spcBef>
              <a:spcAft>
                <a:spcPts val="0"/>
              </a:spcAft>
              <a:buClr>
                <a:schemeClr val="dk1"/>
              </a:buClr>
              <a:buSzPts val="2400"/>
              <a:buChar char="•"/>
              <a:defRPr b="0" i="0">
                <a:latin typeface="Avenir"/>
                <a:ea typeface="Avenir"/>
                <a:cs typeface="Avenir"/>
                <a:sym typeface="Avenir"/>
              </a:defRPr>
            </a:lvl2pPr>
            <a:lvl3pPr marL="1371600" lvl="2" indent="-355600" algn="l">
              <a:lnSpc>
                <a:spcPct val="90000"/>
              </a:lnSpc>
              <a:spcBef>
                <a:spcPts val="500"/>
              </a:spcBef>
              <a:spcAft>
                <a:spcPts val="0"/>
              </a:spcAft>
              <a:buClr>
                <a:schemeClr val="dk1"/>
              </a:buClr>
              <a:buSzPts val="2000"/>
              <a:buChar char="•"/>
              <a:defRPr b="0" i="0">
                <a:latin typeface="Avenir"/>
                <a:ea typeface="Avenir"/>
                <a:cs typeface="Avenir"/>
                <a:sym typeface="Avenir"/>
              </a:defRPr>
            </a:lvl3pPr>
            <a:lvl4pPr marL="1828800" lvl="3" indent="-342900" algn="l">
              <a:lnSpc>
                <a:spcPct val="90000"/>
              </a:lnSpc>
              <a:spcBef>
                <a:spcPts val="500"/>
              </a:spcBef>
              <a:spcAft>
                <a:spcPts val="0"/>
              </a:spcAft>
              <a:buClr>
                <a:schemeClr val="dk1"/>
              </a:buClr>
              <a:buSzPts val="1800"/>
              <a:buChar char="•"/>
              <a:defRPr b="0" i="0">
                <a:latin typeface="Avenir"/>
                <a:ea typeface="Avenir"/>
                <a:cs typeface="Avenir"/>
                <a:sym typeface="Avenir"/>
              </a:defRPr>
            </a:lvl4pPr>
            <a:lvl5pPr marL="2286000" lvl="4" indent="-342900" algn="l">
              <a:lnSpc>
                <a:spcPct val="90000"/>
              </a:lnSpc>
              <a:spcBef>
                <a:spcPts val="500"/>
              </a:spcBef>
              <a:spcAft>
                <a:spcPts val="0"/>
              </a:spcAft>
              <a:buClr>
                <a:schemeClr val="dk1"/>
              </a:buClr>
              <a:buSzPts val="1800"/>
              <a:buChar char="•"/>
              <a:defRPr b="0" i="0">
                <a:latin typeface="Avenir"/>
                <a:ea typeface="Avenir"/>
                <a:cs typeface="Avenir"/>
                <a:sym typeface="Aveni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venir"/>
              <a:buNone/>
              <a:defRPr sz="4400" b="0" i="0" u="none" strike="noStrike" cap="non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rgbClr val="D8D8D8"/>
        </a:solidFill>
        <a:effectLst/>
      </p:bgPr>
    </p:bg>
    <p:spTree>
      <p:nvGrpSpPr>
        <p:cNvPr id="1" name="Shape 85"/>
        <p:cNvGrpSpPr/>
        <p:nvPr/>
      </p:nvGrpSpPr>
      <p:grpSpPr>
        <a:xfrm>
          <a:off x="0" y="0"/>
          <a:ext cx="0" cy="0"/>
          <a:chOff x="0" y="0"/>
          <a:chExt cx="0" cy="0"/>
        </a:xfrm>
      </p:grpSpPr>
      <p:sp>
        <p:nvSpPr>
          <p:cNvPr id="86" name="Google Shape;86;p13"/>
          <p:cNvSpPr txBox="1"/>
          <p:nvPr/>
        </p:nvSpPr>
        <p:spPr>
          <a:xfrm>
            <a:off x="2589945" y="2828835"/>
            <a:ext cx="7012110"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The slides contain copyright material that belongs to Color Accounting International, Toby York and Middlesex University.</a:t>
            </a:r>
            <a:endParaRPr/>
          </a:p>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Use is subject to fair usage.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D966"/>
        </a:solidFill>
        <a:effectLst/>
      </p:bgPr>
    </p:bg>
    <p:spTree>
      <p:nvGrpSpPr>
        <p:cNvPr id="1" name="Shape 91"/>
        <p:cNvGrpSpPr/>
        <p:nvPr/>
      </p:nvGrpSpPr>
      <p:grpSpPr>
        <a:xfrm>
          <a:off x="0" y="0"/>
          <a:ext cx="0" cy="0"/>
          <a:chOff x="0" y="0"/>
          <a:chExt cx="0" cy="0"/>
        </a:xfrm>
      </p:grpSpPr>
      <p:sp>
        <p:nvSpPr>
          <p:cNvPr id="92" name="Google Shape;92;p14"/>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000" b="0" i="0" u="none" strike="noStrike" cap="none">
                <a:solidFill>
                  <a:schemeClr val="accent4"/>
                </a:solidFill>
                <a:latin typeface="Avenir"/>
                <a:ea typeface="Avenir"/>
                <a:cs typeface="Avenir"/>
                <a:sym typeface="Avenir"/>
              </a:rPr>
              <a:t>Today’s structure</a:t>
            </a:r>
            <a:endParaRPr/>
          </a:p>
        </p:txBody>
      </p:sp>
      <p:sp>
        <p:nvSpPr>
          <p:cNvPr id="93" name="Google Shape;93;p14"/>
          <p:cNvSpPr txBox="1"/>
          <p:nvPr/>
        </p:nvSpPr>
        <p:spPr>
          <a:xfrm>
            <a:off x="515341" y="1653484"/>
            <a:ext cx="5687397" cy="1710013"/>
          </a:xfrm>
          <a:prstGeom prst="rect">
            <a:avLst/>
          </a:prstGeom>
          <a:solidFill>
            <a:srgbClr val="FEE599"/>
          </a:solidFill>
          <a:ln>
            <a:noFill/>
          </a:ln>
        </p:spPr>
        <p:txBody>
          <a:bodyPr spcFirstLastPara="1" wrap="square" lIns="91425" tIns="45700" rIns="91425" bIns="45700" anchor="ctr" anchorCtr="0">
            <a:noAutofit/>
          </a:bodyPr>
          <a:lstStyle/>
          <a:p>
            <a:pPr marL="233363" marR="0" lvl="0" indent="0" algn="l" rtl="0">
              <a:spcBef>
                <a:spcPts val="0"/>
              </a:spcBef>
              <a:spcAft>
                <a:spcPts val="0"/>
              </a:spcAft>
              <a:buNone/>
            </a:pPr>
            <a:r>
              <a:rPr lang="en-US" sz="3600" b="1" i="0" u="none" strike="noStrike" cap="none">
                <a:solidFill>
                  <a:srgbClr val="521B93"/>
                </a:solidFill>
                <a:latin typeface="Avenir"/>
                <a:ea typeface="Avenir"/>
                <a:cs typeface="Avenir"/>
                <a:sym typeface="Avenir"/>
              </a:rPr>
              <a:t>Conversation 1:</a:t>
            </a:r>
            <a:endParaRPr/>
          </a:p>
          <a:p>
            <a:pPr marL="233363" marR="0" lvl="0" indent="0" algn="l" rtl="0">
              <a:spcBef>
                <a:spcPts val="0"/>
              </a:spcBef>
              <a:spcAft>
                <a:spcPts val="0"/>
              </a:spcAft>
              <a:buNone/>
            </a:pPr>
            <a:r>
              <a:rPr lang="en-US" sz="3600" b="0" i="0" u="none" strike="noStrike" cap="none">
                <a:solidFill>
                  <a:srgbClr val="521B93"/>
                </a:solidFill>
                <a:latin typeface="Avenir"/>
                <a:ea typeface="Avenir"/>
                <a:cs typeface="Avenir"/>
                <a:sym typeface="Avenir"/>
              </a:rPr>
              <a:t>A butterfly recap</a:t>
            </a:r>
            <a:endParaRPr/>
          </a:p>
        </p:txBody>
      </p:sp>
      <p:sp>
        <p:nvSpPr>
          <p:cNvPr id="94" name="Google Shape;94;p14"/>
          <p:cNvSpPr txBox="1"/>
          <p:nvPr/>
        </p:nvSpPr>
        <p:spPr>
          <a:xfrm>
            <a:off x="3252301" y="3176668"/>
            <a:ext cx="5687397" cy="1710013"/>
          </a:xfrm>
          <a:prstGeom prst="rect">
            <a:avLst/>
          </a:prstGeom>
          <a:solidFill>
            <a:srgbClr val="FEE599"/>
          </a:solidFill>
          <a:ln>
            <a:noFill/>
          </a:ln>
        </p:spPr>
        <p:txBody>
          <a:bodyPr spcFirstLastPara="1" wrap="square" lIns="91425" tIns="45700" rIns="91425" bIns="45700" anchor="ctr" anchorCtr="0">
            <a:noAutofit/>
          </a:bodyPr>
          <a:lstStyle/>
          <a:p>
            <a:pPr marL="233363" marR="0" lvl="0" indent="0" algn="l" rtl="0">
              <a:spcBef>
                <a:spcPts val="0"/>
              </a:spcBef>
              <a:spcAft>
                <a:spcPts val="0"/>
              </a:spcAft>
              <a:buNone/>
            </a:pPr>
            <a:r>
              <a:rPr lang="en-US" sz="3600" b="1" i="0" u="none" strike="noStrike" cap="none">
                <a:solidFill>
                  <a:srgbClr val="521B93"/>
                </a:solidFill>
                <a:latin typeface="Avenir"/>
                <a:ea typeface="Avenir"/>
                <a:cs typeface="Avenir"/>
                <a:sym typeface="Avenir"/>
              </a:rPr>
              <a:t>Conversation 2:</a:t>
            </a:r>
            <a:endParaRPr/>
          </a:p>
          <a:p>
            <a:pPr marL="233363" marR="0" lvl="0" indent="0" algn="l" rtl="0">
              <a:spcBef>
                <a:spcPts val="0"/>
              </a:spcBef>
              <a:spcAft>
                <a:spcPts val="0"/>
              </a:spcAft>
              <a:buNone/>
            </a:pPr>
            <a:r>
              <a:rPr lang="en-US" sz="3600" b="0" i="0" u="none" strike="noStrike" cap="none">
                <a:solidFill>
                  <a:srgbClr val="521B93"/>
                </a:solidFill>
                <a:latin typeface="Avenir"/>
                <a:ea typeface="Avenir"/>
                <a:cs typeface="Avenir"/>
                <a:sym typeface="Avenir"/>
              </a:rPr>
              <a:t>Deriving profit</a:t>
            </a:r>
            <a:endParaRPr/>
          </a:p>
        </p:txBody>
      </p:sp>
      <p:sp>
        <p:nvSpPr>
          <p:cNvPr id="95" name="Google Shape;95;p14"/>
          <p:cNvSpPr txBox="1"/>
          <p:nvPr/>
        </p:nvSpPr>
        <p:spPr>
          <a:xfrm>
            <a:off x="6095999" y="4699852"/>
            <a:ext cx="5687397" cy="1710013"/>
          </a:xfrm>
          <a:prstGeom prst="rect">
            <a:avLst/>
          </a:prstGeom>
          <a:solidFill>
            <a:srgbClr val="FEE599"/>
          </a:solidFill>
          <a:ln>
            <a:noFill/>
          </a:ln>
        </p:spPr>
        <p:txBody>
          <a:bodyPr spcFirstLastPara="1" wrap="square" lIns="91425" tIns="45700" rIns="91425" bIns="45700" anchor="ctr" anchorCtr="0">
            <a:noAutofit/>
          </a:bodyPr>
          <a:lstStyle/>
          <a:p>
            <a:pPr marL="233363" marR="0" lvl="0" indent="0" algn="l" rtl="0">
              <a:spcBef>
                <a:spcPts val="0"/>
              </a:spcBef>
              <a:spcAft>
                <a:spcPts val="0"/>
              </a:spcAft>
              <a:buNone/>
            </a:pPr>
            <a:r>
              <a:rPr lang="en-US" sz="3600" b="1" i="0" u="none" strike="noStrike" cap="none">
                <a:solidFill>
                  <a:srgbClr val="521B93"/>
                </a:solidFill>
                <a:latin typeface="Avenir"/>
                <a:ea typeface="Avenir"/>
                <a:cs typeface="Avenir"/>
                <a:sym typeface="Avenir"/>
              </a:rPr>
              <a:t>Conversation 3:</a:t>
            </a:r>
            <a:endParaRPr/>
          </a:p>
          <a:p>
            <a:pPr marL="233363" marR="0" lvl="0" indent="0" algn="l" rtl="0">
              <a:spcBef>
                <a:spcPts val="0"/>
              </a:spcBef>
              <a:spcAft>
                <a:spcPts val="0"/>
              </a:spcAft>
              <a:buNone/>
            </a:pPr>
            <a:r>
              <a:rPr lang="en-US" sz="3600" b="0" i="0" u="none" strike="noStrike" cap="none">
                <a:solidFill>
                  <a:srgbClr val="521B93"/>
                </a:solidFill>
                <a:latin typeface="Avenir"/>
                <a:ea typeface="Avenir"/>
                <a:cs typeface="Avenir"/>
                <a:sym typeface="Avenir"/>
              </a:rPr>
              <a:t>Classic Transactions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000" b="1" i="0" u="none" strike="noStrike" cap="none">
                <a:solidFill>
                  <a:schemeClr val="accent4"/>
                </a:solidFill>
                <a:latin typeface="Avenir"/>
                <a:ea typeface="Avenir"/>
                <a:cs typeface="Avenir"/>
                <a:sym typeface="Avenir"/>
              </a:rPr>
              <a:t>2.  A butterfly flutter by (quick recap)</a:t>
            </a:r>
            <a:endParaRPr/>
          </a:p>
        </p:txBody>
      </p:sp>
      <p:pic>
        <p:nvPicPr>
          <p:cNvPr id="102" name="Google Shape;102;p15"/>
          <p:cNvPicPr preferRelativeResize="0"/>
          <p:nvPr/>
        </p:nvPicPr>
        <p:blipFill rotWithShape="1">
          <a:blip r:embed="rId3">
            <a:alphaModFix/>
          </a:blip>
          <a:srcRect r="48538"/>
          <a:stretch/>
        </p:blipFill>
        <p:spPr>
          <a:xfrm>
            <a:off x="3599709" y="1806455"/>
            <a:ext cx="2400038" cy="4509677"/>
          </a:xfrm>
          <a:prstGeom prst="rect">
            <a:avLst/>
          </a:prstGeom>
          <a:noFill/>
          <a:ln>
            <a:noFill/>
          </a:ln>
        </p:spPr>
      </p:pic>
      <p:pic>
        <p:nvPicPr>
          <p:cNvPr id="103" name="Google Shape;103;p15"/>
          <p:cNvPicPr preferRelativeResize="0"/>
          <p:nvPr/>
        </p:nvPicPr>
        <p:blipFill rotWithShape="1">
          <a:blip r:embed="rId4">
            <a:alphaModFix/>
          </a:blip>
          <a:srcRect l="50773"/>
          <a:stretch/>
        </p:blipFill>
        <p:spPr>
          <a:xfrm>
            <a:off x="5967663" y="1806455"/>
            <a:ext cx="2295804" cy="4509677"/>
          </a:xfrm>
          <a:prstGeom prst="rect">
            <a:avLst/>
          </a:prstGeom>
          <a:noFill/>
          <a:ln>
            <a:noFill/>
          </a:ln>
        </p:spPr>
      </p:pic>
      <p:sp>
        <p:nvSpPr>
          <p:cNvPr id="104" name="Google Shape;104;p15"/>
          <p:cNvSpPr txBox="1"/>
          <p:nvPr/>
        </p:nvSpPr>
        <p:spPr>
          <a:xfrm>
            <a:off x="9790637" y="6550223"/>
            <a:ext cx="240136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a:solidFill>
                  <a:srgbClr val="7F7F7F"/>
                </a:solidFill>
                <a:latin typeface="Arial"/>
                <a:ea typeface="Arial"/>
                <a:cs typeface="Arial"/>
                <a:sym typeface="Arial"/>
              </a:rPr>
              <a:t>https://en.butterflycorner.net</a:t>
            </a:r>
            <a:endParaRPr sz="1400">
              <a:solidFill>
                <a:srgbClr val="7F7F7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grpSp>
        <p:nvGrpSpPr>
          <p:cNvPr id="110" name="Google Shape;110;p16"/>
          <p:cNvGrpSpPr/>
          <p:nvPr/>
        </p:nvGrpSpPr>
        <p:grpSpPr>
          <a:xfrm>
            <a:off x="945931" y="930167"/>
            <a:ext cx="10326414" cy="5249916"/>
            <a:chOff x="700429" y="1360414"/>
            <a:chExt cx="10693606" cy="4977323"/>
          </a:xfrm>
        </p:grpSpPr>
        <p:pic>
          <p:nvPicPr>
            <p:cNvPr id="111" name="Google Shape;111;p16" descr="VG3_Charts06.jpg"/>
            <p:cNvPicPr preferRelativeResize="0"/>
            <p:nvPr/>
          </p:nvPicPr>
          <p:blipFill rotWithShape="1">
            <a:blip r:embed="rId3">
              <a:alphaModFix/>
            </a:blip>
            <a:srcRect/>
            <a:stretch/>
          </p:blipFill>
          <p:spPr>
            <a:xfrm>
              <a:off x="700429" y="1360414"/>
              <a:ext cx="10693606" cy="4977323"/>
            </a:xfrm>
            <a:prstGeom prst="rect">
              <a:avLst/>
            </a:prstGeom>
            <a:noFill/>
            <a:ln>
              <a:noFill/>
            </a:ln>
          </p:spPr>
        </p:pic>
        <p:sp>
          <p:nvSpPr>
            <p:cNvPr id="112" name="Google Shape;112;p16"/>
            <p:cNvSpPr txBox="1"/>
            <p:nvPr/>
          </p:nvSpPr>
          <p:spPr>
            <a:xfrm>
              <a:off x="5511204" y="5927833"/>
              <a:ext cx="1346796" cy="409904"/>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3" name="Google Shape;113;p16"/>
          <p:cNvSpPr txBox="1"/>
          <p:nvPr/>
        </p:nvSpPr>
        <p:spPr>
          <a:xfrm>
            <a:off x="1278173" y="1655611"/>
            <a:ext cx="2127177" cy="584775"/>
          </a:xfrm>
          <a:prstGeom prst="rect">
            <a:avLst/>
          </a:prstGeom>
          <a:solidFill>
            <a:schemeClr val="lt1">
              <a:alpha val="85882"/>
            </a:schemeClr>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6"/>
                </a:solidFill>
                <a:latin typeface="Arial"/>
                <a:ea typeface="Arial"/>
                <a:cs typeface="Arial"/>
                <a:sym typeface="Arial"/>
              </a:rPr>
              <a:t>Assets</a:t>
            </a:r>
            <a:endParaRPr sz="2400" b="1">
              <a:solidFill>
                <a:schemeClr val="accent6"/>
              </a:solidFill>
              <a:latin typeface="Arial"/>
              <a:ea typeface="Arial"/>
              <a:cs typeface="Arial"/>
              <a:sym typeface="Arial"/>
            </a:endParaRPr>
          </a:p>
        </p:txBody>
      </p:sp>
      <p:cxnSp>
        <p:nvCxnSpPr>
          <p:cNvPr id="114" name="Google Shape;114;p16"/>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
        <p:nvSpPr>
          <p:cNvPr id="115" name="Google Shape;115;p16"/>
          <p:cNvSpPr txBox="1"/>
          <p:nvPr/>
        </p:nvSpPr>
        <p:spPr>
          <a:xfrm rot="736373">
            <a:off x="1146795" y="895182"/>
            <a:ext cx="22188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6"/>
                </a:solidFill>
                <a:latin typeface="Avenir"/>
                <a:ea typeface="Avenir"/>
                <a:cs typeface="Avenir"/>
                <a:sym typeface="Avenir"/>
              </a:rPr>
              <a:t>Uses of funds</a:t>
            </a:r>
            <a:endParaRPr/>
          </a:p>
        </p:txBody>
      </p:sp>
      <p:sp>
        <p:nvSpPr>
          <p:cNvPr id="116" name="Google Shape;116;p16"/>
          <p:cNvSpPr txBox="1"/>
          <p:nvPr/>
        </p:nvSpPr>
        <p:spPr>
          <a:xfrm rot="-658158">
            <a:off x="8584450" y="914395"/>
            <a:ext cx="269657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2"/>
                </a:solidFill>
                <a:latin typeface="Avenir"/>
                <a:ea typeface="Avenir"/>
                <a:cs typeface="Avenir"/>
                <a:sym typeface="Avenir"/>
              </a:rPr>
              <a:t>Sources of funds</a:t>
            </a:r>
            <a:endParaRPr/>
          </a:p>
        </p:txBody>
      </p:sp>
      <p:sp>
        <p:nvSpPr>
          <p:cNvPr id="117" name="Google Shape;117;p16"/>
          <p:cNvSpPr txBox="1"/>
          <p:nvPr/>
        </p:nvSpPr>
        <p:spPr>
          <a:xfrm>
            <a:off x="8869147" y="1654890"/>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2"/>
                </a:solidFill>
                <a:latin typeface="Arial"/>
                <a:ea typeface="Arial"/>
                <a:cs typeface="Arial"/>
                <a:sym typeface="Arial"/>
              </a:rPr>
              <a:t>Liabilities</a:t>
            </a:r>
            <a:endParaRPr sz="2400" b="1">
              <a:solidFill>
                <a:schemeClr val="accent2"/>
              </a:solidFill>
              <a:latin typeface="Arial"/>
              <a:ea typeface="Arial"/>
              <a:cs typeface="Arial"/>
              <a:sym typeface="Arial"/>
            </a:endParaRPr>
          </a:p>
        </p:txBody>
      </p:sp>
      <p:sp>
        <p:nvSpPr>
          <p:cNvPr id="118" name="Google Shape;118;p16"/>
          <p:cNvSpPr txBox="1"/>
          <p:nvPr/>
        </p:nvSpPr>
        <p:spPr>
          <a:xfrm>
            <a:off x="8869146" y="3578985"/>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2"/>
                </a:solidFill>
                <a:latin typeface="Arial"/>
                <a:ea typeface="Arial"/>
                <a:cs typeface="Arial"/>
                <a:sym typeface="Arial"/>
              </a:rPr>
              <a:t>Equity</a:t>
            </a:r>
            <a:endParaRPr sz="2400" b="1">
              <a:solidFill>
                <a:schemeClr val="accent2"/>
              </a:solidFill>
              <a:latin typeface="Arial"/>
              <a:ea typeface="Arial"/>
              <a:cs typeface="Arial"/>
              <a:sym typeface="Arial"/>
            </a:endParaRPr>
          </a:p>
        </p:txBody>
      </p:sp>
      <p:cxnSp>
        <p:nvCxnSpPr>
          <p:cNvPr id="119" name="Google Shape;119;p16"/>
          <p:cNvCxnSpPr/>
          <p:nvPr/>
        </p:nvCxnSpPr>
        <p:spPr>
          <a:xfrm rot="10800000" flipH="1">
            <a:off x="6206385" y="3353435"/>
            <a:ext cx="4828038" cy="295401"/>
          </a:xfrm>
          <a:prstGeom prst="straightConnector1">
            <a:avLst/>
          </a:prstGeom>
          <a:noFill/>
          <a:ln w="73025" cap="flat" cmpd="sng">
            <a:solidFill>
              <a:schemeClr val="accent2"/>
            </a:solidFill>
            <a:prstDash val="solid"/>
            <a:miter lim="800000"/>
            <a:headEnd type="none" w="sm" len="sm"/>
            <a:tailEnd type="none" w="sm" len="sm"/>
          </a:ln>
        </p:spPr>
      </p:cxnSp>
      <p:sp>
        <p:nvSpPr>
          <p:cNvPr id="120" name="Google Shape;120;p16"/>
          <p:cNvSpPr txBox="1"/>
          <p:nvPr/>
        </p:nvSpPr>
        <p:spPr>
          <a:xfrm>
            <a:off x="2298970" y="2810199"/>
            <a:ext cx="2712234" cy="1002797"/>
          </a:xfrm>
          <a:prstGeom prst="rect">
            <a:avLst/>
          </a:prstGeom>
          <a:solidFill>
            <a:srgbClr val="DDEAF6">
              <a:alpha val="60784"/>
            </a:srgbClr>
          </a:solidFill>
          <a:ln w="76200"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5400" b="1">
                <a:solidFill>
                  <a:schemeClr val="accent1"/>
                </a:solidFill>
                <a:latin typeface="Avenir"/>
                <a:ea typeface="Avenir"/>
                <a:cs typeface="Avenir"/>
                <a:sym typeface="Avenir"/>
              </a:rPr>
              <a:t>50,000</a:t>
            </a:r>
            <a:endParaRPr/>
          </a:p>
        </p:txBody>
      </p:sp>
      <p:sp>
        <p:nvSpPr>
          <p:cNvPr id="121" name="Google Shape;121;p16"/>
          <p:cNvSpPr txBox="1"/>
          <p:nvPr/>
        </p:nvSpPr>
        <p:spPr>
          <a:xfrm>
            <a:off x="6892066" y="2317184"/>
            <a:ext cx="2712234" cy="1002797"/>
          </a:xfrm>
          <a:prstGeom prst="rect">
            <a:avLst/>
          </a:prstGeom>
          <a:solidFill>
            <a:srgbClr val="DDEAF6">
              <a:alpha val="60784"/>
            </a:srgbClr>
          </a:solidFill>
          <a:ln w="76200"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5400" b="1">
                <a:solidFill>
                  <a:schemeClr val="accent1"/>
                </a:solidFill>
                <a:latin typeface="Avenir"/>
                <a:ea typeface="Avenir"/>
                <a:cs typeface="Avenir"/>
                <a:sym typeface="Avenir"/>
              </a:rPr>
              <a:t>30,000</a:t>
            </a:r>
            <a:endParaRPr/>
          </a:p>
        </p:txBody>
      </p:sp>
      <p:sp>
        <p:nvSpPr>
          <p:cNvPr id="122" name="Google Shape;122;p16"/>
          <p:cNvSpPr txBox="1"/>
          <p:nvPr/>
        </p:nvSpPr>
        <p:spPr>
          <a:xfrm>
            <a:off x="7838952" y="4245641"/>
            <a:ext cx="2712234" cy="1002797"/>
          </a:xfrm>
          <a:prstGeom prst="rect">
            <a:avLst/>
          </a:prstGeom>
          <a:solidFill>
            <a:srgbClr val="DDEAF6">
              <a:alpha val="60784"/>
            </a:srgbClr>
          </a:solidFill>
          <a:ln w="76200" cap="flat" cmpd="sng">
            <a:solidFill>
              <a:schemeClr val="accent1"/>
            </a:solidFill>
            <a:prstDash val="solid"/>
            <a:round/>
            <a:headEnd type="none" w="sm" len="sm"/>
            <a:tailEnd type="none" w="sm" len="sm"/>
          </a:ln>
        </p:spPr>
        <p:txBody>
          <a:bodyPr spcFirstLastPara="1" wrap="square" lIns="91425" tIns="45700" rIns="91425" bIns="45700" anchor="b" anchorCtr="0">
            <a:noAutofit/>
          </a:bodyPr>
          <a:lstStyle/>
          <a:p>
            <a:pPr marL="0" marR="0" lvl="0" indent="0" algn="ctr" rtl="0">
              <a:spcBef>
                <a:spcPts val="0"/>
              </a:spcBef>
              <a:spcAft>
                <a:spcPts val="0"/>
              </a:spcAft>
              <a:buNone/>
            </a:pPr>
            <a:r>
              <a:rPr lang="en-US" sz="5400" b="1">
                <a:solidFill>
                  <a:schemeClr val="accent1"/>
                </a:solidFill>
                <a:latin typeface="Avenir"/>
                <a:ea typeface="Avenir"/>
                <a:cs typeface="Avenir"/>
                <a:sym typeface="Avenir"/>
              </a:rPr>
              <a:t>20,000</a:t>
            </a:r>
            <a:endParaRPr/>
          </a:p>
        </p:txBody>
      </p:sp>
      <p:sp>
        <p:nvSpPr>
          <p:cNvPr id="123" name="Google Shape;123;p16"/>
          <p:cNvSpPr txBox="1"/>
          <p:nvPr/>
        </p:nvSpPr>
        <p:spPr>
          <a:xfrm>
            <a:off x="6892066" y="3336520"/>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a:solidFill>
                  <a:schemeClr val="accent1"/>
                </a:solidFill>
                <a:latin typeface="Avenir"/>
                <a:ea typeface="Avenir"/>
                <a:cs typeface="Avenir"/>
                <a:sym typeface="Avenir"/>
              </a:rPr>
              <a:t>+</a:t>
            </a:r>
            <a:endParaRPr/>
          </a:p>
        </p:txBody>
      </p:sp>
      <p:sp>
        <p:nvSpPr>
          <p:cNvPr id="124" name="Google Shape;124;p16"/>
          <p:cNvSpPr txBox="1"/>
          <p:nvPr/>
        </p:nvSpPr>
        <p:spPr>
          <a:xfrm>
            <a:off x="5575674" y="3127510"/>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a:solidFill>
                  <a:schemeClr val="accent1"/>
                </a:solidFill>
                <a:latin typeface="Avenir"/>
                <a:ea typeface="Avenir"/>
                <a:cs typeface="Avenir"/>
                <a:sym typeface="Avenir"/>
              </a:rPr>
              <a:t>=</a:t>
            </a:r>
            <a:endParaRPr/>
          </a:p>
        </p:txBody>
      </p:sp>
      <p:sp>
        <p:nvSpPr>
          <p:cNvPr id="125" name="Google Shape;125;p16"/>
          <p:cNvSpPr txBox="1"/>
          <p:nvPr/>
        </p:nvSpPr>
        <p:spPr>
          <a:xfrm>
            <a:off x="3655087" y="500757"/>
            <a:ext cx="524716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Supermarket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par>
                          <p:cTn id="13" fill="hold">
                            <p:stCondLst>
                              <p:cond delay="500"/>
                            </p:stCondLst>
                            <p:childTnLst>
                              <p:par>
                                <p:cTn id="14" presetID="10" presetClass="entr" presetSubtype="0" fill="hold" nodeType="afterEffect">
                                  <p:stCondLst>
                                    <p:cond delay="1500"/>
                                  </p:stCondLst>
                                  <p:childTnLst>
                                    <p:set>
                                      <p:cBhvr>
                                        <p:cTn id="15" dur="1" fill="hold">
                                          <p:stCondLst>
                                            <p:cond delay="0"/>
                                          </p:stCondLst>
                                        </p:cTn>
                                        <p:tgtEl>
                                          <p:spTgt spid="117"/>
                                        </p:tgtEl>
                                        <p:attrNameLst>
                                          <p:attrName>style.visibility</p:attrName>
                                        </p:attrNameLst>
                                      </p:cBhvr>
                                      <p:to>
                                        <p:strVal val="visible"/>
                                      </p:to>
                                    </p:set>
                                    <p:animEffect transition="in" filter="fade">
                                      <p:cBhvr>
                                        <p:cTn id="16" dur="500"/>
                                        <p:tgtEl>
                                          <p:spTgt spid="117"/>
                                        </p:tgtEl>
                                      </p:cBhvr>
                                    </p:animEffect>
                                  </p:childTnLst>
                                </p:cTn>
                              </p:par>
                              <p:par>
                                <p:cTn id="17" presetID="10" presetClass="entr" presetSubtype="0" fill="hold" nodeType="withEffect">
                                  <p:stCondLst>
                                    <p:cond delay="0"/>
                                  </p:stCondLst>
                                  <p:childTnLst>
                                    <p:set>
                                      <p:cBhvr>
                                        <p:cTn id="18" dur="1" fill="hold">
                                          <p:stCondLst>
                                            <p:cond delay="0"/>
                                          </p:stCondLst>
                                        </p:cTn>
                                        <p:tgtEl>
                                          <p:spTgt spid="119"/>
                                        </p:tgtEl>
                                        <p:attrNameLst>
                                          <p:attrName>style.visibility</p:attrName>
                                        </p:attrNameLst>
                                      </p:cBhvr>
                                      <p:to>
                                        <p:strVal val="visible"/>
                                      </p:to>
                                    </p:set>
                                    <p:animEffect transition="in" filter="fade">
                                      <p:cBhvr>
                                        <p:cTn id="19" dur="500"/>
                                        <p:tgtEl>
                                          <p:spTgt spid="11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2"/>
                                        </p:tgtEl>
                                        <p:attrNameLst>
                                          <p:attrName>style.visibility</p:attrName>
                                        </p:attrNameLst>
                                      </p:cBhvr>
                                      <p:to>
                                        <p:strVal val="visible"/>
                                      </p:to>
                                    </p:set>
                                    <p:animEffect transition="in" filter="fade">
                                      <p:cBhvr>
                                        <p:cTn id="24" dur="500"/>
                                        <p:tgtEl>
                                          <p:spTgt spid="122"/>
                                        </p:tgtEl>
                                      </p:cBhvr>
                                    </p:animEffect>
                                  </p:childTnLst>
                                </p:cTn>
                              </p:par>
                            </p:childTnLst>
                          </p:cTn>
                        </p:par>
                        <p:par>
                          <p:cTn id="25" fill="hold">
                            <p:stCondLst>
                              <p:cond delay="500"/>
                            </p:stCondLst>
                            <p:childTnLst>
                              <p:par>
                                <p:cTn id="26" presetID="10" presetClass="entr" presetSubtype="0" fill="hold" nodeType="afterEffect">
                                  <p:stCondLst>
                                    <p:cond delay="1500"/>
                                  </p:stCondLst>
                                  <p:childTnLst>
                                    <p:set>
                                      <p:cBhvr>
                                        <p:cTn id="27" dur="1" fill="hold">
                                          <p:stCondLst>
                                            <p:cond delay="0"/>
                                          </p:stCondLst>
                                        </p:cTn>
                                        <p:tgtEl>
                                          <p:spTgt spid="118"/>
                                        </p:tgtEl>
                                        <p:attrNameLst>
                                          <p:attrName>style.visibility</p:attrName>
                                        </p:attrNameLst>
                                      </p:cBhvr>
                                      <p:to>
                                        <p:strVal val="visible"/>
                                      </p:to>
                                    </p:set>
                                    <p:animEffect transition="in" filter="fade">
                                      <p:cBhvr>
                                        <p:cTn id="28" dur="500"/>
                                        <p:tgtEl>
                                          <p:spTgt spid="1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5"/>
                                        </p:tgtEl>
                                        <p:attrNameLst>
                                          <p:attrName>style.visibility</p:attrName>
                                        </p:attrNameLst>
                                      </p:cBhvr>
                                      <p:to>
                                        <p:strVal val="visible"/>
                                      </p:to>
                                    </p:set>
                                    <p:animEffect transition="in" filter="fade">
                                      <p:cBhvr>
                                        <p:cTn id="33" dur="500"/>
                                        <p:tgtEl>
                                          <p:spTgt spid="115"/>
                                        </p:tgtEl>
                                      </p:cBhvr>
                                    </p:animEffect>
                                  </p:childTnLst>
                                </p:cTn>
                              </p:par>
                              <p:par>
                                <p:cTn id="34" presetID="10" presetClass="entr" presetSubtype="0" fill="hold" nodeType="withEffect">
                                  <p:stCondLst>
                                    <p:cond delay="0"/>
                                  </p:stCondLst>
                                  <p:childTnLst>
                                    <p:set>
                                      <p:cBhvr>
                                        <p:cTn id="35" dur="1" fill="hold">
                                          <p:stCondLst>
                                            <p:cond delay="0"/>
                                          </p:stCondLst>
                                        </p:cTn>
                                        <p:tgtEl>
                                          <p:spTgt spid="116"/>
                                        </p:tgtEl>
                                        <p:attrNameLst>
                                          <p:attrName>style.visibility</p:attrName>
                                        </p:attrNameLst>
                                      </p:cBhvr>
                                      <p:to>
                                        <p:strVal val="visible"/>
                                      </p:to>
                                    </p:set>
                                    <p:animEffect transition="in" filter="fade">
                                      <p:cBhvr>
                                        <p:cTn id="36" dur="500"/>
                                        <p:tgtEl>
                                          <p:spTgt spid="116"/>
                                        </p:tgtEl>
                                      </p:cBhvr>
                                    </p:animEffect>
                                  </p:childTnLst>
                                </p:cTn>
                              </p:par>
                            </p:childTnLst>
                          </p:cTn>
                        </p:par>
                        <p:par>
                          <p:cTn id="37" fill="hold">
                            <p:stCondLst>
                              <p:cond delay="500"/>
                            </p:stCondLst>
                            <p:childTnLst>
                              <p:par>
                                <p:cTn id="38" presetID="10" presetClass="entr" presetSubtype="0" fill="hold" nodeType="afterEffect">
                                  <p:stCondLst>
                                    <p:cond delay="1000"/>
                                  </p:stCondLst>
                                  <p:childTnLst>
                                    <p:set>
                                      <p:cBhvr>
                                        <p:cTn id="39" dur="1" fill="hold">
                                          <p:stCondLst>
                                            <p:cond delay="0"/>
                                          </p:stCondLst>
                                        </p:cTn>
                                        <p:tgtEl>
                                          <p:spTgt spid="123"/>
                                        </p:tgtEl>
                                        <p:attrNameLst>
                                          <p:attrName>style.visibility</p:attrName>
                                        </p:attrNameLst>
                                      </p:cBhvr>
                                      <p:to>
                                        <p:strVal val="visible"/>
                                      </p:to>
                                    </p:set>
                                    <p:animEffect transition="in" filter="fade">
                                      <p:cBhvr>
                                        <p:cTn id="40" dur="500"/>
                                        <p:tgtEl>
                                          <p:spTgt spid="123"/>
                                        </p:tgtEl>
                                      </p:cBhvr>
                                    </p:animEffect>
                                  </p:childTnLst>
                                </p:cTn>
                              </p:par>
                              <p:par>
                                <p:cTn id="41" presetID="10" presetClass="entr" presetSubtype="0" fill="hold" nodeType="withEffect">
                                  <p:stCondLst>
                                    <p:cond delay="0"/>
                                  </p:stCondLst>
                                  <p:childTnLst>
                                    <p:set>
                                      <p:cBhvr>
                                        <p:cTn id="42" dur="1" fill="hold">
                                          <p:stCondLst>
                                            <p:cond delay="0"/>
                                          </p:stCondLst>
                                        </p:cTn>
                                        <p:tgtEl>
                                          <p:spTgt spid="124"/>
                                        </p:tgtEl>
                                        <p:attrNameLst>
                                          <p:attrName>style.visibility</p:attrName>
                                        </p:attrNameLst>
                                      </p:cBhvr>
                                      <p:to>
                                        <p:strVal val="visible"/>
                                      </p:to>
                                    </p:set>
                                    <p:animEffect transition="in" filter="fade">
                                      <p:cBhvr>
                                        <p:cTn id="43"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7"/>
          <p:cNvSpPr/>
          <p:nvPr/>
        </p:nvSpPr>
        <p:spPr>
          <a:xfrm rot="5400000">
            <a:off x="1850074" y="544177"/>
            <a:ext cx="3294999" cy="5044439"/>
          </a:xfrm>
          <a:prstGeom prst="trapezoid">
            <a:avLst>
              <a:gd name="adj" fmla="val 8004"/>
            </a:avLst>
          </a:prstGeom>
          <a:solidFill>
            <a:srgbClr val="A8D08C"/>
          </a:solidFill>
          <a:ln w="76200" cap="flat" cmpd="sng">
            <a:solidFill>
              <a:srgbClr val="54813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7"/>
          <p:cNvSpPr txBox="1"/>
          <p:nvPr/>
        </p:nvSpPr>
        <p:spPr>
          <a:xfrm>
            <a:off x="975330" y="1594716"/>
            <a:ext cx="4775268" cy="2943357"/>
          </a:xfrm>
          <a:prstGeom prst="rect">
            <a:avLst/>
          </a:prstGeom>
          <a:noFill/>
          <a:ln>
            <a:noFill/>
          </a:ln>
        </p:spPr>
        <p:txBody>
          <a:bodyPr spcFirstLastPara="1" wrap="square" lIns="91425" tIns="45700" rIns="91425" bIns="45700" anchor="ctr" anchorCtr="0">
            <a:noAutofit/>
          </a:bodyPr>
          <a:lstStyle/>
          <a:p>
            <a:pPr marL="234950" marR="0" lvl="0" indent="0" algn="ctr" rtl="0">
              <a:spcBef>
                <a:spcPts val="0"/>
              </a:spcBef>
              <a:spcAft>
                <a:spcPts val="0"/>
              </a:spcAft>
              <a:buNone/>
            </a:pPr>
            <a:endParaRPr sz="3600">
              <a:solidFill>
                <a:srgbClr val="385623"/>
              </a:solidFill>
              <a:latin typeface="Calibri"/>
              <a:ea typeface="Calibri"/>
              <a:cs typeface="Calibri"/>
              <a:sym typeface="Calibri"/>
            </a:endParaRPr>
          </a:p>
        </p:txBody>
      </p:sp>
      <p:sp>
        <p:nvSpPr>
          <p:cNvPr id="133" name="Google Shape;133;p17"/>
          <p:cNvSpPr/>
          <p:nvPr/>
        </p:nvSpPr>
        <p:spPr>
          <a:xfrm rot="-5400000">
            <a:off x="7153155" y="558774"/>
            <a:ext cx="3294999" cy="5044439"/>
          </a:xfrm>
          <a:prstGeom prst="trapezoid">
            <a:avLst>
              <a:gd name="adj" fmla="val 8004"/>
            </a:avLst>
          </a:prstGeom>
          <a:solidFill>
            <a:srgbClr val="FFD966"/>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 name="Google Shape;134;p17"/>
          <p:cNvSpPr txBox="1"/>
          <p:nvPr/>
        </p:nvSpPr>
        <p:spPr>
          <a:xfrm>
            <a:off x="1278173" y="1655611"/>
            <a:ext cx="2127177" cy="584775"/>
          </a:xfrm>
          <a:prstGeom prst="rect">
            <a:avLst/>
          </a:prstGeom>
          <a:solidFill>
            <a:schemeClr val="lt1">
              <a:alpha val="85882"/>
            </a:schemeClr>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6"/>
                </a:solidFill>
                <a:latin typeface="Arial"/>
                <a:ea typeface="Arial"/>
                <a:cs typeface="Arial"/>
                <a:sym typeface="Arial"/>
              </a:rPr>
              <a:t>Assets</a:t>
            </a:r>
            <a:endParaRPr sz="2400" b="1">
              <a:solidFill>
                <a:schemeClr val="accent6"/>
              </a:solidFill>
              <a:latin typeface="Arial"/>
              <a:ea typeface="Arial"/>
              <a:cs typeface="Arial"/>
              <a:sym typeface="Arial"/>
            </a:endParaRPr>
          </a:p>
        </p:txBody>
      </p:sp>
      <p:sp>
        <p:nvSpPr>
          <p:cNvPr id="135" name="Google Shape;135;p17"/>
          <p:cNvSpPr txBox="1"/>
          <p:nvPr/>
        </p:nvSpPr>
        <p:spPr>
          <a:xfrm>
            <a:off x="3655087" y="500757"/>
            <a:ext cx="524716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Supermarket Limited</a:t>
            </a:r>
            <a:endParaRPr/>
          </a:p>
        </p:txBody>
      </p:sp>
      <p:cxnSp>
        <p:nvCxnSpPr>
          <p:cNvPr id="136" name="Google Shape;136;p17"/>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
        <p:nvSpPr>
          <p:cNvPr id="137" name="Google Shape;137;p17"/>
          <p:cNvSpPr txBox="1"/>
          <p:nvPr/>
        </p:nvSpPr>
        <p:spPr>
          <a:xfrm rot="164264">
            <a:off x="882382" y="1017108"/>
            <a:ext cx="22188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6"/>
                </a:solidFill>
                <a:latin typeface="Avenir"/>
                <a:ea typeface="Avenir"/>
                <a:cs typeface="Avenir"/>
                <a:sym typeface="Avenir"/>
              </a:rPr>
              <a:t>Uses of funds</a:t>
            </a:r>
            <a:endParaRPr/>
          </a:p>
        </p:txBody>
      </p:sp>
      <p:sp>
        <p:nvSpPr>
          <p:cNvPr id="138" name="Google Shape;138;p17"/>
          <p:cNvSpPr txBox="1"/>
          <p:nvPr/>
        </p:nvSpPr>
        <p:spPr>
          <a:xfrm rot="-173359">
            <a:off x="8755317" y="1056410"/>
            <a:ext cx="269657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2"/>
                </a:solidFill>
                <a:latin typeface="Avenir"/>
                <a:ea typeface="Avenir"/>
                <a:cs typeface="Avenir"/>
                <a:sym typeface="Avenir"/>
              </a:rPr>
              <a:t>Sources of funds</a:t>
            </a:r>
            <a:endParaRPr/>
          </a:p>
        </p:txBody>
      </p:sp>
      <p:sp>
        <p:nvSpPr>
          <p:cNvPr id="139" name="Google Shape;139;p17"/>
          <p:cNvSpPr txBox="1"/>
          <p:nvPr/>
        </p:nvSpPr>
        <p:spPr>
          <a:xfrm>
            <a:off x="9040015" y="166444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2"/>
                </a:solidFill>
                <a:latin typeface="Arial"/>
                <a:ea typeface="Arial"/>
                <a:cs typeface="Arial"/>
                <a:sym typeface="Arial"/>
              </a:rPr>
              <a:t>Liabilities</a:t>
            </a:r>
            <a:endParaRPr sz="2400" b="1">
              <a:solidFill>
                <a:schemeClr val="accent2"/>
              </a:solidFill>
              <a:latin typeface="Arial"/>
              <a:ea typeface="Arial"/>
              <a:cs typeface="Arial"/>
              <a:sym typeface="Arial"/>
            </a:endParaRPr>
          </a:p>
        </p:txBody>
      </p:sp>
      <p:sp>
        <p:nvSpPr>
          <p:cNvPr id="140" name="Google Shape;140;p17"/>
          <p:cNvSpPr txBox="1"/>
          <p:nvPr/>
        </p:nvSpPr>
        <p:spPr>
          <a:xfrm>
            <a:off x="8925894" y="322329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2"/>
                </a:solidFill>
                <a:latin typeface="Arial"/>
                <a:ea typeface="Arial"/>
                <a:cs typeface="Arial"/>
                <a:sym typeface="Arial"/>
              </a:rPr>
              <a:t>Equity</a:t>
            </a:r>
            <a:endParaRPr sz="2400" b="1">
              <a:solidFill>
                <a:schemeClr val="accent2"/>
              </a:solidFill>
              <a:latin typeface="Arial"/>
              <a:ea typeface="Arial"/>
              <a:cs typeface="Arial"/>
              <a:sym typeface="Arial"/>
            </a:endParaRPr>
          </a:p>
        </p:txBody>
      </p:sp>
      <p:cxnSp>
        <p:nvCxnSpPr>
          <p:cNvPr id="141" name="Google Shape;141;p17"/>
          <p:cNvCxnSpPr/>
          <p:nvPr/>
        </p:nvCxnSpPr>
        <p:spPr>
          <a:xfrm rot="10800000" flipH="1">
            <a:off x="6205001" y="3064955"/>
            <a:ext cx="5117873" cy="32078"/>
          </a:xfrm>
          <a:prstGeom prst="straightConnector1">
            <a:avLst/>
          </a:prstGeom>
          <a:noFill/>
          <a:ln w="73025" cap="flat" cmpd="sng">
            <a:solidFill>
              <a:schemeClr val="accent2"/>
            </a:solidFill>
            <a:prstDash val="solid"/>
            <a:miter lim="800000"/>
            <a:headEnd type="none" w="sm" len="sm"/>
            <a:tailEnd type="none" w="sm" len="sm"/>
          </a:ln>
        </p:spPr>
      </p:cxnSp>
      <p:sp>
        <p:nvSpPr>
          <p:cNvPr id="142" name="Google Shape;142;p17"/>
          <p:cNvSpPr txBox="1"/>
          <p:nvPr/>
        </p:nvSpPr>
        <p:spPr>
          <a:xfrm>
            <a:off x="2754417" y="2662885"/>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50,000</a:t>
            </a:r>
            <a:endParaRPr/>
          </a:p>
        </p:txBody>
      </p:sp>
      <p:sp>
        <p:nvSpPr>
          <p:cNvPr id="143" name="Google Shape;143;p17"/>
          <p:cNvSpPr txBox="1"/>
          <p:nvPr/>
        </p:nvSpPr>
        <p:spPr>
          <a:xfrm>
            <a:off x="6615853" y="2088982"/>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30,000</a:t>
            </a:r>
            <a:endParaRPr/>
          </a:p>
        </p:txBody>
      </p:sp>
      <p:sp>
        <p:nvSpPr>
          <p:cNvPr id="144" name="Google Shape;144;p17"/>
          <p:cNvSpPr txBox="1"/>
          <p:nvPr/>
        </p:nvSpPr>
        <p:spPr>
          <a:xfrm>
            <a:off x="6764756" y="3650109"/>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20,000</a:t>
            </a:r>
            <a:endParaRPr/>
          </a:p>
        </p:txBody>
      </p:sp>
      <p:sp>
        <p:nvSpPr>
          <p:cNvPr id="145" name="Google Shape;145;p17"/>
          <p:cNvSpPr txBox="1"/>
          <p:nvPr/>
        </p:nvSpPr>
        <p:spPr>
          <a:xfrm>
            <a:off x="7422931" y="2723649"/>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8800" b="1">
                <a:solidFill>
                  <a:schemeClr val="accent1"/>
                </a:solidFill>
                <a:latin typeface="Avenir"/>
                <a:ea typeface="Avenir"/>
                <a:cs typeface="Avenir"/>
                <a:sym typeface="Avenir"/>
              </a:rPr>
              <a:t>+</a:t>
            </a:r>
            <a:endParaRPr/>
          </a:p>
        </p:txBody>
      </p:sp>
      <p:sp>
        <p:nvSpPr>
          <p:cNvPr id="146" name="Google Shape;146;p17"/>
          <p:cNvSpPr txBox="1"/>
          <p:nvPr/>
        </p:nvSpPr>
        <p:spPr>
          <a:xfrm>
            <a:off x="5552494" y="2595634"/>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a:solidFill>
                  <a:schemeClr val="accent1"/>
                </a:solidFill>
                <a:latin typeface="Avenir"/>
                <a:ea typeface="Avenir"/>
                <a:cs typeface="Avenir"/>
                <a:sym typeface="Avenir"/>
              </a:rPr>
              <a:t>=</a:t>
            </a:r>
            <a:endParaRPr/>
          </a:p>
        </p:txBody>
      </p:sp>
      <p:sp>
        <p:nvSpPr>
          <p:cNvPr id="147" name="Google Shape;147;p17"/>
          <p:cNvSpPr/>
          <p:nvPr/>
        </p:nvSpPr>
        <p:spPr>
          <a:xfrm flipH="1">
            <a:off x="289248" y="5136221"/>
            <a:ext cx="2719036" cy="1462298"/>
          </a:xfrm>
          <a:prstGeom prst="wedgeRectCallout">
            <a:avLst>
              <a:gd name="adj1" fmla="val -38271"/>
              <a:gd name="adj2" fmla="val -145111"/>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Avenir"/>
                <a:ea typeface="Avenir"/>
                <a:cs typeface="Avenir"/>
                <a:sym typeface="Avenir"/>
              </a:rPr>
              <a:t>The only place you will find anything of value</a:t>
            </a:r>
            <a:endParaRPr sz="2400">
              <a:solidFill>
                <a:schemeClr val="lt1"/>
              </a:solidFill>
              <a:latin typeface="Calibri"/>
              <a:ea typeface="Calibri"/>
              <a:cs typeface="Calibri"/>
              <a:sym typeface="Calibri"/>
            </a:endParaRPr>
          </a:p>
        </p:txBody>
      </p:sp>
      <p:sp>
        <p:nvSpPr>
          <p:cNvPr id="148" name="Google Shape;148;p17"/>
          <p:cNvSpPr/>
          <p:nvPr/>
        </p:nvSpPr>
        <p:spPr>
          <a:xfrm flipH="1">
            <a:off x="9159320" y="5132854"/>
            <a:ext cx="2719036" cy="1462298"/>
          </a:xfrm>
          <a:prstGeom prst="wedgeRectCallout">
            <a:avLst>
              <a:gd name="adj1" fmla="val 304"/>
              <a:gd name="adj2" fmla="val -10373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Avenir"/>
                <a:ea typeface="Avenir"/>
                <a:cs typeface="Avenir"/>
                <a:sym typeface="Avenir"/>
              </a:rPr>
              <a:t>Equity and liabilities are </a:t>
            </a:r>
            <a:r>
              <a:rPr lang="en-US" sz="2400" u="sng">
                <a:solidFill>
                  <a:schemeClr val="lt1"/>
                </a:solidFill>
                <a:latin typeface="Avenir"/>
                <a:ea typeface="Avenir"/>
                <a:cs typeface="Avenir"/>
                <a:sym typeface="Avenir"/>
              </a:rPr>
              <a:t>never</a:t>
            </a:r>
            <a:r>
              <a:rPr lang="en-US" sz="2400">
                <a:solidFill>
                  <a:schemeClr val="lt1"/>
                </a:solidFill>
                <a:latin typeface="Avenir"/>
                <a:ea typeface="Avenir"/>
                <a:cs typeface="Avenir"/>
                <a:sym typeface="Avenir"/>
              </a:rPr>
              <a:t> valuable</a:t>
            </a:r>
            <a:endParaRPr sz="2400">
              <a:solidFill>
                <a:schemeClr val="lt1"/>
              </a:solidFill>
              <a:latin typeface="Calibri"/>
              <a:ea typeface="Calibri"/>
              <a:cs typeface="Calibri"/>
              <a:sym typeface="Calibri"/>
            </a:endParaRPr>
          </a:p>
        </p:txBody>
      </p:sp>
      <p:sp>
        <p:nvSpPr>
          <p:cNvPr id="149" name="Google Shape;149;p17"/>
          <p:cNvSpPr/>
          <p:nvPr/>
        </p:nvSpPr>
        <p:spPr>
          <a:xfrm flipH="1">
            <a:off x="9159320" y="5132855"/>
            <a:ext cx="2719036" cy="1462298"/>
          </a:xfrm>
          <a:prstGeom prst="wedgeRectCallout">
            <a:avLst>
              <a:gd name="adj1" fmla="val -17500"/>
              <a:gd name="adj2" fmla="val -22143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Avenir"/>
                <a:ea typeface="Avenir"/>
                <a:cs typeface="Avenir"/>
                <a:sym typeface="Avenir"/>
              </a:rPr>
              <a:t>Equity and liabilities are </a:t>
            </a:r>
            <a:r>
              <a:rPr lang="en-US" sz="2400" u="sng">
                <a:solidFill>
                  <a:schemeClr val="lt1"/>
                </a:solidFill>
                <a:latin typeface="Avenir"/>
                <a:ea typeface="Avenir"/>
                <a:cs typeface="Avenir"/>
                <a:sym typeface="Avenir"/>
              </a:rPr>
              <a:t>never</a:t>
            </a:r>
            <a:r>
              <a:rPr lang="en-US" sz="2400">
                <a:solidFill>
                  <a:schemeClr val="lt1"/>
                </a:solidFill>
                <a:latin typeface="Avenir"/>
                <a:ea typeface="Avenir"/>
                <a:cs typeface="Avenir"/>
                <a:sym typeface="Avenir"/>
              </a:rPr>
              <a:t> valuable</a:t>
            </a:r>
            <a:endParaRPr sz="24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500"/>
                                        <p:tgtEl>
                                          <p:spTgt spid="1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8"/>
                                        </p:tgtEl>
                                        <p:attrNameLst>
                                          <p:attrName>style.visibility</p:attrName>
                                        </p:attrNameLst>
                                      </p:cBhvr>
                                      <p:to>
                                        <p:strVal val="visible"/>
                                      </p:to>
                                    </p:set>
                                    <p:animEffect transition="in" filter="fade">
                                      <p:cBhvr>
                                        <p:cTn id="12" dur="500"/>
                                        <p:tgtEl>
                                          <p:spTgt spid="148"/>
                                        </p:tgtEl>
                                      </p:cBhvr>
                                    </p:animEffect>
                                  </p:childTnLst>
                                </p:cTn>
                              </p:par>
                              <p:par>
                                <p:cTn id="13" presetID="10" presetClass="entr" presetSubtype="0" fill="hold" nodeType="withEffect">
                                  <p:stCondLst>
                                    <p:cond delay="0"/>
                                  </p:stCondLst>
                                  <p:childTnLst>
                                    <p:set>
                                      <p:cBhvr>
                                        <p:cTn id="14" dur="1" fill="hold">
                                          <p:stCondLst>
                                            <p:cond delay="0"/>
                                          </p:stCondLst>
                                        </p:cTn>
                                        <p:tgtEl>
                                          <p:spTgt spid="149"/>
                                        </p:tgtEl>
                                        <p:attrNameLst>
                                          <p:attrName>style.visibility</p:attrName>
                                        </p:attrNameLst>
                                      </p:cBhvr>
                                      <p:to>
                                        <p:strVal val="visible"/>
                                      </p:to>
                                    </p:set>
                                    <p:animEffect transition="in" filter="fade">
                                      <p:cBhvr>
                                        <p:cTn id="15" dur="500"/>
                                        <p:tgtEl>
                                          <p:spTgt spid="14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148"/>
                                        </p:tgtEl>
                                      </p:cBhvr>
                                    </p:animEffect>
                                    <p:set>
                                      <p:cBhvr>
                                        <p:cTn id="20" dur="1" fill="hold">
                                          <p:stCondLst>
                                            <p:cond delay="500"/>
                                          </p:stCondLst>
                                        </p:cTn>
                                        <p:tgtEl>
                                          <p:spTgt spid="148"/>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149"/>
                                        </p:tgtEl>
                                      </p:cBhvr>
                                    </p:animEffect>
                                    <p:set>
                                      <p:cBhvr>
                                        <p:cTn id="23" dur="1" fill="hold">
                                          <p:stCondLst>
                                            <p:cond delay="500"/>
                                          </p:stCondLst>
                                        </p:cTn>
                                        <p:tgtEl>
                                          <p:spTgt spid="149"/>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147"/>
                                        </p:tgtEl>
                                      </p:cBhvr>
                                    </p:animEffect>
                                    <p:set>
                                      <p:cBhvr>
                                        <p:cTn id="26" dur="1" fill="hold">
                                          <p:stCondLst>
                                            <p:cond delay="500"/>
                                          </p:stCondLst>
                                        </p:cTn>
                                        <p:tgtEl>
                                          <p:spTgt spid="1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p:nvPr/>
        </p:nvSpPr>
        <p:spPr>
          <a:xfrm rot="5400000">
            <a:off x="1850074" y="544177"/>
            <a:ext cx="3294999" cy="5044439"/>
          </a:xfrm>
          <a:prstGeom prst="trapezoid">
            <a:avLst>
              <a:gd name="adj" fmla="val 8004"/>
            </a:avLst>
          </a:prstGeom>
          <a:solidFill>
            <a:srgbClr val="A8D08C"/>
          </a:solidFill>
          <a:ln w="76200" cap="flat" cmpd="sng">
            <a:solidFill>
              <a:srgbClr val="54813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8"/>
          <p:cNvSpPr txBox="1"/>
          <p:nvPr/>
        </p:nvSpPr>
        <p:spPr>
          <a:xfrm>
            <a:off x="975330" y="1594716"/>
            <a:ext cx="4775268" cy="2943357"/>
          </a:xfrm>
          <a:prstGeom prst="rect">
            <a:avLst/>
          </a:prstGeom>
          <a:noFill/>
          <a:ln>
            <a:noFill/>
          </a:ln>
        </p:spPr>
        <p:txBody>
          <a:bodyPr spcFirstLastPara="1" wrap="square" lIns="91425" tIns="45700" rIns="91425" bIns="45700" anchor="ctr" anchorCtr="0">
            <a:noAutofit/>
          </a:bodyPr>
          <a:lstStyle/>
          <a:p>
            <a:pPr marL="234950" marR="0" lvl="0" indent="0" algn="ctr" rtl="0">
              <a:spcBef>
                <a:spcPts val="0"/>
              </a:spcBef>
              <a:spcAft>
                <a:spcPts val="0"/>
              </a:spcAft>
              <a:buNone/>
            </a:pPr>
            <a:endParaRPr sz="3600">
              <a:solidFill>
                <a:srgbClr val="385623"/>
              </a:solidFill>
              <a:latin typeface="Calibri"/>
              <a:ea typeface="Calibri"/>
              <a:cs typeface="Calibri"/>
              <a:sym typeface="Calibri"/>
            </a:endParaRPr>
          </a:p>
        </p:txBody>
      </p:sp>
      <p:sp>
        <p:nvSpPr>
          <p:cNvPr id="157" name="Google Shape;157;p18"/>
          <p:cNvSpPr/>
          <p:nvPr/>
        </p:nvSpPr>
        <p:spPr>
          <a:xfrm rot="-5400000">
            <a:off x="7153155" y="558774"/>
            <a:ext cx="3294999" cy="5044439"/>
          </a:xfrm>
          <a:prstGeom prst="trapezoid">
            <a:avLst>
              <a:gd name="adj" fmla="val 8004"/>
            </a:avLst>
          </a:prstGeom>
          <a:solidFill>
            <a:srgbClr val="FFD966"/>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 name="Google Shape;158;p18"/>
          <p:cNvSpPr txBox="1"/>
          <p:nvPr/>
        </p:nvSpPr>
        <p:spPr>
          <a:xfrm>
            <a:off x="1278173" y="1655611"/>
            <a:ext cx="2127177" cy="584775"/>
          </a:xfrm>
          <a:prstGeom prst="rect">
            <a:avLst/>
          </a:prstGeom>
          <a:solidFill>
            <a:schemeClr val="lt1">
              <a:alpha val="85882"/>
            </a:schemeClr>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6"/>
                </a:solidFill>
                <a:latin typeface="Arial"/>
                <a:ea typeface="Arial"/>
                <a:cs typeface="Arial"/>
                <a:sym typeface="Arial"/>
              </a:rPr>
              <a:t>Assets</a:t>
            </a:r>
            <a:endParaRPr sz="2400" b="1">
              <a:solidFill>
                <a:schemeClr val="accent6"/>
              </a:solidFill>
              <a:latin typeface="Arial"/>
              <a:ea typeface="Arial"/>
              <a:cs typeface="Arial"/>
              <a:sym typeface="Arial"/>
            </a:endParaRPr>
          </a:p>
        </p:txBody>
      </p:sp>
      <p:cxnSp>
        <p:nvCxnSpPr>
          <p:cNvPr id="159" name="Google Shape;159;p18"/>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
        <p:nvSpPr>
          <p:cNvPr id="160" name="Google Shape;160;p18"/>
          <p:cNvSpPr txBox="1"/>
          <p:nvPr/>
        </p:nvSpPr>
        <p:spPr>
          <a:xfrm>
            <a:off x="9040015" y="166444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2"/>
                </a:solidFill>
                <a:latin typeface="Arial"/>
                <a:ea typeface="Arial"/>
                <a:cs typeface="Arial"/>
                <a:sym typeface="Arial"/>
              </a:rPr>
              <a:t>Liabilities</a:t>
            </a:r>
            <a:endParaRPr sz="2400" b="1">
              <a:solidFill>
                <a:schemeClr val="accent2"/>
              </a:solidFill>
              <a:latin typeface="Arial"/>
              <a:ea typeface="Arial"/>
              <a:cs typeface="Arial"/>
              <a:sym typeface="Arial"/>
            </a:endParaRPr>
          </a:p>
        </p:txBody>
      </p:sp>
      <p:sp>
        <p:nvSpPr>
          <p:cNvPr id="161" name="Google Shape;161;p18"/>
          <p:cNvSpPr txBox="1"/>
          <p:nvPr/>
        </p:nvSpPr>
        <p:spPr>
          <a:xfrm>
            <a:off x="8925894" y="322329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2"/>
                </a:solidFill>
                <a:latin typeface="Arial"/>
                <a:ea typeface="Arial"/>
                <a:cs typeface="Arial"/>
                <a:sym typeface="Arial"/>
              </a:rPr>
              <a:t>Equity</a:t>
            </a:r>
            <a:endParaRPr sz="2400" b="1">
              <a:solidFill>
                <a:schemeClr val="accent2"/>
              </a:solidFill>
              <a:latin typeface="Arial"/>
              <a:ea typeface="Arial"/>
              <a:cs typeface="Arial"/>
              <a:sym typeface="Arial"/>
            </a:endParaRPr>
          </a:p>
        </p:txBody>
      </p:sp>
      <p:cxnSp>
        <p:nvCxnSpPr>
          <p:cNvPr id="162" name="Google Shape;162;p18"/>
          <p:cNvCxnSpPr/>
          <p:nvPr/>
        </p:nvCxnSpPr>
        <p:spPr>
          <a:xfrm rot="10800000" flipH="1">
            <a:off x="6205001" y="3064955"/>
            <a:ext cx="5117873" cy="32078"/>
          </a:xfrm>
          <a:prstGeom prst="straightConnector1">
            <a:avLst/>
          </a:prstGeom>
          <a:noFill/>
          <a:ln w="73025" cap="flat" cmpd="sng">
            <a:solidFill>
              <a:schemeClr val="accent2"/>
            </a:solidFill>
            <a:prstDash val="solid"/>
            <a:miter lim="800000"/>
            <a:headEnd type="none" w="sm" len="sm"/>
            <a:tailEnd type="none" w="sm" len="sm"/>
          </a:ln>
        </p:spPr>
      </p:cxnSp>
      <p:sp>
        <p:nvSpPr>
          <p:cNvPr id="163" name="Google Shape;163;p18"/>
          <p:cNvSpPr txBox="1"/>
          <p:nvPr/>
        </p:nvSpPr>
        <p:spPr>
          <a:xfrm>
            <a:off x="2754417" y="2662885"/>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50,000</a:t>
            </a:r>
            <a:endParaRPr/>
          </a:p>
        </p:txBody>
      </p:sp>
      <p:sp>
        <p:nvSpPr>
          <p:cNvPr id="164" name="Google Shape;164;p18"/>
          <p:cNvSpPr txBox="1"/>
          <p:nvPr/>
        </p:nvSpPr>
        <p:spPr>
          <a:xfrm>
            <a:off x="6615853" y="2088982"/>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30,000</a:t>
            </a:r>
            <a:endParaRPr/>
          </a:p>
        </p:txBody>
      </p:sp>
      <p:sp>
        <p:nvSpPr>
          <p:cNvPr id="165" name="Google Shape;165;p18"/>
          <p:cNvSpPr txBox="1"/>
          <p:nvPr/>
        </p:nvSpPr>
        <p:spPr>
          <a:xfrm>
            <a:off x="6764756" y="3650109"/>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20,000</a:t>
            </a:r>
            <a:endParaRPr/>
          </a:p>
        </p:txBody>
      </p:sp>
      <p:sp>
        <p:nvSpPr>
          <p:cNvPr id="166" name="Google Shape;166;p18"/>
          <p:cNvSpPr txBox="1"/>
          <p:nvPr/>
        </p:nvSpPr>
        <p:spPr>
          <a:xfrm>
            <a:off x="7422931" y="2723649"/>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8800" b="1">
                <a:solidFill>
                  <a:schemeClr val="accent1"/>
                </a:solidFill>
                <a:latin typeface="Avenir"/>
                <a:ea typeface="Avenir"/>
                <a:cs typeface="Avenir"/>
                <a:sym typeface="Avenir"/>
              </a:rPr>
              <a:t>+</a:t>
            </a:r>
            <a:endParaRPr/>
          </a:p>
        </p:txBody>
      </p:sp>
      <p:sp>
        <p:nvSpPr>
          <p:cNvPr id="167" name="Google Shape;167;p18"/>
          <p:cNvSpPr txBox="1"/>
          <p:nvPr/>
        </p:nvSpPr>
        <p:spPr>
          <a:xfrm>
            <a:off x="5552494" y="2595634"/>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a:solidFill>
                  <a:schemeClr val="accent1"/>
                </a:solidFill>
                <a:latin typeface="Avenir"/>
                <a:ea typeface="Avenir"/>
                <a:cs typeface="Avenir"/>
                <a:sym typeface="Avenir"/>
              </a:rPr>
              <a:t>=</a:t>
            </a:r>
            <a:endParaRPr/>
          </a:p>
        </p:txBody>
      </p:sp>
      <p:sp>
        <p:nvSpPr>
          <p:cNvPr id="168" name="Google Shape;168;p18"/>
          <p:cNvSpPr txBox="1"/>
          <p:nvPr/>
        </p:nvSpPr>
        <p:spPr>
          <a:xfrm rot="164264">
            <a:off x="882382" y="1017108"/>
            <a:ext cx="22188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6"/>
                </a:solidFill>
                <a:latin typeface="Avenir"/>
                <a:ea typeface="Avenir"/>
                <a:cs typeface="Avenir"/>
                <a:sym typeface="Avenir"/>
              </a:rPr>
              <a:t>Uses of funds</a:t>
            </a:r>
            <a:endParaRPr/>
          </a:p>
        </p:txBody>
      </p:sp>
      <p:sp>
        <p:nvSpPr>
          <p:cNvPr id="169" name="Google Shape;169;p18"/>
          <p:cNvSpPr txBox="1"/>
          <p:nvPr/>
        </p:nvSpPr>
        <p:spPr>
          <a:xfrm rot="-173359">
            <a:off x="8755317" y="1056410"/>
            <a:ext cx="269657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2"/>
                </a:solidFill>
                <a:latin typeface="Avenir"/>
                <a:ea typeface="Avenir"/>
                <a:cs typeface="Avenir"/>
                <a:sym typeface="Avenir"/>
              </a:rPr>
              <a:t>Sources of funds</a:t>
            </a:r>
            <a:endParaRPr/>
          </a:p>
        </p:txBody>
      </p:sp>
      <p:grpSp>
        <p:nvGrpSpPr>
          <p:cNvPr id="170" name="Google Shape;170;p18"/>
          <p:cNvGrpSpPr/>
          <p:nvPr/>
        </p:nvGrpSpPr>
        <p:grpSpPr>
          <a:xfrm>
            <a:off x="3876477" y="5101299"/>
            <a:ext cx="7298013" cy="839289"/>
            <a:chOff x="3876477" y="5101299"/>
            <a:chExt cx="7298013" cy="839289"/>
          </a:xfrm>
        </p:grpSpPr>
        <p:sp>
          <p:nvSpPr>
            <p:cNvPr id="171" name="Google Shape;171;p18"/>
            <p:cNvSpPr/>
            <p:nvPr/>
          </p:nvSpPr>
          <p:spPr>
            <a:xfrm>
              <a:off x="3876477" y="5136221"/>
              <a:ext cx="1867819"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Assets</a:t>
              </a:r>
              <a:endParaRPr/>
            </a:p>
          </p:txBody>
        </p:sp>
        <p:sp>
          <p:nvSpPr>
            <p:cNvPr id="172" name="Google Shape;172;p18"/>
            <p:cNvSpPr txBox="1"/>
            <p:nvPr/>
          </p:nvSpPr>
          <p:spPr>
            <a:xfrm>
              <a:off x="5683400" y="5101299"/>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chemeClr val="accent1"/>
                  </a:solidFill>
                  <a:latin typeface="Avenir"/>
                  <a:ea typeface="Avenir"/>
                  <a:cs typeface="Avenir"/>
                  <a:sym typeface="Avenir"/>
                </a:rPr>
                <a:t>=</a:t>
              </a:r>
              <a:endParaRPr/>
            </a:p>
          </p:txBody>
        </p:sp>
        <p:sp>
          <p:nvSpPr>
            <p:cNvPr id="173" name="Google Shape;173;p18"/>
            <p:cNvSpPr/>
            <p:nvPr/>
          </p:nvSpPr>
          <p:spPr>
            <a:xfrm>
              <a:off x="6286697" y="5170087"/>
              <a:ext cx="2550698"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Liabilities</a:t>
              </a:r>
              <a:endParaRPr/>
            </a:p>
          </p:txBody>
        </p:sp>
        <p:sp>
          <p:nvSpPr>
            <p:cNvPr id="174" name="Google Shape;174;p18"/>
            <p:cNvSpPr/>
            <p:nvPr/>
          </p:nvSpPr>
          <p:spPr>
            <a:xfrm>
              <a:off x="9423690" y="5197814"/>
              <a:ext cx="1750800"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Equity</a:t>
              </a:r>
              <a:endParaRPr/>
            </a:p>
          </p:txBody>
        </p:sp>
        <p:sp>
          <p:nvSpPr>
            <p:cNvPr id="175" name="Google Shape;175;p18"/>
            <p:cNvSpPr txBox="1"/>
            <p:nvPr/>
          </p:nvSpPr>
          <p:spPr>
            <a:xfrm>
              <a:off x="8803770" y="5109591"/>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chemeClr val="accent1"/>
                  </a:solidFill>
                  <a:latin typeface="Avenir"/>
                  <a:ea typeface="Avenir"/>
                  <a:cs typeface="Avenir"/>
                  <a:sym typeface="Avenir"/>
                </a:rPr>
                <a:t>+</a:t>
              </a:r>
              <a:endParaRPr/>
            </a:p>
          </p:txBody>
        </p:sp>
      </p:grpSp>
      <p:grpSp>
        <p:nvGrpSpPr>
          <p:cNvPr id="176" name="Google Shape;176;p18"/>
          <p:cNvGrpSpPr/>
          <p:nvPr/>
        </p:nvGrpSpPr>
        <p:grpSpPr>
          <a:xfrm>
            <a:off x="3855380" y="5747730"/>
            <a:ext cx="7298013" cy="947270"/>
            <a:chOff x="3855380" y="5747730"/>
            <a:chExt cx="7298013" cy="947270"/>
          </a:xfrm>
        </p:grpSpPr>
        <p:sp>
          <p:nvSpPr>
            <p:cNvPr id="177" name="Google Shape;177;p18"/>
            <p:cNvSpPr txBox="1"/>
            <p:nvPr/>
          </p:nvSpPr>
          <p:spPr>
            <a:xfrm>
              <a:off x="5591516" y="5747730"/>
              <a:ext cx="1300550" cy="43235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8" name="Google Shape;178;p18"/>
            <p:cNvSpPr/>
            <p:nvPr/>
          </p:nvSpPr>
          <p:spPr>
            <a:xfrm>
              <a:off x="3855380" y="5890633"/>
              <a:ext cx="1867819"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Assets</a:t>
              </a:r>
              <a:endParaRPr/>
            </a:p>
          </p:txBody>
        </p:sp>
        <p:sp>
          <p:nvSpPr>
            <p:cNvPr id="179" name="Google Shape;179;p18"/>
            <p:cNvSpPr txBox="1"/>
            <p:nvPr/>
          </p:nvSpPr>
          <p:spPr>
            <a:xfrm>
              <a:off x="5741880" y="5802191"/>
              <a:ext cx="54213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chemeClr val="accent1"/>
                  </a:solidFill>
                  <a:latin typeface="Avenir"/>
                  <a:ea typeface="Avenir"/>
                  <a:cs typeface="Avenir"/>
                  <a:sym typeface="Avenir"/>
                </a:rPr>
                <a:t>–</a:t>
              </a:r>
              <a:endParaRPr/>
            </a:p>
          </p:txBody>
        </p:sp>
        <p:sp>
          <p:nvSpPr>
            <p:cNvPr id="180" name="Google Shape;180;p18"/>
            <p:cNvSpPr/>
            <p:nvPr/>
          </p:nvSpPr>
          <p:spPr>
            <a:xfrm>
              <a:off x="6265600" y="5924499"/>
              <a:ext cx="2550698"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Liabilities</a:t>
              </a:r>
              <a:endParaRPr/>
            </a:p>
          </p:txBody>
        </p:sp>
        <p:sp>
          <p:nvSpPr>
            <p:cNvPr id="181" name="Google Shape;181;p18"/>
            <p:cNvSpPr/>
            <p:nvPr/>
          </p:nvSpPr>
          <p:spPr>
            <a:xfrm>
              <a:off x="9402593" y="5952226"/>
              <a:ext cx="1750800"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Equity</a:t>
              </a:r>
              <a:endParaRPr/>
            </a:p>
          </p:txBody>
        </p:sp>
        <p:sp>
          <p:nvSpPr>
            <p:cNvPr id="182" name="Google Shape;182;p18"/>
            <p:cNvSpPr txBox="1"/>
            <p:nvPr/>
          </p:nvSpPr>
          <p:spPr>
            <a:xfrm>
              <a:off x="8782673" y="5864003"/>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chemeClr val="accent1"/>
                  </a:solidFill>
                  <a:latin typeface="Avenir"/>
                  <a:ea typeface="Avenir"/>
                  <a:cs typeface="Avenir"/>
                  <a:sym typeface="Avenir"/>
                </a:rPr>
                <a:t>=</a:t>
              </a:r>
              <a:endParaRPr/>
            </a:p>
          </p:txBody>
        </p:sp>
      </p:grpSp>
      <p:sp>
        <p:nvSpPr>
          <p:cNvPr id="183" name="Google Shape;183;p18"/>
          <p:cNvSpPr txBox="1"/>
          <p:nvPr/>
        </p:nvSpPr>
        <p:spPr>
          <a:xfrm>
            <a:off x="3655087" y="500757"/>
            <a:ext cx="524716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Supermarket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gtEl>
                                        <p:attrNameLst>
                                          <p:attrName>style.visibility</p:attrName>
                                        </p:attrNameLst>
                                      </p:cBhvr>
                                      <p:to>
                                        <p:strVal val="visible"/>
                                      </p:to>
                                    </p:set>
                                    <p:animEffect transition="in" filter="fade">
                                      <p:cBhvr>
                                        <p:cTn id="12" dur="5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9"/>
          <p:cNvSpPr/>
          <p:nvPr/>
        </p:nvSpPr>
        <p:spPr>
          <a:xfrm rot="5400000">
            <a:off x="1850074" y="544177"/>
            <a:ext cx="3294999" cy="5044439"/>
          </a:xfrm>
          <a:prstGeom prst="trapezoid">
            <a:avLst>
              <a:gd name="adj" fmla="val 8004"/>
            </a:avLst>
          </a:prstGeom>
          <a:solidFill>
            <a:srgbClr val="A8D08C"/>
          </a:solidFill>
          <a:ln w="76200" cap="flat" cmpd="sng">
            <a:solidFill>
              <a:srgbClr val="54813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9"/>
          <p:cNvSpPr txBox="1"/>
          <p:nvPr/>
        </p:nvSpPr>
        <p:spPr>
          <a:xfrm>
            <a:off x="975330" y="1594716"/>
            <a:ext cx="4775268" cy="2943357"/>
          </a:xfrm>
          <a:prstGeom prst="rect">
            <a:avLst/>
          </a:prstGeom>
          <a:noFill/>
          <a:ln>
            <a:noFill/>
          </a:ln>
        </p:spPr>
        <p:txBody>
          <a:bodyPr spcFirstLastPara="1" wrap="square" lIns="91425" tIns="45700" rIns="91425" bIns="45700" anchor="ctr" anchorCtr="0">
            <a:noAutofit/>
          </a:bodyPr>
          <a:lstStyle/>
          <a:p>
            <a:pPr marL="234950" marR="0" lvl="0" indent="0" algn="ctr" rtl="0">
              <a:spcBef>
                <a:spcPts val="0"/>
              </a:spcBef>
              <a:spcAft>
                <a:spcPts val="0"/>
              </a:spcAft>
              <a:buNone/>
            </a:pPr>
            <a:endParaRPr sz="3600">
              <a:solidFill>
                <a:srgbClr val="385623"/>
              </a:solidFill>
              <a:latin typeface="Calibri"/>
              <a:ea typeface="Calibri"/>
              <a:cs typeface="Calibri"/>
              <a:sym typeface="Calibri"/>
            </a:endParaRPr>
          </a:p>
        </p:txBody>
      </p:sp>
      <p:sp>
        <p:nvSpPr>
          <p:cNvPr id="191" name="Google Shape;191;p19"/>
          <p:cNvSpPr/>
          <p:nvPr/>
        </p:nvSpPr>
        <p:spPr>
          <a:xfrm rot="-5400000">
            <a:off x="7153155" y="558774"/>
            <a:ext cx="3294999" cy="5044439"/>
          </a:xfrm>
          <a:prstGeom prst="trapezoid">
            <a:avLst>
              <a:gd name="adj" fmla="val 8004"/>
            </a:avLst>
          </a:prstGeom>
          <a:solidFill>
            <a:srgbClr val="FFD966"/>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9"/>
          <p:cNvSpPr txBox="1"/>
          <p:nvPr/>
        </p:nvSpPr>
        <p:spPr>
          <a:xfrm>
            <a:off x="1278173" y="1655611"/>
            <a:ext cx="2127177" cy="584775"/>
          </a:xfrm>
          <a:prstGeom prst="rect">
            <a:avLst/>
          </a:prstGeom>
          <a:solidFill>
            <a:schemeClr val="lt1">
              <a:alpha val="85882"/>
            </a:schemeClr>
          </a:solidFill>
          <a:ln w="25400" cap="flat" cmpd="sng">
            <a:solidFill>
              <a:schemeClr val="accent6"/>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6"/>
                </a:solidFill>
                <a:latin typeface="Arial"/>
                <a:ea typeface="Arial"/>
                <a:cs typeface="Arial"/>
                <a:sym typeface="Arial"/>
              </a:rPr>
              <a:t>Assets</a:t>
            </a:r>
            <a:endParaRPr sz="2400" b="1">
              <a:solidFill>
                <a:schemeClr val="accent6"/>
              </a:solidFill>
              <a:latin typeface="Arial"/>
              <a:ea typeface="Arial"/>
              <a:cs typeface="Arial"/>
              <a:sym typeface="Arial"/>
            </a:endParaRPr>
          </a:p>
        </p:txBody>
      </p:sp>
      <p:cxnSp>
        <p:nvCxnSpPr>
          <p:cNvPr id="193" name="Google Shape;193;p19"/>
          <p:cNvCxnSpPr/>
          <p:nvPr/>
        </p:nvCxnSpPr>
        <p:spPr>
          <a:xfrm>
            <a:off x="3695012" y="1023977"/>
            <a:ext cx="5247163" cy="0"/>
          </a:xfrm>
          <a:prstGeom prst="straightConnector1">
            <a:avLst/>
          </a:prstGeom>
          <a:noFill/>
          <a:ln w="28575" cap="flat" cmpd="sng">
            <a:solidFill>
              <a:schemeClr val="accent1"/>
            </a:solidFill>
            <a:prstDash val="dot"/>
            <a:miter lim="800000"/>
            <a:headEnd type="none" w="sm" len="sm"/>
            <a:tailEnd type="none" w="sm" len="sm"/>
          </a:ln>
        </p:spPr>
      </p:cxnSp>
      <p:sp>
        <p:nvSpPr>
          <p:cNvPr id="194" name="Google Shape;194;p19"/>
          <p:cNvSpPr txBox="1"/>
          <p:nvPr/>
        </p:nvSpPr>
        <p:spPr>
          <a:xfrm>
            <a:off x="9040015" y="166444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2"/>
                </a:solidFill>
                <a:latin typeface="Arial"/>
                <a:ea typeface="Arial"/>
                <a:cs typeface="Arial"/>
                <a:sym typeface="Arial"/>
              </a:rPr>
              <a:t>Liabilities</a:t>
            </a:r>
            <a:endParaRPr sz="2400" b="1">
              <a:solidFill>
                <a:schemeClr val="accent2"/>
              </a:solidFill>
              <a:latin typeface="Arial"/>
              <a:ea typeface="Arial"/>
              <a:cs typeface="Arial"/>
              <a:sym typeface="Arial"/>
            </a:endParaRPr>
          </a:p>
        </p:txBody>
      </p:sp>
      <p:sp>
        <p:nvSpPr>
          <p:cNvPr id="195" name="Google Shape;195;p19"/>
          <p:cNvSpPr txBox="1"/>
          <p:nvPr/>
        </p:nvSpPr>
        <p:spPr>
          <a:xfrm>
            <a:off x="8925894" y="3223299"/>
            <a:ext cx="2127177" cy="584775"/>
          </a:xfrm>
          <a:prstGeom prst="rect">
            <a:avLst/>
          </a:prstGeom>
          <a:solidFill>
            <a:schemeClr val="lt1">
              <a:alpha val="74901"/>
            </a:schemeClr>
          </a:solidFill>
          <a:ln w="2540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accent2"/>
                </a:solidFill>
                <a:latin typeface="Arial"/>
                <a:ea typeface="Arial"/>
                <a:cs typeface="Arial"/>
                <a:sym typeface="Arial"/>
              </a:rPr>
              <a:t>Equity</a:t>
            </a:r>
            <a:endParaRPr sz="2400" b="1">
              <a:solidFill>
                <a:schemeClr val="accent2"/>
              </a:solidFill>
              <a:latin typeface="Arial"/>
              <a:ea typeface="Arial"/>
              <a:cs typeface="Arial"/>
              <a:sym typeface="Arial"/>
            </a:endParaRPr>
          </a:p>
        </p:txBody>
      </p:sp>
      <p:cxnSp>
        <p:nvCxnSpPr>
          <p:cNvPr id="196" name="Google Shape;196;p19"/>
          <p:cNvCxnSpPr/>
          <p:nvPr/>
        </p:nvCxnSpPr>
        <p:spPr>
          <a:xfrm rot="10800000" flipH="1">
            <a:off x="6205001" y="3064955"/>
            <a:ext cx="5117873" cy="32078"/>
          </a:xfrm>
          <a:prstGeom prst="straightConnector1">
            <a:avLst/>
          </a:prstGeom>
          <a:noFill/>
          <a:ln w="73025" cap="flat" cmpd="sng">
            <a:solidFill>
              <a:schemeClr val="accent2"/>
            </a:solidFill>
            <a:prstDash val="solid"/>
            <a:miter lim="800000"/>
            <a:headEnd type="none" w="sm" len="sm"/>
            <a:tailEnd type="none" w="sm" len="sm"/>
          </a:ln>
        </p:spPr>
      </p:cxnSp>
      <p:sp>
        <p:nvSpPr>
          <p:cNvPr id="197" name="Google Shape;197;p19"/>
          <p:cNvSpPr txBox="1"/>
          <p:nvPr/>
        </p:nvSpPr>
        <p:spPr>
          <a:xfrm>
            <a:off x="2754417" y="2662885"/>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$50,000</a:t>
            </a:r>
            <a:endParaRPr/>
          </a:p>
        </p:txBody>
      </p:sp>
      <p:sp>
        <p:nvSpPr>
          <p:cNvPr id="198" name="Google Shape;198;p19"/>
          <p:cNvSpPr txBox="1"/>
          <p:nvPr/>
        </p:nvSpPr>
        <p:spPr>
          <a:xfrm>
            <a:off x="6615853" y="2088982"/>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$30,000</a:t>
            </a:r>
            <a:endParaRPr/>
          </a:p>
        </p:txBody>
      </p:sp>
      <p:sp>
        <p:nvSpPr>
          <p:cNvPr id="199" name="Google Shape;199;p19"/>
          <p:cNvSpPr txBox="1"/>
          <p:nvPr/>
        </p:nvSpPr>
        <p:spPr>
          <a:xfrm>
            <a:off x="6764756" y="3650109"/>
            <a:ext cx="2187917" cy="726551"/>
          </a:xfrm>
          <a:prstGeom prst="rect">
            <a:avLst/>
          </a:prstGeom>
          <a:solidFill>
            <a:srgbClr val="DDEAF6">
              <a:alpha val="60784"/>
            </a:srgbClr>
          </a:solidFill>
          <a:ln w="508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$20,000</a:t>
            </a:r>
            <a:endParaRPr/>
          </a:p>
        </p:txBody>
      </p:sp>
      <p:sp>
        <p:nvSpPr>
          <p:cNvPr id="200" name="Google Shape;200;p19"/>
          <p:cNvSpPr txBox="1"/>
          <p:nvPr/>
        </p:nvSpPr>
        <p:spPr>
          <a:xfrm>
            <a:off x="7422931" y="2723649"/>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8800" b="1">
                <a:solidFill>
                  <a:schemeClr val="accent1"/>
                </a:solidFill>
                <a:latin typeface="Avenir"/>
                <a:ea typeface="Avenir"/>
                <a:cs typeface="Avenir"/>
                <a:sym typeface="Avenir"/>
              </a:rPr>
              <a:t>+</a:t>
            </a:r>
            <a:endParaRPr/>
          </a:p>
        </p:txBody>
      </p:sp>
      <p:sp>
        <p:nvSpPr>
          <p:cNvPr id="201" name="Google Shape;201;p19"/>
          <p:cNvSpPr txBox="1"/>
          <p:nvPr/>
        </p:nvSpPr>
        <p:spPr>
          <a:xfrm>
            <a:off x="5552494" y="2595634"/>
            <a:ext cx="1185222" cy="1002797"/>
          </a:xfrm>
          <a:prstGeom prst="rect">
            <a:avLst/>
          </a:prstGeom>
          <a:solidFill>
            <a:srgbClr val="DDEAF6">
              <a:alpha val="0"/>
            </a:srgb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500" b="1">
                <a:solidFill>
                  <a:schemeClr val="accent1"/>
                </a:solidFill>
                <a:latin typeface="Avenir"/>
                <a:ea typeface="Avenir"/>
                <a:cs typeface="Avenir"/>
                <a:sym typeface="Avenir"/>
              </a:rPr>
              <a:t>=</a:t>
            </a:r>
            <a:endParaRPr/>
          </a:p>
        </p:txBody>
      </p:sp>
      <p:grpSp>
        <p:nvGrpSpPr>
          <p:cNvPr id="202" name="Google Shape;202;p19"/>
          <p:cNvGrpSpPr/>
          <p:nvPr/>
        </p:nvGrpSpPr>
        <p:grpSpPr>
          <a:xfrm>
            <a:off x="3876477" y="5100066"/>
            <a:ext cx="7298013" cy="840522"/>
            <a:chOff x="3876477" y="5100066"/>
            <a:chExt cx="7298013" cy="840522"/>
          </a:xfrm>
        </p:grpSpPr>
        <p:sp>
          <p:nvSpPr>
            <p:cNvPr id="203" name="Google Shape;203;p19"/>
            <p:cNvSpPr/>
            <p:nvPr/>
          </p:nvSpPr>
          <p:spPr>
            <a:xfrm>
              <a:off x="3876477" y="5136221"/>
              <a:ext cx="1867819"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Assets</a:t>
              </a:r>
              <a:endParaRPr/>
            </a:p>
          </p:txBody>
        </p:sp>
        <p:sp>
          <p:nvSpPr>
            <p:cNvPr id="204" name="Google Shape;204;p19"/>
            <p:cNvSpPr txBox="1"/>
            <p:nvPr/>
          </p:nvSpPr>
          <p:spPr>
            <a:xfrm>
              <a:off x="5683400" y="5100066"/>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chemeClr val="accent1"/>
                  </a:solidFill>
                  <a:latin typeface="Avenir"/>
                  <a:ea typeface="Avenir"/>
                  <a:cs typeface="Avenir"/>
                  <a:sym typeface="Avenir"/>
                </a:rPr>
                <a:t>=</a:t>
              </a:r>
              <a:endParaRPr/>
            </a:p>
          </p:txBody>
        </p:sp>
        <p:sp>
          <p:nvSpPr>
            <p:cNvPr id="205" name="Google Shape;205;p19"/>
            <p:cNvSpPr/>
            <p:nvPr/>
          </p:nvSpPr>
          <p:spPr>
            <a:xfrm>
              <a:off x="6286697" y="5170087"/>
              <a:ext cx="2550698"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Liabilities</a:t>
              </a:r>
              <a:endParaRPr/>
            </a:p>
          </p:txBody>
        </p:sp>
        <p:sp>
          <p:nvSpPr>
            <p:cNvPr id="206" name="Google Shape;206;p19"/>
            <p:cNvSpPr/>
            <p:nvPr/>
          </p:nvSpPr>
          <p:spPr>
            <a:xfrm>
              <a:off x="9423690" y="5197814"/>
              <a:ext cx="1750800"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Equity</a:t>
              </a:r>
              <a:endParaRPr/>
            </a:p>
          </p:txBody>
        </p:sp>
        <p:sp>
          <p:nvSpPr>
            <p:cNvPr id="207" name="Google Shape;207;p19"/>
            <p:cNvSpPr txBox="1"/>
            <p:nvPr/>
          </p:nvSpPr>
          <p:spPr>
            <a:xfrm>
              <a:off x="8803770" y="5109591"/>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chemeClr val="accent1"/>
                  </a:solidFill>
                  <a:latin typeface="Avenir"/>
                  <a:ea typeface="Avenir"/>
                  <a:cs typeface="Avenir"/>
                  <a:sym typeface="Avenir"/>
                </a:rPr>
                <a:t>+</a:t>
              </a:r>
              <a:endParaRPr/>
            </a:p>
          </p:txBody>
        </p:sp>
      </p:grpSp>
      <p:grpSp>
        <p:nvGrpSpPr>
          <p:cNvPr id="208" name="Google Shape;208;p19"/>
          <p:cNvGrpSpPr/>
          <p:nvPr/>
        </p:nvGrpSpPr>
        <p:grpSpPr>
          <a:xfrm>
            <a:off x="3855380" y="5747730"/>
            <a:ext cx="7298013" cy="947270"/>
            <a:chOff x="3855380" y="5747730"/>
            <a:chExt cx="7298013" cy="947270"/>
          </a:xfrm>
        </p:grpSpPr>
        <p:sp>
          <p:nvSpPr>
            <p:cNvPr id="209" name="Google Shape;209;p19"/>
            <p:cNvSpPr txBox="1"/>
            <p:nvPr/>
          </p:nvSpPr>
          <p:spPr>
            <a:xfrm>
              <a:off x="5591516" y="5747730"/>
              <a:ext cx="1300550" cy="43235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19"/>
            <p:cNvSpPr/>
            <p:nvPr/>
          </p:nvSpPr>
          <p:spPr>
            <a:xfrm>
              <a:off x="3855380" y="5890633"/>
              <a:ext cx="1867819"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Assets</a:t>
              </a:r>
              <a:endParaRPr/>
            </a:p>
          </p:txBody>
        </p:sp>
        <p:sp>
          <p:nvSpPr>
            <p:cNvPr id="211" name="Google Shape;211;p19"/>
            <p:cNvSpPr txBox="1"/>
            <p:nvPr/>
          </p:nvSpPr>
          <p:spPr>
            <a:xfrm>
              <a:off x="5741880" y="5802191"/>
              <a:ext cx="54213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chemeClr val="accent1"/>
                  </a:solidFill>
                  <a:latin typeface="Avenir"/>
                  <a:ea typeface="Avenir"/>
                  <a:cs typeface="Avenir"/>
                  <a:sym typeface="Avenir"/>
                </a:rPr>
                <a:t>–</a:t>
              </a:r>
              <a:endParaRPr/>
            </a:p>
          </p:txBody>
        </p:sp>
        <p:sp>
          <p:nvSpPr>
            <p:cNvPr id="212" name="Google Shape;212;p19"/>
            <p:cNvSpPr/>
            <p:nvPr/>
          </p:nvSpPr>
          <p:spPr>
            <a:xfrm>
              <a:off x="6265600" y="5924499"/>
              <a:ext cx="2550698"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Liabilities</a:t>
              </a:r>
              <a:endParaRPr/>
            </a:p>
          </p:txBody>
        </p:sp>
        <p:sp>
          <p:nvSpPr>
            <p:cNvPr id="213" name="Google Shape;213;p19"/>
            <p:cNvSpPr/>
            <p:nvPr/>
          </p:nvSpPr>
          <p:spPr>
            <a:xfrm>
              <a:off x="9402593" y="5952226"/>
              <a:ext cx="1750800" cy="707886"/>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chemeClr val="accent1"/>
                  </a:solidFill>
                  <a:latin typeface="Avenir"/>
                  <a:ea typeface="Avenir"/>
                  <a:cs typeface="Avenir"/>
                  <a:sym typeface="Avenir"/>
                </a:rPr>
                <a:t>Equity</a:t>
              </a:r>
              <a:endParaRPr/>
            </a:p>
          </p:txBody>
        </p:sp>
        <p:sp>
          <p:nvSpPr>
            <p:cNvPr id="214" name="Google Shape;214;p19"/>
            <p:cNvSpPr txBox="1"/>
            <p:nvPr/>
          </p:nvSpPr>
          <p:spPr>
            <a:xfrm>
              <a:off x="8782673" y="5864003"/>
              <a:ext cx="55816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chemeClr val="accent1"/>
                  </a:solidFill>
                  <a:latin typeface="Avenir"/>
                  <a:ea typeface="Avenir"/>
                  <a:cs typeface="Avenir"/>
                  <a:sym typeface="Avenir"/>
                </a:rPr>
                <a:t>=</a:t>
              </a:r>
              <a:endParaRPr/>
            </a:p>
          </p:txBody>
        </p:sp>
      </p:grpSp>
      <p:sp>
        <p:nvSpPr>
          <p:cNvPr id="215" name="Google Shape;215;p19"/>
          <p:cNvSpPr txBox="1"/>
          <p:nvPr/>
        </p:nvSpPr>
        <p:spPr>
          <a:xfrm rot="164264">
            <a:off x="882382" y="1017108"/>
            <a:ext cx="22188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6"/>
                </a:solidFill>
                <a:latin typeface="Avenir"/>
                <a:ea typeface="Avenir"/>
                <a:cs typeface="Avenir"/>
                <a:sym typeface="Avenir"/>
              </a:rPr>
              <a:t>Uses of funds</a:t>
            </a:r>
            <a:endParaRPr/>
          </a:p>
        </p:txBody>
      </p:sp>
      <p:sp>
        <p:nvSpPr>
          <p:cNvPr id="216" name="Google Shape;216;p19"/>
          <p:cNvSpPr txBox="1"/>
          <p:nvPr/>
        </p:nvSpPr>
        <p:spPr>
          <a:xfrm rot="-173359">
            <a:off x="8755317" y="1056410"/>
            <a:ext cx="269657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2"/>
                </a:solidFill>
                <a:latin typeface="Avenir"/>
                <a:ea typeface="Avenir"/>
                <a:cs typeface="Avenir"/>
                <a:sym typeface="Avenir"/>
              </a:rPr>
              <a:t>Sources of funds</a:t>
            </a:r>
            <a:endParaRPr/>
          </a:p>
        </p:txBody>
      </p:sp>
      <p:sp>
        <p:nvSpPr>
          <p:cNvPr id="217" name="Google Shape;217;p19"/>
          <p:cNvSpPr txBox="1"/>
          <p:nvPr/>
        </p:nvSpPr>
        <p:spPr>
          <a:xfrm>
            <a:off x="3655087" y="500757"/>
            <a:ext cx="5247162"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Supermarket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0"/>
          <p:cNvSpPr txBox="1"/>
          <p:nvPr/>
        </p:nvSpPr>
        <p:spPr>
          <a:xfrm>
            <a:off x="219456" y="280414"/>
            <a:ext cx="11655552" cy="1080000"/>
          </a:xfrm>
          <a:prstGeom prst="rect">
            <a:avLst/>
          </a:prstGeom>
          <a:no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400">
                <a:solidFill>
                  <a:srgbClr val="548135"/>
                </a:solidFill>
                <a:latin typeface="Avenir"/>
                <a:ea typeface="Avenir"/>
                <a:cs typeface="Avenir"/>
                <a:sym typeface="Avenir"/>
              </a:rPr>
              <a:t>A rabble of butterflies</a:t>
            </a:r>
            <a:endParaRPr/>
          </a:p>
        </p:txBody>
      </p:sp>
      <p:grpSp>
        <p:nvGrpSpPr>
          <p:cNvPr id="224" name="Google Shape;224;p20"/>
          <p:cNvGrpSpPr/>
          <p:nvPr/>
        </p:nvGrpSpPr>
        <p:grpSpPr>
          <a:xfrm>
            <a:off x="2652378" y="3186953"/>
            <a:ext cx="2459917" cy="969771"/>
            <a:chOff x="4724045" y="2163347"/>
            <a:chExt cx="6420881" cy="2531298"/>
          </a:xfrm>
        </p:grpSpPr>
        <p:grpSp>
          <p:nvGrpSpPr>
            <p:cNvPr id="225" name="Google Shape;225;p20"/>
            <p:cNvGrpSpPr/>
            <p:nvPr/>
          </p:nvGrpSpPr>
          <p:grpSpPr>
            <a:xfrm>
              <a:off x="7964926" y="2163354"/>
              <a:ext cx="3180000" cy="2531291"/>
              <a:chOff x="6910676" y="1592129"/>
              <a:chExt cx="3180000" cy="2531291"/>
            </a:xfrm>
          </p:grpSpPr>
          <p:sp>
            <p:nvSpPr>
              <p:cNvPr id="226" name="Google Shape;226;p20"/>
              <p:cNvSpPr/>
              <p:nvPr/>
            </p:nvSpPr>
            <p:spPr>
              <a:xfrm rot="-5400000">
                <a:off x="7235046" y="1267790"/>
                <a:ext cx="2531291" cy="3179969"/>
              </a:xfrm>
              <a:prstGeom prst="trapezoid">
                <a:avLst>
                  <a:gd name="adj" fmla="val 10344"/>
                </a:avLst>
              </a:prstGeom>
              <a:solidFill>
                <a:schemeClr val="accent4"/>
              </a:solidFill>
              <a:ln w="12700" cap="flat" cmpd="sng">
                <a:solidFill>
                  <a:srgbClr val="BF9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0"/>
              <p:cNvSpPr txBox="1"/>
              <p:nvPr/>
            </p:nvSpPr>
            <p:spPr>
              <a:xfrm>
                <a:off x="7129977" y="1766672"/>
                <a:ext cx="2960678" cy="21821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a:solidFill>
                    <a:schemeClr val="dk1"/>
                  </a:solidFill>
                  <a:latin typeface="Avenir"/>
                  <a:ea typeface="Avenir"/>
                  <a:cs typeface="Avenir"/>
                  <a:sym typeface="Avenir"/>
                </a:endParaRPr>
              </a:p>
            </p:txBody>
          </p:sp>
          <p:cxnSp>
            <p:nvCxnSpPr>
              <p:cNvPr id="228" name="Google Shape;228;p20"/>
              <p:cNvCxnSpPr>
                <a:endCxn id="226" idx="2"/>
              </p:cNvCxnSpPr>
              <p:nvPr/>
            </p:nvCxnSpPr>
            <p:spPr>
              <a:xfrm>
                <a:off x="6910676" y="2857775"/>
                <a:ext cx="3180000" cy="0"/>
              </a:xfrm>
              <a:prstGeom prst="straightConnector1">
                <a:avLst/>
              </a:prstGeom>
              <a:noFill/>
              <a:ln w="12700" cap="flat" cmpd="sng">
                <a:solidFill>
                  <a:srgbClr val="BF9000"/>
                </a:solidFill>
                <a:prstDash val="solid"/>
                <a:miter lim="800000"/>
                <a:headEnd type="none" w="sm" len="sm"/>
                <a:tailEnd type="none" w="sm" len="sm"/>
              </a:ln>
            </p:spPr>
          </p:cxnSp>
        </p:grpSp>
        <p:sp>
          <p:nvSpPr>
            <p:cNvPr id="229" name="Google Shape;229;p20"/>
            <p:cNvSpPr/>
            <p:nvPr/>
          </p:nvSpPr>
          <p:spPr>
            <a:xfrm rot="5400000">
              <a:off x="5048379" y="1839017"/>
              <a:ext cx="2531298" cy="3179958"/>
            </a:xfrm>
            <a:prstGeom prst="trapezoid">
              <a:avLst>
                <a:gd name="adj" fmla="val 10344"/>
              </a:avLst>
            </a:prstGeom>
            <a:solidFill>
              <a:schemeClr val="accent6"/>
            </a:solidFill>
            <a:ln w="12700" cap="flat" cmpd="sng">
              <a:solidFill>
                <a:srgbClr val="38562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0"/>
            <p:cNvSpPr txBox="1"/>
            <p:nvPr/>
          </p:nvSpPr>
          <p:spPr>
            <a:xfrm rot="10800000">
              <a:off x="4724045" y="2337888"/>
              <a:ext cx="2960668" cy="2182181"/>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a:solidFill>
                  <a:schemeClr val="dk1"/>
                </a:solidFill>
                <a:latin typeface="Avenir"/>
                <a:ea typeface="Avenir"/>
                <a:cs typeface="Avenir"/>
                <a:sym typeface="Avenir"/>
              </a:endParaRPr>
            </a:p>
          </p:txBody>
        </p:sp>
      </p:grpSp>
      <p:sp>
        <p:nvSpPr>
          <p:cNvPr id="231" name="Google Shape;231;p20"/>
          <p:cNvSpPr txBox="1"/>
          <p:nvPr/>
        </p:nvSpPr>
        <p:spPr>
          <a:xfrm>
            <a:off x="3904769" y="3747144"/>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7F6000"/>
                </a:solidFill>
                <a:latin typeface="Avenir"/>
                <a:ea typeface="Avenir"/>
                <a:cs typeface="Avenir"/>
                <a:sym typeface="Avenir"/>
              </a:rPr>
              <a:t>Equity</a:t>
            </a:r>
            <a:endParaRPr/>
          </a:p>
        </p:txBody>
      </p:sp>
      <p:cxnSp>
        <p:nvCxnSpPr>
          <p:cNvPr id="232" name="Google Shape;232;p20"/>
          <p:cNvCxnSpPr/>
          <p:nvPr/>
        </p:nvCxnSpPr>
        <p:spPr>
          <a:xfrm>
            <a:off x="3270324" y="3136710"/>
            <a:ext cx="1075765" cy="0"/>
          </a:xfrm>
          <a:prstGeom prst="straightConnector1">
            <a:avLst/>
          </a:prstGeom>
          <a:noFill/>
          <a:ln w="9525" cap="flat" cmpd="sng">
            <a:solidFill>
              <a:schemeClr val="accent1"/>
            </a:solidFill>
            <a:prstDash val="solid"/>
            <a:miter lim="800000"/>
            <a:headEnd type="none" w="sm" len="sm"/>
            <a:tailEnd type="none" w="sm" len="sm"/>
          </a:ln>
        </p:spPr>
      </p:cxnSp>
      <p:sp>
        <p:nvSpPr>
          <p:cNvPr id="233" name="Google Shape;233;p20"/>
          <p:cNvSpPr txBox="1"/>
          <p:nvPr/>
        </p:nvSpPr>
        <p:spPr>
          <a:xfrm>
            <a:off x="2450674" y="2835508"/>
            <a:ext cx="273244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accent1"/>
                </a:solidFill>
                <a:latin typeface="Avenir"/>
                <a:ea typeface="Avenir"/>
                <a:cs typeface="Avenir"/>
                <a:sym typeface="Avenir"/>
              </a:rPr>
              <a:t>Entity 1</a:t>
            </a:r>
            <a:endParaRPr/>
          </a:p>
        </p:txBody>
      </p:sp>
      <p:sp>
        <p:nvSpPr>
          <p:cNvPr id="234" name="Google Shape;234;p20"/>
          <p:cNvSpPr txBox="1"/>
          <p:nvPr/>
        </p:nvSpPr>
        <p:spPr>
          <a:xfrm>
            <a:off x="3931611" y="3337564"/>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7F6000"/>
                </a:solidFill>
                <a:latin typeface="Avenir"/>
                <a:ea typeface="Avenir"/>
                <a:cs typeface="Avenir"/>
                <a:sym typeface="Avenir"/>
              </a:rPr>
              <a:t>Liabilities</a:t>
            </a:r>
            <a:endParaRPr/>
          </a:p>
        </p:txBody>
      </p:sp>
      <p:sp>
        <p:nvSpPr>
          <p:cNvPr id="235" name="Google Shape;235;p20"/>
          <p:cNvSpPr txBox="1"/>
          <p:nvPr/>
        </p:nvSpPr>
        <p:spPr>
          <a:xfrm>
            <a:off x="2641626" y="3517949"/>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lt1"/>
                </a:solidFill>
                <a:latin typeface="Avenir"/>
                <a:ea typeface="Avenir"/>
                <a:cs typeface="Avenir"/>
                <a:sym typeface="Avenir"/>
              </a:rPr>
              <a:t>Assets</a:t>
            </a:r>
            <a:endParaRPr/>
          </a:p>
        </p:txBody>
      </p:sp>
      <p:grpSp>
        <p:nvGrpSpPr>
          <p:cNvPr id="236" name="Google Shape;236;p20"/>
          <p:cNvGrpSpPr/>
          <p:nvPr/>
        </p:nvGrpSpPr>
        <p:grpSpPr>
          <a:xfrm>
            <a:off x="6865789" y="2194582"/>
            <a:ext cx="2459917" cy="969771"/>
            <a:chOff x="4724045" y="2163347"/>
            <a:chExt cx="6420881" cy="2531298"/>
          </a:xfrm>
        </p:grpSpPr>
        <p:grpSp>
          <p:nvGrpSpPr>
            <p:cNvPr id="237" name="Google Shape;237;p20"/>
            <p:cNvGrpSpPr/>
            <p:nvPr/>
          </p:nvGrpSpPr>
          <p:grpSpPr>
            <a:xfrm>
              <a:off x="7964926" y="2163354"/>
              <a:ext cx="3180000" cy="2531291"/>
              <a:chOff x="6910676" y="1592129"/>
              <a:chExt cx="3180000" cy="2531291"/>
            </a:xfrm>
          </p:grpSpPr>
          <p:sp>
            <p:nvSpPr>
              <p:cNvPr id="238" name="Google Shape;238;p20"/>
              <p:cNvSpPr/>
              <p:nvPr/>
            </p:nvSpPr>
            <p:spPr>
              <a:xfrm rot="-5400000">
                <a:off x="7235046" y="1267790"/>
                <a:ext cx="2531291" cy="3179969"/>
              </a:xfrm>
              <a:prstGeom prst="trapezoid">
                <a:avLst>
                  <a:gd name="adj" fmla="val 10344"/>
                </a:avLst>
              </a:prstGeom>
              <a:solidFill>
                <a:schemeClr val="accent4"/>
              </a:solidFill>
              <a:ln w="12700" cap="flat" cmpd="sng">
                <a:solidFill>
                  <a:srgbClr val="BF9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0"/>
              <p:cNvSpPr txBox="1"/>
              <p:nvPr/>
            </p:nvSpPr>
            <p:spPr>
              <a:xfrm>
                <a:off x="7129977" y="1766672"/>
                <a:ext cx="2960678" cy="21821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a:solidFill>
                    <a:schemeClr val="dk1"/>
                  </a:solidFill>
                  <a:latin typeface="Avenir"/>
                  <a:ea typeface="Avenir"/>
                  <a:cs typeface="Avenir"/>
                  <a:sym typeface="Avenir"/>
                </a:endParaRPr>
              </a:p>
            </p:txBody>
          </p:sp>
          <p:cxnSp>
            <p:nvCxnSpPr>
              <p:cNvPr id="240" name="Google Shape;240;p20"/>
              <p:cNvCxnSpPr>
                <a:endCxn id="238" idx="2"/>
              </p:cNvCxnSpPr>
              <p:nvPr/>
            </p:nvCxnSpPr>
            <p:spPr>
              <a:xfrm>
                <a:off x="6910676" y="2857775"/>
                <a:ext cx="3180000" cy="0"/>
              </a:xfrm>
              <a:prstGeom prst="straightConnector1">
                <a:avLst/>
              </a:prstGeom>
              <a:noFill/>
              <a:ln w="12700" cap="flat" cmpd="sng">
                <a:solidFill>
                  <a:srgbClr val="BF9000"/>
                </a:solidFill>
                <a:prstDash val="solid"/>
                <a:miter lim="800000"/>
                <a:headEnd type="none" w="sm" len="sm"/>
                <a:tailEnd type="none" w="sm" len="sm"/>
              </a:ln>
            </p:spPr>
          </p:cxnSp>
        </p:grpSp>
        <p:sp>
          <p:nvSpPr>
            <p:cNvPr id="241" name="Google Shape;241;p20"/>
            <p:cNvSpPr/>
            <p:nvPr/>
          </p:nvSpPr>
          <p:spPr>
            <a:xfrm rot="5400000">
              <a:off x="5048379" y="1839017"/>
              <a:ext cx="2531298" cy="3179958"/>
            </a:xfrm>
            <a:prstGeom prst="trapezoid">
              <a:avLst>
                <a:gd name="adj" fmla="val 10344"/>
              </a:avLst>
            </a:prstGeom>
            <a:solidFill>
              <a:schemeClr val="accent6"/>
            </a:solidFill>
            <a:ln w="12700" cap="flat" cmpd="sng">
              <a:solidFill>
                <a:srgbClr val="38562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0"/>
            <p:cNvSpPr txBox="1"/>
            <p:nvPr/>
          </p:nvSpPr>
          <p:spPr>
            <a:xfrm rot="10800000">
              <a:off x="4724045" y="2337888"/>
              <a:ext cx="2960668" cy="2182181"/>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a:solidFill>
                  <a:schemeClr val="dk1"/>
                </a:solidFill>
                <a:latin typeface="Avenir"/>
                <a:ea typeface="Avenir"/>
                <a:cs typeface="Avenir"/>
                <a:sym typeface="Avenir"/>
              </a:endParaRPr>
            </a:p>
          </p:txBody>
        </p:sp>
      </p:grpSp>
      <p:sp>
        <p:nvSpPr>
          <p:cNvPr id="243" name="Google Shape;243;p20"/>
          <p:cNvSpPr txBox="1"/>
          <p:nvPr/>
        </p:nvSpPr>
        <p:spPr>
          <a:xfrm>
            <a:off x="8118180" y="2754773"/>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7F6000"/>
                </a:solidFill>
                <a:latin typeface="Avenir"/>
                <a:ea typeface="Avenir"/>
                <a:cs typeface="Avenir"/>
                <a:sym typeface="Avenir"/>
              </a:rPr>
              <a:t>Equity</a:t>
            </a:r>
            <a:endParaRPr/>
          </a:p>
        </p:txBody>
      </p:sp>
      <p:cxnSp>
        <p:nvCxnSpPr>
          <p:cNvPr id="244" name="Google Shape;244;p20"/>
          <p:cNvCxnSpPr/>
          <p:nvPr/>
        </p:nvCxnSpPr>
        <p:spPr>
          <a:xfrm>
            <a:off x="7483735" y="2144339"/>
            <a:ext cx="1075765" cy="0"/>
          </a:xfrm>
          <a:prstGeom prst="straightConnector1">
            <a:avLst/>
          </a:prstGeom>
          <a:noFill/>
          <a:ln w="9525" cap="flat" cmpd="sng">
            <a:solidFill>
              <a:schemeClr val="accent1"/>
            </a:solidFill>
            <a:prstDash val="solid"/>
            <a:miter lim="800000"/>
            <a:headEnd type="none" w="sm" len="sm"/>
            <a:tailEnd type="none" w="sm" len="sm"/>
          </a:ln>
        </p:spPr>
      </p:cxnSp>
      <p:sp>
        <p:nvSpPr>
          <p:cNvPr id="245" name="Google Shape;245;p20"/>
          <p:cNvSpPr txBox="1"/>
          <p:nvPr/>
        </p:nvSpPr>
        <p:spPr>
          <a:xfrm>
            <a:off x="6664085" y="1843137"/>
            <a:ext cx="273244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accent1"/>
                </a:solidFill>
                <a:latin typeface="Avenir"/>
                <a:ea typeface="Avenir"/>
                <a:cs typeface="Avenir"/>
                <a:sym typeface="Avenir"/>
              </a:rPr>
              <a:t>Entity 2</a:t>
            </a:r>
            <a:endParaRPr/>
          </a:p>
        </p:txBody>
      </p:sp>
      <p:sp>
        <p:nvSpPr>
          <p:cNvPr id="246" name="Google Shape;246;p20"/>
          <p:cNvSpPr txBox="1"/>
          <p:nvPr/>
        </p:nvSpPr>
        <p:spPr>
          <a:xfrm>
            <a:off x="8145022" y="2345193"/>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7F6000"/>
                </a:solidFill>
                <a:latin typeface="Avenir"/>
                <a:ea typeface="Avenir"/>
                <a:cs typeface="Avenir"/>
                <a:sym typeface="Avenir"/>
              </a:rPr>
              <a:t>Liabilities</a:t>
            </a:r>
            <a:endParaRPr/>
          </a:p>
        </p:txBody>
      </p:sp>
      <p:sp>
        <p:nvSpPr>
          <p:cNvPr id="247" name="Google Shape;247;p20"/>
          <p:cNvSpPr txBox="1"/>
          <p:nvPr/>
        </p:nvSpPr>
        <p:spPr>
          <a:xfrm>
            <a:off x="6841371" y="2417857"/>
            <a:ext cx="1218281"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lt1"/>
                </a:solidFill>
                <a:latin typeface="Avenir"/>
                <a:ea typeface="Avenir"/>
                <a:cs typeface="Avenir"/>
                <a:sym typeface="Avenir"/>
              </a:rPr>
              <a:t>Loan receivable</a:t>
            </a:r>
            <a:endParaRPr/>
          </a:p>
        </p:txBody>
      </p:sp>
      <p:grpSp>
        <p:nvGrpSpPr>
          <p:cNvPr id="248" name="Google Shape;248;p20"/>
          <p:cNvGrpSpPr/>
          <p:nvPr/>
        </p:nvGrpSpPr>
        <p:grpSpPr>
          <a:xfrm>
            <a:off x="6832566" y="4408859"/>
            <a:ext cx="2459917" cy="969771"/>
            <a:chOff x="4724045" y="2163347"/>
            <a:chExt cx="6420881" cy="2531298"/>
          </a:xfrm>
        </p:grpSpPr>
        <p:grpSp>
          <p:nvGrpSpPr>
            <p:cNvPr id="249" name="Google Shape;249;p20"/>
            <p:cNvGrpSpPr/>
            <p:nvPr/>
          </p:nvGrpSpPr>
          <p:grpSpPr>
            <a:xfrm>
              <a:off x="7964926" y="2163354"/>
              <a:ext cx="3180000" cy="2531291"/>
              <a:chOff x="6910676" y="1592129"/>
              <a:chExt cx="3180000" cy="2531291"/>
            </a:xfrm>
          </p:grpSpPr>
          <p:sp>
            <p:nvSpPr>
              <p:cNvPr id="250" name="Google Shape;250;p20"/>
              <p:cNvSpPr/>
              <p:nvPr/>
            </p:nvSpPr>
            <p:spPr>
              <a:xfrm rot="-5400000">
                <a:off x="7235046" y="1267790"/>
                <a:ext cx="2531291" cy="3179969"/>
              </a:xfrm>
              <a:prstGeom prst="trapezoid">
                <a:avLst>
                  <a:gd name="adj" fmla="val 10344"/>
                </a:avLst>
              </a:prstGeom>
              <a:solidFill>
                <a:schemeClr val="accent4"/>
              </a:solidFill>
              <a:ln w="12700" cap="flat" cmpd="sng">
                <a:solidFill>
                  <a:srgbClr val="BF9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0"/>
              <p:cNvSpPr txBox="1"/>
              <p:nvPr/>
            </p:nvSpPr>
            <p:spPr>
              <a:xfrm>
                <a:off x="7129977" y="1766672"/>
                <a:ext cx="2960678" cy="21821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a:solidFill>
                    <a:schemeClr val="dk1"/>
                  </a:solidFill>
                  <a:latin typeface="Avenir"/>
                  <a:ea typeface="Avenir"/>
                  <a:cs typeface="Avenir"/>
                  <a:sym typeface="Avenir"/>
                </a:endParaRPr>
              </a:p>
            </p:txBody>
          </p:sp>
          <p:cxnSp>
            <p:nvCxnSpPr>
              <p:cNvPr id="252" name="Google Shape;252;p20"/>
              <p:cNvCxnSpPr>
                <a:endCxn id="250" idx="2"/>
              </p:cNvCxnSpPr>
              <p:nvPr/>
            </p:nvCxnSpPr>
            <p:spPr>
              <a:xfrm>
                <a:off x="6910676" y="2857775"/>
                <a:ext cx="3180000" cy="0"/>
              </a:xfrm>
              <a:prstGeom prst="straightConnector1">
                <a:avLst/>
              </a:prstGeom>
              <a:noFill/>
              <a:ln w="12700" cap="flat" cmpd="sng">
                <a:solidFill>
                  <a:srgbClr val="BF9000"/>
                </a:solidFill>
                <a:prstDash val="solid"/>
                <a:miter lim="800000"/>
                <a:headEnd type="none" w="sm" len="sm"/>
                <a:tailEnd type="none" w="sm" len="sm"/>
              </a:ln>
            </p:spPr>
          </p:cxnSp>
        </p:grpSp>
        <p:sp>
          <p:nvSpPr>
            <p:cNvPr id="253" name="Google Shape;253;p20"/>
            <p:cNvSpPr/>
            <p:nvPr/>
          </p:nvSpPr>
          <p:spPr>
            <a:xfrm rot="5400000">
              <a:off x="5048379" y="1839017"/>
              <a:ext cx="2531298" cy="3179958"/>
            </a:xfrm>
            <a:prstGeom prst="trapezoid">
              <a:avLst>
                <a:gd name="adj" fmla="val 10344"/>
              </a:avLst>
            </a:prstGeom>
            <a:solidFill>
              <a:schemeClr val="accent6"/>
            </a:solidFill>
            <a:ln w="12700" cap="flat" cmpd="sng">
              <a:solidFill>
                <a:srgbClr val="38562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0"/>
            <p:cNvSpPr txBox="1"/>
            <p:nvPr/>
          </p:nvSpPr>
          <p:spPr>
            <a:xfrm rot="10800000">
              <a:off x="4724045" y="2337888"/>
              <a:ext cx="2960668" cy="2182181"/>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endParaRPr sz="1979">
                <a:solidFill>
                  <a:schemeClr val="dk1"/>
                </a:solidFill>
                <a:latin typeface="Avenir"/>
                <a:ea typeface="Avenir"/>
                <a:cs typeface="Avenir"/>
                <a:sym typeface="Avenir"/>
              </a:endParaRPr>
            </a:p>
          </p:txBody>
        </p:sp>
      </p:grpSp>
      <p:sp>
        <p:nvSpPr>
          <p:cNvPr id="255" name="Google Shape;255;p20"/>
          <p:cNvSpPr txBox="1"/>
          <p:nvPr/>
        </p:nvSpPr>
        <p:spPr>
          <a:xfrm>
            <a:off x="8084957" y="4969050"/>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7F6000"/>
                </a:solidFill>
                <a:latin typeface="Avenir"/>
                <a:ea typeface="Avenir"/>
                <a:cs typeface="Avenir"/>
                <a:sym typeface="Avenir"/>
              </a:rPr>
              <a:t>Equity</a:t>
            </a:r>
            <a:endParaRPr/>
          </a:p>
        </p:txBody>
      </p:sp>
      <p:cxnSp>
        <p:nvCxnSpPr>
          <p:cNvPr id="256" name="Google Shape;256;p20"/>
          <p:cNvCxnSpPr/>
          <p:nvPr/>
        </p:nvCxnSpPr>
        <p:spPr>
          <a:xfrm>
            <a:off x="7450512" y="4358616"/>
            <a:ext cx="1075765" cy="0"/>
          </a:xfrm>
          <a:prstGeom prst="straightConnector1">
            <a:avLst/>
          </a:prstGeom>
          <a:noFill/>
          <a:ln w="9525" cap="flat" cmpd="sng">
            <a:solidFill>
              <a:schemeClr val="accent1"/>
            </a:solidFill>
            <a:prstDash val="solid"/>
            <a:miter lim="800000"/>
            <a:headEnd type="none" w="sm" len="sm"/>
            <a:tailEnd type="none" w="sm" len="sm"/>
          </a:ln>
        </p:spPr>
      </p:cxnSp>
      <p:sp>
        <p:nvSpPr>
          <p:cNvPr id="257" name="Google Shape;257;p20"/>
          <p:cNvSpPr txBox="1"/>
          <p:nvPr/>
        </p:nvSpPr>
        <p:spPr>
          <a:xfrm>
            <a:off x="6630862" y="4057414"/>
            <a:ext cx="273244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accent1"/>
                </a:solidFill>
                <a:latin typeface="Avenir"/>
                <a:ea typeface="Avenir"/>
                <a:cs typeface="Avenir"/>
                <a:sym typeface="Avenir"/>
              </a:rPr>
              <a:t>Entity 3</a:t>
            </a:r>
            <a:endParaRPr/>
          </a:p>
        </p:txBody>
      </p:sp>
      <p:sp>
        <p:nvSpPr>
          <p:cNvPr id="258" name="Google Shape;258;p20"/>
          <p:cNvSpPr txBox="1"/>
          <p:nvPr/>
        </p:nvSpPr>
        <p:spPr>
          <a:xfrm>
            <a:off x="8111799" y="4559470"/>
            <a:ext cx="121828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7F6000"/>
                </a:solidFill>
                <a:latin typeface="Avenir"/>
                <a:ea typeface="Avenir"/>
                <a:cs typeface="Avenir"/>
                <a:sym typeface="Avenir"/>
              </a:rPr>
              <a:t>Liabilities</a:t>
            </a:r>
            <a:endParaRPr/>
          </a:p>
        </p:txBody>
      </p:sp>
      <p:sp>
        <p:nvSpPr>
          <p:cNvPr id="259" name="Google Shape;259;p20"/>
          <p:cNvSpPr txBox="1"/>
          <p:nvPr/>
        </p:nvSpPr>
        <p:spPr>
          <a:xfrm>
            <a:off x="6809218" y="4655059"/>
            <a:ext cx="1218281"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lt1"/>
                </a:solidFill>
                <a:latin typeface="Avenir"/>
                <a:ea typeface="Avenir"/>
                <a:cs typeface="Avenir"/>
                <a:sym typeface="Avenir"/>
              </a:rPr>
              <a:t>Investment in equity</a:t>
            </a:r>
            <a:endParaRPr/>
          </a:p>
        </p:txBody>
      </p:sp>
      <p:sp>
        <p:nvSpPr>
          <p:cNvPr id="260" name="Google Shape;260;p20"/>
          <p:cNvSpPr/>
          <p:nvPr/>
        </p:nvSpPr>
        <p:spPr>
          <a:xfrm rot="-6873230" flipH="1">
            <a:off x="4939767" y="2817001"/>
            <a:ext cx="2190627" cy="2184541"/>
          </a:xfrm>
          <a:prstGeom prst="arc">
            <a:avLst>
              <a:gd name="adj1" fmla="val 16200000"/>
              <a:gd name="adj2" fmla="val 0"/>
            </a:avLst>
          </a:prstGeom>
          <a:noFill/>
          <a:ln w="114300" cap="flat" cmpd="sng">
            <a:solidFill>
              <a:srgbClr val="FF2F92"/>
            </a:solidFill>
            <a:prstDash val="solid"/>
            <a:miter lim="800000"/>
            <a:headEnd type="triangle"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venir"/>
              <a:ea typeface="Avenir"/>
              <a:cs typeface="Avenir"/>
              <a:sym typeface="Avenir"/>
            </a:endParaRPr>
          </a:p>
        </p:txBody>
      </p:sp>
      <p:sp>
        <p:nvSpPr>
          <p:cNvPr id="261" name="Google Shape;261;p20"/>
          <p:cNvSpPr/>
          <p:nvPr/>
        </p:nvSpPr>
        <p:spPr>
          <a:xfrm rot="-3420519">
            <a:off x="4998137" y="2462358"/>
            <a:ext cx="2190627" cy="2184541"/>
          </a:xfrm>
          <a:prstGeom prst="arc">
            <a:avLst>
              <a:gd name="adj1" fmla="val 16200000"/>
              <a:gd name="adj2" fmla="val 0"/>
            </a:avLst>
          </a:prstGeom>
          <a:noFill/>
          <a:ln w="114300" cap="flat" cmpd="sng">
            <a:solidFill>
              <a:srgbClr val="FF2F92"/>
            </a:solidFill>
            <a:prstDash val="solid"/>
            <a:miter lim="800000"/>
            <a:headEnd type="triangle"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E599"/>
        </a:solidFill>
        <a:effectLst/>
      </p:bgPr>
    </p:bg>
    <p:spTree>
      <p:nvGrpSpPr>
        <p:cNvPr id="1" name="Shape 266"/>
        <p:cNvGrpSpPr/>
        <p:nvPr/>
      </p:nvGrpSpPr>
      <p:grpSpPr>
        <a:xfrm>
          <a:off x="0" y="0"/>
          <a:ext cx="0" cy="0"/>
          <a:chOff x="0" y="0"/>
          <a:chExt cx="0" cy="0"/>
        </a:xfrm>
      </p:grpSpPr>
      <p:sp>
        <p:nvSpPr>
          <p:cNvPr id="267" name="Google Shape;267;p21"/>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000" b="1">
                <a:solidFill>
                  <a:schemeClr val="accent4"/>
                </a:solidFill>
                <a:latin typeface="Avenir"/>
                <a:ea typeface="Avenir"/>
                <a:cs typeface="Avenir"/>
                <a:sym typeface="Avenir"/>
              </a:rPr>
              <a:t>3.  Deriving profit</a:t>
            </a:r>
            <a:endParaRPr/>
          </a:p>
        </p:txBody>
      </p:sp>
      <p:sp>
        <p:nvSpPr>
          <p:cNvPr id="268" name="Google Shape;268;p21"/>
          <p:cNvSpPr txBox="1"/>
          <p:nvPr/>
        </p:nvSpPr>
        <p:spPr>
          <a:xfrm>
            <a:off x="6281577" y="4413692"/>
            <a:ext cx="4107600" cy="1170000"/>
          </a:xfrm>
          <a:prstGeom prst="rect">
            <a:avLst/>
          </a:prstGeom>
          <a:solidFill>
            <a:srgbClr val="FFF2CC"/>
          </a:solidFill>
          <a:ln w="76200" cap="flat" cmpd="sng">
            <a:solidFill>
              <a:schemeClr val="accen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rgbClr val="C55A11"/>
                </a:solidFill>
                <a:latin typeface="Avenir"/>
                <a:ea typeface="Avenir"/>
                <a:cs typeface="Avenir"/>
                <a:sym typeface="Avenir"/>
              </a:rPr>
              <a:t>Equity</a:t>
            </a:r>
            <a:r>
              <a:rPr lang="en-US" sz="2800" b="1">
                <a:solidFill>
                  <a:srgbClr val="FFF2CC"/>
                </a:solidFill>
                <a:latin typeface="Avenir"/>
                <a:ea typeface="Avenir"/>
                <a:cs typeface="Avenir"/>
                <a:sym typeface="Avenir"/>
              </a:rPr>
              <a:t>_ </a:t>
            </a:r>
            <a:endParaRPr/>
          </a:p>
        </p:txBody>
      </p:sp>
      <p:sp>
        <p:nvSpPr>
          <p:cNvPr id="269" name="Google Shape;269;p21"/>
          <p:cNvSpPr txBox="1"/>
          <p:nvPr/>
        </p:nvSpPr>
        <p:spPr>
          <a:xfrm>
            <a:off x="6281577" y="3079513"/>
            <a:ext cx="4107600" cy="1170000"/>
          </a:xfrm>
          <a:prstGeom prst="rect">
            <a:avLst/>
          </a:prstGeom>
          <a:solidFill>
            <a:srgbClr val="FFF2CC"/>
          </a:solidFill>
          <a:ln w="76200" cap="flat" cmpd="sng">
            <a:solidFill>
              <a:schemeClr val="accen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rgbClr val="C55A11"/>
                </a:solidFill>
                <a:latin typeface="Avenir"/>
                <a:ea typeface="Avenir"/>
                <a:cs typeface="Avenir"/>
                <a:sym typeface="Avenir"/>
              </a:rPr>
              <a:t>Liabilities</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270" name="Google Shape;270;p21"/>
          <p:cNvSpPr txBox="1"/>
          <p:nvPr/>
        </p:nvSpPr>
        <p:spPr>
          <a:xfrm>
            <a:off x="1990165" y="3079513"/>
            <a:ext cx="4100938" cy="2514464"/>
          </a:xfrm>
          <a:prstGeom prst="rect">
            <a:avLst/>
          </a:prstGeom>
          <a:solidFill>
            <a:srgbClr val="C4E0B2"/>
          </a:solidFill>
          <a:ln w="76200" cap="flat" cmpd="sng">
            <a:solidFill>
              <a:srgbClr val="548135"/>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rgbClr val="C4E0B2"/>
                </a:solidFill>
                <a:latin typeface="Avenir"/>
                <a:ea typeface="Avenir"/>
                <a:cs typeface="Avenir"/>
                <a:sym typeface="Avenir"/>
              </a:rPr>
              <a:t>_</a:t>
            </a:r>
            <a:r>
              <a:rPr lang="en-US" sz="2800" b="1">
                <a:solidFill>
                  <a:srgbClr val="385623"/>
                </a:solidFill>
                <a:latin typeface="Avenir"/>
                <a:ea typeface="Avenir"/>
                <a:cs typeface="Avenir"/>
                <a:sym typeface="Avenir"/>
              </a:rPr>
              <a:t>Assets</a:t>
            </a:r>
            <a:endParaRPr/>
          </a:p>
        </p:txBody>
      </p:sp>
      <p:sp>
        <p:nvSpPr>
          <p:cNvPr id="271" name="Google Shape;271;p21"/>
          <p:cNvSpPr txBox="1"/>
          <p:nvPr/>
        </p:nvSpPr>
        <p:spPr>
          <a:xfrm>
            <a:off x="1990165" y="2236047"/>
            <a:ext cx="4100938" cy="645458"/>
          </a:xfrm>
          <a:prstGeom prst="rect">
            <a:avLst/>
          </a:prstGeom>
          <a:solidFill>
            <a:srgbClr val="548135"/>
          </a:solidFill>
          <a:ln w="762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Avenir"/>
                <a:ea typeface="Avenir"/>
                <a:cs typeface="Avenir"/>
                <a:sym typeface="Avenir"/>
              </a:rPr>
              <a:t>Uses of funds</a:t>
            </a:r>
            <a:endParaRPr/>
          </a:p>
        </p:txBody>
      </p:sp>
      <p:sp>
        <p:nvSpPr>
          <p:cNvPr id="272" name="Google Shape;272;p21"/>
          <p:cNvSpPr txBox="1"/>
          <p:nvPr/>
        </p:nvSpPr>
        <p:spPr>
          <a:xfrm>
            <a:off x="6281577" y="2236047"/>
            <a:ext cx="4100938" cy="645458"/>
          </a:xfrm>
          <a:prstGeom prst="rect">
            <a:avLst/>
          </a:prstGeom>
          <a:solidFill>
            <a:schemeClr val="accent2"/>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Avenir"/>
                <a:ea typeface="Avenir"/>
                <a:cs typeface="Avenir"/>
                <a:sym typeface="Avenir"/>
              </a:rPr>
              <a:t>Sources of funds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2"/>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279" name="Google Shape;279;p22"/>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280" name="Google Shape;280;p22"/>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281" name="Google Shape;281;p22"/>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282" name="Google Shape;282;p22"/>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sp>
        <p:nvSpPr>
          <p:cNvPr id="283" name="Google Shape;283;p22"/>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284" name="Google Shape;284;p22"/>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3"/>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291" name="Google Shape;291;p23"/>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292" name="Google Shape;292;p23"/>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293" name="Google Shape;293;p23"/>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294" name="Google Shape;294;p23"/>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sp>
        <p:nvSpPr>
          <p:cNvPr id="295" name="Google Shape;295;p23"/>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296" name="Google Shape;296;p23"/>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297" name="Google Shape;297;p23"/>
          <p:cNvSpPr txBox="1"/>
          <p:nvPr/>
        </p:nvSpPr>
        <p:spPr>
          <a:xfrm>
            <a:off x="8116806" y="1712085"/>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298" name="Google Shape;298;p23"/>
          <p:cNvSpPr txBox="1"/>
          <p:nvPr/>
        </p:nvSpPr>
        <p:spPr>
          <a:xfrm>
            <a:off x="8474269" y="1861724"/>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sp>
        <p:nvSpPr>
          <p:cNvPr id="299" name="Google Shape;299;p23"/>
          <p:cNvSpPr txBox="1"/>
          <p:nvPr/>
        </p:nvSpPr>
        <p:spPr>
          <a:xfrm>
            <a:off x="2330580" y="2088341"/>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00" name="Google Shape;300;p23"/>
          <p:cNvSpPr txBox="1"/>
          <p:nvPr/>
        </p:nvSpPr>
        <p:spPr>
          <a:xfrm>
            <a:off x="3861090" y="1965230"/>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01" name="Google Shape;301;p23"/>
          <p:cNvSpPr txBox="1"/>
          <p:nvPr/>
        </p:nvSpPr>
        <p:spPr>
          <a:xfrm>
            <a:off x="4235546" y="2088341"/>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sp>
        <p:nvSpPr>
          <p:cNvPr id="302" name="Google Shape;302;p23"/>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9"/>
                                        </p:tgtEl>
                                        <p:attrNameLst>
                                          <p:attrName>style.visibility</p:attrName>
                                        </p:attrNameLst>
                                      </p:cBhvr>
                                      <p:to>
                                        <p:strVal val="visible"/>
                                      </p:to>
                                    </p:set>
                                    <p:animEffect transition="in" filter="fade">
                                      <p:cBhvr>
                                        <p:cTn id="7" dur="500"/>
                                        <p:tgtEl>
                                          <p:spTgt spid="299"/>
                                        </p:tgtEl>
                                      </p:cBhvr>
                                    </p:animEffect>
                                  </p:childTnLst>
                                </p:cTn>
                              </p:par>
                              <p:par>
                                <p:cTn id="8" presetID="10" presetClass="entr" presetSubtype="0" fill="hold" nodeType="withEffect">
                                  <p:stCondLst>
                                    <p:cond delay="0"/>
                                  </p:stCondLst>
                                  <p:childTnLst>
                                    <p:set>
                                      <p:cBhvr>
                                        <p:cTn id="9" dur="1" fill="hold">
                                          <p:stCondLst>
                                            <p:cond delay="0"/>
                                          </p:stCondLst>
                                        </p:cTn>
                                        <p:tgtEl>
                                          <p:spTgt spid="296"/>
                                        </p:tgtEl>
                                        <p:attrNameLst>
                                          <p:attrName>style.visibility</p:attrName>
                                        </p:attrNameLst>
                                      </p:cBhvr>
                                      <p:to>
                                        <p:strVal val="visible"/>
                                      </p:to>
                                    </p:set>
                                    <p:animEffect transition="in" filter="fade">
                                      <p:cBhvr>
                                        <p:cTn id="10" dur="500"/>
                                        <p:tgtEl>
                                          <p:spTgt spid="296"/>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nodeType="clickEffect">
                                  <p:stCondLst>
                                    <p:cond delay="0"/>
                                  </p:stCondLst>
                                  <p:childTnLst>
                                    <p:set>
                                      <p:cBhvr>
                                        <p:cTn id="14" dur="1" fill="hold">
                                          <p:stCondLst>
                                            <p:cond delay="0"/>
                                          </p:stCondLst>
                                        </p:cTn>
                                        <p:tgtEl>
                                          <p:spTgt spid="300"/>
                                        </p:tgtEl>
                                        <p:attrNameLst>
                                          <p:attrName>style.visibility</p:attrName>
                                        </p:attrNameLst>
                                      </p:cBhvr>
                                      <p:to>
                                        <p:strVal val="visible"/>
                                      </p:to>
                                    </p:set>
                                    <p:anim calcmode="lin" valueType="num">
                                      <p:cBhvr additive="base">
                                        <p:cTn id="15" dur="500"/>
                                        <p:tgtEl>
                                          <p:spTgt spid="300"/>
                                        </p:tgtEl>
                                        <p:attrNameLst>
                                          <p:attrName>ppt_w</p:attrName>
                                        </p:attrNameLst>
                                      </p:cBhvr>
                                      <p:tavLst>
                                        <p:tav tm="0">
                                          <p:val>
                                            <p:strVal val="0"/>
                                          </p:val>
                                        </p:tav>
                                        <p:tav tm="100000">
                                          <p:val>
                                            <p:strVal val="#ppt_w"/>
                                          </p:val>
                                        </p:tav>
                                      </p:tavLst>
                                    </p:anim>
                                    <p:anim calcmode="lin" valueType="num">
                                      <p:cBhvr additive="base">
                                        <p:cTn id="16" dur="500"/>
                                        <p:tgtEl>
                                          <p:spTgt spid="300"/>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01"/>
                                        </p:tgtEl>
                                        <p:attrNameLst>
                                          <p:attrName>style.visibility</p:attrName>
                                        </p:attrNameLst>
                                      </p:cBhvr>
                                      <p:to>
                                        <p:strVal val="visible"/>
                                      </p:to>
                                    </p:set>
                                    <p:animEffect transition="in" filter="fade">
                                      <p:cBhvr>
                                        <p:cTn id="21" dur="500"/>
                                        <p:tgtEl>
                                          <p:spTgt spid="301"/>
                                        </p:tgtEl>
                                      </p:cBhvr>
                                    </p:animEffect>
                                  </p:childTnLst>
                                </p:cTn>
                              </p:par>
                            </p:childTnLst>
                          </p:cTn>
                        </p:par>
                      </p:childTnLst>
                    </p:cTn>
                  </p:par>
                  <p:par>
                    <p:cTn id="22" fill="hold">
                      <p:stCondLst>
                        <p:cond delay="indefinite"/>
                      </p:stCondLst>
                      <p:childTnLst>
                        <p:par>
                          <p:cTn id="23" fill="hold">
                            <p:stCondLst>
                              <p:cond delay="0"/>
                            </p:stCondLst>
                            <p:childTnLst>
                              <p:par>
                                <p:cTn id="24" presetID="23" presetClass="entr" presetSubtype="16" fill="hold" nodeType="clickEffect">
                                  <p:stCondLst>
                                    <p:cond delay="0"/>
                                  </p:stCondLst>
                                  <p:childTnLst>
                                    <p:set>
                                      <p:cBhvr>
                                        <p:cTn id="25" dur="1" fill="hold">
                                          <p:stCondLst>
                                            <p:cond delay="0"/>
                                          </p:stCondLst>
                                        </p:cTn>
                                        <p:tgtEl>
                                          <p:spTgt spid="297"/>
                                        </p:tgtEl>
                                        <p:attrNameLst>
                                          <p:attrName>style.visibility</p:attrName>
                                        </p:attrNameLst>
                                      </p:cBhvr>
                                      <p:to>
                                        <p:strVal val="visible"/>
                                      </p:to>
                                    </p:set>
                                    <p:anim calcmode="lin" valueType="num">
                                      <p:cBhvr additive="base">
                                        <p:cTn id="26" dur="500"/>
                                        <p:tgtEl>
                                          <p:spTgt spid="297"/>
                                        </p:tgtEl>
                                        <p:attrNameLst>
                                          <p:attrName>ppt_w</p:attrName>
                                        </p:attrNameLst>
                                      </p:cBhvr>
                                      <p:tavLst>
                                        <p:tav tm="0">
                                          <p:val>
                                            <p:strVal val="0"/>
                                          </p:val>
                                        </p:tav>
                                        <p:tav tm="100000">
                                          <p:val>
                                            <p:strVal val="#ppt_w"/>
                                          </p:val>
                                        </p:tav>
                                      </p:tavLst>
                                    </p:anim>
                                    <p:anim calcmode="lin" valueType="num">
                                      <p:cBhvr additive="base">
                                        <p:cTn id="27" dur="500"/>
                                        <p:tgtEl>
                                          <p:spTgt spid="297"/>
                                        </p:tgtEl>
                                        <p:attrNameLst>
                                          <p:attrName>ppt_h</p:attrName>
                                        </p:attrNameLst>
                                      </p:cBhvr>
                                      <p:tavLst>
                                        <p:tav tm="0">
                                          <p:val>
                                            <p:strVal val="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8"/>
                                        </p:tgtEl>
                                        <p:attrNameLst>
                                          <p:attrName>style.visibility</p:attrName>
                                        </p:attrNameLst>
                                      </p:cBhvr>
                                      <p:to>
                                        <p:strVal val="visible"/>
                                      </p:to>
                                    </p:set>
                                    <p:animEffect transition="in" filter="fade">
                                      <p:cBhvr>
                                        <p:cTn id="32" dur="500"/>
                                        <p:tgtEl>
                                          <p:spTgt spid="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4"/>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309" name="Google Shape;309;p24"/>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310" name="Google Shape;310;p24"/>
          <p:cNvGrpSpPr/>
          <p:nvPr/>
        </p:nvGrpSpPr>
        <p:grpSpPr>
          <a:xfrm>
            <a:off x="8116806" y="1712085"/>
            <a:ext cx="1484695" cy="611304"/>
            <a:chOff x="2640082" y="2202430"/>
            <a:chExt cx="1288807" cy="611304"/>
          </a:xfrm>
        </p:grpSpPr>
        <p:sp>
          <p:nvSpPr>
            <p:cNvPr id="311" name="Google Shape;311;p24"/>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12" name="Google Shape;312;p24"/>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sp>
        <p:nvSpPr>
          <p:cNvPr id="313" name="Google Shape;313;p24"/>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314" name="Google Shape;314;p24"/>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315" name="Google Shape;315;p24"/>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316" name="Google Shape;316;p24"/>
          <p:cNvGrpSpPr/>
          <p:nvPr/>
        </p:nvGrpSpPr>
        <p:grpSpPr>
          <a:xfrm>
            <a:off x="2330580" y="1965230"/>
            <a:ext cx="3032198" cy="584776"/>
            <a:chOff x="1116105" y="2252876"/>
            <a:chExt cx="3032198" cy="584776"/>
          </a:xfrm>
        </p:grpSpPr>
        <p:sp>
          <p:nvSpPr>
            <p:cNvPr id="317" name="Google Shape;317;p24"/>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18" name="Google Shape;318;p24"/>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19" name="Google Shape;319;p24"/>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sp>
        <p:nvSpPr>
          <p:cNvPr id="320" name="Google Shape;320;p24"/>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321" name="Google Shape;321;p24"/>
          <p:cNvSpPr txBox="1"/>
          <p:nvPr/>
        </p:nvSpPr>
        <p:spPr>
          <a:xfrm>
            <a:off x="6457623" y="2719983"/>
            <a:ext cx="1863011"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322" name="Google Shape;322;p24"/>
          <p:cNvSpPr txBox="1"/>
          <p:nvPr/>
        </p:nvSpPr>
        <p:spPr>
          <a:xfrm>
            <a:off x="8332907" y="2913146"/>
            <a:ext cx="38984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23" name="Google Shape;323;p24"/>
          <p:cNvSpPr txBox="1"/>
          <p:nvPr/>
        </p:nvSpPr>
        <p:spPr>
          <a:xfrm>
            <a:off x="8686928" y="3036256"/>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sp>
        <p:nvSpPr>
          <p:cNvPr id="324" name="Google Shape;324;p24"/>
          <p:cNvSpPr txBox="1"/>
          <p:nvPr/>
        </p:nvSpPr>
        <p:spPr>
          <a:xfrm>
            <a:off x="2330580" y="2734672"/>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25" name="Google Shape;325;p24"/>
          <p:cNvSpPr txBox="1"/>
          <p:nvPr/>
        </p:nvSpPr>
        <p:spPr>
          <a:xfrm>
            <a:off x="3861090" y="258659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26" name="Google Shape;326;p24"/>
          <p:cNvSpPr txBox="1"/>
          <p:nvPr/>
        </p:nvSpPr>
        <p:spPr>
          <a:xfrm>
            <a:off x="4235546" y="2734672"/>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sp>
        <p:nvSpPr>
          <p:cNvPr id="327" name="Google Shape;327;p24"/>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328" name="Google Shape;328;p24"/>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4"/>
                                        </p:tgtEl>
                                        <p:attrNameLst>
                                          <p:attrName>style.visibility</p:attrName>
                                        </p:attrNameLst>
                                      </p:cBhvr>
                                      <p:to>
                                        <p:strVal val="visible"/>
                                      </p:to>
                                    </p:set>
                                    <p:animEffect transition="in" filter="fade">
                                      <p:cBhvr>
                                        <p:cTn id="7" dur="500"/>
                                        <p:tgtEl>
                                          <p:spTgt spid="3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1"/>
                                        </p:tgtEl>
                                        <p:attrNameLst>
                                          <p:attrName>style.visibility</p:attrName>
                                        </p:attrNameLst>
                                      </p:cBhvr>
                                      <p:to>
                                        <p:strVal val="visible"/>
                                      </p:to>
                                    </p:set>
                                    <p:animEffect transition="in" filter="fade">
                                      <p:cBhvr>
                                        <p:cTn id="12" dur="500"/>
                                        <p:tgtEl>
                                          <p:spTgt spid="321"/>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325"/>
                                        </p:tgtEl>
                                        <p:attrNameLst>
                                          <p:attrName>style.visibility</p:attrName>
                                        </p:attrNameLst>
                                      </p:cBhvr>
                                      <p:to>
                                        <p:strVal val="visible"/>
                                      </p:to>
                                    </p:set>
                                    <p:anim calcmode="lin" valueType="num">
                                      <p:cBhvr additive="base">
                                        <p:cTn id="17" dur="500"/>
                                        <p:tgtEl>
                                          <p:spTgt spid="325"/>
                                        </p:tgtEl>
                                        <p:attrNameLst>
                                          <p:attrName>ppt_w</p:attrName>
                                        </p:attrNameLst>
                                      </p:cBhvr>
                                      <p:tavLst>
                                        <p:tav tm="0">
                                          <p:val>
                                            <p:strVal val="0"/>
                                          </p:val>
                                        </p:tav>
                                        <p:tav tm="100000">
                                          <p:val>
                                            <p:strVal val="#ppt_w"/>
                                          </p:val>
                                        </p:tav>
                                      </p:tavLst>
                                    </p:anim>
                                    <p:anim calcmode="lin" valueType="num">
                                      <p:cBhvr additive="base">
                                        <p:cTn id="18" dur="500"/>
                                        <p:tgtEl>
                                          <p:spTgt spid="325"/>
                                        </p:tgtEl>
                                        <p:attrNameLst>
                                          <p:attrName>ppt_h</p:attrName>
                                        </p:attrNameLst>
                                      </p:cBhvr>
                                      <p:tavLst>
                                        <p:tav tm="0">
                                          <p:val>
                                            <p:str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6"/>
                                        </p:tgtEl>
                                        <p:attrNameLst>
                                          <p:attrName>style.visibility</p:attrName>
                                        </p:attrNameLst>
                                      </p:cBhvr>
                                      <p:to>
                                        <p:strVal val="visible"/>
                                      </p:to>
                                    </p:set>
                                    <p:animEffect transition="in" filter="fade">
                                      <p:cBhvr>
                                        <p:cTn id="23" dur="500"/>
                                        <p:tgtEl>
                                          <p:spTgt spid="326"/>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322"/>
                                        </p:tgtEl>
                                        <p:attrNameLst>
                                          <p:attrName>style.visibility</p:attrName>
                                        </p:attrNameLst>
                                      </p:cBhvr>
                                      <p:to>
                                        <p:strVal val="visible"/>
                                      </p:to>
                                    </p:set>
                                    <p:anim calcmode="lin" valueType="num">
                                      <p:cBhvr additive="base">
                                        <p:cTn id="28" dur="500"/>
                                        <p:tgtEl>
                                          <p:spTgt spid="322"/>
                                        </p:tgtEl>
                                        <p:attrNameLst>
                                          <p:attrName>ppt_w</p:attrName>
                                        </p:attrNameLst>
                                      </p:cBhvr>
                                      <p:tavLst>
                                        <p:tav tm="0">
                                          <p:val>
                                            <p:strVal val="0"/>
                                          </p:val>
                                        </p:tav>
                                        <p:tav tm="100000">
                                          <p:val>
                                            <p:strVal val="#ppt_w"/>
                                          </p:val>
                                        </p:tav>
                                      </p:tavLst>
                                    </p:anim>
                                    <p:anim calcmode="lin" valueType="num">
                                      <p:cBhvr additive="base">
                                        <p:cTn id="29" dur="500"/>
                                        <p:tgtEl>
                                          <p:spTgt spid="322"/>
                                        </p:tgtEl>
                                        <p:attrNameLst>
                                          <p:attrName>ppt_h</p:attrName>
                                        </p:attrNameLst>
                                      </p:cBhvr>
                                      <p:tavLst>
                                        <p:tav tm="0">
                                          <p:val>
                                            <p:str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23"/>
                                        </p:tgtEl>
                                        <p:attrNameLst>
                                          <p:attrName>style.visibility</p:attrName>
                                        </p:attrNameLst>
                                      </p:cBhvr>
                                      <p:to>
                                        <p:strVal val="visible"/>
                                      </p:to>
                                    </p:set>
                                    <p:animEffect transition="in" filter="fade">
                                      <p:cBhvr>
                                        <p:cTn id="34" dur="500"/>
                                        <p:tgtEl>
                                          <p:spTgt spid="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5"/>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335" name="Google Shape;335;p25"/>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336" name="Google Shape;336;p25"/>
          <p:cNvGrpSpPr/>
          <p:nvPr/>
        </p:nvGrpSpPr>
        <p:grpSpPr>
          <a:xfrm>
            <a:off x="8116806" y="1712085"/>
            <a:ext cx="1484695" cy="611304"/>
            <a:chOff x="2640082" y="2202430"/>
            <a:chExt cx="1288807" cy="611304"/>
          </a:xfrm>
        </p:grpSpPr>
        <p:sp>
          <p:nvSpPr>
            <p:cNvPr id="337" name="Google Shape;337;p25"/>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38" name="Google Shape;338;p25"/>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sp>
        <p:nvSpPr>
          <p:cNvPr id="339" name="Google Shape;339;p25"/>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340" name="Google Shape;340;p25"/>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341" name="Google Shape;341;p25"/>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342" name="Google Shape;342;p25"/>
          <p:cNvGrpSpPr/>
          <p:nvPr/>
        </p:nvGrpSpPr>
        <p:grpSpPr>
          <a:xfrm>
            <a:off x="2330580" y="1965230"/>
            <a:ext cx="3032198" cy="584776"/>
            <a:chOff x="1116105" y="2252876"/>
            <a:chExt cx="3032198" cy="584776"/>
          </a:xfrm>
        </p:grpSpPr>
        <p:sp>
          <p:nvSpPr>
            <p:cNvPr id="343" name="Google Shape;343;p25"/>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44" name="Google Shape;344;p25"/>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45" name="Google Shape;345;p25"/>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sp>
        <p:nvSpPr>
          <p:cNvPr id="346" name="Google Shape;346;p25"/>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grpSp>
        <p:nvGrpSpPr>
          <p:cNvPr id="347" name="Google Shape;347;p25"/>
          <p:cNvGrpSpPr/>
          <p:nvPr/>
        </p:nvGrpSpPr>
        <p:grpSpPr>
          <a:xfrm>
            <a:off x="6457623" y="2719983"/>
            <a:ext cx="3356537" cy="830997"/>
            <a:chOff x="1160947" y="1923541"/>
            <a:chExt cx="2421059" cy="830997"/>
          </a:xfrm>
        </p:grpSpPr>
        <p:sp>
          <p:nvSpPr>
            <p:cNvPr id="348" name="Google Shape;348;p25"/>
            <p:cNvSpPr txBox="1"/>
            <p:nvPr/>
          </p:nvSpPr>
          <p:spPr>
            <a:xfrm>
              <a:off x="1160947" y="1923541"/>
              <a:ext cx="13437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349" name="Google Shape;349;p25"/>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50" name="Google Shape;350;p25"/>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grpSp>
      <p:grpSp>
        <p:nvGrpSpPr>
          <p:cNvPr id="351" name="Google Shape;351;p25"/>
          <p:cNvGrpSpPr/>
          <p:nvPr/>
        </p:nvGrpSpPr>
        <p:grpSpPr>
          <a:xfrm>
            <a:off x="2330580" y="2586599"/>
            <a:ext cx="3032198" cy="609738"/>
            <a:chOff x="1116105" y="2227914"/>
            <a:chExt cx="3032198" cy="609738"/>
          </a:xfrm>
        </p:grpSpPr>
        <p:sp>
          <p:nvSpPr>
            <p:cNvPr id="352" name="Google Shape;352;p25"/>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53" name="Google Shape;353;p25"/>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54" name="Google Shape;354;p25"/>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grpSp>
      <p:grpSp>
        <p:nvGrpSpPr>
          <p:cNvPr id="355" name="Google Shape;355;p25"/>
          <p:cNvGrpSpPr/>
          <p:nvPr/>
        </p:nvGrpSpPr>
        <p:grpSpPr>
          <a:xfrm>
            <a:off x="2330580" y="3236109"/>
            <a:ext cx="3032198" cy="606559"/>
            <a:chOff x="2330580" y="3236109"/>
            <a:chExt cx="3032198" cy="606559"/>
          </a:xfrm>
        </p:grpSpPr>
        <p:sp>
          <p:nvSpPr>
            <p:cNvPr id="356" name="Google Shape;356;p25"/>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57" name="Google Shape;357;p25"/>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58" name="Google Shape;358;p25"/>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700</a:t>
              </a:r>
              <a:endParaRPr/>
            </a:p>
          </p:txBody>
        </p:sp>
      </p:grpSp>
      <p:sp>
        <p:nvSpPr>
          <p:cNvPr id="359" name="Google Shape;359;p25"/>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360" name="Google Shape;360;p25"/>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26"/>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367" name="Google Shape;367;p26"/>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368" name="Google Shape;368;p26"/>
          <p:cNvGrpSpPr/>
          <p:nvPr/>
        </p:nvGrpSpPr>
        <p:grpSpPr>
          <a:xfrm>
            <a:off x="8116806" y="1712085"/>
            <a:ext cx="1484695" cy="611304"/>
            <a:chOff x="2640082" y="2202430"/>
            <a:chExt cx="1288807" cy="611304"/>
          </a:xfrm>
        </p:grpSpPr>
        <p:sp>
          <p:nvSpPr>
            <p:cNvPr id="369" name="Google Shape;369;p26"/>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70" name="Google Shape;370;p26"/>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sp>
        <p:nvSpPr>
          <p:cNvPr id="371" name="Google Shape;371;p26"/>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372" name="Google Shape;372;p26"/>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373" name="Google Shape;373;p26"/>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374" name="Google Shape;374;p26"/>
          <p:cNvGrpSpPr/>
          <p:nvPr/>
        </p:nvGrpSpPr>
        <p:grpSpPr>
          <a:xfrm>
            <a:off x="2330580" y="1965230"/>
            <a:ext cx="3032198" cy="584776"/>
            <a:chOff x="1116105" y="2252876"/>
            <a:chExt cx="3032198" cy="584776"/>
          </a:xfrm>
        </p:grpSpPr>
        <p:sp>
          <p:nvSpPr>
            <p:cNvPr id="375" name="Google Shape;375;p26"/>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76" name="Google Shape;376;p26"/>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77" name="Google Shape;377;p26"/>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sp>
        <p:nvSpPr>
          <p:cNvPr id="378" name="Google Shape;378;p26"/>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grpSp>
        <p:nvGrpSpPr>
          <p:cNvPr id="379" name="Google Shape;379;p26"/>
          <p:cNvGrpSpPr/>
          <p:nvPr/>
        </p:nvGrpSpPr>
        <p:grpSpPr>
          <a:xfrm>
            <a:off x="6457623" y="2719983"/>
            <a:ext cx="3356537" cy="830997"/>
            <a:chOff x="1160947" y="1923541"/>
            <a:chExt cx="2421059" cy="830997"/>
          </a:xfrm>
        </p:grpSpPr>
        <p:sp>
          <p:nvSpPr>
            <p:cNvPr id="380" name="Google Shape;380;p26"/>
            <p:cNvSpPr txBox="1"/>
            <p:nvPr/>
          </p:nvSpPr>
          <p:spPr>
            <a:xfrm>
              <a:off x="1160947" y="1923541"/>
              <a:ext cx="13437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381" name="Google Shape;381;p26"/>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82" name="Google Shape;382;p26"/>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grpSp>
      <p:grpSp>
        <p:nvGrpSpPr>
          <p:cNvPr id="383" name="Google Shape;383;p26"/>
          <p:cNvGrpSpPr/>
          <p:nvPr/>
        </p:nvGrpSpPr>
        <p:grpSpPr>
          <a:xfrm>
            <a:off x="2330580" y="2586599"/>
            <a:ext cx="3032198" cy="609738"/>
            <a:chOff x="1116105" y="2227914"/>
            <a:chExt cx="3032198" cy="609738"/>
          </a:xfrm>
        </p:grpSpPr>
        <p:sp>
          <p:nvSpPr>
            <p:cNvPr id="384" name="Google Shape;384;p26"/>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85" name="Google Shape;385;p26"/>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86" name="Google Shape;386;p26"/>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grpSp>
      <p:grpSp>
        <p:nvGrpSpPr>
          <p:cNvPr id="387" name="Google Shape;387;p26"/>
          <p:cNvGrpSpPr/>
          <p:nvPr/>
        </p:nvGrpSpPr>
        <p:grpSpPr>
          <a:xfrm>
            <a:off x="2330580" y="3236109"/>
            <a:ext cx="3032198" cy="606559"/>
            <a:chOff x="2330580" y="3236109"/>
            <a:chExt cx="3032198" cy="606559"/>
          </a:xfrm>
        </p:grpSpPr>
        <p:sp>
          <p:nvSpPr>
            <p:cNvPr id="388" name="Google Shape;388;p26"/>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89" name="Google Shape;389;p26"/>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90" name="Google Shape;390;p26"/>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700</a:t>
              </a:r>
              <a:endParaRPr/>
            </a:p>
          </p:txBody>
        </p:sp>
      </p:grpSp>
      <p:sp>
        <p:nvSpPr>
          <p:cNvPr id="391" name="Google Shape;391;p26"/>
          <p:cNvSpPr txBox="1"/>
          <p:nvPr/>
        </p:nvSpPr>
        <p:spPr>
          <a:xfrm>
            <a:off x="2330580" y="4027334"/>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392" name="Google Shape;392;p26"/>
          <p:cNvSpPr txBox="1"/>
          <p:nvPr/>
        </p:nvSpPr>
        <p:spPr>
          <a:xfrm rot="10800000">
            <a:off x="3844094" y="39591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393" name="Google Shape;393;p26"/>
          <p:cNvSpPr txBox="1"/>
          <p:nvPr/>
        </p:nvSpPr>
        <p:spPr>
          <a:xfrm>
            <a:off x="4663549" y="402733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a:t>
            </a:r>
            <a:endParaRPr/>
          </a:p>
        </p:txBody>
      </p:sp>
      <p:sp>
        <p:nvSpPr>
          <p:cNvPr id="394" name="Google Shape;394;p26"/>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395" name="Google Shape;395;p26"/>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1"/>
                                        </p:tgtEl>
                                        <p:attrNameLst>
                                          <p:attrName>style.visibility</p:attrName>
                                        </p:attrNameLst>
                                      </p:cBhvr>
                                      <p:to>
                                        <p:strVal val="visible"/>
                                      </p:to>
                                    </p:set>
                                    <p:animEffect transition="in" filter="fade">
                                      <p:cBhvr>
                                        <p:cTn id="7" dur="500"/>
                                        <p:tgtEl>
                                          <p:spTgt spid="3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2"/>
                                        </p:tgtEl>
                                        <p:attrNameLst>
                                          <p:attrName>style.visibility</p:attrName>
                                        </p:attrNameLst>
                                      </p:cBhvr>
                                      <p:to>
                                        <p:strVal val="visible"/>
                                      </p:to>
                                    </p:set>
                                    <p:animEffect transition="in" filter="fade">
                                      <p:cBhvr>
                                        <p:cTn id="12" dur="500"/>
                                        <p:tgtEl>
                                          <p:spTgt spid="392"/>
                                        </p:tgtEl>
                                      </p:cBhvr>
                                    </p:animEffect>
                                  </p:childTnLst>
                                </p:cTn>
                              </p:par>
                            </p:childTnLst>
                          </p:cTn>
                        </p:par>
                        <p:par>
                          <p:cTn id="13" fill="hold">
                            <p:stCondLst>
                              <p:cond delay="500"/>
                            </p:stCondLst>
                            <p:childTnLst>
                              <p:par>
                                <p:cTn id="14" presetID="10" presetClass="entr" presetSubtype="0" fill="hold" nodeType="afterEffect">
                                  <p:stCondLst>
                                    <p:cond delay="1000"/>
                                  </p:stCondLst>
                                  <p:childTnLst>
                                    <p:set>
                                      <p:cBhvr>
                                        <p:cTn id="15" dur="1" fill="hold">
                                          <p:stCondLst>
                                            <p:cond delay="0"/>
                                          </p:stCondLst>
                                        </p:cTn>
                                        <p:tgtEl>
                                          <p:spTgt spid="393"/>
                                        </p:tgtEl>
                                        <p:attrNameLst>
                                          <p:attrName>style.visibility</p:attrName>
                                        </p:attrNameLst>
                                      </p:cBhvr>
                                      <p:to>
                                        <p:strVal val="visible"/>
                                      </p:to>
                                    </p:set>
                                    <p:animEffect transition="in" filter="fade">
                                      <p:cBhvr>
                                        <p:cTn id="16" dur="500"/>
                                        <p:tgtEl>
                                          <p:spTgt spid="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7"/>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402" name="Google Shape;402;p27"/>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403" name="Google Shape;403;p27"/>
          <p:cNvGrpSpPr/>
          <p:nvPr/>
        </p:nvGrpSpPr>
        <p:grpSpPr>
          <a:xfrm>
            <a:off x="8116806" y="1712085"/>
            <a:ext cx="1484695" cy="611304"/>
            <a:chOff x="2640082" y="2202430"/>
            <a:chExt cx="1288807" cy="611304"/>
          </a:xfrm>
        </p:grpSpPr>
        <p:sp>
          <p:nvSpPr>
            <p:cNvPr id="404" name="Google Shape;404;p27"/>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05" name="Google Shape;405;p27"/>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sp>
        <p:nvSpPr>
          <p:cNvPr id="406" name="Google Shape;406;p27"/>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407" name="Google Shape;407;p27"/>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408" name="Google Shape;408;p27"/>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409" name="Google Shape;409;p27"/>
          <p:cNvGrpSpPr/>
          <p:nvPr/>
        </p:nvGrpSpPr>
        <p:grpSpPr>
          <a:xfrm>
            <a:off x="2330580" y="1965230"/>
            <a:ext cx="3032198" cy="584776"/>
            <a:chOff x="1116105" y="2252876"/>
            <a:chExt cx="3032198" cy="584776"/>
          </a:xfrm>
        </p:grpSpPr>
        <p:sp>
          <p:nvSpPr>
            <p:cNvPr id="410" name="Google Shape;410;p27"/>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11" name="Google Shape;411;p27"/>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12" name="Google Shape;412;p27"/>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sp>
        <p:nvSpPr>
          <p:cNvPr id="413" name="Google Shape;413;p27"/>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grpSp>
        <p:nvGrpSpPr>
          <p:cNvPr id="414" name="Google Shape;414;p27"/>
          <p:cNvGrpSpPr/>
          <p:nvPr/>
        </p:nvGrpSpPr>
        <p:grpSpPr>
          <a:xfrm>
            <a:off x="6457623" y="2719983"/>
            <a:ext cx="3356537" cy="830997"/>
            <a:chOff x="1160947" y="1923541"/>
            <a:chExt cx="2421059" cy="830997"/>
          </a:xfrm>
        </p:grpSpPr>
        <p:sp>
          <p:nvSpPr>
            <p:cNvPr id="415" name="Google Shape;415;p27"/>
            <p:cNvSpPr txBox="1"/>
            <p:nvPr/>
          </p:nvSpPr>
          <p:spPr>
            <a:xfrm>
              <a:off x="1160947" y="1923541"/>
              <a:ext cx="13437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416" name="Google Shape;416;p27"/>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17" name="Google Shape;417;p27"/>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grpSp>
      <p:grpSp>
        <p:nvGrpSpPr>
          <p:cNvPr id="418" name="Google Shape;418;p27"/>
          <p:cNvGrpSpPr/>
          <p:nvPr/>
        </p:nvGrpSpPr>
        <p:grpSpPr>
          <a:xfrm>
            <a:off x="2330580" y="2586599"/>
            <a:ext cx="3032198" cy="609738"/>
            <a:chOff x="1116105" y="2227914"/>
            <a:chExt cx="3032198" cy="609738"/>
          </a:xfrm>
        </p:grpSpPr>
        <p:sp>
          <p:nvSpPr>
            <p:cNvPr id="419" name="Google Shape;419;p27"/>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20" name="Google Shape;420;p27"/>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21" name="Google Shape;421;p27"/>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grpSp>
      <p:grpSp>
        <p:nvGrpSpPr>
          <p:cNvPr id="422" name="Google Shape;422;p27"/>
          <p:cNvGrpSpPr/>
          <p:nvPr/>
        </p:nvGrpSpPr>
        <p:grpSpPr>
          <a:xfrm>
            <a:off x="2330580" y="3236109"/>
            <a:ext cx="3032198" cy="606559"/>
            <a:chOff x="2330580" y="3236109"/>
            <a:chExt cx="3032198" cy="606559"/>
          </a:xfrm>
        </p:grpSpPr>
        <p:sp>
          <p:nvSpPr>
            <p:cNvPr id="423" name="Google Shape;423;p27"/>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24" name="Google Shape;424;p27"/>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25" name="Google Shape;425;p27"/>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700</a:t>
              </a:r>
              <a:endParaRPr/>
            </a:p>
          </p:txBody>
        </p:sp>
      </p:grpSp>
      <p:grpSp>
        <p:nvGrpSpPr>
          <p:cNvPr id="426" name="Google Shape;426;p27"/>
          <p:cNvGrpSpPr/>
          <p:nvPr/>
        </p:nvGrpSpPr>
        <p:grpSpPr>
          <a:xfrm>
            <a:off x="2330580" y="3959159"/>
            <a:ext cx="3032198" cy="584775"/>
            <a:chOff x="2330580" y="3959159"/>
            <a:chExt cx="3032198" cy="584775"/>
          </a:xfrm>
        </p:grpSpPr>
        <p:sp>
          <p:nvSpPr>
            <p:cNvPr id="427" name="Google Shape;427;p27"/>
            <p:cNvSpPr txBox="1"/>
            <p:nvPr/>
          </p:nvSpPr>
          <p:spPr>
            <a:xfrm>
              <a:off x="2330580" y="4027334"/>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28" name="Google Shape;428;p27"/>
            <p:cNvSpPr txBox="1"/>
            <p:nvPr/>
          </p:nvSpPr>
          <p:spPr>
            <a:xfrm rot="10800000">
              <a:off x="3844094" y="39591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29" name="Google Shape;429;p27"/>
            <p:cNvSpPr txBox="1"/>
            <p:nvPr/>
          </p:nvSpPr>
          <p:spPr>
            <a:xfrm>
              <a:off x="4663549" y="402733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a:t>
              </a:r>
              <a:endParaRPr/>
            </a:p>
          </p:txBody>
        </p:sp>
      </p:grpSp>
      <p:grpSp>
        <p:nvGrpSpPr>
          <p:cNvPr id="430" name="Google Shape;430;p27"/>
          <p:cNvGrpSpPr/>
          <p:nvPr/>
        </p:nvGrpSpPr>
        <p:grpSpPr>
          <a:xfrm>
            <a:off x="6511111" y="3762376"/>
            <a:ext cx="3211389" cy="830997"/>
            <a:chOff x="1160947" y="1923541"/>
            <a:chExt cx="2316364" cy="830997"/>
          </a:xfrm>
        </p:grpSpPr>
        <p:sp>
          <p:nvSpPr>
            <p:cNvPr id="431" name="Google Shape;431;p27"/>
            <p:cNvSpPr txBox="1"/>
            <p:nvPr/>
          </p:nvSpPr>
          <p:spPr>
            <a:xfrm>
              <a:off x="1160947" y="1923541"/>
              <a:ext cx="124434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432" name="Google Shape;432;p27"/>
            <p:cNvSpPr txBox="1"/>
            <p:nvPr/>
          </p:nvSpPr>
          <p:spPr>
            <a:xfrm>
              <a:off x="2504041" y="2127523"/>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33" name="Google Shape;433;p27"/>
            <p:cNvSpPr txBox="1"/>
            <p:nvPr/>
          </p:nvSpPr>
          <p:spPr>
            <a:xfrm>
              <a:off x="2972959" y="2225909"/>
              <a:ext cx="50435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400</a:t>
              </a:r>
              <a:endParaRPr/>
            </a:p>
          </p:txBody>
        </p:sp>
      </p:grpSp>
      <p:sp>
        <p:nvSpPr>
          <p:cNvPr id="434" name="Google Shape;434;p27"/>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435" name="Google Shape;435;p27"/>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
                                        </p:tgtEl>
                                        <p:attrNameLst>
                                          <p:attrName>style.visibility</p:attrName>
                                        </p:attrNameLst>
                                      </p:cBhvr>
                                      <p:to>
                                        <p:strVal val="visible"/>
                                      </p:to>
                                    </p:set>
                                    <p:animEffect transition="in" filter="fade">
                                      <p:cBhvr>
                                        <p:cTn id="7" dur="500"/>
                                        <p:tgtEl>
                                          <p:spTgt spid="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cxnSp>
        <p:nvCxnSpPr>
          <p:cNvPr id="441" name="Google Shape;441;p28"/>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graphicFrame>
        <p:nvGraphicFramePr>
          <p:cNvPr id="442" name="Google Shape;442;p28"/>
          <p:cNvGraphicFramePr/>
          <p:nvPr/>
        </p:nvGraphicFramePr>
        <p:xfrm>
          <a:off x="2755527" y="1555065"/>
          <a:ext cx="3000000" cy="3000000"/>
        </p:xfrm>
        <a:graphic>
          <a:graphicData uri="http://schemas.openxmlformats.org/drawingml/2006/table">
            <a:tbl>
              <a:tblPr firstRow="1" firstCol="1" bandRow="1">
                <a:noFill/>
                <a:tableStyleId>{EC3B7C02-C20F-42C7-878E-1E52F1C29615}</a:tableStyleId>
              </a:tblPr>
              <a:tblGrid>
                <a:gridCol w="278205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tblGrid>
              <a:tr h="841775">
                <a:tc>
                  <a:txBody>
                    <a:bodyPr/>
                    <a:lstStyle/>
                    <a:p>
                      <a:pPr marL="0" marR="0" lvl="0" indent="0" algn="l" rtl="0">
                        <a:spcBef>
                          <a:spcPts val="0"/>
                        </a:spcBef>
                        <a:spcAft>
                          <a:spcPts val="0"/>
                        </a:spcAft>
                        <a:buNone/>
                      </a:pPr>
                      <a:r>
                        <a:rPr lang="en-US" sz="3200" u="none" strike="noStrike" cap="none">
                          <a:latin typeface="Avenir"/>
                          <a:ea typeface="Avenir"/>
                          <a:cs typeface="Avenir"/>
                          <a:sym typeface="Avenir"/>
                        </a:rPr>
                        <a:t> </a:t>
                      </a:r>
                      <a:endParaRPr sz="3200" u="none" strike="noStrike" cap="none">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3200" b="1" u="none" strike="noStrike" cap="none">
                          <a:latin typeface="Avenir"/>
                          <a:ea typeface="Avenir"/>
                          <a:cs typeface="Avenir"/>
                          <a:sym typeface="Avenir"/>
                        </a:rPr>
                        <a:t>A</a:t>
                      </a:r>
                      <a:endParaRPr sz="3200" b="1" u="none" strike="noStrike" cap="none">
                        <a:solidFill>
                          <a:schemeClr val="l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3200" b="1" u="none" strike="noStrike" cap="none">
                          <a:latin typeface="Avenir"/>
                          <a:ea typeface="Avenir"/>
                          <a:cs typeface="Avenir"/>
                          <a:sym typeface="Avenir"/>
                        </a:rPr>
                        <a:t>B</a:t>
                      </a:r>
                      <a:endParaRPr sz="3200" b="1" u="none" strike="noStrike" cap="none">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3200" b="1" u="none" strike="noStrike" cap="none">
                          <a:latin typeface="Avenir"/>
                          <a:ea typeface="Avenir"/>
                          <a:cs typeface="Avenir"/>
                          <a:sym typeface="Avenir"/>
                        </a:rPr>
                        <a:t>C</a:t>
                      </a:r>
                      <a:endParaRPr sz="3200" b="1" u="none" strike="noStrike" cap="none">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841775">
                <a:tc>
                  <a:txBody>
                    <a:bodyPr/>
                    <a:lstStyle/>
                    <a:p>
                      <a:pPr marL="0" marR="0" lvl="0" indent="0" algn="l" rtl="0">
                        <a:spcBef>
                          <a:spcPts val="0"/>
                        </a:spcBef>
                        <a:spcAft>
                          <a:spcPts val="0"/>
                        </a:spcAft>
                        <a:buNone/>
                      </a:pPr>
                      <a:r>
                        <a:rPr lang="en-US" sz="3200" u="none" strike="noStrike" cap="none">
                          <a:latin typeface="Avenir"/>
                          <a:ea typeface="Avenir"/>
                          <a:cs typeface="Avenir"/>
                          <a:sym typeface="Avenir"/>
                        </a:rPr>
                        <a:t>Sales</a:t>
                      </a:r>
                      <a:endParaRPr sz="3200" u="none" strike="noStrike" cap="none">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a:latin typeface="Avenir"/>
                          <a:ea typeface="Avenir"/>
                          <a:cs typeface="Avenir"/>
                          <a:sym typeface="Avenir"/>
                        </a:rPr>
                        <a:t>700</a:t>
                      </a:r>
                      <a:r>
                        <a:rPr lang="en-US" sz="3200" u="none" strike="noStrike" cap="none">
                          <a:solidFill>
                            <a:schemeClr val="lt1"/>
                          </a:solidFill>
                          <a:latin typeface="Avenir"/>
                          <a:ea typeface="Avenir"/>
                          <a:cs typeface="Avenir"/>
                          <a:sym typeface="Avenir"/>
                        </a:rPr>
                        <a:t>)</a:t>
                      </a:r>
                      <a:endParaRPr sz="3200" u="none" strike="noStrike" cap="none">
                        <a:solidFill>
                          <a:schemeClr val="l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a:latin typeface="Avenir"/>
                          <a:ea typeface="Avenir"/>
                          <a:cs typeface="Avenir"/>
                          <a:sym typeface="Avenir"/>
                        </a:rPr>
                        <a:t>401</a:t>
                      </a:r>
                      <a:r>
                        <a:rPr lang="en-US" sz="3200" u="none" strike="noStrike" cap="none">
                          <a:solidFill>
                            <a:schemeClr val="lt1"/>
                          </a:solidFill>
                          <a:latin typeface="Avenir"/>
                          <a:ea typeface="Avenir"/>
                          <a:cs typeface="Avenir"/>
                          <a:sym typeface="Avenir"/>
                        </a:rPr>
                        <a:t>)</a:t>
                      </a:r>
                      <a:endParaRPr sz="3200" u="none" strike="noStrike" cap="none">
                        <a:solidFill>
                          <a:schemeClr val="l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a:latin typeface="Avenir"/>
                          <a:ea typeface="Avenir"/>
                          <a:cs typeface="Avenir"/>
                          <a:sym typeface="Avenir"/>
                        </a:rPr>
                        <a:t>1,000</a:t>
                      </a:r>
                      <a:r>
                        <a:rPr lang="en-US" sz="3200" u="none" strike="noStrike" cap="none">
                          <a:solidFill>
                            <a:schemeClr val="lt1"/>
                          </a:solidFill>
                          <a:latin typeface="Avenir"/>
                          <a:ea typeface="Avenir"/>
                          <a:cs typeface="Avenir"/>
                          <a:sym typeface="Avenir"/>
                        </a:rPr>
                        <a:t>)</a:t>
                      </a:r>
                      <a:endParaRPr sz="3200" u="none" strike="noStrike" cap="none">
                        <a:solidFill>
                          <a:schemeClr val="l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219075">
                <a:tc>
                  <a:txBody>
                    <a:bodyPr/>
                    <a:lstStyle/>
                    <a:p>
                      <a:pPr marL="0" marR="0" lvl="0" indent="0" algn="l" rtl="0">
                        <a:spcBef>
                          <a:spcPts val="0"/>
                        </a:spcBef>
                        <a:spcAft>
                          <a:spcPts val="0"/>
                        </a:spcAft>
                        <a:buNone/>
                      </a:pPr>
                      <a:r>
                        <a:rPr lang="en-US" sz="3200" u="none" strike="noStrike" cap="none">
                          <a:latin typeface="Avenir"/>
                          <a:ea typeface="Avenir"/>
                          <a:cs typeface="Avenir"/>
                          <a:sym typeface="Avenir"/>
                        </a:rPr>
                        <a:t>Cost of sales</a:t>
                      </a:r>
                      <a:endParaRPr sz="3200" u="none" strike="noStrike" cap="none">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a:latin typeface="Avenir"/>
                          <a:ea typeface="Avenir"/>
                          <a:cs typeface="Avenir"/>
                          <a:sym typeface="Avenir"/>
                        </a:rPr>
                        <a:t>(300)</a:t>
                      </a:r>
                      <a:endParaRPr sz="3200" u="none" strike="noStrike" cap="none">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a:latin typeface="Avenir"/>
                          <a:ea typeface="Avenir"/>
                          <a:cs typeface="Avenir"/>
                          <a:sym typeface="Avenir"/>
                        </a:rPr>
                        <a:t>(1)</a:t>
                      </a:r>
                      <a:endParaRPr sz="3200" u="none" strike="noStrike" cap="none">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3200" u="none" strike="noStrike" cap="none">
                          <a:latin typeface="Avenir"/>
                          <a:ea typeface="Avenir"/>
                          <a:cs typeface="Avenir"/>
                          <a:sym typeface="Avenir"/>
                        </a:rPr>
                        <a:t>(600)</a:t>
                      </a:r>
                      <a:endParaRPr sz="3200" u="none" strike="noStrike" cap="none">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32000">
                <a:tc>
                  <a:txBody>
                    <a:bodyPr/>
                    <a:lstStyle/>
                    <a:p>
                      <a:pPr marL="0" marR="0" lvl="0" indent="0" algn="l" rtl="0">
                        <a:spcBef>
                          <a:spcPts val="0"/>
                        </a:spcBef>
                        <a:spcAft>
                          <a:spcPts val="0"/>
                        </a:spcAft>
                        <a:buNone/>
                      </a:pPr>
                      <a:r>
                        <a:rPr lang="en-US" sz="3200" b="1" u="none" strike="noStrike" cap="none">
                          <a:latin typeface="Avenir"/>
                          <a:ea typeface="Avenir"/>
                          <a:cs typeface="Avenir"/>
                          <a:sym typeface="Avenir"/>
                        </a:rPr>
                        <a:t>Gross profit</a:t>
                      </a:r>
                      <a:endParaRPr sz="3200" b="1" u="none" strike="noStrike" cap="none">
                        <a:latin typeface="Avenir"/>
                        <a:ea typeface="Avenir"/>
                        <a:cs typeface="Avenir"/>
                        <a:sym typeface="Avenir"/>
                      </a:endParaRPr>
                    </a:p>
                  </a:txBody>
                  <a:tcPr marL="68575" marR="68575"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2CC"/>
                    </a:solidFill>
                  </a:tcPr>
                </a:tc>
                <a:tc>
                  <a:txBody>
                    <a:bodyPr/>
                    <a:lstStyle/>
                    <a:p>
                      <a:pPr marL="0" marR="0" lvl="0" indent="0" algn="r" rtl="0">
                        <a:spcBef>
                          <a:spcPts val="0"/>
                        </a:spcBef>
                        <a:spcAft>
                          <a:spcPts val="0"/>
                        </a:spcAft>
                        <a:buNone/>
                      </a:pPr>
                      <a:r>
                        <a:rPr lang="en-US" sz="3200" b="1" u="none" strike="noStrike" cap="none">
                          <a:latin typeface="Avenir"/>
                          <a:ea typeface="Avenir"/>
                          <a:cs typeface="Avenir"/>
                          <a:sym typeface="Avenir"/>
                        </a:rPr>
                        <a:t>£400</a:t>
                      </a:r>
                      <a:r>
                        <a:rPr lang="en-US" sz="3200" b="1" u="none" strike="noStrike" cap="none">
                          <a:solidFill>
                            <a:srgbClr val="FFF2CC"/>
                          </a:solidFill>
                          <a:latin typeface="Avenir"/>
                          <a:ea typeface="Avenir"/>
                          <a:cs typeface="Avenir"/>
                          <a:sym typeface="Avenir"/>
                        </a:rPr>
                        <a:t>)</a:t>
                      </a:r>
                      <a:endParaRPr sz="3200" b="1" u="none" strike="noStrike" cap="none">
                        <a:solidFill>
                          <a:srgbClr val="FFF2CC"/>
                        </a:solidFill>
                        <a:latin typeface="Avenir"/>
                        <a:ea typeface="Avenir"/>
                        <a:cs typeface="Avenir"/>
                        <a:sym typeface="Avenir"/>
                      </a:endParaRPr>
                    </a:p>
                  </a:txBody>
                  <a:tcPr marL="68575" marR="68575"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2CC"/>
                    </a:solidFill>
                  </a:tcPr>
                </a:tc>
                <a:tc>
                  <a:txBody>
                    <a:bodyPr/>
                    <a:lstStyle/>
                    <a:p>
                      <a:pPr marL="0" marR="0" lvl="0" indent="0" algn="r" rtl="0">
                        <a:spcBef>
                          <a:spcPts val="0"/>
                        </a:spcBef>
                        <a:spcAft>
                          <a:spcPts val="0"/>
                        </a:spcAft>
                        <a:buNone/>
                      </a:pPr>
                      <a:r>
                        <a:rPr lang="en-US" sz="3200" b="1" u="none" strike="noStrike" cap="none">
                          <a:latin typeface="Avenir"/>
                          <a:ea typeface="Avenir"/>
                          <a:cs typeface="Avenir"/>
                          <a:sym typeface="Avenir"/>
                        </a:rPr>
                        <a:t>£400</a:t>
                      </a:r>
                      <a:r>
                        <a:rPr lang="en-US" sz="3200" b="1" u="none" strike="noStrike" cap="none">
                          <a:solidFill>
                            <a:srgbClr val="FFF2CC"/>
                          </a:solidFill>
                          <a:latin typeface="Avenir"/>
                          <a:ea typeface="Avenir"/>
                          <a:cs typeface="Avenir"/>
                          <a:sym typeface="Avenir"/>
                        </a:rPr>
                        <a:t>)</a:t>
                      </a:r>
                      <a:endParaRPr sz="3200" b="1" u="none" strike="noStrike" cap="none">
                        <a:solidFill>
                          <a:srgbClr val="FFF2CC"/>
                        </a:solidFill>
                        <a:latin typeface="Avenir"/>
                        <a:ea typeface="Avenir"/>
                        <a:cs typeface="Avenir"/>
                        <a:sym typeface="Avenir"/>
                      </a:endParaRPr>
                    </a:p>
                  </a:txBody>
                  <a:tcPr marL="68575" marR="68575"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2CC"/>
                    </a:solidFill>
                  </a:tcPr>
                </a:tc>
                <a:tc>
                  <a:txBody>
                    <a:bodyPr/>
                    <a:lstStyle/>
                    <a:p>
                      <a:pPr marL="0" marR="0" lvl="0" indent="0" algn="r" rtl="0">
                        <a:spcBef>
                          <a:spcPts val="0"/>
                        </a:spcBef>
                        <a:spcAft>
                          <a:spcPts val="0"/>
                        </a:spcAft>
                        <a:buNone/>
                      </a:pPr>
                      <a:r>
                        <a:rPr lang="en-US" sz="3200" b="1" u="none" strike="noStrike" cap="none">
                          <a:latin typeface="Avenir"/>
                          <a:ea typeface="Avenir"/>
                          <a:cs typeface="Avenir"/>
                          <a:sym typeface="Avenir"/>
                        </a:rPr>
                        <a:t>£400</a:t>
                      </a:r>
                      <a:r>
                        <a:rPr lang="en-US" sz="3200" b="1" u="none" strike="noStrike" cap="none">
                          <a:solidFill>
                            <a:srgbClr val="FFF2CC"/>
                          </a:solidFill>
                          <a:latin typeface="Avenir"/>
                          <a:ea typeface="Avenir"/>
                          <a:cs typeface="Avenir"/>
                          <a:sym typeface="Avenir"/>
                        </a:rPr>
                        <a:t>)</a:t>
                      </a:r>
                      <a:endParaRPr sz="3200" b="1" u="none" strike="noStrike" cap="none">
                        <a:solidFill>
                          <a:srgbClr val="FFF2CC"/>
                        </a:solidFill>
                        <a:latin typeface="Avenir"/>
                        <a:ea typeface="Avenir"/>
                        <a:cs typeface="Avenir"/>
                        <a:sym typeface="Avenir"/>
                      </a:endParaRPr>
                    </a:p>
                  </a:txBody>
                  <a:tcPr marL="68575" marR="68575" marT="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841775">
                <a:tc>
                  <a:txBody>
                    <a:bodyPr/>
                    <a:lstStyle/>
                    <a:p>
                      <a:pPr marL="0" marR="0" lvl="0" indent="0" algn="l" rtl="0">
                        <a:spcBef>
                          <a:spcPts val="0"/>
                        </a:spcBef>
                        <a:spcAft>
                          <a:spcPts val="0"/>
                        </a:spcAft>
                        <a:buNone/>
                      </a:pPr>
                      <a:r>
                        <a:rPr lang="en-US" sz="3200" u="none" strike="noStrike" cap="none">
                          <a:latin typeface="Avenir"/>
                          <a:ea typeface="Avenir"/>
                          <a:cs typeface="Avenir"/>
                          <a:sym typeface="Avenir"/>
                        </a:rPr>
                        <a:t> </a:t>
                      </a:r>
                      <a:endParaRPr sz="3200" u="none" strike="noStrike" cap="none">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u="none" strike="noStrike" cap="none">
                          <a:solidFill>
                            <a:schemeClr val="accent1"/>
                          </a:solidFill>
                          <a:latin typeface="Avenir"/>
                          <a:ea typeface="Avenir"/>
                          <a:cs typeface="Avenir"/>
                          <a:sym typeface="Avenir"/>
                        </a:rPr>
                        <a:t>58%</a:t>
                      </a:r>
                      <a:endParaRPr sz="2400" u="none" strike="noStrike" cap="none">
                        <a:solidFill>
                          <a:schemeClr val="accen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u="none" strike="noStrike" cap="none">
                          <a:solidFill>
                            <a:schemeClr val="accent1"/>
                          </a:solidFill>
                          <a:latin typeface="Avenir"/>
                          <a:ea typeface="Avenir"/>
                          <a:cs typeface="Avenir"/>
                          <a:sym typeface="Avenir"/>
                        </a:rPr>
                        <a:t>99%</a:t>
                      </a:r>
                      <a:endParaRPr sz="2400" u="none" strike="noStrike" cap="none">
                        <a:solidFill>
                          <a:schemeClr val="accen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u="none" strike="noStrike" cap="none">
                          <a:solidFill>
                            <a:schemeClr val="accent1"/>
                          </a:solidFill>
                          <a:latin typeface="Avenir"/>
                          <a:ea typeface="Avenir"/>
                          <a:cs typeface="Avenir"/>
                          <a:sym typeface="Avenir"/>
                        </a:rPr>
                        <a:t>40%</a:t>
                      </a:r>
                      <a:endParaRPr sz="2400" u="none" strike="noStrike" cap="none">
                        <a:solidFill>
                          <a:schemeClr val="accent1"/>
                        </a:solidFill>
                        <a:latin typeface="Avenir"/>
                        <a:ea typeface="Avenir"/>
                        <a:cs typeface="Avenir"/>
                        <a:sym typeface="Avenir"/>
                      </a:endParaRPr>
                    </a:p>
                  </a:txBody>
                  <a:tcPr marL="68575" marR="685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43" name="Google Shape;443;p28"/>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29"/>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450" name="Google Shape;450;p29"/>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451" name="Google Shape;451;p29"/>
          <p:cNvGrpSpPr/>
          <p:nvPr/>
        </p:nvGrpSpPr>
        <p:grpSpPr>
          <a:xfrm>
            <a:off x="8116806" y="1712085"/>
            <a:ext cx="1484695" cy="611304"/>
            <a:chOff x="2640082" y="2202430"/>
            <a:chExt cx="1288807" cy="611304"/>
          </a:xfrm>
        </p:grpSpPr>
        <p:sp>
          <p:nvSpPr>
            <p:cNvPr id="452" name="Google Shape;452;p29"/>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53" name="Google Shape;453;p29"/>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sp>
        <p:nvSpPr>
          <p:cNvPr id="454" name="Google Shape;454;p29"/>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455" name="Google Shape;455;p29"/>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456" name="Google Shape;456;p29"/>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457" name="Google Shape;457;p29"/>
          <p:cNvGrpSpPr/>
          <p:nvPr/>
        </p:nvGrpSpPr>
        <p:grpSpPr>
          <a:xfrm>
            <a:off x="2330580" y="1965230"/>
            <a:ext cx="3032198" cy="584776"/>
            <a:chOff x="1116105" y="2252876"/>
            <a:chExt cx="3032198" cy="584776"/>
          </a:xfrm>
        </p:grpSpPr>
        <p:sp>
          <p:nvSpPr>
            <p:cNvPr id="458" name="Google Shape;458;p29"/>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59" name="Google Shape;459;p29"/>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60" name="Google Shape;460;p29"/>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sp>
        <p:nvSpPr>
          <p:cNvPr id="461" name="Google Shape;461;p29"/>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grpSp>
        <p:nvGrpSpPr>
          <p:cNvPr id="462" name="Google Shape;462;p29"/>
          <p:cNvGrpSpPr/>
          <p:nvPr/>
        </p:nvGrpSpPr>
        <p:grpSpPr>
          <a:xfrm>
            <a:off x="6457623" y="2719983"/>
            <a:ext cx="3356537" cy="830997"/>
            <a:chOff x="1160947" y="1923541"/>
            <a:chExt cx="2421059" cy="830997"/>
          </a:xfrm>
        </p:grpSpPr>
        <p:sp>
          <p:nvSpPr>
            <p:cNvPr id="463" name="Google Shape;463;p29"/>
            <p:cNvSpPr txBox="1"/>
            <p:nvPr/>
          </p:nvSpPr>
          <p:spPr>
            <a:xfrm>
              <a:off x="1160947" y="1923541"/>
              <a:ext cx="13437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464" name="Google Shape;464;p29"/>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65" name="Google Shape;465;p29"/>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grpSp>
      <p:grpSp>
        <p:nvGrpSpPr>
          <p:cNvPr id="466" name="Google Shape;466;p29"/>
          <p:cNvGrpSpPr/>
          <p:nvPr/>
        </p:nvGrpSpPr>
        <p:grpSpPr>
          <a:xfrm>
            <a:off x="2330580" y="2586599"/>
            <a:ext cx="3032198" cy="609738"/>
            <a:chOff x="1116105" y="2227914"/>
            <a:chExt cx="3032198" cy="609738"/>
          </a:xfrm>
        </p:grpSpPr>
        <p:sp>
          <p:nvSpPr>
            <p:cNvPr id="467" name="Google Shape;467;p29"/>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68" name="Google Shape;468;p29"/>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69" name="Google Shape;469;p29"/>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grpSp>
      <p:grpSp>
        <p:nvGrpSpPr>
          <p:cNvPr id="470" name="Google Shape;470;p29"/>
          <p:cNvGrpSpPr/>
          <p:nvPr/>
        </p:nvGrpSpPr>
        <p:grpSpPr>
          <a:xfrm>
            <a:off x="2330580" y="3236109"/>
            <a:ext cx="3032198" cy="606559"/>
            <a:chOff x="2330580" y="3236109"/>
            <a:chExt cx="3032198" cy="606559"/>
          </a:xfrm>
        </p:grpSpPr>
        <p:sp>
          <p:nvSpPr>
            <p:cNvPr id="471" name="Google Shape;471;p29"/>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72" name="Google Shape;472;p29"/>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73" name="Google Shape;473;p29"/>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700</a:t>
              </a:r>
              <a:endParaRPr/>
            </a:p>
          </p:txBody>
        </p:sp>
      </p:grpSp>
      <p:grpSp>
        <p:nvGrpSpPr>
          <p:cNvPr id="474" name="Google Shape;474;p29"/>
          <p:cNvGrpSpPr/>
          <p:nvPr/>
        </p:nvGrpSpPr>
        <p:grpSpPr>
          <a:xfrm>
            <a:off x="2330580" y="3959159"/>
            <a:ext cx="3032198" cy="584775"/>
            <a:chOff x="2330580" y="3959159"/>
            <a:chExt cx="3032198" cy="584775"/>
          </a:xfrm>
        </p:grpSpPr>
        <p:sp>
          <p:nvSpPr>
            <p:cNvPr id="475" name="Google Shape;475;p29"/>
            <p:cNvSpPr txBox="1"/>
            <p:nvPr/>
          </p:nvSpPr>
          <p:spPr>
            <a:xfrm>
              <a:off x="2330580" y="4027334"/>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476" name="Google Shape;476;p29"/>
            <p:cNvSpPr txBox="1"/>
            <p:nvPr/>
          </p:nvSpPr>
          <p:spPr>
            <a:xfrm rot="10800000">
              <a:off x="3844094" y="39591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77" name="Google Shape;477;p29"/>
            <p:cNvSpPr txBox="1"/>
            <p:nvPr/>
          </p:nvSpPr>
          <p:spPr>
            <a:xfrm>
              <a:off x="4663549" y="402733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a:t>
              </a:r>
              <a:endParaRPr/>
            </a:p>
          </p:txBody>
        </p:sp>
      </p:grpSp>
      <p:grpSp>
        <p:nvGrpSpPr>
          <p:cNvPr id="478" name="Google Shape;478;p29"/>
          <p:cNvGrpSpPr/>
          <p:nvPr/>
        </p:nvGrpSpPr>
        <p:grpSpPr>
          <a:xfrm>
            <a:off x="6511111" y="3762376"/>
            <a:ext cx="3211389" cy="830997"/>
            <a:chOff x="1160947" y="1923541"/>
            <a:chExt cx="2316364" cy="830997"/>
          </a:xfrm>
        </p:grpSpPr>
        <p:sp>
          <p:nvSpPr>
            <p:cNvPr id="479" name="Google Shape;479;p29"/>
            <p:cNvSpPr txBox="1"/>
            <p:nvPr/>
          </p:nvSpPr>
          <p:spPr>
            <a:xfrm>
              <a:off x="1160947" y="1923541"/>
              <a:ext cx="124434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480" name="Google Shape;480;p29"/>
            <p:cNvSpPr txBox="1"/>
            <p:nvPr/>
          </p:nvSpPr>
          <p:spPr>
            <a:xfrm>
              <a:off x="2504041" y="2127523"/>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81" name="Google Shape;481;p29"/>
            <p:cNvSpPr txBox="1"/>
            <p:nvPr/>
          </p:nvSpPr>
          <p:spPr>
            <a:xfrm>
              <a:off x="2972959" y="2225909"/>
              <a:ext cx="50435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400</a:t>
              </a:r>
              <a:endParaRPr/>
            </a:p>
          </p:txBody>
        </p:sp>
      </p:grpSp>
      <p:sp>
        <p:nvSpPr>
          <p:cNvPr id="482" name="Google Shape;482;p29"/>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483" name="Google Shape;483;p29"/>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484" name="Google Shape;484;p29"/>
          <p:cNvSpPr txBox="1"/>
          <p:nvPr/>
        </p:nvSpPr>
        <p:spPr>
          <a:xfrm>
            <a:off x="6227788" y="5164542"/>
            <a:ext cx="4516412" cy="1219006"/>
          </a:xfrm>
          <a:prstGeom prst="rect">
            <a:avLst/>
          </a:prstGeom>
          <a:noFill/>
          <a:ln w="762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485" name="Google Shape;485;p29"/>
          <p:cNvSpPr txBox="1"/>
          <p:nvPr/>
        </p:nvSpPr>
        <p:spPr>
          <a:xfrm>
            <a:off x="1519517" y="5164542"/>
            <a:ext cx="4514277" cy="1219006"/>
          </a:xfrm>
          <a:prstGeom prst="rect">
            <a:avLst/>
          </a:prstGeom>
          <a:noFill/>
          <a:ln w="762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endParaRPr sz="2800">
              <a:solidFill>
                <a:schemeClr val="dk1"/>
              </a:solidFill>
              <a:latin typeface="Avenir"/>
              <a:ea typeface="Avenir"/>
              <a:cs typeface="Avenir"/>
              <a:sym typeface="Avenir"/>
            </a:endParaRPr>
          </a:p>
        </p:txBody>
      </p:sp>
      <p:cxnSp>
        <p:nvCxnSpPr>
          <p:cNvPr id="486" name="Google Shape;486;p29"/>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sp>
        <p:nvSpPr>
          <p:cNvPr id="487" name="Google Shape;487;p29"/>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488" name="Google Shape;488;p29"/>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Effect transition="in" filter="fade">
                                      <p:cBhvr>
                                        <p:cTn id="7" dur="500"/>
                                        <p:tgtEl>
                                          <p:spTgt spid="48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83"/>
                                        </p:tgtEl>
                                        <p:attrNameLst>
                                          <p:attrName>style.visibility</p:attrName>
                                        </p:attrNameLst>
                                      </p:cBhvr>
                                      <p:to>
                                        <p:strVal val="visible"/>
                                      </p:to>
                                    </p:set>
                                    <p:animEffect transition="in" filter="fade">
                                      <p:cBhvr>
                                        <p:cTn id="11" dur="500"/>
                                        <p:tgtEl>
                                          <p:spTgt spid="483"/>
                                        </p:tgtEl>
                                      </p:cBhvr>
                                    </p:animEffect>
                                  </p:childTnLst>
                                </p:cTn>
                              </p:par>
                              <p:par>
                                <p:cTn id="12" presetID="10" presetClass="entr" presetSubtype="0" fill="hold" nodeType="withEffect">
                                  <p:stCondLst>
                                    <p:cond delay="0"/>
                                  </p:stCondLst>
                                  <p:childTnLst>
                                    <p:set>
                                      <p:cBhvr>
                                        <p:cTn id="13" dur="1" fill="hold">
                                          <p:stCondLst>
                                            <p:cond delay="0"/>
                                          </p:stCondLst>
                                        </p:cTn>
                                        <p:tgtEl>
                                          <p:spTgt spid="486"/>
                                        </p:tgtEl>
                                        <p:attrNameLst>
                                          <p:attrName>style.visibility</p:attrName>
                                        </p:attrNameLst>
                                      </p:cBhvr>
                                      <p:to>
                                        <p:strVal val="visible"/>
                                      </p:to>
                                    </p:set>
                                    <p:animEffect transition="in" filter="fade">
                                      <p:cBhvr>
                                        <p:cTn id="14" dur="500"/>
                                        <p:tgtEl>
                                          <p:spTgt spid="486"/>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484"/>
                                        </p:tgtEl>
                                        <p:attrNameLst>
                                          <p:attrName>style.visibility</p:attrName>
                                        </p:attrNameLst>
                                      </p:cBhvr>
                                      <p:to>
                                        <p:strVal val="visible"/>
                                      </p:to>
                                    </p:set>
                                    <p:animEffect transition="in" filter="fade">
                                      <p:cBhvr>
                                        <p:cTn id="18" dur="500"/>
                                        <p:tgtEl>
                                          <p:spTgt spid="484"/>
                                        </p:tgtEl>
                                      </p:cBhvr>
                                    </p:animEffect>
                                  </p:childTnLst>
                                </p:cTn>
                              </p:par>
                              <p:par>
                                <p:cTn id="19" presetID="10" presetClass="entr" presetSubtype="0" fill="hold" nodeType="withEffect">
                                  <p:stCondLst>
                                    <p:cond delay="0"/>
                                  </p:stCondLst>
                                  <p:childTnLst>
                                    <p:set>
                                      <p:cBhvr>
                                        <p:cTn id="20" dur="1" fill="hold">
                                          <p:stCondLst>
                                            <p:cond delay="0"/>
                                          </p:stCondLst>
                                        </p:cTn>
                                        <p:tgtEl>
                                          <p:spTgt spid="485"/>
                                        </p:tgtEl>
                                        <p:attrNameLst>
                                          <p:attrName>style.visibility</p:attrName>
                                        </p:attrNameLst>
                                      </p:cBhvr>
                                      <p:to>
                                        <p:strVal val="visible"/>
                                      </p:to>
                                    </p:set>
                                    <p:animEffect transition="in" filter="fade">
                                      <p:cBhvr>
                                        <p:cTn id="21" dur="500"/>
                                        <p:tgtEl>
                                          <p:spTgt spid="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0"/>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495" name="Google Shape;495;p30"/>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496" name="Google Shape;496;p30"/>
          <p:cNvGrpSpPr/>
          <p:nvPr/>
        </p:nvGrpSpPr>
        <p:grpSpPr>
          <a:xfrm>
            <a:off x="8116806" y="1712085"/>
            <a:ext cx="1484695" cy="611304"/>
            <a:chOff x="2640082" y="2202430"/>
            <a:chExt cx="1288807" cy="611304"/>
          </a:xfrm>
        </p:grpSpPr>
        <p:sp>
          <p:nvSpPr>
            <p:cNvPr id="497" name="Google Shape;497;p30"/>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498" name="Google Shape;498;p30"/>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sp>
        <p:nvSpPr>
          <p:cNvPr id="499" name="Google Shape;499;p30"/>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500" name="Google Shape;500;p30"/>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501" name="Google Shape;501;p30"/>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502" name="Google Shape;502;p30"/>
          <p:cNvGrpSpPr/>
          <p:nvPr/>
        </p:nvGrpSpPr>
        <p:grpSpPr>
          <a:xfrm>
            <a:off x="2330580" y="1965230"/>
            <a:ext cx="3032198" cy="584776"/>
            <a:chOff x="1116105" y="2252876"/>
            <a:chExt cx="3032198" cy="584776"/>
          </a:xfrm>
        </p:grpSpPr>
        <p:sp>
          <p:nvSpPr>
            <p:cNvPr id="503" name="Google Shape;503;p30"/>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04" name="Google Shape;504;p30"/>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05" name="Google Shape;505;p30"/>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sp>
        <p:nvSpPr>
          <p:cNvPr id="506" name="Google Shape;506;p30"/>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grpSp>
        <p:nvGrpSpPr>
          <p:cNvPr id="507" name="Google Shape;507;p30"/>
          <p:cNvGrpSpPr/>
          <p:nvPr/>
        </p:nvGrpSpPr>
        <p:grpSpPr>
          <a:xfrm>
            <a:off x="6457623" y="2719983"/>
            <a:ext cx="3356537" cy="830997"/>
            <a:chOff x="1160947" y="1923541"/>
            <a:chExt cx="2421059" cy="830997"/>
          </a:xfrm>
        </p:grpSpPr>
        <p:sp>
          <p:nvSpPr>
            <p:cNvPr id="508" name="Google Shape;508;p30"/>
            <p:cNvSpPr txBox="1"/>
            <p:nvPr/>
          </p:nvSpPr>
          <p:spPr>
            <a:xfrm>
              <a:off x="1160947" y="1923541"/>
              <a:ext cx="13437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09" name="Google Shape;509;p30"/>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10" name="Google Shape;510;p30"/>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grpSp>
      <p:grpSp>
        <p:nvGrpSpPr>
          <p:cNvPr id="511" name="Google Shape;511;p30"/>
          <p:cNvGrpSpPr/>
          <p:nvPr/>
        </p:nvGrpSpPr>
        <p:grpSpPr>
          <a:xfrm>
            <a:off x="2330580" y="2586599"/>
            <a:ext cx="3032198" cy="609738"/>
            <a:chOff x="1116105" y="2227914"/>
            <a:chExt cx="3032198" cy="609738"/>
          </a:xfrm>
        </p:grpSpPr>
        <p:sp>
          <p:nvSpPr>
            <p:cNvPr id="512" name="Google Shape;512;p30"/>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13" name="Google Shape;513;p30"/>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14" name="Google Shape;514;p30"/>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grpSp>
      <p:grpSp>
        <p:nvGrpSpPr>
          <p:cNvPr id="515" name="Google Shape;515;p30"/>
          <p:cNvGrpSpPr/>
          <p:nvPr/>
        </p:nvGrpSpPr>
        <p:grpSpPr>
          <a:xfrm>
            <a:off x="2330580" y="3236109"/>
            <a:ext cx="3032198" cy="606559"/>
            <a:chOff x="2330580" y="3236109"/>
            <a:chExt cx="3032198" cy="606559"/>
          </a:xfrm>
        </p:grpSpPr>
        <p:sp>
          <p:nvSpPr>
            <p:cNvPr id="516" name="Google Shape;516;p30"/>
            <p:cNvSpPr txBox="1"/>
            <p:nvPr/>
          </p:nvSpPr>
          <p:spPr>
            <a:xfrm>
              <a:off x="2330580" y="3381003"/>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17" name="Google Shape;517;p30"/>
            <p:cNvSpPr txBox="1"/>
            <p:nvPr/>
          </p:nvSpPr>
          <p:spPr>
            <a:xfrm>
              <a:off x="3850936" y="323610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18" name="Google Shape;518;p30"/>
            <p:cNvSpPr txBox="1"/>
            <p:nvPr/>
          </p:nvSpPr>
          <p:spPr>
            <a:xfrm>
              <a:off x="4663549" y="3381003"/>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700</a:t>
              </a:r>
              <a:endParaRPr/>
            </a:p>
          </p:txBody>
        </p:sp>
      </p:grpSp>
      <p:grpSp>
        <p:nvGrpSpPr>
          <p:cNvPr id="519" name="Google Shape;519;p30"/>
          <p:cNvGrpSpPr/>
          <p:nvPr/>
        </p:nvGrpSpPr>
        <p:grpSpPr>
          <a:xfrm>
            <a:off x="2330580" y="3959159"/>
            <a:ext cx="3032198" cy="584775"/>
            <a:chOff x="2330580" y="3959159"/>
            <a:chExt cx="3032198" cy="584775"/>
          </a:xfrm>
        </p:grpSpPr>
        <p:sp>
          <p:nvSpPr>
            <p:cNvPr id="520" name="Google Shape;520;p30"/>
            <p:cNvSpPr txBox="1"/>
            <p:nvPr/>
          </p:nvSpPr>
          <p:spPr>
            <a:xfrm>
              <a:off x="2330580" y="4027334"/>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21" name="Google Shape;521;p30"/>
            <p:cNvSpPr txBox="1"/>
            <p:nvPr/>
          </p:nvSpPr>
          <p:spPr>
            <a:xfrm rot="10800000">
              <a:off x="3844094" y="39591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22" name="Google Shape;522;p30"/>
            <p:cNvSpPr txBox="1"/>
            <p:nvPr/>
          </p:nvSpPr>
          <p:spPr>
            <a:xfrm>
              <a:off x="4663549" y="402733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a:t>
              </a:r>
              <a:endParaRPr/>
            </a:p>
          </p:txBody>
        </p:sp>
      </p:grpSp>
      <p:grpSp>
        <p:nvGrpSpPr>
          <p:cNvPr id="523" name="Google Shape;523;p30"/>
          <p:cNvGrpSpPr/>
          <p:nvPr/>
        </p:nvGrpSpPr>
        <p:grpSpPr>
          <a:xfrm>
            <a:off x="6511111" y="3762376"/>
            <a:ext cx="3211389" cy="830997"/>
            <a:chOff x="1160947" y="1923541"/>
            <a:chExt cx="2316364" cy="830997"/>
          </a:xfrm>
        </p:grpSpPr>
        <p:sp>
          <p:nvSpPr>
            <p:cNvPr id="524" name="Google Shape;524;p30"/>
            <p:cNvSpPr txBox="1"/>
            <p:nvPr/>
          </p:nvSpPr>
          <p:spPr>
            <a:xfrm>
              <a:off x="1160947" y="1923541"/>
              <a:ext cx="124434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25" name="Google Shape;525;p30"/>
            <p:cNvSpPr txBox="1"/>
            <p:nvPr/>
          </p:nvSpPr>
          <p:spPr>
            <a:xfrm>
              <a:off x="2504041" y="2127523"/>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26" name="Google Shape;526;p30"/>
            <p:cNvSpPr txBox="1"/>
            <p:nvPr/>
          </p:nvSpPr>
          <p:spPr>
            <a:xfrm>
              <a:off x="2972959" y="2225909"/>
              <a:ext cx="50435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400</a:t>
              </a:r>
              <a:endParaRPr/>
            </a:p>
          </p:txBody>
        </p:sp>
      </p:grpSp>
      <p:sp>
        <p:nvSpPr>
          <p:cNvPr id="527" name="Google Shape;527;p30"/>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528" name="Google Shape;528;p30"/>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529" name="Google Shape;529;p30"/>
          <p:cNvSpPr txBox="1"/>
          <p:nvPr/>
        </p:nvSpPr>
        <p:spPr>
          <a:xfrm>
            <a:off x="6227788" y="5164542"/>
            <a:ext cx="4516412" cy="1219006"/>
          </a:xfrm>
          <a:prstGeom prst="rect">
            <a:avLst/>
          </a:prstGeom>
          <a:noFill/>
          <a:ln w="762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530" name="Google Shape;530;p30"/>
          <p:cNvSpPr txBox="1"/>
          <p:nvPr/>
        </p:nvSpPr>
        <p:spPr>
          <a:xfrm>
            <a:off x="1519517" y="5164542"/>
            <a:ext cx="4514277" cy="1219006"/>
          </a:xfrm>
          <a:prstGeom prst="rect">
            <a:avLst/>
          </a:prstGeom>
          <a:noFill/>
          <a:ln w="762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endParaRPr sz="2800">
              <a:solidFill>
                <a:schemeClr val="dk1"/>
              </a:solidFill>
              <a:latin typeface="Avenir"/>
              <a:ea typeface="Avenir"/>
              <a:cs typeface="Avenir"/>
              <a:sym typeface="Avenir"/>
            </a:endParaRPr>
          </a:p>
        </p:txBody>
      </p:sp>
      <p:cxnSp>
        <p:nvCxnSpPr>
          <p:cNvPr id="531" name="Google Shape;531;p30"/>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sp>
        <p:nvSpPr>
          <p:cNvPr id="532" name="Google Shape;532;p30"/>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533" name="Google Shape;533;p30"/>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31"/>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540" name="Google Shape;540;p31"/>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541" name="Google Shape;541;p31"/>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542" name="Google Shape;542;p31"/>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543" name="Google Shape;543;p31"/>
          <p:cNvGrpSpPr/>
          <p:nvPr/>
        </p:nvGrpSpPr>
        <p:grpSpPr>
          <a:xfrm>
            <a:off x="8116806" y="1712085"/>
            <a:ext cx="1484695" cy="611304"/>
            <a:chOff x="2640082" y="2202430"/>
            <a:chExt cx="1288807" cy="611304"/>
          </a:xfrm>
        </p:grpSpPr>
        <p:sp>
          <p:nvSpPr>
            <p:cNvPr id="544" name="Google Shape;544;p31"/>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45" name="Google Shape;545;p31"/>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grpSp>
        <p:nvGrpSpPr>
          <p:cNvPr id="546" name="Google Shape;546;p31"/>
          <p:cNvGrpSpPr/>
          <p:nvPr/>
        </p:nvGrpSpPr>
        <p:grpSpPr>
          <a:xfrm>
            <a:off x="6457623" y="2719983"/>
            <a:ext cx="3356537" cy="830997"/>
            <a:chOff x="1160947" y="1923541"/>
            <a:chExt cx="2421059" cy="830997"/>
          </a:xfrm>
        </p:grpSpPr>
        <p:sp>
          <p:nvSpPr>
            <p:cNvPr id="547" name="Google Shape;547;p31"/>
            <p:cNvSpPr txBox="1"/>
            <p:nvPr/>
          </p:nvSpPr>
          <p:spPr>
            <a:xfrm>
              <a:off x="1160947" y="1923541"/>
              <a:ext cx="13437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48" name="Google Shape;548;p31"/>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49" name="Google Shape;549;p31"/>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grpSp>
      <p:grpSp>
        <p:nvGrpSpPr>
          <p:cNvPr id="550" name="Google Shape;550;p31"/>
          <p:cNvGrpSpPr/>
          <p:nvPr/>
        </p:nvGrpSpPr>
        <p:grpSpPr>
          <a:xfrm>
            <a:off x="6511111" y="3762376"/>
            <a:ext cx="3211389" cy="830997"/>
            <a:chOff x="1160947" y="1923541"/>
            <a:chExt cx="2316364" cy="830997"/>
          </a:xfrm>
        </p:grpSpPr>
        <p:sp>
          <p:nvSpPr>
            <p:cNvPr id="551" name="Google Shape;551;p31"/>
            <p:cNvSpPr txBox="1"/>
            <p:nvPr/>
          </p:nvSpPr>
          <p:spPr>
            <a:xfrm>
              <a:off x="1160947" y="1923541"/>
              <a:ext cx="124434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52" name="Google Shape;552;p31"/>
            <p:cNvSpPr txBox="1"/>
            <p:nvPr/>
          </p:nvSpPr>
          <p:spPr>
            <a:xfrm>
              <a:off x="2504041" y="2127523"/>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53" name="Google Shape;553;p31"/>
            <p:cNvSpPr txBox="1"/>
            <p:nvPr/>
          </p:nvSpPr>
          <p:spPr>
            <a:xfrm>
              <a:off x="2972959" y="2225909"/>
              <a:ext cx="50435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400</a:t>
              </a:r>
              <a:endParaRPr/>
            </a:p>
          </p:txBody>
        </p:sp>
      </p:grpSp>
      <p:sp>
        <p:nvSpPr>
          <p:cNvPr id="554" name="Google Shape;554;p31"/>
          <p:cNvSpPr txBox="1"/>
          <p:nvPr/>
        </p:nvSpPr>
        <p:spPr>
          <a:xfrm>
            <a:off x="6227788" y="5164542"/>
            <a:ext cx="4516412" cy="121900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Income</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555" name="Google Shape;555;p31"/>
          <p:cNvSpPr txBox="1"/>
          <p:nvPr/>
        </p:nvSpPr>
        <p:spPr>
          <a:xfrm>
            <a:off x="1519517" y="5164542"/>
            <a:ext cx="4514277" cy="1219006"/>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556" name="Google Shape;556;p31"/>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sp>
        <p:nvSpPr>
          <p:cNvPr id="557" name="Google Shape;557;p31"/>
          <p:cNvSpPr txBox="1"/>
          <p:nvPr/>
        </p:nvSpPr>
        <p:spPr>
          <a:xfrm rot="5400000">
            <a:off x="10400548" y="2788126"/>
            <a:ext cx="20537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558" name="Google Shape;558;p31"/>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559" name="Google Shape;559;p31"/>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560" name="Google Shape;560;p31"/>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561" name="Google Shape;561;p31"/>
          <p:cNvGrpSpPr/>
          <p:nvPr/>
        </p:nvGrpSpPr>
        <p:grpSpPr>
          <a:xfrm>
            <a:off x="2330580" y="1965230"/>
            <a:ext cx="3032198" cy="584776"/>
            <a:chOff x="1116105" y="2252876"/>
            <a:chExt cx="3032198" cy="584776"/>
          </a:xfrm>
        </p:grpSpPr>
        <p:sp>
          <p:nvSpPr>
            <p:cNvPr id="562" name="Google Shape;562;p31"/>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63" name="Google Shape;563;p31"/>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64" name="Google Shape;564;p31"/>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grpSp>
        <p:nvGrpSpPr>
          <p:cNvPr id="565" name="Google Shape;565;p31"/>
          <p:cNvGrpSpPr/>
          <p:nvPr/>
        </p:nvGrpSpPr>
        <p:grpSpPr>
          <a:xfrm>
            <a:off x="2330580" y="2586599"/>
            <a:ext cx="3032198" cy="609738"/>
            <a:chOff x="1116105" y="2227914"/>
            <a:chExt cx="3032198" cy="609738"/>
          </a:xfrm>
        </p:grpSpPr>
        <p:sp>
          <p:nvSpPr>
            <p:cNvPr id="566" name="Google Shape;566;p31"/>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67" name="Google Shape;567;p31"/>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68" name="Google Shape;568;p31"/>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grpSp>
      <p:grpSp>
        <p:nvGrpSpPr>
          <p:cNvPr id="569" name="Google Shape;569;p31"/>
          <p:cNvGrpSpPr/>
          <p:nvPr/>
        </p:nvGrpSpPr>
        <p:grpSpPr>
          <a:xfrm>
            <a:off x="2330580" y="3236109"/>
            <a:ext cx="3032198" cy="606559"/>
            <a:chOff x="1116105" y="2231093"/>
            <a:chExt cx="3032198" cy="606559"/>
          </a:xfrm>
        </p:grpSpPr>
        <p:sp>
          <p:nvSpPr>
            <p:cNvPr id="570" name="Google Shape;570;p31"/>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71" name="Google Shape;571;p31"/>
            <p:cNvSpPr txBox="1"/>
            <p:nvPr/>
          </p:nvSpPr>
          <p:spPr>
            <a:xfrm>
              <a:off x="2636461" y="2231093"/>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72" name="Google Shape;572;p31"/>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700</a:t>
              </a:r>
              <a:endParaRPr/>
            </a:p>
          </p:txBody>
        </p:sp>
      </p:grpSp>
      <p:grpSp>
        <p:nvGrpSpPr>
          <p:cNvPr id="573" name="Google Shape;573;p31"/>
          <p:cNvGrpSpPr/>
          <p:nvPr/>
        </p:nvGrpSpPr>
        <p:grpSpPr>
          <a:xfrm>
            <a:off x="2330580" y="3959159"/>
            <a:ext cx="3032198" cy="584775"/>
            <a:chOff x="1116105" y="2307812"/>
            <a:chExt cx="3032198" cy="584775"/>
          </a:xfrm>
        </p:grpSpPr>
        <p:sp>
          <p:nvSpPr>
            <p:cNvPr id="574" name="Google Shape;574;p31"/>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575" name="Google Shape;575;p31"/>
            <p:cNvSpPr txBox="1"/>
            <p:nvPr/>
          </p:nvSpPr>
          <p:spPr>
            <a:xfrm rot="10800000">
              <a:off x="2629619" y="230781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76" name="Google Shape;576;p31"/>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a:t>
              </a:r>
              <a:endParaRPr/>
            </a:p>
          </p:txBody>
        </p:sp>
      </p:grpSp>
      <p:sp>
        <p:nvSpPr>
          <p:cNvPr id="577" name="Google Shape;577;p31"/>
          <p:cNvSpPr txBox="1"/>
          <p:nvPr/>
        </p:nvSpPr>
        <p:spPr>
          <a:xfrm rot="-5400000">
            <a:off x="-471469" y="2764039"/>
            <a:ext cx="262712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578" name="Google Shape;578;p31"/>
          <p:cNvSpPr txBox="1"/>
          <p:nvPr/>
        </p:nvSpPr>
        <p:spPr>
          <a:xfrm rot="5400000">
            <a:off x="10933430" y="5601892"/>
            <a:ext cx="9412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579" name="Google Shape;579;p31"/>
          <p:cNvSpPr txBox="1"/>
          <p:nvPr/>
        </p:nvSpPr>
        <p:spPr>
          <a:xfrm rot="-5400000">
            <a:off x="366898" y="5479344"/>
            <a:ext cx="90120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580" name="Google Shape;580;p31"/>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581" name="Google Shape;581;p31"/>
          <p:cNvSpPr txBox="1"/>
          <p:nvPr/>
        </p:nvSpPr>
        <p:spPr>
          <a:xfrm>
            <a:off x="8518609" y="5255542"/>
            <a:ext cx="2128220" cy="63427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2" name="Google Shape;582;p31"/>
          <p:cNvSpPr txBox="1"/>
          <p:nvPr/>
        </p:nvSpPr>
        <p:spPr>
          <a:xfrm>
            <a:off x="1595196" y="5242678"/>
            <a:ext cx="2098288" cy="64713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3" name="Google Shape;583;p31"/>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584" name="Google Shape;584;p31"/>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81"/>
                                        </p:tgtEl>
                                      </p:cBhvr>
                                    </p:animEffect>
                                    <p:set>
                                      <p:cBhvr>
                                        <p:cTn id="7" dur="1" fill="hold">
                                          <p:stCondLst>
                                            <p:cond delay="500"/>
                                          </p:stCondLst>
                                        </p:cTn>
                                        <p:tgtEl>
                                          <p:spTgt spid="58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82"/>
                                        </p:tgtEl>
                                      </p:cBhvr>
                                    </p:animEffect>
                                    <p:set>
                                      <p:cBhvr>
                                        <p:cTn id="12" dur="1" fill="hold">
                                          <p:stCondLst>
                                            <p:cond delay="500"/>
                                          </p:stCondLst>
                                        </p:cTn>
                                        <p:tgtEl>
                                          <p:spTgt spid="5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32"/>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591" name="Google Shape;591;p32"/>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592" name="Google Shape;592;p32"/>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593" name="Google Shape;593;p32"/>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594" name="Google Shape;594;p32"/>
          <p:cNvGrpSpPr/>
          <p:nvPr/>
        </p:nvGrpSpPr>
        <p:grpSpPr>
          <a:xfrm>
            <a:off x="8116806" y="1712085"/>
            <a:ext cx="1484695" cy="611304"/>
            <a:chOff x="2640082" y="2202430"/>
            <a:chExt cx="1288807" cy="611304"/>
          </a:xfrm>
        </p:grpSpPr>
        <p:sp>
          <p:nvSpPr>
            <p:cNvPr id="595" name="Google Shape;595;p32"/>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596" name="Google Shape;596;p32"/>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grpSp>
        <p:nvGrpSpPr>
          <p:cNvPr id="597" name="Google Shape;597;p32"/>
          <p:cNvGrpSpPr/>
          <p:nvPr/>
        </p:nvGrpSpPr>
        <p:grpSpPr>
          <a:xfrm>
            <a:off x="6457623" y="2719983"/>
            <a:ext cx="3356537" cy="830997"/>
            <a:chOff x="1160947" y="1923541"/>
            <a:chExt cx="2421059" cy="830997"/>
          </a:xfrm>
        </p:grpSpPr>
        <p:sp>
          <p:nvSpPr>
            <p:cNvPr id="598" name="Google Shape;598;p32"/>
            <p:cNvSpPr txBox="1"/>
            <p:nvPr/>
          </p:nvSpPr>
          <p:spPr>
            <a:xfrm>
              <a:off x="1160947" y="1923541"/>
              <a:ext cx="13437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599" name="Google Shape;599;p32"/>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00" name="Google Shape;600;p32"/>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grpSp>
      <p:sp>
        <p:nvSpPr>
          <p:cNvPr id="601" name="Google Shape;601;p32"/>
          <p:cNvSpPr txBox="1"/>
          <p:nvPr/>
        </p:nvSpPr>
        <p:spPr>
          <a:xfrm>
            <a:off x="6511111" y="3762376"/>
            <a:ext cx="172515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602" name="Google Shape;602;p32"/>
          <p:cNvSpPr txBox="1"/>
          <p:nvPr/>
        </p:nvSpPr>
        <p:spPr>
          <a:xfrm>
            <a:off x="6227788" y="5164542"/>
            <a:ext cx="4516412" cy="121900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Income</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603" name="Google Shape;603;p32"/>
          <p:cNvSpPr txBox="1"/>
          <p:nvPr/>
        </p:nvSpPr>
        <p:spPr>
          <a:xfrm>
            <a:off x="1519517" y="5164542"/>
            <a:ext cx="4514277" cy="1219006"/>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604" name="Google Shape;604;p32"/>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sp>
        <p:nvSpPr>
          <p:cNvPr id="605" name="Google Shape;605;p32"/>
          <p:cNvSpPr txBox="1"/>
          <p:nvPr/>
        </p:nvSpPr>
        <p:spPr>
          <a:xfrm>
            <a:off x="6717327" y="5768626"/>
            <a:ext cx="16674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Consulting</a:t>
            </a:r>
            <a:endParaRPr/>
          </a:p>
        </p:txBody>
      </p:sp>
      <p:sp>
        <p:nvSpPr>
          <p:cNvPr id="606" name="Google Shape;606;p32"/>
          <p:cNvSpPr txBox="1"/>
          <p:nvPr/>
        </p:nvSpPr>
        <p:spPr>
          <a:xfrm>
            <a:off x="8647233" y="5646711"/>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07" name="Google Shape;607;p32"/>
          <p:cNvSpPr txBox="1"/>
          <p:nvPr/>
        </p:nvSpPr>
        <p:spPr>
          <a:xfrm>
            <a:off x="8815069" y="5768626"/>
            <a:ext cx="934455"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700</a:t>
            </a:r>
            <a:endParaRPr/>
          </a:p>
        </p:txBody>
      </p:sp>
      <p:sp>
        <p:nvSpPr>
          <p:cNvPr id="608" name="Google Shape;608;p32"/>
          <p:cNvSpPr txBox="1"/>
          <p:nvPr/>
        </p:nvSpPr>
        <p:spPr>
          <a:xfrm rot="5400000">
            <a:off x="10400548" y="2788126"/>
            <a:ext cx="20537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609" name="Google Shape;609;p32"/>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610" name="Google Shape;610;p32"/>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611" name="Google Shape;611;p32"/>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612" name="Google Shape;612;p32"/>
          <p:cNvGrpSpPr/>
          <p:nvPr/>
        </p:nvGrpSpPr>
        <p:grpSpPr>
          <a:xfrm>
            <a:off x="2330580" y="1965230"/>
            <a:ext cx="3032198" cy="584776"/>
            <a:chOff x="1116105" y="2252876"/>
            <a:chExt cx="3032198" cy="584776"/>
          </a:xfrm>
        </p:grpSpPr>
        <p:sp>
          <p:nvSpPr>
            <p:cNvPr id="613" name="Google Shape;613;p32"/>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14" name="Google Shape;614;p32"/>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15" name="Google Shape;615;p32"/>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grpSp>
        <p:nvGrpSpPr>
          <p:cNvPr id="616" name="Google Shape;616;p32"/>
          <p:cNvGrpSpPr/>
          <p:nvPr/>
        </p:nvGrpSpPr>
        <p:grpSpPr>
          <a:xfrm>
            <a:off x="2330580" y="2586599"/>
            <a:ext cx="3032198" cy="609738"/>
            <a:chOff x="1116105" y="2227914"/>
            <a:chExt cx="3032198" cy="609738"/>
          </a:xfrm>
        </p:grpSpPr>
        <p:sp>
          <p:nvSpPr>
            <p:cNvPr id="617" name="Google Shape;617;p32"/>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18" name="Google Shape;618;p32"/>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19" name="Google Shape;619;p32"/>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grpSp>
      <p:grpSp>
        <p:nvGrpSpPr>
          <p:cNvPr id="620" name="Google Shape;620;p32"/>
          <p:cNvGrpSpPr/>
          <p:nvPr/>
        </p:nvGrpSpPr>
        <p:grpSpPr>
          <a:xfrm>
            <a:off x="2330580" y="3236109"/>
            <a:ext cx="3032198" cy="606559"/>
            <a:chOff x="1116105" y="2231093"/>
            <a:chExt cx="3032198" cy="606559"/>
          </a:xfrm>
        </p:grpSpPr>
        <p:sp>
          <p:nvSpPr>
            <p:cNvPr id="621" name="Google Shape;621;p32"/>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22" name="Google Shape;622;p32"/>
            <p:cNvSpPr txBox="1"/>
            <p:nvPr/>
          </p:nvSpPr>
          <p:spPr>
            <a:xfrm>
              <a:off x="2636461" y="2231093"/>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23" name="Google Shape;623;p32"/>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700</a:t>
              </a:r>
              <a:endParaRPr/>
            </a:p>
          </p:txBody>
        </p:sp>
      </p:grpSp>
      <p:grpSp>
        <p:nvGrpSpPr>
          <p:cNvPr id="624" name="Google Shape;624;p32"/>
          <p:cNvGrpSpPr/>
          <p:nvPr/>
        </p:nvGrpSpPr>
        <p:grpSpPr>
          <a:xfrm>
            <a:off x="2330580" y="3959159"/>
            <a:ext cx="3032198" cy="584775"/>
            <a:chOff x="1116105" y="2307812"/>
            <a:chExt cx="3032198" cy="584775"/>
          </a:xfrm>
        </p:grpSpPr>
        <p:sp>
          <p:nvSpPr>
            <p:cNvPr id="625" name="Google Shape;625;p32"/>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26" name="Google Shape;626;p32"/>
            <p:cNvSpPr txBox="1"/>
            <p:nvPr/>
          </p:nvSpPr>
          <p:spPr>
            <a:xfrm rot="10800000">
              <a:off x="2629619" y="230781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27" name="Google Shape;627;p32"/>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a:t>
              </a:r>
              <a:endParaRPr/>
            </a:p>
          </p:txBody>
        </p:sp>
      </p:grpSp>
      <p:sp>
        <p:nvSpPr>
          <p:cNvPr id="628" name="Google Shape;628;p32"/>
          <p:cNvSpPr txBox="1"/>
          <p:nvPr/>
        </p:nvSpPr>
        <p:spPr>
          <a:xfrm rot="-5400000">
            <a:off x="-471469" y="2764039"/>
            <a:ext cx="262712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629" name="Google Shape;629;p32"/>
          <p:cNvSpPr txBox="1"/>
          <p:nvPr/>
        </p:nvSpPr>
        <p:spPr>
          <a:xfrm rot="5400000">
            <a:off x="10933430" y="5601892"/>
            <a:ext cx="9412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630" name="Google Shape;630;p32"/>
          <p:cNvSpPr txBox="1"/>
          <p:nvPr/>
        </p:nvSpPr>
        <p:spPr>
          <a:xfrm rot="-5400000">
            <a:off x="366898" y="5479344"/>
            <a:ext cx="90120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631" name="Google Shape;631;p32"/>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632" name="Google Shape;632;p32"/>
          <p:cNvSpPr txBox="1"/>
          <p:nvPr/>
        </p:nvSpPr>
        <p:spPr>
          <a:xfrm>
            <a:off x="8373166" y="3966358"/>
            <a:ext cx="38984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A5A5A5"/>
                </a:solidFill>
                <a:latin typeface="Avenir"/>
                <a:ea typeface="Avenir"/>
                <a:cs typeface="Avenir"/>
                <a:sym typeface="Avenir"/>
              </a:rPr>
              <a:t>↑</a:t>
            </a:r>
            <a:endParaRPr/>
          </a:p>
        </p:txBody>
      </p:sp>
      <p:sp>
        <p:nvSpPr>
          <p:cNvPr id="633" name="Google Shape;633;p32"/>
          <p:cNvSpPr txBox="1"/>
          <p:nvPr/>
        </p:nvSpPr>
        <p:spPr>
          <a:xfrm>
            <a:off x="9023271" y="406474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rgbClr val="A5A5A5"/>
                </a:solidFill>
                <a:latin typeface="Avenir"/>
                <a:ea typeface="Avenir"/>
                <a:cs typeface="Avenir"/>
                <a:sym typeface="Avenir"/>
              </a:rPr>
              <a:t>700</a:t>
            </a:r>
            <a:endParaRPr/>
          </a:p>
        </p:txBody>
      </p:sp>
      <p:sp>
        <p:nvSpPr>
          <p:cNvPr id="634" name="Google Shape;634;p32"/>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635" name="Google Shape;635;p32"/>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5"/>
                                        </p:tgtEl>
                                        <p:attrNameLst>
                                          <p:attrName>style.visibility</p:attrName>
                                        </p:attrNameLst>
                                      </p:cBhvr>
                                      <p:to>
                                        <p:strVal val="visible"/>
                                      </p:to>
                                    </p:set>
                                    <p:animEffect transition="in" filter="fade">
                                      <p:cBhvr>
                                        <p:cTn id="7" dur="500"/>
                                        <p:tgtEl>
                                          <p:spTgt spid="6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7"/>
                                        </p:tgtEl>
                                        <p:attrNameLst>
                                          <p:attrName>style.visibility</p:attrName>
                                        </p:attrNameLst>
                                      </p:cBhvr>
                                      <p:to>
                                        <p:strVal val="visible"/>
                                      </p:to>
                                    </p:set>
                                    <p:animEffect transition="in" filter="fade">
                                      <p:cBhvr>
                                        <p:cTn id="12" dur="500"/>
                                        <p:tgtEl>
                                          <p:spTgt spid="6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06"/>
                                        </p:tgtEl>
                                        <p:attrNameLst>
                                          <p:attrName>style.visibility</p:attrName>
                                        </p:attrNameLst>
                                      </p:cBhvr>
                                      <p:to>
                                        <p:strVal val="visible"/>
                                      </p:to>
                                    </p:set>
                                    <p:animEffect transition="in" filter="fade">
                                      <p:cBhvr>
                                        <p:cTn id="17" dur="500"/>
                                        <p:tgtEl>
                                          <p:spTgt spid="606"/>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632"/>
                                        </p:tgtEl>
                                        <p:attrNameLst>
                                          <p:attrName>style.visibility</p:attrName>
                                        </p:attrNameLst>
                                      </p:cBhvr>
                                      <p:to>
                                        <p:strVal val="visible"/>
                                      </p:to>
                                    </p:set>
                                    <p:animEffect transition="in" filter="fade">
                                      <p:cBhvr>
                                        <p:cTn id="21" dur="500"/>
                                        <p:tgtEl>
                                          <p:spTgt spid="632"/>
                                        </p:tgtEl>
                                      </p:cBhvr>
                                    </p:animEffect>
                                  </p:childTnLst>
                                </p:cTn>
                              </p:par>
                              <p:par>
                                <p:cTn id="22" presetID="10" presetClass="entr" presetSubtype="0" fill="hold" nodeType="withEffect">
                                  <p:stCondLst>
                                    <p:cond delay="0"/>
                                  </p:stCondLst>
                                  <p:childTnLst>
                                    <p:set>
                                      <p:cBhvr>
                                        <p:cTn id="23" dur="1" fill="hold">
                                          <p:stCondLst>
                                            <p:cond delay="0"/>
                                          </p:stCondLst>
                                        </p:cTn>
                                        <p:tgtEl>
                                          <p:spTgt spid="633"/>
                                        </p:tgtEl>
                                        <p:attrNameLst>
                                          <p:attrName>style.visibility</p:attrName>
                                        </p:attrNameLst>
                                      </p:cBhvr>
                                      <p:to>
                                        <p:strVal val="visible"/>
                                      </p:to>
                                    </p:set>
                                    <p:animEffect transition="in" filter="fade">
                                      <p:cBhvr>
                                        <p:cTn id="24" dur="500"/>
                                        <p:tgtEl>
                                          <p:spTgt spid="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33"/>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642" name="Google Shape;642;p33"/>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643" name="Google Shape;643;p33"/>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644" name="Google Shape;644;p33"/>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645" name="Google Shape;645;p33"/>
          <p:cNvGrpSpPr/>
          <p:nvPr/>
        </p:nvGrpSpPr>
        <p:grpSpPr>
          <a:xfrm>
            <a:off x="8116806" y="1712085"/>
            <a:ext cx="1484695" cy="611304"/>
            <a:chOff x="2640082" y="2202430"/>
            <a:chExt cx="1288807" cy="611304"/>
          </a:xfrm>
        </p:grpSpPr>
        <p:sp>
          <p:nvSpPr>
            <p:cNvPr id="646" name="Google Shape;646;p33"/>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47" name="Google Shape;647;p33"/>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grpSp>
        <p:nvGrpSpPr>
          <p:cNvPr id="648" name="Google Shape;648;p33"/>
          <p:cNvGrpSpPr/>
          <p:nvPr/>
        </p:nvGrpSpPr>
        <p:grpSpPr>
          <a:xfrm>
            <a:off x="6457623" y="2719983"/>
            <a:ext cx="3356537" cy="830997"/>
            <a:chOff x="1160947" y="1923541"/>
            <a:chExt cx="2421059" cy="830997"/>
          </a:xfrm>
        </p:grpSpPr>
        <p:sp>
          <p:nvSpPr>
            <p:cNvPr id="649" name="Google Shape;649;p33"/>
            <p:cNvSpPr txBox="1"/>
            <p:nvPr/>
          </p:nvSpPr>
          <p:spPr>
            <a:xfrm>
              <a:off x="1160947" y="1923541"/>
              <a:ext cx="13437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650" name="Google Shape;650;p33"/>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51" name="Google Shape;651;p33"/>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grpSp>
      <p:sp>
        <p:nvSpPr>
          <p:cNvPr id="652" name="Google Shape;652;p33"/>
          <p:cNvSpPr txBox="1"/>
          <p:nvPr/>
        </p:nvSpPr>
        <p:spPr>
          <a:xfrm>
            <a:off x="6511111" y="3762376"/>
            <a:ext cx="172515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653" name="Google Shape;653;p33"/>
          <p:cNvSpPr txBox="1"/>
          <p:nvPr/>
        </p:nvSpPr>
        <p:spPr>
          <a:xfrm>
            <a:off x="6227788" y="5164542"/>
            <a:ext cx="4516412" cy="121900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Income</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654" name="Google Shape;654;p33"/>
          <p:cNvSpPr txBox="1"/>
          <p:nvPr/>
        </p:nvSpPr>
        <p:spPr>
          <a:xfrm>
            <a:off x="1519517" y="5164542"/>
            <a:ext cx="4514277" cy="1219006"/>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655" name="Google Shape;655;p33"/>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sp>
        <p:nvSpPr>
          <p:cNvPr id="656" name="Google Shape;656;p33"/>
          <p:cNvSpPr txBox="1"/>
          <p:nvPr/>
        </p:nvSpPr>
        <p:spPr>
          <a:xfrm>
            <a:off x="2339787" y="5768626"/>
            <a:ext cx="152477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Travelling</a:t>
            </a:r>
            <a:endParaRPr/>
          </a:p>
        </p:txBody>
      </p:sp>
      <p:sp>
        <p:nvSpPr>
          <p:cNvPr id="657" name="Google Shape;657;p33"/>
          <p:cNvSpPr txBox="1"/>
          <p:nvPr/>
        </p:nvSpPr>
        <p:spPr>
          <a:xfrm>
            <a:off x="4214175" y="5642959"/>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58" name="Google Shape;658;p33"/>
          <p:cNvSpPr txBox="1"/>
          <p:nvPr/>
        </p:nvSpPr>
        <p:spPr>
          <a:xfrm>
            <a:off x="4437529" y="5768626"/>
            <a:ext cx="934455"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a:t>
            </a:r>
            <a:endParaRPr/>
          </a:p>
        </p:txBody>
      </p:sp>
      <p:grpSp>
        <p:nvGrpSpPr>
          <p:cNvPr id="659" name="Google Shape;659;p33"/>
          <p:cNvGrpSpPr/>
          <p:nvPr/>
        </p:nvGrpSpPr>
        <p:grpSpPr>
          <a:xfrm>
            <a:off x="6717327" y="5646711"/>
            <a:ext cx="3032197" cy="584775"/>
            <a:chOff x="1116105" y="2254072"/>
            <a:chExt cx="3032198" cy="584775"/>
          </a:xfrm>
        </p:grpSpPr>
        <p:sp>
          <p:nvSpPr>
            <p:cNvPr id="660" name="Google Shape;660;p33"/>
            <p:cNvSpPr txBox="1"/>
            <p:nvPr/>
          </p:nvSpPr>
          <p:spPr>
            <a:xfrm>
              <a:off x="1116105" y="2375987"/>
              <a:ext cx="166744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Consulting</a:t>
              </a:r>
              <a:endParaRPr/>
            </a:p>
          </p:txBody>
        </p:sp>
        <p:sp>
          <p:nvSpPr>
            <p:cNvPr id="661" name="Google Shape;661;p33"/>
            <p:cNvSpPr txBox="1"/>
            <p:nvPr/>
          </p:nvSpPr>
          <p:spPr>
            <a:xfrm>
              <a:off x="3046012" y="225407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62" name="Google Shape;662;p33"/>
            <p:cNvSpPr txBox="1"/>
            <p:nvPr/>
          </p:nvSpPr>
          <p:spPr>
            <a:xfrm>
              <a:off x="3213848" y="2375987"/>
              <a:ext cx="934455"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700</a:t>
              </a:r>
              <a:endParaRPr/>
            </a:p>
          </p:txBody>
        </p:sp>
      </p:grpSp>
      <p:sp>
        <p:nvSpPr>
          <p:cNvPr id="663" name="Google Shape;663;p33"/>
          <p:cNvSpPr txBox="1"/>
          <p:nvPr/>
        </p:nvSpPr>
        <p:spPr>
          <a:xfrm rot="5400000">
            <a:off x="10400548" y="2788126"/>
            <a:ext cx="20537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664" name="Google Shape;664;p33"/>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665" name="Google Shape;665;p33"/>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666" name="Google Shape;666;p33"/>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667" name="Google Shape;667;p33"/>
          <p:cNvGrpSpPr/>
          <p:nvPr/>
        </p:nvGrpSpPr>
        <p:grpSpPr>
          <a:xfrm>
            <a:off x="2330580" y="1965230"/>
            <a:ext cx="3032198" cy="584776"/>
            <a:chOff x="1116105" y="2252876"/>
            <a:chExt cx="3032198" cy="584776"/>
          </a:xfrm>
        </p:grpSpPr>
        <p:sp>
          <p:nvSpPr>
            <p:cNvPr id="668" name="Google Shape;668;p33"/>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69" name="Google Shape;669;p33"/>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70" name="Google Shape;670;p33"/>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grpSp>
        <p:nvGrpSpPr>
          <p:cNvPr id="671" name="Google Shape;671;p33"/>
          <p:cNvGrpSpPr/>
          <p:nvPr/>
        </p:nvGrpSpPr>
        <p:grpSpPr>
          <a:xfrm>
            <a:off x="2330580" y="2586599"/>
            <a:ext cx="3032198" cy="609738"/>
            <a:chOff x="1116105" y="2227914"/>
            <a:chExt cx="3032198" cy="609738"/>
          </a:xfrm>
        </p:grpSpPr>
        <p:sp>
          <p:nvSpPr>
            <p:cNvPr id="672" name="Google Shape;672;p33"/>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73" name="Google Shape;673;p33"/>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74" name="Google Shape;674;p33"/>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grpSp>
      <p:grpSp>
        <p:nvGrpSpPr>
          <p:cNvPr id="675" name="Google Shape;675;p33"/>
          <p:cNvGrpSpPr/>
          <p:nvPr/>
        </p:nvGrpSpPr>
        <p:grpSpPr>
          <a:xfrm>
            <a:off x="2330580" y="3236109"/>
            <a:ext cx="3032198" cy="606559"/>
            <a:chOff x="1116105" y="2231093"/>
            <a:chExt cx="3032198" cy="606559"/>
          </a:xfrm>
        </p:grpSpPr>
        <p:sp>
          <p:nvSpPr>
            <p:cNvPr id="676" name="Google Shape;676;p33"/>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77" name="Google Shape;677;p33"/>
            <p:cNvSpPr txBox="1"/>
            <p:nvPr/>
          </p:nvSpPr>
          <p:spPr>
            <a:xfrm>
              <a:off x="2636461" y="2231093"/>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78" name="Google Shape;678;p33"/>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700</a:t>
              </a:r>
              <a:endParaRPr/>
            </a:p>
          </p:txBody>
        </p:sp>
      </p:grpSp>
      <p:grpSp>
        <p:nvGrpSpPr>
          <p:cNvPr id="679" name="Google Shape;679;p33"/>
          <p:cNvGrpSpPr/>
          <p:nvPr/>
        </p:nvGrpSpPr>
        <p:grpSpPr>
          <a:xfrm>
            <a:off x="2330580" y="3959159"/>
            <a:ext cx="3032198" cy="584775"/>
            <a:chOff x="1116105" y="2307812"/>
            <a:chExt cx="3032198" cy="584775"/>
          </a:xfrm>
        </p:grpSpPr>
        <p:sp>
          <p:nvSpPr>
            <p:cNvPr id="680" name="Google Shape;680;p33"/>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681" name="Google Shape;681;p33"/>
            <p:cNvSpPr txBox="1"/>
            <p:nvPr/>
          </p:nvSpPr>
          <p:spPr>
            <a:xfrm rot="10800000">
              <a:off x="2629619" y="230781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682" name="Google Shape;682;p33"/>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a:t>
              </a:r>
              <a:endParaRPr/>
            </a:p>
          </p:txBody>
        </p:sp>
      </p:grpSp>
      <p:sp>
        <p:nvSpPr>
          <p:cNvPr id="683" name="Google Shape;683;p33"/>
          <p:cNvSpPr txBox="1"/>
          <p:nvPr/>
        </p:nvSpPr>
        <p:spPr>
          <a:xfrm rot="-5400000">
            <a:off x="-471469" y="2764039"/>
            <a:ext cx="262712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684" name="Google Shape;684;p33"/>
          <p:cNvSpPr txBox="1"/>
          <p:nvPr/>
        </p:nvSpPr>
        <p:spPr>
          <a:xfrm rot="5400000">
            <a:off x="10933430" y="5601892"/>
            <a:ext cx="9412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685" name="Google Shape;685;p33"/>
          <p:cNvSpPr txBox="1"/>
          <p:nvPr/>
        </p:nvSpPr>
        <p:spPr>
          <a:xfrm rot="-5400000">
            <a:off x="366898" y="5479344"/>
            <a:ext cx="90120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686" name="Google Shape;686;p33"/>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687" name="Google Shape;687;p33"/>
          <p:cNvSpPr txBox="1"/>
          <p:nvPr/>
        </p:nvSpPr>
        <p:spPr>
          <a:xfrm>
            <a:off x="8373166" y="3966358"/>
            <a:ext cx="38984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A5A5A5"/>
                </a:solidFill>
                <a:latin typeface="Avenir"/>
                <a:ea typeface="Avenir"/>
                <a:cs typeface="Avenir"/>
                <a:sym typeface="Avenir"/>
              </a:rPr>
              <a:t>↑</a:t>
            </a:r>
            <a:endParaRPr/>
          </a:p>
        </p:txBody>
      </p:sp>
      <p:sp>
        <p:nvSpPr>
          <p:cNvPr id="688" name="Google Shape;688;p33"/>
          <p:cNvSpPr txBox="1"/>
          <p:nvPr/>
        </p:nvSpPr>
        <p:spPr>
          <a:xfrm>
            <a:off x="9023271" y="406474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rgbClr val="A5A5A5"/>
                </a:solidFill>
                <a:latin typeface="Avenir"/>
                <a:ea typeface="Avenir"/>
                <a:cs typeface="Avenir"/>
                <a:sym typeface="Avenir"/>
              </a:rPr>
              <a:t>700</a:t>
            </a:r>
            <a:endParaRPr/>
          </a:p>
        </p:txBody>
      </p:sp>
      <p:sp>
        <p:nvSpPr>
          <p:cNvPr id="689" name="Google Shape;689;p33"/>
          <p:cNvSpPr txBox="1"/>
          <p:nvPr/>
        </p:nvSpPr>
        <p:spPr>
          <a:xfrm>
            <a:off x="9014427" y="4053828"/>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rgbClr val="A5A5A5"/>
                </a:solidFill>
                <a:latin typeface="Avenir"/>
                <a:ea typeface="Avenir"/>
                <a:cs typeface="Avenir"/>
                <a:sym typeface="Avenir"/>
              </a:rPr>
              <a:t>400</a:t>
            </a:r>
            <a:endParaRPr/>
          </a:p>
        </p:txBody>
      </p:sp>
      <p:sp>
        <p:nvSpPr>
          <p:cNvPr id="690" name="Google Shape;690;p33"/>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691" name="Google Shape;691;p33"/>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6"/>
                                        </p:tgtEl>
                                        <p:attrNameLst>
                                          <p:attrName>style.visibility</p:attrName>
                                        </p:attrNameLst>
                                      </p:cBhvr>
                                      <p:to>
                                        <p:strVal val="visible"/>
                                      </p:to>
                                    </p:set>
                                    <p:animEffect transition="in" filter="fade">
                                      <p:cBhvr>
                                        <p:cTn id="7" dur="500"/>
                                        <p:tgtEl>
                                          <p:spTgt spid="6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58"/>
                                        </p:tgtEl>
                                        <p:attrNameLst>
                                          <p:attrName>style.visibility</p:attrName>
                                        </p:attrNameLst>
                                      </p:cBhvr>
                                      <p:to>
                                        <p:strVal val="visible"/>
                                      </p:to>
                                    </p:set>
                                    <p:animEffect transition="in" filter="fade">
                                      <p:cBhvr>
                                        <p:cTn id="12" dur="500"/>
                                        <p:tgtEl>
                                          <p:spTgt spid="6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57"/>
                                        </p:tgtEl>
                                        <p:attrNameLst>
                                          <p:attrName>style.visibility</p:attrName>
                                        </p:attrNameLst>
                                      </p:cBhvr>
                                      <p:to>
                                        <p:strVal val="visible"/>
                                      </p:to>
                                    </p:set>
                                    <p:animEffect transition="in" filter="fade">
                                      <p:cBhvr>
                                        <p:cTn id="17" dur="500"/>
                                        <p:tgtEl>
                                          <p:spTgt spid="657"/>
                                        </p:tgtEl>
                                      </p:cBhvr>
                                    </p:animEffect>
                                  </p:childTnLst>
                                </p:cTn>
                              </p:par>
                            </p:childTnLst>
                          </p:cTn>
                        </p:par>
                        <p:par>
                          <p:cTn id="18" fill="hold">
                            <p:stCondLst>
                              <p:cond delay="500"/>
                            </p:stCondLst>
                            <p:childTnLst>
                              <p:par>
                                <p:cTn id="19" presetID="10" presetClass="exit" presetSubtype="0" fill="hold" nodeType="afterEffect">
                                  <p:stCondLst>
                                    <p:cond delay="0"/>
                                  </p:stCondLst>
                                  <p:childTnLst>
                                    <p:animEffect transition="out" filter="fade">
                                      <p:cBhvr>
                                        <p:cTn id="20" dur="500"/>
                                        <p:tgtEl>
                                          <p:spTgt spid="688"/>
                                        </p:tgtEl>
                                      </p:cBhvr>
                                    </p:animEffect>
                                    <p:set>
                                      <p:cBhvr>
                                        <p:cTn id="21" dur="1" fill="hold">
                                          <p:stCondLst>
                                            <p:cond delay="500"/>
                                          </p:stCondLst>
                                        </p:cTn>
                                        <p:tgtEl>
                                          <p:spTgt spid="688"/>
                                        </p:tgtEl>
                                        <p:attrNameLst>
                                          <p:attrName>style.visibility</p:attrName>
                                        </p:attrNameLst>
                                      </p:cBhvr>
                                      <p:to>
                                        <p:strVal val="hidden"/>
                                      </p:to>
                                    </p:se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689"/>
                                        </p:tgtEl>
                                        <p:attrNameLst>
                                          <p:attrName>style.visibility</p:attrName>
                                        </p:attrNameLst>
                                      </p:cBhvr>
                                      <p:to>
                                        <p:strVal val="visible"/>
                                      </p:to>
                                    </p:set>
                                    <p:animEffect transition="in" filter="fade">
                                      <p:cBhvr>
                                        <p:cTn id="25" dur="500"/>
                                        <p:tgtEl>
                                          <p:spTgt spid="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34"/>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698" name="Google Shape;698;p34"/>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699" name="Google Shape;699;p34"/>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700" name="Google Shape;700;p34"/>
          <p:cNvGrpSpPr/>
          <p:nvPr/>
        </p:nvGrpSpPr>
        <p:grpSpPr>
          <a:xfrm>
            <a:off x="8116806" y="1712085"/>
            <a:ext cx="1484695" cy="611304"/>
            <a:chOff x="2640082" y="2202430"/>
            <a:chExt cx="1288807" cy="611304"/>
          </a:xfrm>
        </p:grpSpPr>
        <p:sp>
          <p:nvSpPr>
            <p:cNvPr id="701" name="Google Shape;701;p34"/>
            <p:cNvSpPr txBox="1"/>
            <p:nvPr/>
          </p:nvSpPr>
          <p:spPr>
            <a:xfrm>
              <a:off x="2640082" y="2202430"/>
              <a:ext cx="338414"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702" name="Google Shape;702;p34"/>
            <p:cNvSpPr txBox="1"/>
            <p:nvPr/>
          </p:nvSpPr>
          <p:spPr>
            <a:xfrm>
              <a:off x="2950382" y="2352069"/>
              <a:ext cx="978507"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30,000</a:t>
              </a:r>
              <a:endParaRPr/>
            </a:p>
          </p:txBody>
        </p:sp>
      </p:grpSp>
      <p:grpSp>
        <p:nvGrpSpPr>
          <p:cNvPr id="703" name="Google Shape;703;p34"/>
          <p:cNvGrpSpPr/>
          <p:nvPr/>
        </p:nvGrpSpPr>
        <p:grpSpPr>
          <a:xfrm>
            <a:off x="6457623" y="2719983"/>
            <a:ext cx="3356537" cy="830997"/>
            <a:chOff x="1160947" y="1923541"/>
            <a:chExt cx="2421059" cy="830997"/>
          </a:xfrm>
        </p:grpSpPr>
        <p:sp>
          <p:nvSpPr>
            <p:cNvPr id="704" name="Google Shape;704;p34"/>
            <p:cNvSpPr txBox="1"/>
            <p:nvPr/>
          </p:nvSpPr>
          <p:spPr>
            <a:xfrm>
              <a:off x="1160947" y="1923541"/>
              <a:ext cx="1343784"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Contributed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705" name="Google Shape;705;p34"/>
            <p:cNvSpPr txBox="1"/>
            <p:nvPr/>
          </p:nvSpPr>
          <p:spPr>
            <a:xfrm>
              <a:off x="2513583" y="2116704"/>
              <a:ext cx="2811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706" name="Google Shape;706;p34"/>
            <p:cNvSpPr txBox="1"/>
            <p:nvPr/>
          </p:nvSpPr>
          <p:spPr>
            <a:xfrm>
              <a:off x="2768937" y="2239814"/>
              <a:ext cx="81306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20,000</a:t>
              </a:r>
              <a:endParaRPr/>
            </a:p>
          </p:txBody>
        </p:sp>
      </p:grpSp>
      <p:sp>
        <p:nvSpPr>
          <p:cNvPr id="707" name="Google Shape;707;p34"/>
          <p:cNvSpPr txBox="1"/>
          <p:nvPr/>
        </p:nvSpPr>
        <p:spPr>
          <a:xfrm>
            <a:off x="6511111" y="3762376"/>
            <a:ext cx="1725152"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Generated </a:t>
            </a:r>
            <a:br>
              <a:rPr lang="en-US" sz="2400">
                <a:solidFill>
                  <a:schemeClr val="dk1"/>
                </a:solidFill>
                <a:latin typeface="Avenir"/>
                <a:ea typeface="Avenir"/>
                <a:cs typeface="Avenir"/>
                <a:sym typeface="Avenir"/>
              </a:rPr>
            </a:br>
            <a:r>
              <a:rPr lang="en-US" sz="2400">
                <a:solidFill>
                  <a:schemeClr val="dk1"/>
                </a:solidFill>
                <a:latin typeface="Avenir"/>
                <a:ea typeface="Avenir"/>
                <a:cs typeface="Avenir"/>
                <a:sym typeface="Avenir"/>
              </a:rPr>
              <a:t>equity</a:t>
            </a:r>
            <a:endParaRPr/>
          </a:p>
        </p:txBody>
      </p:sp>
      <p:sp>
        <p:nvSpPr>
          <p:cNvPr id="708" name="Google Shape;708;p34"/>
          <p:cNvSpPr txBox="1"/>
          <p:nvPr/>
        </p:nvSpPr>
        <p:spPr>
          <a:xfrm>
            <a:off x="8373166" y="3966358"/>
            <a:ext cx="38984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709" name="Google Shape;709;p34"/>
          <p:cNvSpPr txBox="1"/>
          <p:nvPr/>
        </p:nvSpPr>
        <p:spPr>
          <a:xfrm>
            <a:off x="9023271" y="4064744"/>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rgbClr val="A5A5A5"/>
                </a:solidFill>
                <a:latin typeface="Avenir"/>
                <a:ea typeface="Avenir"/>
                <a:cs typeface="Avenir"/>
                <a:sym typeface="Avenir"/>
              </a:rPr>
              <a:t>400</a:t>
            </a:r>
            <a:endParaRPr/>
          </a:p>
        </p:txBody>
      </p:sp>
      <p:grpSp>
        <p:nvGrpSpPr>
          <p:cNvPr id="710" name="Google Shape;710;p34"/>
          <p:cNvGrpSpPr/>
          <p:nvPr/>
        </p:nvGrpSpPr>
        <p:grpSpPr>
          <a:xfrm>
            <a:off x="1354633" y="4641124"/>
            <a:ext cx="9550931" cy="1880699"/>
            <a:chOff x="1354633" y="4641124"/>
            <a:chExt cx="9550931" cy="1880699"/>
          </a:xfrm>
        </p:grpSpPr>
        <p:sp>
          <p:nvSpPr>
            <p:cNvPr id="711" name="Google Shape;711;p34"/>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712" name="Google Shape;712;p34"/>
            <p:cNvSpPr txBox="1"/>
            <p:nvPr/>
          </p:nvSpPr>
          <p:spPr>
            <a:xfrm>
              <a:off x="6227788" y="5164542"/>
              <a:ext cx="4516412" cy="121900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Income</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713" name="Google Shape;713;p34"/>
            <p:cNvSpPr txBox="1"/>
            <p:nvPr/>
          </p:nvSpPr>
          <p:spPr>
            <a:xfrm>
              <a:off x="1519517" y="5164542"/>
              <a:ext cx="4514277" cy="1219006"/>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714" name="Google Shape;714;p34"/>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grpSp>
          <p:nvGrpSpPr>
            <p:cNvPr id="715" name="Google Shape;715;p34"/>
            <p:cNvGrpSpPr/>
            <p:nvPr/>
          </p:nvGrpSpPr>
          <p:grpSpPr>
            <a:xfrm>
              <a:off x="2339787" y="5642959"/>
              <a:ext cx="3032197" cy="587332"/>
              <a:chOff x="1116105" y="2250320"/>
              <a:chExt cx="3032198" cy="587332"/>
            </a:xfrm>
          </p:grpSpPr>
          <p:sp>
            <p:nvSpPr>
              <p:cNvPr id="716" name="Google Shape;716;p34"/>
              <p:cNvSpPr txBox="1"/>
              <p:nvPr/>
            </p:nvSpPr>
            <p:spPr>
              <a:xfrm>
                <a:off x="1116105" y="2375987"/>
                <a:ext cx="152477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Travelling</a:t>
                </a:r>
                <a:endParaRPr/>
              </a:p>
            </p:txBody>
          </p:sp>
          <p:sp>
            <p:nvSpPr>
              <p:cNvPr id="717" name="Google Shape;717;p34"/>
              <p:cNvSpPr txBox="1"/>
              <p:nvPr/>
            </p:nvSpPr>
            <p:spPr>
              <a:xfrm>
                <a:off x="2990494" y="2250320"/>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718" name="Google Shape;718;p34"/>
              <p:cNvSpPr txBox="1"/>
              <p:nvPr/>
            </p:nvSpPr>
            <p:spPr>
              <a:xfrm>
                <a:off x="3213848" y="2375987"/>
                <a:ext cx="934455"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a:t>
                </a:r>
                <a:endParaRPr/>
              </a:p>
            </p:txBody>
          </p:sp>
        </p:grpSp>
        <p:grpSp>
          <p:nvGrpSpPr>
            <p:cNvPr id="719" name="Google Shape;719;p34"/>
            <p:cNvGrpSpPr/>
            <p:nvPr/>
          </p:nvGrpSpPr>
          <p:grpSpPr>
            <a:xfrm>
              <a:off x="6717327" y="5646711"/>
              <a:ext cx="3032197" cy="584775"/>
              <a:chOff x="1116105" y="2254072"/>
              <a:chExt cx="3032198" cy="584775"/>
            </a:xfrm>
          </p:grpSpPr>
          <p:sp>
            <p:nvSpPr>
              <p:cNvPr id="720" name="Google Shape;720;p34"/>
              <p:cNvSpPr txBox="1"/>
              <p:nvPr/>
            </p:nvSpPr>
            <p:spPr>
              <a:xfrm>
                <a:off x="1116105" y="2375987"/>
                <a:ext cx="166744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Consulting</a:t>
                </a:r>
                <a:endParaRPr/>
              </a:p>
            </p:txBody>
          </p:sp>
          <p:sp>
            <p:nvSpPr>
              <p:cNvPr id="721" name="Google Shape;721;p34"/>
              <p:cNvSpPr txBox="1"/>
              <p:nvPr/>
            </p:nvSpPr>
            <p:spPr>
              <a:xfrm>
                <a:off x="3046012" y="225407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722" name="Google Shape;722;p34"/>
              <p:cNvSpPr txBox="1"/>
              <p:nvPr/>
            </p:nvSpPr>
            <p:spPr>
              <a:xfrm>
                <a:off x="3213848" y="2375987"/>
                <a:ext cx="934455"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700</a:t>
                </a:r>
                <a:endParaRPr/>
              </a:p>
            </p:txBody>
          </p:sp>
        </p:grpSp>
      </p:grpSp>
      <p:sp>
        <p:nvSpPr>
          <p:cNvPr id="723" name="Google Shape;723;p34"/>
          <p:cNvSpPr txBox="1"/>
          <p:nvPr/>
        </p:nvSpPr>
        <p:spPr>
          <a:xfrm rot="5400000">
            <a:off x="10400548" y="2788126"/>
            <a:ext cx="20537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724" name="Google Shape;724;p34"/>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725" name="Google Shape;725;p34"/>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726" name="Google Shape;726;p34"/>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grpSp>
        <p:nvGrpSpPr>
          <p:cNvPr id="727" name="Google Shape;727;p34"/>
          <p:cNvGrpSpPr/>
          <p:nvPr/>
        </p:nvGrpSpPr>
        <p:grpSpPr>
          <a:xfrm>
            <a:off x="2330580" y="1965230"/>
            <a:ext cx="3032198" cy="584776"/>
            <a:chOff x="1116105" y="2252876"/>
            <a:chExt cx="3032198" cy="584776"/>
          </a:xfrm>
        </p:grpSpPr>
        <p:sp>
          <p:nvSpPr>
            <p:cNvPr id="728" name="Google Shape;728;p34"/>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729" name="Google Shape;729;p34"/>
            <p:cNvSpPr txBox="1"/>
            <p:nvPr/>
          </p:nvSpPr>
          <p:spPr>
            <a:xfrm>
              <a:off x="2646615" y="2252876"/>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730" name="Google Shape;730;p34"/>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30,000</a:t>
              </a:r>
              <a:endParaRPr/>
            </a:p>
          </p:txBody>
        </p:sp>
      </p:grpSp>
      <p:grpSp>
        <p:nvGrpSpPr>
          <p:cNvPr id="731" name="Google Shape;731;p34"/>
          <p:cNvGrpSpPr/>
          <p:nvPr/>
        </p:nvGrpSpPr>
        <p:grpSpPr>
          <a:xfrm>
            <a:off x="2330580" y="2586599"/>
            <a:ext cx="3032198" cy="609738"/>
            <a:chOff x="1116105" y="2227914"/>
            <a:chExt cx="3032198" cy="609738"/>
          </a:xfrm>
        </p:grpSpPr>
        <p:sp>
          <p:nvSpPr>
            <p:cNvPr id="732" name="Google Shape;732;p34"/>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733" name="Google Shape;733;p34"/>
            <p:cNvSpPr txBox="1"/>
            <p:nvPr/>
          </p:nvSpPr>
          <p:spPr>
            <a:xfrm>
              <a:off x="2646615" y="2227914"/>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734" name="Google Shape;734;p34"/>
            <p:cNvSpPr txBox="1"/>
            <p:nvPr/>
          </p:nvSpPr>
          <p:spPr>
            <a:xfrm>
              <a:off x="3021071" y="2375987"/>
              <a:ext cx="1127232"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20,000</a:t>
              </a:r>
              <a:endParaRPr/>
            </a:p>
          </p:txBody>
        </p:sp>
      </p:grpSp>
      <p:grpSp>
        <p:nvGrpSpPr>
          <p:cNvPr id="735" name="Google Shape;735;p34"/>
          <p:cNvGrpSpPr/>
          <p:nvPr/>
        </p:nvGrpSpPr>
        <p:grpSpPr>
          <a:xfrm>
            <a:off x="2330580" y="3236109"/>
            <a:ext cx="3032198" cy="606559"/>
            <a:chOff x="1116105" y="2231093"/>
            <a:chExt cx="3032198" cy="606559"/>
          </a:xfrm>
        </p:grpSpPr>
        <p:sp>
          <p:nvSpPr>
            <p:cNvPr id="736" name="Google Shape;736;p34"/>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737" name="Google Shape;737;p34"/>
            <p:cNvSpPr txBox="1"/>
            <p:nvPr/>
          </p:nvSpPr>
          <p:spPr>
            <a:xfrm>
              <a:off x="2636461" y="2231093"/>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738" name="Google Shape;738;p34"/>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6"/>
                  </a:solidFill>
                  <a:latin typeface="Avenir"/>
                  <a:ea typeface="Avenir"/>
                  <a:cs typeface="Avenir"/>
                  <a:sym typeface="Avenir"/>
                </a:rPr>
                <a:t>700</a:t>
              </a:r>
              <a:endParaRPr/>
            </a:p>
          </p:txBody>
        </p:sp>
      </p:grpSp>
      <p:grpSp>
        <p:nvGrpSpPr>
          <p:cNvPr id="739" name="Google Shape;739;p34"/>
          <p:cNvGrpSpPr/>
          <p:nvPr/>
        </p:nvGrpSpPr>
        <p:grpSpPr>
          <a:xfrm>
            <a:off x="2330580" y="3959159"/>
            <a:ext cx="3032198" cy="584775"/>
            <a:chOff x="1116105" y="2307812"/>
            <a:chExt cx="3032198" cy="584775"/>
          </a:xfrm>
        </p:grpSpPr>
        <p:sp>
          <p:nvSpPr>
            <p:cNvPr id="740" name="Google Shape;740;p34"/>
            <p:cNvSpPr txBox="1"/>
            <p:nvPr/>
          </p:nvSpPr>
          <p:spPr>
            <a:xfrm>
              <a:off x="1116105" y="2375987"/>
              <a:ext cx="90441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Cash</a:t>
              </a:r>
              <a:endParaRPr/>
            </a:p>
          </p:txBody>
        </p:sp>
        <p:sp>
          <p:nvSpPr>
            <p:cNvPr id="741" name="Google Shape;741;p34"/>
            <p:cNvSpPr txBox="1"/>
            <p:nvPr/>
          </p:nvSpPr>
          <p:spPr>
            <a:xfrm rot="10800000">
              <a:off x="2629619" y="2307812"/>
              <a:ext cx="38985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dk1"/>
                  </a:solidFill>
                  <a:latin typeface="Avenir"/>
                  <a:ea typeface="Avenir"/>
                  <a:cs typeface="Avenir"/>
                  <a:sym typeface="Avenir"/>
                </a:rPr>
                <a:t>↑</a:t>
              </a:r>
              <a:endParaRPr/>
            </a:p>
          </p:txBody>
        </p:sp>
        <p:sp>
          <p:nvSpPr>
            <p:cNvPr id="742" name="Google Shape;742;p34"/>
            <p:cNvSpPr txBox="1"/>
            <p:nvPr/>
          </p:nvSpPr>
          <p:spPr>
            <a:xfrm>
              <a:off x="3449074" y="2375987"/>
              <a:ext cx="699229" cy="46166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400" b="1">
                  <a:solidFill>
                    <a:schemeClr val="accent2"/>
                  </a:solidFill>
                  <a:latin typeface="Avenir"/>
                  <a:ea typeface="Avenir"/>
                  <a:cs typeface="Avenir"/>
                  <a:sym typeface="Avenir"/>
                </a:rPr>
                <a:t>300</a:t>
              </a:r>
              <a:endParaRPr/>
            </a:p>
          </p:txBody>
        </p:sp>
      </p:grpSp>
      <p:sp>
        <p:nvSpPr>
          <p:cNvPr id="743" name="Google Shape;743;p34"/>
          <p:cNvSpPr txBox="1"/>
          <p:nvPr/>
        </p:nvSpPr>
        <p:spPr>
          <a:xfrm rot="-5400000">
            <a:off x="-471469" y="2764039"/>
            <a:ext cx="262712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744" name="Google Shape;744;p34"/>
          <p:cNvSpPr txBox="1"/>
          <p:nvPr/>
        </p:nvSpPr>
        <p:spPr>
          <a:xfrm rot="5400000">
            <a:off x="10933430" y="5601892"/>
            <a:ext cx="9412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745" name="Google Shape;745;p34"/>
          <p:cNvSpPr txBox="1"/>
          <p:nvPr/>
        </p:nvSpPr>
        <p:spPr>
          <a:xfrm rot="-5400000">
            <a:off x="366898" y="5479344"/>
            <a:ext cx="90120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746" name="Google Shape;746;p34"/>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747" name="Google Shape;747;p34"/>
          <p:cNvSpPr txBox="1"/>
          <p:nvPr/>
        </p:nvSpPr>
        <p:spPr>
          <a:xfrm>
            <a:off x="6365699" y="1834676"/>
            <a:ext cx="155523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Bank loan</a:t>
            </a:r>
            <a:endParaRPr/>
          </a:p>
        </p:txBody>
      </p:sp>
      <p:sp>
        <p:nvSpPr>
          <p:cNvPr id="748" name="Google Shape;748;p34"/>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10"/>
                                        </p:tgtEl>
                                      </p:cBhvr>
                                    </p:animEffect>
                                    <p:set>
                                      <p:cBhvr>
                                        <p:cTn id="7" dur="1" fill="hold">
                                          <p:stCondLst>
                                            <p:cond delay="500"/>
                                          </p:stCondLst>
                                        </p:cTn>
                                        <p:tgtEl>
                                          <p:spTgt spid="7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0"/>
                                        </p:tgtEl>
                                        <p:attrNameLst>
                                          <p:attrName>style.visibility</p:attrName>
                                        </p:attrNameLst>
                                      </p:cBhvr>
                                      <p:to>
                                        <p:strVal val="visible"/>
                                      </p:to>
                                    </p:set>
                                    <p:animEffect transition="in" filter="fade">
                                      <p:cBhvr>
                                        <p:cTn id="12" dur="500"/>
                                        <p:tgtEl>
                                          <p:spTgt spid="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35"/>
          <p:cNvSpPr txBox="1"/>
          <p:nvPr/>
        </p:nvSpPr>
        <p:spPr>
          <a:xfrm>
            <a:off x="6457623" y="3661110"/>
            <a:ext cx="3356537" cy="993462"/>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755" name="Google Shape;755;p35"/>
          <p:cNvSpPr txBox="1"/>
          <p:nvPr/>
        </p:nvSpPr>
        <p:spPr>
          <a:xfrm>
            <a:off x="6227788" y="2623662"/>
            <a:ext cx="4677777" cy="2227378"/>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Equity</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756" name="Google Shape;756;p35"/>
          <p:cNvSpPr txBox="1"/>
          <p:nvPr/>
        </p:nvSpPr>
        <p:spPr>
          <a:xfrm>
            <a:off x="6227788" y="1325627"/>
            <a:ext cx="4677777" cy="115081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Liabilities</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757" name="Google Shape;757;p35"/>
          <p:cNvSpPr txBox="1"/>
          <p:nvPr/>
        </p:nvSpPr>
        <p:spPr>
          <a:xfrm>
            <a:off x="7681632" y="3982991"/>
            <a:ext cx="90851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venir"/>
                <a:ea typeface="Avenir"/>
                <a:cs typeface="Avenir"/>
                <a:sym typeface="Avenir"/>
              </a:rPr>
              <a:t>Profit</a:t>
            </a:r>
            <a:endParaRPr/>
          </a:p>
        </p:txBody>
      </p:sp>
      <p:grpSp>
        <p:nvGrpSpPr>
          <p:cNvPr id="758" name="Google Shape;758;p35"/>
          <p:cNvGrpSpPr/>
          <p:nvPr/>
        </p:nvGrpSpPr>
        <p:grpSpPr>
          <a:xfrm>
            <a:off x="1354633" y="4641124"/>
            <a:ext cx="9550931" cy="1880699"/>
            <a:chOff x="1354633" y="4641124"/>
            <a:chExt cx="9550931" cy="1880699"/>
          </a:xfrm>
        </p:grpSpPr>
        <p:sp>
          <p:nvSpPr>
            <p:cNvPr id="759" name="Google Shape;759;p35"/>
            <p:cNvSpPr txBox="1"/>
            <p:nvPr/>
          </p:nvSpPr>
          <p:spPr>
            <a:xfrm>
              <a:off x="1354633" y="5003440"/>
              <a:ext cx="9550931" cy="1518383"/>
            </a:xfrm>
            <a:prstGeom prst="rect">
              <a:avLst/>
            </a:prstGeom>
            <a:no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760" name="Google Shape;760;p35"/>
            <p:cNvSpPr txBox="1"/>
            <p:nvPr/>
          </p:nvSpPr>
          <p:spPr>
            <a:xfrm>
              <a:off x="6227788" y="5164542"/>
              <a:ext cx="4516412" cy="1219006"/>
            </a:xfrm>
            <a:prstGeom prst="rect">
              <a:avLst/>
            </a:prstGeom>
            <a:no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a:solidFill>
                    <a:schemeClr val="dk1"/>
                  </a:solidFill>
                  <a:latin typeface="Avenir"/>
                  <a:ea typeface="Avenir"/>
                  <a:cs typeface="Avenir"/>
                  <a:sym typeface="Avenir"/>
                </a:rPr>
                <a:t>Income</a:t>
              </a:r>
              <a:r>
                <a:rPr lang="en-US" sz="2800" b="1">
                  <a:solidFill>
                    <a:schemeClr val="lt1"/>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761" name="Google Shape;761;p35"/>
            <p:cNvSpPr txBox="1"/>
            <p:nvPr/>
          </p:nvSpPr>
          <p:spPr>
            <a:xfrm>
              <a:off x="1519517" y="5164542"/>
              <a:ext cx="4514277" cy="1219006"/>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Expenses</a:t>
              </a:r>
              <a:endParaRPr/>
            </a:p>
          </p:txBody>
        </p:sp>
        <p:cxnSp>
          <p:nvCxnSpPr>
            <p:cNvPr id="762" name="Google Shape;762;p35"/>
            <p:cNvCxnSpPr/>
            <p:nvPr/>
          </p:nvCxnSpPr>
          <p:spPr>
            <a:xfrm>
              <a:off x="8116806" y="4641124"/>
              <a:ext cx="0" cy="362316"/>
            </a:xfrm>
            <a:prstGeom prst="straightConnector1">
              <a:avLst/>
            </a:prstGeom>
            <a:noFill/>
            <a:ln w="76200" cap="flat" cmpd="sng">
              <a:solidFill>
                <a:srgbClr val="942093"/>
              </a:solidFill>
              <a:prstDash val="solid"/>
              <a:miter lim="800000"/>
              <a:headEnd type="none" w="sm" len="sm"/>
              <a:tailEnd type="none" w="sm" len="sm"/>
            </a:ln>
          </p:spPr>
        </p:cxnSp>
      </p:grpSp>
      <p:sp>
        <p:nvSpPr>
          <p:cNvPr id="763" name="Google Shape;763;p35"/>
          <p:cNvSpPr txBox="1"/>
          <p:nvPr/>
        </p:nvSpPr>
        <p:spPr>
          <a:xfrm rot="5400000">
            <a:off x="10400548" y="2788126"/>
            <a:ext cx="20537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Obligations</a:t>
            </a:r>
            <a:endParaRPr/>
          </a:p>
        </p:txBody>
      </p:sp>
      <p:sp>
        <p:nvSpPr>
          <p:cNvPr id="764" name="Google Shape;764;p35"/>
          <p:cNvSpPr txBox="1"/>
          <p:nvPr/>
        </p:nvSpPr>
        <p:spPr>
          <a:xfrm>
            <a:off x="8641975" y="897526"/>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cxnSp>
        <p:nvCxnSpPr>
          <p:cNvPr id="765" name="Google Shape;765;p35"/>
          <p:cNvCxnSpPr/>
          <p:nvPr/>
        </p:nvCxnSpPr>
        <p:spPr>
          <a:xfrm rot="10800000" flipH="1">
            <a:off x="3613035" y="1065456"/>
            <a:ext cx="4777463" cy="18029"/>
          </a:xfrm>
          <a:prstGeom prst="straightConnector1">
            <a:avLst/>
          </a:prstGeom>
          <a:noFill/>
          <a:ln w="28575" cap="flat" cmpd="sng">
            <a:solidFill>
              <a:schemeClr val="accent1"/>
            </a:solidFill>
            <a:prstDash val="dot"/>
            <a:miter lim="800000"/>
            <a:headEnd type="none" w="sm" len="sm"/>
            <a:tailEnd type="none" w="sm" len="sm"/>
          </a:ln>
        </p:spPr>
      </p:cxnSp>
      <p:sp>
        <p:nvSpPr>
          <p:cNvPr id="766" name="Google Shape;766;p35"/>
          <p:cNvSpPr txBox="1"/>
          <p:nvPr/>
        </p:nvSpPr>
        <p:spPr>
          <a:xfrm>
            <a:off x="1358153" y="1325627"/>
            <a:ext cx="4679162" cy="3525413"/>
          </a:xfrm>
          <a:prstGeom prst="rect">
            <a:avLst/>
          </a:prstGeom>
          <a:no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800" b="1">
                <a:solidFill>
                  <a:schemeClr val="lt1"/>
                </a:solidFill>
                <a:latin typeface="Avenir"/>
                <a:ea typeface="Avenir"/>
                <a:cs typeface="Avenir"/>
                <a:sym typeface="Avenir"/>
              </a:rPr>
              <a:t>_</a:t>
            </a:r>
            <a:r>
              <a:rPr lang="en-US" sz="2800">
                <a:solidFill>
                  <a:schemeClr val="dk1"/>
                </a:solidFill>
                <a:latin typeface="Avenir"/>
                <a:ea typeface="Avenir"/>
                <a:cs typeface="Avenir"/>
                <a:sym typeface="Avenir"/>
              </a:rPr>
              <a:t>Assets</a:t>
            </a:r>
            <a:endParaRPr/>
          </a:p>
        </p:txBody>
      </p:sp>
      <p:sp>
        <p:nvSpPr>
          <p:cNvPr id="767" name="Google Shape;767;p35"/>
          <p:cNvSpPr txBox="1"/>
          <p:nvPr/>
        </p:nvSpPr>
        <p:spPr>
          <a:xfrm rot="-5400000">
            <a:off x="-471469" y="2764039"/>
            <a:ext cx="262712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Valuable things</a:t>
            </a:r>
            <a:endParaRPr/>
          </a:p>
        </p:txBody>
      </p:sp>
      <p:sp>
        <p:nvSpPr>
          <p:cNvPr id="768" name="Google Shape;768;p35"/>
          <p:cNvSpPr txBox="1"/>
          <p:nvPr/>
        </p:nvSpPr>
        <p:spPr>
          <a:xfrm rot="5400000">
            <a:off x="10933430" y="5601892"/>
            <a:ext cx="94128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VGA</a:t>
            </a:r>
            <a:endParaRPr/>
          </a:p>
        </p:txBody>
      </p:sp>
      <p:sp>
        <p:nvSpPr>
          <p:cNvPr id="769" name="Google Shape;769;p35"/>
          <p:cNvSpPr txBox="1"/>
          <p:nvPr/>
        </p:nvSpPr>
        <p:spPr>
          <a:xfrm rot="-5400000">
            <a:off x="366898" y="5479344"/>
            <a:ext cx="90120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rgbClr val="7F7F7F"/>
                </a:solidFill>
                <a:latin typeface="Avenir"/>
                <a:ea typeface="Avenir"/>
                <a:cs typeface="Avenir"/>
                <a:sym typeface="Avenir"/>
              </a:rPr>
              <a:t>VSA</a:t>
            </a:r>
            <a:endParaRPr/>
          </a:p>
        </p:txBody>
      </p:sp>
      <p:sp>
        <p:nvSpPr>
          <p:cNvPr id="770" name="Google Shape;770;p35"/>
          <p:cNvSpPr txBox="1"/>
          <p:nvPr/>
        </p:nvSpPr>
        <p:spPr>
          <a:xfrm>
            <a:off x="1341185" y="894976"/>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771" name="Google Shape;771;p35"/>
          <p:cNvSpPr txBox="1"/>
          <p:nvPr/>
        </p:nvSpPr>
        <p:spPr>
          <a:xfrm>
            <a:off x="3613035" y="500757"/>
            <a:ext cx="47774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accent1"/>
                </a:solidFill>
                <a:latin typeface="Avenir"/>
                <a:ea typeface="Avenir"/>
                <a:cs typeface="Avenir"/>
                <a:sym typeface="Avenir"/>
              </a:rPr>
              <a:t>My Consulting Limited</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58"/>
                                        </p:tgtEl>
                                      </p:cBhvr>
                                    </p:animEffect>
                                    <p:set>
                                      <p:cBhvr>
                                        <p:cTn id="7" dur="1" fill="hold">
                                          <p:stCondLst>
                                            <p:cond delay="500"/>
                                          </p:stCondLst>
                                        </p:cTn>
                                        <p:tgtEl>
                                          <p:spTgt spid="75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58"/>
                                        </p:tgtEl>
                                        <p:attrNameLst>
                                          <p:attrName>style.visibility</p:attrName>
                                        </p:attrNameLst>
                                      </p:cBhvr>
                                      <p:to>
                                        <p:strVal val="visible"/>
                                      </p:to>
                                    </p:set>
                                    <p:animEffect transition="in" filter="fade">
                                      <p:cBhvr>
                                        <p:cTn id="12" dur="500"/>
                                        <p:tgtEl>
                                          <p:spTgt spid="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776"/>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EE599"/>
        </a:solidFill>
        <a:effectLst/>
      </p:bgPr>
    </p:bg>
    <p:spTree>
      <p:nvGrpSpPr>
        <p:cNvPr id="1" name="Shape 781"/>
        <p:cNvGrpSpPr/>
        <p:nvPr/>
      </p:nvGrpSpPr>
      <p:grpSpPr>
        <a:xfrm>
          <a:off x="0" y="0"/>
          <a:ext cx="0" cy="0"/>
          <a:chOff x="0" y="0"/>
          <a:chExt cx="0" cy="0"/>
        </a:xfrm>
      </p:grpSpPr>
      <p:sp>
        <p:nvSpPr>
          <p:cNvPr id="782" name="Google Shape;782;p37"/>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000" b="1">
                <a:solidFill>
                  <a:schemeClr val="accent4"/>
                </a:solidFill>
                <a:latin typeface="Avenir"/>
                <a:ea typeface="Avenir"/>
                <a:cs typeface="Avenir"/>
                <a:sym typeface="Avenir"/>
              </a:rPr>
              <a:t>4.  Classic Transactions</a:t>
            </a:r>
            <a:endParaRPr/>
          </a:p>
        </p:txBody>
      </p:sp>
      <p:pic>
        <p:nvPicPr>
          <p:cNvPr id="783" name="Google Shape;783;p37"/>
          <p:cNvPicPr preferRelativeResize="0"/>
          <p:nvPr/>
        </p:nvPicPr>
        <p:blipFill rotWithShape="1">
          <a:blip r:embed="rId3">
            <a:alphaModFix/>
          </a:blip>
          <a:srcRect/>
          <a:stretch/>
        </p:blipFill>
        <p:spPr>
          <a:xfrm rot="-662745">
            <a:off x="929161" y="2679470"/>
            <a:ext cx="2156345" cy="1499063"/>
          </a:xfrm>
          <a:prstGeom prst="rect">
            <a:avLst/>
          </a:prstGeom>
          <a:noFill/>
          <a:ln w="9525" cap="flat" cmpd="sng">
            <a:solidFill>
              <a:srgbClr val="7F7F7F"/>
            </a:solidFill>
            <a:prstDash val="solid"/>
            <a:round/>
            <a:headEnd type="none" w="sm" len="sm"/>
            <a:tailEnd type="none" w="sm" len="sm"/>
          </a:ln>
          <a:effectLst>
            <a:outerShdw blurRad="50800" dist="38100" dir="2700000" algn="tl" rotWithShape="0">
              <a:srgbClr val="000000">
                <a:alpha val="40000"/>
              </a:srgbClr>
            </a:outerShdw>
          </a:effectLst>
        </p:spPr>
      </p:pic>
      <p:pic>
        <p:nvPicPr>
          <p:cNvPr id="784" name="Google Shape;784;p37"/>
          <p:cNvPicPr preferRelativeResize="0"/>
          <p:nvPr/>
        </p:nvPicPr>
        <p:blipFill rotWithShape="1">
          <a:blip r:embed="rId4">
            <a:alphaModFix/>
          </a:blip>
          <a:srcRect/>
          <a:stretch/>
        </p:blipFill>
        <p:spPr>
          <a:xfrm rot="1476428">
            <a:off x="8963048" y="1984278"/>
            <a:ext cx="2138425" cy="2997989"/>
          </a:xfrm>
          <a:prstGeom prst="rect">
            <a:avLst/>
          </a:prstGeom>
          <a:noFill/>
          <a:ln w="9525" cap="flat" cmpd="sng">
            <a:solidFill>
              <a:srgbClr val="7F7F7F"/>
            </a:solidFill>
            <a:prstDash val="solid"/>
            <a:round/>
            <a:headEnd type="none" w="sm" len="sm"/>
            <a:tailEnd type="none" w="sm" len="sm"/>
          </a:ln>
          <a:effectLst>
            <a:outerShdw blurRad="50800" dist="38100" dir="2700000" algn="tl" rotWithShape="0">
              <a:srgbClr val="000000">
                <a:alpha val="40000"/>
              </a:srgbClr>
            </a:outerShdw>
          </a:effectLst>
        </p:spPr>
      </p:pic>
      <p:pic>
        <p:nvPicPr>
          <p:cNvPr id="785" name="Google Shape;785;p37"/>
          <p:cNvPicPr preferRelativeResize="0"/>
          <p:nvPr/>
        </p:nvPicPr>
        <p:blipFill rotWithShape="1">
          <a:blip r:embed="rId5">
            <a:alphaModFix/>
          </a:blip>
          <a:srcRect/>
          <a:stretch/>
        </p:blipFill>
        <p:spPr>
          <a:xfrm rot="912292">
            <a:off x="5978054" y="2576263"/>
            <a:ext cx="2779710" cy="1966619"/>
          </a:xfrm>
          <a:prstGeom prst="rect">
            <a:avLst/>
          </a:prstGeom>
          <a:noFill/>
          <a:ln w="9525" cap="flat" cmpd="sng">
            <a:solidFill>
              <a:srgbClr val="7F7F7F"/>
            </a:solidFill>
            <a:prstDash val="solid"/>
            <a:round/>
            <a:headEnd type="none" w="sm" len="sm"/>
            <a:tailEnd type="none" w="sm" len="sm"/>
          </a:ln>
          <a:effectLst>
            <a:outerShdw blurRad="50800" dist="38100" dir="2700000" algn="tl" rotWithShape="0">
              <a:srgbClr val="000000">
                <a:alpha val="40000"/>
              </a:srgbClr>
            </a:outerShdw>
          </a:effectLst>
        </p:spPr>
      </p:pic>
      <p:pic>
        <p:nvPicPr>
          <p:cNvPr id="786" name="Google Shape;786;p37"/>
          <p:cNvPicPr preferRelativeResize="0"/>
          <p:nvPr/>
        </p:nvPicPr>
        <p:blipFill rotWithShape="1">
          <a:blip r:embed="rId6">
            <a:alphaModFix/>
          </a:blip>
          <a:srcRect/>
          <a:stretch/>
        </p:blipFill>
        <p:spPr>
          <a:xfrm rot="-5400000">
            <a:off x="3818136" y="2351519"/>
            <a:ext cx="1700223" cy="2416108"/>
          </a:xfrm>
          <a:prstGeom prst="rect">
            <a:avLst/>
          </a:prstGeom>
          <a:noFill/>
          <a:ln w="12700" cap="flat" cmpd="sng">
            <a:solidFill>
              <a:srgbClr val="A5A5A5"/>
            </a:solidFill>
            <a:prstDash val="solid"/>
            <a:round/>
            <a:headEnd type="none" w="sm" len="sm"/>
            <a:tailEnd type="none" w="sm" len="sm"/>
          </a:ln>
          <a:effectLst>
            <a:outerShdw blurRad="50800" dist="38100" dir="27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38"/>
          <p:cNvSpPr txBox="1"/>
          <p:nvPr/>
        </p:nvSpPr>
        <p:spPr>
          <a:xfrm>
            <a:off x="4187006" y="133386"/>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793" name="Google Shape;793;p38"/>
          <p:cNvCxnSpPr/>
          <p:nvPr/>
        </p:nvCxnSpPr>
        <p:spPr>
          <a:xfrm>
            <a:off x="4316098" y="566860"/>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794" name="Google Shape;794;p38"/>
          <p:cNvGrpSpPr/>
          <p:nvPr/>
        </p:nvGrpSpPr>
        <p:grpSpPr>
          <a:xfrm>
            <a:off x="492858" y="773769"/>
            <a:ext cx="11291146" cy="5895963"/>
            <a:chOff x="492858" y="773769"/>
            <a:chExt cx="11291146" cy="5895963"/>
          </a:xfrm>
        </p:grpSpPr>
        <p:sp>
          <p:nvSpPr>
            <p:cNvPr id="795" name="Google Shape;795;p38"/>
            <p:cNvSpPr txBox="1"/>
            <p:nvPr/>
          </p:nvSpPr>
          <p:spPr>
            <a:xfrm>
              <a:off x="6227788" y="2623662"/>
              <a:ext cx="5556216" cy="1692844"/>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Equity</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796" name="Google Shape;796;p38"/>
            <p:cNvSpPr txBox="1"/>
            <p:nvPr/>
          </p:nvSpPr>
          <p:spPr>
            <a:xfrm>
              <a:off x="6410845" y="3135649"/>
              <a:ext cx="1544844" cy="770509"/>
            </a:xfrm>
            <a:prstGeom prst="rect">
              <a:avLst/>
            </a:prstGeom>
            <a:noFill/>
            <a:ln w="5715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20000"/>
                </a:lnSpc>
                <a:spcBef>
                  <a:spcPts val="0"/>
                </a:spcBef>
                <a:spcAft>
                  <a:spcPts val="0"/>
                </a:spcAft>
                <a:buNone/>
              </a:pPr>
              <a:r>
                <a:rPr lang="en-US" sz="2200" b="1">
                  <a:solidFill>
                    <a:srgbClr val="942093"/>
                  </a:solidFill>
                  <a:latin typeface="Avenir"/>
                  <a:ea typeface="Avenir"/>
                  <a:cs typeface="Avenir"/>
                  <a:sym typeface="Avenir"/>
                </a:rPr>
                <a:t>Profit</a:t>
              </a:r>
              <a:endParaRPr/>
            </a:p>
          </p:txBody>
        </p:sp>
        <p:sp>
          <p:nvSpPr>
            <p:cNvPr id="797" name="Google Shape;797;p38"/>
            <p:cNvSpPr txBox="1"/>
            <p:nvPr/>
          </p:nvSpPr>
          <p:spPr>
            <a:xfrm>
              <a:off x="6227788" y="773769"/>
              <a:ext cx="5556216" cy="1702674"/>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Liabilities</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798" name="Google Shape;798;p38"/>
            <p:cNvGrpSpPr/>
            <p:nvPr/>
          </p:nvGrpSpPr>
          <p:grpSpPr>
            <a:xfrm>
              <a:off x="492858" y="3906158"/>
              <a:ext cx="11291146" cy="2763574"/>
              <a:chOff x="1354633" y="4399872"/>
              <a:chExt cx="9550931" cy="2121952"/>
            </a:xfrm>
          </p:grpSpPr>
          <p:sp>
            <p:nvSpPr>
              <p:cNvPr id="799" name="Google Shape;799;p38"/>
              <p:cNvSpPr txBox="1"/>
              <p:nvPr/>
            </p:nvSpPr>
            <p:spPr>
              <a:xfrm>
                <a:off x="1354633" y="4813260"/>
                <a:ext cx="9550931" cy="1708564"/>
              </a:xfrm>
              <a:prstGeom prst="rect">
                <a:avLst/>
              </a:prstGeom>
              <a:solidFill>
                <a:srgbClr val="FCECFB"/>
              </a:solid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800" name="Google Shape;800;p38"/>
              <p:cNvSpPr txBox="1"/>
              <p:nvPr/>
            </p:nvSpPr>
            <p:spPr>
              <a:xfrm>
                <a:off x="6199863" y="4921166"/>
                <a:ext cx="4576976" cy="1495361"/>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Income</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801" name="Google Shape;801;p38"/>
              <p:cNvSpPr txBox="1"/>
              <p:nvPr/>
            </p:nvSpPr>
            <p:spPr>
              <a:xfrm>
                <a:off x="1481256" y="4921166"/>
                <a:ext cx="4552539" cy="1495361"/>
              </a:xfrm>
              <a:prstGeom prst="rect">
                <a:avLst/>
              </a:prstGeom>
              <a:solidFill>
                <a:srgbClr val="E1EFD8"/>
              </a:solid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2800" b="1">
                    <a:solidFill>
                      <a:srgbClr val="E1EFD8"/>
                    </a:solidFill>
                    <a:latin typeface="Avenir"/>
                    <a:ea typeface="Avenir"/>
                    <a:cs typeface="Avenir"/>
                    <a:sym typeface="Avenir"/>
                  </a:rPr>
                  <a:t>_</a:t>
                </a:r>
                <a:r>
                  <a:rPr lang="en-US" sz="2000" b="1">
                    <a:solidFill>
                      <a:schemeClr val="dk1"/>
                    </a:solidFill>
                    <a:latin typeface="Avenir"/>
                    <a:ea typeface="Avenir"/>
                    <a:cs typeface="Avenir"/>
                    <a:sym typeface="Avenir"/>
                  </a:rPr>
                  <a:t>Expenses</a:t>
                </a:r>
                <a:endParaRPr sz="2800" b="1">
                  <a:solidFill>
                    <a:schemeClr val="dk1"/>
                  </a:solidFill>
                  <a:latin typeface="Avenir"/>
                  <a:ea typeface="Avenir"/>
                  <a:cs typeface="Avenir"/>
                  <a:sym typeface="Avenir"/>
                </a:endParaRPr>
              </a:p>
            </p:txBody>
          </p:sp>
          <p:cxnSp>
            <p:nvCxnSpPr>
              <p:cNvPr id="802" name="Google Shape;802;p38"/>
              <p:cNvCxnSpPr>
                <a:stCxn id="796" idx="2"/>
              </p:cNvCxnSpPr>
              <p:nvPr/>
            </p:nvCxnSpPr>
            <p:spPr>
              <a:xfrm>
                <a:off x="7013902" y="4399872"/>
                <a:ext cx="7500" cy="434700"/>
              </a:xfrm>
              <a:prstGeom prst="straightConnector1">
                <a:avLst/>
              </a:prstGeom>
              <a:noFill/>
              <a:ln w="76200" cap="flat" cmpd="sng">
                <a:solidFill>
                  <a:srgbClr val="942093"/>
                </a:solidFill>
                <a:prstDash val="solid"/>
                <a:miter lim="800000"/>
                <a:headEnd type="none" w="sm" len="sm"/>
                <a:tailEnd type="none" w="sm" len="sm"/>
              </a:ln>
            </p:spPr>
          </p:cxnSp>
        </p:grpSp>
        <p:sp>
          <p:nvSpPr>
            <p:cNvPr id="803" name="Google Shape;803;p38"/>
            <p:cNvSpPr txBox="1"/>
            <p:nvPr/>
          </p:nvSpPr>
          <p:spPr>
            <a:xfrm>
              <a:off x="492858" y="773769"/>
              <a:ext cx="5544457" cy="3542737"/>
            </a:xfrm>
            <a:prstGeom prst="rect">
              <a:avLst/>
            </a:prstGeom>
            <a:solidFill>
              <a:srgbClr val="E1EFD8"/>
            </a:solid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2800" b="1">
                  <a:solidFill>
                    <a:srgbClr val="E1EFD8"/>
                  </a:solidFill>
                  <a:latin typeface="Avenir"/>
                  <a:ea typeface="Avenir"/>
                  <a:cs typeface="Avenir"/>
                  <a:sym typeface="Avenir"/>
                </a:rPr>
                <a:t>_</a:t>
              </a:r>
              <a:r>
                <a:rPr lang="en-US" sz="2000" b="1">
                  <a:solidFill>
                    <a:schemeClr val="dk1"/>
                  </a:solidFill>
                  <a:latin typeface="Avenir"/>
                  <a:ea typeface="Avenir"/>
                  <a:cs typeface="Avenir"/>
                  <a:sym typeface="Avenir"/>
                </a:rPr>
                <a:t>Assets</a:t>
              </a:r>
              <a:endParaRPr sz="2800" b="1">
                <a:solidFill>
                  <a:schemeClr val="dk1"/>
                </a:solidFill>
                <a:latin typeface="Avenir"/>
                <a:ea typeface="Avenir"/>
                <a:cs typeface="Avenir"/>
                <a:sym typeface="Avenir"/>
              </a:endParaRPr>
            </a:p>
          </p:txBody>
        </p:sp>
      </p:grpSp>
      <p:sp>
        <p:nvSpPr>
          <p:cNvPr id="804" name="Google Shape;804;p38"/>
          <p:cNvSpPr txBox="1"/>
          <p:nvPr/>
        </p:nvSpPr>
        <p:spPr>
          <a:xfrm>
            <a:off x="9504213" y="373659"/>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sp>
        <p:nvSpPr>
          <p:cNvPr id="805" name="Google Shape;805;p38"/>
          <p:cNvSpPr txBox="1"/>
          <p:nvPr/>
        </p:nvSpPr>
        <p:spPr>
          <a:xfrm>
            <a:off x="492858" y="373659"/>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39"/>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812" name="Google Shape;812;p39"/>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813" name="Google Shape;813;p39"/>
          <p:cNvGrpSpPr/>
          <p:nvPr/>
        </p:nvGrpSpPr>
        <p:grpSpPr>
          <a:xfrm>
            <a:off x="1284576" y="2130924"/>
            <a:ext cx="10188969" cy="756004"/>
            <a:chOff x="926134" y="1719856"/>
            <a:chExt cx="9204181" cy="750147"/>
          </a:xfrm>
        </p:grpSpPr>
        <p:sp>
          <p:nvSpPr>
            <p:cNvPr id="814" name="Google Shape;814;p39"/>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대출기관에서 돈을 빌려 사업용 계좌에 입금하다.</a:t>
              </a:r>
              <a:endParaRPr sz="2000">
                <a:solidFill>
                  <a:schemeClr val="dk1"/>
                </a:solidFill>
                <a:latin typeface="Avenir"/>
                <a:ea typeface="Avenir"/>
                <a:cs typeface="Avenir"/>
                <a:sym typeface="Avenir"/>
              </a:endParaRPr>
            </a:p>
          </p:txBody>
        </p:sp>
        <p:sp>
          <p:nvSpPr>
            <p:cNvPr id="815" name="Google Shape;815;p39"/>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Cash</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30,000</a:t>
              </a:r>
              <a:endParaRPr/>
            </a:p>
          </p:txBody>
        </p:sp>
        <p:sp>
          <p:nvSpPr>
            <p:cNvPr id="816" name="Google Shape;816;p39"/>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Bank loan</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30,000</a:t>
              </a:r>
              <a:endParaRPr/>
            </a:p>
          </p:txBody>
        </p:sp>
        <p:sp>
          <p:nvSpPr>
            <p:cNvPr id="817" name="Google Shape;817;p39"/>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a:t>
              </a:r>
              <a:endParaRPr/>
            </a:p>
          </p:txBody>
        </p:sp>
      </p:grpSp>
      <p:sp>
        <p:nvSpPr>
          <p:cNvPr id="818" name="Google Shape;818;p39"/>
          <p:cNvSpPr txBox="1"/>
          <p:nvPr/>
        </p:nvSpPr>
        <p:spPr>
          <a:xfrm>
            <a:off x="8109273" y="2130924"/>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30,000</a:t>
            </a:r>
            <a:endParaRPr/>
          </a:p>
        </p:txBody>
      </p:sp>
      <p:sp>
        <p:nvSpPr>
          <p:cNvPr id="819" name="Google Shape;819;p39"/>
          <p:cNvSpPr txBox="1"/>
          <p:nvPr/>
        </p:nvSpPr>
        <p:spPr>
          <a:xfrm>
            <a:off x="9792343" y="2130924"/>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30,000</a:t>
            </a:r>
            <a:endParaRPr/>
          </a:p>
        </p:txBody>
      </p:sp>
      <p:sp>
        <p:nvSpPr>
          <p:cNvPr id="820" name="Google Shape;820;p39"/>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2 January</a:t>
            </a:r>
            <a:endParaRPr sz="2130">
              <a:solidFill>
                <a:schemeClr val="dk1"/>
              </a:solidFill>
              <a:latin typeface="Avenir"/>
              <a:ea typeface="Avenir"/>
              <a:cs typeface="Avenir"/>
              <a:sym typeface="Avenir"/>
            </a:endParaRPr>
          </a:p>
        </p:txBody>
      </p:sp>
      <p:sp>
        <p:nvSpPr>
          <p:cNvPr id="821" name="Google Shape;821;p39"/>
          <p:cNvSpPr txBox="1"/>
          <p:nvPr/>
        </p:nvSpPr>
        <p:spPr>
          <a:xfrm>
            <a:off x="718455" y="3034199"/>
            <a:ext cx="10949127" cy="3046988"/>
          </a:xfrm>
          <a:prstGeom prst="rect">
            <a:avLst/>
          </a:prstGeom>
          <a:solidFill>
            <a:srgbClr val="A8D08C"/>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4000"/>
              <a:buFont typeface="Arial"/>
              <a:buNone/>
            </a:pPr>
            <a:r>
              <a:rPr lang="en-US" sz="4000" b="1">
                <a:solidFill>
                  <a:schemeClr val="dk1"/>
                </a:solidFill>
                <a:latin typeface="Gulim"/>
                <a:ea typeface="Gulim"/>
                <a:cs typeface="Gulim"/>
                <a:sym typeface="Gulim"/>
              </a:rPr>
              <a:t>생각의 흐름 (먼저 큰 그림부터 보기):</a:t>
            </a:r>
            <a:endParaRPr/>
          </a:p>
          <a:p>
            <a:pPr marL="0" marR="0" lvl="0" indent="0" algn="ctr" rtl="0">
              <a:spcBef>
                <a:spcPts val="800"/>
              </a:spcBef>
              <a:spcAft>
                <a:spcPts val="0"/>
              </a:spcAft>
              <a:buClr>
                <a:schemeClr val="lt1"/>
              </a:buClr>
              <a:buSzPts val="4000"/>
              <a:buFont typeface="Arial"/>
              <a:buNone/>
            </a:pPr>
            <a:r>
              <a:rPr lang="en-US" sz="4000">
                <a:solidFill>
                  <a:schemeClr val="lt1"/>
                </a:solidFill>
                <a:latin typeface="Gulim"/>
                <a:ea typeface="Gulim"/>
                <a:cs typeface="Gulim"/>
                <a:sym typeface="Gulim"/>
              </a:rPr>
              <a:t>이 거래의 결과로 </a:t>
            </a:r>
            <a:r>
              <a:rPr lang="en-US" sz="4000" b="1">
                <a:solidFill>
                  <a:schemeClr val="lt1"/>
                </a:solidFill>
                <a:latin typeface="Gulim"/>
                <a:ea typeface="Gulim"/>
                <a:cs typeface="Gulim"/>
                <a:sym typeface="Gulim"/>
              </a:rPr>
              <a:t>무엇이 더 많아졌는가</a:t>
            </a:r>
            <a:r>
              <a:rPr lang="en-US" sz="4000">
                <a:solidFill>
                  <a:schemeClr val="lt1"/>
                </a:solidFill>
                <a:latin typeface="Gulim"/>
                <a:ea typeface="Gulim"/>
                <a:cs typeface="Gulim"/>
                <a:sym typeface="Gulim"/>
              </a:rPr>
              <a:t>, 또는</a:t>
            </a:r>
            <a:br>
              <a:rPr lang="en-US" sz="4000">
                <a:solidFill>
                  <a:schemeClr val="lt1"/>
                </a:solidFill>
                <a:latin typeface="Gulim"/>
                <a:ea typeface="Gulim"/>
                <a:cs typeface="Gulim"/>
                <a:sym typeface="Gulim"/>
              </a:rPr>
            </a:br>
            <a:r>
              <a:rPr lang="en-US" sz="4000" b="1">
                <a:solidFill>
                  <a:schemeClr val="lt1"/>
                </a:solidFill>
                <a:latin typeface="Gulim"/>
                <a:ea typeface="Gulim"/>
                <a:cs typeface="Gulim"/>
                <a:sym typeface="Gulim"/>
              </a:rPr>
              <a:t>무엇이 더 줄어들었는가?</a:t>
            </a:r>
            <a:endParaRPr sz="4000">
              <a:solidFill>
                <a:schemeClr val="lt1"/>
              </a:solidFill>
              <a:latin typeface="Gulim"/>
              <a:ea typeface="Gulim"/>
              <a:cs typeface="Gulim"/>
              <a:sym typeface="Gulim"/>
            </a:endParaRPr>
          </a:p>
          <a:p>
            <a:pPr marL="0" marR="0" lvl="0" indent="0" algn="ctr" rtl="0">
              <a:spcBef>
                <a:spcPts val="0"/>
              </a:spcBef>
              <a:spcAft>
                <a:spcPts val="0"/>
              </a:spcAft>
              <a:buClr>
                <a:schemeClr val="lt1"/>
              </a:buClr>
              <a:buSzPts val="3200"/>
              <a:buFont typeface="Arial"/>
              <a:buNone/>
            </a:pPr>
            <a:r>
              <a:rPr lang="en-US" sz="3200">
                <a:solidFill>
                  <a:schemeClr val="lt1"/>
                </a:solidFill>
                <a:latin typeface="Avenir"/>
                <a:ea typeface="Avenir"/>
                <a:cs typeface="Avenir"/>
                <a:sym typeface="Avenir"/>
              </a:rPr>
              <a:t>(in terms of Assets, Liabilities, Equity,</a:t>
            </a:r>
            <a:endParaRPr/>
          </a:p>
          <a:p>
            <a:pPr marL="0" marR="0" lvl="0" indent="0" algn="ctr" rtl="0">
              <a:spcBef>
                <a:spcPts val="0"/>
              </a:spcBef>
              <a:spcAft>
                <a:spcPts val="0"/>
              </a:spcAft>
              <a:buClr>
                <a:schemeClr val="lt1"/>
              </a:buClr>
              <a:buSzPts val="3200"/>
              <a:buFont typeface="Arial"/>
              <a:buNone/>
            </a:pPr>
            <a:r>
              <a:rPr lang="en-US" sz="3200">
                <a:solidFill>
                  <a:schemeClr val="lt1"/>
                </a:solidFill>
                <a:latin typeface="Avenir"/>
                <a:ea typeface="Avenir"/>
                <a:cs typeface="Avenir"/>
                <a:sym typeface="Avenir"/>
              </a:rPr>
              <a:t>Revenue &amp; Expenses?)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21"/>
                                        </p:tgtEl>
                                        <p:attrNameLst>
                                          <p:attrName>style.visibility</p:attrName>
                                        </p:attrNameLst>
                                      </p:cBhvr>
                                      <p:to>
                                        <p:strVal val="visible"/>
                                      </p:to>
                                    </p:set>
                                    <p:anim calcmode="lin" valueType="num">
                                      <p:cBhvr additive="base">
                                        <p:cTn id="7" dur="500"/>
                                        <p:tgtEl>
                                          <p:spTgt spid="8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3135649"/>
            <a:ext cx="1620000" cy="823049"/>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58" name="Rectangle 57">
            <a:extLst>
              <a:ext uri="{FF2B5EF4-FFF2-40B4-BE49-F238E27FC236}">
                <a16:creationId xmlns:a16="http://schemas.microsoft.com/office/drawing/2014/main" id="{8CCFBB73-56FD-DF40-8F42-4940FD440409}"/>
              </a:ext>
            </a:extLst>
          </p:cNvPr>
          <p:cNvSpPr/>
          <p:nvPr/>
        </p:nvSpPr>
        <p:spPr>
          <a:xfrm>
            <a:off x="1164804" y="5085360"/>
            <a:ext cx="105384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0BD9C84D-0A92-7643-A3F7-D4E92C23D672}"/>
              </a:ext>
            </a:extLst>
          </p:cNvPr>
          <p:cNvGrpSpPr/>
          <p:nvPr/>
        </p:nvGrpSpPr>
        <p:grpSpPr>
          <a:xfrm>
            <a:off x="1360481" y="5363381"/>
            <a:ext cx="10188967" cy="756004"/>
            <a:chOff x="926134" y="1719856"/>
            <a:chExt cx="9204181" cy="750147"/>
          </a:xfrm>
        </p:grpSpPr>
        <p:sp>
          <p:nvSpPr>
            <p:cNvPr id="60" name="TextBox 59">
              <a:extLst>
                <a:ext uri="{FF2B5EF4-FFF2-40B4-BE49-F238E27FC236}">
                  <a16:creationId xmlns:a16="http://schemas.microsoft.com/office/drawing/2014/main" id="{EEF5ADEC-2C1F-DC4A-B414-643B2DA86B55}"/>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대출기관에서 돈을 빌려 사업용 계좌에 입금하다</a:t>
              </a:r>
              <a:endParaRPr lang="ko-KR" altLang="en-US" sz="2000" dirty="0">
                <a:solidFill>
                  <a:schemeClr val="dk1"/>
                </a:solidFill>
                <a:latin typeface="Avenir"/>
                <a:ea typeface="Avenir"/>
                <a:cs typeface="Avenir"/>
                <a:sym typeface="Avenir"/>
              </a:endParaRPr>
            </a:p>
          </p:txBody>
        </p:sp>
        <p:sp>
          <p:nvSpPr>
            <p:cNvPr id="61" name="TextBox 60">
              <a:extLst>
                <a:ext uri="{FF2B5EF4-FFF2-40B4-BE49-F238E27FC236}">
                  <a16:creationId xmlns:a16="http://schemas.microsoft.com/office/drawing/2014/main" id="{C62EE79A-FB49-3B49-A107-FDC1F44F1327}"/>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Cash</a:t>
              </a:r>
            </a:p>
            <a:p>
              <a:pPr algn="ctr"/>
              <a:r>
                <a:rPr lang="en-GB" b="1">
                  <a:solidFill>
                    <a:schemeClr val="bg1">
                      <a:lumMod val="75000"/>
                    </a:schemeClr>
                  </a:solidFill>
                  <a:latin typeface="Avenir"/>
                  <a:ea typeface="Helvetica" charset="0"/>
                  <a:cs typeface="Helvetica" charset="0"/>
                </a:rPr>
                <a:t>30,000</a:t>
              </a:r>
            </a:p>
          </p:txBody>
        </p:sp>
        <p:sp>
          <p:nvSpPr>
            <p:cNvPr id="62" name="TextBox 61">
              <a:extLst>
                <a:ext uri="{FF2B5EF4-FFF2-40B4-BE49-F238E27FC236}">
                  <a16:creationId xmlns:a16="http://schemas.microsoft.com/office/drawing/2014/main" id="{42F0E9FF-B4F8-A346-8CBF-E124CFF4FC30}"/>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Bank loan</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30,000</a:t>
              </a:r>
            </a:p>
          </p:txBody>
        </p:sp>
        <p:sp>
          <p:nvSpPr>
            <p:cNvPr id="65" name="TextBox 64">
              <a:extLst>
                <a:ext uri="{FF2B5EF4-FFF2-40B4-BE49-F238E27FC236}">
                  <a16:creationId xmlns:a16="http://schemas.microsoft.com/office/drawing/2014/main" id="{3252780F-650D-0140-B8C6-6A6E6FFFD08B}"/>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ea typeface="Helvetica" charset="0"/>
                  <a:cs typeface="Helvetica" charset="0"/>
                </a:rPr>
                <a:t>1</a:t>
              </a:r>
            </a:p>
          </p:txBody>
        </p:sp>
      </p:grpSp>
      <p:sp>
        <p:nvSpPr>
          <p:cNvPr id="66" name="TextBox 65">
            <a:extLst>
              <a:ext uri="{FF2B5EF4-FFF2-40B4-BE49-F238E27FC236}">
                <a16:creationId xmlns:a16="http://schemas.microsoft.com/office/drawing/2014/main" id="{50E2A35F-4842-C247-AAE0-848921316DD7}"/>
              </a:ext>
            </a:extLst>
          </p:cNvPr>
          <p:cNvSpPr txBox="1"/>
          <p:nvPr/>
        </p:nvSpPr>
        <p:spPr>
          <a:xfrm>
            <a:off x="8183308" y="5359268"/>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30,000</a:t>
            </a:r>
          </a:p>
        </p:txBody>
      </p:sp>
      <p:sp>
        <p:nvSpPr>
          <p:cNvPr id="67" name="TextBox 66">
            <a:extLst>
              <a:ext uri="{FF2B5EF4-FFF2-40B4-BE49-F238E27FC236}">
                <a16:creationId xmlns:a16="http://schemas.microsoft.com/office/drawing/2014/main" id="{EF40A715-4210-D449-9255-68D6CDD829E0}"/>
              </a:ext>
            </a:extLst>
          </p:cNvPr>
          <p:cNvSpPr txBox="1"/>
          <p:nvPr/>
        </p:nvSpPr>
        <p:spPr>
          <a:xfrm>
            <a:off x="9866378" y="5363381"/>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30,000</a:t>
            </a:r>
          </a:p>
        </p:txBody>
      </p:sp>
      <p:sp>
        <p:nvSpPr>
          <p:cNvPr id="68" name="Down Arrow 67">
            <a:extLst>
              <a:ext uri="{FF2B5EF4-FFF2-40B4-BE49-F238E27FC236}">
                <a16:creationId xmlns:a16="http://schemas.microsoft.com/office/drawing/2014/main" id="{2882D725-2F75-E647-97F5-C6036E32EBA2}"/>
              </a:ext>
            </a:extLst>
          </p:cNvPr>
          <p:cNvSpPr/>
          <p:nvPr/>
        </p:nvSpPr>
        <p:spPr>
          <a:xfrm rot="10800000">
            <a:off x="153289" y="824059"/>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Down Arrow 68">
            <a:extLst>
              <a:ext uri="{FF2B5EF4-FFF2-40B4-BE49-F238E27FC236}">
                <a16:creationId xmlns:a16="http://schemas.microsoft.com/office/drawing/2014/main" id="{F05975AD-7D72-DD49-8430-EE7E714ED1A0}"/>
              </a:ext>
            </a:extLst>
          </p:cNvPr>
          <p:cNvSpPr/>
          <p:nvPr/>
        </p:nvSpPr>
        <p:spPr>
          <a:xfrm rot="10800000">
            <a:off x="11196000" y="826738"/>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44936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4.375E-6 -4.07407E-6 L -0.47864 -0.36365 " pathEditMode="relative" rAng="0" ptsTypes="AA">
                                      <p:cBhvr>
                                        <p:cTn id="14" dur="3000" fill="hold"/>
                                        <p:tgtEl>
                                          <p:spTgt spid="66"/>
                                        </p:tgtEl>
                                        <p:attrNameLst>
                                          <p:attrName>ppt_x</p:attrName>
                                          <p:attrName>ppt_y</p:attrName>
                                        </p:attrNameLst>
                                      </p:cBhvr>
                                      <p:rCtr x="-23932" y="-18194"/>
                                    </p:animMotion>
                                  </p:childTnLst>
                                </p:cTn>
                              </p:par>
                            </p:childTnLst>
                          </p:cTn>
                        </p:par>
                        <p:par>
                          <p:cTn id="15" fill="hold">
                            <p:stCondLst>
                              <p:cond delay="3000"/>
                            </p:stCondLst>
                            <p:childTnLst>
                              <p:par>
                                <p:cTn id="16" presetID="31" presetClass="exit" presetSubtype="0" fill="hold" grpId="1" nodeType="afterEffect">
                                  <p:stCondLst>
                                    <p:cond delay="0"/>
                                  </p:stCondLst>
                                  <p:childTnLst>
                                    <p:anim calcmode="lin" valueType="num">
                                      <p:cBhvr>
                                        <p:cTn id="17" dur="1000"/>
                                        <p:tgtEl>
                                          <p:spTgt spid="66"/>
                                        </p:tgtEl>
                                        <p:attrNameLst>
                                          <p:attrName>ppt_w</p:attrName>
                                        </p:attrNameLst>
                                      </p:cBhvr>
                                      <p:tavLst>
                                        <p:tav tm="0">
                                          <p:val>
                                            <p:strVal val="ppt_w"/>
                                          </p:val>
                                        </p:tav>
                                        <p:tav tm="100000">
                                          <p:val>
                                            <p:fltVal val="0"/>
                                          </p:val>
                                        </p:tav>
                                      </p:tavLst>
                                    </p:anim>
                                    <p:anim calcmode="lin" valueType="num">
                                      <p:cBhvr>
                                        <p:cTn id="18" dur="1000"/>
                                        <p:tgtEl>
                                          <p:spTgt spid="66"/>
                                        </p:tgtEl>
                                        <p:attrNameLst>
                                          <p:attrName>ppt_h</p:attrName>
                                        </p:attrNameLst>
                                      </p:cBhvr>
                                      <p:tavLst>
                                        <p:tav tm="0">
                                          <p:val>
                                            <p:strVal val="ppt_h"/>
                                          </p:val>
                                        </p:tav>
                                        <p:tav tm="100000">
                                          <p:val>
                                            <p:fltVal val="0"/>
                                          </p:val>
                                        </p:tav>
                                      </p:tavLst>
                                    </p:anim>
                                    <p:anim calcmode="lin" valueType="num">
                                      <p:cBhvr>
                                        <p:cTn id="19" dur="1000"/>
                                        <p:tgtEl>
                                          <p:spTgt spid="66"/>
                                        </p:tgtEl>
                                        <p:attrNameLst>
                                          <p:attrName>style.rotation</p:attrName>
                                        </p:attrNameLst>
                                      </p:cBhvr>
                                      <p:tavLst>
                                        <p:tav tm="0">
                                          <p:val>
                                            <p:fltVal val="0"/>
                                          </p:val>
                                        </p:tav>
                                        <p:tav tm="100000">
                                          <p:val>
                                            <p:fltVal val="90"/>
                                          </p:val>
                                        </p:tav>
                                      </p:tavLst>
                                    </p:anim>
                                    <p:animEffect transition="out" filter="fade">
                                      <p:cBhvr>
                                        <p:cTn id="20" dur="1000"/>
                                        <p:tgtEl>
                                          <p:spTgt spid="66"/>
                                        </p:tgtEl>
                                      </p:cBhvr>
                                    </p:animEffect>
                                    <p:set>
                                      <p:cBhvr>
                                        <p:cTn id="21" dur="1" fill="hold">
                                          <p:stCondLst>
                                            <p:cond delay="999"/>
                                          </p:stCondLst>
                                        </p:cTn>
                                        <p:tgtEl>
                                          <p:spTgt spid="66"/>
                                        </p:tgtEl>
                                        <p:attrNameLst>
                                          <p:attrName>style.visibility</p:attrName>
                                        </p:attrNameLst>
                                      </p:cBhvr>
                                      <p:to>
                                        <p:strVal val="hidden"/>
                                      </p:to>
                                    </p:set>
                                  </p:childTnLst>
                                </p:cTn>
                              </p:par>
                              <p:par>
                                <p:cTn id="22" presetID="42" presetClass="entr" presetSubtype="0" fill="hold" nodeType="withEffect">
                                  <p:stCondLst>
                                    <p:cond delay="0"/>
                                  </p:stCondLst>
                                  <p:childTnLst>
                                    <p:set>
                                      <p:cBhvr>
                                        <p:cTn id="23" dur="1" fill="hold">
                                          <p:stCondLst>
                                            <p:cond delay="0"/>
                                          </p:stCondLst>
                                        </p:cTn>
                                        <p:tgtEl>
                                          <p:spTgt spid="299"/>
                                        </p:tgtEl>
                                        <p:attrNameLst>
                                          <p:attrName>style.visibility</p:attrName>
                                        </p:attrNameLst>
                                      </p:cBhvr>
                                      <p:to>
                                        <p:strVal val="visible"/>
                                      </p:to>
                                    </p:set>
                                    <p:animEffect transition="in" filter="fade">
                                      <p:cBhvr>
                                        <p:cTn id="24" dur="1000"/>
                                        <p:tgtEl>
                                          <p:spTgt spid="299"/>
                                        </p:tgtEl>
                                      </p:cBhvr>
                                    </p:animEffect>
                                    <p:anim calcmode="lin" valueType="num">
                                      <p:cBhvr>
                                        <p:cTn id="25" dur="1000" fill="hold"/>
                                        <p:tgtEl>
                                          <p:spTgt spid="299"/>
                                        </p:tgtEl>
                                        <p:attrNameLst>
                                          <p:attrName>ppt_x</p:attrName>
                                        </p:attrNameLst>
                                      </p:cBhvr>
                                      <p:tavLst>
                                        <p:tav tm="0">
                                          <p:val>
                                            <p:strVal val="#ppt_x"/>
                                          </p:val>
                                        </p:tav>
                                        <p:tav tm="100000">
                                          <p:val>
                                            <p:strVal val="#ppt_x"/>
                                          </p:val>
                                        </p:tav>
                                      </p:tavLst>
                                    </p:anim>
                                    <p:anim calcmode="lin" valueType="num">
                                      <p:cBhvr>
                                        <p:cTn id="26" dur="1000" fill="hold"/>
                                        <p:tgtEl>
                                          <p:spTgt spid="299"/>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06"/>
                                        </p:tgtEl>
                                        <p:attrNameLst>
                                          <p:attrName>style.visibility</p:attrName>
                                        </p:attrNameLst>
                                      </p:cBhvr>
                                      <p:to>
                                        <p:strVal val="visible"/>
                                      </p:to>
                                    </p:set>
                                    <p:animEffect transition="in" filter="fade">
                                      <p:cBhvr>
                                        <p:cTn id="29" dur="1000"/>
                                        <p:tgtEl>
                                          <p:spTgt spid="206"/>
                                        </p:tgtEl>
                                      </p:cBhvr>
                                    </p:animEffect>
                                    <p:anim calcmode="lin" valueType="num">
                                      <p:cBhvr>
                                        <p:cTn id="30" dur="1000" fill="hold"/>
                                        <p:tgtEl>
                                          <p:spTgt spid="206"/>
                                        </p:tgtEl>
                                        <p:attrNameLst>
                                          <p:attrName>ppt_x</p:attrName>
                                        </p:attrNameLst>
                                      </p:cBhvr>
                                      <p:tavLst>
                                        <p:tav tm="0">
                                          <p:val>
                                            <p:strVal val="#ppt_x"/>
                                          </p:val>
                                        </p:tav>
                                        <p:tav tm="100000">
                                          <p:val>
                                            <p:strVal val="#ppt_x"/>
                                          </p:val>
                                        </p:tav>
                                      </p:tavLst>
                                    </p:anim>
                                    <p:anim calcmode="lin" valueType="num">
                                      <p:cBhvr>
                                        <p:cTn id="31" dur="1000" fill="hold"/>
                                        <p:tgtEl>
                                          <p:spTgt spid="206"/>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1"/>
                                        </p:tgtEl>
                                        <p:attrNameLst>
                                          <p:attrName>style.visibility</p:attrName>
                                        </p:attrNameLst>
                                      </p:cBhvr>
                                      <p:to>
                                        <p:strVal val="visible"/>
                                      </p:to>
                                    </p:set>
                                    <p:animEffect transition="in" filter="fade">
                                      <p:cBhvr>
                                        <p:cTn id="34" dur="1000"/>
                                        <p:tgtEl>
                                          <p:spTgt spid="121"/>
                                        </p:tgtEl>
                                      </p:cBhvr>
                                    </p:animEffect>
                                    <p:anim calcmode="lin" valueType="num">
                                      <p:cBhvr>
                                        <p:cTn id="35" dur="1000" fill="hold"/>
                                        <p:tgtEl>
                                          <p:spTgt spid="121"/>
                                        </p:tgtEl>
                                        <p:attrNameLst>
                                          <p:attrName>ppt_x</p:attrName>
                                        </p:attrNameLst>
                                      </p:cBhvr>
                                      <p:tavLst>
                                        <p:tav tm="0">
                                          <p:val>
                                            <p:strVal val="#ppt_x"/>
                                          </p:val>
                                        </p:tav>
                                        <p:tav tm="100000">
                                          <p:val>
                                            <p:strVal val="#ppt_x"/>
                                          </p:val>
                                        </p:tav>
                                      </p:tavLst>
                                    </p:anim>
                                    <p:anim calcmode="lin" valueType="num">
                                      <p:cBhvr>
                                        <p:cTn id="36" dur="1000" fill="hold"/>
                                        <p:tgtEl>
                                          <p:spTgt spid="121"/>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17"/>
                                        </p:tgtEl>
                                        <p:attrNameLst>
                                          <p:attrName>style.visibility</p:attrName>
                                        </p:attrNameLst>
                                      </p:cBhvr>
                                      <p:to>
                                        <p:strVal val="visible"/>
                                      </p:to>
                                    </p:set>
                                    <p:animEffect transition="in" filter="fade">
                                      <p:cBhvr>
                                        <p:cTn id="41" dur="500"/>
                                        <p:tgtEl>
                                          <p:spTgt spid="117"/>
                                        </p:tgtEl>
                                      </p:cBhvr>
                                    </p:animEffect>
                                  </p:childTnLst>
                                </p:cTn>
                              </p:par>
                              <p:par>
                                <p:cTn id="42" presetID="10" presetClass="entr" presetSubtype="0" fill="hold" nodeType="withEffect">
                                  <p:stCondLst>
                                    <p:cond delay="0"/>
                                  </p:stCondLst>
                                  <p:childTnLst>
                                    <p:set>
                                      <p:cBhvr>
                                        <p:cTn id="43" dur="1" fill="hold">
                                          <p:stCondLst>
                                            <p:cond delay="0"/>
                                          </p:stCondLst>
                                        </p:cTn>
                                        <p:tgtEl>
                                          <p:spTgt spid="435"/>
                                        </p:tgtEl>
                                        <p:attrNameLst>
                                          <p:attrName>style.visibility</p:attrName>
                                        </p:attrNameLst>
                                      </p:cBhvr>
                                      <p:to>
                                        <p:strVal val="visible"/>
                                      </p:to>
                                    </p:set>
                                    <p:animEffect transition="in" filter="fade">
                                      <p:cBhvr>
                                        <p:cTn id="44" dur="500"/>
                                        <p:tgtEl>
                                          <p:spTgt spid="435"/>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path" presetSubtype="0" accel="50000" decel="50000" fill="hold" grpId="0" nodeType="clickEffect">
                                  <p:stCondLst>
                                    <p:cond delay="0"/>
                                  </p:stCondLst>
                                  <p:childTnLst>
                                    <p:animMotion origin="layout" path="M 4.79167E-6 1.48148E-6 L 0.03033 -0.64097 " pathEditMode="relative" rAng="0" ptsTypes="AA">
                                      <p:cBhvr>
                                        <p:cTn id="48" dur="3000" fill="hold"/>
                                        <p:tgtEl>
                                          <p:spTgt spid="67"/>
                                        </p:tgtEl>
                                        <p:attrNameLst>
                                          <p:attrName>ppt_x</p:attrName>
                                          <p:attrName>ppt_y</p:attrName>
                                        </p:attrNameLst>
                                      </p:cBhvr>
                                      <p:rCtr x="1510" y="-32060"/>
                                    </p:animMotion>
                                  </p:childTnLst>
                                </p:cTn>
                              </p:par>
                            </p:childTnLst>
                          </p:cTn>
                        </p:par>
                        <p:par>
                          <p:cTn id="49" fill="hold">
                            <p:stCondLst>
                              <p:cond delay="3000"/>
                            </p:stCondLst>
                            <p:childTnLst>
                              <p:par>
                                <p:cTn id="50" presetID="31" presetClass="exit" presetSubtype="0" fill="hold" grpId="1" nodeType="afterEffect">
                                  <p:stCondLst>
                                    <p:cond delay="0"/>
                                  </p:stCondLst>
                                  <p:childTnLst>
                                    <p:anim calcmode="lin" valueType="num">
                                      <p:cBhvr>
                                        <p:cTn id="51" dur="1000"/>
                                        <p:tgtEl>
                                          <p:spTgt spid="67"/>
                                        </p:tgtEl>
                                        <p:attrNameLst>
                                          <p:attrName>ppt_w</p:attrName>
                                        </p:attrNameLst>
                                      </p:cBhvr>
                                      <p:tavLst>
                                        <p:tav tm="0">
                                          <p:val>
                                            <p:strVal val="ppt_w"/>
                                          </p:val>
                                        </p:tav>
                                        <p:tav tm="100000">
                                          <p:val>
                                            <p:fltVal val="0"/>
                                          </p:val>
                                        </p:tav>
                                      </p:tavLst>
                                    </p:anim>
                                    <p:anim calcmode="lin" valueType="num">
                                      <p:cBhvr>
                                        <p:cTn id="52" dur="1000"/>
                                        <p:tgtEl>
                                          <p:spTgt spid="67"/>
                                        </p:tgtEl>
                                        <p:attrNameLst>
                                          <p:attrName>ppt_h</p:attrName>
                                        </p:attrNameLst>
                                      </p:cBhvr>
                                      <p:tavLst>
                                        <p:tav tm="0">
                                          <p:val>
                                            <p:strVal val="ppt_h"/>
                                          </p:val>
                                        </p:tav>
                                        <p:tav tm="100000">
                                          <p:val>
                                            <p:fltVal val="0"/>
                                          </p:val>
                                        </p:tav>
                                      </p:tavLst>
                                    </p:anim>
                                    <p:anim calcmode="lin" valueType="num">
                                      <p:cBhvr>
                                        <p:cTn id="53" dur="1000"/>
                                        <p:tgtEl>
                                          <p:spTgt spid="67"/>
                                        </p:tgtEl>
                                        <p:attrNameLst>
                                          <p:attrName>style.rotation</p:attrName>
                                        </p:attrNameLst>
                                      </p:cBhvr>
                                      <p:tavLst>
                                        <p:tav tm="0">
                                          <p:val>
                                            <p:fltVal val="0"/>
                                          </p:val>
                                        </p:tav>
                                        <p:tav tm="100000">
                                          <p:val>
                                            <p:fltVal val="90"/>
                                          </p:val>
                                        </p:tav>
                                      </p:tavLst>
                                    </p:anim>
                                    <p:animEffect transition="out" filter="fade">
                                      <p:cBhvr>
                                        <p:cTn id="54" dur="1000"/>
                                        <p:tgtEl>
                                          <p:spTgt spid="67"/>
                                        </p:tgtEl>
                                      </p:cBhvr>
                                    </p:animEffect>
                                    <p:set>
                                      <p:cBhvr>
                                        <p:cTn id="55" dur="1" fill="hold">
                                          <p:stCondLst>
                                            <p:cond delay="999"/>
                                          </p:stCondLst>
                                        </p:cTn>
                                        <p:tgtEl>
                                          <p:spTgt spid="67"/>
                                        </p:tgtEl>
                                        <p:attrNameLst>
                                          <p:attrName>style.visibility</p:attrName>
                                        </p:attrNameLst>
                                      </p:cBhvr>
                                      <p:to>
                                        <p:strVal val="hidden"/>
                                      </p:to>
                                    </p:set>
                                  </p:childTnLst>
                                </p:cTn>
                              </p:par>
                              <p:par>
                                <p:cTn id="56" presetID="42" presetClass="entr" presetSubtype="0" fill="hold" nodeType="withEffect">
                                  <p:stCondLst>
                                    <p:cond delay="0"/>
                                  </p:stCondLst>
                                  <p:childTnLst>
                                    <p:set>
                                      <p:cBhvr>
                                        <p:cTn id="57" dur="1" fill="hold">
                                          <p:stCondLst>
                                            <p:cond delay="0"/>
                                          </p:stCondLst>
                                        </p:cTn>
                                        <p:tgtEl>
                                          <p:spTgt spid="302"/>
                                        </p:tgtEl>
                                        <p:attrNameLst>
                                          <p:attrName>style.visibility</p:attrName>
                                        </p:attrNameLst>
                                      </p:cBhvr>
                                      <p:to>
                                        <p:strVal val="visible"/>
                                      </p:to>
                                    </p:set>
                                    <p:animEffect transition="in" filter="fade">
                                      <p:cBhvr>
                                        <p:cTn id="58" dur="1000"/>
                                        <p:tgtEl>
                                          <p:spTgt spid="302"/>
                                        </p:tgtEl>
                                      </p:cBhvr>
                                    </p:animEffect>
                                    <p:anim calcmode="lin" valueType="num">
                                      <p:cBhvr>
                                        <p:cTn id="59" dur="1000" fill="hold"/>
                                        <p:tgtEl>
                                          <p:spTgt spid="302"/>
                                        </p:tgtEl>
                                        <p:attrNameLst>
                                          <p:attrName>ppt_x</p:attrName>
                                        </p:attrNameLst>
                                      </p:cBhvr>
                                      <p:tavLst>
                                        <p:tav tm="0">
                                          <p:val>
                                            <p:strVal val="#ppt_x"/>
                                          </p:val>
                                        </p:tav>
                                        <p:tav tm="100000">
                                          <p:val>
                                            <p:strVal val="#ppt_x"/>
                                          </p:val>
                                        </p:tav>
                                      </p:tavLst>
                                    </p:anim>
                                    <p:anim calcmode="lin" valueType="num">
                                      <p:cBhvr>
                                        <p:cTn id="60" dur="1000" fill="hold"/>
                                        <p:tgtEl>
                                          <p:spTgt spid="302"/>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08"/>
                                        </p:tgtEl>
                                        <p:attrNameLst>
                                          <p:attrName>style.visibility</p:attrName>
                                        </p:attrNameLst>
                                      </p:cBhvr>
                                      <p:to>
                                        <p:strVal val="visible"/>
                                      </p:to>
                                    </p:set>
                                    <p:animEffect transition="in" filter="fade">
                                      <p:cBhvr>
                                        <p:cTn id="63" dur="1000"/>
                                        <p:tgtEl>
                                          <p:spTgt spid="208"/>
                                        </p:tgtEl>
                                      </p:cBhvr>
                                    </p:animEffect>
                                    <p:anim calcmode="lin" valueType="num">
                                      <p:cBhvr>
                                        <p:cTn id="64" dur="1000" fill="hold"/>
                                        <p:tgtEl>
                                          <p:spTgt spid="208"/>
                                        </p:tgtEl>
                                        <p:attrNameLst>
                                          <p:attrName>ppt_x</p:attrName>
                                        </p:attrNameLst>
                                      </p:cBhvr>
                                      <p:tavLst>
                                        <p:tav tm="0">
                                          <p:val>
                                            <p:strVal val="#ppt_x"/>
                                          </p:val>
                                        </p:tav>
                                        <p:tav tm="100000">
                                          <p:val>
                                            <p:strVal val="#ppt_x"/>
                                          </p:val>
                                        </p:tav>
                                      </p:tavLst>
                                    </p:anim>
                                    <p:anim calcmode="lin" valueType="num">
                                      <p:cBhvr>
                                        <p:cTn id="65" dur="1000" fill="hold"/>
                                        <p:tgtEl>
                                          <p:spTgt spid="208"/>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07"/>
                                        </p:tgtEl>
                                        <p:attrNameLst>
                                          <p:attrName>style.visibility</p:attrName>
                                        </p:attrNameLst>
                                      </p:cBhvr>
                                      <p:to>
                                        <p:strVal val="visible"/>
                                      </p:to>
                                    </p:set>
                                    <p:animEffect transition="in" filter="fade">
                                      <p:cBhvr>
                                        <p:cTn id="68" dur="1000"/>
                                        <p:tgtEl>
                                          <p:spTgt spid="207"/>
                                        </p:tgtEl>
                                      </p:cBhvr>
                                    </p:animEffect>
                                    <p:anim calcmode="lin" valueType="num">
                                      <p:cBhvr>
                                        <p:cTn id="69" dur="1000" fill="hold"/>
                                        <p:tgtEl>
                                          <p:spTgt spid="207"/>
                                        </p:tgtEl>
                                        <p:attrNameLst>
                                          <p:attrName>ppt_x</p:attrName>
                                        </p:attrNameLst>
                                      </p:cBhvr>
                                      <p:tavLst>
                                        <p:tav tm="0">
                                          <p:val>
                                            <p:strVal val="#ppt_x"/>
                                          </p:val>
                                        </p:tav>
                                        <p:tav tm="100000">
                                          <p:val>
                                            <p:strVal val="#ppt_x"/>
                                          </p:val>
                                        </p:tav>
                                      </p:tavLst>
                                    </p:anim>
                                    <p:anim calcmode="lin" valueType="num">
                                      <p:cBhvr>
                                        <p:cTn id="70" dur="1000" fill="hold"/>
                                        <p:tgtEl>
                                          <p:spTgt spid="207"/>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68"/>
                                        </p:tgtEl>
                                        <p:attrNameLst>
                                          <p:attrName>style.visibility</p:attrName>
                                        </p:attrNameLst>
                                      </p:cBhvr>
                                      <p:to>
                                        <p:strVal val="visible"/>
                                      </p:to>
                                    </p:set>
                                    <p:animEffect transition="in" filter="fade">
                                      <p:cBhvr>
                                        <p:cTn id="75" dur="1000"/>
                                        <p:tgtEl>
                                          <p:spTgt spid="68"/>
                                        </p:tgtEl>
                                      </p:cBhvr>
                                    </p:animEffect>
                                    <p:anim calcmode="lin" valueType="num">
                                      <p:cBhvr>
                                        <p:cTn id="76" dur="1000" fill="hold"/>
                                        <p:tgtEl>
                                          <p:spTgt spid="68"/>
                                        </p:tgtEl>
                                        <p:attrNameLst>
                                          <p:attrName>ppt_x</p:attrName>
                                        </p:attrNameLst>
                                      </p:cBhvr>
                                      <p:tavLst>
                                        <p:tav tm="0">
                                          <p:val>
                                            <p:strVal val="#ppt_x"/>
                                          </p:val>
                                        </p:tav>
                                        <p:tav tm="100000">
                                          <p:val>
                                            <p:strVal val="#ppt_x"/>
                                          </p:val>
                                        </p:tav>
                                      </p:tavLst>
                                    </p:anim>
                                    <p:anim calcmode="lin" valueType="num">
                                      <p:cBhvr>
                                        <p:cTn id="77" dur="1000" fill="hold"/>
                                        <p:tgtEl>
                                          <p:spTgt spid="6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69"/>
                                        </p:tgtEl>
                                        <p:attrNameLst>
                                          <p:attrName>style.visibility</p:attrName>
                                        </p:attrNameLst>
                                      </p:cBhvr>
                                      <p:to>
                                        <p:strVal val="visible"/>
                                      </p:to>
                                    </p:set>
                                    <p:animEffect transition="in" filter="fade">
                                      <p:cBhvr>
                                        <p:cTn id="80" dur="1000"/>
                                        <p:tgtEl>
                                          <p:spTgt spid="69"/>
                                        </p:tgtEl>
                                      </p:cBhvr>
                                    </p:animEffect>
                                    <p:anim calcmode="lin" valueType="num">
                                      <p:cBhvr>
                                        <p:cTn id="81" dur="1000" fill="hold"/>
                                        <p:tgtEl>
                                          <p:spTgt spid="69"/>
                                        </p:tgtEl>
                                        <p:attrNameLst>
                                          <p:attrName>ppt_x</p:attrName>
                                        </p:attrNameLst>
                                      </p:cBhvr>
                                      <p:tavLst>
                                        <p:tav tm="0">
                                          <p:val>
                                            <p:strVal val="#ppt_x"/>
                                          </p:val>
                                        </p:tav>
                                        <p:tav tm="100000">
                                          <p:val>
                                            <p:strVal val="#ppt_x"/>
                                          </p:val>
                                        </p:tav>
                                      </p:tavLst>
                                    </p:anim>
                                    <p:anim calcmode="lin" valueType="num">
                                      <p:cBhvr>
                                        <p:cTn id="82"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117" grpId="0"/>
      <p:bldP spid="121" grpId="0"/>
      <p:bldP spid="206" grpId="0" animBg="1"/>
      <p:bldP spid="207" grpId="0"/>
      <p:bldP spid="208" grpId="0" animBg="1"/>
      <p:bldP spid="66" grpId="0" animBg="1"/>
      <p:bldP spid="66" grpId="1" animBg="1"/>
      <p:bldP spid="67" grpId="0" animBg="1"/>
      <p:bldP spid="67" grpId="1" animBg="1"/>
      <p:bldP spid="68" grpId="0" animBg="1"/>
      <p:bldP spid="6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41"/>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875" name="Google Shape;875;p41"/>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876" name="Google Shape;876;p41"/>
          <p:cNvGrpSpPr/>
          <p:nvPr/>
        </p:nvGrpSpPr>
        <p:grpSpPr>
          <a:xfrm>
            <a:off x="1284576" y="2130924"/>
            <a:ext cx="10188969" cy="756004"/>
            <a:chOff x="926134" y="1719856"/>
            <a:chExt cx="9204181" cy="750147"/>
          </a:xfrm>
        </p:grpSpPr>
        <p:sp>
          <p:nvSpPr>
            <p:cNvPr id="877" name="Google Shape;877;p41"/>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소유주가 자금을 출자하여 사업용 계좌에 입금함. 대출이 아님.</a:t>
              </a:r>
              <a:endParaRPr sz="2000">
                <a:solidFill>
                  <a:schemeClr val="dk1"/>
                </a:solidFill>
                <a:latin typeface="Avenir"/>
                <a:ea typeface="Avenir"/>
                <a:cs typeface="Avenir"/>
                <a:sym typeface="Avenir"/>
              </a:endParaRPr>
            </a:p>
          </p:txBody>
        </p:sp>
        <p:sp>
          <p:nvSpPr>
            <p:cNvPr id="878" name="Google Shape;878;p41"/>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Cash</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20,000</a:t>
              </a:r>
              <a:endParaRPr/>
            </a:p>
          </p:txBody>
        </p:sp>
        <p:sp>
          <p:nvSpPr>
            <p:cNvPr id="879" name="Google Shape;879;p41"/>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contributed capital</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20,000</a:t>
              </a:r>
              <a:endParaRPr/>
            </a:p>
          </p:txBody>
        </p:sp>
        <p:sp>
          <p:nvSpPr>
            <p:cNvPr id="880" name="Google Shape;880;p41"/>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2</a:t>
              </a:r>
              <a:endParaRPr/>
            </a:p>
          </p:txBody>
        </p:sp>
      </p:grpSp>
      <p:sp>
        <p:nvSpPr>
          <p:cNvPr id="881" name="Google Shape;881;p41"/>
          <p:cNvSpPr txBox="1"/>
          <p:nvPr/>
        </p:nvSpPr>
        <p:spPr>
          <a:xfrm>
            <a:off x="8109273" y="2128492"/>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20,000</a:t>
            </a:r>
            <a:endParaRPr/>
          </a:p>
        </p:txBody>
      </p:sp>
      <p:sp>
        <p:nvSpPr>
          <p:cNvPr id="882" name="Google Shape;882;p41"/>
          <p:cNvSpPr txBox="1"/>
          <p:nvPr/>
        </p:nvSpPr>
        <p:spPr>
          <a:xfrm>
            <a:off x="9792343" y="2128492"/>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20,000</a:t>
            </a:r>
            <a:endParaRPr/>
          </a:p>
        </p:txBody>
      </p:sp>
      <p:sp>
        <p:nvSpPr>
          <p:cNvPr id="883" name="Google Shape;883;p41"/>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3 January</a:t>
            </a:r>
            <a:endParaRPr sz="2130">
              <a:solidFill>
                <a:schemeClr val="dk1"/>
              </a:solidFill>
              <a:latin typeface="Avenir"/>
              <a:ea typeface="Avenir"/>
              <a:cs typeface="Avenir"/>
              <a:sym typeface="Avenir"/>
            </a:endParaRPr>
          </a:p>
        </p:txBody>
      </p:sp>
      <p:sp>
        <p:nvSpPr>
          <p:cNvPr id="884" name="Google Shape;884;p41"/>
          <p:cNvSpPr txBox="1"/>
          <p:nvPr/>
        </p:nvSpPr>
        <p:spPr>
          <a:xfrm>
            <a:off x="718455" y="3034199"/>
            <a:ext cx="10949127" cy="3293209"/>
          </a:xfrm>
          <a:prstGeom prst="rect">
            <a:avLst/>
          </a:prstGeom>
          <a:solidFill>
            <a:srgbClr val="A8D08C"/>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4000"/>
              <a:buFont typeface="Arial"/>
              <a:buNone/>
            </a:pPr>
            <a:r>
              <a:rPr lang="en-US" sz="4000" b="1">
                <a:solidFill>
                  <a:schemeClr val="dk1"/>
                </a:solidFill>
                <a:latin typeface="Gulim"/>
                <a:ea typeface="Gulim"/>
                <a:cs typeface="Gulim"/>
                <a:sym typeface="Gulim"/>
              </a:rPr>
              <a:t>생각의 흐름 (먼저 큰 그림부터 보기):</a:t>
            </a:r>
            <a:endParaRPr/>
          </a:p>
          <a:p>
            <a:pPr marL="0" marR="0" lvl="0" indent="0" algn="ctr" rtl="0">
              <a:spcBef>
                <a:spcPts val="800"/>
              </a:spcBef>
              <a:spcAft>
                <a:spcPts val="0"/>
              </a:spcAft>
              <a:buClr>
                <a:schemeClr val="lt1"/>
              </a:buClr>
              <a:buSzPts val="4000"/>
              <a:buFont typeface="Arial"/>
              <a:buNone/>
            </a:pPr>
            <a:r>
              <a:rPr lang="en-US" sz="4000">
                <a:solidFill>
                  <a:schemeClr val="lt1"/>
                </a:solidFill>
                <a:latin typeface="Gulim"/>
                <a:ea typeface="Gulim"/>
                <a:cs typeface="Gulim"/>
                <a:sym typeface="Gulim"/>
              </a:rPr>
              <a:t>이 거래의 결과로 </a:t>
            </a:r>
            <a:r>
              <a:rPr lang="en-US" sz="4000" b="1">
                <a:solidFill>
                  <a:schemeClr val="lt1"/>
                </a:solidFill>
                <a:latin typeface="Gulim"/>
                <a:ea typeface="Gulim"/>
                <a:cs typeface="Gulim"/>
                <a:sym typeface="Gulim"/>
              </a:rPr>
              <a:t>무엇이 더 많아졌는가</a:t>
            </a:r>
            <a:r>
              <a:rPr lang="en-US" sz="4000">
                <a:solidFill>
                  <a:schemeClr val="lt1"/>
                </a:solidFill>
                <a:latin typeface="Gulim"/>
                <a:ea typeface="Gulim"/>
                <a:cs typeface="Gulim"/>
                <a:sym typeface="Gulim"/>
              </a:rPr>
              <a:t>, 또는</a:t>
            </a:r>
            <a:br>
              <a:rPr lang="en-US" sz="4000">
                <a:solidFill>
                  <a:schemeClr val="lt1"/>
                </a:solidFill>
                <a:latin typeface="Gulim"/>
                <a:ea typeface="Gulim"/>
                <a:cs typeface="Gulim"/>
                <a:sym typeface="Gulim"/>
              </a:rPr>
            </a:br>
            <a:r>
              <a:rPr lang="en-US" sz="4000" b="1">
                <a:solidFill>
                  <a:schemeClr val="lt1"/>
                </a:solidFill>
                <a:latin typeface="Gulim"/>
                <a:ea typeface="Gulim"/>
                <a:cs typeface="Gulim"/>
                <a:sym typeface="Gulim"/>
              </a:rPr>
              <a:t>무엇이 더 줄어들었는가?</a:t>
            </a:r>
            <a:endParaRPr sz="4000">
              <a:solidFill>
                <a:schemeClr val="lt1"/>
              </a:solidFill>
              <a:latin typeface="Gulim"/>
              <a:ea typeface="Gulim"/>
              <a:cs typeface="Gulim"/>
              <a:sym typeface="Gulim"/>
            </a:endParaRPr>
          </a:p>
          <a:p>
            <a:pPr marL="0" marR="0" lvl="0" indent="0" algn="ctr" rtl="0">
              <a:spcBef>
                <a:spcPts val="0"/>
              </a:spcBef>
              <a:spcAft>
                <a:spcPts val="0"/>
              </a:spcAft>
              <a:buClr>
                <a:schemeClr val="lt1"/>
              </a:buClr>
              <a:buSzPts val="4000"/>
              <a:buFont typeface="Arial"/>
              <a:buNone/>
            </a:pPr>
            <a:r>
              <a:rPr lang="en-US" sz="4000">
                <a:solidFill>
                  <a:schemeClr val="lt1"/>
                </a:solidFill>
                <a:latin typeface="Avenir"/>
                <a:ea typeface="Avenir"/>
                <a:cs typeface="Avenir"/>
                <a:sym typeface="Avenir"/>
              </a:rPr>
              <a:t>(in terms of Assets, Liabilities, Equity,</a:t>
            </a:r>
            <a:endParaRPr/>
          </a:p>
          <a:p>
            <a:pPr marL="0" marR="0" lvl="0" indent="0" algn="ctr" rtl="0">
              <a:spcBef>
                <a:spcPts val="0"/>
              </a:spcBef>
              <a:spcAft>
                <a:spcPts val="0"/>
              </a:spcAft>
              <a:buClr>
                <a:schemeClr val="lt1"/>
              </a:buClr>
              <a:buSzPts val="4000"/>
              <a:buFont typeface="Arial"/>
              <a:buNone/>
            </a:pPr>
            <a:r>
              <a:rPr lang="en-US" sz="4000">
                <a:solidFill>
                  <a:schemeClr val="lt1"/>
                </a:solidFill>
                <a:latin typeface="Avenir"/>
                <a:ea typeface="Avenir"/>
                <a:cs typeface="Avenir"/>
                <a:sym typeface="Avenir"/>
              </a:rPr>
              <a:t>Revenue &amp; Expenses?)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84"/>
                                        </p:tgtEl>
                                        <p:attrNameLst>
                                          <p:attrName>style.visibility</p:attrName>
                                        </p:attrNameLst>
                                      </p:cBhvr>
                                      <p:to>
                                        <p:strVal val="visible"/>
                                      </p:to>
                                    </p:set>
                                    <p:anim calcmode="lin" valueType="num">
                                      <p:cBhvr additive="base">
                                        <p:cTn id="7" dur="500"/>
                                        <p:tgtEl>
                                          <p:spTgt spid="88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3135648"/>
            <a:ext cx="1620000" cy="823049"/>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9914674" y="3924000"/>
            <a:ext cx="1841809" cy="338554"/>
          </a:xfrm>
          <a:prstGeom prst="rect">
            <a:avLst/>
          </a:prstGeom>
          <a:noFill/>
        </p:spPr>
        <p:txBody>
          <a:bodyPr wrap="square" rtlCol="0">
            <a:spAutoFit/>
          </a:bodyPr>
          <a:lstStyle/>
          <a:p>
            <a:pPr algn="ctr"/>
            <a:r>
              <a:rPr lang="en-US" sz="1600" dirty="0">
                <a:latin typeface="Avenir"/>
              </a:rPr>
              <a:t>Contributed capital</a:t>
            </a:r>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72" name="Rectangle 71">
            <a:extLst>
              <a:ext uri="{FF2B5EF4-FFF2-40B4-BE49-F238E27FC236}">
                <a16:creationId xmlns:a16="http://schemas.microsoft.com/office/drawing/2014/main" id="{F92424E0-F25D-F345-891B-BB218012364A}"/>
              </a:ext>
            </a:extLst>
          </p:cNvPr>
          <p:cNvSpPr/>
          <p:nvPr/>
        </p:nvSpPr>
        <p:spPr>
          <a:xfrm>
            <a:off x="1322797" y="5053028"/>
            <a:ext cx="105384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0BCCBA1F-B455-A54B-B1BA-3D9A12F803C5}"/>
              </a:ext>
            </a:extLst>
          </p:cNvPr>
          <p:cNvGrpSpPr/>
          <p:nvPr/>
        </p:nvGrpSpPr>
        <p:grpSpPr>
          <a:xfrm>
            <a:off x="1518474" y="5331049"/>
            <a:ext cx="10188967" cy="756004"/>
            <a:chOff x="926134" y="1719856"/>
            <a:chExt cx="9204181" cy="750147"/>
          </a:xfrm>
        </p:grpSpPr>
        <p:sp>
          <p:nvSpPr>
            <p:cNvPr id="74" name="TextBox 73">
              <a:extLst>
                <a:ext uri="{FF2B5EF4-FFF2-40B4-BE49-F238E27FC236}">
                  <a16:creationId xmlns:a16="http://schemas.microsoft.com/office/drawing/2014/main" id="{AA40F1E8-B790-2C4F-9A1B-38B87C483D06}"/>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소유주가 자금을 출자하여 사업용 계좌에 입금함</a:t>
              </a:r>
              <a:r>
                <a:rPr lang="en-US" altLang="ko-KR" sz="2000" dirty="0">
                  <a:solidFill>
                    <a:schemeClr val="dk1"/>
                  </a:solidFill>
                  <a:latin typeface="Calibri"/>
                  <a:ea typeface="Calibri"/>
                  <a:cs typeface="Calibri"/>
                  <a:sym typeface="Calibri"/>
                </a:rPr>
                <a:t>. </a:t>
              </a:r>
              <a:r>
                <a:rPr lang="ko-KR" altLang="en-US" sz="2000" dirty="0">
                  <a:solidFill>
                    <a:schemeClr val="dk1"/>
                  </a:solidFill>
                  <a:latin typeface="Calibri"/>
                  <a:ea typeface="Calibri"/>
                  <a:cs typeface="Calibri"/>
                  <a:sym typeface="Calibri"/>
                </a:rPr>
                <a:t>대출이 아님</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77" name="TextBox 76">
              <a:extLst>
                <a:ext uri="{FF2B5EF4-FFF2-40B4-BE49-F238E27FC236}">
                  <a16:creationId xmlns:a16="http://schemas.microsoft.com/office/drawing/2014/main" id="{FFA5322C-A9B1-6845-9B48-B932364EB102}"/>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Cash</a:t>
              </a:r>
            </a:p>
            <a:p>
              <a:pPr algn="ctr"/>
              <a:r>
                <a:rPr lang="en-GB" b="1">
                  <a:solidFill>
                    <a:schemeClr val="bg1">
                      <a:lumMod val="75000"/>
                    </a:schemeClr>
                  </a:solidFill>
                  <a:latin typeface="Avenir"/>
                  <a:ea typeface="Helvetica" charset="0"/>
                  <a:cs typeface="Helvetica" charset="0"/>
                </a:rPr>
                <a:t>20,000</a:t>
              </a:r>
            </a:p>
          </p:txBody>
        </p:sp>
        <p:sp>
          <p:nvSpPr>
            <p:cNvPr id="78" name="TextBox 77">
              <a:extLst>
                <a:ext uri="{FF2B5EF4-FFF2-40B4-BE49-F238E27FC236}">
                  <a16:creationId xmlns:a16="http://schemas.microsoft.com/office/drawing/2014/main" id="{AB7F546D-94E6-5748-ADC7-1317994EB3C5}"/>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dirty="0">
                  <a:solidFill>
                    <a:schemeClr val="bg1">
                      <a:lumMod val="75000"/>
                    </a:schemeClr>
                  </a:solidFill>
                  <a:latin typeface="Avenir"/>
                  <a:ea typeface="Helvetica" charset="0"/>
                  <a:cs typeface="Helvetica" charset="0"/>
                </a:rPr>
                <a:t>Contributed capital</a:t>
              </a:r>
              <a:endParaRPr lang="en-GB" sz="1600" b="1" dirty="0">
                <a:solidFill>
                  <a:schemeClr val="bg1">
                    <a:lumMod val="75000"/>
                  </a:schemeClr>
                </a:solidFill>
                <a:latin typeface="Avenir"/>
                <a:ea typeface="Helvetica" charset="0"/>
                <a:cs typeface="Helvetica" charset="0"/>
              </a:endParaRPr>
            </a:p>
            <a:p>
              <a:pPr algn="ctr"/>
              <a:r>
                <a:rPr lang="en-GB" b="1" dirty="0">
                  <a:solidFill>
                    <a:schemeClr val="bg1">
                      <a:lumMod val="75000"/>
                    </a:schemeClr>
                  </a:solidFill>
                  <a:latin typeface="Avenir"/>
                  <a:ea typeface="Helvetica" charset="0"/>
                  <a:cs typeface="Helvetica" charset="0"/>
                </a:rPr>
                <a:t>20,000</a:t>
              </a:r>
            </a:p>
          </p:txBody>
        </p:sp>
        <p:sp>
          <p:nvSpPr>
            <p:cNvPr id="79" name="TextBox 78">
              <a:extLst>
                <a:ext uri="{FF2B5EF4-FFF2-40B4-BE49-F238E27FC236}">
                  <a16:creationId xmlns:a16="http://schemas.microsoft.com/office/drawing/2014/main" id="{2BDF759F-B713-A241-8330-5AFC27FF83CE}"/>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2</a:t>
              </a:r>
            </a:p>
          </p:txBody>
        </p:sp>
      </p:grpSp>
      <p:sp>
        <p:nvSpPr>
          <p:cNvPr id="80" name="TextBox 79">
            <a:extLst>
              <a:ext uri="{FF2B5EF4-FFF2-40B4-BE49-F238E27FC236}">
                <a16:creationId xmlns:a16="http://schemas.microsoft.com/office/drawing/2014/main" id="{51C6442A-1F8D-D64E-AA60-EA895A9F5396}"/>
              </a:ext>
            </a:extLst>
          </p:cNvPr>
          <p:cNvSpPr txBox="1"/>
          <p:nvPr/>
        </p:nvSpPr>
        <p:spPr>
          <a:xfrm>
            <a:off x="8341301" y="5326936"/>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20,000</a:t>
            </a:r>
          </a:p>
        </p:txBody>
      </p:sp>
      <p:sp>
        <p:nvSpPr>
          <p:cNvPr id="81" name="TextBox 80">
            <a:extLst>
              <a:ext uri="{FF2B5EF4-FFF2-40B4-BE49-F238E27FC236}">
                <a16:creationId xmlns:a16="http://schemas.microsoft.com/office/drawing/2014/main" id="{50C1E10A-0606-CB48-8204-A63BA2F82544}"/>
              </a:ext>
            </a:extLst>
          </p:cNvPr>
          <p:cNvSpPr txBox="1"/>
          <p:nvPr/>
        </p:nvSpPr>
        <p:spPr>
          <a:xfrm>
            <a:off x="10024371" y="5331049"/>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20,000</a:t>
            </a:r>
          </a:p>
        </p:txBody>
      </p:sp>
      <p:sp>
        <p:nvSpPr>
          <p:cNvPr id="82" name="Down Arrow 81">
            <a:extLst>
              <a:ext uri="{FF2B5EF4-FFF2-40B4-BE49-F238E27FC236}">
                <a16:creationId xmlns:a16="http://schemas.microsoft.com/office/drawing/2014/main" id="{02B7A01B-42F4-3F4F-A4E2-6F4C6E745ED9}"/>
              </a:ext>
            </a:extLst>
          </p:cNvPr>
          <p:cNvSpPr/>
          <p:nvPr/>
        </p:nvSpPr>
        <p:spPr>
          <a:xfrm rot="10800000">
            <a:off x="153289" y="824059"/>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Down Arrow 82">
            <a:extLst>
              <a:ext uri="{FF2B5EF4-FFF2-40B4-BE49-F238E27FC236}">
                <a16:creationId xmlns:a16="http://schemas.microsoft.com/office/drawing/2014/main" id="{77012B0F-9C90-C24C-A99F-ADF7DE71D436}"/>
              </a:ext>
            </a:extLst>
          </p:cNvPr>
          <p:cNvSpPr/>
          <p:nvPr/>
        </p:nvSpPr>
        <p:spPr>
          <a:xfrm rot="10800000">
            <a:off x="11156864" y="2680447"/>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26446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E-6 -4.44444E-6 L -0.48959 -0.38865 " pathEditMode="relative" rAng="0" ptsTypes="AA">
                                      <p:cBhvr>
                                        <p:cTn id="6" dur="3000" fill="hold"/>
                                        <p:tgtEl>
                                          <p:spTgt spid="80"/>
                                        </p:tgtEl>
                                        <p:attrNameLst>
                                          <p:attrName>ppt_x</p:attrName>
                                          <p:attrName>ppt_y</p:attrName>
                                        </p:attrNameLst>
                                      </p:cBhvr>
                                      <p:rCtr x="-24479" y="-19444"/>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80"/>
                                        </p:tgtEl>
                                        <p:attrNameLst>
                                          <p:attrName>ppt_w</p:attrName>
                                        </p:attrNameLst>
                                      </p:cBhvr>
                                      <p:tavLst>
                                        <p:tav tm="0">
                                          <p:val>
                                            <p:strVal val="ppt_w"/>
                                          </p:val>
                                        </p:tav>
                                        <p:tav tm="100000">
                                          <p:val>
                                            <p:fltVal val="0"/>
                                          </p:val>
                                        </p:tav>
                                      </p:tavLst>
                                    </p:anim>
                                    <p:anim calcmode="lin" valueType="num">
                                      <p:cBhvr>
                                        <p:cTn id="10" dur="1000"/>
                                        <p:tgtEl>
                                          <p:spTgt spid="80"/>
                                        </p:tgtEl>
                                        <p:attrNameLst>
                                          <p:attrName>ppt_h</p:attrName>
                                        </p:attrNameLst>
                                      </p:cBhvr>
                                      <p:tavLst>
                                        <p:tav tm="0">
                                          <p:val>
                                            <p:strVal val="ppt_h"/>
                                          </p:val>
                                        </p:tav>
                                        <p:tav tm="100000">
                                          <p:val>
                                            <p:fltVal val="0"/>
                                          </p:val>
                                        </p:tav>
                                      </p:tavLst>
                                    </p:anim>
                                    <p:anim calcmode="lin" valueType="num">
                                      <p:cBhvr>
                                        <p:cTn id="11" dur="1000"/>
                                        <p:tgtEl>
                                          <p:spTgt spid="80"/>
                                        </p:tgtEl>
                                        <p:attrNameLst>
                                          <p:attrName>style.rotation</p:attrName>
                                        </p:attrNameLst>
                                      </p:cBhvr>
                                      <p:tavLst>
                                        <p:tav tm="0">
                                          <p:val>
                                            <p:fltVal val="0"/>
                                          </p:val>
                                        </p:tav>
                                        <p:tav tm="100000">
                                          <p:val>
                                            <p:fltVal val="90"/>
                                          </p:val>
                                        </p:tav>
                                      </p:tavLst>
                                    </p:anim>
                                    <p:animEffect transition="out" filter="fade">
                                      <p:cBhvr>
                                        <p:cTn id="12" dur="1000"/>
                                        <p:tgtEl>
                                          <p:spTgt spid="80"/>
                                        </p:tgtEl>
                                      </p:cBhvr>
                                    </p:animEffect>
                                    <p:set>
                                      <p:cBhvr>
                                        <p:cTn id="13" dur="1" fill="hold">
                                          <p:stCondLst>
                                            <p:cond delay="999"/>
                                          </p:stCondLst>
                                        </p:cTn>
                                        <p:tgtEl>
                                          <p:spTgt spid="80"/>
                                        </p:tgtEl>
                                        <p:attrNameLst>
                                          <p:attrName>style.visibility</p:attrName>
                                        </p:attrNameLst>
                                      </p:cBhvr>
                                      <p:to>
                                        <p:strVal val="hidden"/>
                                      </p:to>
                                    </p:set>
                                  </p:childTnLst>
                                </p:cTn>
                              </p:par>
                              <p:par>
                                <p:cTn id="14" presetID="42" presetClass="entr" presetSubtype="0" fill="hold" grpId="0" nodeType="withEffect">
                                  <p:stCondLst>
                                    <p:cond delay="0"/>
                                  </p:stCondLst>
                                  <p:childTnLst>
                                    <p:set>
                                      <p:cBhvr>
                                        <p:cTn id="15" dur="1" fill="hold">
                                          <p:stCondLst>
                                            <p:cond delay="0"/>
                                          </p:stCondLst>
                                        </p:cTn>
                                        <p:tgtEl>
                                          <p:spTgt spid="154"/>
                                        </p:tgtEl>
                                        <p:attrNameLst>
                                          <p:attrName>style.visibility</p:attrName>
                                        </p:attrNameLst>
                                      </p:cBhvr>
                                      <p:to>
                                        <p:strVal val="visible"/>
                                      </p:to>
                                    </p:set>
                                    <p:animEffect transition="in" filter="fade">
                                      <p:cBhvr>
                                        <p:cTn id="16" dur="1000"/>
                                        <p:tgtEl>
                                          <p:spTgt spid="154"/>
                                        </p:tgtEl>
                                      </p:cBhvr>
                                    </p:animEffect>
                                    <p:anim calcmode="lin" valueType="num">
                                      <p:cBhvr>
                                        <p:cTn id="17" dur="1000" fill="hold"/>
                                        <p:tgtEl>
                                          <p:spTgt spid="154"/>
                                        </p:tgtEl>
                                        <p:attrNameLst>
                                          <p:attrName>ppt_x</p:attrName>
                                        </p:attrNameLst>
                                      </p:cBhvr>
                                      <p:tavLst>
                                        <p:tav tm="0">
                                          <p:val>
                                            <p:strVal val="#ppt_x"/>
                                          </p:val>
                                        </p:tav>
                                        <p:tav tm="100000">
                                          <p:val>
                                            <p:strVal val="#ppt_x"/>
                                          </p:val>
                                        </p:tav>
                                      </p:tavLst>
                                    </p:anim>
                                    <p:anim calcmode="lin" valueType="num">
                                      <p:cBhvr>
                                        <p:cTn id="18" dur="1000" fill="hold"/>
                                        <p:tgtEl>
                                          <p:spTgt spid="154"/>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05"/>
                                        </p:tgtEl>
                                        <p:attrNameLst>
                                          <p:attrName>style.visibility</p:attrName>
                                        </p:attrNameLst>
                                      </p:cBhvr>
                                      <p:to>
                                        <p:strVal val="visible"/>
                                      </p:to>
                                    </p:set>
                                    <p:animEffect transition="in" filter="fade">
                                      <p:cBhvr>
                                        <p:cTn id="21" dur="1000"/>
                                        <p:tgtEl>
                                          <p:spTgt spid="205"/>
                                        </p:tgtEl>
                                      </p:cBhvr>
                                    </p:animEffect>
                                    <p:anim calcmode="lin" valueType="num">
                                      <p:cBhvr>
                                        <p:cTn id="22" dur="1000" fill="hold"/>
                                        <p:tgtEl>
                                          <p:spTgt spid="205"/>
                                        </p:tgtEl>
                                        <p:attrNameLst>
                                          <p:attrName>ppt_x</p:attrName>
                                        </p:attrNameLst>
                                      </p:cBhvr>
                                      <p:tavLst>
                                        <p:tav tm="0">
                                          <p:val>
                                            <p:strVal val="#ppt_x"/>
                                          </p:val>
                                        </p:tav>
                                        <p:tav tm="100000">
                                          <p:val>
                                            <p:strVal val="#ppt_x"/>
                                          </p:val>
                                        </p:tav>
                                      </p:tavLst>
                                    </p:anim>
                                    <p:anim calcmode="lin" valueType="num">
                                      <p:cBhvr>
                                        <p:cTn id="23" dur="1000" fill="hold"/>
                                        <p:tgtEl>
                                          <p:spTgt spid="205"/>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296"/>
                                        </p:tgtEl>
                                        <p:attrNameLst>
                                          <p:attrName>style.visibility</p:attrName>
                                        </p:attrNameLst>
                                      </p:cBhvr>
                                      <p:to>
                                        <p:strVal val="visible"/>
                                      </p:to>
                                    </p:set>
                                    <p:animEffect transition="in" filter="fade">
                                      <p:cBhvr>
                                        <p:cTn id="26" dur="1000"/>
                                        <p:tgtEl>
                                          <p:spTgt spid="296"/>
                                        </p:tgtEl>
                                      </p:cBhvr>
                                    </p:animEffect>
                                    <p:anim calcmode="lin" valueType="num">
                                      <p:cBhvr>
                                        <p:cTn id="27" dur="1000" fill="hold"/>
                                        <p:tgtEl>
                                          <p:spTgt spid="296"/>
                                        </p:tgtEl>
                                        <p:attrNameLst>
                                          <p:attrName>ppt_x</p:attrName>
                                        </p:attrNameLst>
                                      </p:cBhvr>
                                      <p:tavLst>
                                        <p:tav tm="0">
                                          <p:val>
                                            <p:strVal val="#ppt_x"/>
                                          </p:val>
                                        </p:tav>
                                        <p:tav tm="100000">
                                          <p:val>
                                            <p:strVal val="#ppt_x"/>
                                          </p:val>
                                        </p:tav>
                                      </p:tavLst>
                                    </p:anim>
                                    <p:anim calcmode="lin" valueType="num">
                                      <p:cBhvr>
                                        <p:cTn id="28" dur="1000" fill="hold"/>
                                        <p:tgtEl>
                                          <p:spTgt spid="29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9"/>
                                        </p:tgtEl>
                                        <p:attrNameLst>
                                          <p:attrName>style.visibility</p:attrName>
                                        </p:attrNameLst>
                                      </p:cBhvr>
                                      <p:to>
                                        <p:strVal val="visible"/>
                                      </p:to>
                                    </p:set>
                                    <p:animEffect transition="in" filter="fade">
                                      <p:cBhvr>
                                        <p:cTn id="33" dur="500"/>
                                        <p:tgtEl>
                                          <p:spTgt spid="119"/>
                                        </p:tgtEl>
                                      </p:cBhvr>
                                    </p:animEffect>
                                  </p:childTnLst>
                                </p:cTn>
                              </p:par>
                              <p:par>
                                <p:cTn id="34" presetID="10" presetClass="entr" presetSubtype="0" fill="hold" nodeType="withEffect">
                                  <p:stCondLst>
                                    <p:cond delay="0"/>
                                  </p:stCondLst>
                                  <p:childTnLst>
                                    <p:set>
                                      <p:cBhvr>
                                        <p:cTn id="35" dur="1" fill="hold">
                                          <p:stCondLst>
                                            <p:cond delay="0"/>
                                          </p:stCondLst>
                                        </p:cTn>
                                        <p:tgtEl>
                                          <p:spTgt spid="429"/>
                                        </p:tgtEl>
                                        <p:attrNameLst>
                                          <p:attrName>style.visibility</p:attrName>
                                        </p:attrNameLst>
                                      </p:cBhvr>
                                      <p:to>
                                        <p:strVal val="visible"/>
                                      </p:to>
                                    </p:set>
                                    <p:animEffect transition="in" filter="fade">
                                      <p:cBhvr>
                                        <p:cTn id="36" dur="500"/>
                                        <p:tgtEl>
                                          <p:spTgt spid="429"/>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0" nodeType="clickEffect">
                                  <p:stCondLst>
                                    <p:cond delay="0"/>
                                  </p:stCondLst>
                                  <p:childTnLst>
                                    <p:animMotion origin="layout" path="M 3.95833E-6 2.59259E-6 L -0.00079 -0.3581 " pathEditMode="relative" rAng="0" ptsTypes="AA">
                                      <p:cBhvr>
                                        <p:cTn id="40" dur="3000" fill="hold"/>
                                        <p:tgtEl>
                                          <p:spTgt spid="81"/>
                                        </p:tgtEl>
                                        <p:attrNameLst>
                                          <p:attrName>ppt_x</p:attrName>
                                          <p:attrName>ppt_y</p:attrName>
                                        </p:attrNameLst>
                                      </p:cBhvr>
                                      <p:rCtr x="-39" y="-17917"/>
                                    </p:animMotion>
                                  </p:childTnLst>
                                </p:cTn>
                              </p:par>
                            </p:childTnLst>
                          </p:cTn>
                        </p:par>
                        <p:par>
                          <p:cTn id="41" fill="hold">
                            <p:stCondLst>
                              <p:cond delay="3000"/>
                            </p:stCondLst>
                            <p:childTnLst>
                              <p:par>
                                <p:cTn id="42" presetID="31" presetClass="exit" presetSubtype="0" fill="hold" grpId="1" nodeType="afterEffect">
                                  <p:stCondLst>
                                    <p:cond delay="0"/>
                                  </p:stCondLst>
                                  <p:childTnLst>
                                    <p:anim calcmode="lin" valueType="num">
                                      <p:cBhvr>
                                        <p:cTn id="43" dur="1000"/>
                                        <p:tgtEl>
                                          <p:spTgt spid="81"/>
                                        </p:tgtEl>
                                        <p:attrNameLst>
                                          <p:attrName>ppt_w</p:attrName>
                                        </p:attrNameLst>
                                      </p:cBhvr>
                                      <p:tavLst>
                                        <p:tav tm="0">
                                          <p:val>
                                            <p:strVal val="ppt_w"/>
                                          </p:val>
                                        </p:tav>
                                        <p:tav tm="100000">
                                          <p:val>
                                            <p:fltVal val="0"/>
                                          </p:val>
                                        </p:tav>
                                      </p:tavLst>
                                    </p:anim>
                                    <p:anim calcmode="lin" valueType="num">
                                      <p:cBhvr>
                                        <p:cTn id="44" dur="1000"/>
                                        <p:tgtEl>
                                          <p:spTgt spid="81"/>
                                        </p:tgtEl>
                                        <p:attrNameLst>
                                          <p:attrName>ppt_h</p:attrName>
                                        </p:attrNameLst>
                                      </p:cBhvr>
                                      <p:tavLst>
                                        <p:tav tm="0">
                                          <p:val>
                                            <p:strVal val="ppt_h"/>
                                          </p:val>
                                        </p:tav>
                                        <p:tav tm="100000">
                                          <p:val>
                                            <p:fltVal val="0"/>
                                          </p:val>
                                        </p:tav>
                                      </p:tavLst>
                                    </p:anim>
                                    <p:anim calcmode="lin" valueType="num">
                                      <p:cBhvr>
                                        <p:cTn id="45" dur="1000"/>
                                        <p:tgtEl>
                                          <p:spTgt spid="81"/>
                                        </p:tgtEl>
                                        <p:attrNameLst>
                                          <p:attrName>style.rotation</p:attrName>
                                        </p:attrNameLst>
                                      </p:cBhvr>
                                      <p:tavLst>
                                        <p:tav tm="0">
                                          <p:val>
                                            <p:fltVal val="0"/>
                                          </p:val>
                                        </p:tav>
                                        <p:tav tm="100000">
                                          <p:val>
                                            <p:fltVal val="90"/>
                                          </p:val>
                                        </p:tav>
                                      </p:tavLst>
                                    </p:anim>
                                    <p:animEffect transition="out" filter="fade">
                                      <p:cBhvr>
                                        <p:cTn id="46" dur="1000"/>
                                        <p:tgtEl>
                                          <p:spTgt spid="81"/>
                                        </p:tgtEl>
                                      </p:cBhvr>
                                    </p:animEffect>
                                    <p:set>
                                      <p:cBhvr>
                                        <p:cTn id="47" dur="1" fill="hold">
                                          <p:stCondLst>
                                            <p:cond delay="999"/>
                                          </p:stCondLst>
                                        </p:cTn>
                                        <p:tgtEl>
                                          <p:spTgt spid="81"/>
                                        </p:tgtEl>
                                        <p:attrNameLst>
                                          <p:attrName>style.visibility</p:attrName>
                                        </p:attrNameLst>
                                      </p:cBhvr>
                                      <p:to>
                                        <p:strVal val="hidden"/>
                                      </p:to>
                                    </p:set>
                                  </p:childTnLst>
                                </p:cTn>
                              </p:par>
                              <p:par>
                                <p:cTn id="48" presetID="42" presetClass="entr" presetSubtype="0" fill="hold" grpId="0" nodeType="withEffect">
                                  <p:stCondLst>
                                    <p:cond delay="0"/>
                                  </p:stCondLst>
                                  <p:childTnLst>
                                    <p:set>
                                      <p:cBhvr>
                                        <p:cTn id="49" dur="1" fill="hold">
                                          <p:stCondLst>
                                            <p:cond delay="0"/>
                                          </p:stCondLst>
                                        </p:cTn>
                                        <p:tgtEl>
                                          <p:spTgt spid="400"/>
                                        </p:tgtEl>
                                        <p:attrNameLst>
                                          <p:attrName>style.visibility</p:attrName>
                                        </p:attrNameLst>
                                      </p:cBhvr>
                                      <p:to>
                                        <p:strVal val="visible"/>
                                      </p:to>
                                    </p:set>
                                    <p:animEffect transition="in" filter="fade">
                                      <p:cBhvr>
                                        <p:cTn id="50" dur="1000"/>
                                        <p:tgtEl>
                                          <p:spTgt spid="400"/>
                                        </p:tgtEl>
                                      </p:cBhvr>
                                    </p:animEffect>
                                    <p:anim calcmode="lin" valueType="num">
                                      <p:cBhvr>
                                        <p:cTn id="51" dur="1000" fill="hold"/>
                                        <p:tgtEl>
                                          <p:spTgt spid="400"/>
                                        </p:tgtEl>
                                        <p:attrNameLst>
                                          <p:attrName>ppt_x</p:attrName>
                                        </p:attrNameLst>
                                      </p:cBhvr>
                                      <p:tavLst>
                                        <p:tav tm="0">
                                          <p:val>
                                            <p:strVal val="#ppt_x"/>
                                          </p:val>
                                        </p:tav>
                                        <p:tav tm="100000">
                                          <p:val>
                                            <p:strVal val="#ppt_x"/>
                                          </p:val>
                                        </p:tav>
                                      </p:tavLst>
                                    </p:anim>
                                    <p:anim calcmode="lin" valueType="num">
                                      <p:cBhvr>
                                        <p:cTn id="52" dur="1000" fill="hold"/>
                                        <p:tgtEl>
                                          <p:spTgt spid="400"/>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305"/>
                                        </p:tgtEl>
                                        <p:attrNameLst>
                                          <p:attrName>style.visibility</p:attrName>
                                        </p:attrNameLst>
                                      </p:cBhvr>
                                      <p:to>
                                        <p:strVal val="visible"/>
                                      </p:to>
                                    </p:set>
                                    <p:animEffect transition="in" filter="fade">
                                      <p:cBhvr>
                                        <p:cTn id="55" dur="1000"/>
                                        <p:tgtEl>
                                          <p:spTgt spid="305"/>
                                        </p:tgtEl>
                                      </p:cBhvr>
                                    </p:animEffect>
                                    <p:anim calcmode="lin" valueType="num">
                                      <p:cBhvr>
                                        <p:cTn id="56" dur="1000" fill="hold"/>
                                        <p:tgtEl>
                                          <p:spTgt spid="305"/>
                                        </p:tgtEl>
                                        <p:attrNameLst>
                                          <p:attrName>ppt_x</p:attrName>
                                        </p:attrNameLst>
                                      </p:cBhvr>
                                      <p:tavLst>
                                        <p:tav tm="0">
                                          <p:val>
                                            <p:strVal val="#ppt_x"/>
                                          </p:val>
                                        </p:tav>
                                        <p:tav tm="100000">
                                          <p:val>
                                            <p:strVal val="#ppt_x"/>
                                          </p:val>
                                        </p:tav>
                                      </p:tavLst>
                                    </p:anim>
                                    <p:anim calcmode="lin" valueType="num">
                                      <p:cBhvr>
                                        <p:cTn id="57" dur="1000" fill="hold"/>
                                        <p:tgtEl>
                                          <p:spTgt spid="30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09"/>
                                        </p:tgtEl>
                                        <p:attrNameLst>
                                          <p:attrName>style.visibility</p:attrName>
                                        </p:attrNameLst>
                                      </p:cBhvr>
                                      <p:to>
                                        <p:strVal val="visible"/>
                                      </p:to>
                                    </p:set>
                                    <p:animEffect transition="in" filter="fade">
                                      <p:cBhvr>
                                        <p:cTn id="60" dur="1000"/>
                                        <p:tgtEl>
                                          <p:spTgt spid="209"/>
                                        </p:tgtEl>
                                      </p:cBhvr>
                                    </p:animEffect>
                                    <p:anim calcmode="lin" valueType="num">
                                      <p:cBhvr>
                                        <p:cTn id="61" dur="1000" fill="hold"/>
                                        <p:tgtEl>
                                          <p:spTgt spid="209"/>
                                        </p:tgtEl>
                                        <p:attrNameLst>
                                          <p:attrName>ppt_x</p:attrName>
                                        </p:attrNameLst>
                                      </p:cBhvr>
                                      <p:tavLst>
                                        <p:tav tm="0">
                                          <p:val>
                                            <p:strVal val="#ppt_x"/>
                                          </p:val>
                                        </p:tav>
                                        <p:tav tm="100000">
                                          <p:val>
                                            <p:strVal val="#ppt_x"/>
                                          </p:val>
                                        </p:tav>
                                      </p:tavLst>
                                    </p:anim>
                                    <p:anim calcmode="lin" valueType="num">
                                      <p:cBhvr>
                                        <p:cTn id="62" dur="1000" fill="hold"/>
                                        <p:tgtEl>
                                          <p:spTgt spid="209"/>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82"/>
                                        </p:tgtEl>
                                        <p:attrNameLst>
                                          <p:attrName>style.visibility</p:attrName>
                                        </p:attrNameLst>
                                      </p:cBhvr>
                                      <p:to>
                                        <p:strVal val="visible"/>
                                      </p:to>
                                    </p:set>
                                    <p:animEffect transition="in" filter="fade">
                                      <p:cBhvr>
                                        <p:cTn id="67" dur="1000"/>
                                        <p:tgtEl>
                                          <p:spTgt spid="82"/>
                                        </p:tgtEl>
                                      </p:cBhvr>
                                    </p:animEffect>
                                    <p:anim calcmode="lin" valueType="num">
                                      <p:cBhvr>
                                        <p:cTn id="68" dur="1000" fill="hold"/>
                                        <p:tgtEl>
                                          <p:spTgt spid="82"/>
                                        </p:tgtEl>
                                        <p:attrNameLst>
                                          <p:attrName>ppt_x</p:attrName>
                                        </p:attrNameLst>
                                      </p:cBhvr>
                                      <p:tavLst>
                                        <p:tav tm="0">
                                          <p:val>
                                            <p:strVal val="#ppt_x"/>
                                          </p:val>
                                        </p:tav>
                                        <p:tav tm="100000">
                                          <p:val>
                                            <p:strVal val="#ppt_x"/>
                                          </p:val>
                                        </p:tav>
                                      </p:tavLst>
                                    </p:anim>
                                    <p:anim calcmode="lin" valueType="num">
                                      <p:cBhvr>
                                        <p:cTn id="69" dur="1000" fill="hold"/>
                                        <p:tgtEl>
                                          <p:spTgt spid="8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83"/>
                                        </p:tgtEl>
                                        <p:attrNameLst>
                                          <p:attrName>style.visibility</p:attrName>
                                        </p:attrNameLst>
                                      </p:cBhvr>
                                      <p:to>
                                        <p:strVal val="visible"/>
                                      </p:to>
                                    </p:set>
                                    <p:animEffect transition="in" filter="fade">
                                      <p:cBhvr>
                                        <p:cTn id="72" dur="1000"/>
                                        <p:tgtEl>
                                          <p:spTgt spid="83"/>
                                        </p:tgtEl>
                                      </p:cBhvr>
                                    </p:animEffect>
                                    <p:anim calcmode="lin" valueType="num">
                                      <p:cBhvr>
                                        <p:cTn id="73" dur="1000" fill="hold"/>
                                        <p:tgtEl>
                                          <p:spTgt spid="83"/>
                                        </p:tgtEl>
                                        <p:attrNameLst>
                                          <p:attrName>ppt_x</p:attrName>
                                        </p:attrNameLst>
                                      </p:cBhvr>
                                      <p:tavLst>
                                        <p:tav tm="0">
                                          <p:val>
                                            <p:strVal val="#ppt_x"/>
                                          </p:val>
                                        </p:tav>
                                        <p:tav tm="100000">
                                          <p:val>
                                            <p:strVal val="#ppt_x"/>
                                          </p:val>
                                        </p:tav>
                                      </p:tavLst>
                                    </p:anim>
                                    <p:anim calcmode="lin" valueType="num">
                                      <p:cBhvr>
                                        <p:cTn id="74" dur="1000" fill="hold"/>
                                        <p:tgtEl>
                                          <p:spTgt spid="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p:bldP spid="119" grpId="0"/>
      <p:bldP spid="205" grpId="0" animBg="1"/>
      <p:bldP spid="209" grpId="0"/>
      <p:bldP spid="400" grpId="0" animBg="1"/>
      <p:bldP spid="80" grpId="0" animBg="1"/>
      <p:bldP spid="80" grpId="1" animBg="1"/>
      <p:bldP spid="81" grpId="0" animBg="1"/>
      <p:bldP spid="81" grpId="1" animBg="1"/>
      <p:bldP spid="82" grpId="0" animBg="1"/>
      <p:bldP spid="8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43"/>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952" name="Google Shape;952;p43"/>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953" name="Google Shape;953;p43"/>
          <p:cNvGrpSpPr/>
          <p:nvPr/>
        </p:nvGrpSpPr>
        <p:grpSpPr>
          <a:xfrm>
            <a:off x="1284576" y="2130924"/>
            <a:ext cx="10188969" cy="756004"/>
            <a:chOff x="926134" y="1719856"/>
            <a:chExt cx="9204181" cy="750147"/>
          </a:xfrm>
        </p:grpSpPr>
        <p:sp>
          <p:nvSpPr>
            <p:cNvPr id="954" name="Google Shape;954;p43"/>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대출금의 일부를 상환함.</a:t>
              </a:r>
              <a:endParaRPr sz="2000">
                <a:solidFill>
                  <a:schemeClr val="dk1"/>
                </a:solidFill>
                <a:latin typeface="Avenir"/>
                <a:ea typeface="Avenir"/>
                <a:cs typeface="Avenir"/>
                <a:sym typeface="Avenir"/>
              </a:endParaRPr>
            </a:p>
          </p:txBody>
        </p:sp>
        <p:sp>
          <p:nvSpPr>
            <p:cNvPr id="955" name="Google Shape;955;p43"/>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Bank loan</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5,000</a:t>
              </a:r>
              <a:endParaRPr/>
            </a:p>
          </p:txBody>
        </p:sp>
        <p:sp>
          <p:nvSpPr>
            <p:cNvPr id="956" name="Google Shape;956;p43"/>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Cash</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5,000</a:t>
              </a:r>
              <a:endParaRPr/>
            </a:p>
          </p:txBody>
        </p:sp>
        <p:sp>
          <p:nvSpPr>
            <p:cNvPr id="957" name="Google Shape;957;p43"/>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3</a:t>
              </a:r>
              <a:endParaRPr/>
            </a:p>
          </p:txBody>
        </p:sp>
      </p:grpSp>
      <p:sp>
        <p:nvSpPr>
          <p:cNvPr id="958" name="Google Shape;958;p43"/>
          <p:cNvSpPr txBox="1"/>
          <p:nvPr/>
        </p:nvSpPr>
        <p:spPr>
          <a:xfrm>
            <a:off x="8107403" y="2130924"/>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5,000</a:t>
            </a:r>
            <a:endParaRPr/>
          </a:p>
        </p:txBody>
      </p:sp>
      <p:sp>
        <p:nvSpPr>
          <p:cNvPr id="959" name="Google Shape;959;p43"/>
          <p:cNvSpPr txBox="1"/>
          <p:nvPr/>
        </p:nvSpPr>
        <p:spPr>
          <a:xfrm>
            <a:off x="9790473" y="2130924"/>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5,000</a:t>
            </a:r>
            <a:endParaRPr/>
          </a:p>
        </p:txBody>
      </p:sp>
      <p:sp>
        <p:nvSpPr>
          <p:cNvPr id="960" name="Google Shape;960;p43"/>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31 January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3074710"/>
            <a:ext cx="1620000" cy="883988"/>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90" name="Rectangle 89">
            <a:extLst>
              <a:ext uri="{FF2B5EF4-FFF2-40B4-BE49-F238E27FC236}">
                <a16:creationId xmlns:a16="http://schemas.microsoft.com/office/drawing/2014/main" id="{D9784D5A-EB04-B24D-9E80-9D9DF1986FDB}"/>
              </a:ext>
            </a:extLst>
          </p:cNvPr>
          <p:cNvSpPr/>
          <p:nvPr/>
        </p:nvSpPr>
        <p:spPr>
          <a:xfrm>
            <a:off x="1245585" y="4979617"/>
            <a:ext cx="105384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1" name="Group 90">
            <a:extLst>
              <a:ext uri="{FF2B5EF4-FFF2-40B4-BE49-F238E27FC236}">
                <a16:creationId xmlns:a16="http://schemas.microsoft.com/office/drawing/2014/main" id="{9BE88E7B-740C-E945-9147-6A6B88DDD302}"/>
              </a:ext>
            </a:extLst>
          </p:cNvPr>
          <p:cNvGrpSpPr/>
          <p:nvPr/>
        </p:nvGrpSpPr>
        <p:grpSpPr>
          <a:xfrm>
            <a:off x="1441262" y="5257638"/>
            <a:ext cx="10188967" cy="756004"/>
            <a:chOff x="926134" y="1719856"/>
            <a:chExt cx="9204181" cy="750147"/>
          </a:xfrm>
        </p:grpSpPr>
        <p:sp>
          <p:nvSpPr>
            <p:cNvPr id="92" name="TextBox 91">
              <a:extLst>
                <a:ext uri="{FF2B5EF4-FFF2-40B4-BE49-F238E27FC236}">
                  <a16:creationId xmlns:a16="http://schemas.microsoft.com/office/drawing/2014/main" id="{0F4B254C-3C3D-1341-8B96-257001071E6E}"/>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대출금의 일부를 상환함</a:t>
              </a:r>
              <a:r>
                <a:rPr lang="en-US" altLang="ko-KR" sz="2000" dirty="0">
                  <a:solidFill>
                    <a:schemeClr val="dk1"/>
                  </a:solidFill>
                  <a:latin typeface="Avenir"/>
                  <a:ea typeface="Avenir"/>
                  <a:cs typeface="Avenir"/>
                  <a:sym typeface="Avenir"/>
                </a:rPr>
                <a:t>.</a:t>
              </a:r>
              <a:endParaRPr lang="ko-KR" altLang="en-US" sz="2000" dirty="0"/>
            </a:p>
          </p:txBody>
        </p:sp>
        <p:sp>
          <p:nvSpPr>
            <p:cNvPr id="93" name="TextBox 92">
              <a:extLst>
                <a:ext uri="{FF2B5EF4-FFF2-40B4-BE49-F238E27FC236}">
                  <a16:creationId xmlns:a16="http://schemas.microsoft.com/office/drawing/2014/main" id="{1DE3E39E-4A04-EA40-BABC-4982CFF61C12}"/>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Bank loan</a:t>
              </a:r>
            </a:p>
            <a:p>
              <a:pPr algn="ctr"/>
              <a:r>
                <a:rPr lang="en-GB" b="1">
                  <a:solidFill>
                    <a:schemeClr val="bg1">
                      <a:lumMod val="75000"/>
                    </a:schemeClr>
                  </a:solidFill>
                  <a:latin typeface="Avenir"/>
                  <a:ea typeface="Helvetica" charset="0"/>
                  <a:cs typeface="Helvetica" charset="0"/>
                </a:rPr>
                <a:t>5,000</a:t>
              </a:r>
            </a:p>
          </p:txBody>
        </p:sp>
        <p:sp>
          <p:nvSpPr>
            <p:cNvPr id="94" name="TextBox 93">
              <a:extLst>
                <a:ext uri="{FF2B5EF4-FFF2-40B4-BE49-F238E27FC236}">
                  <a16:creationId xmlns:a16="http://schemas.microsoft.com/office/drawing/2014/main" id="{FB32ED4B-5852-AF4A-AB0B-F6DCDD5B3BAA}"/>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Cash</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5,000</a:t>
              </a:r>
            </a:p>
          </p:txBody>
        </p:sp>
        <p:sp>
          <p:nvSpPr>
            <p:cNvPr id="95" name="TextBox 94">
              <a:extLst>
                <a:ext uri="{FF2B5EF4-FFF2-40B4-BE49-F238E27FC236}">
                  <a16:creationId xmlns:a16="http://schemas.microsoft.com/office/drawing/2014/main" id="{CFA4ADF7-1CDC-9C47-A268-BA8FC7D7ABB8}"/>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3</a:t>
              </a:r>
            </a:p>
          </p:txBody>
        </p:sp>
      </p:grpSp>
      <p:sp>
        <p:nvSpPr>
          <p:cNvPr id="96" name="TextBox 95">
            <a:extLst>
              <a:ext uri="{FF2B5EF4-FFF2-40B4-BE49-F238E27FC236}">
                <a16:creationId xmlns:a16="http://schemas.microsoft.com/office/drawing/2014/main" id="{70143866-F283-3A4C-A476-5C5F2C8D4956}"/>
              </a:ext>
            </a:extLst>
          </p:cNvPr>
          <p:cNvSpPr txBox="1"/>
          <p:nvPr/>
        </p:nvSpPr>
        <p:spPr>
          <a:xfrm>
            <a:off x="8264089" y="5253525"/>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5,000</a:t>
            </a:r>
          </a:p>
        </p:txBody>
      </p:sp>
      <p:sp>
        <p:nvSpPr>
          <p:cNvPr id="97" name="TextBox 96">
            <a:extLst>
              <a:ext uri="{FF2B5EF4-FFF2-40B4-BE49-F238E27FC236}">
                <a16:creationId xmlns:a16="http://schemas.microsoft.com/office/drawing/2014/main" id="{53A4F9F9-07AC-1044-9C37-4C0036BA22FD}"/>
              </a:ext>
            </a:extLst>
          </p:cNvPr>
          <p:cNvSpPr txBox="1"/>
          <p:nvPr/>
        </p:nvSpPr>
        <p:spPr>
          <a:xfrm>
            <a:off x="9947159" y="5257638"/>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5,000</a:t>
            </a:r>
          </a:p>
        </p:txBody>
      </p:sp>
      <p:sp>
        <p:nvSpPr>
          <p:cNvPr id="98" name="Down Arrow 97">
            <a:extLst>
              <a:ext uri="{FF2B5EF4-FFF2-40B4-BE49-F238E27FC236}">
                <a16:creationId xmlns:a16="http://schemas.microsoft.com/office/drawing/2014/main" id="{A2179176-1102-634C-A1B3-2264AC7799BC}"/>
              </a:ext>
            </a:extLst>
          </p:cNvPr>
          <p:cNvSpPr/>
          <p:nvPr/>
        </p:nvSpPr>
        <p:spPr>
          <a:xfrm>
            <a:off x="11175384" y="824059"/>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9" name="Down Arrow 98">
            <a:extLst>
              <a:ext uri="{FF2B5EF4-FFF2-40B4-BE49-F238E27FC236}">
                <a16:creationId xmlns:a16="http://schemas.microsoft.com/office/drawing/2014/main" id="{E08C57B8-C61E-C349-BAAE-E14BFBF87757}"/>
              </a:ext>
            </a:extLst>
          </p:cNvPr>
          <p:cNvSpPr/>
          <p:nvPr/>
        </p:nvSpPr>
        <p:spPr>
          <a:xfrm>
            <a:off x="117100" y="826738"/>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26692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7.40741E-7 L -0.61954 -0.41227 " pathEditMode="relative" rAng="0" ptsTypes="AA">
                                      <p:cBhvr>
                                        <p:cTn id="6" dur="3000" fill="hold"/>
                                        <p:tgtEl>
                                          <p:spTgt spid="97"/>
                                        </p:tgtEl>
                                        <p:attrNameLst>
                                          <p:attrName>ppt_x</p:attrName>
                                          <p:attrName>ppt_y</p:attrName>
                                        </p:attrNameLst>
                                      </p:cBhvr>
                                      <p:rCtr x="-30977" y="-20625"/>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97"/>
                                        </p:tgtEl>
                                        <p:attrNameLst>
                                          <p:attrName>ppt_w</p:attrName>
                                        </p:attrNameLst>
                                      </p:cBhvr>
                                      <p:tavLst>
                                        <p:tav tm="0">
                                          <p:val>
                                            <p:strVal val="ppt_w"/>
                                          </p:val>
                                        </p:tav>
                                        <p:tav tm="100000">
                                          <p:val>
                                            <p:fltVal val="0"/>
                                          </p:val>
                                        </p:tav>
                                      </p:tavLst>
                                    </p:anim>
                                    <p:anim calcmode="lin" valueType="num">
                                      <p:cBhvr>
                                        <p:cTn id="10" dur="1000"/>
                                        <p:tgtEl>
                                          <p:spTgt spid="97"/>
                                        </p:tgtEl>
                                        <p:attrNameLst>
                                          <p:attrName>ppt_h</p:attrName>
                                        </p:attrNameLst>
                                      </p:cBhvr>
                                      <p:tavLst>
                                        <p:tav tm="0">
                                          <p:val>
                                            <p:strVal val="ppt_h"/>
                                          </p:val>
                                        </p:tav>
                                        <p:tav tm="100000">
                                          <p:val>
                                            <p:fltVal val="0"/>
                                          </p:val>
                                        </p:tav>
                                      </p:tavLst>
                                    </p:anim>
                                    <p:anim calcmode="lin" valueType="num">
                                      <p:cBhvr>
                                        <p:cTn id="11" dur="1000"/>
                                        <p:tgtEl>
                                          <p:spTgt spid="97"/>
                                        </p:tgtEl>
                                        <p:attrNameLst>
                                          <p:attrName>style.rotation</p:attrName>
                                        </p:attrNameLst>
                                      </p:cBhvr>
                                      <p:tavLst>
                                        <p:tav tm="0">
                                          <p:val>
                                            <p:fltVal val="0"/>
                                          </p:val>
                                        </p:tav>
                                        <p:tav tm="100000">
                                          <p:val>
                                            <p:fltVal val="90"/>
                                          </p:val>
                                        </p:tav>
                                      </p:tavLst>
                                    </p:anim>
                                    <p:animEffect transition="out" filter="fade">
                                      <p:cBhvr>
                                        <p:cTn id="12" dur="1000"/>
                                        <p:tgtEl>
                                          <p:spTgt spid="97"/>
                                        </p:tgtEl>
                                      </p:cBhvr>
                                    </p:animEffect>
                                    <p:set>
                                      <p:cBhvr>
                                        <p:cTn id="13" dur="1" fill="hold">
                                          <p:stCondLst>
                                            <p:cond delay="999"/>
                                          </p:stCondLst>
                                        </p:cTn>
                                        <p:tgtEl>
                                          <p:spTgt spid="97"/>
                                        </p:tgtEl>
                                        <p:attrNameLst>
                                          <p:attrName>style.visibility</p:attrName>
                                        </p:attrNameLst>
                                      </p:cBhvr>
                                      <p:to>
                                        <p:strVal val="hidden"/>
                                      </p:to>
                                    </p:set>
                                  </p:childTnLst>
                                </p:cTn>
                              </p:par>
                              <p:par>
                                <p:cTn id="14" presetID="47" presetClass="entr" presetSubtype="0" fill="hold" nodeType="withEffect">
                                  <p:stCondLst>
                                    <p:cond delay="0"/>
                                  </p:stCondLst>
                                  <p:childTnLst>
                                    <p:set>
                                      <p:cBhvr>
                                        <p:cTn id="15" dur="1" fill="hold">
                                          <p:stCondLst>
                                            <p:cond delay="0"/>
                                          </p:stCondLst>
                                        </p:cTn>
                                        <p:tgtEl>
                                          <p:spTgt spid="293"/>
                                        </p:tgtEl>
                                        <p:attrNameLst>
                                          <p:attrName>style.visibility</p:attrName>
                                        </p:attrNameLst>
                                      </p:cBhvr>
                                      <p:to>
                                        <p:strVal val="visible"/>
                                      </p:to>
                                    </p:set>
                                    <p:animEffect transition="in" filter="fade">
                                      <p:cBhvr>
                                        <p:cTn id="16" dur="1000"/>
                                        <p:tgtEl>
                                          <p:spTgt spid="293"/>
                                        </p:tgtEl>
                                      </p:cBhvr>
                                    </p:animEffect>
                                    <p:anim calcmode="lin" valueType="num">
                                      <p:cBhvr>
                                        <p:cTn id="17" dur="1000" fill="hold"/>
                                        <p:tgtEl>
                                          <p:spTgt spid="293"/>
                                        </p:tgtEl>
                                        <p:attrNameLst>
                                          <p:attrName>ppt_x</p:attrName>
                                        </p:attrNameLst>
                                      </p:cBhvr>
                                      <p:tavLst>
                                        <p:tav tm="0">
                                          <p:val>
                                            <p:strVal val="#ppt_x"/>
                                          </p:val>
                                        </p:tav>
                                        <p:tav tm="100000">
                                          <p:val>
                                            <p:strVal val="#ppt_x"/>
                                          </p:val>
                                        </p:tav>
                                      </p:tavLst>
                                    </p:anim>
                                    <p:anim calcmode="lin" valueType="num">
                                      <p:cBhvr>
                                        <p:cTn id="18" dur="1000" fill="hold"/>
                                        <p:tgtEl>
                                          <p:spTgt spid="293"/>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204"/>
                                        </p:tgtEl>
                                        <p:attrNameLst>
                                          <p:attrName>style.visibility</p:attrName>
                                        </p:attrNameLst>
                                      </p:cBhvr>
                                      <p:to>
                                        <p:strVal val="visible"/>
                                      </p:to>
                                    </p:set>
                                    <p:animEffect transition="in" filter="fade">
                                      <p:cBhvr>
                                        <p:cTn id="21" dur="1000"/>
                                        <p:tgtEl>
                                          <p:spTgt spid="204"/>
                                        </p:tgtEl>
                                      </p:cBhvr>
                                    </p:animEffect>
                                    <p:anim calcmode="lin" valueType="num">
                                      <p:cBhvr>
                                        <p:cTn id="22" dur="1000" fill="hold"/>
                                        <p:tgtEl>
                                          <p:spTgt spid="204"/>
                                        </p:tgtEl>
                                        <p:attrNameLst>
                                          <p:attrName>ppt_x</p:attrName>
                                        </p:attrNameLst>
                                      </p:cBhvr>
                                      <p:tavLst>
                                        <p:tav tm="0">
                                          <p:val>
                                            <p:strVal val="#ppt_x"/>
                                          </p:val>
                                        </p:tav>
                                        <p:tav tm="100000">
                                          <p:val>
                                            <p:strVal val="#ppt_x"/>
                                          </p:val>
                                        </p:tav>
                                      </p:tavLst>
                                    </p:anim>
                                    <p:anim calcmode="lin" valueType="num">
                                      <p:cBhvr>
                                        <p:cTn id="23" dur="1000" fill="hold"/>
                                        <p:tgtEl>
                                          <p:spTgt spid="204"/>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157"/>
                                        </p:tgtEl>
                                        <p:attrNameLst>
                                          <p:attrName>style.visibility</p:attrName>
                                        </p:attrNameLst>
                                      </p:cBhvr>
                                      <p:to>
                                        <p:strVal val="visible"/>
                                      </p:to>
                                    </p:set>
                                    <p:animEffect transition="in" filter="fade">
                                      <p:cBhvr>
                                        <p:cTn id="26" dur="1000"/>
                                        <p:tgtEl>
                                          <p:spTgt spid="157"/>
                                        </p:tgtEl>
                                      </p:cBhvr>
                                    </p:animEffect>
                                    <p:anim calcmode="lin" valueType="num">
                                      <p:cBhvr>
                                        <p:cTn id="27" dur="1000" fill="hold"/>
                                        <p:tgtEl>
                                          <p:spTgt spid="157"/>
                                        </p:tgtEl>
                                        <p:attrNameLst>
                                          <p:attrName>ppt_x</p:attrName>
                                        </p:attrNameLst>
                                      </p:cBhvr>
                                      <p:tavLst>
                                        <p:tav tm="0">
                                          <p:val>
                                            <p:strVal val="#ppt_x"/>
                                          </p:val>
                                        </p:tav>
                                        <p:tav tm="100000">
                                          <p:val>
                                            <p:strVal val="#ppt_x"/>
                                          </p:val>
                                        </p:tav>
                                      </p:tavLst>
                                    </p:anim>
                                    <p:anim calcmode="lin" valueType="num">
                                      <p:cBhvr>
                                        <p:cTn id="28" dur="1000" fill="hold"/>
                                        <p:tgtEl>
                                          <p:spTgt spid="15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0" nodeType="clickEffect">
                                  <p:stCondLst>
                                    <p:cond delay="0"/>
                                  </p:stCondLst>
                                  <p:childTnLst>
                                    <p:animMotion origin="layout" path="M 5E-6 -4.81481E-6 L 0.15912 -0.63032 " pathEditMode="relative" rAng="0" ptsTypes="AA">
                                      <p:cBhvr>
                                        <p:cTn id="32" dur="3000" fill="hold"/>
                                        <p:tgtEl>
                                          <p:spTgt spid="96"/>
                                        </p:tgtEl>
                                        <p:attrNameLst>
                                          <p:attrName>ppt_x</p:attrName>
                                          <p:attrName>ppt_y</p:attrName>
                                        </p:attrNameLst>
                                      </p:cBhvr>
                                      <p:rCtr x="7956" y="-31528"/>
                                    </p:animMotion>
                                  </p:childTnLst>
                                </p:cTn>
                              </p:par>
                            </p:childTnLst>
                          </p:cTn>
                        </p:par>
                        <p:par>
                          <p:cTn id="33" fill="hold">
                            <p:stCondLst>
                              <p:cond delay="3000"/>
                            </p:stCondLst>
                            <p:childTnLst>
                              <p:par>
                                <p:cTn id="34" presetID="31" presetClass="exit" presetSubtype="0" fill="hold" grpId="1" nodeType="afterEffect">
                                  <p:stCondLst>
                                    <p:cond delay="0"/>
                                  </p:stCondLst>
                                  <p:childTnLst>
                                    <p:anim calcmode="lin" valueType="num">
                                      <p:cBhvr>
                                        <p:cTn id="35" dur="1000"/>
                                        <p:tgtEl>
                                          <p:spTgt spid="96"/>
                                        </p:tgtEl>
                                        <p:attrNameLst>
                                          <p:attrName>ppt_w</p:attrName>
                                        </p:attrNameLst>
                                      </p:cBhvr>
                                      <p:tavLst>
                                        <p:tav tm="0">
                                          <p:val>
                                            <p:strVal val="ppt_w"/>
                                          </p:val>
                                        </p:tav>
                                        <p:tav tm="100000">
                                          <p:val>
                                            <p:fltVal val="0"/>
                                          </p:val>
                                        </p:tav>
                                      </p:tavLst>
                                    </p:anim>
                                    <p:anim calcmode="lin" valueType="num">
                                      <p:cBhvr>
                                        <p:cTn id="36" dur="1000"/>
                                        <p:tgtEl>
                                          <p:spTgt spid="96"/>
                                        </p:tgtEl>
                                        <p:attrNameLst>
                                          <p:attrName>ppt_h</p:attrName>
                                        </p:attrNameLst>
                                      </p:cBhvr>
                                      <p:tavLst>
                                        <p:tav tm="0">
                                          <p:val>
                                            <p:strVal val="ppt_h"/>
                                          </p:val>
                                        </p:tav>
                                        <p:tav tm="100000">
                                          <p:val>
                                            <p:fltVal val="0"/>
                                          </p:val>
                                        </p:tav>
                                      </p:tavLst>
                                    </p:anim>
                                    <p:anim calcmode="lin" valueType="num">
                                      <p:cBhvr>
                                        <p:cTn id="37" dur="1000"/>
                                        <p:tgtEl>
                                          <p:spTgt spid="96"/>
                                        </p:tgtEl>
                                        <p:attrNameLst>
                                          <p:attrName>style.rotation</p:attrName>
                                        </p:attrNameLst>
                                      </p:cBhvr>
                                      <p:tavLst>
                                        <p:tav tm="0">
                                          <p:val>
                                            <p:fltVal val="0"/>
                                          </p:val>
                                        </p:tav>
                                        <p:tav tm="100000">
                                          <p:val>
                                            <p:fltVal val="90"/>
                                          </p:val>
                                        </p:tav>
                                      </p:tavLst>
                                    </p:anim>
                                    <p:animEffect transition="out" filter="fade">
                                      <p:cBhvr>
                                        <p:cTn id="38" dur="1000"/>
                                        <p:tgtEl>
                                          <p:spTgt spid="96"/>
                                        </p:tgtEl>
                                      </p:cBhvr>
                                    </p:animEffect>
                                    <p:set>
                                      <p:cBhvr>
                                        <p:cTn id="39" dur="1" fill="hold">
                                          <p:stCondLst>
                                            <p:cond delay="999"/>
                                          </p:stCondLst>
                                        </p:cTn>
                                        <p:tgtEl>
                                          <p:spTgt spid="96"/>
                                        </p:tgtEl>
                                        <p:attrNameLst>
                                          <p:attrName>style.visibility</p:attrName>
                                        </p:attrNameLst>
                                      </p:cBhvr>
                                      <p:to>
                                        <p:strVal val="hidden"/>
                                      </p:to>
                                    </p:set>
                                  </p:childTnLst>
                                </p:cTn>
                              </p:par>
                              <p:par>
                                <p:cTn id="40" presetID="47" presetClass="entr" presetSubtype="0" fill="hold" nodeType="withEffect">
                                  <p:stCondLst>
                                    <p:cond delay="0"/>
                                  </p:stCondLst>
                                  <p:childTnLst>
                                    <p:set>
                                      <p:cBhvr>
                                        <p:cTn id="41" dur="1" fill="hold">
                                          <p:stCondLst>
                                            <p:cond delay="0"/>
                                          </p:stCondLst>
                                        </p:cTn>
                                        <p:tgtEl>
                                          <p:spTgt spid="308"/>
                                        </p:tgtEl>
                                        <p:attrNameLst>
                                          <p:attrName>style.visibility</p:attrName>
                                        </p:attrNameLst>
                                      </p:cBhvr>
                                      <p:to>
                                        <p:strVal val="visible"/>
                                      </p:to>
                                    </p:set>
                                    <p:animEffect transition="in" filter="fade">
                                      <p:cBhvr>
                                        <p:cTn id="42" dur="1000"/>
                                        <p:tgtEl>
                                          <p:spTgt spid="308"/>
                                        </p:tgtEl>
                                      </p:cBhvr>
                                    </p:animEffect>
                                    <p:anim calcmode="lin" valueType="num">
                                      <p:cBhvr>
                                        <p:cTn id="43" dur="1000" fill="hold"/>
                                        <p:tgtEl>
                                          <p:spTgt spid="308"/>
                                        </p:tgtEl>
                                        <p:attrNameLst>
                                          <p:attrName>ppt_x</p:attrName>
                                        </p:attrNameLst>
                                      </p:cBhvr>
                                      <p:tavLst>
                                        <p:tav tm="0">
                                          <p:val>
                                            <p:strVal val="#ppt_x"/>
                                          </p:val>
                                        </p:tav>
                                        <p:tav tm="100000">
                                          <p:val>
                                            <p:strVal val="#ppt_x"/>
                                          </p:val>
                                        </p:tav>
                                      </p:tavLst>
                                    </p:anim>
                                    <p:anim calcmode="lin" valueType="num">
                                      <p:cBhvr>
                                        <p:cTn id="44" dur="1000" fill="hold"/>
                                        <p:tgtEl>
                                          <p:spTgt spid="308"/>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212"/>
                                        </p:tgtEl>
                                        <p:attrNameLst>
                                          <p:attrName>style.visibility</p:attrName>
                                        </p:attrNameLst>
                                      </p:cBhvr>
                                      <p:to>
                                        <p:strVal val="visible"/>
                                      </p:to>
                                    </p:set>
                                    <p:animEffect transition="in" filter="fade">
                                      <p:cBhvr>
                                        <p:cTn id="47" dur="1000"/>
                                        <p:tgtEl>
                                          <p:spTgt spid="212"/>
                                        </p:tgtEl>
                                      </p:cBhvr>
                                    </p:animEffect>
                                    <p:anim calcmode="lin" valueType="num">
                                      <p:cBhvr>
                                        <p:cTn id="48" dur="1000" fill="hold"/>
                                        <p:tgtEl>
                                          <p:spTgt spid="212"/>
                                        </p:tgtEl>
                                        <p:attrNameLst>
                                          <p:attrName>ppt_x</p:attrName>
                                        </p:attrNameLst>
                                      </p:cBhvr>
                                      <p:tavLst>
                                        <p:tav tm="0">
                                          <p:val>
                                            <p:strVal val="#ppt_x"/>
                                          </p:val>
                                        </p:tav>
                                        <p:tav tm="100000">
                                          <p:val>
                                            <p:strVal val="#ppt_x"/>
                                          </p:val>
                                        </p:tav>
                                      </p:tavLst>
                                    </p:anim>
                                    <p:anim calcmode="lin" valueType="num">
                                      <p:cBhvr>
                                        <p:cTn id="49" dur="1000" fill="hold"/>
                                        <p:tgtEl>
                                          <p:spTgt spid="212"/>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0"/>
                                  </p:stCondLst>
                                  <p:childTnLst>
                                    <p:set>
                                      <p:cBhvr>
                                        <p:cTn id="51" dur="1" fill="hold">
                                          <p:stCondLst>
                                            <p:cond delay="0"/>
                                          </p:stCondLst>
                                        </p:cTn>
                                        <p:tgtEl>
                                          <p:spTgt spid="211"/>
                                        </p:tgtEl>
                                        <p:attrNameLst>
                                          <p:attrName>style.visibility</p:attrName>
                                        </p:attrNameLst>
                                      </p:cBhvr>
                                      <p:to>
                                        <p:strVal val="visible"/>
                                      </p:to>
                                    </p:set>
                                    <p:animEffect transition="in" filter="fade">
                                      <p:cBhvr>
                                        <p:cTn id="52" dur="1000"/>
                                        <p:tgtEl>
                                          <p:spTgt spid="211"/>
                                        </p:tgtEl>
                                      </p:cBhvr>
                                    </p:animEffect>
                                    <p:anim calcmode="lin" valueType="num">
                                      <p:cBhvr>
                                        <p:cTn id="53" dur="1000" fill="hold"/>
                                        <p:tgtEl>
                                          <p:spTgt spid="211"/>
                                        </p:tgtEl>
                                        <p:attrNameLst>
                                          <p:attrName>ppt_x</p:attrName>
                                        </p:attrNameLst>
                                      </p:cBhvr>
                                      <p:tavLst>
                                        <p:tav tm="0">
                                          <p:val>
                                            <p:strVal val="#ppt_x"/>
                                          </p:val>
                                        </p:tav>
                                        <p:tav tm="100000">
                                          <p:val>
                                            <p:strVal val="#ppt_x"/>
                                          </p:val>
                                        </p:tav>
                                      </p:tavLst>
                                    </p:anim>
                                    <p:anim calcmode="lin" valueType="num">
                                      <p:cBhvr>
                                        <p:cTn id="54" dur="1000" fill="hold"/>
                                        <p:tgtEl>
                                          <p:spTgt spid="211"/>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7" presetClass="entr" presetSubtype="0" fill="hold" grpId="0" nodeType="clickEffect">
                                  <p:stCondLst>
                                    <p:cond delay="0"/>
                                  </p:stCondLst>
                                  <p:childTnLst>
                                    <p:set>
                                      <p:cBhvr>
                                        <p:cTn id="58" dur="1" fill="hold">
                                          <p:stCondLst>
                                            <p:cond delay="0"/>
                                          </p:stCondLst>
                                        </p:cTn>
                                        <p:tgtEl>
                                          <p:spTgt spid="98"/>
                                        </p:tgtEl>
                                        <p:attrNameLst>
                                          <p:attrName>style.visibility</p:attrName>
                                        </p:attrNameLst>
                                      </p:cBhvr>
                                      <p:to>
                                        <p:strVal val="visible"/>
                                      </p:to>
                                    </p:set>
                                    <p:animEffect transition="in" filter="fade">
                                      <p:cBhvr>
                                        <p:cTn id="59" dur="1000"/>
                                        <p:tgtEl>
                                          <p:spTgt spid="98"/>
                                        </p:tgtEl>
                                      </p:cBhvr>
                                    </p:animEffect>
                                    <p:anim calcmode="lin" valueType="num">
                                      <p:cBhvr>
                                        <p:cTn id="60" dur="1000" fill="hold"/>
                                        <p:tgtEl>
                                          <p:spTgt spid="98"/>
                                        </p:tgtEl>
                                        <p:attrNameLst>
                                          <p:attrName>ppt_x</p:attrName>
                                        </p:attrNameLst>
                                      </p:cBhvr>
                                      <p:tavLst>
                                        <p:tav tm="0">
                                          <p:val>
                                            <p:strVal val="#ppt_x"/>
                                          </p:val>
                                        </p:tav>
                                        <p:tav tm="100000">
                                          <p:val>
                                            <p:strVal val="#ppt_x"/>
                                          </p:val>
                                        </p:tav>
                                      </p:tavLst>
                                    </p:anim>
                                    <p:anim calcmode="lin" valueType="num">
                                      <p:cBhvr>
                                        <p:cTn id="61" dur="1000" fill="hold"/>
                                        <p:tgtEl>
                                          <p:spTgt spid="98"/>
                                        </p:tgtEl>
                                        <p:attrNameLst>
                                          <p:attrName>ppt_y</p:attrName>
                                        </p:attrNameLst>
                                      </p:cBhvr>
                                      <p:tavLst>
                                        <p:tav tm="0">
                                          <p:val>
                                            <p:strVal val="#ppt_y-.1"/>
                                          </p:val>
                                        </p:tav>
                                        <p:tav tm="100000">
                                          <p:val>
                                            <p:strVal val="#ppt_y"/>
                                          </p:val>
                                        </p:tav>
                                      </p:tavLst>
                                    </p:anim>
                                  </p:childTnLst>
                                </p:cTn>
                              </p:par>
                              <p:par>
                                <p:cTn id="62" presetID="47" presetClass="entr" presetSubtype="0" fill="hold" grpId="0" nodeType="withEffect">
                                  <p:stCondLst>
                                    <p:cond delay="0"/>
                                  </p:stCondLst>
                                  <p:childTnLst>
                                    <p:set>
                                      <p:cBhvr>
                                        <p:cTn id="63" dur="1" fill="hold">
                                          <p:stCondLst>
                                            <p:cond delay="0"/>
                                          </p:stCondLst>
                                        </p:cTn>
                                        <p:tgtEl>
                                          <p:spTgt spid="99"/>
                                        </p:tgtEl>
                                        <p:attrNameLst>
                                          <p:attrName>style.visibility</p:attrName>
                                        </p:attrNameLst>
                                      </p:cBhvr>
                                      <p:to>
                                        <p:strVal val="visible"/>
                                      </p:to>
                                    </p:set>
                                    <p:animEffect transition="in" filter="fade">
                                      <p:cBhvr>
                                        <p:cTn id="64" dur="1000"/>
                                        <p:tgtEl>
                                          <p:spTgt spid="99"/>
                                        </p:tgtEl>
                                      </p:cBhvr>
                                    </p:animEffect>
                                    <p:anim calcmode="lin" valueType="num">
                                      <p:cBhvr>
                                        <p:cTn id="65" dur="1000" fill="hold"/>
                                        <p:tgtEl>
                                          <p:spTgt spid="99"/>
                                        </p:tgtEl>
                                        <p:attrNameLst>
                                          <p:attrName>ppt_x</p:attrName>
                                        </p:attrNameLst>
                                      </p:cBhvr>
                                      <p:tavLst>
                                        <p:tav tm="0">
                                          <p:val>
                                            <p:strVal val="#ppt_x"/>
                                          </p:val>
                                        </p:tav>
                                        <p:tav tm="100000">
                                          <p:val>
                                            <p:strVal val="#ppt_x"/>
                                          </p:val>
                                        </p:tav>
                                      </p:tavLst>
                                    </p:anim>
                                    <p:anim calcmode="lin" valueType="num">
                                      <p:cBhvr>
                                        <p:cTn id="66"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p:bldP spid="204" grpId="0" animBg="1"/>
      <p:bldP spid="211" grpId="0"/>
      <p:bldP spid="212" grpId="0" animBg="1"/>
      <p:bldP spid="96" grpId="0" animBg="1"/>
      <p:bldP spid="96" grpId="1" animBg="1"/>
      <p:bldP spid="97" grpId="0" animBg="1"/>
      <p:bldP spid="97" grpId="1" animBg="1"/>
      <p:bldP spid="98" grpId="0" animBg="1"/>
      <p:bldP spid="9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6"/>
        <p:cNvGrpSpPr/>
        <p:nvPr/>
      </p:nvGrpSpPr>
      <p:grpSpPr>
        <a:xfrm>
          <a:off x="0" y="0"/>
          <a:ext cx="0" cy="0"/>
          <a:chOff x="0" y="0"/>
          <a:chExt cx="0" cy="0"/>
        </a:xfrm>
      </p:grpSpPr>
      <p:sp>
        <p:nvSpPr>
          <p:cNvPr id="1037" name="Google Shape;1037;p45"/>
          <p:cNvSpPr txBox="1"/>
          <p:nvPr/>
        </p:nvSpPr>
        <p:spPr>
          <a:xfrm>
            <a:off x="6112111" y="0"/>
            <a:ext cx="6071834" cy="6858000"/>
          </a:xfrm>
          <a:prstGeom prst="rect">
            <a:avLst/>
          </a:prstGeom>
          <a:solidFill>
            <a:srgbClr val="FEE599"/>
          </a:solidFill>
          <a:ln>
            <a:noFill/>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1038" name="Google Shape;1038;p45"/>
          <p:cNvSpPr txBox="1"/>
          <p:nvPr/>
        </p:nvSpPr>
        <p:spPr>
          <a:xfrm>
            <a:off x="8055" y="0"/>
            <a:ext cx="6096000" cy="6858000"/>
          </a:xfrm>
          <a:prstGeom prst="rect">
            <a:avLst/>
          </a:prstGeom>
          <a:solidFill>
            <a:srgbClr val="C4E0B2"/>
          </a:solid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endParaRPr sz="2800" b="1">
              <a:solidFill>
                <a:schemeClr val="dk1"/>
              </a:solidFill>
              <a:latin typeface="Avenir"/>
              <a:ea typeface="Avenir"/>
              <a:cs typeface="Avenir"/>
              <a:sym typeface="Avenir"/>
            </a:endParaRPr>
          </a:p>
        </p:txBody>
      </p:sp>
      <p:grpSp>
        <p:nvGrpSpPr>
          <p:cNvPr id="1039" name="Google Shape;1039;p45"/>
          <p:cNvGrpSpPr/>
          <p:nvPr/>
        </p:nvGrpSpPr>
        <p:grpSpPr>
          <a:xfrm>
            <a:off x="1080824" y="2000379"/>
            <a:ext cx="3871609" cy="2937753"/>
            <a:chOff x="671549" y="1402787"/>
            <a:chExt cx="1620000" cy="2549293"/>
          </a:xfrm>
        </p:grpSpPr>
        <p:sp>
          <p:nvSpPr>
            <p:cNvPr id="1040" name="Google Shape;1040;p45"/>
            <p:cNvSpPr/>
            <p:nvPr/>
          </p:nvSpPr>
          <p:spPr>
            <a:xfrm flipH="1">
              <a:off x="1481549" y="1402787"/>
              <a:ext cx="810000" cy="2549293"/>
            </a:xfrm>
            <a:prstGeom prst="corner">
              <a:avLst>
                <a:gd name="adj1" fmla="val 6497"/>
                <a:gd name="adj2" fmla="val 6944"/>
              </a:avLst>
            </a:prstGeom>
            <a:solidFill>
              <a:srgbClr val="548135"/>
            </a:solidFill>
            <a:ln w="762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venir"/>
                <a:ea typeface="Avenir"/>
                <a:cs typeface="Avenir"/>
                <a:sym typeface="Avenir"/>
              </a:endParaRPr>
            </a:p>
          </p:txBody>
        </p:sp>
        <p:sp>
          <p:nvSpPr>
            <p:cNvPr id="1041" name="Google Shape;1041;p45"/>
            <p:cNvSpPr/>
            <p:nvPr/>
          </p:nvSpPr>
          <p:spPr>
            <a:xfrm>
              <a:off x="671549" y="1402787"/>
              <a:ext cx="810000" cy="2549293"/>
            </a:xfrm>
            <a:prstGeom prst="corner">
              <a:avLst>
                <a:gd name="adj1" fmla="val 6497"/>
                <a:gd name="adj2" fmla="val 7336"/>
              </a:avLst>
            </a:prstGeom>
            <a:solidFill>
              <a:srgbClr val="548135"/>
            </a:solidFill>
            <a:ln w="7620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venir"/>
                <a:ea typeface="Avenir"/>
                <a:cs typeface="Avenir"/>
                <a:sym typeface="Avenir"/>
              </a:endParaRPr>
            </a:p>
          </p:txBody>
        </p:sp>
      </p:grpSp>
      <p:grpSp>
        <p:nvGrpSpPr>
          <p:cNvPr id="1042" name="Google Shape;1042;p45"/>
          <p:cNvGrpSpPr/>
          <p:nvPr/>
        </p:nvGrpSpPr>
        <p:grpSpPr>
          <a:xfrm>
            <a:off x="7239567" y="2000379"/>
            <a:ext cx="3871609" cy="2937753"/>
            <a:chOff x="671549" y="1402787"/>
            <a:chExt cx="1620000" cy="2549293"/>
          </a:xfrm>
        </p:grpSpPr>
        <p:sp>
          <p:nvSpPr>
            <p:cNvPr id="1043" name="Google Shape;1043;p45"/>
            <p:cNvSpPr/>
            <p:nvPr/>
          </p:nvSpPr>
          <p:spPr>
            <a:xfrm flipH="1">
              <a:off x="1481549" y="1402787"/>
              <a:ext cx="810000" cy="2549293"/>
            </a:xfrm>
            <a:prstGeom prst="corner">
              <a:avLst>
                <a:gd name="adj1" fmla="val 6497"/>
                <a:gd name="adj2" fmla="val 6944"/>
              </a:avLst>
            </a:prstGeom>
            <a:solidFill>
              <a:schemeClr val="accent2"/>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venir"/>
                <a:ea typeface="Avenir"/>
                <a:cs typeface="Avenir"/>
                <a:sym typeface="Avenir"/>
              </a:endParaRPr>
            </a:p>
          </p:txBody>
        </p:sp>
        <p:sp>
          <p:nvSpPr>
            <p:cNvPr id="1044" name="Google Shape;1044;p45"/>
            <p:cNvSpPr/>
            <p:nvPr/>
          </p:nvSpPr>
          <p:spPr>
            <a:xfrm>
              <a:off x="671549" y="1402787"/>
              <a:ext cx="810000" cy="2549293"/>
            </a:xfrm>
            <a:prstGeom prst="corner">
              <a:avLst>
                <a:gd name="adj1" fmla="val 6497"/>
                <a:gd name="adj2" fmla="val 7336"/>
              </a:avLst>
            </a:prstGeom>
            <a:solidFill>
              <a:schemeClr val="accent2"/>
            </a:solidFill>
            <a:ln w="762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venir"/>
                <a:ea typeface="Avenir"/>
                <a:cs typeface="Avenir"/>
                <a:sym typeface="Avenir"/>
              </a:endParaRPr>
            </a:p>
          </p:txBody>
        </p:sp>
      </p:grpSp>
      <p:grpSp>
        <p:nvGrpSpPr>
          <p:cNvPr id="1045" name="Google Shape;1045;p45"/>
          <p:cNvGrpSpPr/>
          <p:nvPr/>
        </p:nvGrpSpPr>
        <p:grpSpPr>
          <a:xfrm rot="10800000">
            <a:off x="1546559" y="2188875"/>
            <a:ext cx="1303506" cy="2315183"/>
            <a:chOff x="2086583" y="2684832"/>
            <a:chExt cx="1303506" cy="2315183"/>
          </a:xfrm>
        </p:grpSpPr>
        <p:sp>
          <p:nvSpPr>
            <p:cNvPr id="1046" name="Google Shape;1046;p45"/>
            <p:cNvSpPr txBox="1"/>
            <p:nvPr/>
          </p:nvSpPr>
          <p:spPr>
            <a:xfrm>
              <a:off x="2086583" y="2684832"/>
              <a:ext cx="1303506" cy="2315183"/>
            </a:xfrm>
            <a:prstGeom prst="rect">
              <a:avLst/>
            </a:prstGeom>
            <a:solidFill>
              <a:srgbClr val="548135"/>
            </a:solidFill>
            <a:ln w="50800"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7" name="Google Shape;1047;p45"/>
            <p:cNvSpPr/>
            <p:nvPr/>
          </p:nvSpPr>
          <p:spPr>
            <a:xfrm>
              <a:off x="2340915" y="2968601"/>
              <a:ext cx="794842" cy="1747643"/>
            </a:xfrm>
            <a:prstGeom prst="downArrow">
              <a:avLst>
                <a:gd name="adj1" fmla="val 47044"/>
                <a:gd name="adj2" fmla="val 66767"/>
              </a:avLst>
            </a:prstGeom>
            <a:solidFill>
              <a:schemeClr val="lt1"/>
            </a:solidFill>
            <a:ln w="508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48" name="Google Shape;1048;p45"/>
          <p:cNvGrpSpPr/>
          <p:nvPr/>
        </p:nvGrpSpPr>
        <p:grpSpPr>
          <a:xfrm>
            <a:off x="7707118" y="2188873"/>
            <a:ext cx="1303506" cy="2315183"/>
            <a:chOff x="2086583" y="2684832"/>
            <a:chExt cx="1303506" cy="2315183"/>
          </a:xfrm>
        </p:grpSpPr>
        <p:sp>
          <p:nvSpPr>
            <p:cNvPr id="1049" name="Google Shape;1049;p45"/>
            <p:cNvSpPr txBox="1"/>
            <p:nvPr/>
          </p:nvSpPr>
          <p:spPr>
            <a:xfrm>
              <a:off x="2086583" y="2684832"/>
              <a:ext cx="1303506" cy="2315183"/>
            </a:xfrm>
            <a:prstGeom prst="rect">
              <a:avLst/>
            </a:prstGeom>
            <a:solidFill>
              <a:srgbClr val="548135"/>
            </a:solidFill>
            <a:ln w="50800"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0" name="Google Shape;1050;p45"/>
            <p:cNvSpPr/>
            <p:nvPr/>
          </p:nvSpPr>
          <p:spPr>
            <a:xfrm>
              <a:off x="2340915" y="2968601"/>
              <a:ext cx="794842" cy="1747643"/>
            </a:xfrm>
            <a:prstGeom prst="downArrow">
              <a:avLst>
                <a:gd name="adj1" fmla="val 47044"/>
                <a:gd name="adj2" fmla="val 66767"/>
              </a:avLst>
            </a:prstGeom>
            <a:solidFill>
              <a:schemeClr val="lt1"/>
            </a:solidFill>
            <a:ln w="508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51" name="Google Shape;1051;p45"/>
          <p:cNvGrpSpPr/>
          <p:nvPr/>
        </p:nvGrpSpPr>
        <p:grpSpPr>
          <a:xfrm>
            <a:off x="3182806" y="2188873"/>
            <a:ext cx="1303506" cy="2315183"/>
            <a:chOff x="2086583" y="2684832"/>
            <a:chExt cx="1303506" cy="2315183"/>
          </a:xfrm>
        </p:grpSpPr>
        <p:sp>
          <p:nvSpPr>
            <p:cNvPr id="1052" name="Google Shape;1052;p45"/>
            <p:cNvSpPr txBox="1"/>
            <p:nvPr/>
          </p:nvSpPr>
          <p:spPr>
            <a:xfrm>
              <a:off x="2086583" y="2684832"/>
              <a:ext cx="1303506" cy="2315183"/>
            </a:xfrm>
            <a:prstGeom prst="rect">
              <a:avLst/>
            </a:prstGeom>
            <a:solidFill>
              <a:schemeClr val="accent2"/>
            </a:solidFill>
            <a:ln w="50800"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3" name="Google Shape;1053;p45"/>
            <p:cNvSpPr/>
            <p:nvPr/>
          </p:nvSpPr>
          <p:spPr>
            <a:xfrm>
              <a:off x="2340915" y="2968601"/>
              <a:ext cx="794842" cy="1747643"/>
            </a:xfrm>
            <a:prstGeom prst="downArrow">
              <a:avLst>
                <a:gd name="adj1" fmla="val 47044"/>
                <a:gd name="adj2" fmla="val 66767"/>
              </a:avLst>
            </a:prstGeom>
            <a:solidFill>
              <a:schemeClr val="lt1"/>
            </a:solidFill>
            <a:ln w="508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54" name="Google Shape;1054;p45"/>
          <p:cNvGrpSpPr/>
          <p:nvPr/>
        </p:nvGrpSpPr>
        <p:grpSpPr>
          <a:xfrm rot="10800000">
            <a:off x="9343365" y="2188871"/>
            <a:ext cx="1303506" cy="2315183"/>
            <a:chOff x="2086583" y="2684832"/>
            <a:chExt cx="1303506" cy="2315183"/>
          </a:xfrm>
        </p:grpSpPr>
        <p:sp>
          <p:nvSpPr>
            <p:cNvPr id="1055" name="Google Shape;1055;p45"/>
            <p:cNvSpPr txBox="1"/>
            <p:nvPr/>
          </p:nvSpPr>
          <p:spPr>
            <a:xfrm>
              <a:off x="2086583" y="2684832"/>
              <a:ext cx="1303506" cy="2315183"/>
            </a:xfrm>
            <a:prstGeom prst="rect">
              <a:avLst/>
            </a:prstGeom>
            <a:solidFill>
              <a:schemeClr val="accent2"/>
            </a:solidFill>
            <a:ln w="50800"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6" name="Google Shape;1056;p45"/>
            <p:cNvSpPr/>
            <p:nvPr/>
          </p:nvSpPr>
          <p:spPr>
            <a:xfrm>
              <a:off x="2340915" y="2968601"/>
              <a:ext cx="794842" cy="1747643"/>
            </a:xfrm>
            <a:prstGeom prst="downArrow">
              <a:avLst>
                <a:gd name="adj1" fmla="val 47044"/>
                <a:gd name="adj2" fmla="val 66767"/>
              </a:avLst>
            </a:prstGeom>
            <a:solidFill>
              <a:schemeClr val="lt1"/>
            </a:solidFill>
            <a:ln w="508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57" name="Google Shape;1057;p45"/>
          <p:cNvGrpSpPr/>
          <p:nvPr/>
        </p:nvGrpSpPr>
        <p:grpSpPr>
          <a:xfrm rot="10800000">
            <a:off x="1546558" y="2188874"/>
            <a:ext cx="1303506" cy="2315183"/>
            <a:chOff x="2086583" y="2684832"/>
            <a:chExt cx="1303506" cy="2315183"/>
          </a:xfrm>
        </p:grpSpPr>
        <p:sp>
          <p:nvSpPr>
            <p:cNvPr id="1058" name="Google Shape;1058;p45"/>
            <p:cNvSpPr txBox="1"/>
            <p:nvPr/>
          </p:nvSpPr>
          <p:spPr>
            <a:xfrm>
              <a:off x="2086583" y="2684832"/>
              <a:ext cx="1303506" cy="2315183"/>
            </a:xfrm>
            <a:prstGeom prst="rect">
              <a:avLst/>
            </a:prstGeom>
            <a:solidFill>
              <a:schemeClr val="lt1"/>
            </a:solidFill>
            <a:ln w="50800"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9" name="Google Shape;1059;p45"/>
            <p:cNvSpPr/>
            <p:nvPr/>
          </p:nvSpPr>
          <p:spPr>
            <a:xfrm>
              <a:off x="2340915" y="2968601"/>
              <a:ext cx="794842" cy="1747643"/>
            </a:xfrm>
            <a:prstGeom prst="downArrow">
              <a:avLst>
                <a:gd name="adj1" fmla="val 47044"/>
                <a:gd name="adj2" fmla="val 66767"/>
              </a:avLst>
            </a:prstGeom>
            <a:solidFill>
              <a:schemeClr val="lt1"/>
            </a:solidFill>
            <a:ln w="508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60" name="Google Shape;1060;p45"/>
          <p:cNvGrpSpPr/>
          <p:nvPr/>
        </p:nvGrpSpPr>
        <p:grpSpPr>
          <a:xfrm>
            <a:off x="7707117" y="2188872"/>
            <a:ext cx="1303506" cy="2315183"/>
            <a:chOff x="2086583" y="2684832"/>
            <a:chExt cx="1303506" cy="2315183"/>
          </a:xfrm>
        </p:grpSpPr>
        <p:sp>
          <p:nvSpPr>
            <p:cNvPr id="1061" name="Google Shape;1061;p45"/>
            <p:cNvSpPr txBox="1"/>
            <p:nvPr/>
          </p:nvSpPr>
          <p:spPr>
            <a:xfrm>
              <a:off x="2086583" y="2684832"/>
              <a:ext cx="1303506" cy="2315183"/>
            </a:xfrm>
            <a:prstGeom prst="rect">
              <a:avLst/>
            </a:prstGeom>
            <a:solidFill>
              <a:schemeClr val="lt1"/>
            </a:solidFill>
            <a:ln w="50800"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2" name="Google Shape;1062;p45"/>
            <p:cNvSpPr/>
            <p:nvPr/>
          </p:nvSpPr>
          <p:spPr>
            <a:xfrm>
              <a:off x="2340915" y="2968601"/>
              <a:ext cx="794842" cy="1747643"/>
            </a:xfrm>
            <a:prstGeom prst="downArrow">
              <a:avLst>
                <a:gd name="adj1" fmla="val 47044"/>
                <a:gd name="adj2" fmla="val 66767"/>
              </a:avLst>
            </a:prstGeom>
            <a:solidFill>
              <a:schemeClr val="lt1"/>
            </a:solidFill>
            <a:ln w="508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63" name="Google Shape;1063;p45"/>
          <p:cNvGrpSpPr/>
          <p:nvPr/>
        </p:nvGrpSpPr>
        <p:grpSpPr>
          <a:xfrm>
            <a:off x="3182805" y="2188872"/>
            <a:ext cx="1303506" cy="2315183"/>
            <a:chOff x="2086583" y="2684832"/>
            <a:chExt cx="1303506" cy="2315183"/>
          </a:xfrm>
        </p:grpSpPr>
        <p:sp>
          <p:nvSpPr>
            <p:cNvPr id="1064" name="Google Shape;1064;p45"/>
            <p:cNvSpPr txBox="1"/>
            <p:nvPr/>
          </p:nvSpPr>
          <p:spPr>
            <a:xfrm>
              <a:off x="2086583" y="2684832"/>
              <a:ext cx="1303506" cy="2315183"/>
            </a:xfrm>
            <a:prstGeom prst="rect">
              <a:avLst/>
            </a:prstGeom>
            <a:solidFill>
              <a:schemeClr val="lt1"/>
            </a:solidFill>
            <a:ln w="50800"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5" name="Google Shape;1065;p45"/>
            <p:cNvSpPr/>
            <p:nvPr/>
          </p:nvSpPr>
          <p:spPr>
            <a:xfrm>
              <a:off x="2340915" y="2968601"/>
              <a:ext cx="794842" cy="1747643"/>
            </a:xfrm>
            <a:prstGeom prst="downArrow">
              <a:avLst>
                <a:gd name="adj1" fmla="val 47044"/>
                <a:gd name="adj2" fmla="val 66767"/>
              </a:avLst>
            </a:prstGeom>
            <a:solidFill>
              <a:schemeClr val="lt1"/>
            </a:solidFill>
            <a:ln w="508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066" name="Google Shape;1066;p45"/>
          <p:cNvGrpSpPr/>
          <p:nvPr/>
        </p:nvGrpSpPr>
        <p:grpSpPr>
          <a:xfrm rot="10800000">
            <a:off x="9343364" y="2188870"/>
            <a:ext cx="1303506" cy="2315183"/>
            <a:chOff x="2086583" y="2684832"/>
            <a:chExt cx="1303506" cy="2315183"/>
          </a:xfrm>
        </p:grpSpPr>
        <p:sp>
          <p:nvSpPr>
            <p:cNvPr id="1067" name="Google Shape;1067;p45"/>
            <p:cNvSpPr txBox="1"/>
            <p:nvPr/>
          </p:nvSpPr>
          <p:spPr>
            <a:xfrm>
              <a:off x="2086583" y="2684832"/>
              <a:ext cx="1303506" cy="2315183"/>
            </a:xfrm>
            <a:prstGeom prst="rect">
              <a:avLst/>
            </a:prstGeom>
            <a:solidFill>
              <a:schemeClr val="lt1"/>
            </a:solidFill>
            <a:ln w="50800" cap="flat" cmpd="sng">
              <a:solidFill>
                <a:srgbClr val="BFBFB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68" name="Google Shape;1068;p45"/>
            <p:cNvSpPr/>
            <p:nvPr/>
          </p:nvSpPr>
          <p:spPr>
            <a:xfrm>
              <a:off x="2340915" y="2968601"/>
              <a:ext cx="794842" cy="1747643"/>
            </a:xfrm>
            <a:prstGeom prst="downArrow">
              <a:avLst>
                <a:gd name="adj1" fmla="val 47044"/>
                <a:gd name="adj2" fmla="val 66767"/>
              </a:avLst>
            </a:prstGeom>
            <a:solidFill>
              <a:schemeClr val="lt1"/>
            </a:solidFill>
            <a:ln w="508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069" name="Google Shape;1069;p45"/>
          <p:cNvSpPr txBox="1"/>
          <p:nvPr/>
        </p:nvSpPr>
        <p:spPr>
          <a:xfrm>
            <a:off x="1080824" y="5048885"/>
            <a:ext cx="3871609"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a:solidFill>
                  <a:schemeClr val="dk1"/>
                </a:solidFill>
                <a:latin typeface="Avenir"/>
                <a:ea typeface="Avenir"/>
                <a:cs typeface="Avenir"/>
                <a:sym typeface="Avenir"/>
              </a:rPr>
              <a:t>Cash at bank</a:t>
            </a:r>
            <a:endParaRPr/>
          </a:p>
        </p:txBody>
      </p:sp>
      <p:sp>
        <p:nvSpPr>
          <p:cNvPr id="1070" name="Google Shape;1070;p45"/>
          <p:cNvSpPr txBox="1"/>
          <p:nvPr/>
        </p:nvSpPr>
        <p:spPr>
          <a:xfrm>
            <a:off x="7239567" y="5087180"/>
            <a:ext cx="3871609"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a:solidFill>
                  <a:schemeClr val="dk1"/>
                </a:solidFill>
                <a:latin typeface="Avenir"/>
                <a:ea typeface="Avenir"/>
                <a:cs typeface="Avenir"/>
                <a:sym typeface="Avenir"/>
              </a:rPr>
              <a:t>Bank loan</a:t>
            </a:r>
            <a:endParaRPr/>
          </a:p>
        </p:txBody>
      </p:sp>
      <p:sp>
        <p:nvSpPr>
          <p:cNvPr id="1071" name="Google Shape;1071;p45"/>
          <p:cNvSpPr txBox="1"/>
          <p:nvPr/>
        </p:nvSpPr>
        <p:spPr>
          <a:xfrm>
            <a:off x="351187" y="191264"/>
            <a:ext cx="339507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548135"/>
                </a:solidFill>
                <a:latin typeface="Avenir"/>
                <a:ea typeface="Avenir"/>
                <a:cs typeface="Avenir"/>
                <a:sym typeface="Avenir"/>
              </a:rPr>
              <a:t>Uses of funds</a:t>
            </a:r>
            <a:endParaRPr/>
          </a:p>
        </p:txBody>
      </p:sp>
      <p:sp>
        <p:nvSpPr>
          <p:cNvPr id="1072" name="Google Shape;1072;p45"/>
          <p:cNvSpPr txBox="1"/>
          <p:nvPr/>
        </p:nvSpPr>
        <p:spPr>
          <a:xfrm>
            <a:off x="8445735" y="191264"/>
            <a:ext cx="3395078" cy="58477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3200" b="1">
                <a:solidFill>
                  <a:schemeClr val="accent2"/>
                </a:solidFill>
                <a:latin typeface="Avenir"/>
                <a:ea typeface="Avenir"/>
                <a:cs typeface="Avenir"/>
                <a:sym typeface="Avenir"/>
              </a:rPr>
              <a:t>Sources of funds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9"/>
                                        </p:tgtEl>
                                        <p:attrNameLst>
                                          <p:attrName>style.visibility</p:attrName>
                                        </p:attrNameLst>
                                      </p:cBhvr>
                                      <p:to>
                                        <p:strVal val="visible"/>
                                      </p:to>
                                    </p:set>
                                    <p:animEffect transition="in" filter="fade">
                                      <p:cBhvr>
                                        <p:cTn id="7" dur="500"/>
                                        <p:tgtEl>
                                          <p:spTgt spid="1039"/>
                                        </p:tgtEl>
                                      </p:cBhvr>
                                    </p:animEffect>
                                  </p:childTnLst>
                                </p:cTn>
                              </p:par>
                              <p:par>
                                <p:cTn id="8" presetID="10" presetClass="entr" presetSubtype="0" fill="hold" nodeType="withEffect">
                                  <p:stCondLst>
                                    <p:cond delay="0"/>
                                  </p:stCondLst>
                                  <p:childTnLst>
                                    <p:set>
                                      <p:cBhvr>
                                        <p:cTn id="9" dur="1" fill="hold">
                                          <p:stCondLst>
                                            <p:cond delay="0"/>
                                          </p:stCondLst>
                                        </p:cTn>
                                        <p:tgtEl>
                                          <p:spTgt spid="1042"/>
                                        </p:tgtEl>
                                        <p:attrNameLst>
                                          <p:attrName>style.visibility</p:attrName>
                                        </p:attrNameLst>
                                      </p:cBhvr>
                                      <p:to>
                                        <p:strVal val="visible"/>
                                      </p:to>
                                    </p:set>
                                    <p:animEffect transition="in" filter="fade">
                                      <p:cBhvr>
                                        <p:cTn id="10" dur="500"/>
                                        <p:tgtEl>
                                          <p:spTgt spid="1042"/>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069"/>
                                        </p:tgtEl>
                                        <p:attrNameLst>
                                          <p:attrName>style.visibility</p:attrName>
                                        </p:attrNameLst>
                                      </p:cBhvr>
                                      <p:to>
                                        <p:strVal val="visible"/>
                                      </p:to>
                                    </p:set>
                                    <p:animEffect transition="in" filter="fade">
                                      <p:cBhvr>
                                        <p:cTn id="14" dur="500"/>
                                        <p:tgtEl>
                                          <p:spTgt spid="1069"/>
                                        </p:tgtEl>
                                      </p:cBhvr>
                                    </p:animEffect>
                                  </p:childTnLst>
                                </p:cTn>
                              </p:par>
                              <p:par>
                                <p:cTn id="15" presetID="10" presetClass="entr" presetSubtype="0" fill="hold" nodeType="withEffect">
                                  <p:stCondLst>
                                    <p:cond delay="0"/>
                                  </p:stCondLst>
                                  <p:childTnLst>
                                    <p:set>
                                      <p:cBhvr>
                                        <p:cTn id="16" dur="1" fill="hold">
                                          <p:stCondLst>
                                            <p:cond delay="0"/>
                                          </p:stCondLst>
                                        </p:cTn>
                                        <p:tgtEl>
                                          <p:spTgt spid="1070"/>
                                        </p:tgtEl>
                                        <p:attrNameLst>
                                          <p:attrName>style.visibility</p:attrName>
                                        </p:attrNameLst>
                                      </p:cBhvr>
                                      <p:to>
                                        <p:strVal val="visible"/>
                                      </p:to>
                                    </p:set>
                                    <p:animEffect transition="in" filter="fade">
                                      <p:cBhvr>
                                        <p:cTn id="17" dur="500"/>
                                        <p:tgtEl>
                                          <p:spTgt spid="107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45"/>
                                        </p:tgtEl>
                                        <p:attrNameLst>
                                          <p:attrName>style.visibility</p:attrName>
                                        </p:attrNameLst>
                                      </p:cBhvr>
                                      <p:to>
                                        <p:strVal val="visible"/>
                                      </p:to>
                                    </p:set>
                                    <p:animEffect transition="in" filter="fade">
                                      <p:cBhvr>
                                        <p:cTn id="22" dur="500"/>
                                        <p:tgtEl>
                                          <p:spTgt spid="1045"/>
                                        </p:tgtEl>
                                      </p:cBhvr>
                                    </p:animEffect>
                                  </p:childTnLst>
                                </p:cTn>
                              </p:par>
                              <p:par>
                                <p:cTn id="23" presetID="10" presetClass="entr" presetSubtype="0" fill="hold" nodeType="withEffect">
                                  <p:stCondLst>
                                    <p:cond delay="0"/>
                                  </p:stCondLst>
                                  <p:childTnLst>
                                    <p:set>
                                      <p:cBhvr>
                                        <p:cTn id="24" dur="1" fill="hold">
                                          <p:stCondLst>
                                            <p:cond delay="0"/>
                                          </p:stCondLst>
                                        </p:cTn>
                                        <p:tgtEl>
                                          <p:spTgt spid="1048"/>
                                        </p:tgtEl>
                                        <p:attrNameLst>
                                          <p:attrName>style.visibility</p:attrName>
                                        </p:attrNameLst>
                                      </p:cBhvr>
                                      <p:to>
                                        <p:strVal val="visible"/>
                                      </p:to>
                                    </p:set>
                                    <p:animEffect transition="in" filter="fade">
                                      <p:cBhvr>
                                        <p:cTn id="25" dur="500"/>
                                        <p:tgtEl>
                                          <p:spTgt spid="1048"/>
                                        </p:tgtEl>
                                      </p:cBhvr>
                                    </p:animEffect>
                                  </p:childTnLst>
                                </p:cTn>
                              </p:par>
                              <p:par>
                                <p:cTn id="26" presetID="10" presetClass="entr" presetSubtype="0" fill="hold" nodeType="withEffect">
                                  <p:stCondLst>
                                    <p:cond delay="0"/>
                                  </p:stCondLst>
                                  <p:childTnLst>
                                    <p:set>
                                      <p:cBhvr>
                                        <p:cTn id="27" dur="1" fill="hold">
                                          <p:stCondLst>
                                            <p:cond delay="0"/>
                                          </p:stCondLst>
                                        </p:cTn>
                                        <p:tgtEl>
                                          <p:spTgt spid="1051"/>
                                        </p:tgtEl>
                                        <p:attrNameLst>
                                          <p:attrName>style.visibility</p:attrName>
                                        </p:attrNameLst>
                                      </p:cBhvr>
                                      <p:to>
                                        <p:strVal val="visible"/>
                                      </p:to>
                                    </p:set>
                                    <p:animEffect transition="in" filter="fade">
                                      <p:cBhvr>
                                        <p:cTn id="28" dur="500"/>
                                        <p:tgtEl>
                                          <p:spTgt spid="1051"/>
                                        </p:tgtEl>
                                      </p:cBhvr>
                                    </p:animEffect>
                                  </p:childTnLst>
                                </p:cTn>
                              </p:par>
                              <p:par>
                                <p:cTn id="29" presetID="10" presetClass="entr" presetSubtype="0" fill="hold" nodeType="withEffect">
                                  <p:stCondLst>
                                    <p:cond delay="0"/>
                                  </p:stCondLst>
                                  <p:childTnLst>
                                    <p:set>
                                      <p:cBhvr>
                                        <p:cTn id="30" dur="1" fill="hold">
                                          <p:stCondLst>
                                            <p:cond delay="0"/>
                                          </p:stCondLst>
                                        </p:cTn>
                                        <p:tgtEl>
                                          <p:spTgt spid="1054"/>
                                        </p:tgtEl>
                                        <p:attrNameLst>
                                          <p:attrName>style.visibility</p:attrName>
                                        </p:attrNameLst>
                                      </p:cBhvr>
                                      <p:to>
                                        <p:strVal val="visible"/>
                                      </p:to>
                                    </p:set>
                                    <p:animEffect transition="in" filter="fade">
                                      <p:cBhvr>
                                        <p:cTn id="31" dur="500"/>
                                        <p:tgtEl>
                                          <p:spTgt spid="1054"/>
                                        </p:tgtEl>
                                      </p:cBhvr>
                                    </p:animEffect>
                                  </p:childTnLst>
                                </p:cTn>
                              </p:par>
                              <p:par>
                                <p:cTn id="32" presetID="10" presetClass="entr" presetSubtype="0" fill="hold" nodeType="withEffect">
                                  <p:stCondLst>
                                    <p:cond delay="0"/>
                                  </p:stCondLst>
                                  <p:childTnLst>
                                    <p:set>
                                      <p:cBhvr>
                                        <p:cTn id="33" dur="1" fill="hold">
                                          <p:stCondLst>
                                            <p:cond delay="0"/>
                                          </p:stCondLst>
                                        </p:cTn>
                                        <p:tgtEl>
                                          <p:spTgt spid="1057"/>
                                        </p:tgtEl>
                                        <p:attrNameLst>
                                          <p:attrName>style.visibility</p:attrName>
                                        </p:attrNameLst>
                                      </p:cBhvr>
                                      <p:to>
                                        <p:strVal val="visible"/>
                                      </p:to>
                                    </p:set>
                                    <p:animEffect transition="in" filter="fade">
                                      <p:cBhvr>
                                        <p:cTn id="34" dur="500"/>
                                        <p:tgtEl>
                                          <p:spTgt spid="1057"/>
                                        </p:tgtEl>
                                      </p:cBhvr>
                                    </p:animEffect>
                                  </p:childTnLst>
                                </p:cTn>
                              </p:par>
                              <p:par>
                                <p:cTn id="35" presetID="10" presetClass="entr" presetSubtype="0" fill="hold" nodeType="withEffect">
                                  <p:stCondLst>
                                    <p:cond delay="0"/>
                                  </p:stCondLst>
                                  <p:childTnLst>
                                    <p:set>
                                      <p:cBhvr>
                                        <p:cTn id="36" dur="1" fill="hold">
                                          <p:stCondLst>
                                            <p:cond delay="0"/>
                                          </p:stCondLst>
                                        </p:cTn>
                                        <p:tgtEl>
                                          <p:spTgt spid="1060"/>
                                        </p:tgtEl>
                                        <p:attrNameLst>
                                          <p:attrName>style.visibility</p:attrName>
                                        </p:attrNameLst>
                                      </p:cBhvr>
                                      <p:to>
                                        <p:strVal val="visible"/>
                                      </p:to>
                                    </p:set>
                                    <p:animEffect transition="in" filter="fade">
                                      <p:cBhvr>
                                        <p:cTn id="37" dur="500"/>
                                        <p:tgtEl>
                                          <p:spTgt spid="1060"/>
                                        </p:tgtEl>
                                      </p:cBhvr>
                                    </p:animEffect>
                                  </p:childTnLst>
                                </p:cTn>
                              </p:par>
                              <p:par>
                                <p:cTn id="38" presetID="10" presetClass="entr" presetSubtype="0" fill="hold" nodeType="withEffect">
                                  <p:stCondLst>
                                    <p:cond delay="0"/>
                                  </p:stCondLst>
                                  <p:childTnLst>
                                    <p:set>
                                      <p:cBhvr>
                                        <p:cTn id="39" dur="1" fill="hold">
                                          <p:stCondLst>
                                            <p:cond delay="0"/>
                                          </p:stCondLst>
                                        </p:cTn>
                                        <p:tgtEl>
                                          <p:spTgt spid="1063"/>
                                        </p:tgtEl>
                                        <p:attrNameLst>
                                          <p:attrName>style.visibility</p:attrName>
                                        </p:attrNameLst>
                                      </p:cBhvr>
                                      <p:to>
                                        <p:strVal val="visible"/>
                                      </p:to>
                                    </p:set>
                                    <p:animEffect transition="in" filter="fade">
                                      <p:cBhvr>
                                        <p:cTn id="40" dur="500"/>
                                        <p:tgtEl>
                                          <p:spTgt spid="1063"/>
                                        </p:tgtEl>
                                      </p:cBhvr>
                                    </p:animEffect>
                                  </p:childTnLst>
                                </p:cTn>
                              </p:par>
                              <p:par>
                                <p:cTn id="41" presetID="10" presetClass="entr" presetSubtype="0" fill="hold" nodeType="withEffect">
                                  <p:stCondLst>
                                    <p:cond delay="0"/>
                                  </p:stCondLst>
                                  <p:childTnLst>
                                    <p:set>
                                      <p:cBhvr>
                                        <p:cTn id="42" dur="1" fill="hold">
                                          <p:stCondLst>
                                            <p:cond delay="0"/>
                                          </p:stCondLst>
                                        </p:cTn>
                                        <p:tgtEl>
                                          <p:spTgt spid="1066"/>
                                        </p:tgtEl>
                                        <p:attrNameLst>
                                          <p:attrName>style.visibility</p:attrName>
                                        </p:attrNameLst>
                                      </p:cBhvr>
                                      <p:to>
                                        <p:strVal val="visible"/>
                                      </p:to>
                                    </p:set>
                                    <p:animEffect transition="in" filter="fade">
                                      <p:cBhvr>
                                        <p:cTn id="43" dur="500"/>
                                        <p:tgtEl>
                                          <p:spTgt spid="106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3000"/>
                                        <p:tgtEl>
                                          <p:spTgt spid="1057"/>
                                        </p:tgtEl>
                                      </p:cBhvr>
                                    </p:animEffect>
                                    <p:set>
                                      <p:cBhvr>
                                        <p:cTn id="48" dur="1" fill="hold">
                                          <p:stCondLst>
                                            <p:cond delay="3000"/>
                                          </p:stCondLst>
                                        </p:cTn>
                                        <p:tgtEl>
                                          <p:spTgt spid="105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3000"/>
                                        <p:tgtEl>
                                          <p:spTgt spid="1066"/>
                                        </p:tgtEl>
                                      </p:cBhvr>
                                    </p:animEffect>
                                    <p:set>
                                      <p:cBhvr>
                                        <p:cTn id="53" dur="1" fill="hold">
                                          <p:stCondLst>
                                            <p:cond delay="3000"/>
                                          </p:stCondLst>
                                        </p:cTn>
                                        <p:tgtEl>
                                          <p:spTgt spid="1066"/>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nodeType="clickEffect">
                                  <p:stCondLst>
                                    <p:cond delay="0"/>
                                  </p:stCondLst>
                                  <p:childTnLst>
                                    <p:animEffect transition="out" filter="fade">
                                      <p:cBhvr>
                                        <p:cTn id="57" dur="3000"/>
                                        <p:tgtEl>
                                          <p:spTgt spid="1063"/>
                                        </p:tgtEl>
                                      </p:cBhvr>
                                    </p:animEffect>
                                    <p:set>
                                      <p:cBhvr>
                                        <p:cTn id="58" dur="1" fill="hold">
                                          <p:stCondLst>
                                            <p:cond delay="3000"/>
                                          </p:stCondLst>
                                        </p:cTn>
                                        <p:tgtEl>
                                          <p:spTgt spid="106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3000"/>
                                        <p:tgtEl>
                                          <p:spTgt spid="1060"/>
                                        </p:tgtEl>
                                      </p:cBhvr>
                                    </p:animEffect>
                                    <p:set>
                                      <p:cBhvr>
                                        <p:cTn id="63" dur="1" fill="hold">
                                          <p:stCondLst>
                                            <p:cond delay="3000"/>
                                          </p:stCondLst>
                                        </p:cTn>
                                        <p:tgtEl>
                                          <p:spTgt spid="1060"/>
                                        </p:tgtEl>
                                        <p:attrNameLst>
                                          <p:attrName>style.visibility</p:attrName>
                                        </p:attrNameLst>
                                      </p:cBhvr>
                                      <p:to>
                                        <p:strVal val="hidden"/>
                                      </p:to>
                                    </p:set>
                                  </p:childTnLst>
                                </p:cTn>
                              </p:par>
                            </p:childTnLst>
                          </p:cTn>
                        </p:par>
                        <p:par>
                          <p:cTn id="64" fill="hold">
                            <p:stCondLst>
                              <p:cond delay="3000"/>
                            </p:stCondLst>
                            <p:childTnLst>
                              <p:par>
                                <p:cTn id="65" presetID="10" presetClass="entr" presetSubtype="0" fill="hold" nodeType="afterEffect">
                                  <p:stCondLst>
                                    <p:cond delay="0"/>
                                  </p:stCondLst>
                                  <p:childTnLst>
                                    <p:set>
                                      <p:cBhvr>
                                        <p:cTn id="66" dur="1" fill="hold">
                                          <p:stCondLst>
                                            <p:cond delay="0"/>
                                          </p:stCondLst>
                                        </p:cTn>
                                        <p:tgtEl>
                                          <p:spTgt spid="1071"/>
                                        </p:tgtEl>
                                        <p:attrNameLst>
                                          <p:attrName>style.visibility</p:attrName>
                                        </p:attrNameLst>
                                      </p:cBhvr>
                                      <p:to>
                                        <p:strVal val="visible"/>
                                      </p:to>
                                    </p:set>
                                    <p:animEffect transition="in" filter="fade">
                                      <p:cBhvr>
                                        <p:cTn id="67" dur="500"/>
                                        <p:tgtEl>
                                          <p:spTgt spid="1071"/>
                                        </p:tgtEl>
                                      </p:cBhvr>
                                    </p:animEffect>
                                  </p:childTnLst>
                                </p:cTn>
                              </p:par>
                            </p:childTnLst>
                          </p:cTn>
                        </p:par>
                        <p:par>
                          <p:cTn id="68" fill="hold">
                            <p:stCondLst>
                              <p:cond delay="3500"/>
                            </p:stCondLst>
                            <p:childTnLst>
                              <p:par>
                                <p:cTn id="69" presetID="10" presetClass="entr" presetSubtype="0" fill="hold" nodeType="afterEffect">
                                  <p:stCondLst>
                                    <p:cond delay="0"/>
                                  </p:stCondLst>
                                  <p:childTnLst>
                                    <p:set>
                                      <p:cBhvr>
                                        <p:cTn id="70" dur="1" fill="hold">
                                          <p:stCondLst>
                                            <p:cond delay="0"/>
                                          </p:stCondLst>
                                        </p:cTn>
                                        <p:tgtEl>
                                          <p:spTgt spid="1072"/>
                                        </p:tgtEl>
                                        <p:attrNameLst>
                                          <p:attrName>style.visibility</p:attrName>
                                        </p:attrNameLst>
                                      </p:cBhvr>
                                      <p:to>
                                        <p:strVal val="visible"/>
                                      </p:to>
                                    </p:set>
                                    <p:animEffect transition="in" filter="fade">
                                      <p:cBhvr>
                                        <p:cTn id="71" dur="500"/>
                                        <p:tgtEl>
                                          <p:spTgt spid="1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7"/>
        <p:cNvGrpSpPr/>
        <p:nvPr/>
      </p:nvGrpSpPr>
      <p:grpSpPr>
        <a:xfrm>
          <a:off x="0" y="0"/>
          <a:ext cx="0" cy="0"/>
          <a:chOff x="0" y="0"/>
          <a:chExt cx="0" cy="0"/>
        </a:xfrm>
      </p:grpSpPr>
      <p:sp>
        <p:nvSpPr>
          <p:cNvPr id="1078" name="Google Shape;1078;p46"/>
          <p:cNvSpPr txBox="1"/>
          <p:nvPr/>
        </p:nvSpPr>
        <p:spPr>
          <a:xfrm>
            <a:off x="6104056" y="1078992"/>
            <a:ext cx="6071834" cy="3363251"/>
          </a:xfrm>
          <a:prstGeom prst="rect">
            <a:avLst/>
          </a:prstGeom>
          <a:solidFill>
            <a:srgbClr val="FEE599"/>
          </a:solidFill>
          <a:ln>
            <a:noFill/>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1079" name="Google Shape;1079;p46"/>
          <p:cNvSpPr txBox="1"/>
          <p:nvPr/>
        </p:nvSpPr>
        <p:spPr>
          <a:xfrm>
            <a:off x="0" y="1078992"/>
            <a:ext cx="6096000" cy="3363251"/>
          </a:xfrm>
          <a:prstGeom prst="rect">
            <a:avLst/>
          </a:prstGeom>
          <a:solidFill>
            <a:srgbClr val="C4E0B2"/>
          </a:solid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endParaRPr sz="2800" b="1">
              <a:solidFill>
                <a:schemeClr val="dk1"/>
              </a:solidFill>
              <a:latin typeface="Avenir"/>
              <a:ea typeface="Avenir"/>
              <a:cs typeface="Avenir"/>
              <a:sym typeface="Avenir"/>
            </a:endParaRPr>
          </a:p>
        </p:txBody>
      </p:sp>
      <p:sp>
        <p:nvSpPr>
          <p:cNvPr id="1080" name="Google Shape;1080;p46"/>
          <p:cNvSpPr txBox="1"/>
          <p:nvPr/>
        </p:nvSpPr>
        <p:spPr>
          <a:xfrm>
            <a:off x="343132" y="1270256"/>
            <a:ext cx="339507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548135"/>
                </a:solidFill>
                <a:latin typeface="Avenir"/>
                <a:ea typeface="Avenir"/>
                <a:cs typeface="Avenir"/>
                <a:sym typeface="Avenir"/>
              </a:rPr>
              <a:t>Uses of funds</a:t>
            </a:r>
            <a:endParaRPr/>
          </a:p>
        </p:txBody>
      </p:sp>
      <p:sp>
        <p:nvSpPr>
          <p:cNvPr id="1081" name="Google Shape;1081;p46"/>
          <p:cNvSpPr txBox="1"/>
          <p:nvPr/>
        </p:nvSpPr>
        <p:spPr>
          <a:xfrm>
            <a:off x="8437680" y="1270256"/>
            <a:ext cx="3395078" cy="584775"/>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3200" b="1">
                <a:solidFill>
                  <a:schemeClr val="accent2"/>
                </a:solidFill>
                <a:latin typeface="Avenir"/>
                <a:ea typeface="Avenir"/>
                <a:cs typeface="Avenir"/>
                <a:sym typeface="Avenir"/>
              </a:rPr>
              <a:t>Sources of funds</a:t>
            </a:r>
            <a:endParaRPr/>
          </a:p>
        </p:txBody>
      </p:sp>
      <p:pic>
        <p:nvPicPr>
          <p:cNvPr id="1082" name="Google Shape;1082;p46"/>
          <p:cNvPicPr preferRelativeResize="0"/>
          <p:nvPr/>
        </p:nvPicPr>
        <p:blipFill rotWithShape="1">
          <a:blip r:embed="rId3">
            <a:alphaModFix/>
          </a:blip>
          <a:srcRect l="55219"/>
          <a:stretch/>
        </p:blipFill>
        <p:spPr>
          <a:xfrm>
            <a:off x="6626531" y="2027216"/>
            <a:ext cx="2596534" cy="2236284"/>
          </a:xfrm>
          <a:prstGeom prst="rect">
            <a:avLst/>
          </a:prstGeom>
          <a:noFill/>
          <a:ln>
            <a:noFill/>
          </a:ln>
        </p:spPr>
      </p:pic>
      <p:pic>
        <p:nvPicPr>
          <p:cNvPr id="1083" name="Google Shape;1083;p46"/>
          <p:cNvPicPr preferRelativeResize="0"/>
          <p:nvPr/>
        </p:nvPicPr>
        <p:blipFill rotWithShape="1">
          <a:blip r:embed="rId4">
            <a:alphaModFix/>
          </a:blip>
          <a:srcRect r="56241"/>
          <a:stretch/>
        </p:blipFill>
        <p:spPr>
          <a:xfrm>
            <a:off x="2968935" y="2027216"/>
            <a:ext cx="2537314" cy="223628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80"/>
                                        </p:tgtEl>
                                        <p:attrNameLst>
                                          <p:attrName>style.visibility</p:attrName>
                                        </p:attrNameLst>
                                      </p:cBhvr>
                                      <p:to>
                                        <p:strVal val="visible"/>
                                      </p:to>
                                    </p:set>
                                    <p:animEffect transition="in" filter="fade">
                                      <p:cBhvr>
                                        <p:cTn id="7" dur="500"/>
                                        <p:tgtEl>
                                          <p:spTgt spid="108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81"/>
                                        </p:tgtEl>
                                        <p:attrNameLst>
                                          <p:attrName>style.visibility</p:attrName>
                                        </p:attrNameLst>
                                      </p:cBhvr>
                                      <p:to>
                                        <p:strVal val="visible"/>
                                      </p:to>
                                    </p:set>
                                    <p:animEffect transition="in" filter="fade">
                                      <p:cBhvr>
                                        <p:cTn id="11" dur="500"/>
                                        <p:tgtEl>
                                          <p:spTgt spid="1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47"/>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090" name="Google Shape;1090;p47"/>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1091" name="Google Shape;1091;p47"/>
          <p:cNvGrpSpPr/>
          <p:nvPr/>
        </p:nvGrpSpPr>
        <p:grpSpPr>
          <a:xfrm>
            <a:off x="1284576" y="2130924"/>
            <a:ext cx="10188969" cy="756004"/>
            <a:chOff x="926134" y="1719856"/>
            <a:chExt cx="9204181" cy="750147"/>
          </a:xfrm>
        </p:grpSpPr>
        <p:sp>
          <p:nvSpPr>
            <p:cNvPr id="1092" name="Google Shape;1092;p47"/>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ZZZ 공급업체로부터 장비를 구매 및 설치함. 결제 기한은 30일 후.</a:t>
              </a:r>
              <a:endParaRPr sz="2000">
                <a:solidFill>
                  <a:schemeClr val="dk1"/>
                </a:solidFill>
                <a:latin typeface="Avenir"/>
                <a:ea typeface="Avenir"/>
                <a:cs typeface="Avenir"/>
                <a:sym typeface="Avenir"/>
              </a:endParaRPr>
            </a:p>
          </p:txBody>
        </p:sp>
        <p:sp>
          <p:nvSpPr>
            <p:cNvPr id="1093" name="Google Shape;1093;p47"/>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Equipment</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6,000</a:t>
              </a:r>
              <a:endParaRPr/>
            </a:p>
          </p:txBody>
        </p:sp>
        <p:sp>
          <p:nvSpPr>
            <p:cNvPr id="1094" name="Google Shape;1094;p47"/>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Accounts payable</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6,000</a:t>
              </a:r>
              <a:endParaRPr/>
            </a:p>
          </p:txBody>
        </p:sp>
        <p:sp>
          <p:nvSpPr>
            <p:cNvPr id="1095" name="Google Shape;1095;p47"/>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4</a:t>
              </a:r>
              <a:endParaRPr/>
            </a:p>
          </p:txBody>
        </p:sp>
      </p:grpSp>
      <p:sp>
        <p:nvSpPr>
          <p:cNvPr id="1096" name="Google Shape;1096;p47"/>
          <p:cNvSpPr txBox="1"/>
          <p:nvPr/>
        </p:nvSpPr>
        <p:spPr>
          <a:xfrm>
            <a:off x="8109273" y="2130924"/>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6,000</a:t>
            </a:r>
            <a:endParaRPr/>
          </a:p>
        </p:txBody>
      </p:sp>
      <p:sp>
        <p:nvSpPr>
          <p:cNvPr id="1097" name="Google Shape;1097;p47"/>
          <p:cNvSpPr txBox="1"/>
          <p:nvPr/>
        </p:nvSpPr>
        <p:spPr>
          <a:xfrm>
            <a:off x="9792343" y="2130924"/>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6,000</a:t>
            </a:r>
            <a:endParaRPr/>
          </a:p>
        </p:txBody>
      </p:sp>
      <p:sp>
        <p:nvSpPr>
          <p:cNvPr id="1098" name="Google Shape;1098;p47"/>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31 January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3074426"/>
            <a:ext cx="1620000" cy="884272"/>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rgbClr val="FFFF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04" name="Rectangle 103">
            <a:extLst>
              <a:ext uri="{FF2B5EF4-FFF2-40B4-BE49-F238E27FC236}">
                <a16:creationId xmlns:a16="http://schemas.microsoft.com/office/drawing/2014/main" id="{225929DC-4013-9F4F-8055-BAF07CAD9B57}"/>
              </a:ext>
            </a:extLst>
          </p:cNvPr>
          <p:cNvSpPr/>
          <p:nvPr/>
        </p:nvSpPr>
        <p:spPr>
          <a:xfrm>
            <a:off x="1160723" y="5050166"/>
            <a:ext cx="105384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 name="Group 104">
            <a:extLst>
              <a:ext uri="{FF2B5EF4-FFF2-40B4-BE49-F238E27FC236}">
                <a16:creationId xmlns:a16="http://schemas.microsoft.com/office/drawing/2014/main" id="{4C2609F2-0128-8440-B804-2ADB7C3C9D10}"/>
              </a:ext>
            </a:extLst>
          </p:cNvPr>
          <p:cNvGrpSpPr/>
          <p:nvPr/>
        </p:nvGrpSpPr>
        <p:grpSpPr>
          <a:xfrm>
            <a:off x="1356400" y="5312636"/>
            <a:ext cx="10188967" cy="756004"/>
            <a:chOff x="926134" y="1719856"/>
            <a:chExt cx="9204181" cy="750147"/>
          </a:xfrm>
        </p:grpSpPr>
        <p:sp>
          <p:nvSpPr>
            <p:cNvPr id="106" name="TextBox 105">
              <a:extLst>
                <a:ext uri="{FF2B5EF4-FFF2-40B4-BE49-F238E27FC236}">
                  <a16:creationId xmlns:a16="http://schemas.microsoft.com/office/drawing/2014/main" id="{C0C6E394-BA50-DC42-9EA0-5AC0F044AE4E}"/>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en-US" altLang="ko-KR" sz="2000" dirty="0">
                  <a:solidFill>
                    <a:schemeClr val="dk1"/>
                  </a:solidFill>
                  <a:latin typeface="Calibri"/>
                  <a:ea typeface="Calibri"/>
                  <a:cs typeface="Calibri"/>
                  <a:sym typeface="Calibri"/>
                </a:rPr>
                <a:t>ZZZ </a:t>
              </a:r>
              <a:r>
                <a:rPr lang="ko-KR" altLang="en-US" sz="2000" dirty="0">
                  <a:solidFill>
                    <a:schemeClr val="dk1"/>
                  </a:solidFill>
                  <a:latin typeface="Calibri"/>
                  <a:ea typeface="Calibri"/>
                  <a:cs typeface="Calibri"/>
                  <a:sym typeface="Calibri"/>
                </a:rPr>
                <a:t>공급업체로부터 장비를 구매 및 설치함</a:t>
              </a:r>
              <a:r>
                <a:rPr lang="en-US" altLang="ko-KR" sz="2000" dirty="0">
                  <a:solidFill>
                    <a:schemeClr val="dk1"/>
                  </a:solidFill>
                  <a:latin typeface="Calibri"/>
                  <a:ea typeface="Calibri"/>
                  <a:cs typeface="Calibri"/>
                  <a:sym typeface="Calibri"/>
                </a:rPr>
                <a:t>. </a:t>
              </a:r>
              <a:r>
                <a:rPr lang="ko-KR" altLang="en-US" sz="2000" dirty="0">
                  <a:solidFill>
                    <a:schemeClr val="dk1"/>
                  </a:solidFill>
                  <a:latin typeface="Calibri"/>
                  <a:ea typeface="Calibri"/>
                  <a:cs typeface="Calibri"/>
                  <a:sym typeface="Calibri"/>
                </a:rPr>
                <a:t>결제 기한은 </a:t>
              </a:r>
              <a:r>
                <a:rPr lang="en-US" altLang="ko-KR" sz="2000" dirty="0">
                  <a:solidFill>
                    <a:schemeClr val="dk1"/>
                  </a:solidFill>
                  <a:latin typeface="Calibri"/>
                  <a:ea typeface="Calibri"/>
                  <a:cs typeface="Calibri"/>
                  <a:sym typeface="Calibri"/>
                </a:rPr>
                <a:t>30</a:t>
              </a:r>
              <a:r>
                <a:rPr lang="ko-KR" altLang="en-US" sz="2000" dirty="0">
                  <a:solidFill>
                    <a:schemeClr val="dk1"/>
                  </a:solidFill>
                  <a:latin typeface="Calibri"/>
                  <a:ea typeface="Calibri"/>
                  <a:cs typeface="Calibri"/>
                  <a:sym typeface="Calibri"/>
                </a:rPr>
                <a:t>일 후</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107" name="TextBox 106">
              <a:extLst>
                <a:ext uri="{FF2B5EF4-FFF2-40B4-BE49-F238E27FC236}">
                  <a16:creationId xmlns:a16="http://schemas.microsoft.com/office/drawing/2014/main" id="{7D22722E-44A0-0B4F-A765-1936A454F10F}"/>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Equipment</a:t>
              </a:r>
            </a:p>
            <a:p>
              <a:pPr algn="ctr"/>
              <a:r>
                <a:rPr lang="en-GB" b="1">
                  <a:solidFill>
                    <a:schemeClr val="bg1">
                      <a:lumMod val="75000"/>
                    </a:schemeClr>
                  </a:solidFill>
                  <a:latin typeface="Avenir"/>
                  <a:ea typeface="Helvetica" charset="0"/>
                  <a:cs typeface="Helvetica" charset="0"/>
                </a:rPr>
                <a:t>6,000</a:t>
              </a:r>
            </a:p>
          </p:txBody>
        </p:sp>
        <p:sp>
          <p:nvSpPr>
            <p:cNvPr id="109" name="TextBox 108">
              <a:extLst>
                <a:ext uri="{FF2B5EF4-FFF2-40B4-BE49-F238E27FC236}">
                  <a16:creationId xmlns:a16="http://schemas.microsoft.com/office/drawing/2014/main" id="{E0557586-07D6-9341-B0FF-924B9D1062EE}"/>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Accounts payable</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6,000</a:t>
              </a:r>
            </a:p>
          </p:txBody>
        </p:sp>
        <p:sp>
          <p:nvSpPr>
            <p:cNvPr id="111" name="TextBox 110">
              <a:extLst>
                <a:ext uri="{FF2B5EF4-FFF2-40B4-BE49-F238E27FC236}">
                  <a16:creationId xmlns:a16="http://schemas.microsoft.com/office/drawing/2014/main" id="{315C9147-F1B4-8644-ADD6-180FE8F82BAB}"/>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4</a:t>
              </a:r>
            </a:p>
          </p:txBody>
        </p:sp>
      </p:grpSp>
      <p:sp>
        <p:nvSpPr>
          <p:cNvPr id="112" name="TextBox 111">
            <a:extLst>
              <a:ext uri="{FF2B5EF4-FFF2-40B4-BE49-F238E27FC236}">
                <a16:creationId xmlns:a16="http://schemas.microsoft.com/office/drawing/2014/main" id="{F5A17972-80A9-1141-B0D0-A1790F78CD82}"/>
              </a:ext>
            </a:extLst>
          </p:cNvPr>
          <p:cNvSpPr txBox="1"/>
          <p:nvPr/>
        </p:nvSpPr>
        <p:spPr>
          <a:xfrm>
            <a:off x="8179227" y="5312923"/>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6,000</a:t>
            </a:r>
          </a:p>
        </p:txBody>
      </p:sp>
      <p:sp>
        <p:nvSpPr>
          <p:cNvPr id="113" name="TextBox 112">
            <a:extLst>
              <a:ext uri="{FF2B5EF4-FFF2-40B4-BE49-F238E27FC236}">
                <a16:creationId xmlns:a16="http://schemas.microsoft.com/office/drawing/2014/main" id="{37A8F3FE-3F4E-7442-8F1F-36E372EEB08D}"/>
              </a:ext>
            </a:extLst>
          </p:cNvPr>
          <p:cNvSpPr txBox="1"/>
          <p:nvPr/>
        </p:nvSpPr>
        <p:spPr>
          <a:xfrm>
            <a:off x="9862297" y="5317036"/>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6,000</a:t>
            </a:r>
          </a:p>
        </p:txBody>
      </p:sp>
      <p:sp>
        <p:nvSpPr>
          <p:cNvPr id="114" name="Down Arrow 113">
            <a:extLst>
              <a:ext uri="{FF2B5EF4-FFF2-40B4-BE49-F238E27FC236}">
                <a16:creationId xmlns:a16="http://schemas.microsoft.com/office/drawing/2014/main" id="{D8424DC4-D9B3-C548-9DDB-20728B9CC3A2}"/>
              </a:ext>
            </a:extLst>
          </p:cNvPr>
          <p:cNvSpPr/>
          <p:nvPr/>
        </p:nvSpPr>
        <p:spPr>
          <a:xfrm rot="10800000">
            <a:off x="153289" y="824059"/>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5" name="Down Arrow 114">
            <a:extLst>
              <a:ext uri="{FF2B5EF4-FFF2-40B4-BE49-F238E27FC236}">
                <a16:creationId xmlns:a16="http://schemas.microsoft.com/office/drawing/2014/main" id="{2D1DBCBD-810C-A940-9707-5F9831CF63EB}"/>
              </a:ext>
            </a:extLst>
          </p:cNvPr>
          <p:cNvSpPr/>
          <p:nvPr/>
        </p:nvSpPr>
        <p:spPr>
          <a:xfrm rot="10800000">
            <a:off x="11196000" y="826738"/>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21868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500"/>
                                        <p:tgtEl>
                                          <p:spTgt spid="110"/>
                                        </p:tgtEl>
                                      </p:cBhvr>
                                    </p:animEffect>
                                  </p:childTnLst>
                                </p:cTn>
                              </p:par>
                              <p:par>
                                <p:cTn id="8" presetID="10" presetClass="entr" presetSubtype="0" fill="hold"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fade">
                                      <p:cBhvr>
                                        <p:cTn id="10" dur="500"/>
                                        <p:tgtEl>
                                          <p:spTgt spid="7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3.75E-6 -1.11111E-6 L -0.65716 -0.34074 " pathEditMode="relative" rAng="0" ptsTypes="AA">
                                      <p:cBhvr>
                                        <p:cTn id="14" dur="3000" fill="hold"/>
                                        <p:tgtEl>
                                          <p:spTgt spid="112"/>
                                        </p:tgtEl>
                                        <p:attrNameLst>
                                          <p:attrName>ppt_x</p:attrName>
                                          <p:attrName>ppt_y</p:attrName>
                                        </p:attrNameLst>
                                      </p:cBhvr>
                                      <p:rCtr x="-32865" y="-17037"/>
                                    </p:animMotion>
                                  </p:childTnLst>
                                </p:cTn>
                              </p:par>
                            </p:childTnLst>
                          </p:cTn>
                        </p:par>
                        <p:par>
                          <p:cTn id="15" fill="hold">
                            <p:stCondLst>
                              <p:cond delay="3000"/>
                            </p:stCondLst>
                            <p:childTnLst>
                              <p:par>
                                <p:cTn id="16" presetID="31" presetClass="exit" presetSubtype="0" fill="hold" grpId="1" nodeType="afterEffect">
                                  <p:stCondLst>
                                    <p:cond delay="0"/>
                                  </p:stCondLst>
                                  <p:childTnLst>
                                    <p:anim calcmode="lin" valueType="num">
                                      <p:cBhvr>
                                        <p:cTn id="17" dur="1000"/>
                                        <p:tgtEl>
                                          <p:spTgt spid="112"/>
                                        </p:tgtEl>
                                        <p:attrNameLst>
                                          <p:attrName>ppt_w</p:attrName>
                                        </p:attrNameLst>
                                      </p:cBhvr>
                                      <p:tavLst>
                                        <p:tav tm="0">
                                          <p:val>
                                            <p:strVal val="ppt_w"/>
                                          </p:val>
                                        </p:tav>
                                        <p:tav tm="100000">
                                          <p:val>
                                            <p:fltVal val="0"/>
                                          </p:val>
                                        </p:tav>
                                      </p:tavLst>
                                    </p:anim>
                                    <p:anim calcmode="lin" valueType="num">
                                      <p:cBhvr>
                                        <p:cTn id="18" dur="1000"/>
                                        <p:tgtEl>
                                          <p:spTgt spid="112"/>
                                        </p:tgtEl>
                                        <p:attrNameLst>
                                          <p:attrName>ppt_h</p:attrName>
                                        </p:attrNameLst>
                                      </p:cBhvr>
                                      <p:tavLst>
                                        <p:tav tm="0">
                                          <p:val>
                                            <p:strVal val="ppt_h"/>
                                          </p:val>
                                        </p:tav>
                                        <p:tav tm="100000">
                                          <p:val>
                                            <p:fltVal val="0"/>
                                          </p:val>
                                        </p:tav>
                                      </p:tavLst>
                                    </p:anim>
                                    <p:anim calcmode="lin" valueType="num">
                                      <p:cBhvr>
                                        <p:cTn id="19" dur="1000"/>
                                        <p:tgtEl>
                                          <p:spTgt spid="112"/>
                                        </p:tgtEl>
                                        <p:attrNameLst>
                                          <p:attrName>style.rotation</p:attrName>
                                        </p:attrNameLst>
                                      </p:cBhvr>
                                      <p:tavLst>
                                        <p:tav tm="0">
                                          <p:val>
                                            <p:fltVal val="0"/>
                                          </p:val>
                                        </p:tav>
                                        <p:tav tm="100000">
                                          <p:val>
                                            <p:fltVal val="90"/>
                                          </p:val>
                                        </p:tav>
                                      </p:tavLst>
                                    </p:anim>
                                    <p:animEffect transition="out" filter="fade">
                                      <p:cBhvr>
                                        <p:cTn id="20" dur="1000"/>
                                        <p:tgtEl>
                                          <p:spTgt spid="112"/>
                                        </p:tgtEl>
                                      </p:cBhvr>
                                    </p:animEffect>
                                    <p:set>
                                      <p:cBhvr>
                                        <p:cTn id="21" dur="1" fill="hold">
                                          <p:stCondLst>
                                            <p:cond delay="999"/>
                                          </p:stCondLst>
                                        </p:cTn>
                                        <p:tgtEl>
                                          <p:spTgt spid="112"/>
                                        </p:tgtEl>
                                        <p:attrNameLst>
                                          <p:attrName>style.visibility</p:attrName>
                                        </p:attrNameLst>
                                      </p:cBhvr>
                                      <p:to>
                                        <p:strVal val="hidden"/>
                                      </p:to>
                                    </p:set>
                                  </p:childTnLst>
                                </p:cTn>
                              </p:par>
                              <p:par>
                                <p:cTn id="22" presetID="42" presetClass="entr" presetSubtype="0" fill="hold" nodeType="withEffect">
                                  <p:stCondLst>
                                    <p:cond delay="0"/>
                                  </p:stCondLst>
                                  <p:childTnLst>
                                    <p:set>
                                      <p:cBhvr>
                                        <p:cTn id="23" dur="1" fill="hold">
                                          <p:stCondLst>
                                            <p:cond delay="0"/>
                                          </p:stCondLst>
                                        </p:cTn>
                                        <p:tgtEl>
                                          <p:spTgt spid="314"/>
                                        </p:tgtEl>
                                        <p:attrNameLst>
                                          <p:attrName>style.visibility</p:attrName>
                                        </p:attrNameLst>
                                      </p:cBhvr>
                                      <p:to>
                                        <p:strVal val="visible"/>
                                      </p:to>
                                    </p:set>
                                    <p:animEffect transition="in" filter="fade">
                                      <p:cBhvr>
                                        <p:cTn id="24" dur="1000"/>
                                        <p:tgtEl>
                                          <p:spTgt spid="314"/>
                                        </p:tgtEl>
                                      </p:cBhvr>
                                    </p:animEffect>
                                    <p:anim calcmode="lin" valueType="num">
                                      <p:cBhvr>
                                        <p:cTn id="25" dur="1000" fill="hold"/>
                                        <p:tgtEl>
                                          <p:spTgt spid="314"/>
                                        </p:tgtEl>
                                        <p:attrNameLst>
                                          <p:attrName>ppt_x</p:attrName>
                                        </p:attrNameLst>
                                      </p:cBhvr>
                                      <p:tavLst>
                                        <p:tav tm="0">
                                          <p:val>
                                            <p:strVal val="#ppt_x"/>
                                          </p:val>
                                        </p:tav>
                                        <p:tav tm="100000">
                                          <p:val>
                                            <p:strVal val="#ppt_x"/>
                                          </p:val>
                                        </p:tav>
                                      </p:tavLst>
                                    </p:anim>
                                    <p:anim calcmode="lin" valueType="num">
                                      <p:cBhvr>
                                        <p:cTn id="26" dur="1000" fill="hold"/>
                                        <p:tgtEl>
                                          <p:spTgt spid="31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25"/>
                                        </p:tgtEl>
                                        <p:attrNameLst>
                                          <p:attrName>style.visibility</p:attrName>
                                        </p:attrNameLst>
                                      </p:cBhvr>
                                      <p:to>
                                        <p:strVal val="visible"/>
                                      </p:to>
                                    </p:set>
                                    <p:animEffect transition="in" filter="fade">
                                      <p:cBhvr>
                                        <p:cTn id="29" dur="1000"/>
                                        <p:tgtEl>
                                          <p:spTgt spid="225"/>
                                        </p:tgtEl>
                                      </p:cBhvr>
                                    </p:animEffect>
                                    <p:anim calcmode="lin" valueType="num">
                                      <p:cBhvr>
                                        <p:cTn id="30" dur="1000" fill="hold"/>
                                        <p:tgtEl>
                                          <p:spTgt spid="225"/>
                                        </p:tgtEl>
                                        <p:attrNameLst>
                                          <p:attrName>ppt_x</p:attrName>
                                        </p:attrNameLst>
                                      </p:cBhvr>
                                      <p:tavLst>
                                        <p:tav tm="0">
                                          <p:val>
                                            <p:strVal val="#ppt_x"/>
                                          </p:val>
                                        </p:tav>
                                        <p:tav tm="100000">
                                          <p:val>
                                            <p:strVal val="#ppt_x"/>
                                          </p:val>
                                        </p:tav>
                                      </p:tavLst>
                                    </p:anim>
                                    <p:anim calcmode="lin" valueType="num">
                                      <p:cBhvr>
                                        <p:cTn id="31" dur="1000" fill="hold"/>
                                        <p:tgtEl>
                                          <p:spTgt spid="22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24"/>
                                        </p:tgtEl>
                                        <p:attrNameLst>
                                          <p:attrName>style.visibility</p:attrName>
                                        </p:attrNameLst>
                                      </p:cBhvr>
                                      <p:to>
                                        <p:strVal val="visible"/>
                                      </p:to>
                                    </p:set>
                                    <p:animEffect transition="in" filter="fade">
                                      <p:cBhvr>
                                        <p:cTn id="34" dur="1000"/>
                                        <p:tgtEl>
                                          <p:spTgt spid="224"/>
                                        </p:tgtEl>
                                      </p:cBhvr>
                                    </p:animEffect>
                                    <p:anim calcmode="lin" valueType="num">
                                      <p:cBhvr>
                                        <p:cTn id="35" dur="1000" fill="hold"/>
                                        <p:tgtEl>
                                          <p:spTgt spid="224"/>
                                        </p:tgtEl>
                                        <p:attrNameLst>
                                          <p:attrName>ppt_x</p:attrName>
                                        </p:attrNameLst>
                                      </p:cBhvr>
                                      <p:tavLst>
                                        <p:tav tm="0">
                                          <p:val>
                                            <p:strVal val="#ppt_x"/>
                                          </p:val>
                                        </p:tav>
                                        <p:tav tm="100000">
                                          <p:val>
                                            <p:strVal val="#ppt_x"/>
                                          </p:val>
                                        </p:tav>
                                      </p:tavLst>
                                    </p:anim>
                                    <p:anim calcmode="lin" valueType="num">
                                      <p:cBhvr>
                                        <p:cTn id="36" dur="1000" fill="hold"/>
                                        <p:tgtEl>
                                          <p:spTgt spid="22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38"/>
                                        </p:tgtEl>
                                        <p:attrNameLst>
                                          <p:attrName>style.visibility</p:attrName>
                                        </p:attrNameLst>
                                      </p:cBhvr>
                                      <p:to>
                                        <p:strVal val="visible"/>
                                      </p:to>
                                    </p:set>
                                    <p:animEffect transition="in" filter="fade">
                                      <p:cBhvr>
                                        <p:cTn id="41" dur="500"/>
                                        <p:tgtEl>
                                          <p:spTgt spid="43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96"/>
                                        </p:tgtEl>
                                        <p:attrNameLst>
                                          <p:attrName>style.visibility</p:attrName>
                                        </p:attrNameLst>
                                      </p:cBhvr>
                                      <p:to>
                                        <p:strVal val="visible"/>
                                      </p:to>
                                    </p:set>
                                    <p:animEffect transition="in" filter="fade">
                                      <p:cBhvr>
                                        <p:cTn id="44" dur="500"/>
                                        <p:tgtEl>
                                          <p:spTgt spid="396"/>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path" presetSubtype="0" accel="50000" decel="50000" fill="hold" grpId="0" nodeType="clickEffect">
                                  <p:stCondLst>
                                    <p:cond delay="0"/>
                                  </p:stCondLst>
                                  <p:childTnLst>
                                    <p:animMotion origin="layout" path="M -4.58333E-6 -4.07407E-6 L -0.25078 -0.62916 " pathEditMode="relative" rAng="0" ptsTypes="AA">
                                      <p:cBhvr>
                                        <p:cTn id="48" dur="3000" fill="hold"/>
                                        <p:tgtEl>
                                          <p:spTgt spid="113"/>
                                        </p:tgtEl>
                                        <p:attrNameLst>
                                          <p:attrName>ppt_x</p:attrName>
                                          <p:attrName>ppt_y</p:attrName>
                                        </p:attrNameLst>
                                      </p:cBhvr>
                                      <p:rCtr x="-12539" y="-31458"/>
                                    </p:animMotion>
                                  </p:childTnLst>
                                </p:cTn>
                              </p:par>
                            </p:childTnLst>
                          </p:cTn>
                        </p:par>
                        <p:par>
                          <p:cTn id="49" fill="hold">
                            <p:stCondLst>
                              <p:cond delay="3000"/>
                            </p:stCondLst>
                            <p:childTnLst>
                              <p:par>
                                <p:cTn id="50" presetID="31" presetClass="exit" presetSubtype="0" fill="hold" grpId="1" nodeType="afterEffect">
                                  <p:stCondLst>
                                    <p:cond delay="0"/>
                                  </p:stCondLst>
                                  <p:childTnLst>
                                    <p:anim calcmode="lin" valueType="num">
                                      <p:cBhvr>
                                        <p:cTn id="51" dur="1000"/>
                                        <p:tgtEl>
                                          <p:spTgt spid="113"/>
                                        </p:tgtEl>
                                        <p:attrNameLst>
                                          <p:attrName>ppt_w</p:attrName>
                                        </p:attrNameLst>
                                      </p:cBhvr>
                                      <p:tavLst>
                                        <p:tav tm="0">
                                          <p:val>
                                            <p:strVal val="ppt_w"/>
                                          </p:val>
                                        </p:tav>
                                        <p:tav tm="100000">
                                          <p:val>
                                            <p:fltVal val="0"/>
                                          </p:val>
                                        </p:tav>
                                      </p:tavLst>
                                    </p:anim>
                                    <p:anim calcmode="lin" valueType="num">
                                      <p:cBhvr>
                                        <p:cTn id="52" dur="1000"/>
                                        <p:tgtEl>
                                          <p:spTgt spid="113"/>
                                        </p:tgtEl>
                                        <p:attrNameLst>
                                          <p:attrName>ppt_h</p:attrName>
                                        </p:attrNameLst>
                                      </p:cBhvr>
                                      <p:tavLst>
                                        <p:tav tm="0">
                                          <p:val>
                                            <p:strVal val="ppt_h"/>
                                          </p:val>
                                        </p:tav>
                                        <p:tav tm="100000">
                                          <p:val>
                                            <p:fltVal val="0"/>
                                          </p:val>
                                        </p:tav>
                                      </p:tavLst>
                                    </p:anim>
                                    <p:anim calcmode="lin" valueType="num">
                                      <p:cBhvr>
                                        <p:cTn id="53" dur="1000"/>
                                        <p:tgtEl>
                                          <p:spTgt spid="113"/>
                                        </p:tgtEl>
                                        <p:attrNameLst>
                                          <p:attrName>style.rotation</p:attrName>
                                        </p:attrNameLst>
                                      </p:cBhvr>
                                      <p:tavLst>
                                        <p:tav tm="0">
                                          <p:val>
                                            <p:fltVal val="0"/>
                                          </p:val>
                                        </p:tav>
                                        <p:tav tm="100000">
                                          <p:val>
                                            <p:fltVal val="90"/>
                                          </p:val>
                                        </p:tav>
                                      </p:tavLst>
                                    </p:anim>
                                    <p:animEffect transition="out" filter="fade">
                                      <p:cBhvr>
                                        <p:cTn id="54" dur="1000"/>
                                        <p:tgtEl>
                                          <p:spTgt spid="113"/>
                                        </p:tgtEl>
                                      </p:cBhvr>
                                    </p:animEffect>
                                    <p:set>
                                      <p:cBhvr>
                                        <p:cTn id="55" dur="1" fill="hold">
                                          <p:stCondLst>
                                            <p:cond delay="999"/>
                                          </p:stCondLst>
                                        </p:cTn>
                                        <p:tgtEl>
                                          <p:spTgt spid="113"/>
                                        </p:tgtEl>
                                        <p:attrNameLst>
                                          <p:attrName>style.visibility</p:attrName>
                                        </p:attrNameLst>
                                      </p:cBhvr>
                                      <p:to>
                                        <p:strVal val="hidden"/>
                                      </p:to>
                                    </p:set>
                                  </p:childTnLst>
                                </p:cTn>
                              </p:par>
                              <p:par>
                                <p:cTn id="56" presetID="42" presetClass="entr" presetSubtype="0" fill="hold" nodeType="withEffect">
                                  <p:stCondLst>
                                    <p:cond delay="0"/>
                                  </p:stCondLst>
                                  <p:childTnLst>
                                    <p:set>
                                      <p:cBhvr>
                                        <p:cTn id="57" dur="1" fill="hold">
                                          <p:stCondLst>
                                            <p:cond delay="0"/>
                                          </p:stCondLst>
                                        </p:cTn>
                                        <p:tgtEl>
                                          <p:spTgt spid="311"/>
                                        </p:tgtEl>
                                        <p:attrNameLst>
                                          <p:attrName>style.visibility</p:attrName>
                                        </p:attrNameLst>
                                      </p:cBhvr>
                                      <p:to>
                                        <p:strVal val="visible"/>
                                      </p:to>
                                    </p:set>
                                    <p:animEffect transition="in" filter="fade">
                                      <p:cBhvr>
                                        <p:cTn id="58" dur="1000"/>
                                        <p:tgtEl>
                                          <p:spTgt spid="311"/>
                                        </p:tgtEl>
                                      </p:cBhvr>
                                    </p:animEffect>
                                    <p:anim calcmode="lin" valueType="num">
                                      <p:cBhvr>
                                        <p:cTn id="59" dur="1000" fill="hold"/>
                                        <p:tgtEl>
                                          <p:spTgt spid="311"/>
                                        </p:tgtEl>
                                        <p:attrNameLst>
                                          <p:attrName>ppt_x</p:attrName>
                                        </p:attrNameLst>
                                      </p:cBhvr>
                                      <p:tavLst>
                                        <p:tav tm="0">
                                          <p:val>
                                            <p:strVal val="#ppt_x"/>
                                          </p:val>
                                        </p:tav>
                                        <p:tav tm="100000">
                                          <p:val>
                                            <p:strVal val="#ppt_x"/>
                                          </p:val>
                                        </p:tav>
                                      </p:tavLst>
                                    </p:anim>
                                    <p:anim calcmode="lin" valueType="num">
                                      <p:cBhvr>
                                        <p:cTn id="60" dur="1000" fill="hold"/>
                                        <p:tgtEl>
                                          <p:spTgt spid="311"/>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22"/>
                                        </p:tgtEl>
                                        <p:attrNameLst>
                                          <p:attrName>style.visibility</p:attrName>
                                        </p:attrNameLst>
                                      </p:cBhvr>
                                      <p:to>
                                        <p:strVal val="visible"/>
                                      </p:to>
                                    </p:set>
                                    <p:animEffect transition="in" filter="fade">
                                      <p:cBhvr>
                                        <p:cTn id="63" dur="1000"/>
                                        <p:tgtEl>
                                          <p:spTgt spid="222"/>
                                        </p:tgtEl>
                                      </p:cBhvr>
                                    </p:animEffect>
                                    <p:anim calcmode="lin" valueType="num">
                                      <p:cBhvr>
                                        <p:cTn id="64" dur="1000" fill="hold"/>
                                        <p:tgtEl>
                                          <p:spTgt spid="222"/>
                                        </p:tgtEl>
                                        <p:attrNameLst>
                                          <p:attrName>ppt_x</p:attrName>
                                        </p:attrNameLst>
                                      </p:cBhvr>
                                      <p:tavLst>
                                        <p:tav tm="0">
                                          <p:val>
                                            <p:strVal val="#ppt_x"/>
                                          </p:val>
                                        </p:tav>
                                        <p:tav tm="100000">
                                          <p:val>
                                            <p:strVal val="#ppt_x"/>
                                          </p:val>
                                        </p:tav>
                                      </p:tavLst>
                                    </p:anim>
                                    <p:anim calcmode="lin" valueType="num">
                                      <p:cBhvr>
                                        <p:cTn id="65" dur="1000" fill="hold"/>
                                        <p:tgtEl>
                                          <p:spTgt spid="222"/>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23"/>
                                        </p:tgtEl>
                                        <p:attrNameLst>
                                          <p:attrName>style.visibility</p:attrName>
                                        </p:attrNameLst>
                                      </p:cBhvr>
                                      <p:to>
                                        <p:strVal val="visible"/>
                                      </p:to>
                                    </p:set>
                                    <p:animEffect transition="in" filter="fade">
                                      <p:cBhvr>
                                        <p:cTn id="68" dur="1000"/>
                                        <p:tgtEl>
                                          <p:spTgt spid="223"/>
                                        </p:tgtEl>
                                      </p:cBhvr>
                                    </p:animEffect>
                                    <p:anim calcmode="lin" valueType="num">
                                      <p:cBhvr>
                                        <p:cTn id="69" dur="1000" fill="hold"/>
                                        <p:tgtEl>
                                          <p:spTgt spid="223"/>
                                        </p:tgtEl>
                                        <p:attrNameLst>
                                          <p:attrName>ppt_x</p:attrName>
                                        </p:attrNameLst>
                                      </p:cBhvr>
                                      <p:tavLst>
                                        <p:tav tm="0">
                                          <p:val>
                                            <p:strVal val="#ppt_x"/>
                                          </p:val>
                                        </p:tav>
                                        <p:tav tm="100000">
                                          <p:val>
                                            <p:strVal val="#ppt_x"/>
                                          </p:val>
                                        </p:tav>
                                      </p:tavLst>
                                    </p:anim>
                                    <p:anim calcmode="lin" valueType="num">
                                      <p:cBhvr>
                                        <p:cTn id="70" dur="1000" fill="hold"/>
                                        <p:tgtEl>
                                          <p:spTgt spid="223"/>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14"/>
                                        </p:tgtEl>
                                        <p:attrNameLst>
                                          <p:attrName>style.visibility</p:attrName>
                                        </p:attrNameLst>
                                      </p:cBhvr>
                                      <p:to>
                                        <p:strVal val="visible"/>
                                      </p:to>
                                    </p:set>
                                    <p:animEffect transition="in" filter="fade">
                                      <p:cBhvr>
                                        <p:cTn id="75" dur="1000"/>
                                        <p:tgtEl>
                                          <p:spTgt spid="114"/>
                                        </p:tgtEl>
                                      </p:cBhvr>
                                    </p:animEffect>
                                    <p:anim calcmode="lin" valueType="num">
                                      <p:cBhvr>
                                        <p:cTn id="76" dur="1000" fill="hold"/>
                                        <p:tgtEl>
                                          <p:spTgt spid="114"/>
                                        </p:tgtEl>
                                        <p:attrNameLst>
                                          <p:attrName>ppt_x</p:attrName>
                                        </p:attrNameLst>
                                      </p:cBhvr>
                                      <p:tavLst>
                                        <p:tav tm="0">
                                          <p:val>
                                            <p:strVal val="#ppt_x"/>
                                          </p:val>
                                        </p:tav>
                                        <p:tav tm="100000">
                                          <p:val>
                                            <p:strVal val="#ppt_x"/>
                                          </p:val>
                                        </p:tav>
                                      </p:tavLst>
                                    </p:anim>
                                    <p:anim calcmode="lin" valueType="num">
                                      <p:cBhvr>
                                        <p:cTn id="77" dur="1000" fill="hold"/>
                                        <p:tgtEl>
                                          <p:spTgt spid="114"/>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15"/>
                                        </p:tgtEl>
                                        <p:attrNameLst>
                                          <p:attrName>style.visibility</p:attrName>
                                        </p:attrNameLst>
                                      </p:cBhvr>
                                      <p:to>
                                        <p:strVal val="visible"/>
                                      </p:to>
                                    </p:set>
                                    <p:animEffect transition="in" filter="fade">
                                      <p:cBhvr>
                                        <p:cTn id="80" dur="1000"/>
                                        <p:tgtEl>
                                          <p:spTgt spid="115"/>
                                        </p:tgtEl>
                                      </p:cBhvr>
                                    </p:animEffect>
                                    <p:anim calcmode="lin" valueType="num">
                                      <p:cBhvr>
                                        <p:cTn id="81" dur="1000" fill="hold"/>
                                        <p:tgtEl>
                                          <p:spTgt spid="115"/>
                                        </p:tgtEl>
                                        <p:attrNameLst>
                                          <p:attrName>ppt_x</p:attrName>
                                        </p:attrNameLst>
                                      </p:cBhvr>
                                      <p:tavLst>
                                        <p:tav tm="0">
                                          <p:val>
                                            <p:strVal val="#ppt_x"/>
                                          </p:val>
                                        </p:tav>
                                        <p:tav tm="100000">
                                          <p:val>
                                            <p:strVal val="#ppt_x"/>
                                          </p:val>
                                        </p:tav>
                                      </p:tavLst>
                                    </p:anim>
                                    <p:anim calcmode="lin" valueType="num">
                                      <p:cBhvr>
                                        <p:cTn id="82"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P spid="222" grpId="0"/>
      <p:bldP spid="223" grpId="0" animBg="1"/>
      <p:bldP spid="224" grpId="0"/>
      <p:bldP spid="225" grpId="0" animBg="1"/>
      <p:bldP spid="396" grpId="0"/>
      <p:bldP spid="112" grpId="0" animBg="1"/>
      <p:bldP spid="112" grpId="1" animBg="1"/>
      <p:bldP spid="113" grpId="0" animBg="1"/>
      <p:bldP spid="113" grpId="1" animBg="1"/>
      <p:bldP spid="114" grpId="0" animBg="1"/>
      <p:bldP spid="1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sp>
        <p:nvSpPr>
          <p:cNvPr id="1193" name="Google Shape;1193;p49"/>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194" name="Google Shape;1194;p49"/>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1195" name="Google Shape;1195;p49"/>
          <p:cNvGrpSpPr/>
          <p:nvPr/>
        </p:nvGrpSpPr>
        <p:grpSpPr>
          <a:xfrm>
            <a:off x="1284576" y="2130924"/>
            <a:ext cx="10188969" cy="756004"/>
            <a:chOff x="926134" y="1719856"/>
            <a:chExt cx="9204181" cy="750147"/>
          </a:xfrm>
        </p:grpSpPr>
        <p:sp>
          <p:nvSpPr>
            <p:cNvPr id="1196" name="Google Shape;1196;p49"/>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판매용 상품을 구매하고 즉시 결제함.</a:t>
              </a:r>
              <a:endParaRPr sz="2000">
                <a:solidFill>
                  <a:schemeClr val="dk1"/>
                </a:solidFill>
                <a:latin typeface="Avenir"/>
                <a:ea typeface="Avenir"/>
                <a:cs typeface="Avenir"/>
                <a:sym typeface="Avenir"/>
              </a:endParaRPr>
            </a:p>
          </p:txBody>
        </p:sp>
        <p:sp>
          <p:nvSpPr>
            <p:cNvPr id="1197" name="Google Shape;1197;p49"/>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Inventory</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10,000</a:t>
              </a:r>
              <a:endParaRPr/>
            </a:p>
          </p:txBody>
        </p:sp>
        <p:sp>
          <p:nvSpPr>
            <p:cNvPr id="1198" name="Google Shape;1198;p49"/>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Cash</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10,000</a:t>
              </a:r>
              <a:endParaRPr/>
            </a:p>
          </p:txBody>
        </p:sp>
        <p:sp>
          <p:nvSpPr>
            <p:cNvPr id="1199" name="Google Shape;1199;p49"/>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5</a:t>
              </a:r>
              <a:endParaRPr/>
            </a:p>
          </p:txBody>
        </p:sp>
      </p:grpSp>
      <p:sp>
        <p:nvSpPr>
          <p:cNvPr id="1200" name="Google Shape;1200;p49"/>
          <p:cNvSpPr txBox="1"/>
          <p:nvPr/>
        </p:nvSpPr>
        <p:spPr>
          <a:xfrm>
            <a:off x="8107403" y="2130924"/>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10,000</a:t>
            </a:r>
            <a:endParaRPr/>
          </a:p>
        </p:txBody>
      </p:sp>
      <p:sp>
        <p:nvSpPr>
          <p:cNvPr id="1201" name="Google Shape;1201;p49"/>
          <p:cNvSpPr txBox="1"/>
          <p:nvPr/>
        </p:nvSpPr>
        <p:spPr>
          <a:xfrm>
            <a:off x="9790473" y="2130924"/>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10,000</a:t>
            </a:r>
            <a:endParaRPr/>
          </a:p>
        </p:txBody>
      </p:sp>
      <p:sp>
        <p:nvSpPr>
          <p:cNvPr id="1202" name="Google Shape;1202;p49"/>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31 January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2841900"/>
            <a:ext cx="1620000" cy="1116798"/>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18" name="Rectangle 117">
            <a:extLst>
              <a:ext uri="{FF2B5EF4-FFF2-40B4-BE49-F238E27FC236}">
                <a16:creationId xmlns:a16="http://schemas.microsoft.com/office/drawing/2014/main" id="{AF0922EB-8164-D244-877C-06999BD5895D}"/>
              </a:ext>
            </a:extLst>
          </p:cNvPr>
          <p:cNvSpPr/>
          <p:nvPr/>
        </p:nvSpPr>
        <p:spPr>
          <a:xfrm>
            <a:off x="1160723" y="5021319"/>
            <a:ext cx="105384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0" name="Group 119">
            <a:extLst>
              <a:ext uri="{FF2B5EF4-FFF2-40B4-BE49-F238E27FC236}">
                <a16:creationId xmlns:a16="http://schemas.microsoft.com/office/drawing/2014/main" id="{80585D1D-6DE5-CF49-9A30-4B4FB969F7F1}"/>
              </a:ext>
            </a:extLst>
          </p:cNvPr>
          <p:cNvGrpSpPr/>
          <p:nvPr/>
        </p:nvGrpSpPr>
        <p:grpSpPr>
          <a:xfrm>
            <a:off x="1358949" y="5290348"/>
            <a:ext cx="10188967" cy="756004"/>
            <a:chOff x="926134" y="1719856"/>
            <a:chExt cx="9204181" cy="750147"/>
          </a:xfrm>
        </p:grpSpPr>
        <p:sp>
          <p:nvSpPr>
            <p:cNvPr id="122" name="TextBox 121">
              <a:extLst>
                <a:ext uri="{FF2B5EF4-FFF2-40B4-BE49-F238E27FC236}">
                  <a16:creationId xmlns:a16="http://schemas.microsoft.com/office/drawing/2014/main" id="{818016C9-0C28-A04D-A119-59740793216A}"/>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a:r>
                <a:rPr lang="en-US" sz="2000" dirty="0" err="1">
                  <a:solidFill>
                    <a:schemeClr val="dk1"/>
                  </a:solidFill>
                  <a:latin typeface="Calibri"/>
                  <a:ea typeface="Calibri"/>
                  <a:cs typeface="Calibri"/>
                  <a:sym typeface="Calibri"/>
                </a:rPr>
                <a:t>판매용</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상품을</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구매하고</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즉시</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결제함</a:t>
              </a:r>
              <a:r>
                <a:rPr lang="en-US" sz="2000" dirty="0">
                  <a:solidFill>
                    <a:schemeClr val="dk1"/>
                  </a:solidFill>
                  <a:latin typeface="Calibri"/>
                  <a:ea typeface="Calibri"/>
                  <a:cs typeface="Calibri"/>
                  <a:sym typeface="Calibri"/>
                </a:rPr>
                <a:t>.</a:t>
              </a:r>
              <a:endParaRPr lang="en-GB" sz="2000" dirty="0">
                <a:latin typeface="Avenir"/>
                <a:ea typeface="Helvetica" charset="0"/>
                <a:cs typeface="Helvetica" charset="0"/>
              </a:endParaRPr>
            </a:p>
          </p:txBody>
        </p:sp>
        <p:sp>
          <p:nvSpPr>
            <p:cNvPr id="123" name="TextBox 122">
              <a:extLst>
                <a:ext uri="{FF2B5EF4-FFF2-40B4-BE49-F238E27FC236}">
                  <a16:creationId xmlns:a16="http://schemas.microsoft.com/office/drawing/2014/main" id="{A74D1805-4C94-7F4D-A466-A5076C9901F5}"/>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Inventory</a:t>
              </a:r>
            </a:p>
            <a:p>
              <a:pPr algn="ctr"/>
              <a:r>
                <a:rPr lang="en-GB" b="1">
                  <a:solidFill>
                    <a:schemeClr val="bg1">
                      <a:lumMod val="75000"/>
                    </a:schemeClr>
                  </a:solidFill>
                  <a:latin typeface="Avenir"/>
                  <a:ea typeface="Helvetica" charset="0"/>
                  <a:cs typeface="Helvetica" charset="0"/>
                </a:rPr>
                <a:t>10,000</a:t>
              </a:r>
            </a:p>
          </p:txBody>
        </p:sp>
        <p:sp>
          <p:nvSpPr>
            <p:cNvPr id="124" name="TextBox 123">
              <a:extLst>
                <a:ext uri="{FF2B5EF4-FFF2-40B4-BE49-F238E27FC236}">
                  <a16:creationId xmlns:a16="http://schemas.microsoft.com/office/drawing/2014/main" id="{B7B2CA01-4156-4B43-B6EB-07DAA8C3CC24}"/>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Cash</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10,000</a:t>
              </a:r>
            </a:p>
          </p:txBody>
        </p:sp>
        <p:sp>
          <p:nvSpPr>
            <p:cNvPr id="125" name="TextBox 124">
              <a:extLst>
                <a:ext uri="{FF2B5EF4-FFF2-40B4-BE49-F238E27FC236}">
                  <a16:creationId xmlns:a16="http://schemas.microsoft.com/office/drawing/2014/main" id="{86A5A87A-E239-394D-B767-9EAAE21BD2F0}"/>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5</a:t>
              </a:r>
            </a:p>
          </p:txBody>
        </p:sp>
      </p:grpSp>
      <p:sp>
        <p:nvSpPr>
          <p:cNvPr id="126" name="TextBox 125">
            <a:extLst>
              <a:ext uri="{FF2B5EF4-FFF2-40B4-BE49-F238E27FC236}">
                <a16:creationId xmlns:a16="http://schemas.microsoft.com/office/drawing/2014/main" id="{0BE75EDB-6D63-8547-AE5E-FC9B20793C83}"/>
              </a:ext>
            </a:extLst>
          </p:cNvPr>
          <p:cNvSpPr txBox="1"/>
          <p:nvPr/>
        </p:nvSpPr>
        <p:spPr>
          <a:xfrm>
            <a:off x="8179227" y="5295227"/>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10,000</a:t>
            </a:r>
          </a:p>
        </p:txBody>
      </p:sp>
      <p:sp>
        <p:nvSpPr>
          <p:cNvPr id="127" name="TextBox 126">
            <a:extLst>
              <a:ext uri="{FF2B5EF4-FFF2-40B4-BE49-F238E27FC236}">
                <a16:creationId xmlns:a16="http://schemas.microsoft.com/office/drawing/2014/main" id="{916D460A-6788-5049-8C2E-BFE16F5DF4DA}"/>
              </a:ext>
            </a:extLst>
          </p:cNvPr>
          <p:cNvSpPr txBox="1"/>
          <p:nvPr/>
        </p:nvSpPr>
        <p:spPr>
          <a:xfrm>
            <a:off x="9862297" y="5299340"/>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10,000</a:t>
            </a:r>
          </a:p>
        </p:txBody>
      </p:sp>
      <p:sp>
        <p:nvSpPr>
          <p:cNvPr id="128" name="Down Arrow 127">
            <a:extLst>
              <a:ext uri="{FF2B5EF4-FFF2-40B4-BE49-F238E27FC236}">
                <a16:creationId xmlns:a16="http://schemas.microsoft.com/office/drawing/2014/main" id="{7422EA72-FB25-E149-816F-CBF513336209}"/>
              </a:ext>
            </a:extLst>
          </p:cNvPr>
          <p:cNvSpPr/>
          <p:nvPr/>
        </p:nvSpPr>
        <p:spPr>
          <a:xfrm rot="10800000">
            <a:off x="153289" y="837337"/>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Down Arrow 128">
            <a:extLst>
              <a:ext uri="{FF2B5EF4-FFF2-40B4-BE49-F238E27FC236}">
                <a16:creationId xmlns:a16="http://schemas.microsoft.com/office/drawing/2014/main" id="{5B686437-E4E6-1D45-83CC-45F759943EE4}"/>
              </a:ext>
            </a:extLst>
          </p:cNvPr>
          <p:cNvSpPr/>
          <p:nvPr/>
        </p:nvSpPr>
        <p:spPr>
          <a:xfrm>
            <a:off x="154198" y="1922421"/>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2434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58333E-6 2.22222E-6 L -0.58893 -0.48357 " pathEditMode="relative" rAng="0" ptsTypes="AA">
                                      <p:cBhvr>
                                        <p:cTn id="6" dur="3000" fill="hold"/>
                                        <p:tgtEl>
                                          <p:spTgt spid="127"/>
                                        </p:tgtEl>
                                        <p:attrNameLst>
                                          <p:attrName>ppt_x</p:attrName>
                                          <p:attrName>ppt_y</p:attrName>
                                        </p:attrNameLst>
                                      </p:cBhvr>
                                      <p:rCtr x="-29453" y="-24190"/>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127"/>
                                        </p:tgtEl>
                                        <p:attrNameLst>
                                          <p:attrName>ppt_w</p:attrName>
                                        </p:attrNameLst>
                                      </p:cBhvr>
                                      <p:tavLst>
                                        <p:tav tm="0">
                                          <p:val>
                                            <p:strVal val="ppt_w"/>
                                          </p:val>
                                        </p:tav>
                                        <p:tav tm="100000">
                                          <p:val>
                                            <p:fltVal val="0"/>
                                          </p:val>
                                        </p:tav>
                                      </p:tavLst>
                                    </p:anim>
                                    <p:anim calcmode="lin" valueType="num">
                                      <p:cBhvr>
                                        <p:cTn id="10" dur="1000"/>
                                        <p:tgtEl>
                                          <p:spTgt spid="127"/>
                                        </p:tgtEl>
                                        <p:attrNameLst>
                                          <p:attrName>ppt_h</p:attrName>
                                        </p:attrNameLst>
                                      </p:cBhvr>
                                      <p:tavLst>
                                        <p:tav tm="0">
                                          <p:val>
                                            <p:strVal val="ppt_h"/>
                                          </p:val>
                                        </p:tav>
                                        <p:tav tm="100000">
                                          <p:val>
                                            <p:fltVal val="0"/>
                                          </p:val>
                                        </p:tav>
                                      </p:tavLst>
                                    </p:anim>
                                    <p:anim calcmode="lin" valueType="num">
                                      <p:cBhvr>
                                        <p:cTn id="11" dur="1000"/>
                                        <p:tgtEl>
                                          <p:spTgt spid="127"/>
                                        </p:tgtEl>
                                        <p:attrNameLst>
                                          <p:attrName>style.rotation</p:attrName>
                                        </p:attrNameLst>
                                      </p:cBhvr>
                                      <p:tavLst>
                                        <p:tav tm="0">
                                          <p:val>
                                            <p:fltVal val="0"/>
                                          </p:val>
                                        </p:tav>
                                        <p:tav tm="100000">
                                          <p:val>
                                            <p:fltVal val="90"/>
                                          </p:val>
                                        </p:tav>
                                      </p:tavLst>
                                    </p:anim>
                                    <p:animEffect transition="out" filter="fade">
                                      <p:cBhvr>
                                        <p:cTn id="12" dur="1000"/>
                                        <p:tgtEl>
                                          <p:spTgt spid="127"/>
                                        </p:tgtEl>
                                      </p:cBhvr>
                                    </p:animEffect>
                                    <p:set>
                                      <p:cBhvr>
                                        <p:cTn id="13" dur="1" fill="hold">
                                          <p:stCondLst>
                                            <p:cond delay="999"/>
                                          </p:stCondLst>
                                        </p:cTn>
                                        <p:tgtEl>
                                          <p:spTgt spid="127"/>
                                        </p:tgtEl>
                                        <p:attrNameLst>
                                          <p:attrName>style.visibility</p:attrName>
                                        </p:attrNameLst>
                                      </p:cBhvr>
                                      <p:to>
                                        <p:strVal val="hidden"/>
                                      </p:to>
                                    </p:set>
                                  </p:childTnLst>
                                </p:cTn>
                              </p:par>
                              <p:par>
                                <p:cTn id="14" presetID="47" presetClass="entr" presetSubtype="0" fill="hold" nodeType="withEffect">
                                  <p:stCondLst>
                                    <p:cond delay="0"/>
                                  </p:stCondLst>
                                  <p:childTnLst>
                                    <p:set>
                                      <p:cBhvr>
                                        <p:cTn id="15" dur="1" fill="hold">
                                          <p:stCondLst>
                                            <p:cond delay="0"/>
                                          </p:stCondLst>
                                        </p:cTn>
                                        <p:tgtEl>
                                          <p:spTgt spid="290"/>
                                        </p:tgtEl>
                                        <p:attrNameLst>
                                          <p:attrName>style.visibility</p:attrName>
                                        </p:attrNameLst>
                                      </p:cBhvr>
                                      <p:to>
                                        <p:strVal val="visible"/>
                                      </p:to>
                                    </p:set>
                                    <p:animEffect transition="in" filter="fade">
                                      <p:cBhvr>
                                        <p:cTn id="16" dur="1000"/>
                                        <p:tgtEl>
                                          <p:spTgt spid="290"/>
                                        </p:tgtEl>
                                      </p:cBhvr>
                                    </p:animEffect>
                                    <p:anim calcmode="lin" valueType="num">
                                      <p:cBhvr>
                                        <p:cTn id="17" dur="1000" fill="hold"/>
                                        <p:tgtEl>
                                          <p:spTgt spid="290"/>
                                        </p:tgtEl>
                                        <p:attrNameLst>
                                          <p:attrName>ppt_x</p:attrName>
                                        </p:attrNameLst>
                                      </p:cBhvr>
                                      <p:tavLst>
                                        <p:tav tm="0">
                                          <p:val>
                                            <p:strVal val="#ppt_x"/>
                                          </p:val>
                                        </p:tav>
                                        <p:tav tm="100000">
                                          <p:val>
                                            <p:strVal val="#ppt_x"/>
                                          </p:val>
                                        </p:tav>
                                      </p:tavLst>
                                    </p:anim>
                                    <p:anim calcmode="lin" valueType="num">
                                      <p:cBhvr>
                                        <p:cTn id="18" dur="1000" fill="hold"/>
                                        <p:tgtEl>
                                          <p:spTgt spid="290"/>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203"/>
                                        </p:tgtEl>
                                        <p:attrNameLst>
                                          <p:attrName>style.visibility</p:attrName>
                                        </p:attrNameLst>
                                      </p:cBhvr>
                                      <p:to>
                                        <p:strVal val="visible"/>
                                      </p:to>
                                    </p:set>
                                    <p:animEffect transition="in" filter="fade">
                                      <p:cBhvr>
                                        <p:cTn id="21" dur="1000"/>
                                        <p:tgtEl>
                                          <p:spTgt spid="203"/>
                                        </p:tgtEl>
                                      </p:cBhvr>
                                    </p:animEffect>
                                    <p:anim calcmode="lin" valueType="num">
                                      <p:cBhvr>
                                        <p:cTn id="22" dur="1000" fill="hold"/>
                                        <p:tgtEl>
                                          <p:spTgt spid="203"/>
                                        </p:tgtEl>
                                        <p:attrNameLst>
                                          <p:attrName>ppt_x</p:attrName>
                                        </p:attrNameLst>
                                      </p:cBhvr>
                                      <p:tavLst>
                                        <p:tav tm="0">
                                          <p:val>
                                            <p:strVal val="#ppt_x"/>
                                          </p:val>
                                        </p:tav>
                                        <p:tav tm="100000">
                                          <p:val>
                                            <p:strVal val="#ppt_x"/>
                                          </p:val>
                                        </p:tav>
                                      </p:tavLst>
                                    </p:anim>
                                    <p:anim calcmode="lin" valueType="num">
                                      <p:cBhvr>
                                        <p:cTn id="23" dur="1000" fill="hold"/>
                                        <p:tgtEl>
                                          <p:spTgt spid="203"/>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178"/>
                                        </p:tgtEl>
                                        <p:attrNameLst>
                                          <p:attrName>style.visibility</p:attrName>
                                        </p:attrNameLst>
                                      </p:cBhvr>
                                      <p:to>
                                        <p:strVal val="visible"/>
                                      </p:to>
                                    </p:set>
                                    <p:animEffect transition="in" filter="fade">
                                      <p:cBhvr>
                                        <p:cTn id="26" dur="1000"/>
                                        <p:tgtEl>
                                          <p:spTgt spid="178"/>
                                        </p:tgtEl>
                                      </p:cBhvr>
                                    </p:animEffect>
                                    <p:anim calcmode="lin" valueType="num">
                                      <p:cBhvr>
                                        <p:cTn id="27" dur="1000" fill="hold"/>
                                        <p:tgtEl>
                                          <p:spTgt spid="178"/>
                                        </p:tgtEl>
                                        <p:attrNameLst>
                                          <p:attrName>ppt_x</p:attrName>
                                        </p:attrNameLst>
                                      </p:cBhvr>
                                      <p:tavLst>
                                        <p:tav tm="0">
                                          <p:val>
                                            <p:strVal val="#ppt_x"/>
                                          </p:val>
                                        </p:tav>
                                        <p:tav tm="100000">
                                          <p:val>
                                            <p:strVal val="#ppt_x"/>
                                          </p:val>
                                        </p:tav>
                                      </p:tavLst>
                                    </p:anim>
                                    <p:anim calcmode="lin" valueType="num">
                                      <p:cBhvr>
                                        <p:cTn id="28" dur="1000" fill="hold"/>
                                        <p:tgtEl>
                                          <p:spTgt spid="17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8"/>
                                        </p:tgtEl>
                                        <p:attrNameLst>
                                          <p:attrName>style.visibility</p:attrName>
                                        </p:attrNameLst>
                                      </p:cBhvr>
                                      <p:to>
                                        <p:strVal val="visible"/>
                                      </p:to>
                                    </p:set>
                                    <p:animEffect transition="in" filter="fade">
                                      <p:cBhvr>
                                        <p:cTn id="33" dur="500"/>
                                        <p:tgtEl>
                                          <p:spTgt spid="108"/>
                                        </p:tgtEl>
                                      </p:cBhvr>
                                    </p:animEffect>
                                  </p:childTnLst>
                                </p:cTn>
                              </p:par>
                              <p:par>
                                <p:cTn id="34" presetID="10" presetClass="entr" presetSubtype="0" fill="hold" nodeType="withEffect">
                                  <p:stCondLst>
                                    <p:cond delay="0"/>
                                  </p:stCondLst>
                                  <p:childTnLst>
                                    <p:set>
                                      <p:cBhvr>
                                        <p:cTn id="35" dur="1" fill="hold">
                                          <p:stCondLst>
                                            <p:cond delay="0"/>
                                          </p:stCondLst>
                                        </p:cTn>
                                        <p:tgtEl>
                                          <p:spTgt spid="68"/>
                                        </p:tgtEl>
                                        <p:attrNameLst>
                                          <p:attrName>style.visibility</p:attrName>
                                        </p:attrNameLst>
                                      </p:cBhvr>
                                      <p:to>
                                        <p:strVal val="visible"/>
                                      </p:to>
                                    </p:set>
                                    <p:animEffect transition="in" filter="fade">
                                      <p:cBhvr>
                                        <p:cTn id="36" dur="500"/>
                                        <p:tgtEl>
                                          <p:spTgt spid="68"/>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0" nodeType="clickEffect">
                                  <p:stCondLst>
                                    <p:cond delay="0"/>
                                  </p:stCondLst>
                                  <p:childTnLst>
                                    <p:animMotion origin="layout" path="M -3.75E-6 -4.81481E-6 L -0.33242 -0.36319 " pathEditMode="relative" rAng="0" ptsTypes="AA">
                                      <p:cBhvr>
                                        <p:cTn id="40" dur="3000" fill="hold"/>
                                        <p:tgtEl>
                                          <p:spTgt spid="126"/>
                                        </p:tgtEl>
                                        <p:attrNameLst>
                                          <p:attrName>ppt_x</p:attrName>
                                          <p:attrName>ppt_y</p:attrName>
                                        </p:attrNameLst>
                                      </p:cBhvr>
                                      <p:rCtr x="-16628" y="-18171"/>
                                    </p:animMotion>
                                  </p:childTnLst>
                                </p:cTn>
                              </p:par>
                            </p:childTnLst>
                          </p:cTn>
                        </p:par>
                        <p:par>
                          <p:cTn id="41" fill="hold">
                            <p:stCondLst>
                              <p:cond delay="3000"/>
                            </p:stCondLst>
                            <p:childTnLst>
                              <p:par>
                                <p:cTn id="42" presetID="31" presetClass="exit" presetSubtype="0" fill="hold" grpId="1" nodeType="afterEffect">
                                  <p:stCondLst>
                                    <p:cond delay="0"/>
                                  </p:stCondLst>
                                  <p:childTnLst>
                                    <p:anim calcmode="lin" valueType="num">
                                      <p:cBhvr>
                                        <p:cTn id="43" dur="1000"/>
                                        <p:tgtEl>
                                          <p:spTgt spid="126"/>
                                        </p:tgtEl>
                                        <p:attrNameLst>
                                          <p:attrName>ppt_w</p:attrName>
                                        </p:attrNameLst>
                                      </p:cBhvr>
                                      <p:tavLst>
                                        <p:tav tm="0">
                                          <p:val>
                                            <p:strVal val="ppt_w"/>
                                          </p:val>
                                        </p:tav>
                                        <p:tav tm="100000">
                                          <p:val>
                                            <p:fltVal val="0"/>
                                          </p:val>
                                        </p:tav>
                                      </p:tavLst>
                                    </p:anim>
                                    <p:anim calcmode="lin" valueType="num">
                                      <p:cBhvr>
                                        <p:cTn id="44" dur="1000"/>
                                        <p:tgtEl>
                                          <p:spTgt spid="126"/>
                                        </p:tgtEl>
                                        <p:attrNameLst>
                                          <p:attrName>ppt_h</p:attrName>
                                        </p:attrNameLst>
                                      </p:cBhvr>
                                      <p:tavLst>
                                        <p:tav tm="0">
                                          <p:val>
                                            <p:strVal val="ppt_h"/>
                                          </p:val>
                                        </p:tav>
                                        <p:tav tm="100000">
                                          <p:val>
                                            <p:fltVal val="0"/>
                                          </p:val>
                                        </p:tav>
                                      </p:tavLst>
                                    </p:anim>
                                    <p:anim calcmode="lin" valueType="num">
                                      <p:cBhvr>
                                        <p:cTn id="45" dur="1000"/>
                                        <p:tgtEl>
                                          <p:spTgt spid="126"/>
                                        </p:tgtEl>
                                        <p:attrNameLst>
                                          <p:attrName>style.rotation</p:attrName>
                                        </p:attrNameLst>
                                      </p:cBhvr>
                                      <p:tavLst>
                                        <p:tav tm="0">
                                          <p:val>
                                            <p:fltVal val="0"/>
                                          </p:val>
                                        </p:tav>
                                        <p:tav tm="100000">
                                          <p:val>
                                            <p:fltVal val="90"/>
                                          </p:val>
                                        </p:tav>
                                      </p:tavLst>
                                    </p:anim>
                                    <p:animEffect transition="out" filter="fade">
                                      <p:cBhvr>
                                        <p:cTn id="46" dur="1000"/>
                                        <p:tgtEl>
                                          <p:spTgt spid="126"/>
                                        </p:tgtEl>
                                      </p:cBhvr>
                                    </p:animEffect>
                                    <p:set>
                                      <p:cBhvr>
                                        <p:cTn id="47" dur="1" fill="hold">
                                          <p:stCondLst>
                                            <p:cond delay="999"/>
                                          </p:stCondLst>
                                        </p:cTn>
                                        <p:tgtEl>
                                          <p:spTgt spid="126"/>
                                        </p:tgtEl>
                                        <p:attrNameLst>
                                          <p:attrName>style.visibility</p:attrName>
                                        </p:attrNameLst>
                                      </p:cBhvr>
                                      <p:to>
                                        <p:strVal val="hidden"/>
                                      </p:to>
                                    </p:set>
                                  </p:childTnLst>
                                </p:cTn>
                              </p:par>
                              <p:par>
                                <p:cTn id="48" presetID="42" presetClass="entr" presetSubtype="0" fill="hold" nodeType="withEffect">
                                  <p:stCondLst>
                                    <p:cond delay="0"/>
                                  </p:stCondLst>
                                  <p:childTnLst>
                                    <p:set>
                                      <p:cBhvr>
                                        <p:cTn id="49" dur="1" fill="hold">
                                          <p:stCondLst>
                                            <p:cond delay="0"/>
                                          </p:stCondLst>
                                        </p:cTn>
                                        <p:tgtEl>
                                          <p:spTgt spid="317"/>
                                        </p:tgtEl>
                                        <p:attrNameLst>
                                          <p:attrName>style.visibility</p:attrName>
                                        </p:attrNameLst>
                                      </p:cBhvr>
                                      <p:to>
                                        <p:strVal val="visible"/>
                                      </p:to>
                                    </p:set>
                                    <p:animEffect transition="in" filter="fade">
                                      <p:cBhvr>
                                        <p:cTn id="50" dur="1000"/>
                                        <p:tgtEl>
                                          <p:spTgt spid="317"/>
                                        </p:tgtEl>
                                      </p:cBhvr>
                                    </p:animEffect>
                                    <p:anim calcmode="lin" valueType="num">
                                      <p:cBhvr>
                                        <p:cTn id="51" dur="1000" fill="hold"/>
                                        <p:tgtEl>
                                          <p:spTgt spid="317"/>
                                        </p:tgtEl>
                                        <p:attrNameLst>
                                          <p:attrName>ppt_x</p:attrName>
                                        </p:attrNameLst>
                                      </p:cBhvr>
                                      <p:tavLst>
                                        <p:tav tm="0">
                                          <p:val>
                                            <p:strVal val="#ppt_x"/>
                                          </p:val>
                                        </p:tav>
                                        <p:tav tm="100000">
                                          <p:val>
                                            <p:strVal val="#ppt_x"/>
                                          </p:val>
                                        </p:tav>
                                      </p:tavLst>
                                    </p:anim>
                                    <p:anim calcmode="lin" valueType="num">
                                      <p:cBhvr>
                                        <p:cTn id="52" dur="1000" fill="hold"/>
                                        <p:tgtEl>
                                          <p:spTgt spid="317"/>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28"/>
                                        </p:tgtEl>
                                        <p:attrNameLst>
                                          <p:attrName>style.visibility</p:attrName>
                                        </p:attrNameLst>
                                      </p:cBhvr>
                                      <p:to>
                                        <p:strVal val="visible"/>
                                      </p:to>
                                    </p:set>
                                    <p:animEffect transition="in" filter="fade">
                                      <p:cBhvr>
                                        <p:cTn id="55" dur="1000"/>
                                        <p:tgtEl>
                                          <p:spTgt spid="228"/>
                                        </p:tgtEl>
                                      </p:cBhvr>
                                    </p:animEffect>
                                    <p:anim calcmode="lin" valueType="num">
                                      <p:cBhvr>
                                        <p:cTn id="56" dur="1000" fill="hold"/>
                                        <p:tgtEl>
                                          <p:spTgt spid="228"/>
                                        </p:tgtEl>
                                        <p:attrNameLst>
                                          <p:attrName>ppt_x</p:attrName>
                                        </p:attrNameLst>
                                      </p:cBhvr>
                                      <p:tavLst>
                                        <p:tav tm="0">
                                          <p:val>
                                            <p:strVal val="#ppt_x"/>
                                          </p:val>
                                        </p:tav>
                                        <p:tav tm="100000">
                                          <p:val>
                                            <p:strVal val="#ppt_x"/>
                                          </p:val>
                                        </p:tav>
                                      </p:tavLst>
                                    </p:anim>
                                    <p:anim calcmode="lin" valueType="num">
                                      <p:cBhvr>
                                        <p:cTn id="57" dur="1000" fill="hold"/>
                                        <p:tgtEl>
                                          <p:spTgt spid="228"/>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13"/>
                                        </p:tgtEl>
                                        <p:attrNameLst>
                                          <p:attrName>style.visibility</p:attrName>
                                        </p:attrNameLst>
                                      </p:cBhvr>
                                      <p:to>
                                        <p:strVal val="visible"/>
                                      </p:to>
                                    </p:set>
                                    <p:animEffect transition="in" filter="fade">
                                      <p:cBhvr>
                                        <p:cTn id="60" dur="1000"/>
                                        <p:tgtEl>
                                          <p:spTgt spid="213"/>
                                        </p:tgtEl>
                                      </p:cBhvr>
                                    </p:animEffect>
                                    <p:anim calcmode="lin" valueType="num">
                                      <p:cBhvr>
                                        <p:cTn id="61" dur="1000" fill="hold"/>
                                        <p:tgtEl>
                                          <p:spTgt spid="213"/>
                                        </p:tgtEl>
                                        <p:attrNameLst>
                                          <p:attrName>ppt_x</p:attrName>
                                        </p:attrNameLst>
                                      </p:cBhvr>
                                      <p:tavLst>
                                        <p:tav tm="0">
                                          <p:val>
                                            <p:strVal val="#ppt_x"/>
                                          </p:val>
                                        </p:tav>
                                        <p:tav tm="100000">
                                          <p:val>
                                            <p:strVal val="#ppt_x"/>
                                          </p:val>
                                        </p:tav>
                                      </p:tavLst>
                                    </p:anim>
                                    <p:anim calcmode="lin" valueType="num">
                                      <p:cBhvr>
                                        <p:cTn id="62" dur="1000" fill="hold"/>
                                        <p:tgtEl>
                                          <p:spTgt spid="213"/>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28"/>
                                        </p:tgtEl>
                                        <p:attrNameLst>
                                          <p:attrName>style.visibility</p:attrName>
                                        </p:attrNameLst>
                                      </p:cBhvr>
                                      <p:to>
                                        <p:strVal val="visible"/>
                                      </p:to>
                                    </p:set>
                                    <p:animEffect transition="in" filter="fade">
                                      <p:cBhvr>
                                        <p:cTn id="67" dur="1000"/>
                                        <p:tgtEl>
                                          <p:spTgt spid="128"/>
                                        </p:tgtEl>
                                      </p:cBhvr>
                                    </p:animEffect>
                                    <p:anim calcmode="lin" valueType="num">
                                      <p:cBhvr>
                                        <p:cTn id="68" dur="1000" fill="hold"/>
                                        <p:tgtEl>
                                          <p:spTgt spid="128"/>
                                        </p:tgtEl>
                                        <p:attrNameLst>
                                          <p:attrName>ppt_x</p:attrName>
                                        </p:attrNameLst>
                                      </p:cBhvr>
                                      <p:tavLst>
                                        <p:tav tm="0">
                                          <p:val>
                                            <p:strVal val="#ppt_x"/>
                                          </p:val>
                                        </p:tav>
                                        <p:tav tm="100000">
                                          <p:val>
                                            <p:strVal val="#ppt_x"/>
                                          </p:val>
                                        </p:tav>
                                      </p:tavLst>
                                    </p:anim>
                                    <p:anim calcmode="lin" valueType="num">
                                      <p:cBhvr>
                                        <p:cTn id="69" dur="1000" fill="hold"/>
                                        <p:tgtEl>
                                          <p:spTgt spid="128"/>
                                        </p:tgtEl>
                                        <p:attrNameLst>
                                          <p:attrName>ppt_y</p:attrName>
                                        </p:attrNameLst>
                                      </p:cBhvr>
                                      <p:tavLst>
                                        <p:tav tm="0">
                                          <p:val>
                                            <p:strVal val="#ppt_y+.1"/>
                                          </p:val>
                                        </p:tav>
                                        <p:tav tm="100000">
                                          <p:val>
                                            <p:strVal val="#ppt_y"/>
                                          </p:val>
                                        </p:tav>
                                      </p:tavLst>
                                    </p:anim>
                                  </p:childTnLst>
                                </p:cTn>
                              </p:par>
                              <p:par>
                                <p:cTn id="70" presetID="47" presetClass="entr" presetSubtype="0" fill="hold" grpId="0" nodeType="withEffect">
                                  <p:stCondLst>
                                    <p:cond delay="0"/>
                                  </p:stCondLst>
                                  <p:childTnLst>
                                    <p:set>
                                      <p:cBhvr>
                                        <p:cTn id="71" dur="1" fill="hold">
                                          <p:stCondLst>
                                            <p:cond delay="0"/>
                                          </p:stCondLst>
                                        </p:cTn>
                                        <p:tgtEl>
                                          <p:spTgt spid="129"/>
                                        </p:tgtEl>
                                        <p:attrNameLst>
                                          <p:attrName>style.visibility</p:attrName>
                                        </p:attrNameLst>
                                      </p:cBhvr>
                                      <p:to>
                                        <p:strVal val="visible"/>
                                      </p:to>
                                    </p:set>
                                    <p:animEffect transition="in" filter="fade">
                                      <p:cBhvr>
                                        <p:cTn id="72" dur="1000"/>
                                        <p:tgtEl>
                                          <p:spTgt spid="129"/>
                                        </p:tgtEl>
                                      </p:cBhvr>
                                    </p:animEffect>
                                    <p:anim calcmode="lin" valueType="num">
                                      <p:cBhvr>
                                        <p:cTn id="73" dur="1000" fill="hold"/>
                                        <p:tgtEl>
                                          <p:spTgt spid="129"/>
                                        </p:tgtEl>
                                        <p:attrNameLst>
                                          <p:attrName>ppt_x</p:attrName>
                                        </p:attrNameLst>
                                      </p:cBhvr>
                                      <p:tavLst>
                                        <p:tav tm="0">
                                          <p:val>
                                            <p:strVal val="#ppt_x"/>
                                          </p:val>
                                        </p:tav>
                                        <p:tav tm="100000">
                                          <p:val>
                                            <p:strVal val="#ppt_x"/>
                                          </p:val>
                                        </p:tav>
                                      </p:tavLst>
                                    </p:anim>
                                    <p:anim calcmode="lin" valueType="num">
                                      <p:cBhvr>
                                        <p:cTn id="74" dur="1000" fill="hold"/>
                                        <p:tgtEl>
                                          <p:spTgt spid="1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78" grpId="0"/>
      <p:bldP spid="203" grpId="0" animBg="1"/>
      <p:bldP spid="213" grpId="0"/>
      <p:bldP spid="228" grpId="0" animBg="1"/>
      <p:bldP spid="126" grpId="0" animBg="1"/>
      <p:bldP spid="126" grpId="1" animBg="1"/>
      <p:bldP spid="127" grpId="0" animBg="1"/>
      <p:bldP spid="127" grpId="1" animBg="1"/>
      <p:bldP spid="128" grpId="0" animBg="1"/>
      <p:bldP spid="12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10"/>
        <p:cNvGrpSpPr/>
        <p:nvPr/>
      </p:nvGrpSpPr>
      <p:grpSpPr>
        <a:xfrm>
          <a:off x="0" y="0"/>
          <a:ext cx="0" cy="0"/>
          <a:chOff x="0" y="0"/>
          <a:chExt cx="0" cy="0"/>
        </a:xfrm>
      </p:grpSpPr>
      <p:sp>
        <p:nvSpPr>
          <p:cNvPr id="1311" name="Google Shape;1311;p51"/>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000" b="1">
                <a:solidFill>
                  <a:schemeClr val="accent4"/>
                </a:solidFill>
                <a:latin typeface="Avenir"/>
                <a:ea typeface="Avenir"/>
                <a:cs typeface="Avenir"/>
                <a:sym typeface="Avenir"/>
              </a:rPr>
              <a:t>4: Classic Transactions</a:t>
            </a:r>
            <a:endParaRPr/>
          </a:p>
        </p:txBody>
      </p:sp>
      <p:pic>
        <p:nvPicPr>
          <p:cNvPr id="1312" name="Google Shape;1312;p51"/>
          <p:cNvPicPr preferRelativeResize="0"/>
          <p:nvPr/>
        </p:nvPicPr>
        <p:blipFill rotWithShape="1">
          <a:blip r:embed="rId3">
            <a:alphaModFix/>
          </a:blip>
          <a:srcRect/>
          <a:stretch/>
        </p:blipFill>
        <p:spPr>
          <a:xfrm>
            <a:off x="2583598" y="1991460"/>
            <a:ext cx="7024804" cy="3871757"/>
          </a:xfrm>
          <a:prstGeom prst="rect">
            <a:avLst/>
          </a:prstGeom>
          <a:noFill/>
          <a:ln>
            <a:noFill/>
          </a:ln>
        </p:spPr>
      </p:pic>
      <p:sp>
        <p:nvSpPr>
          <p:cNvPr id="1313" name="Google Shape;1313;p51"/>
          <p:cNvSpPr/>
          <p:nvPr/>
        </p:nvSpPr>
        <p:spPr>
          <a:xfrm rot="10800000">
            <a:off x="3523786" y="2697463"/>
            <a:ext cx="1750318" cy="2499004"/>
          </a:xfrm>
          <a:prstGeom prst="downArrow">
            <a:avLst>
              <a:gd name="adj1" fmla="val 50000"/>
              <a:gd name="adj2" fmla="val 50000"/>
            </a:avLst>
          </a:prstGeom>
          <a:solidFill>
            <a:schemeClr val="accent6">
              <a:alpha val="77647"/>
            </a:scheme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4" name="Google Shape;1314;p51"/>
          <p:cNvSpPr/>
          <p:nvPr/>
        </p:nvSpPr>
        <p:spPr>
          <a:xfrm rot="10800000">
            <a:off x="7099147" y="2697464"/>
            <a:ext cx="1750318" cy="2499004"/>
          </a:xfrm>
          <a:prstGeom prst="downArrow">
            <a:avLst>
              <a:gd name="adj1" fmla="val 50000"/>
              <a:gd name="adj2" fmla="val 50000"/>
            </a:avLst>
          </a:prstGeom>
          <a:solidFill>
            <a:schemeClr val="accent2">
              <a:alpha val="77647"/>
            </a:scheme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3"/>
                                        </p:tgtEl>
                                        <p:attrNameLst>
                                          <p:attrName>style.visibility</p:attrName>
                                        </p:attrNameLst>
                                      </p:cBhvr>
                                      <p:to>
                                        <p:strVal val="visible"/>
                                      </p:to>
                                    </p:set>
                                    <p:animEffect transition="in" filter="fade">
                                      <p:cBhvr>
                                        <p:cTn id="7" dur="1000"/>
                                        <p:tgtEl>
                                          <p:spTgt spid="1313"/>
                                        </p:tgtEl>
                                      </p:cBhvr>
                                    </p:animEffect>
                                  </p:childTnLst>
                                </p:cTn>
                              </p:par>
                              <p:par>
                                <p:cTn id="8" presetID="10" presetClass="entr" presetSubtype="0" fill="hold" nodeType="withEffect">
                                  <p:stCondLst>
                                    <p:cond delay="0"/>
                                  </p:stCondLst>
                                  <p:childTnLst>
                                    <p:set>
                                      <p:cBhvr>
                                        <p:cTn id="9" dur="1" fill="hold">
                                          <p:stCondLst>
                                            <p:cond delay="0"/>
                                          </p:stCondLst>
                                        </p:cTn>
                                        <p:tgtEl>
                                          <p:spTgt spid="1314"/>
                                        </p:tgtEl>
                                        <p:attrNameLst>
                                          <p:attrName>style.visibility</p:attrName>
                                        </p:attrNameLst>
                                      </p:cBhvr>
                                      <p:to>
                                        <p:strVal val="visible"/>
                                      </p:to>
                                    </p:set>
                                    <p:animEffect transition="in" filter="fade">
                                      <p:cBhvr>
                                        <p:cTn id="10" dur="1000"/>
                                        <p:tgtEl>
                                          <p:spTgt spid="1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19"/>
        <p:cNvGrpSpPr/>
        <p:nvPr/>
      </p:nvGrpSpPr>
      <p:grpSpPr>
        <a:xfrm>
          <a:off x="0" y="0"/>
          <a:ext cx="0" cy="0"/>
          <a:chOff x="0" y="0"/>
          <a:chExt cx="0" cy="0"/>
        </a:xfrm>
      </p:grpSpPr>
      <p:sp>
        <p:nvSpPr>
          <p:cNvPr id="1320" name="Google Shape;1320;p52"/>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000" b="1">
                <a:solidFill>
                  <a:schemeClr val="accent4"/>
                </a:solidFill>
                <a:latin typeface="Avenir"/>
                <a:ea typeface="Avenir"/>
                <a:cs typeface="Avenir"/>
                <a:sym typeface="Avenir"/>
              </a:rPr>
              <a:t>4: Classic Transactions</a:t>
            </a:r>
            <a:endParaRPr/>
          </a:p>
        </p:txBody>
      </p:sp>
      <p:pic>
        <p:nvPicPr>
          <p:cNvPr id="1321" name="Google Shape;1321;p52"/>
          <p:cNvPicPr preferRelativeResize="0"/>
          <p:nvPr/>
        </p:nvPicPr>
        <p:blipFill rotWithShape="1">
          <a:blip r:embed="rId3">
            <a:alphaModFix/>
          </a:blip>
          <a:srcRect/>
          <a:stretch/>
        </p:blipFill>
        <p:spPr>
          <a:xfrm>
            <a:off x="2583598" y="1991460"/>
            <a:ext cx="7024804" cy="3871757"/>
          </a:xfrm>
          <a:prstGeom prst="rect">
            <a:avLst/>
          </a:prstGeom>
          <a:noFill/>
          <a:ln>
            <a:noFill/>
          </a:ln>
        </p:spPr>
      </p:pic>
      <p:sp>
        <p:nvSpPr>
          <p:cNvPr id="1322" name="Google Shape;1322;p52"/>
          <p:cNvSpPr/>
          <p:nvPr/>
        </p:nvSpPr>
        <p:spPr>
          <a:xfrm>
            <a:off x="7104240" y="2697463"/>
            <a:ext cx="1750318" cy="2499004"/>
          </a:xfrm>
          <a:prstGeom prst="downArrow">
            <a:avLst>
              <a:gd name="adj1" fmla="val 50000"/>
              <a:gd name="adj2" fmla="val 50000"/>
            </a:avLst>
          </a:prstGeom>
          <a:solidFill>
            <a:schemeClr val="accent6">
              <a:alpha val="77647"/>
            </a:scheme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3" name="Google Shape;1323;p52"/>
          <p:cNvSpPr/>
          <p:nvPr/>
        </p:nvSpPr>
        <p:spPr>
          <a:xfrm>
            <a:off x="3523786" y="2697463"/>
            <a:ext cx="1750318" cy="2499004"/>
          </a:xfrm>
          <a:prstGeom prst="downArrow">
            <a:avLst>
              <a:gd name="adj1" fmla="val 50000"/>
              <a:gd name="adj2" fmla="val 50000"/>
            </a:avLst>
          </a:prstGeom>
          <a:solidFill>
            <a:schemeClr val="accent2">
              <a:alpha val="77647"/>
            </a:scheme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2"/>
                                        </p:tgtEl>
                                        <p:attrNameLst>
                                          <p:attrName>style.visibility</p:attrName>
                                        </p:attrNameLst>
                                      </p:cBhvr>
                                      <p:to>
                                        <p:strVal val="visible"/>
                                      </p:to>
                                    </p:set>
                                    <p:animEffect transition="in" filter="fade">
                                      <p:cBhvr>
                                        <p:cTn id="7" dur="1000"/>
                                        <p:tgtEl>
                                          <p:spTgt spid="1322"/>
                                        </p:tgtEl>
                                      </p:cBhvr>
                                    </p:animEffect>
                                  </p:childTnLst>
                                </p:cTn>
                              </p:par>
                              <p:par>
                                <p:cTn id="8" presetID="10" presetClass="entr" presetSubtype="0" fill="hold" nodeType="withEffect">
                                  <p:stCondLst>
                                    <p:cond delay="0"/>
                                  </p:stCondLst>
                                  <p:childTnLst>
                                    <p:set>
                                      <p:cBhvr>
                                        <p:cTn id="9" dur="1" fill="hold">
                                          <p:stCondLst>
                                            <p:cond delay="0"/>
                                          </p:stCondLst>
                                        </p:cTn>
                                        <p:tgtEl>
                                          <p:spTgt spid="1323"/>
                                        </p:tgtEl>
                                        <p:attrNameLst>
                                          <p:attrName>style.visibility</p:attrName>
                                        </p:attrNameLst>
                                      </p:cBhvr>
                                      <p:to>
                                        <p:strVal val="visible"/>
                                      </p:to>
                                    </p:set>
                                    <p:animEffect transition="in" filter="fade">
                                      <p:cBhvr>
                                        <p:cTn id="10" dur="1000"/>
                                        <p:tgtEl>
                                          <p:spTgt spid="1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8"/>
        <p:cNvGrpSpPr/>
        <p:nvPr/>
      </p:nvGrpSpPr>
      <p:grpSpPr>
        <a:xfrm>
          <a:off x="0" y="0"/>
          <a:ext cx="0" cy="0"/>
          <a:chOff x="0" y="0"/>
          <a:chExt cx="0" cy="0"/>
        </a:xfrm>
      </p:grpSpPr>
      <p:sp>
        <p:nvSpPr>
          <p:cNvPr id="1329" name="Google Shape;1329;p53"/>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000" b="1">
                <a:solidFill>
                  <a:schemeClr val="accent4"/>
                </a:solidFill>
                <a:latin typeface="Avenir"/>
                <a:ea typeface="Avenir"/>
                <a:cs typeface="Avenir"/>
                <a:sym typeface="Avenir"/>
              </a:rPr>
              <a:t>4: Classic Transactions</a:t>
            </a:r>
            <a:endParaRPr/>
          </a:p>
        </p:txBody>
      </p:sp>
      <p:pic>
        <p:nvPicPr>
          <p:cNvPr id="1330" name="Google Shape;1330;p53"/>
          <p:cNvPicPr preferRelativeResize="0"/>
          <p:nvPr/>
        </p:nvPicPr>
        <p:blipFill rotWithShape="1">
          <a:blip r:embed="rId3">
            <a:alphaModFix/>
          </a:blip>
          <a:srcRect/>
          <a:stretch/>
        </p:blipFill>
        <p:spPr>
          <a:xfrm>
            <a:off x="2583598" y="1991460"/>
            <a:ext cx="7024804" cy="3871757"/>
          </a:xfrm>
          <a:prstGeom prst="rect">
            <a:avLst/>
          </a:prstGeom>
          <a:noFill/>
          <a:ln>
            <a:noFill/>
          </a:ln>
        </p:spPr>
      </p:pic>
      <p:sp>
        <p:nvSpPr>
          <p:cNvPr id="1331" name="Google Shape;1331;p53"/>
          <p:cNvSpPr/>
          <p:nvPr/>
        </p:nvSpPr>
        <p:spPr>
          <a:xfrm>
            <a:off x="4223753" y="2733025"/>
            <a:ext cx="1750318" cy="2499004"/>
          </a:xfrm>
          <a:prstGeom prst="downArrow">
            <a:avLst>
              <a:gd name="adj1" fmla="val 50000"/>
              <a:gd name="adj2" fmla="val 50000"/>
            </a:avLst>
          </a:prstGeom>
          <a:solidFill>
            <a:schemeClr val="accent2">
              <a:alpha val="77647"/>
            </a:scheme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2" name="Google Shape;1332;p53"/>
          <p:cNvSpPr/>
          <p:nvPr/>
        </p:nvSpPr>
        <p:spPr>
          <a:xfrm rot="10800000">
            <a:off x="2777934" y="2677836"/>
            <a:ext cx="1750318" cy="2499004"/>
          </a:xfrm>
          <a:prstGeom prst="downArrow">
            <a:avLst>
              <a:gd name="adj1" fmla="val 50000"/>
              <a:gd name="adj2" fmla="val 50000"/>
            </a:avLst>
          </a:prstGeom>
          <a:solidFill>
            <a:schemeClr val="accent6">
              <a:alpha val="77647"/>
            </a:scheme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2"/>
                                        </p:tgtEl>
                                        <p:attrNameLst>
                                          <p:attrName>style.visibility</p:attrName>
                                        </p:attrNameLst>
                                      </p:cBhvr>
                                      <p:to>
                                        <p:strVal val="visible"/>
                                      </p:to>
                                    </p:set>
                                    <p:animEffect transition="in" filter="fade">
                                      <p:cBhvr>
                                        <p:cTn id="7" dur="1000"/>
                                        <p:tgtEl>
                                          <p:spTgt spid="1332"/>
                                        </p:tgtEl>
                                      </p:cBhvr>
                                    </p:animEffect>
                                  </p:childTnLst>
                                </p:cTn>
                              </p:par>
                              <p:par>
                                <p:cTn id="8" presetID="10" presetClass="entr" presetSubtype="0" fill="hold" nodeType="withEffect">
                                  <p:stCondLst>
                                    <p:cond delay="0"/>
                                  </p:stCondLst>
                                  <p:childTnLst>
                                    <p:set>
                                      <p:cBhvr>
                                        <p:cTn id="9" dur="1" fill="hold">
                                          <p:stCondLst>
                                            <p:cond delay="0"/>
                                          </p:stCondLst>
                                        </p:cTn>
                                        <p:tgtEl>
                                          <p:spTgt spid="1331"/>
                                        </p:tgtEl>
                                        <p:attrNameLst>
                                          <p:attrName>style.visibility</p:attrName>
                                        </p:attrNameLst>
                                      </p:cBhvr>
                                      <p:to>
                                        <p:strVal val="visible"/>
                                      </p:to>
                                    </p:set>
                                    <p:animEffect transition="in" filter="fade">
                                      <p:cBhvr>
                                        <p:cTn id="10" dur="1000"/>
                                        <p:tgtEl>
                                          <p:spTgt spid="1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7"/>
        <p:cNvGrpSpPr/>
        <p:nvPr/>
      </p:nvGrpSpPr>
      <p:grpSpPr>
        <a:xfrm>
          <a:off x="0" y="0"/>
          <a:ext cx="0" cy="0"/>
          <a:chOff x="0" y="0"/>
          <a:chExt cx="0" cy="0"/>
        </a:xfrm>
      </p:grpSpPr>
      <p:sp>
        <p:nvSpPr>
          <p:cNvPr id="1338" name="Google Shape;1338;p54"/>
          <p:cNvSpPr txBox="1"/>
          <p:nvPr/>
        </p:nvSpPr>
        <p:spPr>
          <a:xfrm>
            <a:off x="0" y="-2"/>
            <a:ext cx="12192000" cy="1080000"/>
          </a:xfrm>
          <a:prstGeom prst="rect">
            <a:avLst/>
          </a:prstGeom>
          <a:solidFill>
            <a:srgbClr val="521B93"/>
          </a:solidFill>
          <a:ln>
            <a:noFill/>
          </a:ln>
        </p:spPr>
        <p:txBody>
          <a:bodyPr spcFirstLastPara="1" wrap="square" lIns="91425" tIns="45700" rIns="91425" bIns="45700" anchor="ctr" anchorCtr="0">
            <a:noAutofit/>
          </a:bodyPr>
          <a:lstStyle/>
          <a:p>
            <a:pPr marL="363538" marR="0" lvl="0" indent="0" algn="l" rtl="0">
              <a:lnSpc>
                <a:spcPct val="120000"/>
              </a:lnSpc>
              <a:spcBef>
                <a:spcPts val="0"/>
              </a:spcBef>
              <a:spcAft>
                <a:spcPts val="0"/>
              </a:spcAft>
              <a:buNone/>
            </a:pPr>
            <a:r>
              <a:rPr lang="en-US" sz="4000" b="1">
                <a:solidFill>
                  <a:schemeClr val="accent4"/>
                </a:solidFill>
                <a:latin typeface="Avenir"/>
                <a:ea typeface="Avenir"/>
                <a:cs typeface="Avenir"/>
                <a:sym typeface="Avenir"/>
              </a:rPr>
              <a:t>4: Classic Transactions</a:t>
            </a:r>
            <a:endParaRPr/>
          </a:p>
        </p:txBody>
      </p:sp>
      <p:pic>
        <p:nvPicPr>
          <p:cNvPr id="1339" name="Google Shape;1339;p54"/>
          <p:cNvPicPr preferRelativeResize="0"/>
          <p:nvPr/>
        </p:nvPicPr>
        <p:blipFill rotWithShape="1">
          <a:blip r:embed="rId3">
            <a:alphaModFix/>
          </a:blip>
          <a:srcRect/>
          <a:stretch/>
        </p:blipFill>
        <p:spPr>
          <a:xfrm>
            <a:off x="2583598" y="1991460"/>
            <a:ext cx="7024804" cy="3871757"/>
          </a:xfrm>
          <a:prstGeom prst="rect">
            <a:avLst/>
          </a:prstGeom>
          <a:noFill/>
          <a:ln>
            <a:noFill/>
          </a:ln>
        </p:spPr>
      </p:pic>
      <p:sp>
        <p:nvSpPr>
          <p:cNvPr id="1340" name="Google Shape;1340;p54"/>
          <p:cNvSpPr/>
          <p:nvPr/>
        </p:nvSpPr>
        <p:spPr>
          <a:xfrm rot="10800000">
            <a:off x="7749957" y="2778197"/>
            <a:ext cx="1750318" cy="2499004"/>
          </a:xfrm>
          <a:prstGeom prst="downArrow">
            <a:avLst>
              <a:gd name="adj1" fmla="val 50000"/>
              <a:gd name="adj2" fmla="val 50000"/>
            </a:avLst>
          </a:prstGeom>
          <a:solidFill>
            <a:schemeClr val="accent2">
              <a:alpha val="77647"/>
            </a:scheme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41" name="Google Shape;1341;p54"/>
          <p:cNvSpPr/>
          <p:nvPr/>
        </p:nvSpPr>
        <p:spPr>
          <a:xfrm>
            <a:off x="6324021" y="2778197"/>
            <a:ext cx="1750318" cy="2499004"/>
          </a:xfrm>
          <a:prstGeom prst="downArrow">
            <a:avLst>
              <a:gd name="adj1" fmla="val 50000"/>
              <a:gd name="adj2" fmla="val 50000"/>
            </a:avLst>
          </a:prstGeom>
          <a:solidFill>
            <a:schemeClr val="accent6">
              <a:alpha val="77647"/>
            </a:schemeClr>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1"/>
                                        </p:tgtEl>
                                        <p:attrNameLst>
                                          <p:attrName>style.visibility</p:attrName>
                                        </p:attrNameLst>
                                      </p:cBhvr>
                                      <p:to>
                                        <p:strVal val="visible"/>
                                      </p:to>
                                    </p:set>
                                    <p:animEffect transition="in" filter="fade">
                                      <p:cBhvr>
                                        <p:cTn id="7" dur="1000"/>
                                        <p:tgtEl>
                                          <p:spTgt spid="1341"/>
                                        </p:tgtEl>
                                      </p:cBhvr>
                                    </p:animEffect>
                                  </p:childTnLst>
                                </p:cTn>
                              </p:par>
                              <p:par>
                                <p:cTn id="8" presetID="10" presetClass="entr" presetSubtype="0" fill="hold" nodeType="withEffect">
                                  <p:stCondLst>
                                    <p:cond delay="0"/>
                                  </p:stCondLst>
                                  <p:childTnLst>
                                    <p:set>
                                      <p:cBhvr>
                                        <p:cTn id="9" dur="1" fill="hold">
                                          <p:stCondLst>
                                            <p:cond delay="0"/>
                                          </p:stCondLst>
                                        </p:cTn>
                                        <p:tgtEl>
                                          <p:spTgt spid="1340"/>
                                        </p:tgtEl>
                                        <p:attrNameLst>
                                          <p:attrName>style.visibility</p:attrName>
                                        </p:attrNameLst>
                                      </p:cBhvr>
                                      <p:to>
                                        <p:strVal val="visible"/>
                                      </p:to>
                                    </p:set>
                                    <p:animEffect transition="in" filter="fade">
                                      <p:cBhvr>
                                        <p:cTn id="10" dur="1000"/>
                                        <p:tgtEl>
                                          <p:spTgt spid="1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46"/>
        <p:cNvGrpSpPr/>
        <p:nvPr/>
      </p:nvGrpSpPr>
      <p:grpSpPr>
        <a:xfrm>
          <a:off x="0" y="0"/>
          <a:ext cx="0" cy="0"/>
          <a:chOff x="0" y="0"/>
          <a:chExt cx="0" cy="0"/>
        </a:xfrm>
      </p:grpSpPr>
      <p:sp>
        <p:nvSpPr>
          <p:cNvPr id="1347" name="Google Shape;1347;p55"/>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348" name="Google Shape;1348;p55"/>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1349" name="Google Shape;1349;p55"/>
          <p:cNvGrpSpPr/>
          <p:nvPr/>
        </p:nvGrpSpPr>
        <p:grpSpPr>
          <a:xfrm>
            <a:off x="999639" y="2571411"/>
            <a:ext cx="10188969" cy="756004"/>
            <a:chOff x="926134" y="1719856"/>
            <a:chExt cx="9204181" cy="750147"/>
          </a:xfrm>
        </p:grpSpPr>
        <p:sp>
          <p:nvSpPr>
            <p:cNvPr id="1350" name="Google Shape;1350;p55"/>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고객 A에게 첫 판매를 진행했고, 현장에서 현금으로 결제받아 은행에 입금함.</a:t>
              </a:r>
              <a:endParaRPr sz="2000">
                <a:solidFill>
                  <a:schemeClr val="dk1"/>
                </a:solidFill>
                <a:latin typeface="Avenir"/>
                <a:ea typeface="Avenir"/>
                <a:cs typeface="Avenir"/>
                <a:sym typeface="Avenir"/>
              </a:endParaRPr>
            </a:p>
          </p:txBody>
        </p:sp>
        <p:sp>
          <p:nvSpPr>
            <p:cNvPr id="1351" name="Google Shape;1351;p55"/>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Cash</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700</a:t>
              </a:r>
              <a:endParaRPr/>
            </a:p>
          </p:txBody>
        </p:sp>
        <p:sp>
          <p:nvSpPr>
            <p:cNvPr id="1352" name="Google Shape;1352;p55"/>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Sales</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700</a:t>
              </a:r>
              <a:endParaRPr/>
            </a:p>
          </p:txBody>
        </p:sp>
        <p:sp>
          <p:nvSpPr>
            <p:cNvPr id="1353" name="Google Shape;1353;p55"/>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6a</a:t>
              </a:r>
              <a:endParaRPr/>
            </a:p>
          </p:txBody>
        </p:sp>
      </p:grpSp>
      <p:sp>
        <p:nvSpPr>
          <p:cNvPr id="1354" name="Google Shape;1354;p55"/>
          <p:cNvSpPr txBox="1"/>
          <p:nvPr/>
        </p:nvSpPr>
        <p:spPr>
          <a:xfrm>
            <a:off x="7824336" y="2571411"/>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700</a:t>
            </a:r>
            <a:endParaRPr/>
          </a:p>
        </p:txBody>
      </p:sp>
      <p:sp>
        <p:nvSpPr>
          <p:cNvPr id="1355" name="Google Shape;1355;p55"/>
          <p:cNvSpPr txBox="1"/>
          <p:nvPr/>
        </p:nvSpPr>
        <p:spPr>
          <a:xfrm>
            <a:off x="9507406" y="2571411"/>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700</a:t>
            </a:r>
            <a:endParaRPr/>
          </a:p>
        </p:txBody>
      </p:sp>
      <p:sp>
        <p:nvSpPr>
          <p:cNvPr id="1356" name="Google Shape;1356;p55"/>
          <p:cNvSpPr/>
          <p:nvPr/>
        </p:nvSpPr>
        <p:spPr>
          <a:xfrm>
            <a:off x="999641" y="1961030"/>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4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2476442"/>
            <a:ext cx="1620000" cy="1482255"/>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23" name="Group 422">
            <a:extLst>
              <a:ext uri="{FF2B5EF4-FFF2-40B4-BE49-F238E27FC236}">
                <a16:creationId xmlns:a16="http://schemas.microsoft.com/office/drawing/2014/main" id="{7B802F43-9F5E-A14B-9D86-B2DA6CA6BAF3}"/>
              </a:ext>
            </a:extLst>
          </p:cNvPr>
          <p:cNvGrpSpPr/>
          <p:nvPr/>
        </p:nvGrpSpPr>
        <p:grpSpPr>
          <a:xfrm>
            <a:off x="6407036" y="5399219"/>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32" name="Rectangle 131">
            <a:extLst>
              <a:ext uri="{FF2B5EF4-FFF2-40B4-BE49-F238E27FC236}">
                <a16:creationId xmlns:a16="http://schemas.microsoft.com/office/drawing/2014/main" id="{DF52BC89-15DA-5E43-B5AC-A3B5A49E2638}"/>
              </a:ext>
            </a:extLst>
          </p:cNvPr>
          <p:cNvSpPr/>
          <p:nvPr/>
        </p:nvSpPr>
        <p:spPr>
          <a:xfrm>
            <a:off x="1596631" y="986980"/>
            <a:ext cx="105384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3" name="Group 132">
            <a:extLst>
              <a:ext uri="{FF2B5EF4-FFF2-40B4-BE49-F238E27FC236}">
                <a16:creationId xmlns:a16="http://schemas.microsoft.com/office/drawing/2014/main" id="{E40ED511-26CA-F846-8292-6447CE38715B}"/>
              </a:ext>
            </a:extLst>
          </p:cNvPr>
          <p:cNvGrpSpPr/>
          <p:nvPr/>
        </p:nvGrpSpPr>
        <p:grpSpPr>
          <a:xfrm>
            <a:off x="1803373" y="1256144"/>
            <a:ext cx="10188967" cy="756004"/>
            <a:chOff x="926134" y="1719856"/>
            <a:chExt cx="9204181" cy="750147"/>
          </a:xfrm>
        </p:grpSpPr>
        <p:sp>
          <p:nvSpPr>
            <p:cNvPr id="134" name="TextBox 133">
              <a:extLst>
                <a:ext uri="{FF2B5EF4-FFF2-40B4-BE49-F238E27FC236}">
                  <a16:creationId xmlns:a16="http://schemas.microsoft.com/office/drawing/2014/main" id="{7513DBB7-0FAE-9A45-8601-E933A5124509}"/>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고객 </a:t>
              </a:r>
              <a:r>
                <a:rPr lang="en-US" altLang="ko-KR" sz="2000" dirty="0">
                  <a:solidFill>
                    <a:schemeClr val="dk1"/>
                  </a:solidFill>
                  <a:latin typeface="Calibri"/>
                  <a:ea typeface="Calibri"/>
                  <a:cs typeface="Calibri"/>
                  <a:sym typeface="Calibri"/>
                </a:rPr>
                <a:t>A</a:t>
              </a:r>
              <a:r>
                <a:rPr lang="ko-KR" altLang="en-US" sz="2000" dirty="0">
                  <a:solidFill>
                    <a:schemeClr val="dk1"/>
                  </a:solidFill>
                  <a:latin typeface="Calibri"/>
                  <a:ea typeface="Calibri"/>
                  <a:cs typeface="Calibri"/>
                  <a:sym typeface="Calibri"/>
                </a:rPr>
                <a:t>에게 첫 판매를 진행했고</a:t>
              </a:r>
              <a:r>
                <a:rPr lang="en-US" altLang="ko-KR" sz="2000" dirty="0">
                  <a:solidFill>
                    <a:schemeClr val="dk1"/>
                  </a:solidFill>
                  <a:latin typeface="Calibri"/>
                  <a:ea typeface="Calibri"/>
                  <a:cs typeface="Calibri"/>
                  <a:sym typeface="Calibri"/>
                </a:rPr>
                <a:t>, </a:t>
              </a:r>
              <a:r>
                <a:rPr lang="ko-KR" altLang="en-US" sz="2000" dirty="0">
                  <a:solidFill>
                    <a:schemeClr val="dk1"/>
                  </a:solidFill>
                  <a:latin typeface="Calibri"/>
                  <a:ea typeface="Calibri"/>
                  <a:cs typeface="Calibri"/>
                  <a:sym typeface="Calibri"/>
                </a:rPr>
                <a:t>현장에서 현금으로 </a:t>
              </a:r>
              <a:r>
                <a:rPr lang="ko-KR" altLang="en-US" sz="2000" dirty="0" err="1">
                  <a:solidFill>
                    <a:schemeClr val="dk1"/>
                  </a:solidFill>
                  <a:latin typeface="Calibri"/>
                  <a:ea typeface="Calibri"/>
                  <a:cs typeface="Calibri"/>
                  <a:sym typeface="Calibri"/>
                </a:rPr>
                <a:t>결제받아</a:t>
              </a:r>
              <a:r>
                <a:rPr lang="ko-KR" altLang="en-US" sz="2000" dirty="0">
                  <a:solidFill>
                    <a:schemeClr val="dk1"/>
                  </a:solidFill>
                  <a:latin typeface="Calibri"/>
                  <a:ea typeface="Calibri"/>
                  <a:cs typeface="Calibri"/>
                  <a:sym typeface="Calibri"/>
                </a:rPr>
                <a:t> 은행에 입금함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135" name="TextBox 134">
              <a:extLst>
                <a:ext uri="{FF2B5EF4-FFF2-40B4-BE49-F238E27FC236}">
                  <a16:creationId xmlns:a16="http://schemas.microsoft.com/office/drawing/2014/main" id="{281A4EBA-B235-6045-A9A0-C155857E1319}"/>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Cash</a:t>
              </a:r>
            </a:p>
            <a:p>
              <a:pPr algn="ctr"/>
              <a:r>
                <a:rPr lang="en-GB" b="1">
                  <a:solidFill>
                    <a:schemeClr val="bg1">
                      <a:lumMod val="75000"/>
                    </a:schemeClr>
                  </a:solidFill>
                  <a:latin typeface="Avenir"/>
                  <a:ea typeface="Helvetica" charset="0"/>
                  <a:cs typeface="Helvetica" charset="0"/>
                </a:rPr>
                <a:t>700</a:t>
              </a:r>
            </a:p>
          </p:txBody>
        </p:sp>
        <p:sp>
          <p:nvSpPr>
            <p:cNvPr id="136" name="TextBox 135">
              <a:extLst>
                <a:ext uri="{FF2B5EF4-FFF2-40B4-BE49-F238E27FC236}">
                  <a16:creationId xmlns:a16="http://schemas.microsoft.com/office/drawing/2014/main" id="{38EBB7AD-0CDE-084F-AEC1-2A81B5D2CCB7}"/>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Sales</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700</a:t>
              </a:r>
            </a:p>
          </p:txBody>
        </p:sp>
        <p:sp>
          <p:nvSpPr>
            <p:cNvPr id="137" name="TextBox 136">
              <a:extLst>
                <a:ext uri="{FF2B5EF4-FFF2-40B4-BE49-F238E27FC236}">
                  <a16:creationId xmlns:a16="http://schemas.microsoft.com/office/drawing/2014/main" id="{4F7637FB-A670-AA43-9B46-E0C82F66DDCB}"/>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6a</a:t>
              </a:r>
            </a:p>
          </p:txBody>
        </p:sp>
      </p:grpSp>
      <p:sp>
        <p:nvSpPr>
          <p:cNvPr id="138" name="TextBox 137">
            <a:extLst>
              <a:ext uri="{FF2B5EF4-FFF2-40B4-BE49-F238E27FC236}">
                <a16:creationId xmlns:a16="http://schemas.microsoft.com/office/drawing/2014/main" id="{73E8A1A7-725A-1A47-89EC-72F7CEA69BFC}"/>
              </a:ext>
            </a:extLst>
          </p:cNvPr>
          <p:cNvSpPr txBox="1"/>
          <p:nvPr/>
        </p:nvSpPr>
        <p:spPr>
          <a:xfrm>
            <a:off x="10300754" y="1263694"/>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700</a:t>
            </a:r>
          </a:p>
        </p:txBody>
      </p:sp>
      <p:sp>
        <p:nvSpPr>
          <p:cNvPr id="139" name="TextBox 138">
            <a:extLst>
              <a:ext uri="{FF2B5EF4-FFF2-40B4-BE49-F238E27FC236}">
                <a16:creationId xmlns:a16="http://schemas.microsoft.com/office/drawing/2014/main" id="{6189A5CC-40C0-644F-8FB9-52C532A706F4}"/>
              </a:ext>
            </a:extLst>
          </p:cNvPr>
          <p:cNvSpPr txBox="1"/>
          <p:nvPr/>
        </p:nvSpPr>
        <p:spPr>
          <a:xfrm>
            <a:off x="8617684" y="1259581"/>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700</a:t>
            </a:r>
          </a:p>
        </p:txBody>
      </p:sp>
      <p:sp>
        <p:nvSpPr>
          <p:cNvPr id="140" name="Down Arrow 139">
            <a:extLst>
              <a:ext uri="{FF2B5EF4-FFF2-40B4-BE49-F238E27FC236}">
                <a16:creationId xmlns:a16="http://schemas.microsoft.com/office/drawing/2014/main" id="{34514EB3-A5E6-B046-B229-F722620F4E27}"/>
              </a:ext>
            </a:extLst>
          </p:cNvPr>
          <p:cNvSpPr/>
          <p:nvPr/>
        </p:nvSpPr>
        <p:spPr>
          <a:xfrm rot="10800000">
            <a:off x="11184791" y="4639323"/>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1" name="Down Arrow 140">
            <a:extLst>
              <a:ext uri="{FF2B5EF4-FFF2-40B4-BE49-F238E27FC236}">
                <a16:creationId xmlns:a16="http://schemas.microsoft.com/office/drawing/2014/main" id="{CC1182AA-1143-2343-84BF-E405EBD26847}"/>
              </a:ext>
            </a:extLst>
          </p:cNvPr>
          <p:cNvSpPr/>
          <p:nvPr/>
        </p:nvSpPr>
        <p:spPr>
          <a:xfrm rot="10800000">
            <a:off x="141439" y="830760"/>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BCF6E3C-873E-2440-9C02-442182672799}"/>
              </a:ext>
            </a:extLst>
          </p:cNvPr>
          <p:cNvSpPr txBox="1"/>
          <p:nvPr/>
        </p:nvSpPr>
        <p:spPr>
          <a:xfrm>
            <a:off x="6423872" y="3419412"/>
            <a:ext cx="1548343" cy="566133"/>
          </a:xfrm>
          <a:prstGeom prst="rect">
            <a:avLst/>
          </a:prstGeom>
          <a:noFill/>
        </p:spPr>
        <p:txBody>
          <a:bodyPr wrap="square" rtlCol="0" anchor="ctr">
            <a:noAutofit/>
          </a:bodyPr>
          <a:lstStyle/>
          <a:p>
            <a:pPr algn="ctr"/>
            <a:r>
              <a:rPr lang="en-US" sz="2400" b="1">
                <a:latin typeface="Avenir"/>
              </a:rPr>
              <a:t>700</a:t>
            </a:r>
            <a:endParaRPr lang="en-GB" sz="2400"/>
          </a:p>
        </p:txBody>
      </p:sp>
    </p:spTree>
    <p:extLst>
      <p:ext uri="{BB962C8B-B14F-4D97-AF65-F5344CB8AC3E}">
        <p14:creationId xmlns:p14="http://schemas.microsoft.com/office/powerpoint/2010/main" val="170398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25E-6 2.59259E-6 L -0.5013 0.08217 " pathEditMode="relative" rAng="0" ptsTypes="AA">
                                      <p:cBhvr>
                                        <p:cTn id="6" dur="3000" fill="hold"/>
                                        <p:tgtEl>
                                          <p:spTgt spid="139"/>
                                        </p:tgtEl>
                                        <p:attrNameLst>
                                          <p:attrName>ppt_x</p:attrName>
                                          <p:attrName>ppt_y</p:attrName>
                                        </p:attrNameLst>
                                      </p:cBhvr>
                                      <p:rCtr x="-25065" y="4097"/>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139"/>
                                        </p:tgtEl>
                                        <p:attrNameLst>
                                          <p:attrName>ppt_w</p:attrName>
                                        </p:attrNameLst>
                                      </p:cBhvr>
                                      <p:tavLst>
                                        <p:tav tm="0">
                                          <p:val>
                                            <p:strVal val="ppt_w"/>
                                          </p:val>
                                        </p:tav>
                                        <p:tav tm="100000">
                                          <p:val>
                                            <p:fltVal val="0"/>
                                          </p:val>
                                        </p:tav>
                                      </p:tavLst>
                                    </p:anim>
                                    <p:anim calcmode="lin" valueType="num">
                                      <p:cBhvr>
                                        <p:cTn id="10" dur="1000"/>
                                        <p:tgtEl>
                                          <p:spTgt spid="139"/>
                                        </p:tgtEl>
                                        <p:attrNameLst>
                                          <p:attrName>ppt_h</p:attrName>
                                        </p:attrNameLst>
                                      </p:cBhvr>
                                      <p:tavLst>
                                        <p:tav tm="0">
                                          <p:val>
                                            <p:strVal val="ppt_h"/>
                                          </p:val>
                                        </p:tav>
                                        <p:tav tm="100000">
                                          <p:val>
                                            <p:fltVal val="0"/>
                                          </p:val>
                                        </p:tav>
                                      </p:tavLst>
                                    </p:anim>
                                    <p:anim calcmode="lin" valueType="num">
                                      <p:cBhvr>
                                        <p:cTn id="11" dur="1000"/>
                                        <p:tgtEl>
                                          <p:spTgt spid="139"/>
                                        </p:tgtEl>
                                        <p:attrNameLst>
                                          <p:attrName>style.rotation</p:attrName>
                                        </p:attrNameLst>
                                      </p:cBhvr>
                                      <p:tavLst>
                                        <p:tav tm="0">
                                          <p:val>
                                            <p:fltVal val="0"/>
                                          </p:val>
                                        </p:tav>
                                        <p:tav tm="100000">
                                          <p:val>
                                            <p:fltVal val="90"/>
                                          </p:val>
                                        </p:tav>
                                      </p:tavLst>
                                    </p:anim>
                                    <p:animEffect transition="out" filter="fade">
                                      <p:cBhvr>
                                        <p:cTn id="12" dur="1000"/>
                                        <p:tgtEl>
                                          <p:spTgt spid="139"/>
                                        </p:tgtEl>
                                      </p:cBhvr>
                                    </p:animEffect>
                                    <p:set>
                                      <p:cBhvr>
                                        <p:cTn id="13" dur="1" fill="hold">
                                          <p:stCondLst>
                                            <p:cond delay="999"/>
                                          </p:stCondLst>
                                        </p:cTn>
                                        <p:tgtEl>
                                          <p:spTgt spid="139"/>
                                        </p:tgtEl>
                                        <p:attrNameLst>
                                          <p:attrName>style.visibility</p:attrName>
                                        </p:attrNameLst>
                                      </p:cBhvr>
                                      <p:to>
                                        <p:strVal val="hidden"/>
                                      </p:to>
                                    </p:set>
                                  </p:childTnLst>
                                </p:cTn>
                              </p:par>
                              <p:par>
                                <p:cTn id="14" presetID="42" presetClass="entr" presetSubtype="0" fill="hold" nodeType="withEffect">
                                  <p:stCondLst>
                                    <p:cond delay="0"/>
                                  </p:stCondLst>
                                  <p:childTnLst>
                                    <p:set>
                                      <p:cBhvr>
                                        <p:cTn id="15" dur="1" fill="hold">
                                          <p:stCondLst>
                                            <p:cond delay="0"/>
                                          </p:stCondLst>
                                        </p:cTn>
                                        <p:tgtEl>
                                          <p:spTgt spid="287"/>
                                        </p:tgtEl>
                                        <p:attrNameLst>
                                          <p:attrName>style.visibility</p:attrName>
                                        </p:attrNameLst>
                                      </p:cBhvr>
                                      <p:to>
                                        <p:strVal val="visible"/>
                                      </p:to>
                                    </p:set>
                                    <p:animEffect transition="in" filter="fade">
                                      <p:cBhvr>
                                        <p:cTn id="16" dur="1000"/>
                                        <p:tgtEl>
                                          <p:spTgt spid="287"/>
                                        </p:tgtEl>
                                      </p:cBhvr>
                                    </p:animEffect>
                                    <p:anim calcmode="lin" valueType="num">
                                      <p:cBhvr>
                                        <p:cTn id="17" dur="1000" fill="hold"/>
                                        <p:tgtEl>
                                          <p:spTgt spid="287"/>
                                        </p:tgtEl>
                                        <p:attrNameLst>
                                          <p:attrName>ppt_x</p:attrName>
                                        </p:attrNameLst>
                                      </p:cBhvr>
                                      <p:tavLst>
                                        <p:tav tm="0">
                                          <p:val>
                                            <p:strVal val="#ppt_x"/>
                                          </p:val>
                                        </p:tav>
                                        <p:tav tm="100000">
                                          <p:val>
                                            <p:strVal val="#ppt_x"/>
                                          </p:val>
                                        </p:tav>
                                      </p:tavLst>
                                    </p:anim>
                                    <p:anim calcmode="lin" valueType="num">
                                      <p:cBhvr>
                                        <p:cTn id="18" dur="1000" fill="hold"/>
                                        <p:tgtEl>
                                          <p:spTgt spid="287"/>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01"/>
                                        </p:tgtEl>
                                        <p:attrNameLst>
                                          <p:attrName>style.visibility</p:attrName>
                                        </p:attrNameLst>
                                      </p:cBhvr>
                                      <p:to>
                                        <p:strVal val="visible"/>
                                      </p:to>
                                    </p:set>
                                    <p:animEffect transition="in" filter="fade">
                                      <p:cBhvr>
                                        <p:cTn id="21" dur="1000"/>
                                        <p:tgtEl>
                                          <p:spTgt spid="201"/>
                                        </p:tgtEl>
                                      </p:cBhvr>
                                    </p:animEffect>
                                    <p:anim calcmode="lin" valueType="num">
                                      <p:cBhvr>
                                        <p:cTn id="22" dur="1000" fill="hold"/>
                                        <p:tgtEl>
                                          <p:spTgt spid="201"/>
                                        </p:tgtEl>
                                        <p:attrNameLst>
                                          <p:attrName>ppt_x</p:attrName>
                                        </p:attrNameLst>
                                      </p:cBhvr>
                                      <p:tavLst>
                                        <p:tav tm="0">
                                          <p:val>
                                            <p:strVal val="#ppt_x"/>
                                          </p:val>
                                        </p:tav>
                                        <p:tav tm="100000">
                                          <p:val>
                                            <p:strVal val="#ppt_x"/>
                                          </p:val>
                                        </p:tav>
                                      </p:tavLst>
                                    </p:anim>
                                    <p:anim calcmode="lin" valueType="num">
                                      <p:cBhvr>
                                        <p:cTn id="23" dur="1000" fill="hold"/>
                                        <p:tgtEl>
                                          <p:spTgt spid="201"/>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63"/>
                                        </p:tgtEl>
                                        <p:attrNameLst>
                                          <p:attrName>style.visibility</p:attrName>
                                        </p:attrNameLst>
                                      </p:cBhvr>
                                      <p:to>
                                        <p:strVal val="visible"/>
                                      </p:to>
                                    </p:set>
                                    <p:animEffect transition="in" filter="fade">
                                      <p:cBhvr>
                                        <p:cTn id="26" dur="1000"/>
                                        <p:tgtEl>
                                          <p:spTgt spid="163"/>
                                        </p:tgtEl>
                                      </p:cBhvr>
                                    </p:animEffect>
                                    <p:anim calcmode="lin" valueType="num">
                                      <p:cBhvr>
                                        <p:cTn id="27" dur="1000" fill="hold"/>
                                        <p:tgtEl>
                                          <p:spTgt spid="163"/>
                                        </p:tgtEl>
                                        <p:attrNameLst>
                                          <p:attrName>ppt_x</p:attrName>
                                        </p:attrNameLst>
                                      </p:cBhvr>
                                      <p:tavLst>
                                        <p:tav tm="0">
                                          <p:val>
                                            <p:strVal val="#ppt_x"/>
                                          </p:val>
                                        </p:tav>
                                        <p:tav tm="100000">
                                          <p:val>
                                            <p:strVal val="#ppt_x"/>
                                          </p:val>
                                        </p:tav>
                                      </p:tavLst>
                                    </p:anim>
                                    <p:anim calcmode="lin" valueType="num">
                                      <p:cBhvr>
                                        <p:cTn id="28" dur="1000" fill="hold"/>
                                        <p:tgtEl>
                                          <p:spTgt spid="16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5"/>
                                        </p:tgtEl>
                                        <p:attrNameLst>
                                          <p:attrName>style.visibility</p:attrName>
                                        </p:attrNameLst>
                                      </p:cBhvr>
                                      <p:to>
                                        <p:strVal val="visible"/>
                                      </p:to>
                                    </p:set>
                                    <p:animEffect transition="in" filter="fade">
                                      <p:cBhvr>
                                        <p:cTn id="33" dur="500"/>
                                        <p:tgtEl>
                                          <p:spTgt spid="115"/>
                                        </p:tgtEl>
                                      </p:cBhvr>
                                    </p:animEffect>
                                  </p:childTnLst>
                                </p:cTn>
                              </p:par>
                              <p:par>
                                <p:cTn id="34" presetID="10" presetClass="entr" presetSubtype="0" fill="hold" nodeType="withEffect">
                                  <p:stCondLst>
                                    <p:cond delay="0"/>
                                  </p:stCondLst>
                                  <p:childTnLst>
                                    <p:set>
                                      <p:cBhvr>
                                        <p:cTn id="35" dur="1" fill="hold">
                                          <p:stCondLst>
                                            <p:cond delay="0"/>
                                          </p:stCondLst>
                                        </p:cTn>
                                        <p:tgtEl>
                                          <p:spTgt spid="423"/>
                                        </p:tgtEl>
                                        <p:attrNameLst>
                                          <p:attrName>style.visibility</p:attrName>
                                        </p:attrNameLst>
                                      </p:cBhvr>
                                      <p:to>
                                        <p:strVal val="visible"/>
                                      </p:to>
                                    </p:set>
                                    <p:animEffect transition="in" filter="fade">
                                      <p:cBhvr>
                                        <p:cTn id="36" dur="500"/>
                                        <p:tgtEl>
                                          <p:spTgt spid="423"/>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0" nodeType="clickEffect">
                                  <p:stCondLst>
                                    <p:cond delay="0"/>
                                  </p:stCondLst>
                                  <p:childTnLst>
                                    <p:animMotion origin="layout" path="M -2.29167E-6 -1.85185E-6 L -0.29765 0.55486 " pathEditMode="relative" rAng="0" ptsTypes="AA">
                                      <p:cBhvr>
                                        <p:cTn id="40" dur="3000" fill="hold"/>
                                        <p:tgtEl>
                                          <p:spTgt spid="138"/>
                                        </p:tgtEl>
                                        <p:attrNameLst>
                                          <p:attrName>ppt_x</p:attrName>
                                          <p:attrName>ppt_y</p:attrName>
                                        </p:attrNameLst>
                                      </p:cBhvr>
                                      <p:rCtr x="-14883" y="27731"/>
                                    </p:animMotion>
                                  </p:childTnLst>
                                </p:cTn>
                              </p:par>
                            </p:childTnLst>
                          </p:cTn>
                        </p:par>
                        <p:par>
                          <p:cTn id="41" fill="hold">
                            <p:stCondLst>
                              <p:cond delay="3000"/>
                            </p:stCondLst>
                            <p:childTnLst>
                              <p:par>
                                <p:cTn id="42" presetID="31" presetClass="exit" presetSubtype="0" fill="hold" grpId="1" nodeType="afterEffect">
                                  <p:stCondLst>
                                    <p:cond delay="0"/>
                                  </p:stCondLst>
                                  <p:childTnLst>
                                    <p:anim calcmode="lin" valueType="num">
                                      <p:cBhvr>
                                        <p:cTn id="43" dur="1000"/>
                                        <p:tgtEl>
                                          <p:spTgt spid="138"/>
                                        </p:tgtEl>
                                        <p:attrNameLst>
                                          <p:attrName>ppt_w</p:attrName>
                                        </p:attrNameLst>
                                      </p:cBhvr>
                                      <p:tavLst>
                                        <p:tav tm="0">
                                          <p:val>
                                            <p:strVal val="ppt_w"/>
                                          </p:val>
                                        </p:tav>
                                        <p:tav tm="100000">
                                          <p:val>
                                            <p:fltVal val="0"/>
                                          </p:val>
                                        </p:tav>
                                      </p:tavLst>
                                    </p:anim>
                                    <p:anim calcmode="lin" valueType="num">
                                      <p:cBhvr>
                                        <p:cTn id="44" dur="1000"/>
                                        <p:tgtEl>
                                          <p:spTgt spid="138"/>
                                        </p:tgtEl>
                                        <p:attrNameLst>
                                          <p:attrName>ppt_h</p:attrName>
                                        </p:attrNameLst>
                                      </p:cBhvr>
                                      <p:tavLst>
                                        <p:tav tm="0">
                                          <p:val>
                                            <p:strVal val="ppt_h"/>
                                          </p:val>
                                        </p:tav>
                                        <p:tav tm="100000">
                                          <p:val>
                                            <p:fltVal val="0"/>
                                          </p:val>
                                        </p:tav>
                                      </p:tavLst>
                                    </p:anim>
                                    <p:anim calcmode="lin" valueType="num">
                                      <p:cBhvr>
                                        <p:cTn id="45" dur="1000"/>
                                        <p:tgtEl>
                                          <p:spTgt spid="138"/>
                                        </p:tgtEl>
                                        <p:attrNameLst>
                                          <p:attrName>style.rotation</p:attrName>
                                        </p:attrNameLst>
                                      </p:cBhvr>
                                      <p:tavLst>
                                        <p:tav tm="0">
                                          <p:val>
                                            <p:fltVal val="0"/>
                                          </p:val>
                                        </p:tav>
                                        <p:tav tm="100000">
                                          <p:val>
                                            <p:fltVal val="90"/>
                                          </p:val>
                                        </p:tav>
                                      </p:tavLst>
                                    </p:anim>
                                    <p:animEffect transition="out" filter="fade">
                                      <p:cBhvr>
                                        <p:cTn id="46" dur="1000"/>
                                        <p:tgtEl>
                                          <p:spTgt spid="138"/>
                                        </p:tgtEl>
                                      </p:cBhvr>
                                    </p:animEffect>
                                    <p:set>
                                      <p:cBhvr>
                                        <p:cTn id="47" dur="1" fill="hold">
                                          <p:stCondLst>
                                            <p:cond delay="999"/>
                                          </p:stCondLst>
                                        </p:cTn>
                                        <p:tgtEl>
                                          <p:spTgt spid="138"/>
                                        </p:tgtEl>
                                        <p:attrNameLst>
                                          <p:attrName>style.visibility</p:attrName>
                                        </p:attrNameLst>
                                      </p:cBhvr>
                                      <p:to>
                                        <p:strVal val="hidden"/>
                                      </p:to>
                                    </p:set>
                                  </p:childTnLst>
                                </p:cTn>
                              </p:par>
                            </p:childTnLst>
                          </p:cTn>
                        </p:par>
                        <p:par>
                          <p:cTn id="48" fill="hold">
                            <p:stCondLst>
                              <p:cond delay="4000"/>
                            </p:stCondLst>
                            <p:childTnLst>
                              <p:par>
                                <p:cTn id="49" presetID="10" presetClass="entr" presetSubtype="0" fill="hold" grpId="0" nodeType="afterEffect">
                                  <p:stCondLst>
                                    <p:cond delay="500"/>
                                  </p:stCondLst>
                                  <p:childTnLst>
                                    <p:set>
                                      <p:cBhvr>
                                        <p:cTn id="50" dur="1" fill="hold">
                                          <p:stCondLst>
                                            <p:cond delay="0"/>
                                          </p:stCondLst>
                                        </p:cTn>
                                        <p:tgtEl>
                                          <p:spTgt spid="2"/>
                                        </p:tgtEl>
                                        <p:attrNameLst>
                                          <p:attrName>style.visibility</p:attrName>
                                        </p:attrNameLst>
                                      </p:cBhvr>
                                      <p:to>
                                        <p:strVal val="visible"/>
                                      </p:to>
                                    </p:set>
                                    <p:animEffect transition="in" filter="fade">
                                      <p:cBhvr>
                                        <p:cTn id="51" dur="1000"/>
                                        <p:tgtEl>
                                          <p:spTgt spid="2"/>
                                        </p:tgtEl>
                                      </p:cBhvr>
                                    </p:animEffect>
                                  </p:childTnLst>
                                </p:cTn>
                              </p:par>
                              <p:par>
                                <p:cTn id="52" presetID="42" presetClass="entr" presetSubtype="0" fill="hold" nodeType="withEffect">
                                  <p:stCondLst>
                                    <p:cond delay="0"/>
                                  </p:stCondLst>
                                  <p:childTnLst>
                                    <p:set>
                                      <p:cBhvr>
                                        <p:cTn id="53" dur="1" fill="hold">
                                          <p:stCondLst>
                                            <p:cond delay="0"/>
                                          </p:stCondLst>
                                        </p:cTn>
                                        <p:tgtEl>
                                          <p:spTgt spid="320"/>
                                        </p:tgtEl>
                                        <p:attrNameLst>
                                          <p:attrName>style.visibility</p:attrName>
                                        </p:attrNameLst>
                                      </p:cBhvr>
                                      <p:to>
                                        <p:strVal val="visible"/>
                                      </p:to>
                                    </p:set>
                                    <p:animEffect transition="in" filter="fade">
                                      <p:cBhvr>
                                        <p:cTn id="54" dur="1000"/>
                                        <p:tgtEl>
                                          <p:spTgt spid="320"/>
                                        </p:tgtEl>
                                      </p:cBhvr>
                                    </p:animEffect>
                                    <p:anim calcmode="lin" valueType="num">
                                      <p:cBhvr>
                                        <p:cTn id="55" dur="1000" fill="hold"/>
                                        <p:tgtEl>
                                          <p:spTgt spid="320"/>
                                        </p:tgtEl>
                                        <p:attrNameLst>
                                          <p:attrName>ppt_x</p:attrName>
                                        </p:attrNameLst>
                                      </p:cBhvr>
                                      <p:tavLst>
                                        <p:tav tm="0">
                                          <p:val>
                                            <p:strVal val="#ppt_x"/>
                                          </p:val>
                                        </p:tav>
                                        <p:tav tm="100000">
                                          <p:val>
                                            <p:strVal val="#ppt_x"/>
                                          </p:val>
                                        </p:tav>
                                      </p:tavLst>
                                    </p:anim>
                                    <p:anim calcmode="lin" valueType="num">
                                      <p:cBhvr>
                                        <p:cTn id="56" dur="1000" fill="hold"/>
                                        <p:tgtEl>
                                          <p:spTgt spid="32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17"/>
                                        </p:tgtEl>
                                        <p:attrNameLst>
                                          <p:attrName>style.visibility</p:attrName>
                                        </p:attrNameLst>
                                      </p:cBhvr>
                                      <p:to>
                                        <p:strVal val="visible"/>
                                      </p:to>
                                    </p:set>
                                    <p:animEffect transition="in" filter="fade">
                                      <p:cBhvr>
                                        <p:cTn id="59" dur="1000"/>
                                        <p:tgtEl>
                                          <p:spTgt spid="217"/>
                                        </p:tgtEl>
                                      </p:cBhvr>
                                    </p:animEffect>
                                    <p:anim calcmode="lin" valueType="num">
                                      <p:cBhvr>
                                        <p:cTn id="60" dur="1000" fill="hold"/>
                                        <p:tgtEl>
                                          <p:spTgt spid="217"/>
                                        </p:tgtEl>
                                        <p:attrNameLst>
                                          <p:attrName>ppt_x</p:attrName>
                                        </p:attrNameLst>
                                      </p:cBhvr>
                                      <p:tavLst>
                                        <p:tav tm="0">
                                          <p:val>
                                            <p:strVal val="#ppt_x"/>
                                          </p:val>
                                        </p:tav>
                                        <p:tav tm="100000">
                                          <p:val>
                                            <p:strVal val="#ppt_x"/>
                                          </p:val>
                                        </p:tav>
                                      </p:tavLst>
                                    </p:anim>
                                    <p:anim calcmode="lin" valueType="num">
                                      <p:cBhvr>
                                        <p:cTn id="61" dur="1000" fill="hold"/>
                                        <p:tgtEl>
                                          <p:spTgt spid="217"/>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15"/>
                                        </p:tgtEl>
                                        <p:attrNameLst>
                                          <p:attrName>style.visibility</p:attrName>
                                        </p:attrNameLst>
                                      </p:cBhvr>
                                      <p:to>
                                        <p:strVal val="visible"/>
                                      </p:to>
                                    </p:set>
                                    <p:animEffect transition="in" filter="fade">
                                      <p:cBhvr>
                                        <p:cTn id="64" dur="1000"/>
                                        <p:tgtEl>
                                          <p:spTgt spid="215"/>
                                        </p:tgtEl>
                                      </p:cBhvr>
                                    </p:animEffect>
                                    <p:anim calcmode="lin" valueType="num">
                                      <p:cBhvr>
                                        <p:cTn id="65" dur="1000" fill="hold"/>
                                        <p:tgtEl>
                                          <p:spTgt spid="215"/>
                                        </p:tgtEl>
                                        <p:attrNameLst>
                                          <p:attrName>ppt_x</p:attrName>
                                        </p:attrNameLst>
                                      </p:cBhvr>
                                      <p:tavLst>
                                        <p:tav tm="0">
                                          <p:val>
                                            <p:strVal val="#ppt_x"/>
                                          </p:val>
                                        </p:tav>
                                        <p:tav tm="100000">
                                          <p:val>
                                            <p:strVal val="#ppt_x"/>
                                          </p:val>
                                        </p:tav>
                                      </p:tavLst>
                                    </p:anim>
                                    <p:anim calcmode="lin" valueType="num">
                                      <p:cBhvr>
                                        <p:cTn id="66" dur="1000" fill="hold"/>
                                        <p:tgtEl>
                                          <p:spTgt spid="2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40"/>
                                        </p:tgtEl>
                                        <p:attrNameLst>
                                          <p:attrName>style.visibility</p:attrName>
                                        </p:attrNameLst>
                                      </p:cBhvr>
                                      <p:to>
                                        <p:strVal val="visible"/>
                                      </p:to>
                                    </p:set>
                                    <p:animEffect transition="in" filter="fade">
                                      <p:cBhvr>
                                        <p:cTn id="71" dur="1000"/>
                                        <p:tgtEl>
                                          <p:spTgt spid="140"/>
                                        </p:tgtEl>
                                      </p:cBhvr>
                                    </p:animEffect>
                                    <p:anim calcmode="lin" valueType="num">
                                      <p:cBhvr>
                                        <p:cTn id="72" dur="1000" fill="hold"/>
                                        <p:tgtEl>
                                          <p:spTgt spid="140"/>
                                        </p:tgtEl>
                                        <p:attrNameLst>
                                          <p:attrName>ppt_x</p:attrName>
                                        </p:attrNameLst>
                                      </p:cBhvr>
                                      <p:tavLst>
                                        <p:tav tm="0">
                                          <p:val>
                                            <p:strVal val="#ppt_x"/>
                                          </p:val>
                                        </p:tav>
                                        <p:tav tm="100000">
                                          <p:val>
                                            <p:strVal val="#ppt_x"/>
                                          </p:val>
                                        </p:tav>
                                      </p:tavLst>
                                    </p:anim>
                                    <p:anim calcmode="lin" valueType="num">
                                      <p:cBhvr>
                                        <p:cTn id="73" dur="1000" fill="hold"/>
                                        <p:tgtEl>
                                          <p:spTgt spid="140"/>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41"/>
                                        </p:tgtEl>
                                        <p:attrNameLst>
                                          <p:attrName>style.visibility</p:attrName>
                                        </p:attrNameLst>
                                      </p:cBhvr>
                                      <p:to>
                                        <p:strVal val="visible"/>
                                      </p:to>
                                    </p:set>
                                    <p:animEffect transition="in" filter="fade">
                                      <p:cBhvr>
                                        <p:cTn id="76" dur="1000"/>
                                        <p:tgtEl>
                                          <p:spTgt spid="141"/>
                                        </p:tgtEl>
                                      </p:cBhvr>
                                    </p:animEffect>
                                    <p:anim calcmode="lin" valueType="num">
                                      <p:cBhvr>
                                        <p:cTn id="77" dur="1000" fill="hold"/>
                                        <p:tgtEl>
                                          <p:spTgt spid="141"/>
                                        </p:tgtEl>
                                        <p:attrNameLst>
                                          <p:attrName>ppt_x</p:attrName>
                                        </p:attrNameLst>
                                      </p:cBhvr>
                                      <p:tavLst>
                                        <p:tav tm="0">
                                          <p:val>
                                            <p:strVal val="#ppt_x"/>
                                          </p:val>
                                        </p:tav>
                                        <p:tav tm="100000">
                                          <p:val>
                                            <p:strVal val="#ppt_x"/>
                                          </p:val>
                                        </p:tav>
                                      </p:tavLst>
                                    </p:anim>
                                    <p:anim calcmode="lin" valueType="num">
                                      <p:cBhvr>
                                        <p:cTn id="78" dur="1000" fill="hold"/>
                                        <p:tgtEl>
                                          <p:spTgt spid="1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63" grpId="0"/>
      <p:bldP spid="201" grpId="0" animBg="1"/>
      <p:bldP spid="215" grpId="0"/>
      <p:bldP spid="217" grpId="0" animBg="1"/>
      <p:bldP spid="138" grpId="0" animBg="1"/>
      <p:bldP spid="138" grpId="1" animBg="1"/>
      <p:bldP spid="139" grpId="0" animBg="1"/>
      <p:bldP spid="139" grpId="1" animBg="1"/>
      <p:bldP spid="140" grpId="0" animBg="1"/>
      <p:bldP spid="141" grpId="0" animBg="1"/>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0" name="Google Shape;1480;p57"/>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481" name="Google Shape;1481;p57"/>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1482" name="Google Shape;1482;p57"/>
          <p:cNvGrpSpPr/>
          <p:nvPr/>
        </p:nvGrpSpPr>
        <p:grpSpPr>
          <a:xfrm>
            <a:off x="1284576" y="2130924"/>
            <a:ext cx="10188969" cy="756004"/>
            <a:chOff x="926134" y="1719856"/>
            <a:chExt cx="9204181" cy="750147"/>
          </a:xfrm>
        </p:grpSpPr>
        <p:sp>
          <p:nvSpPr>
            <p:cNvPr id="1483" name="Google Shape;1483;p57"/>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고객 A에게 첫 판매를 진행했고, 현장에서 현금으로 결제받아 은행에 입금함.</a:t>
              </a:r>
              <a:endParaRPr sz="2000">
                <a:solidFill>
                  <a:schemeClr val="dk1"/>
                </a:solidFill>
                <a:latin typeface="Avenir"/>
                <a:ea typeface="Avenir"/>
                <a:cs typeface="Avenir"/>
                <a:sym typeface="Avenir"/>
              </a:endParaRPr>
            </a:p>
          </p:txBody>
        </p:sp>
        <p:sp>
          <p:nvSpPr>
            <p:cNvPr id="1484" name="Google Shape;1484;p57"/>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Cost of sales</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300</a:t>
              </a:r>
              <a:endParaRPr/>
            </a:p>
          </p:txBody>
        </p:sp>
        <p:sp>
          <p:nvSpPr>
            <p:cNvPr id="1485" name="Google Shape;1485;p57"/>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Inventory</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300</a:t>
              </a:r>
              <a:endParaRPr/>
            </a:p>
          </p:txBody>
        </p:sp>
        <p:sp>
          <p:nvSpPr>
            <p:cNvPr id="1486" name="Google Shape;1486;p57"/>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6b</a:t>
              </a:r>
              <a:endParaRPr/>
            </a:p>
          </p:txBody>
        </p:sp>
      </p:grpSp>
      <p:sp>
        <p:nvSpPr>
          <p:cNvPr id="1487" name="Google Shape;1487;p57"/>
          <p:cNvSpPr txBox="1"/>
          <p:nvPr/>
        </p:nvSpPr>
        <p:spPr>
          <a:xfrm>
            <a:off x="8107403" y="2130924"/>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300</a:t>
            </a:r>
            <a:endParaRPr/>
          </a:p>
        </p:txBody>
      </p:sp>
      <p:sp>
        <p:nvSpPr>
          <p:cNvPr id="1488" name="Google Shape;1488;p57"/>
          <p:cNvSpPr txBox="1"/>
          <p:nvPr/>
        </p:nvSpPr>
        <p:spPr>
          <a:xfrm>
            <a:off x="9790473" y="2130924"/>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300</a:t>
            </a:r>
            <a:endParaRPr/>
          </a:p>
        </p:txBody>
      </p:sp>
      <p:sp>
        <p:nvSpPr>
          <p:cNvPr id="1489" name="Google Shape;1489;p57"/>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4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2471272"/>
            <a:ext cx="1620000" cy="1487426"/>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6" name="Rectangle 145">
            <a:extLst>
              <a:ext uri="{FF2B5EF4-FFF2-40B4-BE49-F238E27FC236}">
                <a16:creationId xmlns:a16="http://schemas.microsoft.com/office/drawing/2014/main" id="{831D00F7-8DFF-3F4E-86D5-815F2570C382}"/>
              </a:ext>
            </a:extLst>
          </p:cNvPr>
          <p:cNvSpPr/>
          <p:nvPr/>
        </p:nvSpPr>
        <p:spPr>
          <a:xfrm>
            <a:off x="1168870" y="1361950"/>
            <a:ext cx="107440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7" name="Group 146">
            <a:extLst>
              <a:ext uri="{FF2B5EF4-FFF2-40B4-BE49-F238E27FC236}">
                <a16:creationId xmlns:a16="http://schemas.microsoft.com/office/drawing/2014/main" id="{99BC0C87-F5F7-2D4D-98F5-05C773D53392}"/>
              </a:ext>
            </a:extLst>
          </p:cNvPr>
          <p:cNvGrpSpPr/>
          <p:nvPr/>
        </p:nvGrpSpPr>
        <p:grpSpPr>
          <a:xfrm>
            <a:off x="1375428" y="1635302"/>
            <a:ext cx="10188967" cy="756004"/>
            <a:chOff x="926134" y="1719856"/>
            <a:chExt cx="9204181" cy="750147"/>
          </a:xfrm>
        </p:grpSpPr>
        <p:sp>
          <p:nvSpPr>
            <p:cNvPr id="148" name="TextBox 147">
              <a:extLst>
                <a:ext uri="{FF2B5EF4-FFF2-40B4-BE49-F238E27FC236}">
                  <a16:creationId xmlns:a16="http://schemas.microsoft.com/office/drawing/2014/main" id="{056E4875-271F-D34F-BDD8-0BFFE2C07E2F}"/>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고객 </a:t>
              </a:r>
              <a:r>
                <a:rPr lang="en-US" altLang="ko-KR" sz="2000" dirty="0">
                  <a:solidFill>
                    <a:schemeClr val="dk1"/>
                  </a:solidFill>
                  <a:latin typeface="Calibri"/>
                  <a:ea typeface="Calibri"/>
                  <a:cs typeface="Calibri"/>
                  <a:sym typeface="Calibri"/>
                </a:rPr>
                <a:t>A</a:t>
              </a:r>
              <a:r>
                <a:rPr lang="ko-KR" altLang="en-US" sz="2000" dirty="0">
                  <a:solidFill>
                    <a:schemeClr val="dk1"/>
                  </a:solidFill>
                  <a:latin typeface="Calibri"/>
                  <a:ea typeface="Calibri"/>
                  <a:cs typeface="Calibri"/>
                  <a:sym typeface="Calibri"/>
                </a:rPr>
                <a:t>에게 판매하면서 일부 재고를 사용함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149" name="TextBox 148">
              <a:extLst>
                <a:ext uri="{FF2B5EF4-FFF2-40B4-BE49-F238E27FC236}">
                  <a16:creationId xmlns:a16="http://schemas.microsoft.com/office/drawing/2014/main" id="{72A4D217-56DE-3E4B-831F-DC73FB960409}"/>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Cost of sales</a:t>
              </a:r>
            </a:p>
            <a:p>
              <a:pPr algn="ctr"/>
              <a:r>
                <a:rPr lang="en-GB" b="1">
                  <a:solidFill>
                    <a:schemeClr val="bg1">
                      <a:lumMod val="75000"/>
                    </a:schemeClr>
                  </a:solidFill>
                  <a:latin typeface="Avenir"/>
                  <a:ea typeface="Helvetica" charset="0"/>
                  <a:cs typeface="Helvetica" charset="0"/>
                </a:rPr>
                <a:t>300</a:t>
              </a:r>
            </a:p>
          </p:txBody>
        </p:sp>
        <p:sp>
          <p:nvSpPr>
            <p:cNvPr id="150" name="TextBox 149">
              <a:extLst>
                <a:ext uri="{FF2B5EF4-FFF2-40B4-BE49-F238E27FC236}">
                  <a16:creationId xmlns:a16="http://schemas.microsoft.com/office/drawing/2014/main" id="{A8DEACE5-C8D4-C947-8278-34398CFC4C85}"/>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Inventory</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300</a:t>
              </a:r>
            </a:p>
          </p:txBody>
        </p:sp>
        <p:sp>
          <p:nvSpPr>
            <p:cNvPr id="151" name="TextBox 150">
              <a:extLst>
                <a:ext uri="{FF2B5EF4-FFF2-40B4-BE49-F238E27FC236}">
                  <a16:creationId xmlns:a16="http://schemas.microsoft.com/office/drawing/2014/main" id="{F3B61547-BE22-A54D-A4D0-5EEDA37BF0A8}"/>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6b</a:t>
              </a:r>
            </a:p>
          </p:txBody>
        </p:sp>
      </p:grpSp>
      <p:sp>
        <p:nvSpPr>
          <p:cNvPr id="155" name="Down Arrow 154">
            <a:extLst>
              <a:ext uri="{FF2B5EF4-FFF2-40B4-BE49-F238E27FC236}">
                <a16:creationId xmlns:a16="http://schemas.microsoft.com/office/drawing/2014/main" id="{61A4B312-6F50-964D-91B9-692AE38BAA98}"/>
              </a:ext>
            </a:extLst>
          </p:cNvPr>
          <p:cNvSpPr/>
          <p:nvPr/>
        </p:nvSpPr>
        <p:spPr>
          <a:xfrm rot="10800000">
            <a:off x="153289" y="4549188"/>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Down Arrow 155">
            <a:extLst>
              <a:ext uri="{FF2B5EF4-FFF2-40B4-BE49-F238E27FC236}">
                <a16:creationId xmlns:a16="http://schemas.microsoft.com/office/drawing/2014/main" id="{AB2B531E-F066-4144-8DBE-0B9E2790209F}"/>
              </a:ext>
            </a:extLst>
          </p:cNvPr>
          <p:cNvSpPr/>
          <p:nvPr/>
        </p:nvSpPr>
        <p:spPr>
          <a:xfrm>
            <a:off x="152838" y="842384"/>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TextBox 129">
            <a:extLst>
              <a:ext uri="{FF2B5EF4-FFF2-40B4-BE49-F238E27FC236}">
                <a16:creationId xmlns:a16="http://schemas.microsoft.com/office/drawing/2014/main" id="{CCFB9578-8720-5B40-BCB4-2ADD3E809C02}"/>
              </a:ext>
            </a:extLst>
          </p:cNvPr>
          <p:cNvSpPr txBox="1"/>
          <p:nvPr/>
        </p:nvSpPr>
        <p:spPr>
          <a:xfrm>
            <a:off x="6423872" y="3419412"/>
            <a:ext cx="1548343" cy="566133"/>
          </a:xfrm>
          <a:prstGeom prst="rect">
            <a:avLst/>
          </a:prstGeom>
          <a:noFill/>
        </p:spPr>
        <p:txBody>
          <a:bodyPr wrap="square" rtlCol="0" anchor="ctr">
            <a:noAutofit/>
          </a:bodyPr>
          <a:lstStyle/>
          <a:p>
            <a:pPr algn="ctr"/>
            <a:r>
              <a:rPr lang="en-US" sz="2400" b="1">
                <a:latin typeface="Avenir"/>
              </a:rPr>
              <a:t>400</a:t>
            </a:r>
            <a:endParaRPr lang="en-GB" sz="2400"/>
          </a:p>
        </p:txBody>
      </p:sp>
      <p:sp>
        <p:nvSpPr>
          <p:cNvPr id="131" name="TextBox 130">
            <a:extLst>
              <a:ext uri="{FF2B5EF4-FFF2-40B4-BE49-F238E27FC236}">
                <a16:creationId xmlns:a16="http://schemas.microsoft.com/office/drawing/2014/main" id="{7730FB51-CE5B-A146-8E45-9671E8BA5CFC}"/>
              </a:ext>
            </a:extLst>
          </p:cNvPr>
          <p:cNvSpPr txBox="1"/>
          <p:nvPr/>
        </p:nvSpPr>
        <p:spPr>
          <a:xfrm>
            <a:off x="6413490" y="3419412"/>
            <a:ext cx="1548343" cy="566133"/>
          </a:xfrm>
          <a:prstGeom prst="rect">
            <a:avLst/>
          </a:prstGeom>
          <a:noFill/>
        </p:spPr>
        <p:txBody>
          <a:bodyPr wrap="square" rtlCol="0" anchor="ctr">
            <a:noAutofit/>
          </a:bodyPr>
          <a:lstStyle/>
          <a:p>
            <a:pPr algn="ctr"/>
            <a:r>
              <a:rPr lang="en-US" sz="2400" b="1">
                <a:latin typeface="Avenir"/>
              </a:rPr>
              <a:t>700</a:t>
            </a:r>
            <a:endParaRPr lang="en-GB" sz="2400"/>
          </a:p>
        </p:txBody>
      </p:sp>
      <p:sp>
        <p:nvSpPr>
          <p:cNvPr id="152" name="TextBox 151">
            <a:extLst>
              <a:ext uri="{FF2B5EF4-FFF2-40B4-BE49-F238E27FC236}">
                <a16:creationId xmlns:a16="http://schemas.microsoft.com/office/drawing/2014/main" id="{CB9CE6A7-9B0C-B04F-B881-218503DEF5FC}"/>
              </a:ext>
            </a:extLst>
          </p:cNvPr>
          <p:cNvSpPr txBox="1"/>
          <p:nvPr/>
        </p:nvSpPr>
        <p:spPr>
          <a:xfrm>
            <a:off x="8204916" y="1634367"/>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300</a:t>
            </a:r>
          </a:p>
        </p:txBody>
      </p:sp>
      <p:sp>
        <p:nvSpPr>
          <p:cNvPr id="153" name="TextBox 152">
            <a:extLst>
              <a:ext uri="{FF2B5EF4-FFF2-40B4-BE49-F238E27FC236}">
                <a16:creationId xmlns:a16="http://schemas.microsoft.com/office/drawing/2014/main" id="{34AE9CF6-1789-F04E-B7B4-0115DFDAFD51}"/>
              </a:ext>
            </a:extLst>
          </p:cNvPr>
          <p:cNvSpPr txBox="1"/>
          <p:nvPr/>
        </p:nvSpPr>
        <p:spPr>
          <a:xfrm>
            <a:off x="9887986" y="1638480"/>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300</a:t>
            </a:r>
          </a:p>
        </p:txBody>
      </p:sp>
    </p:spTree>
    <p:extLst>
      <p:ext uri="{BB962C8B-B14F-4D97-AF65-F5344CB8AC3E}">
        <p14:creationId xmlns:p14="http://schemas.microsoft.com/office/powerpoint/2010/main" val="849511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875E-6 -1.48148E-6 L -0.4332 0.16783 " pathEditMode="relative" rAng="0" ptsTypes="AA">
                                      <p:cBhvr>
                                        <p:cTn id="6" dur="3000" fill="hold"/>
                                        <p:tgtEl>
                                          <p:spTgt spid="153"/>
                                        </p:tgtEl>
                                        <p:attrNameLst>
                                          <p:attrName>ppt_x</p:attrName>
                                          <p:attrName>ppt_y</p:attrName>
                                        </p:attrNameLst>
                                      </p:cBhvr>
                                      <p:rCtr x="-21667" y="8380"/>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153"/>
                                        </p:tgtEl>
                                        <p:attrNameLst>
                                          <p:attrName>ppt_w</p:attrName>
                                        </p:attrNameLst>
                                      </p:cBhvr>
                                      <p:tavLst>
                                        <p:tav tm="0">
                                          <p:val>
                                            <p:strVal val="ppt_w"/>
                                          </p:val>
                                        </p:tav>
                                        <p:tav tm="100000">
                                          <p:val>
                                            <p:fltVal val="0"/>
                                          </p:val>
                                        </p:tav>
                                      </p:tavLst>
                                    </p:anim>
                                    <p:anim calcmode="lin" valueType="num">
                                      <p:cBhvr>
                                        <p:cTn id="10" dur="1000"/>
                                        <p:tgtEl>
                                          <p:spTgt spid="153"/>
                                        </p:tgtEl>
                                        <p:attrNameLst>
                                          <p:attrName>ppt_h</p:attrName>
                                        </p:attrNameLst>
                                      </p:cBhvr>
                                      <p:tavLst>
                                        <p:tav tm="0">
                                          <p:val>
                                            <p:strVal val="ppt_h"/>
                                          </p:val>
                                        </p:tav>
                                        <p:tav tm="100000">
                                          <p:val>
                                            <p:fltVal val="0"/>
                                          </p:val>
                                        </p:tav>
                                      </p:tavLst>
                                    </p:anim>
                                    <p:anim calcmode="lin" valueType="num">
                                      <p:cBhvr>
                                        <p:cTn id="11" dur="1000"/>
                                        <p:tgtEl>
                                          <p:spTgt spid="153"/>
                                        </p:tgtEl>
                                        <p:attrNameLst>
                                          <p:attrName>style.rotation</p:attrName>
                                        </p:attrNameLst>
                                      </p:cBhvr>
                                      <p:tavLst>
                                        <p:tav tm="0">
                                          <p:val>
                                            <p:fltVal val="0"/>
                                          </p:val>
                                        </p:tav>
                                        <p:tav tm="100000">
                                          <p:val>
                                            <p:fltVal val="90"/>
                                          </p:val>
                                        </p:tav>
                                      </p:tavLst>
                                    </p:anim>
                                    <p:animEffect transition="out" filter="fade">
                                      <p:cBhvr>
                                        <p:cTn id="12" dur="1000"/>
                                        <p:tgtEl>
                                          <p:spTgt spid="153"/>
                                        </p:tgtEl>
                                      </p:cBhvr>
                                    </p:animEffect>
                                    <p:set>
                                      <p:cBhvr>
                                        <p:cTn id="13" dur="1" fill="hold">
                                          <p:stCondLst>
                                            <p:cond delay="999"/>
                                          </p:stCondLst>
                                        </p:cTn>
                                        <p:tgtEl>
                                          <p:spTgt spid="153"/>
                                        </p:tgtEl>
                                        <p:attrNameLst>
                                          <p:attrName>style.visibility</p:attrName>
                                        </p:attrNameLst>
                                      </p:cBhvr>
                                      <p:to>
                                        <p:strVal val="hidden"/>
                                      </p:to>
                                    </p:set>
                                  </p:childTnLst>
                                </p:cTn>
                              </p:par>
                              <p:par>
                                <p:cTn id="14" presetID="47" presetClass="entr" presetSubtype="0" fill="hold" nodeType="withEffect">
                                  <p:stCondLst>
                                    <p:cond delay="0"/>
                                  </p:stCondLst>
                                  <p:childTnLst>
                                    <p:set>
                                      <p:cBhvr>
                                        <p:cTn id="15" dur="1" fill="hold">
                                          <p:stCondLst>
                                            <p:cond delay="0"/>
                                          </p:stCondLst>
                                        </p:cTn>
                                        <p:tgtEl>
                                          <p:spTgt spid="323"/>
                                        </p:tgtEl>
                                        <p:attrNameLst>
                                          <p:attrName>style.visibility</p:attrName>
                                        </p:attrNameLst>
                                      </p:cBhvr>
                                      <p:to>
                                        <p:strVal val="visible"/>
                                      </p:to>
                                    </p:set>
                                    <p:animEffect transition="in" filter="fade">
                                      <p:cBhvr>
                                        <p:cTn id="16" dur="1000"/>
                                        <p:tgtEl>
                                          <p:spTgt spid="323"/>
                                        </p:tgtEl>
                                      </p:cBhvr>
                                    </p:animEffect>
                                    <p:anim calcmode="lin" valueType="num">
                                      <p:cBhvr>
                                        <p:cTn id="17" dur="1000" fill="hold"/>
                                        <p:tgtEl>
                                          <p:spTgt spid="323"/>
                                        </p:tgtEl>
                                        <p:attrNameLst>
                                          <p:attrName>ppt_x</p:attrName>
                                        </p:attrNameLst>
                                      </p:cBhvr>
                                      <p:tavLst>
                                        <p:tav tm="0">
                                          <p:val>
                                            <p:strVal val="#ppt_x"/>
                                          </p:val>
                                        </p:tav>
                                        <p:tav tm="100000">
                                          <p:val>
                                            <p:strVal val="#ppt_x"/>
                                          </p:val>
                                        </p:tav>
                                      </p:tavLst>
                                    </p:anim>
                                    <p:anim calcmode="lin" valueType="num">
                                      <p:cBhvr>
                                        <p:cTn id="18" dur="1000" fill="hold"/>
                                        <p:tgtEl>
                                          <p:spTgt spid="323"/>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227"/>
                                        </p:tgtEl>
                                        <p:attrNameLst>
                                          <p:attrName>style.visibility</p:attrName>
                                        </p:attrNameLst>
                                      </p:cBhvr>
                                      <p:to>
                                        <p:strVal val="visible"/>
                                      </p:to>
                                    </p:set>
                                    <p:animEffect transition="in" filter="fade">
                                      <p:cBhvr>
                                        <p:cTn id="21" dur="1000"/>
                                        <p:tgtEl>
                                          <p:spTgt spid="227"/>
                                        </p:tgtEl>
                                      </p:cBhvr>
                                    </p:animEffect>
                                    <p:anim calcmode="lin" valueType="num">
                                      <p:cBhvr>
                                        <p:cTn id="22" dur="1000" fill="hold"/>
                                        <p:tgtEl>
                                          <p:spTgt spid="227"/>
                                        </p:tgtEl>
                                        <p:attrNameLst>
                                          <p:attrName>ppt_x</p:attrName>
                                        </p:attrNameLst>
                                      </p:cBhvr>
                                      <p:tavLst>
                                        <p:tav tm="0">
                                          <p:val>
                                            <p:strVal val="#ppt_x"/>
                                          </p:val>
                                        </p:tav>
                                        <p:tav tm="100000">
                                          <p:val>
                                            <p:strVal val="#ppt_x"/>
                                          </p:val>
                                        </p:tav>
                                      </p:tavLst>
                                    </p:anim>
                                    <p:anim calcmode="lin" valueType="num">
                                      <p:cBhvr>
                                        <p:cTn id="23" dur="1000" fill="hold"/>
                                        <p:tgtEl>
                                          <p:spTgt spid="227"/>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226"/>
                                        </p:tgtEl>
                                        <p:attrNameLst>
                                          <p:attrName>style.visibility</p:attrName>
                                        </p:attrNameLst>
                                      </p:cBhvr>
                                      <p:to>
                                        <p:strVal val="visible"/>
                                      </p:to>
                                    </p:set>
                                    <p:animEffect transition="in" filter="fade">
                                      <p:cBhvr>
                                        <p:cTn id="26" dur="1000"/>
                                        <p:tgtEl>
                                          <p:spTgt spid="226"/>
                                        </p:tgtEl>
                                      </p:cBhvr>
                                    </p:animEffect>
                                    <p:anim calcmode="lin" valueType="num">
                                      <p:cBhvr>
                                        <p:cTn id="27" dur="1000" fill="hold"/>
                                        <p:tgtEl>
                                          <p:spTgt spid="226"/>
                                        </p:tgtEl>
                                        <p:attrNameLst>
                                          <p:attrName>ppt_x</p:attrName>
                                        </p:attrNameLst>
                                      </p:cBhvr>
                                      <p:tavLst>
                                        <p:tav tm="0">
                                          <p:val>
                                            <p:strVal val="#ppt_x"/>
                                          </p:val>
                                        </p:tav>
                                        <p:tav tm="100000">
                                          <p:val>
                                            <p:strVal val="#ppt_x"/>
                                          </p:val>
                                        </p:tav>
                                      </p:tavLst>
                                    </p:anim>
                                    <p:anim calcmode="lin" valueType="num">
                                      <p:cBhvr>
                                        <p:cTn id="28" dur="1000" fill="hold"/>
                                        <p:tgtEl>
                                          <p:spTgt spid="22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0" nodeType="clickEffect">
                                  <p:stCondLst>
                                    <p:cond delay="0"/>
                                  </p:stCondLst>
                                  <p:childTnLst>
                                    <p:animMotion origin="layout" path="M 2.91667E-6 1.48148E-6 L -0.31498 0.5081 " pathEditMode="relative" rAng="0" ptsTypes="AA">
                                      <p:cBhvr>
                                        <p:cTn id="32" dur="3000" fill="hold"/>
                                        <p:tgtEl>
                                          <p:spTgt spid="152"/>
                                        </p:tgtEl>
                                        <p:attrNameLst>
                                          <p:attrName>ppt_x</p:attrName>
                                          <p:attrName>ppt_y</p:attrName>
                                        </p:attrNameLst>
                                      </p:cBhvr>
                                      <p:rCtr x="-15755" y="25394"/>
                                    </p:animMotion>
                                  </p:childTnLst>
                                </p:cTn>
                              </p:par>
                            </p:childTnLst>
                          </p:cTn>
                        </p:par>
                        <p:par>
                          <p:cTn id="33" fill="hold">
                            <p:stCondLst>
                              <p:cond delay="3000"/>
                            </p:stCondLst>
                            <p:childTnLst>
                              <p:par>
                                <p:cTn id="34" presetID="31" presetClass="exit" presetSubtype="0" fill="hold" grpId="1" nodeType="afterEffect">
                                  <p:stCondLst>
                                    <p:cond delay="0"/>
                                  </p:stCondLst>
                                  <p:childTnLst>
                                    <p:anim calcmode="lin" valueType="num">
                                      <p:cBhvr>
                                        <p:cTn id="35" dur="1000"/>
                                        <p:tgtEl>
                                          <p:spTgt spid="152"/>
                                        </p:tgtEl>
                                        <p:attrNameLst>
                                          <p:attrName>ppt_w</p:attrName>
                                        </p:attrNameLst>
                                      </p:cBhvr>
                                      <p:tavLst>
                                        <p:tav tm="0">
                                          <p:val>
                                            <p:strVal val="ppt_w"/>
                                          </p:val>
                                        </p:tav>
                                        <p:tav tm="100000">
                                          <p:val>
                                            <p:fltVal val="0"/>
                                          </p:val>
                                        </p:tav>
                                      </p:tavLst>
                                    </p:anim>
                                    <p:anim calcmode="lin" valueType="num">
                                      <p:cBhvr>
                                        <p:cTn id="36" dur="1000"/>
                                        <p:tgtEl>
                                          <p:spTgt spid="152"/>
                                        </p:tgtEl>
                                        <p:attrNameLst>
                                          <p:attrName>ppt_h</p:attrName>
                                        </p:attrNameLst>
                                      </p:cBhvr>
                                      <p:tavLst>
                                        <p:tav tm="0">
                                          <p:val>
                                            <p:strVal val="ppt_h"/>
                                          </p:val>
                                        </p:tav>
                                        <p:tav tm="100000">
                                          <p:val>
                                            <p:fltVal val="0"/>
                                          </p:val>
                                        </p:tav>
                                      </p:tavLst>
                                    </p:anim>
                                    <p:anim calcmode="lin" valueType="num">
                                      <p:cBhvr>
                                        <p:cTn id="37" dur="1000"/>
                                        <p:tgtEl>
                                          <p:spTgt spid="152"/>
                                        </p:tgtEl>
                                        <p:attrNameLst>
                                          <p:attrName>style.rotation</p:attrName>
                                        </p:attrNameLst>
                                      </p:cBhvr>
                                      <p:tavLst>
                                        <p:tav tm="0">
                                          <p:val>
                                            <p:fltVal val="0"/>
                                          </p:val>
                                        </p:tav>
                                        <p:tav tm="100000">
                                          <p:val>
                                            <p:fltVal val="90"/>
                                          </p:val>
                                        </p:tav>
                                      </p:tavLst>
                                    </p:anim>
                                    <p:animEffect transition="out" filter="fade">
                                      <p:cBhvr>
                                        <p:cTn id="38" dur="1000"/>
                                        <p:tgtEl>
                                          <p:spTgt spid="152"/>
                                        </p:tgtEl>
                                      </p:cBhvr>
                                    </p:animEffect>
                                    <p:set>
                                      <p:cBhvr>
                                        <p:cTn id="39" dur="1" fill="hold">
                                          <p:stCondLst>
                                            <p:cond delay="999"/>
                                          </p:stCondLst>
                                        </p:cTn>
                                        <p:tgtEl>
                                          <p:spTgt spid="152"/>
                                        </p:tgtEl>
                                        <p:attrNameLst>
                                          <p:attrName>style.visibility</p:attrName>
                                        </p:attrNameLst>
                                      </p:cBhvr>
                                      <p:to>
                                        <p:strVal val="hidden"/>
                                      </p:to>
                                    </p:set>
                                  </p:childTnLst>
                                </p:cTn>
                              </p:par>
                              <p:par>
                                <p:cTn id="40" presetID="42" presetClass="entr" presetSubtype="0" fill="hold" nodeType="withEffect">
                                  <p:stCondLst>
                                    <p:cond delay="0"/>
                                  </p:stCondLst>
                                  <p:childTnLst>
                                    <p:set>
                                      <p:cBhvr>
                                        <p:cTn id="41" dur="1" fill="hold">
                                          <p:stCondLst>
                                            <p:cond delay="0"/>
                                          </p:stCondLst>
                                        </p:cTn>
                                        <p:tgtEl>
                                          <p:spTgt spid="326"/>
                                        </p:tgtEl>
                                        <p:attrNameLst>
                                          <p:attrName>style.visibility</p:attrName>
                                        </p:attrNameLst>
                                      </p:cBhvr>
                                      <p:to>
                                        <p:strVal val="visible"/>
                                      </p:to>
                                    </p:set>
                                    <p:animEffect transition="in" filter="fade">
                                      <p:cBhvr>
                                        <p:cTn id="42" dur="1000"/>
                                        <p:tgtEl>
                                          <p:spTgt spid="326"/>
                                        </p:tgtEl>
                                      </p:cBhvr>
                                    </p:animEffect>
                                    <p:anim calcmode="lin" valueType="num">
                                      <p:cBhvr>
                                        <p:cTn id="43" dur="1000" fill="hold"/>
                                        <p:tgtEl>
                                          <p:spTgt spid="326"/>
                                        </p:tgtEl>
                                        <p:attrNameLst>
                                          <p:attrName>ppt_x</p:attrName>
                                        </p:attrNameLst>
                                      </p:cBhvr>
                                      <p:tavLst>
                                        <p:tav tm="0">
                                          <p:val>
                                            <p:strVal val="#ppt_x"/>
                                          </p:val>
                                        </p:tav>
                                        <p:tav tm="100000">
                                          <p:val>
                                            <p:strVal val="#ppt_x"/>
                                          </p:val>
                                        </p:tav>
                                      </p:tavLst>
                                    </p:anim>
                                    <p:anim calcmode="lin" valueType="num">
                                      <p:cBhvr>
                                        <p:cTn id="44" dur="1000" fill="hold"/>
                                        <p:tgtEl>
                                          <p:spTgt spid="32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30"/>
                                        </p:tgtEl>
                                        <p:attrNameLst>
                                          <p:attrName>style.visibility</p:attrName>
                                        </p:attrNameLst>
                                      </p:cBhvr>
                                      <p:to>
                                        <p:strVal val="visible"/>
                                      </p:to>
                                    </p:set>
                                    <p:animEffect transition="in" filter="fade">
                                      <p:cBhvr>
                                        <p:cTn id="47" dur="1000"/>
                                        <p:tgtEl>
                                          <p:spTgt spid="230"/>
                                        </p:tgtEl>
                                      </p:cBhvr>
                                    </p:animEffect>
                                    <p:anim calcmode="lin" valueType="num">
                                      <p:cBhvr>
                                        <p:cTn id="48" dur="1000" fill="hold"/>
                                        <p:tgtEl>
                                          <p:spTgt spid="230"/>
                                        </p:tgtEl>
                                        <p:attrNameLst>
                                          <p:attrName>ppt_x</p:attrName>
                                        </p:attrNameLst>
                                      </p:cBhvr>
                                      <p:tavLst>
                                        <p:tav tm="0">
                                          <p:val>
                                            <p:strVal val="#ppt_x"/>
                                          </p:val>
                                        </p:tav>
                                        <p:tav tm="100000">
                                          <p:val>
                                            <p:strVal val="#ppt_x"/>
                                          </p:val>
                                        </p:tav>
                                      </p:tavLst>
                                    </p:anim>
                                    <p:anim calcmode="lin" valueType="num">
                                      <p:cBhvr>
                                        <p:cTn id="49" dur="1000" fill="hold"/>
                                        <p:tgtEl>
                                          <p:spTgt spid="23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29"/>
                                        </p:tgtEl>
                                        <p:attrNameLst>
                                          <p:attrName>style.visibility</p:attrName>
                                        </p:attrNameLst>
                                      </p:cBhvr>
                                      <p:to>
                                        <p:strVal val="visible"/>
                                      </p:to>
                                    </p:set>
                                    <p:animEffect transition="in" filter="fade">
                                      <p:cBhvr>
                                        <p:cTn id="52" dur="1000"/>
                                        <p:tgtEl>
                                          <p:spTgt spid="229"/>
                                        </p:tgtEl>
                                      </p:cBhvr>
                                    </p:animEffect>
                                    <p:anim calcmode="lin" valueType="num">
                                      <p:cBhvr>
                                        <p:cTn id="53" dur="1000" fill="hold"/>
                                        <p:tgtEl>
                                          <p:spTgt spid="229"/>
                                        </p:tgtEl>
                                        <p:attrNameLst>
                                          <p:attrName>ppt_x</p:attrName>
                                        </p:attrNameLst>
                                      </p:cBhvr>
                                      <p:tavLst>
                                        <p:tav tm="0">
                                          <p:val>
                                            <p:strVal val="#ppt_x"/>
                                          </p:val>
                                        </p:tav>
                                        <p:tav tm="100000">
                                          <p:val>
                                            <p:strVal val="#ppt_x"/>
                                          </p:val>
                                        </p:tav>
                                      </p:tavLst>
                                    </p:anim>
                                    <p:anim calcmode="lin" valueType="num">
                                      <p:cBhvr>
                                        <p:cTn id="54" dur="1000" fill="hold"/>
                                        <p:tgtEl>
                                          <p:spTgt spid="229"/>
                                        </p:tgtEl>
                                        <p:attrNameLst>
                                          <p:attrName>ppt_y</p:attrName>
                                        </p:attrNameLst>
                                      </p:cBhvr>
                                      <p:tavLst>
                                        <p:tav tm="0">
                                          <p:val>
                                            <p:strVal val="#ppt_y+.1"/>
                                          </p:val>
                                        </p:tav>
                                        <p:tav tm="100000">
                                          <p:val>
                                            <p:strVal val="#ppt_y"/>
                                          </p:val>
                                        </p:tav>
                                      </p:tavLst>
                                    </p:anim>
                                  </p:childTnLst>
                                </p:cTn>
                              </p:par>
                            </p:childTnLst>
                          </p:cTn>
                        </p:par>
                        <p:par>
                          <p:cTn id="55" fill="hold">
                            <p:stCondLst>
                              <p:cond delay="4000"/>
                            </p:stCondLst>
                            <p:childTnLst>
                              <p:par>
                                <p:cTn id="56" presetID="10" presetClass="entr" presetSubtype="0" fill="hold" grpId="0" nodeType="afterEffect">
                                  <p:stCondLst>
                                    <p:cond delay="0"/>
                                  </p:stCondLst>
                                  <p:childTnLst>
                                    <p:set>
                                      <p:cBhvr>
                                        <p:cTn id="57" dur="1" fill="hold">
                                          <p:stCondLst>
                                            <p:cond delay="0"/>
                                          </p:stCondLst>
                                        </p:cTn>
                                        <p:tgtEl>
                                          <p:spTgt spid="130"/>
                                        </p:tgtEl>
                                        <p:attrNameLst>
                                          <p:attrName>style.visibility</p:attrName>
                                        </p:attrNameLst>
                                      </p:cBhvr>
                                      <p:to>
                                        <p:strVal val="visible"/>
                                      </p:to>
                                    </p:set>
                                    <p:animEffect transition="in" filter="fade">
                                      <p:cBhvr>
                                        <p:cTn id="58" dur="1000"/>
                                        <p:tgtEl>
                                          <p:spTgt spid="130"/>
                                        </p:tgtEl>
                                      </p:cBhvr>
                                    </p:animEffect>
                                  </p:childTnLst>
                                </p:cTn>
                              </p:par>
                              <p:par>
                                <p:cTn id="59" presetID="10" presetClass="exit" presetSubtype="0" fill="hold" grpId="0" nodeType="withEffect">
                                  <p:stCondLst>
                                    <p:cond delay="0"/>
                                  </p:stCondLst>
                                  <p:childTnLst>
                                    <p:animEffect transition="out" filter="fade">
                                      <p:cBhvr>
                                        <p:cTn id="60" dur="500"/>
                                        <p:tgtEl>
                                          <p:spTgt spid="131"/>
                                        </p:tgtEl>
                                      </p:cBhvr>
                                    </p:animEffect>
                                    <p:set>
                                      <p:cBhvr>
                                        <p:cTn id="61" dur="1" fill="hold">
                                          <p:stCondLst>
                                            <p:cond delay="499"/>
                                          </p:stCondLst>
                                        </p:cTn>
                                        <p:tgtEl>
                                          <p:spTgt spid="131"/>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155"/>
                                        </p:tgtEl>
                                        <p:attrNameLst>
                                          <p:attrName>style.visibility</p:attrName>
                                        </p:attrNameLst>
                                      </p:cBhvr>
                                      <p:to>
                                        <p:strVal val="visible"/>
                                      </p:to>
                                    </p:set>
                                    <p:animEffect transition="in" filter="fade">
                                      <p:cBhvr>
                                        <p:cTn id="66" dur="1000"/>
                                        <p:tgtEl>
                                          <p:spTgt spid="155"/>
                                        </p:tgtEl>
                                      </p:cBhvr>
                                    </p:animEffect>
                                    <p:anim calcmode="lin" valueType="num">
                                      <p:cBhvr>
                                        <p:cTn id="67" dur="1000" fill="hold"/>
                                        <p:tgtEl>
                                          <p:spTgt spid="155"/>
                                        </p:tgtEl>
                                        <p:attrNameLst>
                                          <p:attrName>ppt_x</p:attrName>
                                        </p:attrNameLst>
                                      </p:cBhvr>
                                      <p:tavLst>
                                        <p:tav tm="0">
                                          <p:val>
                                            <p:strVal val="#ppt_x"/>
                                          </p:val>
                                        </p:tav>
                                        <p:tav tm="100000">
                                          <p:val>
                                            <p:strVal val="#ppt_x"/>
                                          </p:val>
                                        </p:tav>
                                      </p:tavLst>
                                    </p:anim>
                                    <p:anim calcmode="lin" valueType="num">
                                      <p:cBhvr>
                                        <p:cTn id="68" dur="1000" fill="hold"/>
                                        <p:tgtEl>
                                          <p:spTgt spid="155"/>
                                        </p:tgtEl>
                                        <p:attrNameLst>
                                          <p:attrName>ppt_y</p:attrName>
                                        </p:attrNameLst>
                                      </p:cBhvr>
                                      <p:tavLst>
                                        <p:tav tm="0">
                                          <p:val>
                                            <p:strVal val="#ppt_y+.1"/>
                                          </p:val>
                                        </p:tav>
                                        <p:tav tm="100000">
                                          <p:val>
                                            <p:strVal val="#ppt_y"/>
                                          </p:val>
                                        </p:tav>
                                      </p:tavLst>
                                    </p:anim>
                                  </p:childTnLst>
                                </p:cTn>
                              </p:par>
                              <p:par>
                                <p:cTn id="69" presetID="47" presetClass="entr" presetSubtype="0" fill="hold" grpId="0" nodeType="withEffect">
                                  <p:stCondLst>
                                    <p:cond delay="0"/>
                                  </p:stCondLst>
                                  <p:childTnLst>
                                    <p:set>
                                      <p:cBhvr>
                                        <p:cTn id="70" dur="1" fill="hold">
                                          <p:stCondLst>
                                            <p:cond delay="0"/>
                                          </p:stCondLst>
                                        </p:cTn>
                                        <p:tgtEl>
                                          <p:spTgt spid="156"/>
                                        </p:tgtEl>
                                        <p:attrNameLst>
                                          <p:attrName>style.visibility</p:attrName>
                                        </p:attrNameLst>
                                      </p:cBhvr>
                                      <p:to>
                                        <p:strVal val="visible"/>
                                      </p:to>
                                    </p:set>
                                    <p:animEffect transition="in" filter="fade">
                                      <p:cBhvr>
                                        <p:cTn id="71" dur="1000"/>
                                        <p:tgtEl>
                                          <p:spTgt spid="156"/>
                                        </p:tgtEl>
                                      </p:cBhvr>
                                    </p:animEffect>
                                    <p:anim calcmode="lin" valueType="num">
                                      <p:cBhvr>
                                        <p:cTn id="72" dur="1000" fill="hold"/>
                                        <p:tgtEl>
                                          <p:spTgt spid="156"/>
                                        </p:tgtEl>
                                        <p:attrNameLst>
                                          <p:attrName>ppt_x</p:attrName>
                                        </p:attrNameLst>
                                      </p:cBhvr>
                                      <p:tavLst>
                                        <p:tav tm="0">
                                          <p:val>
                                            <p:strVal val="#ppt_x"/>
                                          </p:val>
                                        </p:tav>
                                        <p:tav tm="100000">
                                          <p:val>
                                            <p:strVal val="#ppt_x"/>
                                          </p:val>
                                        </p:tav>
                                      </p:tavLst>
                                    </p:anim>
                                    <p:anim calcmode="lin" valueType="num">
                                      <p:cBhvr>
                                        <p:cTn id="73" dur="1000" fill="hold"/>
                                        <p:tgtEl>
                                          <p:spTgt spid="1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p:bldP spid="227" grpId="0" animBg="1"/>
      <p:bldP spid="229" grpId="0"/>
      <p:bldP spid="230" grpId="0" animBg="1"/>
      <p:bldP spid="155" grpId="0" animBg="1"/>
      <p:bldP spid="156" grpId="0" animBg="1"/>
      <p:bldP spid="130" grpId="0"/>
      <p:bldP spid="131" grpId="0"/>
      <p:bldP spid="152" grpId="0" animBg="1"/>
      <p:bldP spid="152" grpId="1" animBg="1"/>
      <p:bldP spid="153" grpId="0" animBg="1"/>
      <p:bldP spid="153"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627"/>
        <p:cNvGrpSpPr/>
        <p:nvPr/>
      </p:nvGrpSpPr>
      <p:grpSpPr>
        <a:xfrm>
          <a:off x="0" y="0"/>
          <a:ext cx="0" cy="0"/>
          <a:chOff x="0" y="0"/>
          <a:chExt cx="0" cy="0"/>
        </a:xfrm>
      </p:grpSpPr>
      <p:sp>
        <p:nvSpPr>
          <p:cNvPr id="1628" name="Google Shape;1628;p59"/>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629" name="Google Shape;1629;p59"/>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1630" name="Google Shape;1630;p59"/>
          <p:cNvGrpSpPr/>
          <p:nvPr/>
        </p:nvGrpSpPr>
        <p:grpSpPr>
          <a:xfrm>
            <a:off x="1284576" y="2130924"/>
            <a:ext cx="10188969" cy="756004"/>
            <a:chOff x="926134" y="1719856"/>
            <a:chExt cx="9204181" cy="750147"/>
          </a:xfrm>
        </p:grpSpPr>
        <p:sp>
          <p:nvSpPr>
            <p:cNvPr id="1631" name="Google Shape;1631;p59"/>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오늘 진열창 청소를 해준 창문 청소업자에게 현금으로 비용을 지불함. 창문이 정말 깨끗해졌어요!</a:t>
              </a:r>
              <a:endParaRPr sz="2000">
                <a:solidFill>
                  <a:schemeClr val="dk1"/>
                </a:solidFill>
                <a:latin typeface="Avenir"/>
                <a:ea typeface="Avenir"/>
                <a:cs typeface="Avenir"/>
                <a:sym typeface="Avenir"/>
              </a:endParaRPr>
            </a:p>
          </p:txBody>
        </p:sp>
        <p:sp>
          <p:nvSpPr>
            <p:cNvPr id="1632" name="Google Shape;1632;p59"/>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Cleaning</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50</a:t>
              </a:r>
              <a:endParaRPr/>
            </a:p>
          </p:txBody>
        </p:sp>
        <p:sp>
          <p:nvSpPr>
            <p:cNvPr id="1633" name="Google Shape;1633;p59"/>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Cash</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50</a:t>
              </a:r>
              <a:endParaRPr/>
            </a:p>
          </p:txBody>
        </p:sp>
        <p:sp>
          <p:nvSpPr>
            <p:cNvPr id="1634" name="Google Shape;1634;p59"/>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7</a:t>
              </a:r>
              <a:endParaRPr/>
            </a:p>
          </p:txBody>
        </p:sp>
      </p:grpSp>
      <p:sp>
        <p:nvSpPr>
          <p:cNvPr id="1635" name="Google Shape;1635;p59"/>
          <p:cNvSpPr txBox="1"/>
          <p:nvPr/>
        </p:nvSpPr>
        <p:spPr>
          <a:xfrm>
            <a:off x="8109273" y="2126055"/>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50</a:t>
            </a:r>
            <a:endParaRPr/>
          </a:p>
        </p:txBody>
      </p:sp>
      <p:sp>
        <p:nvSpPr>
          <p:cNvPr id="1636" name="Google Shape;1636;p59"/>
          <p:cNvSpPr txBox="1"/>
          <p:nvPr/>
        </p:nvSpPr>
        <p:spPr>
          <a:xfrm>
            <a:off x="9792343" y="2126055"/>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50</a:t>
            </a:r>
            <a:endParaRPr/>
          </a:p>
        </p:txBody>
      </p:sp>
      <p:sp>
        <p:nvSpPr>
          <p:cNvPr id="1637" name="Google Shape;1637;p59"/>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5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2250924"/>
            <a:ext cx="1620000" cy="1707774"/>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60" name="Rectangle 159">
            <a:extLst>
              <a:ext uri="{FF2B5EF4-FFF2-40B4-BE49-F238E27FC236}">
                <a16:creationId xmlns:a16="http://schemas.microsoft.com/office/drawing/2014/main" id="{6C4BD943-8705-2A40-B8F6-39589AF25A36}"/>
              </a:ext>
            </a:extLst>
          </p:cNvPr>
          <p:cNvSpPr/>
          <p:nvPr/>
        </p:nvSpPr>
        <p:spPr>
          <a:xfrm>
            <a:off x="1497367" y="755696"/>
            <a:ext cx="105384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1" name="Group 160">
            <a:extLst>
              <a:ext uri="{FF2B5EF4-FFF2-40B4-BE49-F238E27FC236}">
                <a16:creationId xmlns:a16="http://schemas.microsoft.com/office/drawing/2014/main" id="{7FA096BB-7CD5-1440-95BB-99834B25A176}"/>
              </a:ext>
            </a:extLst>
          </p:cNvPr>
          <p:cNvGrpSpPr/>
          <p:nvPr/>
        </p:nvGrpSpPr>
        <p:grpSpPr>
          <a:xfrm>
            <a:off x="1697491" y="1029048"/>
            <a:ext cx="10188967" cy="756004"/>
            <a:chOff x="926134" y="1719856"/>
            <a:chExt cx="9204181" cy="750147"/>
          </a:xfrm>
        </p:grpSpPr>
        <p:sp>
          <p:nvSpPr>
            <p:cNvPr id="162" name="TextBox 161">
              <a:extLst>
                <a:ext uri="{FF2B5EF4-FFF2-40B4-BE49-F238E27FC236}">
                  <a16:creationId xmlns:a16="http://schemas.microsoft.com/office/drawing/2014/main" id="{8B3568E6-32AD-864F-B595-9D36261187D1}"/>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오늘 진열창 청소를 해준 창문 청소업자에게 현금으로 비용을 지불함</a:t>
              </a:r>
              <a:r>
                <a:rPr lang="en-US" altLang="ko-KR" sz="2000" dirty="0">
                  <a:solidFill>
                    <a:schemeClr val="dk1"/>
                  </a:solidFill>
                  <a:latin typeface="Calibri"/>
                  <a:ea typeface="Calibri"/>
                  <a:cs typeface="Calibri"/>
                  <a:sym typeface="Calibri"/>
                </a:rPr>
                <a:t>. </a:t>
              </a:r>
              <a:r>
                <a:rPr lang="ko-KR" altLang="en-US" sz="2000" dirty="0">
                  <a:solidFill>
                    <a:schemeClr val="dk1"/>
                  </a:solidFill>
                  <a:latin typeface="Calibri"/>
                  <a:ea typeface="Calibri"/>
                  <a:cs typeface="Calibri"/>
                  <a:sym typeface="Calibri"/>
                </a:rPr>
                <a:t>창문이 정말 </a:t>
              </a:r>
              <a:r>
                <a:rPr lang="ko-KR" altLang="en-US" sz="2000" dirty="0" err="1">
                  <a:solidFill>
                    <a:schemeClr val="dk1"/>
                  </a:solidFill>
                  <a:latin typeface="Calibri"/>
                  <a:ea typeface="Calibri"/>
                  <a:cs typeface="Calibri"/>
                  <a:sym typeface="Calibri"/>
                </a:rPr>
                <a:t>깨끗해졌어요</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164" name="TextBox 163">
              <a:extLst>
                <a:ext uri="{FF2B5EF4-FFF2-40B4-BE49-F238E27FC236}">
                  <a16:creationId xmlns:a16="http://schemas.microsoft.com/office/drawing/2014/main" id="{262C5193-6E4B-184A-B7F5-4C217E8DF3ED}"/>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Cleaning</a:t>
              </a:r>
            </a:p>
            <a:p>
              <a:pPr algn="ctr"/>
              <a:r>
                <a:rPr lang="en-GB" b="1">
                  <a:solidFill>
                    <a:schemeClr val="bg1">
                      <a:lumMod val="75000"/>
                    </a:schemeClr>
                  </a:solidFill>
                  <a:latin typeface="Avenir"/>
                  <a:ea typeface="Helvetica" charset="0"/>
                  <a:cs typeface="Helvetica" charset="0"/>
                </a:rPr>
                <a:t>50</a:t>
              </a:r>
            </a:p>
          </p:txBody>
        </p:sp>
        <p:sp>
          <p:nvSpPr>
            <p:cNvPr id="165" name="TextBox 164">
              <a:extLst>
                <a:ext uri="{FF2B5EF4-FFF2-40B4-BE49-F238E27FC236}">
                  <a16:creationId xmlns:a16="http://schemas.microsoft.com/office/drawing/2014/main" id="{179984DE-DAA5-EF45-AE00-4FBE44719B44}"/>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Cash</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50</a:t>
              </a:r>
            </a:p>
          </p:txBody>
        </p:sp>
        <p:sp>
          <p:nvSpPr>
            <p:cNvPr id="166" name="TextBox 165">
              <a:extLst>
                <a:ext uri="{FF2B5EF4-FFF2-40B4-BE49-F238E27FC236}">
                  <a16:creationId xmlns:a16="http://schemas.microsoft.com/office/drawing/2014/main" id="{9AFA60E5-3B02-DA40-BBE5-989E4437A1C0}"/>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7</a:t>
              </a:r>
            </a:p>
          </p:txBody>
        </p:sp>
      </p:grpSp>
      <p:sp>
        <p:nvSpPr>
          <p:cNvPr id="167" name="TextBox 166">
            <a:extLst>
              <a:ext uri="{FF2B5EF4-FFF2-40B4-BE49-F238E27FC236}">
                <a16:creationId xmlns:a16="http://schemas.microsoft.com/office/drawing/2014/main" id="{72F9D514-EB67-7C48-AA3E-815C0FC2226F}"/>
              </a:ext>
            </a:extLst>
          </p:cNvPr>
          <p:cNvSpPr txBox="1"/>
          <p:nvPr/>
        </p:nvSpPr>
        <p:spPr>
          <a:xfrm>
            <a:off x="8518420" y="1028297"/>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50</a:t>
            </a:r>
          </a:p>
        </p:txBody>
      </p:sp>
      <p:sp>
        <p:nvSpPr>
          <p:cNvPr id="168" name="TextBox 167">
            <a:extLst>
              <a:ext uri="{FF2B5EF4-FFF2-40B4-BE49-F238E27FC236}">
                <a16:creationId xmlns:a16="http://schemas.microsoft.com/office/drawing/2014/main" id="{EB090522-85E8-0245-ADEC-846F395C90DE}"/>
              </a:ext>
            </a:extLst>
          </p:cNvPr>
          <p:cNvSpPr txBox="1"/>
          <p:nvPr/>
        </p:nvSpPr>
        <p:spPr>
          <a:xfrm>
            <a:off x="10201490" y="1032410"/>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50</a:t>
            </a:r>
          </a:p>
        </p:txBody>
      </p:sp>
      <p:sp>
        <p:nvSpPr>
          <p:cNvPr id="180" name="Down Arrow 179">
            <a:extLst>
              <a:ext uri="{FF2B5EF4-FFF2-40B4-BE49-F238E27FC236}">
                <a16:creationId xmlns:a16="http://schemas.microsoft.com/office/drawing/2014/main" id="{C683CBD7-A98A-B342-83BE-9EA458B023DC}"/>
              </a:ext>
            </a:extLst>
          </p:cNvPr>
          <p:cNvSpPr/>
          <p:nvPr/>
        </p:nvSpPr>
        <p:spPr>
          <a:xfrm rot="10800000">
            <a:off x="153289" y="4549188"/>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2" name="Down Arrow 181">
            <a:extLst>
              <a:ext uri="{FF2B5EF4-FFF2-40B4-BE49-F238E27FC236}">
                <a16:creationId xmlns:a16="http://schemas.microsoft.com/office/drawing/2014/main" id="{1A167B37-342A-2443-BD7E-D7D105BA716B}"/>
              </a:ext>
            </a:extLst>
          </p:cNvPr>
          <p:cNvSpPr/>
          <p:nvPr/>
        </p:nvSpPr>
        <p:spPr>
          <a:xfrm>
            <a:off x="152838" y="842384"/>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TextBox 141">
            <a:extLst>
              <a:ext uri="{FF2B5EF4-FFF2-40B4-BE49-F238E27FC236}">
                <a16:creationId xmlns:a16="http://schemas.microsoft.com/office/drawing/2014/main" id="{1B5EC535-F7AC-8146-9838-EBAF09353B46}"/>
              </a:ext>
            </a:extLst>
          </p:cNvPr>
          <p:cNvSpPr txBox="1"/>
          <p:nvPr/>
        </p:nvSpPr>
        <p:spPr>
          <a:xfrm>
            <a:off x="6423872" y="3419412"/>
            <a:ext cx="1548343" cy="566133"/>
          </a:xfrm>
          <a:prstGeom prst="rect">
            <a:avLst/>
          </a:prstGeom>
          <a:noFill/>
        </p:spPr>
        <p:txBody>
          <a:bodyPr wrap="square" rtlCol="0" anchor="ctr">
            <a:noAutofit/>
          </a:bodyPr>
          <a:lstStyle/>
          <a:p>
            <a:pPr algn="ctr"/>
            <a:r>
              <a:rPr lang="en-US" sz="2400" b="1">
                <a:latin typeface="Avenir"/>
              </a:rPr>
              <a:t>350</a:t>
            </a:r>
            <a:endParaRPr lang="en-GB" sz="2400"/>
          </a:p>
        </p:txBody>
      </p:sp>
      <p:sp>
        <p:nvSpPr>
          <p:cNvPr id="143" name="TextBox 142">
            <a:extLst>
              <a:ext uri="{FF2B5EF4-FFF2-40B4-BE49-F238E27FC236}">
                <a16:creationId xmlns:a16="http://schemas.microsoft.com/office/drawing/2014/main" id="{FC67389C-91B3-0841-B488-F9ED99C2D016}"/>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400</a:t>
            </a:r>
            <a:endParaRPr lang="en-GB" sz="2400"/>
          </a:p>
        </p:txBody>
      </p:sp>
    </p:spTree>
    <p:extLst>
      <p:ext uri="{BB962C8B-B14F-4D97-AF65-F5344CB8AC3E}">
        <p14:creationId xmlns:p14="http://schemas.microsoft.com/office/powerpoint/2010/main" val="733582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8.33333E-7 4.44444E-6 L -0.63086 0.11875 " pathEditMode="relative" rAng="0" ptsTypes="AA">
                                      <p:cBhvr>
                                        <p:cTn id="6" dur="3000" fill="hold"/>
                                        <p:tgtEl>
                                          <p:spTgt spid="168"/>
                                        </p:tgtEl>
                                        <p:attrNameLst>
                                          <p:attrName>ppt_x</p:attrName>
                                          <p:attrName>ppt_y</p:attrName>
                                        </p:attrNameLst>
                                      </p:cBhvr>
                                      <p:rCtr x="-31549" y="5926"/>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168"/>
                                        </p:tgtEl>
                                        <p:attrNameLst>
                                          <p:attrName>ppt_w</p:attrName>
                                        </p:attrNameLst>
                                      </p:cBhvr>
                                      <p:tavLst>
                                        <p:tav tm="0">
                                          <p:val>
                                            <p:strVal val="ppt_w"/>
                                          </p:val>
                                        </p:tav>
                                        <p:tav tm="100000">
                                          <p:val>
                                            <p:fltVal val="0"/>
                                          </p:val>
                                        </p:tav>
                                      </p:tavLst>
                                    </p:anim>
                                    <p:anim calcmode="lin" valueType="num">
                                      <p:cBhvr>
                                        <p:cTn id="10" dur="1000"/>
                                        <p:tgtEl>
                                          <p:spTgt spid="168"/>
                                        </p:tgtEl>
                                        <p:attrNameLst>
                                          <p:attrName>ppt_h</p:attrName>
                                        </p:attrNameLst>
                                      </p:cBhvr>
                                      <p:tavLst>
                                        <p:tav tm="0">
                                          <p:val>
                                            <p:strVal val="ppt_h"/>
                                          </p:val>
                                        </p:tav>
                                        <p:tav tm="100000">
                                          <p:val>
                                            <p:fltVal val="0"/>
                                          </p:val>
                                        </p:tav>
                                      </p:tavLst>
                                    </p:anim>
                                    <p:anim calcmode="lin" valueType="num">
                                      <p:cBhvr>
                                        <p:cTn id="11" dur="1000"/>
                                        <p:tgtEl>
                                          <p:spTgt spid="168"/>
                                        </p:tgtEl>
                                        <p:attrNameLst>
                                          <p:attrName>style.rotation</p:attrName>
                                        </p:attrNameLst>
                                      </p:cBhvr>
                                      <p:tavLst>
                                        <p:tav tm="0">
                                          <p:val>
                                            <p:fltVal val="0"/>
                                          </p:val>
                                        </p:tav>
                                        <p:tav tm="100000">
                                          <p:val>
                                            <p:fltVal val="90"/>
                                          </p:val>
                                        </p:tav>
                                      </p:tavLst>
                                    </p:anim>
                                    <p:animEffect transition="out" filter="fade">
                                      <p:cBhvr>
                                        <p:cTn id="12" dur="1000"/>
                                        <p:tgtEl>
                                          <p:spTgt spid="168"/>
                                        </p:tgtEl>
                                      </p:cBhvr>
                                    </p:animEffect>
                                    <p:set>
                                      <p:cBhvr>
                                        <p:cTn id="13" dur="1" fill="hold">
                                          <p:stCondLst>
                                            <p:cond delay="999"/>
                                          </p:stCondLst>
                                        </p:cTn>
                                        <p:tgtEl>
                                          <p:spTgt spid="168"/>
                                        </p:tgtEl>
                                        <p:attrNameLst>
                                          <p:attrName>style.visibility</p:attrName>
                                        </p:attrNameLst>
                                      </p:cBhvr>
                                      <p:to>
                                        <p:strVal val="hidden"/>
                                      </p:to>
                                    </p:set>
                                  </p:childTnLst>
                                </p:cTn>
                              </p:par>
                              <p:par>
                                <p:cTn id="14" presetID="47" presetClass="entr" presetSubtype="0" fill="hold" nodeType="withEffect">
                                  <p:stCondLst>
                                    <p:cond delay="0"/>
                                  </p:stCondLst>
                                  <p:childTnLst>
                                    <p:set>
                                      <p:cBhvr>
                                        <p:cTn id="15" dur="1" fill="hold">
                                          <p:stCondLst>
                                            <p:cond delay="0"/>
                                          </p:stCondLst>
                                        </p:cTn>
                                        <p:tgtEl>
                                          <p:spTgt spid="284"/>
                                        </p:tgtEl>
                                        <p:attrNameLst>
                                          <p:attrName>style.visibility</p:attrName>
                                        </p:attrNameLst>
                                      </p:cBhvr>
                                      <p:to>
                                        <p:strVal val="visible"/>
                                      </p:to>
                                    </p:set>
                                    <p:animEffect transition="in" filter="fade">
                                      <p:cBhvr>
                                        <p:cTn id="16" dur="1000"/>
                                        <p:tgtEl>
                                          <p:spTgt spid="284"/>
                                        </p:tgtEl>
                                      </p:cBhvr>
                                    </p:animEffect>
                                    <p:anim calcmode="lin" valueType="num">
                                      <p:cBhvr>
                                        <p:cTn id="17" dur="1000" fill="hold"/>
                                        <p:tgtEl>
                                          <p:spTgt spid="284"/>
                                        </p:tgtEl>
                                        <p:attrNameLst>
                                          <p:attrName>ppt_x</p:attrName>
                                        </p:attrNameLst>
                                      </p:cBhvr>
                                      <p:tavLst>
                                        <p:tav tm="0">
                                          <p:val>
                                            <p:strVal val="#ppt_x"/>
                                          </p:val>
                                        </p:tav>
                                        <p:tav tm="100000">
                                          <p:val>
                                            <p:strVal val="#ppt_x"/>
                                          </p:val>
                                        </p:tav>
                                      </p:tavLst>
                                    </p:anim>
                                    <p:anim calcmode="lin" valueType="num">
                                      <p:cBhvr>
                                        <p:cTn id="18" dur="1000" fill="hold"/>
                                        <p:tgtEl>
                                          <p:spTgt spid="284"/>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200"/>
                                        </p:tgtEl>
                                        <p:attrNameLst>
                                          <p:attrName>style.visibility</p:attrName>
                                        </p:attrNameLst>
                                      </p:cBhvr>
                                      <p:to>
                                        <p:strVal val="visible"/>
                                      </p:to>
                                    </p:set>
                                    <p:animEffect transition="in" filter="fade">
                                      <p:cBhvr>
                                        <p:cTn id="21" dur="1000"/>
                                        <p:tgtEl>
                                          <p:spTgt spid="200"/>
                                        </p:tgtEl>
                                      </p:cBhvr>
                                    </p:animEffect>
                                    <p:anim calcmode="lin" valueType="num">
                                      <p:cBhvr>
                                        <p:cTn id="22" dur="1000" fill="hold"/>
                                        <p:tgtEl>
                                          <p:spTgt spid="200"/>
                                        </p:tgtEl>
                                        <p:attrNameLst>
                                          <p:attrName>ppt_x</p:attrName>
                                        </p:attrNameLst>
                                      </p:cBhvr>
                                      <p:tavLst>
                                        <p:tav tm="0">
                                          <p:val>
                                            <p:strVal val="#ppt_x"/>
                                          </p:val>
                                        </p:tav>
                                        <p:tav tm="100000">
                                          <p:val>
                                            <p:strVal val="#ppt_x"/>
                                          </p:val>
                                        </p:tav>
                                      </p:tavLst>
                                    </p:anim>
                                    <p:anim calcmode="lin" valueType="num">
                                      <p:cBhvr>
                                        <p:cTn id="23" dur="1000" fill="hold"/>
                                        <p:tgtEl>
                                          <p:spTgt spid="200"/>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181"/>
                                        </p:tgtEl>
                                        <p:attrNameLst>
                                          <p:attrName>style.visibility</p:attrName>
                                        </p:attrNameLst>
                                      </p:cBhvr>
                                      <p:to>
                                        <p:strVal val="visible"/>
                                      </p:to>
                                    </p:set>
                                    <p:animEffect transition="in" filter="fade">
                                      <p:cBhvr>
                                        <p:cTn id="26" dur="1000"/>
                                        <p:tgtEl>
                                          <p:spTgt spid="181"/>
                                        </p:tgtEl>
                                      </p:cBhvr>
                                    </p:animEffect>
                                    <p:anim calcmode="lin" valueType="num">
                                      <p:cBhvr>
                                        <p:cTn id="27" dur="1000" fill="hold"/>
                                        <p:tgtEl>
                                          <p:spTgt spid="181"/>
                                        </p:tgtEl>
                                        <p:attrNameLst>
                                          <p:attrName>ppt_x</p:attrName>
                                        </p:attrNameLst>
                                      </p:cBhvr>
                                      <p:tavLst>
                                        <p:tav tm="0">
                                          <p:val>
                                            <p:strVal val="#ppt_x"/>
                                          </p:val>
                                        </p:tav>
                                        <p:tav tm="100000">
                                          <p:val>
                                            <p:strVal val="#ppt_x"/>
                                          </p:val>
                                        </p:tav>
                                      </p:tavLst>
                                    </p:anim>
                                    <p:anim calcmode="lin" valueType="num">
                                      <p:cBhvr>
                                        <p:cTn id="28" dur="1000" fill="hold"/>
                                        <p:tgtEl>
                                          <p:spTgt spid="18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2"/>
                                        </p:tgtEl>
                                        <p:attrNameLst>
                                          <p:attrName>style.visibility</p:attrName>
                                        </p:attrNameLst>
                                      </p:cBhvr>
                                      <p:to>
                                        <p:strVal val="visible"/>
                                      </p:to>
                                    </p:set>
                                    <p:animEffect transition="in" filter="fade">
                                      <p:cBhvr>
                                        <p:cTn id="33" dur="500"/>
                                        <p:tgtEl>
                                          <p:spTgt spid="112"/>
                                        </p:tgtEl>
                                      </p:cBhvr>
                                    </p:animEffect>
                                  </p:childTnLst>
                                </p:cTn>
                              </p:par>
                              <p:par>
                                <p:cTn id="34" presetID="10" presetClass="entr" presetSubtype="0" fill="hold" nodeType="withEffect">
                                  <p:stCondLst>
                                    <p:cond delay="0"/>
                                  </p:stCondLst>
                                  <p:childTnLst>
                                    <p:set>
                                      <p:cBhvr>
                                        <p:cTn id="35" dur="1" fill="hold">
                                          <p:stCondLst>
                                            <p:cond delay="0"/>
                                          </p:stCondLst>
                                        </p:cTn>
                                        <p:tgtEl>
                                          <p:spTgt spid="411"/>
                                        </p:tgtEl>
                                        <p:attrNameLst>
                                          <p:attrName>style.visibility</p:attrName>
                                        </p:attrNameLst>
                                      </p:cBhvr>
                                      <p:to>
                                        <p:strVal val="visible"/>
                                      </p:to>
                                    </p:set>
                                    <p:animEffect transition="in" filter="fade">
                                      <p:cBhvr>
                                        <p:cTn id="36" dur="500"/>
                                        <p:tgtEl>
                                          <p:spTgt spid="411"/>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0" nodeType="clickEffect">
                                  <p:stCondLst>
                                    <p:cond delay="0"/>
                                  </p:stCondLst>
                                  <p:childTnLst>
                                    <p:animMotion origin="layout" path="M 1.66667E-6 -2.59259E-6 L -0.49844 0.4801 " pathEditMode="relative" rAng="0" ptsTypes="AA">
                                      <p:cBhvr>
                                        <p:cTn id="40" dur="3000" fill="hold"/>
                                        <p:tgtEl>
                                          <p:spTgt spid="167"/>
                                        </p:tgtEl>
                                        <p:attrNameLst>
                                          <p:attrName>ppt_x</p:attrName>
                                          <p:attrName>ppt_y</p:attrName>
                                        </p:attrNameLst>
                                      </p:cBhvr>
                                      <p:rCtr x="-24922" y="24005"/>
                                    </p:animMotion>
                                  </p:childTnLst>
                                </p:cTn>
                              </p:par>
                            </p:childTnLst>
                          </p:cTn>
                        </p:par>
                        <p:par>
                          <p:cTn id="41" fill="hold">
                            <p:stCondLst>
                              <p:cond delay="3000"/>
                            </p:stCondLst>
                            <p:childTnLst>
                              <p:par>
                                <p:cTn id="42" presetID="31" presetClass="exit" presetSubtype="0" fill="hold" grpId="1" nodeType="afterEffect">
                                  <p:stCondLst>
                                    <p:cond delay="0"/>
                                  </p:stCondLst>
                                  <p:childTnLst>
                                    <p:anim calcmode="lin" valueType="num">
                                      <p:cBhvr>
                                        <p:cTn id="43" dur="1000"/>
                                        <p:tgtEl>
                                          <p:spTgt spid="167"/>
                                        </p:tgtEl>
                                        <p:attrNameLst>
                                          <p:attrName>ppt_w</p:attrName>
                                        </p:attrNameLst>
                                      </p:cBhvr>
                                      <p:tavLst>
                                        <p:tav tm="0">
                                          <p:val>
                                            <p:strVal val="ppt_w"/>
                                          </p:val>
                                        </p:tav>
                                        <p:tav tm="100000">
                                          <p:val>
                                            <p:fltVal val="0"/>
                                          </p:val>
                                        </p:tav>
                                      </p:tavLst>
                                    </p:anim>
                                    <p:anim calcmode="lin" valueType="num">
                                      <p:cBhvr>
                                        <p:cTn id="44" dur="1000"/>
                                        <p:tgtEl>
                                          <p:spTgt spid="167"/>
                                        </p:tgtEl>
                                        <p:attrNameLst>
                                          <p:attrName>ppt_h</p:attrName>
                                        </p:attrNameLst>
                                      </p:cBhvr>
                                      <p:tavLst>
                                        <p:tav tm="0">
                                          <p:val>
                                            <p:strVal val="ppt_h"/>
                                          </p:val>
                                        </p:tav>
                                        <p:tav tm="100000">
                                          <p:val>
                                            <p:fltVal val="0"/>
                                          </p:val>
                                        </p:tav>
                                      </p:tavLst>
                                    </p:anim>
                                    <p:anim calcmode="lin" valueType="num">
                                      <p:cBhvr>
                                        <p:cTn id="45" dur="1000"/>
                                        <p:tgtEl>
                                          <p:spTgt spid="167"/>
                                        </p:tgtEl>
                                        <p:attrNameLst>
                                          <p:attrName>style.rotation</p:attrName>
                                        </p:attrNameLst>
                                      </p:cBhvr>
                                      <p:tavLst>
                                        <p:tav tm="0">
                                          <p:val>
                                            <p:fltVal val="0"/>
                                          </p:val>
                                        </p:tav>
                                        <p:tav tm="100000">
                                          <p:val>
                                            <p:fltVal val="90"/>
                                          </p:val>
                                        </p:tav>
                                      </p:tavLst>
                                    </p:anim>
                                    <p:animEffect transition="out" filter="fade">
                                      <p:cBhvr>
                                        <p:cTn id="46" dur="1000"/>
                                        <p:tgtEl>
                                          <p:spTgt spid="167"/>
                                        </p:tgtEl>
                                      </p:cBhvr>
                                    </p:animEffect>
                                    <p:set>
                                      <p:cBhvr>
                                        <p:cTn id="47" dur="1" fill="hold">
                                          <p:stCondLst>
                                            <p:cond delay="999"/>
                                          </p:stCondLst>
                                        </p:cTn>
                                        <p:tgtEl>
                                          <p:spTgt spid="167"/>
                                        </p:tgtEl>
                                        <p:attrNameLst>
                                          <p:attrName>style.visibility</p:attrName>
                                        </p:attrNameLst>
                                      </p:cBhvr>
                                      <p:to>
                                        <p:strVal val="hidden"/>
                                      </p:to>
                                    </p:set>
                                  </p:childTnLst>
                                </p:cTn>
                              </p:par>
                              <p:par>
                                <p:cTn id="48" presetID="42" presetClass="entr" presetSubtype="0" fill="hold" nodeType="withEffect">
                                  <p:stCondLst>
                                    <p:cond delay="0"/>
                                  </p:stCondLst>
                                  <p:childTnLst>
                                    <p:set>
                                      <p:cBhvr>
                                        <p:cTn id="49" dur="1" fill="hold">
                                          <p:stCondLst>
                                            <p:cond delay="0"/>
                                          </p:stCondLst>
                                        </p:cTn>
                                        <p:tgtEl>
                                          <p:spTgt spid="347"/>
                                        </p:tgtEl>
                                        <p:attrNameLst>
                                          <p:attrName>style.visibility</p:attrName>
                                        </p:attrNameLst>
                                      </p:cBhvr>
                                      <p:to>
                                        <p:strVal val="visible"/>
                                      </p:to>
                                    </p:set>
                                    <p:animEffect transition="in" filter="fade">
                                      <p:cBhvr>
                                        <p:cTn id="50" dur="1000"/>
                                        <p:tgtEl>
                                          <p:spTgt spid="347"/>
                                        </p:tgtEl>
                                      </p:cBhvr>
                                    </p:animEffect>
                                    <p:anim calcmode="lin" valueType="num">
                                      <p:cBhvr>
                                        <p:cTn id="51" dur="1000" fill="hold"/>
                                        <p:tgtEl>
                                          <p:spTgt spid="347"/>
                                        </p:tgtEl>
                                        <p:attrNameLst>
                                          <p:attrName>ppt_x</p:attrName>
                                        </p:attrNameLst>
                                      </p:cBhvr>
                                      <p:tavLst>
                                        <p:tav tm="0">
                                          <p:val>
                                            <p:strVal val="#ppt_x"/>
                                          </p:val>
                                        </p:tav>
                                        <p:tav tm="100000">
                                          <p:val>
                                            <p:strVal val="#ppt_x"/>
                                          </p:val>
                                        </p:tav>
                                      </p:tavLst>
                                    </p:anim>
                                    <p:anim calcmode="lin" valueType="num">
                                      <p:cBhvr>
                                        <p:cTn id="52" dur="1000" fill="hold"/>
                                        <p:tgtEl>
                                          <p:spTgt spid="347"/>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19"/>
                                        </p:tgtEl>
                                        <p:attrNameLst>
                                          <p:attrName>style.visibility</p:attrName>
                                        </p:attrNameLst>
                                      </p:cBhvr>
                                      <p:to>
                                        <p:strVal val="visible"/>
                                      </p:to>
                                    </p:set>
                                    <p:animEffect transition="in" filter="fade">
                                      <p:cBhvr>
                                        <p:cTn id="55" dur="1000"/>
                                        <p:tgtEl>
                                          <p:spTgt spid="219"/>
                                        </p:tgtEl>
                                      </p:cBhvr>
                                    </p:animEffect>
                                    <p:anim calcmode="lin" valueType="num">
                                      <p:cBhvr>
                                        <p:cTn id="56" dur="1000" fill="hold"/>
                                        <p:tgtEl>
                                          <p:spTgt spid="219"/>
                                        </p:tgtEl>
                                        <p:attrNameLst>
                                          <p:attrName>ppt_x</p:attrName>
                                        </p:attrNameLst>
                                      </p:cBhvr>
                                      <p:tavLst>
                                        <p:tav tm="0">
                                          <p:val>
                                            <p:strVal val="#ppt_x"/>
                                          </p:val>
                                        </p:tav>
                                        <p:tav tm="100000">
                                          <p:val>
                                            <p:strVal val="#ppt_x"/>
                                          </p:val>
                                        </p:tav>
                                      </p:tavLst>
                                    </p:anim>
                                    <p:anim calcmode="lin" valueType="num">
                                      <p:cBhvr>
                                        <p:cTn id="57" dur="1000" fill="hold"/>
                                        <p:tgtEl>
                                          <p:spTgt spid="219"/>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69"/>
                                        </p:tgtEl>
                                        <p:attrNameLst>
                                          <p:attrName>style.visibility</p:attrName>
                                        </p:attrNameLst>
                                      </p:cBhvr>
                                      <p:to>
                                        <p:strVal val="visible"/>
                                      </p:to>
                                    </p:set>
                                    <p:animEffect transition="in" filter="fade">
                                      <p:cBhvr>
                                        <p:cTn id="60" dur="1000"/>
                                        <p:tgtEl>
                                          <p:spTgt spid="169"/>
                                        </p:tgtEl>
                                      </p:cBhvr>
                                    </p:animEffect>
                                    <p:anim calcmode="lin" valueType="num">
                                      <p:cBhvr>
                                        <p:cTn id="61" dur="1000" fill="hold"/>
                                        <p:tgtEl>
                                          <p:spTgt spid="169"/>
                                        </p:tgtEl>
                                        <p:attrNameLst>
                                          <p:attrName>ppt_x</p:attrName>
                                        </p:attrNameLst>
                                      </p:cBhvr>
                                      <p:tavLst>
                                        <p:tav tm="0">
                                          <p:val>
                                            <p:strVal val="#ppt_x"/>
                                          </p:val>
                                        </p:tav>
                                        <p:tav tm="100000">
                                          <p:val>
                                            <p:strVal val="#ppt_x"/>
                                          </p:val>
                                        </p:tav>
                                      </p:tavLst>
                                    </p:anim>
                                    <p:anim calcmode="lin" valueType="num">
                                      <p:cBhvr>
                                        <p:cTn id="62" dur="1000" fill="hold"/>
                                        <p:tgtEl>
                                          <p:spTgt spid="169"/>
                                        </p:tgtEl>
                                        <p:attrNameLst>
                                          <p:attrName>ppt_y</p:attrName>
                                        </p:attrNameLst>
                                      </p:cBhvr>
                                      <p:tavLst>
                                        <p:tav tm="0">
                                          <p:val>
                                            <p:strVal val="#ppt_y+.1"/>
                                          </p:val>
                                        </p:tav>
                                        <p:tav tm="100000">
                                          <p:val>
                                            <p:strVal val="#ppt_y"/>
                                          </p:val>
                                        </p:tav>
                                      </p:tavLst>
                                    </p:anim>
                                  </p:childTnLst>
                                </p:cTn>
                              </p:par>
                            </p:childTnLst>
                          </p:cTn>
                        </p:par>
                        <p:par>
                          <p:cTn id="63" fill="hold">
                            <p:stCondLst>
                              <p:cond delay="4000"/>
                            </p:stCondLst>
                            <p:childTnLst>
                              <p:par>
                                <p:cTn id="64" presetID="10" presetClass="entr" presetSubtype="0" fill="hold" grpId="0" nodeType="afterEffect">
                                  <p:stCondLst>
                                    <p:cond delay="0"/>
                                  </p:stCondLst>
                                  <p:childTnLst>
                                    <p:set>
                                      <p:cBhvr>
                                        <p:cTn id="65" dur="1" fill="hold">
                                          <p:stCondLst>
                                            <p:cond delay="0"/>
                                          </p:stCondLst>
                                        </p:cTn>
                                        <p:tgtEl>
                                          <p:spTgt spid="142"/>
                                        </p:tgtEl>
                                        <p:attrNameLst>
                                          <p:attrName>style.visibility</p:attrName>
                                        </p:attrNameLst>
                                      </p:cBhvr>
                                      <p:to>
                                        <p:strVal val="visible"/>
                                      </p:to>
                                    </p:set>
                                    <p:animEffect transition="in" filter="fade">
                                      <p:cBhvr>
                                        <p:cTn id="66" dur="1000"/>
                                        <p:tgtEl>
                                          <p:spTgt spid="142"/>
                                        </p:tgtEl>
                                      </p:cBhvr>
                                    </p:animEffect>
                                  </p:childTnLst>
                                </p:cTn>
                              </p:par>
                              <p:par>
                                <p:cTn id="67" presetID="10" presetClass="exit" presetSubtype="0" fill="hold" grpId="0" nodeType="withEffect">
                                  <p:stCondLst>
                                    <p:cond delay="0"/>
                                  </p:stCondLst>
                                  <p:childTnLst>
                                    <p:animEffect transition="out" filter="fade">
                                      <p:cBhvr>
                                        <p:cTn id="68" dur="500"/>
                                        <p:tgtEl>
                                          <p:spTgt spid="143"/>
                                        </p:tgtEl>
                                      </p:cBhvr>
                                    </p:animEffect>
                                    <p:set>
                                      <p:cBhvr>
                                        <p:cTn id="69" dur="1" fill="hold">
                                          <p:stCondLst>
                                            <p:cond delay="499"/>
                                          </p:stCondLst>
                                        </p:cTn>
                                        <p:tgtEl>
                                          <p:spTgt spid="143"/>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180"/>
                                        </p:tgtEl>
                                        <p:attrNameLst>
                                          <p:attrName>style.visibility</p:attrName>
                                        </p:attrNameLst>
                                      </p:cBhvr>
                                      <p:to>
                                        <p:strVal val="visible"/>
                                      </p:to>
                                    </p:set>
                                    <p:animEffect transition="in" filter="fade">
                                      <p:cBhvr>
                                        <p:cTn id="74" dur="1000"/>
                                        <p:tgtEl>
                                          <p:spTgt spid="180"/>
                                        </p:tgtEl>
                                      </p:cBhvr>
                                    </p:animEffect>
                                    <p:anim calcmode="lin" valueType="num">
                                      <p:cBhvr>
                                        <p:cTn id="75" dur="1000" fill="hold"/>
                                        <p:tgtEl>
                                          <p:spTgt spid="180"/>
                                        </p:tgtEl>
                                        <p:attrNameLst>
                                          <p:attrName>ppt_x</p:attrName>
                                        </p:attrNameLst>
                                      </p:cBhvr>
                                      <p:tavLst>
                                        <p:tav tm="0">
                                          <p:val>
                                            <p:strVal val="#ppt_x"/>
                                          </p:val>
                                        </p:tav>
                                        <p:tav tm="100000">
                                          <p:val>
                                            <p:strVal val="#ppt_x"/>
                                          </p:val>
                                        </p:tav>
                                      </p:tavLst>
                                    </p:anim>
                                    <p:anim calcmode="lin" valueType="num">
                                      <p:cBhvr>
                                        <p:cTn id="76" dur="1000" fill="hold"/>
                                        <p:tgtEl>
                                          <p:spTgt spid="180"/>
                                        </p:tgtEl>
                                        <p:attrNameLst>
                                          <p:attrName>ppt_y</p:attrName>
                                        </p:attrNameLst>
                                      </p:cBhvr>
                                      <p:tavLst>
                                        <p:tav tm="0">
                                          <p:val>
                                            <p:strVal val="#ppt_y+.1"/>
                                          </p:val>
                                        </p:tav>
                                        <p:tav tm="100000">
                                          <p:val>
                                            <p:strVal val="#ppt_y"/>
                                          </p:val>
                                        </p:tav>
                                      </p:tavLst>
                                    </p:anim>
                                  </p:childTnLst>
                                </p:cTn>
                              </p:par>
                              <p:par>
                                <p:cTn id="77" presetID="47" presetClass="entr" presetSubtype="0" fill="hold" grpId="0" nodeType="withEffect">
                                  <p:stCondLst>
                                    <p:cond delay="0"/>
                                  </p:stCondLst>
                                  <p:childTnLst>
                                    <p:set>
                                      <p:cBhvr>
                                        <p:cTn id="78" dur="1" fill="hold">
                                          <p:stCondLst>
                                            <p:cond delay="0"/>
                                          </p:stCondLst>
                                        </p:cTn>
                                        <p:tgtEl>
                                          <p:spTgt spid="182"/>
                                        </p:tgtEl>
                                        <p:attrNameLst>
                                          <p:attrName>style.visibility</p:attrName>
                                        </p:attrNameLst>
                                      </p:cBhvr>
                                      <p:to>
                                        <p:strVal val="visible"/>
                                      </p:to>
                                    </p:set>
                                    <p:animEffect transition="in" filter="fade">
                                      <p:cBhvr>
                                        <p:cTn id="79" dur="1000"/>
                                        <p:tgtEl>
                                          <p:spTgt spid="182"/>
                                        </p:tgtEl>
                                      </p:cBhvr>
                                    </p:animEffect>
                                    <p:anim calcmode="lin" valueType="num">
                                      <p:cBhvr>
                                        <p:cTn id="80" dur="1000" fill="hold"/>
                                        <p:tgtEl>
                                          <p:spTgt spid="182"/>
                                        </p:tgtEl>
                                        <p:attrNameLst>
                                          <p:attrName>ppt_x</p:attrName>
                                        </p:attrNameLst>
                                      </p:cBhvr>
                                      <p:tavLst>
                                        <p:tav tm="0">
                                          <p:val>
                                            <p:strVal val="#ppt_x"/>
                                          </p:val>
                                        </p:tav>
                                        <p:tav tm="100000">
                                          <p:val>
                                            <p:strVal val="#ppt_x"/>
                                          </p:val>
                                        </p:tav>
                                      </p:tavLst>
                                    </p:anim>
                                    <p:anim calcmode="lin" valueType="num">
                                      <p:cBhvr>
                                        <p:cTn id="81" dur="1000" fill="hold"/>
                                        <p:tgtEl>
                                          <p:spTgt spid="1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81" grpId="0"/>
      <p:bldP spid="169" grpId="0"/>
      <p:bldP spid="200" grpId="0" animBg="1"/>
      <p:bldP spid="219" grpId="0" animBg="1"/>
      <p:bldP spid="167" grpId="0" animBg="1"/>
      <p:bldP spid="167" grpId="1" animBg="1"/>
      <p:bldP spid="168" grpId="0" animBg="1"/>
      <p:bldP spid="168" grpId="1" animBg="1"/>
      <p:bldP spid="180" grpId="0" animBg="1"/>
      <p:bldP spid="182" grpId="0" animBg="1"/>
      <p:bldP spid="142" grpId="0"/>
      <p:bldP spid="14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89"/>
        <p:cNvGrpSpPr/>
        <p:nvPr/>
      </p:nvGrpSpPr>
      <p:grpSpPr>
        <a:xfrm>
          <a:off x="0" y="0"/>
          <a:ext cx="0" cy="0"/>
          <a:chOff x="0" y="0"/>
          <a:chExt cx="0" cy="0"/>
        </a:xfrm>
      </p:grpSpPr>
      <p:sp>
        <p:nvSpPr>
          <p:cNvPr id="1790" name="Google Shape;1790;p61"/>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791" name="Google Shape;1791;p61"/>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1792" name="Google Shape;1792;p61"/>
          <p:cNvGrpSpPr/>
          <p:nvPr/>
        </p:nvGrpSpPr>
        <p:grpSpPr>
          <a:xfrm>
            <a:off x="1284576" y="2130924"/>
            <a:ext cx="10188969" cy="756004"/>
            <a:chOff x="926134" y="1719856"/>
            <a:chExt cx="9204181" cy="750147"/>
          </a:xfrm>
        </p:grpSpPr>
        <p:sp>
          <p:nvSpPr>
            <p:cNvPr id="1793" name="Google Shape;1793;p61"/>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고객 B에게 또 다른 판매를 진행함. 그녀는 결제 담당자가 내일 와서 결제할 것이라고 말함.</a:t>
              </a:r>
              <a:endParaRPr sz="2000">
                <a:solidFill>
                  <a:schemeClr val="dk1"/>
                </a:solidFill>
                <a:latin typeface="Avenir"/>
                <a:ea typeface="Avenir"/>
                <a:cs typeface="Avenir"/>
                <a:sym typeface="Avenir"/>
              </a:endParaRPr>
            </a:p>
          </p:txBody>
        </p:sp>
        <p:sp>
          <p:nvSpPr>
            <p:cNvPr id="1794" name="Google Shape;1794;p61"/>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Accounts receivable</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600</a:t>
              </a:r>
              <a:endParaRPr/>
            </a:p>
          </p:txBody>
        </p:sp>
        <p:sp>
          <p:nvSpPr>
            <p:cNvPr id="1795" name="Google Shape;1795;p61"/>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Sales</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600</a:t>
              </a:r>
              <a:endParaRPr/>
            </a:p>
          </p:txBody>
        </p:sp>
        <p:sp>
          <p:nvSpPr>
            <p:cNvPr id="1796" name="Google Shape;1796;p61"/>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8a</a:t>
              </a:r>
              <a:endParaRPr/>
            </a:p>
          </p:txBody>
        </p:sp>
      </p:grpSp>
      <p:sp>
        <p:nvSpPr>
          <p:cNvPr id="1797" name="Google Shape;1797;p61"/>
          <p:cNvSpPr txBox="1"/>
          <p:nvPr/>
        </p:nvSpPr>
        <p:spPr>
          <a:xfrm>
            <a:off x="8109273" y="2126055"/>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600</a:t>
            </a:r>
            <a:endParaRPr/>
          </a:p>
        </p:txBody>
      </p:sp>
      <p:sp>
        <p:nvSpPr>
          <p:cNvPr id="1798" name="Google Shape;1798;p61"/>
          <p:cNvSpPr txBox="1"/>
          <p:nvPr/>
        </p:nvSpPr>
        <p:spPr>
          <a:xfrm>
            <a:off x="9792343" y="2126055"/>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600</a:t>
            </a:r>
            <a:endParaRPr/>
          </a:p>
        </p:txBody>
      </p:sp>
      <p:sp>
        <p:nvSpPr>
          <p:cNvPr id="1799" name="Google Shape;1799;p61"/>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7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2246586"/>
            <a:ext cx="1620000" cy="1710000"/>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70" name="Rectangle 169">
            <a:extLst>
              <a:ext uri="{FF2B5EF4-FFF2-40B4-BE49-F238E27FC236}">
                <a16:creationId xmlns:a16="http://schemas.microsoft.com/office/drawing/2014/main" id="{B1FE32F3-55FC-6447-B9ED-A77752B29106}"/>
              </a:ext>
            </a:extLst>
          </p:cNvPr>
          <p:cNvSpPr/>
          <p:nvPr/>
        </p:nvSpPr>
        <p:spPr>
          <a:xfrm>
            <a:off x="951992" y="1906445"/>
            <a:ext cx="107440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1" name="Group 170">
            <a:extLst>
              <a:ext uri="{FF2B5EF4-FFF2-40B4-BE49-F238E27FC236}">
                <a16:creationId xmlns:a16="http://schemas.microsoft.com/office/drawing/2014/main" id="{237115F5-A33C-6045-BC32-7F4611A5AA74}"/>
              </a:ext>
            </a:extLst>
          </p:cNvPr>
          <p:cNvGrpSpPr/>
          <p:nvPr/>
        </p:nvGrpSpPr>
        <p:grpSpPr>
          <a:xfrm>
            <a:off x="1158550" y="2179797"/>
            <a:ext cx="10188967" cy="756004"/>
            <a:chOff x="926134" y="1719856"/>
            <a:chExt cx="9204181" cy="750147"/>
          </a:xfrm>
        </p:grpSpPr>
        <p:sp>
          <p:nvSpPr>
            <p:cNvPr id="172" name="TextBox 171">
              <a:extLst>
                <a:ext uri="{FF2B5EF4-FFF2-40B4-BE49-F238E27FC236}">
                  <a16:creationId xmlns:a16="http://schemas.microsoft.com/office/drawing/2014/main" id="{273880FE-02AE-9144-B02D-05289496923A}"/>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고객 </a:t>
              </a:r>
              <a:r>
                <a:rPr lang="en-US" altLang="ko-KR" sz="2000" dirty="0">
                  <a:solidFill>
                    <a:schemeClr val="dk1"/>
                  </a:solidFill>
                  <a:latin typeface="Calibri"/>
                  <a:ea typeface="Calibri"/>
                  <a:cs typeface="Calibri"/>
                  <a:sym typeface="Calibri"/>
                </a:rPr>
                <a:t>B</a:t>
              </a:r>
              <a:r>
                <a:rPr lang="ko-KR" altLang="en-US" sz="2000" dirty="0">
                  <a:solidFill>
                    <a:schemeClr val="dk1"/>
                  </a:solidFill>
                  <a:latin typeface="Calibri"/>
                  <a:ea typeface="Calibri"/>
                  <a:cs typeface="Calibri"/>
                  <a:sym typeface="Calibri"/>
                </a:rPr>
                <a:t>에게 또 다른 판매를 진행함</a:t>
              </a:r>
              <a:r>
                <a:rPr lang="en-US" altLang="ko-KR" sz="2000" dirty="0">
                  <a:solidFill>
                    <a:schemeClr val="dk1"/>
                  </a:solidFill>
                  <a:latin typeface="Calibri"/>
                  <a:ea typeface="Calibri"/>
                  <a:cs typeface="Calibri"/>
                  <a:sym typeface="Calibri"/>
                </a:rPr>
                <a:t>. </a:t>
              </a:r>
              <a:r>
                <a:rPr lang="ko-KR" altLang="en-US" sz="2000" dirty="0">
                  <a:solidFill>
                    <a:schemeClr val="dk1"/>
                  </a:solidFill>
                  <a:latin typeface="Calibri"/>
                  <a:ea typeface="Calibri"/>
                  <a:cs typeface="Calibri"/>
                  <a:sym typeface="Calibri"/>
                </a:rPr>
                <a:t>그녀는 결제 담당자가 내일 와서 결제할 것이라고 말함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173" name="TextBox 172">
              <a:extLst>
                <a:ext uri="{FF2B5EF4-FFF2-40B4-BE49-F238E27FC236}">
                  <a16:creationId xmlns:a16="http://schemas.microsoft.com/office/drawing/2014/main" id="{21589876-670E-E345-8644-FE756EE64FE1}"/>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Accounts receivable</a:t>
              </a:r>
            </a:p>
            <a:p>
              <a:pPr algn="ctr"/>
              <a:r>
                <a:rPr lang="en-GB" b="1">
                  <a:solidFill>
                    <a:schemeClr val="bg1">
                      <a:lumMod val="75000"/>
                    </a:schemeClr>
                  </a:solidFill>
                  <a:latin typeface="Avenir"/>
                  <a:ea typeface="Helvetica" charset="0"/>
                  <a:cs typeface="Helvetica" charset="0"/>
                </a:rPr>
                <a:t>600</a:t>
              </a:r>
            </a:p>
          </p:txBody>
        </p:sp>
        <p:sp>
          <p:nvSpPr>
            <p:cNvPr id="174" name="TextBox 173">
              <a:extLst>
                <a:ext uri="{FF2B5EF4-FFF2-40B4-BE49-F238E27FC236}">
                  <a16:creationId xmlns:a16="http://schemas.microsoft.com/office/drawing/2014/main" id="{4107DEFE-9A0D-DF43-9075-C985E1A1442C}"/>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Sales</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600</a:t>
              </a:r>
            </a:p>
          </p:txBody>
        </p:sp>
        <p:sp>
          <p:nvSpPr>
            <p:cNvPr id="175" name="TextBox 174">
              <a:extLst>
                <a:ext uri="{FF2B5EF4-FFF2-40B4-BE49-F238E27FC236}">
                  <a16:creationId xmlns:a16="http://schemas.microsoft.com/office/drawing/2014/main" id="{52A88639-2E74-644A-B126-346C27CC9FC0}"/>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8a</a:t>
              </a:r>
            </a:p>
          </p:txBody>
        </p:sp>
      </p:grpSp>
      <p:sp>
        <p:nvSpPr>
          <p:cNvPr id="176" name="TextBox 175">
            <a:extLst>
              <a:ext uri="{FF2B5EF4-FFF2-40B4-BE49-F238E27FC236}">
                <a16:creationId xmlns:a16="http://schemas.microsoft.com/office/drawing/2014/main" id="{8A80B5A4-93B8-E440-B9E9-D88DDFC96481}"/>
              </a:ext>
            </a:extLst>
          </p:cNvPr>
          <p:cNvSpPr txBox="1"/>
          <p:nvPr/>
        </p:nvSpPr>
        <p:spPr>
          <a:xfrm>
            <a:off x="7985392" y="2176993"/>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600</a:t>
            </a:r>
          </a:p>
        </p:txBody>
      </p:sp>
      <p:sp>
        <p:nvSpPr>
          <p:cNvPr id="177" name="TextBox 176">
            <a:extLst>
              <a:ext uri="{FF2B5EF4-FFF2-40B4-BE49-F238E27FC236}">
                <a16:creationId xmlns:a16="http://schemas.microsoft.com/office/drawing/2014/main" id="{6CA0EEE7-C12B-1B40-B825-4D6A1F9E9772}"/>
              </a:ext>
            </a:extLst>
          </p:cNvPr>
          <p:cNvSpPr txBox="1"/>
          <p:nvPr/>
        </p:nvSpPr>
        <p:spPr>
          <a:xfrm>
            <a:off x="9668462" y="2181106"/>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600</a:t>
            </a:r>
          </a:p>
        </p:txBody>
      </p:sp>
      <p:sp>
        <p:nvSpPr>
          <p:cNvPr id="179" name="Down Arrow 178">
            <a:extLst>
              <a:ext uri="{FF2B5EF4-FFF2-40B4-BE49-F238E27FC236}">
                <a16:creationId xmlns:a16="http://schemas.microsoft.com/office/drawing/2014/main" id="{FA763EB5-0158-ED4B-BCF4-2A9B4E7E44F1}"/>
              </a:ext>
            </a:extLst>
          </p:cNvPr>
          <p:cNvSpPr/>
          <p:nvPr/>
        </p:nvSpPr>
        <p:spPr>
          <a:xfrm rot="10800000">
            <a:off x="11184791" y="4628172"/>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1" name="Down Arrow 190">
            <a:extLst>
              <a:ext uri="{FF2B5EF4-FFF2-40B4-BE49-F238E27FC236}">
                <a16:creationId xmlns:a16="http://schemas.microsoft.com/office/drawing/2014/main" id="{259210ED-8C0D-6C47-A021-EAA59A0E18DE}"/>
              </a:ext>
            </a:extLst>
          </p:cNvPr>
          <p:cNvSpPr/>
          <p:nvPr/>
        </p:nvSpPr>
        <p:spPr>
          <a:xfrm rot="10800000">
            <a:off x="141439" y="830760"/>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sp>
        <p:nvSpPr>
          <p:cNvPr id="156" name="TextBox 155">
            <a:extLst>
              <a:ext uri="{FF2B5EF4-FFF2-40B4-BE49-F238E27FC236}">
                <a16:creationId xmlns:a16="http://schemas.microsoft.com/office/drawing/2014/main" id="{76745565-4709-B24E-B1FF-5C22DDDF3D54}"/>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950</a:t>
            </a:r>
            <a:endParaRPr lang="en-GB" sz="2400"/>
          </a:p>
        </p:txBody>
      </p:sp>
      <p:sp>
        <p:nvSpPr>
          <p:cNvPr id="158" name="TextBox 157">
            <a:extLst>
              <a:ext uri="{FF2B5EF4-FFF2-40B4-BE49-F238E27FC236}">
                <a16:creationId xmlns:a16="http://schemas.microsoft.com/office/drawing/2014/main" id="{F6C91405-9B74-6C49-904A-EC72342644F8}"/>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350</a:t>
            </a:r>
            <a:endParaRPr lang="en-GB" sz="2400"/>
          </a:p>
        </p:txBody>
      </p:sp>
    </p:spTree>
    <p:extLst>
      <p:ext uri="{BB962C8B-B14F-4D97-AF65-F5344CB8AC3E}">
        <p14:creationId xmlns:p14="http://schemas.microsoft.com/office/powerpoint/2010/main" val="1345334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8.33333E-7 1.85185E-6 L -0.22253 0.42106 " pathEditMode="relative" rAng="0" ptsTypes="AA">
                                      <p:cBhvr>
                                        <p:cTn id="6" dur="3000" fill="hold"/>
                                        <p:tgtEl>
                                          <p:spTgt spid="177"/>
                                        </p:tgtEl>
                                        <p:attrNameLst>
                                          <p:attrName>ppt_x</p:attrName>
                                          <p:attrName>ppt_y</p:attrName>
                                        </p:attrNameLst>
                                      </p:cBhvr>
                                      <p:rCtr x="-11133" y="21042"/>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177"/>
                                        </p:tgtEl>
                                        <p:attrNameLst>
                                          <p:attrName>ppt_w</p:attrName>
                                        </p:attrNameLst>
                                      </p:cBhvr>
                                      <p:tavLst>
                                        <p:tav tm="0">
                                          <p:val>
                                            <p:strVal val="ppt_w"/>
                                          </p:val>
                                        </p:tav>
                                        <p:tav tm="100000">
                                          <p:val>
                                            <p:fltVal val="0"/>
                                          </p:val>
                                        </p:tav>
                                      </p:tavLst>
                                    </p:anim>
                                    <p:anim calcmode="lin" valueType="num">
                                      <p:cBhvr>
                                        <p:cTn id="10" dur="1000"/>
                                        <p:tgtEl>
                                          <p:spTgt spid="177"/>
                                        </p:tgtEl>
                                        <p:attrNameLst>
                                          <p:attrName>ppt_h</p:attrName>
                                        </p:attrNameLst>
                                      </p:cBhvr>
                                      <p:tavLst>
                                        <p:tav tm="0">
                                          <p:val>
                                            <p:strVal val="ppt_h"/>
                                          </p:val>
                                        </p:tav>
                                        <p:tav tm="100000">
                                          <p:val>
                                            <p:fltVal val="0"/>
                                          </p:val>
                                        </p:tav>
                                      </p:tavLst>
                                    </p:anim>
                                    <p:anim calcmode="lin" valueType="num">
                                      <p:cBhvr>
                                        <p:cTn id="11" dur="1000"/>
                                        <p:tgtEl>
                                          <p:spTgt spid="177"/>
                                        </p:tgtEl>
                                        <p:attrNameLst>
                                          <p:attrName>style.rotation</p:attrName>
                                        </p:attrNameLst>
                                      </p:cBhvr>
                                      <p:tavLst>
                                        <p:tav tm="0">
                                          <p:val>
                                            <p:fltVal val="0"/>
                                          </p:val>
                                        </p:tav>
                                        <p:tav tm="100000">
                                          <p:val>
                                            <p:fltVal val="90"/>
                                          </p:val>
                                        </p:tav>
                                      </p:tavLst>
                                    </p:anim>
                                    <p:animEffect transition="out" filter="fade">
                                      <p:cBhvr>
                                        <p:cTn id="12" dur="1000"/>
                                        <p:tgtEl>
                                          <p:spTgt spid="177"/>
                                        </p:tgtEl>
                                      </p:cBhvr>
                                    </p:animEffect>
                                    <p:set>
                                      <p:cBhvr>
                                        <p:cTn id="13" dur="1" fill="hold">
                                          <p:stCondLst>
                                            <p:cond delay="999"/>
                                          </p:stCondLst>
                                        </p:cTn>
                                        <p:tgtEl>
                                          <p:spTgt spid="177"/>
                                        </p:tgtEl>
                                        <p:attrNameLst>
                                          <p:attrName>style.visibility</p:attrName>
                                        </p:attrNameLst>
                                      </p:cBhvr>
                                      <p:to>
                                        <p:strVal val="hidden"/>
                                      </p:to>
                                    </p:set>
                                  </p:childTnLst>
                                </p:cTn>
                              </p:par>
                              <p:par>
                                <p:cTn id="14" presetID="42" presetClass="entr" presetSubtype="0" fill="hold" nodeType="withEffect">
                                  <p:stCondLst>
                                    <p:cond delay="0"/>
                                  </p:stCondLst>
                                  <p:childTnLst>
                                    <p:set>
                                      <p:cBhvr>
                                        <p:cTn id="15" dur="1" fill="hold">
                                          <p:stCondLst>
                                            <p:cond delay="0"/>
                                          </p:stCondLst>
                                        </p:cTn>
                                        <p:tgtEl>
                                          <p:spTgt spid="341"/>
                                        </p:tgtEl>
                                        <p:attrNameLst>
                                          <p:attrName>style.visibility</p:attrName>
                                        </p:attrNameLst>
                                      </p:cBhvr>
                                      <p:to>
                                        <p:strVal val="visible"/>
                                      </p:to>
                                    </p:set>
                                    <p:animEffect transition="in" filter="fade">
                                      <p:cBhvr>
                                        <p:cTn id="16" dur="1000"/>
                                        <p:tgtEl>
                                          <p:spTgt spid="341"/>
                                        </p:tgtEl>
                                      </p:cBhvr>
                                    </p:animEffect>
                                    <p:anim calcmode="lin" valueType="num">
                                      <p:cBhvr>
                                        <p:cTn id="17" dur="1000" fill="hold"/>
                                        <p:tgtEl>
                                          <p:spTgt spid="341"/>
                                        </p:tgtEl>
                                        <p:attrNameLst>
                                          <p:attrName>ppt_x</p:attrName>
                                        </p:attrNameLst>
                                      </p:cBhvr>
                                      <p:tavLst>
                                        <p:tav tm="0">
                                          <p:val>
                                            <p:strVal val="#ppt_x"/>
                                          </p:val>
                                        </p:tav>
                                        <p:tav tm="100000">
                                          <p:val>
                                            <p:strVal val="#ppt_x"/>
                                          </p:val>
                                        </p:tav>
                                      </p:tavLst>
                                    </p:anim>
                                    <p:anim calcmode="lin" valueType="num">
                                      <p:cBhvr>
                                        <p:cTn id="18" dur="1000" fill="hold"/>
                                        <p:tgtEl>
                                          <p:spTgt spid="341"/>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32"/>
                                        </p:tgtEl>
                                        <p:attrNameLst>
                                          <p:attrName>style.visibility</p:attrName>
                                        </p:attrNameLst>
                                      </p:cBhvr>
                                      <p:to>
                                        <p:strVal val="visible"/>
                                      </p:to>
                                    </p:set>
                                    <p:animEffect transition="in" filter="fade">
                                      <p:cBhvr>
                                        <p:cTn id="21" dur="1000"/>
                                        <p:tgtEl>
                                          <p:spTgt spid="232"/>
                                        </p:tgtEl>
                                      </p:cBhvr>
                                    </p:animEffect>
                                    <p:anim calcmode="lin" valueType="num">
                                      <p:cBhvr>
                                        <p:cTn id="22" dur="1000" fill="hold"/>
                                        <p:tgtEl>
                                          <p:spTgt spid="232"/>
                                        </p:tgtEl>
                                        <p:attrNameLst>
                                          <p:attrName>ppt_x</p:attrName>
                                        </p:attrNameLst>
                                      </p:cBhvr>
                                      <p:tavLst>
                                        <p:tav tm="0">
                                          <p:val>
                                            <p:strVal val="#ppt_x"/>
                                          </p:val>
                                        </p:tav>
                                        <p:tav tm="100000">
                                          <p:val>
                                            <p:strVal val="#ppt_x"/>
                                          </p:val>
                                        </p:tav>
                                      </p:tavLst>
                                    </p:anim>
                                    <p:anim calcmode="lin" valueType="num">
                                      <p:cBhvr>
                                        <p:cTn id="23" dur="1000" fill="hold"/>
                                        <p:tgtEl>
                                          <p:spTgt spid="232"/>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31"/>
                                        </p:tgtEl>
                                        <p:attrNameLst>
                                          <p:attrName>style.visibility</p:attrName>
                                        </p:attrNameLst>
                                      </p:cBhvr>
                                      <p:to>
                                        <p:strVal val="visible"/>
                                      </p:to>
                                    </p:set>
                                    <p:animEffect transition="in" filter="fade">
                                      <p:cBhvr>
                                        <p:cTn id="26" dur="1000"/>
                                        <p:tgtEl>
                                          <p:spTgt spid="231"/>
                                        </p:tgtEl>
                                      </p:cBhvr>
                                    </p:animEffect>
                                    <p:anim calcmode="lin" valueType="num">
                                      <p:cBhvr>
                                        <p:cTn id="27" dur="1000" fill="hold"/>
                                        <p:tgtEl>
                                          <p:spTgt spid="231"/>
                                        </p:tgtEl>
                                        <p:attrNameLst>
                                          <p:attrName>ppt_x</p:attrName>
                                        </p:attrNameLst>
                                      </p:cBhvr>
                                      <p:tavLst>
                                        <p:tav tm="0">
                                          <p:val>
                                            <p:strVal val="#ppt_x"/>
                                          </p:val>
                                        </p:tav>
                                        <p:tav tm="100000">
                                          <p:val>
                                            <p:strVal val="#ppt_x"/>
                                          </p:val>
                                        </p:tav>
                                      </p:tavLst>
                                    </p:anim>
                                    <p:anim calcmode="lin" valueType="num">
                                      <p:cBhvr>
                                        <p:cTn id="28" dur="1000" fill="hold"/>
                                        <p:tgtEl>
                                          <p:spTgt spid="231"/>
                                        </p:tgtEl>
                                        <p:attrNameLst>
                                          <p:attrName>ppt_y</p:attrName>
                                        </p:attrNameLst>
                                      </p:cBhvr>
                                      <p:tavLst>
                                        <p:tav tm="0">
                                          <p:val>
                                            <p:strVal val="#ppt_y+.1"/>
                                          </p:val>
                                        </p:tav>
                                        <p:tav tm="100000">
                                          <p:val>
                                            <p:strVal val="#ppt_y"/>
                                          </p:val>
                                        </p:tav>
                                      </p:tavLst>
                                    </p:anim>
                                  </p:childTnLst>
                                </p:cTn>
                              </p:par>
                            </p:childTnLst>
                          </p:cTn>
                        </p:par>
                        <p:par>
                          <p:cTn id="29" fill="hold">
                            <p:stCondLst>
                              <p:cond delay="4000"/>
                            </p:stCondLst>
                            <p:childTnLst>
                              <p:par>
                                <p:cTn id="30" presetID="10" presetClass="entr" presetSubtype="0" fill="hold" grpId="0" nodeType="afterEffect">
                                  <p:stCondLst>
                                    <p:cond delay="0"/>
                                  </p:stCondLst>
                                  <p:childTnLst>
                                    <p:set>
                                      <p:cBhvr>
                                        <p:cTn id="31" dur="1" fill="hold">
                                          <p:stCondLst>
                                            <p:cond delay="0"/>
                                          </p:stCondLst>
                                        </p:cTn>
                                        <p:tgtEl>
                                          <p:spTgt spid="156"/>
                                        </p:tgtEl>
                                        <p:attrNameLst>
                                          <p:attrName>style.visibility</p:attrName>
                                        </p:attrNameLst>
                                      </p:cBhvr>
                                      <p:to>
                                        <p:strVal val="visible"/>
                                      </p:to>
                                    </p:set>
                                    <p:animEffect transition="in" filter="fade">
                                      <p:cBhvr>
                                        <p:cTn id="32" dur="1000"/>
                                        <p:tgtEl>
                                          <p:spTgt spid="156"/>
                                        </p:tgtEl>
                                      </p:cBhvr>
                                    </p:animEffect>
                                  </p:childTnLst>
                                </p:cTn>
                              </p:par>
                              <p:par>
                                <p:cTn id="33" presetID="10" presetClass="exit" presetSubtype="0" fill="hold" grpId="0" nodeType="withEffect">
                                  <p:stCondLst>
                                    <p:cond delay="0"/>
                                  </p:stCondLst>
                                  <p:childTnLst>
                                    <p:animEffect transition="out" filter="fade">
                                      <p:cBhvr>
                                        <p:cTn id="34" dur="500"/>
                                        <p:tgtEl>
                                          <p:spTgt spid="158"/>
                                        </p:tgtEl>
                                      </p:cBhvr>
                                    </p:animEffect>
                                    <p:set>
                                      <p:cBhvr>
                                        <p:cTn id="35" dur="1" fill="hold">
                                          <p:stCondLst>
                                            <p:cond delay="499"/>
                                          </p:stCondLst>
                                        </p:cTn>
                                        <p:tgtEl>
                                          <p:spTgt spid="158"/>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95"/>
                                        </p:tgtEl>
                                        <p:attrNameLst>
                                          <p:attrName>style.visibility</p:attrName>
                                        </p:attrNameLst>
                                      </p:cBhvr>
                                      <p:to>
                                        <p:strVal val="visible"/>
                                      </p:to>
                                    </p:set>
                                    <p:animEffect transition="in" filter="fade">
                                      <p:cBhvr>
                                        <p:cTn id="40" dur="500"/>
                                        <p:tgtEl>
                                          <p:spTgt spid="395"/>
                                        </p:tgtEl>
                                      </p:cBhvr>
                                    </p:animEffect>
                                  </p:childTnLst>
                                </p:cTn>
                              </p:par>
                              <p:par>
                                <p:cTn id="41" presetID="10" presetClass="entr" presetSubtype="0" fill="hold" nodeType="withEffect">
                                  <p:stCondLst>
                                    <p:cond delay="0"/>
                                  </p:stCondLst>
                                  <p:childTnLst>
                                    <p:set>
                                      <p:cBhvr>
                                        <p:cTn id="42" dur="1" fill="hold">
                                          <p:stCondLst>
                                            <p:cond delay="0"/>
                                          </p:stCondLst>
                                        </p:cTn>
                                        <p:tgtEl>
                                          <p:spTgt spid="405"/>
                                        </p:tgtEl>
                                        <p:attrNameLst>
                                          <p:attrName>style.visibility</p:attrName>
                                        </p:attrNameLst>
                                      </p:cBhvr>
                                      <p:to>
                                        <p:strVal val="visible"/>
                                      </p:to>
                                    </p:set>
                                    <p:animEffect transition="in" filter="fade">
                                      <p:cBhvr>
                                        <p:cTn id="43" dur="500"/>
                                        <p:tgtEl>
                                          <p:spTgt spid="405"/>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path" presetSubtype="0" accel="50000" decel="50000" fill="hold" grpId="0" nodeType="clickEffect">
                                  <p:stCondLst>
                                    <p:cond delay="0"/>
                                  </p:stCondLst>
                                  <p:childTnLst>
                                    <p:animMotion origin="layout" path="M 1.66667E-6 -3.7037E-6 L -0.34297 -0.22523 " pathEditMode="relative" rAng="0" ptsTypes="AA">
                                      <p:cBhvr>
                                        <p:cTn id="47" dur="3000" fill="hold"/>
                                        <p:tgtEl>
                                          <p:spTgt spid="176"/>
                                        </p:tgtEl>
                                        <p:attrNameLst>
                                          <p:attrName>ppt_x</p:attrName>
                                          <p:attrName>ppt_y</p:attrName>
                                        </p:attrNameLst>
                                      </p:cBhvr>
                                      <p:rCtr x="-17148" y="-11273"/>
                                    </p:animMotion>
                                  </p:childTnLst>
                                </p:cTn>
                              </p:par>
                            </p:childTnLst>
                          </p:cTn>
                        </p:par>
                        <p:par>
                          <p:cTn id="48" fill="hold">
                            <p:stCondLst>
                              <p:cond delay="3000"/>
                            </p:stCondLst>
                            <p:childTnLst>
                              <p:par>
                                <p:cTn id="49" presetID="31" presetClass="exit" presetSubtype="0" fill="hold" grpId="1" nodeType="afterEffect">
                                  <p:stCondLst>
                                    <p:cond delay="0"/>
                                  </p:stCondLst>
                                  <p:childTnLst>
                                    <p:anim calcmode="lin" valueType="num">
                                      <p:cBhvr>
                                        <p:cTn id="50" dur="1000"/>
                                        <p:tgtEl>
                                          <p:spTgt spid="176"/>
                                        </p:tgtEl>
                                        <p:attrNameLst>
                                          <p:attrName>ppt_w</p:attrName>
                                        </p:attrNameLst>
                                      </p:cBhvr>
                                      <p:tavLst>
                                        <p:tav tm="0">
                                          <p:val>
                                            <p:strVal val="ppt_w"/>
                                          </p:val>
                                        </p:tav>
                                        <p:tav tm="100000">
                                          <p:val>
                                            <p:fltVal val="0"/>
                                          </p:val>
                                        </p:tav>
                                      </p:tavLst>
                                    </p:anim>
                                    <p:anim calcmode="lin" valueType="num">
                                      <p:cBhvr>
                                        <p:cTn id="51" dur="1000"/>
                                        <p:tgtEl>
                                          <p:spTgt spid="176"/>
                                        </p:tgtEl>
                                        <p:attrNameLst>
                                          <p:attrName>ppt_h</p:attrName>
                                        </p:attrNameLst>
                                      </p:cBhvr>
                                      <p:tavLst>
                                        <p:tav tm="0">
                                          <p:val>
                                            <p:strVal val="ppt_h"/>
                                          </p:val>
                                        </p:tav>
                                        <p:tav tm="100000">
                                          <p:val>
                                            <p:fltVal val="0"/>
                                          </p:val>
                                        </p:tav>
                                      </p:tavLst>
                                    </p:anim>
                                    <p:anim calcmode="lin" valueType="num">
                                      <p:cBhvr>
                                        <p:cTn id="52" dur="1000"/>
                                        <p:tgtEl>
                                          <p:spTgt spid="176"/>
                                        </p:tgtEl>
                                        <p:attrNameLst>
                                          <p:attrName>style.rotation</p:attrName>
                                        </p:attrNameLst>
                                      </p:cBhvr>
                                      <p:tavLst>
                                        <p:tav tm="0">
                                          <p:val>
                                            <p:fltVal val="0"/>
                                          </p:val>
                                        </p:tav>
                                        <p:tav tm="100000">
                                          <p:val>
                                            <p:fltVal val="90"/>
                                          </p:val>
                                        </p:tav>
                                      </p:tavLst>
                                    </p:anim>
                                    <p:animEffect transition="out" filter="fade">
                                      <p:cBhvr>
                                        <p:cTn id="53" dur="1000"/>
                                        <p:tgtEl>
                                          <p:spTgt spid="176"/>
                                        </p:tgtEl>
                                      </p:cBhvr>
                                    </p:animEffect>
                                    <p:set>
                                      <p:cBhvr>
                                        <p:cTn id="54" dur="1" fill="hold">
                                          <p:stCondLst>
                                            <p:cond delay="999"/>
                                          </p:stCondLst>
                                        </p:cTn>
                                        <p:tgtEl>
                                          <p:spTgt spid="176"/>
                                        </p:tgtEl>
                                        <p:attrNameLst>
                                          <p:attrName>style.visibility</p:attrName>
                                        </p:attrNameLst>
                                      </p:cBhvr>
                                      <p:to>
                                        <p:strVal val="hidden"/>
                                      </p:to>
                                    </p:set>
                                  </p:childTnLst>
                                </p:cTn>
                              </p:par>
                              <p:par>
                                <p:cTn id="55" presetID="42" presetClass="entr" presetSubtype="0" fill="hold" nodeType="withEffect">
                                  <p:stCondLst>
                                    <p:cond delay="0"/>
                                  </p:stCondLst>
                                  <p:childTnLst>
                                    <p:set>
                                      <p:cBhvr>
                                        <p:cTn id="56" dur="1" fill="hold">
                                          <p:stCondLst>
                                            <p:cond delay="0"/>
                                          </p:stCondLst>
                                        </p:cTn>
                                        <p:tgtEl>
                                          <p:spTgt spid="359"/>
                                        </p:tgtEl>
                                        <p:attrNameLst>
                                          <p:attrName>style.visibility</p:attrName>
                                        </p:attrNameLst>
                                      </p:cBhvr>
                                      <p:to>
                                        <p:strVal val="visible"/>
                                      </p:to>
                                    </p:set>
                                    <p:animEffect transition="in" filter="fade">
                                      <p:cBhvr>
                                        <p:cTn id="57" dur="1000"/>
                                        <p:tgtEl>
                                          <p:spTgt spid="359"/>
                                        </p:tgtEl>
                                      </p:cBhvr>
                                    </p:animEffect>
                                    <p:anim calcmode="lin" valueType="num">
                                      <p:cBhvr>
                                        <p:cTn id="58" dur="1000" fill="hold"/>
                                        <p:tgtEl>
                                          <p:spTgt spid="359"/>
                                        </p:tgtEl>
                                        <p:attrNameLst>
                                          <p:attrName>ppt_x</p:attrName>
                                        </p:attrNameLst>
                                      </p:cBhvr>
                                      <p:tavLst>
                                        <p:tav tm="0">
                                          <p:val>
                                            <p:strVal val="#ppt_x"/>
                                          </p:val>
                                        </p:tav>
                                        <p:tav tm="100000">
                                          <p:val>
                                            <p:strVal val="#ppt_x"/>
                                          </p:val>
                                        </p:tav>
                                      </p:tavLst>
                                    </p:anim>
                                    <p:anim calcmode="lin" valueType="num">
                                      <p:cBhvr>
                                        <p:cTn id="59" dur="1000" fill="hold"/>
                                        <p:tgtEl>
                                          <p:spTgt spid="359"/>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34"/>
                                        </p:tgtEl>
                                        <p:attrNameLst>
                                          <p:attrName>style.visibility</p:attrName>
                                        </p:attrNameLst>
                                      </p:cBhvr>
                                      <p:to>
                                        <p:strVal val="visible"/>
                                      </p:to>
                                    </p:set>
                                    <p:animEffect transition="in" filter="fade">
                                      <p:cBhvr>
                                        <p:cTn id="62" dur="1000"/>
                                        <p:tgtEl>
                                          <p:spTgt spid="234"/>
                                        </p:tgtEl>
                                      </p:cBhvr>
                                    </p:animEffect>
                                    <p:anim calcmode="lin" valueType="num">
                                      <p:cBhvr>
                                        <p:cTn id="63" dur="1000" fill="hold"/>
                                        <p:tgtEl>
                                          <p:spTgt spid="234"/>
                                        </p:tgtEl>
                                        <p:attrNameLst>
                                          <p:attrName>ppt_x</p:attrName>
                                        </p:attrNameLst>
                                      </p:cBhvr>
                                      <p:tavLst>
                                        <p:tav tm="0">
                                          <p:val>
                                            <p:strVal val="#ppt_x"/>
                                          </p:val>
                                        </p:tav>
                                        <p:tav tm="100000">
                                          <p:val>
                                            <p:strVal val="#ppt_x"/>
                                          </p:val>
                                        </p:tav>
                                      </p:tavLst>
                                    </p:anim>
                                    <p:anim calcmode="lin" valueType="num">
                                      <p:cBhvr>
                                        <p:cTn id="64" dur="1000" fill="hold"/>
                                        <p:tgtEl>
                                          <p:spTgt spid="23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33"/>
                                        </p:tgtEl>
                                        <p:attrNameLst>
                                          <p:attrName>style.visibility</p:attrName>
                                        </p:attrNameLst>
                                      </p:cBhvr>
                                      <p:to>
                                        <p:strVal val="visible"/>
                                      </p:to>
                                    </p:set>
                                    <p:animEffect transition="in" filter="fade">
                                      <p:cBhvr>
                                        <p:cTn id="67" dur="1000"/>
                                        <p:tgtEl>
                                          <p:spTgt spid="233"/>
                                        </p:tgtEl>
                                      </p:cBhvr>
                                    </p:animEffect>
                                    <p:anim calcmode="lin" valueType="num">
                                      <p:cBhvr>
                                        <p:cTn id="68" dur="1000" fill="hold"/>
                                        <p:tgtEl>
                                          <p:spTgt spid="233"/>
                                        </p:tgtEl>
                                        <p:attrNameLst>
                                          <p:attrName>ppt_x</p:attrName>
                                        </p:attrNameLst>
                                      </p:cBhvr>
                                      <p:tavLst>
                                        <p:tav tm="0">
                                          <p:val>
                                            <p:strVal val="#ppt_x"/>
                                          </p:val>
                                        </p:tav>
                                        <p:tav tm="100000">
                                          <p:val>
                                            <p:strVal val="#ppt_x"/>
                                          </p:val>
                                        </p:tav>
                                      </p:tavLst>
                                    </p:anim>
                                    <p:anim calcmode="lin" valueType="num">
                                      <p:cBhvr>
                                        <p:cTn id="69" dur="1000" fill="hold"/>
                                        <p:tgtEl>
                                          <p:spTgt spid="233"/>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179"/>
                                        </p:tgtEl>
                                        <p:attrNameLst>
                                          <p:attrName>style.visibility</p:attrName>
                                        </p:attrNameLst>
                                      </p:cBhvr>
                                      <p:to>
                                        <p:strVal val="visible"/>
                                      </p:to>
                                    </p:set>
                                    <p:animEffect transition="in" filter="fade">
                                      <p:cBhvr>
                                        <p:cTn id="74" dur="1000"/>
                                        <p:tgtEl>
                                          <p:spTgt spid="179"/>
                                        </p:tgtEl>
                                      </p:cBhvr>
                                    </p:animEffect>
                                    <p:anim calcmode="lin" valueType="num">
                                      <p:cBhvr>
                                        <p:cTn id="75" dur="1000" fill="hold"/>
                                        <p:tgtEl>
                                          <p:spTgt spid="179"/>
                                        </p:tgtEl>
                                        <p:attrNameLst>
                                          <p:attrName>ppt_x</p:attrName>
                                        </p:attrNameLst>
                                      </p:cBhvr>
                                      <p:tavLst>
                                        <p:tav tm="0">
                                          <p:val>
                                            <p:strVal val="#ppt_x"/>
                                          </p:val>
                                        </p:tav>
                                        <p:tav tm="100000">
                                          <p:val>
                                            <p:strVal val="#ppt_x"/>
                                          </p:val>
                                        </p:tav>
                                      </p:tavLst>
                                    </p:anim>
                                    <p:anim calcmode="lin" valueType="num">
                                      <p:cBhvr>
                                        <p:cTn id="76" dur="1000" fill="hold"/>
                                        <p:tgtEl>
                                          <p:spTgt spid="179"/>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91"/>
                                        </p:tgtEl>
                                        <p:attrNameLst>
                                          <p:attrName>style.visibility</p:attrName>
                                        </p:attrNameLst>
                                      </p:cBhvr>
                                      <p:to>
                                        <p:strVal val="visible"/>
                                      </p:to>
                                    </p:set>
                                    <p:animEffect transition="in" filter="fade">
                                      <p:cBhvr>
                                        <p:cTn id="79" dur="1000"/>
                                        <p:tgtEl>
                                          <p:spTgt spid="191"/>
                                        </p:tgtEl>
                                      </p:cBhvr>
                                    </p:animEffect>
                                    <p:anim calcmode="lin" valueType="num">
                                      <p:cBhvr>
                                        <p:cTn id="80" dur="1000" fill="hold"/>
                                        <p:tgtEl>
                                          <p:spTgt spid="191"/>
                                        </p:tgtEl>
                                        <p:attrNameLst>
                                          <p:attrName>ppt_x</p:attrName>
                                        </p:attrNameLst>
                                      </p:cBhvr>
                                      <p:tavLst>
                                        <p:tav tm="0">
                                          <p:val>
                                            <p:strVal val="#ppt_x"/>
                                          </p:val>
                                        </p:tav>
                                        <p:tav tm="100000">
                                          <p:val>
                                            <p:strVal val="#ppt_x"/>
                                          </p:val>
                                        </p:tav>
                                      </p:tavLst>
                                    </p:anim>
                                    <p:anim calcmode="lin" valueType="num">
                                      <p:cBhvr>
                                        <p:cTn id="81" dur="1000" fill="hold"/>
                                        <p:tgtEl>
                                          <p:spTgt spid="1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 grpId="0"/>
      <p:bldP spid="232" grpId="0" animBg="1"/>
      <p:bldP spid="395" grpId="0"/>
      <p:bldP spid="176" grpId="0" animBg="1"/>
      <p:bldP spid="176" grpId="1" animBg="1"/>
      <p:bldP spid="177" grpId="0" animBg="1"/>
      <p:bldP spid="177" grpId="1" animBg="1"/>
      <p:bldP spid="179" grpId="0" animBg="1"/>
      <p:bldP spid="191" grpId="0" animBg="1"/>
      <p:bldP spid="233" grpId="0"/>
      <p:bldP spid="234" grpId="0" animBg="1"/>
      <p:bldP spid="156" grpId="0"/>
      <p:bldP spid="15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965"/>
        <p:cNvGrpSpPr/>
        <p:nvPr/>
      </p:nvGrpSpPr>
      <p:grpSpPr>
        <a:xfrm>
          <a:off x="0" y="0"/>
          <a:ext cx="0" cy="0"/>
          <a:chOff x="0" y="0"/>
          <a:chExt cx="0" cy="0"/>
        </a:xfrm>
      </p:grpSpPr>
      <p:sp>
        <p:nvSpPr>
          <p:cNvPr id="1966" name="Google Shape;1966;p63"/>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1967" name="Google Shape;1967;p63"/>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grpSp>
        <p:nvGrpSpPr>
          <p:cNvPr id="1968" name="Google Shape;1968;p63"/>
          <p:cNvGrpSpPr/>
          <p:nvPr/>
        </p:nvGrpSpPr>
        <p:grpSpPr>
          <a:xfrm>
            <a:off x="1284576" y="2130924"/>
            <a:ext cx="10188969" cy="756004"/>
            <a:chOff x="926134" y="1719856"/>
            <a:chExt cx="9204181" cy="750147"/>
          </a:xfrm>
        </p:grpSpPr>
        <p:sp>
          <p:nvSpPr>
            <p:cNvPr id="1969" name="Google Shape;1969;p63"/>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고객 B에게 판매하면서 일부 재고를 사용함.</a:t>
              </a:r>
              <a:endParaRPr sz="2000">
                <a:solidFill>
                  <a:schemeClr val="dk1"/>
                </a:solidFill>
                <a:latin typeface="Avenir"/>
                <a:ea typeface="Avenir"/>
                <a:cs typeface="Avenir"/>
                <a:sym typeface="Avenir"/>
              </a:endParaRPr>
            </a:p>
          </p:txBody>
        </p:sp>
        <p:sp>
          <p:nvSpPr>
            <p:cNvPr id="1970" name="Google Shape;1970;p63"/>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Cost of sales</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300</a:t>
              </a:r>
              <a:endParaRPr/>
            </a:p>
          </p:txBody>
        </p:sp>
        <p:sp>
          <p:nvSpPr>
            <p:cNvPr id="1971" name="Google Shape;1971;p63"/>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Inventory</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300</a:t>
              </a:r>
              <a:endParaRPr/>
            </a:p>
          </p:txBody>
        </p:sp>
        <p:sp>
          <p:nvSpPr>
            <p:cNvPr id="1972" name="Google Shape;1972;p63"/>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8b</a:t>
              </a:r>
              <a:endParaRPr/>
            </a:p>
          </p:txBody>
        </p:sp>
      </p:grpSp>
      <p:sp>
        <p:nvSpPr>
          <p:cNvPr id="1973" name="Google Shape;1973;p63"/>
          <p:cNvSpPr txBox="1"/>
          <p:nvPr/>
        </p:nvSpPr>
        <p:spPr>
          <a:xfrm>
            <a:off x="8107403" y="2130924"/>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300</a:t>
            </a:r>
            <a:endParaRPr/>
          </a:p>
        </p:txBody>
      </p:sp>
      <p:sp>
        <p:nvSpPr>
          <p:cNvPr id="1974" name="Google Shape;1974;p63"/>
          <p:cNvSpPr txBox="1"/>
          <p:nvPr/>
        </p:nvSpPr>
        <p:spPr>
          <a:xfrm>
            <a:off x="9790473" y="2130924"/>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300</a:t>
            </a:r>
            <a:endParaRPr/>
          </a:p>
        </p:txBody>
      </p:sp>
      <p:sp>
        <p:nvSpPr>
          <p:cNvPr id="1975" name="Google Shape;1975;p63"/>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7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2246586"/>
            <a:ext cx="1620000" cy="1710000"/>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9" name="Group 328">
            <a:extLst>
              <a:ext uri="{FF2B5EF4-FFF2-40B4-BE49-F238E27FC236}">
                <a16:creationId xmlns:a16="http://schemas.microsoft.com/office/drawing/2014/main" id="{E15F7DE2-F1EB-C94A-AE48-4487C8B506B6}"/>
              </a:ext>
            </a:extLst>
          </p:cNvPr>
          <p:cNvGrpSpPr/>
          <p:nvPr/>
        </p:nvGrpSpPr>
        <p:grpSpPr>
          <a:xfrm>
            <a:off x="4330045" y="3136880"/>
            <a:ext cx="309700" cy="224238"/>
            <a:chOff x="770743" y="3715228"/>
            <a:chExt cx="309700" cy="224238"/>
          </a:xfrm>
        </p:grpSpPr>
        <p:sp>
          <p:nvSpPr>
            <p:cNvPr id="330" name="Oval 329">
              <a:extLst>
                <a:ext uri="{FF2B5EF4-FFF2-40B4-BE49-F238E27FC236}">
                  <a16:creationId xmlns:a16="http://schemas.microsoft.com/office/drawing/2014/main" id="{920E5E24-BE4B-BC48-AFD2-943FE12CD729}"/>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2" name="Group 331">
            <a:extLst>
              <a:ext uri="{FF2B5EF4-FFF2-40B4-BE49-F238E27FC236}">
                <a16:creationId xmlns:a16="http://schemas.microsoft.com/office/drawing/2014/main" id="{7924029E-A5DC-CB49-8E0F-74B666CD5BDE}"/>
              </a:ext>
            </a:extLst>
          </p:cNvPr>
          <p:cNvGrpSpPr/>
          <p:nvPr/>
        </p:nvGrpSpPr>
        <p:grpSpPr>
          <a:xfrm>
            <a:off x="4377396" y="5681195"/>
            <a:ext cx="309700" cy="224238"/>
            <a:chOff x="770743" y="3715228"/>
            <a:chExt cx="309700" cy="224238"/>
          </a:xfrm>
        </p:grpSpPr>
        <p:sp>
          <p:nvSpPr>
            <p:cNvPr id="333" name="Oval 332">
              <a:extLst>
                <a:ext uri="{FF2B5EF4-FFF2-40B4-BE49-F238E27FC236}">
                  <a16:creationId xmlns:a16="http://schemas.microsoft.com/office/drawing/2014/main" id="{5234A744-315A-EC44-BDF0-AAAA223BA637}"/>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80" name="Rectangle 179">
            <a:extLst>
              <a:ext uri="{FF2B5EF4-FFF2-40B4-BE49-F238E27FC236}">
                <a16:creationId xmlns:a16="http://schemas.microsoft.com/office/drawing/2014/main" id="{CC4C46AA-05B8-DC4F-83A0-201EF1F6B55D}"/>
              </a:ext>
            </a:extLst>
          </p:cNvPr>
          <p:cNvSpPr/>
          <p:nvPr/>
        </p:nvSpPr>
        <p:spPr>
          <a:xfrm>
            <a:off x="843550" y="1396091"/>
            <a:ext cx="107440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2" name="Group 181">
            <a:extLst>
              <a:ext uri="{FF2B5EF4-FFF2-40B4-BE49-F238E27FC236}">
                <a16:creationId xmlns:a16="http://schemas.microsoft.com/office/drawing/2014/main" id="{EE65267F-FC0F-EC41-92D9-C60E6DCA601F}"/>
              </a:ext>
            </a:extLst>
          </p:cNvPr>
          <p:cNvGrpSpPr/>
          <p:nvPr/>
        </p:nvGrpSpPr>
        <p:grpSpPr>
          <a:xfrm>
            <a:off x="1050108" y="1669443"/>
            <a:ext cx="10188967" cy="756004"/>
            <a:chOff x="926134" y="1719856"/>
            <a:chExt cx="9204181" cy="750147"/>
          </a:xfrm>
        </p:grpSpPr>
        <p:sp>
          <p:nvSpPr>
            <p:cNvPr id="183" name="TextBox 182">
              <a:extLst>
                <a:ext uri="{FF2B5EF4-FFF2-40B4-BE49-F238E27FC236}">
                  <a16:creationId xmlns:a16="http://schemas.microsoft.com/office/drawing/2014/main" id="{F215DCC7-763B-B04A-976D-64FC61A92C7F}"/>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고객 </a:t>
              </a:r>
              <a:r>
                <a:rPr lang="en-US" altLang="ko-KR" sz="2000" dirty="0">
                  <a:solidFill>
                    <a:schemeClr val="dk1"/>
                  </a:solidFill>
                  <a:latin typeface="Calibri"/>
                  <a:ea typeface="Calibri"/>
                  <a:cs typeface="Calibri"/>
                  <a:sym typeface="Calibri"/>
                </a:rPr>
                <a:t>B</a:t>
              </a:r>
              <a:r>
                <a:rPr lang="ko-KR" altLang="en-US" sz="2000" dirty="0">
                  <a:solidFill>
                    <a:schemeClr val="dk1"/>
                  </a:solidFill>
                  <a:latin typeface="Calibri"/>
                  <a:ea typeface="Calibri"/>
                  <a:cs typeface="Calibri"/>
                  <a:sym typeface="Calibri"/>
                </a:rPr>
                <a:t>에게 판매하면서 일부 재고를 사용함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184" name="TextBox 183">
              <a:extLst>
                <a:ext uri="{FF2B5EF4-FFF2-40B4-BE49-F238E27FC236}">
                  <a16:creationId xmlns:a16="http://schemas.microsoft.com/office/drawing/2014/main" id="{06ECC0DE-5D42-F04D-AA80-CB3099BD8A9F}"/>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Cost of sales</a:t>
              </a:r>
            </a:p>
            <a:p>
              <a:pPr algn="ctr"/>
              <a:r>
                <a:rPr lang="en-GB" b="1">
                  <a:solidFill>
                    <a:schemeClr val="bg1">
                      <a:lumMod val="75000"/>
                    </a:schemeClr>
                  </a:solidFill>
                  <a:latin typeface="Avenir"/>
                  <a:ea typeface="Helvetica" charset="0"/>
                  <a:cs typeface="Helvetica" charset="0"/>
                </a:rPr>
                <a:t>300</a:t>
              </a:r>
            </a:p>
          </p:txBody>
        </p:sp>
        <p:sp>
          <p:nvSpPr>
            <p:cNvPr id="185" name="TextBox 184">
              <a:extLst>
                <a:ext uri="{FF2B5EF4-FFF2-40B4-BE49-F238E27FC236}">
                  <a16:creationId xmlns:a16="http://schemas.microsoft.com/office/drawing/2014/main" id="{664A9D5E-A5AE-CA43-B42E-BE2CCCDB1DFD}"/>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Inventory</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300</a:t>
              </a:r>
            </a:p>
          </p:txBody>
        </p:sp>
        <p:sp>
          <p:nvSpPr>
            <p:cNvPr id="186" name="TextBox 185">
              <a:extLst>
                <a:ext uri="{FF2B5EF4-FFF2-40B4-BE49-F238E27FC236}">
                  <a16:creationId xmlns:a16="http://schemas.microsoft.com/office/drawing/2014/main" id="{33926976-98FF-ED4B-B65A-2C47A278F569}"/>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8b</a:t>
              </a:r>
            </a:p>
          </p:txBody>
        </p:sp>
      </p:grpSp>
      <p:sp>
        <p:nvSpPr>
          <p:cNvPr id="189" name="Down Arrow 188">
            <a:extLst>
              <a:ext uri="{FF2B5EF4-FFF2-40B4-BE49-F238E27FC236}">
                <a16:creationId xmlns:a16="http://schemas.microsoft.com/office/drawing/2014/main" id="{E9361D03-A53B-EF42-BD68-5268C4BA9061}"/>
              </a:ext>
            </a:extLst>
          </p:cNvPr>
          <p:cNvSpPr/>
          <p:nvPr/>
        </p:nvSpPr>
        <p:spPr>
          <a:xfrm rot="10800000">
            <a:off x="153289" y="4549188"/>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0" name="Down Arrow 189">
            <a:extLst>
              <a:ext uri="{FF2B5EF4-FFF2-40B4-BE49-F238E27FC236}">
                <a16:creationId xmlns:a16="http://schemas.microsoft.com/office/drawing/2014/main" id="{0078562E-2B3C-E841-BF19-E3C3B9CC1234}"/>
              </a:ext>
            </a:extLst>
          </p:cNvPr>
          <p:cNvSpPr/>
          <p:nvPr/>
        </p:nvSpPr>
        <p:spPr>
          <a:xfrm>
            <a:off x="152838" y="842384"/>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6" name="TextBox 165">
            <a:extLst>
              <a:ext uri="{FF2B5EF4-FFF2-40B4-BE49-F238E27FC236}">
                <a16:creationId xmlns:a16="http://schemas.microsoft.com/office/drawing/2014/main" id="{E5A1D915-F7C1-9940-80C1-91ECC002812E}"/>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650</a:t>
            </a:r>
            <a:endParaRPr lang="en-GB" sz="2400"/>
          </a:p>
        </p:txBody>
      </p:sp>
      <p:sp>
        <p:nvSpPr>
          <p:cNvPr id="167" name="TextBox 166">
            <a:extLst>
              <a:ext uri="{FF2B5EF4-FFF2-40B4-BE49-F238E27FC236}">
                <a16:creationId xmlns:a16="http://schemas.microsoft.com/office/drawing/2014/main" id="{36BB290A-7FDA-7949-B812-07C4D8FDFE32}"/>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950</a:t>
            </a:r>
            <a:endParaRPr lang="en-GB" sz="2400"/>
          </a:p>
        </p:txBody>
      </p:sp>
      <p:sp>
        <p:nvSpPr>
          <p:cNvPr id="187" name="TextBox 186">
            <a:extLst>
              <a:ext uri="{FF2B5EF4-FFF2-40B4-BE49-F238E27FC236}">
                <a16:creationId xmlns:a16="http://schemas.microsoft.com/office/drawing/2014/main" id="{C9809AAD-5431-0D4E-998B-772944DB5E54}"/>
              </a:ext>
            </a:extLst>
          </p:cNvPr>
          <p:cNvSpPr txBox="1"/>
          <p:nvPr/>
        </p:nvSpPr>
        <p:spPr>
          <a:xfrm>
            <a:off x="7879596" y="1668508"/>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300</a:t>
            </a:r>
          </a:p>
        </p:txBody>
      </p:sp>
      <p:sp>
        <p:nvSpPr>
          <p:cNvPr id="188" name="TextBox 187">
            <a:extLst>
              <a:ext uri="{FF2B5EF4-FFF2-40B4-BE49-F238E27FC236}">
                <a16:creationId xmlns:a16="http://schemas.microsoft.com/office/drawing/2014/main" id="{0AFDE6D5-581B-5145-888C-A78C7C140D6E}"/>
              </a:ext>
            </a:extLst>
          </p:cNvPr>
          <p:cNvSpPr txBox="1"/>
          <p:nvPr/>
        </p:nvSpPr>
        <p:spPr>
          <a:xfrm>
            <a:off x="9562666" y="1672621"/>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300</a:t>
            </a:r>
          </a:p>
        </p:txBody>
      </p:sp>
    </p:spTree>
    <p:extLst>
      <p:ext uri="{BB962C8B-B14F-4D97-AF65-F5344CB8AC3E}">
        <p14:creationId xmlns:p14="http://schemas.microsoft.com/office/powerpoint/2010/main" val="736846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58333E-6 -4.07407E-6 L -0.43112 0.13496 " pathEditMode="relative" rAng="0" ptsTypes="AA">
                                      <p:cBhvr>
                                        <p:cTn id="6" dur="3000" fill="hold"/>
                                        <p:tgtEl>
                                          <p:spTgt spid="188"/>
                                        </p:tgtEl>
                                        <p:attrNameLst>
                                          <p:attrName>ppt_x</p:attrName>
                                          <p:attrName>ppt_y</p:attrName>
                                        </p:attrNameLst>
                                      </p:cBhvr>
                                      <p:rCtr x="-21563" y="6736"/>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188"/>
                                        </p:tgtEl>
                                        <p:attrNameLst>
                                          <p:attrName>ppt_w</p:attrName>
                                        </p:attrNameLst>
                                      </p:cBhvr>
                                      <p:tavLst>
                                        <p:tav tm="0">
                                          <p:val>
                                            <p:strVal val="ppt_w"/>
                                          </p:val>
                                        </p:tav>
                                        <p:tav tm="100000">
                                          <p:val>
                                            <p:fltVal val="0"/>
                                          </p:val>
                                        </p:tav>
                                      </p:tavLst>
                                    </p:anim>
                                    <p:anim calcmode="lin" valueType="num">
                                      <p:cBhvr>
                                        <p:cTn id="10" dur="1000"/>
                                        <p:tgtEl>
                                          <p:spTgt spid="188"/>
                                        </p:tgtEl>
                                        <p:attrNameLst>
                                          <p:attrName>ppt_h</p:attrName>
                                        </p:attrNameLst>
                                      </p:cBhvr>
                                      <p:tavLst>
                                        <p:tav tm="0">
                                          <p:val>
                                            <p:strVal val="ppt_h"/>
                                          </p:val>
                                        </p:tav>
                                        <p:tav tm="100000">
                                          <p:val>
                                            <p:fltVal val="0"/>
                                          </p:val>
                                        </p:tav>
                                      </p:tavLst>
                                    </p:anim>
                                    <p:anim calcmode="lin" valueType="num">
                                      <p:cBhvr>
                                        <p:cTn id="11" dur="1000"/>
                                        <p:tgtEl>
                                          <p:spTgt spid="188"/>
                                        </p:tgtEl>
                                        <p:attrNameLst>
                                          <p:attrName>style.rotation</p:attrName>
                                        </p:attrNameLst>
                                      </p:cBhvr>
                                      <p:tavLst>
                                        <p:tav tm="0">
                                          <p:val>
                                            <p:fltVal val="0"/>
                                          </p:val>
                                        </p:tav>
                                        <p:tav tm="100000">
                                          <p:val>
                                            <p:fltVal val="90"/>
                                          </p:val>
                                        </p:tav>
                                      </p:tavLst>
                                    </p:anim>
                                    <p:animEffect transition="out" filter="fade">
                                      <p:cBhvr>
                                        <p:cTn id="12" dur="1000"/>
                                        <p:tgtEl>
                                          <p:spTgt spid="188"/>
                                        </p:tgtEl>
                                      </p:cBhvr>
                                    </p:animEffect>
                                    <p:set>
                                      <p:cBhvr>
                                        <p:cTn id="13" dur="1" fill="hold">
                                          <p:stCondLst>
                                            <p:cond delay="999"/>
                                          </p:stCondLst>
                                        </p:cTn>
                                        <p:tgtEl>
                                          <p:spTgt spid="188"/>
                                        </p:tgtEl>
                                        <p:attrNameLst>
                                          <p:attrName>style.visibility</p:attrName>
                                        </p:attrNameLst>
                                      </p:cBhvr>
                                      <p:to>
                                        <p:strVal val="hidden"/>
                                      </p:to>
                                    </p:set>
                                  </p:childTnLst>
                                </p:cTn>
                              </p:par>
                              <p:par>
                                <p:cTn id="14" presetID="47" presetClass="entr" presetSubtype="0" fill="hold" nodeType="withEffect">
                                  <p:stCondLst>
                                    <p:cond delay="0"/>
                                  </p:stCondLst>
                                  <p:childTnLst>
                                    <p:set>
                                      <p:cBhvr>
                                        <p:cTn id="15" dur="1" fill="hold">
                                          <p:stCondLst>
                                            <p:cond delay="0"/>
                                          </p:stCondLst>
                                        </p:cTn>
                                        <p:tgtEl>
                                          <p:spTgt spid="329"/>
                                        </p:tgtEl>
                                        <p:attrNameLst>
                                          <p:attrName>style.visibility</p:attrName>
                                        </p:attrNameLst>
                                      </p:cBhvr>
                                      <p:to>
                                        <p:strVal val="visible"/>
                                      </p:to>
                                    </p:set>
                                    <p:animEffect transition="in" filter="fade">
                                      <p:cBhvr>
                                        <p:cTn id="16" dur="1000"/>
                                        <p:tgtEl>
                                          <p:spTgt spid="329"/>
                                        </p:tgtEl>
                                      </p:cBhvr>
                                    </p:animEffect>
                                    <p:anim calcmode="lin" valueType="num">
                                      <p:cBhvr>
                                        <p:cTn id="17" dur="1000" fill="hold"/>
                                        <p:tgtEl>
                                          <p:spTgt spid="329"/>
                                        </p:tgtEl>
                                        <p:attrNameLst>
                                          <p:attrName>ppt_x</p:attrName>
                                        </p:attrNameLst>
                                      </p:cBhvr>
                                      <p:tavLst>
                                        <p:tav tm="0">
                                          <p:val>
                                            <p:strVal val="#ppt_x"/>
                                          </p:val>
                                        </p:tav>
                                        <p:tav tm="100000">
                                          <p:val>
                                            <p:strVal val="#ppt_x"/>
                                          </p:val>
                                        </p:tav>
                                      </p:tavLst>
                                    </p:anim>
                                    <p:anim calcmode="lin" valueType="num">
                                      <p:cBhvr>
                                        <p:cTn id="18" dur="1000" fill="hold"/>
                                        <p:tgtEl>
                                          <p:spTgt spid="329"/>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236"/>
                                        </p:tgtEl>
                                        <p:attrNameLst>
                                          <p:attrName>style.visibility</p:attrName>
                                        </p:attrNameLst>
                                      </p:cBhvr>
                                      <p:to>
                                        <p:strVal val="visible"/>
                                      </p:to>
                                    </p:set>
                                    <p:animEffect transition="in" filter="fade">
                                      <p:cBhvr>
                                        <p:cTn id="21" dur="1000"/>
                                        <p:tgtEl>
                                          <p:spTgt spid="236"/>
                                        </p:tgtEl>
                                      </p:cBhvr>
                                    </p:animEffect>
                                    <p:anim calcmode="lin" valueType="num">
                                      <p:cBhvr>
                                        <p:cTn id="22" dur="1000" fill="hold"/>
                                        <p:tgtEl>
                                          <p:spTgt spid="236"/>
                                        </p:tgtEl>
                                        <p:attrNameLst>
                                          <p:attrName>ppt_x</p:attrName>
                                        </p:attrNameLst>
                                      </p:cBhvr>
                                      <p:tavLst>
                                        <p:tav tm="0">
                                          <p:val>
                                            <p:strVal val="#ppt_x"/>
                                          </p:val>
                                        </p:tav>
                                        <p:tav tm="100000">
                                          <p:val>
                                            <p:strVal val="#ppt_x"/>
                                          </p:val>
                                        </p:tav>
                                      </p:tavLst>
                                    </p:anim>
                                    <p:anim calcmode="lin" valueType="num">
                                      <p:cBhvr>
                                        <p:cTn id="23" dur="1000" fill="hold"/>
                                        <p:tgtEl>
                                          <p:spTgt spid="236"/>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235"/>
                                        </p:tgtEl>
                                        <p:attrNameLst>
                                          <p:attrName>style.visibility</p:attrName>
                                        </p:attrNameLst>
                                      </p:cBhvr>
                                      <p:to>
                                        <p:strVal val="visible"/>
                                      </p:to>
                                    </p:set>
                                    <p:animEffect transition="in" filter="fade">
                                      <p:cBhvr>
                                        <p:cTn id="26" dur="1000"/>
                                        <p:tgtEl>
                                          <p:spTgt spid="235"/>
                                        </p:tgtEl>
                                      </p:cBhvr>
                                    </p:animEffect>
                                    <p:anim calcmode="lin" valueType="num">
                                      <p:cBhvr>
                                        <p:cTn id="27" dur="1000" fill="hold"/>
                                        <p:tgtEl>
                                          <p:spTgt spid="235"/>
                                        </p:tgtEl>
                                        <p:attrNameLst>
                                          <p:attrName>ppt_x</p:attrName>
                                        </p:attrNameLst>
                                      </p:cBhvr>
                                      <p:tavLst>
                                        <p:tav tm="0">
                                          <p:val>
                                            <p:strVal val="#ppt_x"/>
                                          </p:val>
                                        </p:tav>
                                        <p:tav tm="100000">
                                          <p:val>
                                            <p:strVal val="#ppt_x"/>
                                          </p:val>
                                        </p:tav>
                                      </p:tavLst>
                                    </p:anim>
                                    <p:anim calcmode="lin" valueType="num">
                                      <p:cBhvr>
                                        <p:cTn id="28" dur="1000" fill="hold"/>
                                        <p:tgtEl>
                                          <p:spTgt spid="23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0" nodeType="clickEffect">
                                  <p:stCondLst>
                                    <p:cond delay="0"/>
                                  </p:stCondLst>
                                  <p:childTnLst>
                                    <p:animMotion origin="layout" path="M -4.58333E-6 3.7037E-7 L -0.30351 0.49815 " pathEditMode="relative" rAng="0" ptsTypes="AA">
                                      <p:cBhvr>
                                        <p:cTn id="32" dur="3000" fill="hold"/>
                                        <p:tgtEl>
                                          <p:spTgt spid="187"/>
                                        </p:tgtEl>
                                        <p:attrNameLst>
                                          <p:attrName>ppt_x</p:attrName>
                                          <p:attrName>ppt_y</p:attrName>
                                        </p:attrNameLst>
                                      </p:cBhvr>
                                      <p:rCtr x="-15182" y="24907"/>
                                    </p:animMotion>
                                  </p:childTnLst>
                                </p:cTn>
                              </p:par>
                            </p:childTnLst>
                          </p:cTn>
                        </p:par>
                        <p:par>
                          <p:cTn id="33" fill="hold">
                            <p:stCondLst>
                              <p:cond delay="3000"/>
                            </p:stCondLst>
                            <p:childTnLst>
                              <p:par>
                                <p:cTn id="34" presetID="31" presetClass="exit" presetSubtype="0" fill="hold" grpId="1" nodeType="afterEffect">
                                  <p:stCondLst>
                                    <p:cond delay="0"/>
                                  </p:stCondLst>
                                  <p:childTnLst>
                                    <p:anim calcmode="lin" valueType="num">
                                      <p:cBhvr>
                                        <p:cTn id="35" dur="1000"/>
                                        <p:tgtEl>
                                          <p:spTgt spid="187"/>
                                        </p:tgtEl>
                                        <p:attrNameLst>
                                          <p:attrName>ppt_w</p:attrName>
                                        </p:attrNameLst>
                                      </p:cBhvr>
                                      <p:tavLst>
                                        <p:tav tm="0">
                                          <p:val>
                                            <p:strVal val="ppt_w"/>
                                          </p:val>
                                        </p:tav>
                                        <p:tav tm="100000">
                                          <p:val>
                                            <p:fltVal val="0"/>
                                          </p:val>
                                        </p:tav>
                                      </p:tavLst>
                                    </p:anim>
                                    <p:anim calcmode="lin" valueType="num">
                                      <p:cBhvr>
                                        <p:cTn id="36" dur="1000"/>
                                        <p:tgtEl>
                                          <p:spTgt spid="187"/>
                                        </p:tgtEl>
                                        <p:attrNameLst>
                                          <p:attrName>ppt_h</p:attrName>
                                        </p:attrNameLst>
                                      </p:cBhvr>
                                      <p:tavLst>
                                        <p:tav tm="0">
                                          <p:val>
                                            <p:strVal val="ppt_h"/>
                                          </p:val>
                                        </p:tav>
                                        <p:tav tm="100000">
                                          <p:val>
                                            <p:fltVal val="0"/>
                                          </p:val>
                                        </p:tav>
                                      </p:tavLst>
                                    </p:anim>
                                    <p:anim calcmode="lin" valueType="num">
                                      <p:cBhvr>
                                        <p:cTn id="37" dur="1000"/>
                                        <p:tgtEl>
                                          <p:spTgt spid="187"/>
                                        </p:tgtEl>
                                        <p:attrNameLst>
                                          <p:attrName>style.rotation</p:attrName>
                                        </p:attrNameLst>
                                      </p:cBhvr>
                                      <p:tavLst>
                                        <p:tav tm="0">
                                          <p:val>
                                            <p:fltVal val="0"/>
                                          </p:val>
                                        </p:tav>
                                        <p:tav tm="100000">
                                          <p:val>
                                            <p:fltVal val="90"/>
                                          </p:val>
                                        </p:tav>
                                      </p:tavLst>
                                    </p:anim>
                                    <p:animEffect transition="out" filter="fade">
                                      <p:cBhvr>
                                        <p:cTn id="38" dur="1000"/>
                                        <p:tgtEl>
                                          <p:spTgt spid="187"/>
                                        </p:tgtEl>
                                      </p:cBhvr>
                                    </p:animEffect>
                                    <p:set>
                                      <p:cBhvr>
                                        <p:cTn id="39" dur="1" fill="hold">
                                          <p:stCondLst>
                                            <p:cond delay="999"/>
                                          </p:stCondLst>
                                        </p:cTn>
                                        <p:tgtEl>
                                          <p:spTgt spid="187"/>
                                        </p:tgtEl>
                                        <p:attrNameLst>
                                          <p:attrName>style.visibility</p:attrName>
                                        </p:attrNameLst>
                                      </p:cBhvr>
                                      <p:to>
                                        <p:strVal val="hidden"/>
                                      </p:to>
                                    </p:set>
                                  </p:childTnLst>
                                </p:cTn>
                              </p:par>
                              <p:par>
                                <p:cTn id="40" presetID="42" presetClass="entr" presetSubtype="0" fill="hold" nodeType="withEffect">
                                  <p:stCondLst>
                                    <p:cond delay="0"/>
                                  </p:stCondLst>
                                  <p:childTnLst>
                                    <p:set>
                                      <p:cBhvr>
                                        <p:cTn id="41" dur="1" fill="hold">
                                          <p:stCondLst>
                                            <p:cond delay="0"/>
                                          </p:stCondLst>
                                        </p:cTn>
                                        <p:tgtEl>
                                          <p:spTgt spid="332"/>
                                        </p:tgtEl>
                                        <p:attrNameLst>
                                          <p:attrName>style.visibility</p:attrName>
                                        </p:attrNameLst>
                                      </p:cBhvr>
                                      <p:to>
                                        <p:strVal val="visible"/>
                                      </p:to>
                                    </p:set>
                                    <p:animEffect transition="in" filter="fade">
                                      <p:cBhvr>
                                        <p:cTn id="42" dur="1000"/>
                                        <p:tgtEl>
                                          <p:spTgt spid="332"/>
                                        </p:tgtEl>
                                      </p:cBhvr>
                                    </p:animEffect>
                                    <p:anim calcmode="lin" valueType="num">
                                      <p:cBhvr>
                                        <p:cTn id="43" dur="1000" fill="hold"/>
                                        <p:tgtEl>
                                          <p:spTgt spid="332"/>
                                        </p:tgtEl>
                                        <p:attrNameLst>
                                          <p:attrName>ppt_x</p:attrName>
                                        </p:attrNameLst>
                                      </p:cBhvr>
                                      <p:tavLst>
                                        <p:tav tm="0">
                                          <p:val>
                                            <p:strVal val="#ppt_x"/>
                                          </p:val>
                                        </p:tav>
                                        <p:tav tm="100000">
                                          <p:val>
                                            <p:strVal val="#ppt_x"/>
                                          </p:val>
                                        </p:tav>
                                      </p:tavLst>
                                    </p:anim>
                                    <p:anim calcmode="lin" valueType="num">
                                      <p:cBhvr>
                                        <p:cTn id="44" dur="1000" fill="hold"/>
                                        <p:tgtEl>
                                          <p:spTgt spid="33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38"/>
                                        </p:tgtEl>
                                        <p:attrNameLst>
                                          <p:attrName>style.visibility</p:attrName>
                                        </p:attrNameLst>
                                      </p:cBhvr>
                                      <p:to>
                                        <p:strVal val="visible"/>
                                      </p:to>
                                    </p:set>
                                    <p:animEffect transition="in" filter="fade">
                                      <p:cBhvr>
                                        <p:cTn id="47" dur="1000"/>
                                        <p:tgtEl>
                                          <p:spTgt spid="238"/>
                                        </p:tgtEl>
                                      </p:cBhvr>
                                    </p:animEffect>
                                    <p:anim calcmode="lin" valueType="num">
                                      <p:cBhvr>
                                        <p:cTn id="48" dur="1000" fill="hold"/>
                                        <p:tgtEl>
                                          <p:spTgt spid="238"/>
                                        </p:tgtEl>
                                        <p:attrNameLst>
                                          <p:attrName>ppt_x</p:attrName>
                                        </p:attrNameLst>
                                      </p:cBhvr>
                                      <p:tavLst>
                                        <p:tav tm="0">
                                          <p:val>
                                            <p:strVal val="#ppt_x"/>
                                          </p:val>
                                        </p:tav>
                                        <p:tav tm="100000">
                                          <p:val>
                                            <p:strVal val="#ppt_x"/>
                                          </p:val>
                                        </p:tav>
                                      </p:tavLst>
                                    </p:anim>
                                    <p:anim calcmode="lin" valueType="num">
                                      <p:cBhvr>
                                        <p:cTn id="49" dur="1000" fill="hold"/>
                                        <p:tgtEl>
                                          <p:spTgt spid="23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37"/>
                                        </p:tgtEl>
                                        <p:attrNameLst>
                                          <p:attrName>style.visibility</p:attrName>
                                        </p:attrNameLst>
                                      </p:cBhvr>
                                      <p:to>
                                        <p:strVal val="visible"/>
                                      </p:to>
                                    </p:set>
                                    <p:animEffect transition="in" filter="fade">
                                      <p:cBhvr>
                                        <p:cTn id="52" dur="1000"/>
                                        <p:tgtEl>
                                          <p:spTgt spid="237"/>
                                        </p:tgtEl>
                                      </p:cBhvr>
                                    </p:animEffect>
                                    <p:anim calcmode="lin" valueType="num">
                                      <p:cBhvr>
                                        <p:cTn id="53" dur="1000" fill="hold"/>
                                        <p:tgtEl>
                                          <p:spTgt spid="237"/>
                                        </p:tgtEl>
                                        <p:attrNameLst>
                                          <p:attrName>ppt_x</p:attrName>
                                        </p:attrNameLst>
                                      </p:cBhvr>
                                      <p:tavLst>
                                        <p:tav tm="0">
                                          <p:val>
                                            <p:strVal val="#ppt_x"/>
                                          </p:val>
                                        </p:tav>
                                        <p:tav tm="100000">
                                          <p:val>
                                            <p:strVal val="#ppt_x"/>
                                          </p:val>
                                        </p:tav>
                                      </p:tavLst>
                                    </p:anim>
                                    <p:anim calcmode="lin" valueType="num">
                                      <p:cBhvr>
                                        <p:cTn id="54" dur="1000" fill="hold"/>
                                        <p:tgtEl>
                                          <p:spTgt spid="237"/>
                                        </p:tgtEl>
                                        <p:attrNameLst>
                                          <p:attrName>ppt_y</p:attrName>
                                        </p:attrNameLst>
                                      </p:cBhvr>
                                      <p:tavLst>
                                        <p:tav tm="0">
                                          <p:val>
                                            <p:strVal val="#ppt_y+.1"/>
                                          </p:val>
                                        </p:tav>
                                        <p:tav tm="100000">
                                          <p:val>
                                            <p:strVal val="#ppt_y"/>
                                          </p:val>
                                        </p:tav>
                                      </p:tavLst>
                                    </p:anim>
                                  </p:childTnLst>
                                </p:cTn>
                              </p:par>
                            </p:childTnLst>
                          </p:cTn>
                        </p:par>
                        <p:par>
                          <p:cTn id="55" fill="hold">
                            <p:stCondLst>
                              <p:cond delay="4000"/>
                            </p:stCondLst>
                            <p:childTnLst>
                              <p:par>
                                <p:cTn id="56" presetID="10" presetClass="entr" presetSubtype="0" fill="hold" grpId="0" nodeType="afterEffect">
                                  <p:stCondLst>
                                    <p:cond delay="0"/>
                                  </p:stCondLst>
                                  <p:childTnLst>
                                    <p:set>
                                      <p:cBhvr>
                                        <p:cTn id="57" dur="1" fill="hold">
                                          <p:stCondLst>
                                            <p:cond delay="0"/>
                                          </p:stCondLst>
                                        </p:cTn>
                                        <p:tgtEl>
                                          <p:spTgt spid="166"/>
                                        </p:tgtEl>
                                        <p:attrNameLst>
                                          <p:attrName>style.visibility</p:attrName>
                                        </p:attrNameLst>
                                      </p:cBhvr>
                                      <p:to>
                                        <p:strVal val="visible"/>
                                      </p:to>
                                    </p:set>
                                    <p:animEffect transition="in" filter="fade">
                                      <p:cBhvr>
                                        <p:cTn id="58" dur="1000"/>
                                        <p:tgtEl>
                                          <p:spTgt spid="166"/>
                                        </p:tgtEl>
                                      </p:cBhvr>
                                    </p:animEffect>
                                  </p:childTnLst>
                                </p:cTn>
                              </p:par>
                              <p:par>
                                <p:cTn id="59" presetID="10" presetClass="exit" presetSubtype="0" fill="hold" grpId="0" nodeType="withEffect">
                                  <p:stCondLst>
                                    <p:cond delay="0"/>
                                  </p:stCondLst>
                                  <p:childTnLst>
                                    <p:animEffect transition="out" filter="fade">
                                      <p:cBhvr>
                                        <p:cTn id="60" dur="500"/>
                                        <p:tgtEl>
                                          <p:spTgt spid="167"/>
                                        </p:tgtEl>
                                      </p:cBhvr>
                                    </p:animEffect>
                                    <p:set>
                                      <p:cBhvr>
                                        <p:cTn id="61" dur="1" fill="hold">
                                          <p:stCondLst>
                                            <p:cond delay="499"/>
                                          </p:stCondLst>
                                        </p:cTn>
                                        <p:tgtEl>
                                          <p:spTgt spid="167"/>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189"/>
                                        </p:tgtEl>
                                        <p:attrNameLst>
                                          <p:attrName>style.visibility</p:attrName>
                                        </p:attrNameLst>
                                      </p:cBhvr>
                                      <p:to>
                                        <p:strVal val="visible"/>
                                      </p:to>
                                    </p:set>
                                    <p:animEffect transition="in" filter="fade">
                                      <p:cBhvr>
                                        <p:cTn id="66" dur="1000"/>
                                        <p:tgtEl>
                                          <p:spTgt spid="189"/>
                                        </p:tgtEl>
                                      </p:cBhvr>
                                    </p:animEffect>
                                    <p:anim calcmode="lin" valueType="num">
                                      <p:cBhvr>
                                        <p:cTn id="67" dur="1000" fill="hold"/>
                                        <p:tgtEl>
                                          <p:spTgt spid="189"/>
                                        </p:tgtEl>
                                        <p:attrNameLst>
                                          <p:attrName>ppt_x</p:attrName>
                                        </p:attrNameLst>
                                      </p:cBhvr>
                                      <p:tavLst>
                                        <p:tav tm="0">
                                          <p:val>
                                            <p:strVal val="#ppt_x"/>
                                          </p:val>
                                        </p:tav>
                                        <p:tav tm="100000">
                                          <p:val>
                                            <p:strVal val="#ppt_x"/>
                                          </p:val>
                                        </p:tav>
                                      </p:tavLst>
                                    </p:anim>
                                    <p:anim calcmode="lin" valueType="num">
                                      <p:cBhvr>
                                        <p:cTn id="68" dur="1000" fill="hold"/>
                                        <p:tgtEl>
                                          <p:spTgt spid="189"/>
                                        </p:tgtEl>
                                        <p:attrNameLst>
                                          <p:attrName>ppt_y</p:attrName>
                                        </p:attrNameLst>
                                      </p:cBhvr>
                                      <p:tavLst>
                                        <p:tav tm="0">
                                          <p:val>
                                            <p:strVal val="#ppt_y+.1"/>
                                          </p:val>
                                        </p:tav>
                                        <p:tav tm="100000">
                                          <p:val>
                                            <p:strVal val="#ppt_y"/>
                                          </p:val>
                                        </p:tav>
                                      </p:tavLst>
                                    </p:anim>
                                  </p:childTnLst>
                                </p:cTn>
                              </p:par>
                              <p:par>
                                <p:cTn id="69" presetID="47" presetClass="entr" presetSubtype="0" fill="hold" grpId="0" nodeType="withEffect">
                                  <p:stCondLst>
                                    <p:cond delay="0"/>
                                  </p:stCondLst>
                                  <p:childTnLst>
                                    <p:set>
                                      <p:cBhvr>
                                        <p:cTn id="70" dur="1" fill="hold">
                                          <p:stCondLst>
                                            <p:cond delay="0"/>
                                          </p:stCondLst>
                                        </p:cTn>
                                        <p:tgtEl>
                                          <p:spTgt spid="190"/>
                                        </p:tgtEl>
                                        <p:attrNameLst>
                                          <p:attrName>style.visibility</p:attrName>
                                        </p:attrNameLst>
                                      </p:cBhvr>
                                      <p:to>
                                        <p:strVal val="visible"/>
                                      </p:to>
                                    </p:set>
                                    <p:animEffect transition="in" filter="fade">
                                      <p:cBhvr>
                                        <p:cTn id="71" dur="1000"/>
                                        <p:tgtEl>
                                          <p:spTgt spid="190"/>
                                        </p:tgtEl>
                                      </p:cBhvr>
                                    </p:animEffect>
                                    <p:anim calcmode="lin" valueType="num">
                                      <p:cBhvr>
                                        <p:cTn id="72" dur="1000" fill="hold"/>
                                        <p:tgtEl>
                                          <p:spTgt spid="190"/>
                                        </p:tgtEl>
                                        <p:attrNameLst>
                                          <p:attrName>ppt_x</p:attrName>
                                        </p:attrNameLst>
                                      </p:cBhvr>
                                      <p:tavLst>
                                        <p:tav tm="0">
                                          <p:val>
                                            <p:strVal val="#ppt_x"/>
                                          </p:val>
                                        </p:tav>
                                        <p:tav tm="100000">
                                          <p:val>
                                            <p:strVal val="#ppt_x"/>
                                          </p:val>
                                        </p:tav>
                                      </p:tavLst>
                                    </p:anim>
                                    <p:anim calcmode="lin" valueType="num">
                                      <p:cBhvr>
                                        <p:cTn id="73" dur="1000" fill="hold"/>
                                        <p:tgtEl>
                                          <p:spTgt spid="1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 grpId="0"/>
      <p:bldP spid="236" grpId="0" animBg="1"/>
      <p:bldP spid="237" grpId="0"/>
      <p:bldP spid="238" grpId="0" animBg="1"/>
      <p:bldP spid="189" grpId="0" animBg="1"/>
      <p:bldP spid="190" grpId="0" animBg="1"/>
      <p:bldP spid="166" grpId="0"/>
      <p:bldP spid="167" grpId="0"/>
      <p:bldP spid="187" grpId="0" animBg="1"/>
      <p:bldP spid="187" grpId="1" animBg="1"/>
      <p:bldP spid="188" grpId="0" animBg="1"/>
      <p:bldP spid="188"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51"/>
        <p:cNvGrpSpPr/>
        <p:nvPr/>
      </p:nvGrpSpPr>
      <p:grpSpPr>
        <a:xfrm>
          <a:off x="0" y="0"/>
          <a:ext cx="0" cy="0"/>
          <a:chOff x="0" y="0"/>
          <a:chExt cx="0" cy="0"/>
        </a:xfrm>
      </p:grpSpPr>
      <p:sp>
        <p:nvSpPr>
          <p:cNvPr id="2152" name="Google Shape;2152;p65"/>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2153" name="Google Shape;2153;p65"/>
          <p:cNvGrpSpPr/>
          <p:nvPr/>
        </p:nvGrpSpPr>
        <p:grpSpPr>
          <a:xfrm>
            <a:off x="1284576" y="2130924"/>
            <a:ext cx="10188969" cy="756004"/>
            <a:chOff x="926134" y="1719856"/>
            <a:chExt cx="9204181" cy="750147"/>
          </a:xfrm>
        </p:grpSpPr>
        <p:sp>
          <p:nvSpPr>
            <p:cNvPr id="2154" name="Google Shape;2154;p65"/>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오늘 Ace Cleaners가 가게를 청소했으며, 14일 이내에 결제할 수 있는 청구서를 남겼습니다.</a:t>
              </a:r>
              <a:endParaRPr sz="2000">
                <a:solidFill>
                  <a:schemeClr val="dk1"/>
                </a:solidFill>
                <a:latin typeface="Avenir"/>
                <a:ea typeface="Avenir"/>
                <a:cs typeface="Avenir"/>
                <a:sym typeface="Avenir"/>
              </a:endParaRPr>
            </a:p>
          </p:txBody>
        </p:sp>
        <p:sp>
          <p:nvSpPr>
            <p:cNvPr id="2155" name="Google Shape;2155;p65"/>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Cleaning</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250</a:t>
              </a:r>
              <a:endParaRPr/>
            </a:p>
          </p:txBody>
        </p:sp>
        <p:sp>
          <p:nvSpPr>
            <p:cNvPr id="2156" name="Google Shape;2156;p65"/>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Accounts payable</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250</a:t>
              </a:r>
              <a:endParaRPr/>
            </a:p>
          </p:txBody>
        </p:sp>
        <p:sp>
          <p:nvSpPr>
            <p:cNvPr id="2157" name="Google Shape;2157;p65"/>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9</a:t>
              </a:r>
              <a:endParaRPr/>
            </a:p>
          </p:txBody>
        </p:sp>
      </p:grpSp>
      <p:sp>
        <p:nvSpPr>
          <p:cNvPr id="2158" name="Google Shape;2158;p65"/>
          <p:cNvSpPr txBox="1"/>
          <p:nvPr/>
        </p:nvSpPr>
        <p:spPr>
          <a:xfrm>
            <a:off x="8109273" y="2126055"/>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250</a:t>
            </a:r>
            <a:endParaRPr/>
          </a:p>
        </p:txBody>
      </p:sp>
      <p:sp>
        <p:nvSpPr>
          <p:cNvPr id="2159" name="Google Shape;2159;p65"/>
          <p:cNvSpPr txBox="1"/>
          <p:nvPr/>
        </p:nvSpPr>
        <p:spPr>
          <a:xfrm>
            <a:off x="9792343" y="2126055"/>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250</a:t>
            </a:r>
            <a:endParaRPr/>
          </a:p>
        </p:txBody>
      </p:sp>
      <p:cxnSp>
        <p:nvCxnSpPr>
          <p:cNvPr id="2160" name="Google Shape;2160;p65"/>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2161" name="Google Shape;2161;p65"/>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20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2246586"/>
            <a:ext cx="1620000" cy="1712111"/>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TextBox 238">
            <a:extLst>
              <a:ext uri="{FF2B5EF4-FFF2-40B4-BE49-F238E27FC236}">
                <a16:creationId xmlns:a16="http://schemas.microsoft.com/office/drawing/2014/main" id="{A523F897-551A-8F49-B6AB-51DBFD3C53C0}"/>
              </a:ext>
            </a:extLst>
          </p:cNvPr>
          <p:cNvSpPr txBox="1"/>
          <p:nvPr/>
        </p:nvSpPr>
        <p:spPr>
          <a:xfrm>
            <a:off x="3599552" y="4796571"/>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250</a:t>
            </a:r>
          </a:p>
        </p:txBody>
      </p:sp>
      <p:sp>
        <p:nvSpPr>
          <p:cNvPr id="240" name="Down Arrow 239">
            <a:extLst>
              <a:ext uri="{FF2B5EF4-FFF2-40B4-BE49-F238E27FC236}">
                <a16:creationId xmlns:a16="http://schemas.microsoft.com/office/drawing/2014/main" id="{07DD916A-3850-9F4F-81C8-0C94788A77D2}"/>
              </a:ext>
            </a:extLst>
          </p:cNvPr>
          <p:cNvSpPr/>
          <p:nvPr/>
        </p:nvSpPr>
        <p:spPr>
          <a:xfrm rot="10800000">
            <a:off x="3096000" y="484745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extBox 240">
            <a:extLst>
              <a:ext uri="{FF2B5EF4-FFF2-40B4-BE49-F238E27FC236}">
                <a16:creationId xmlns:a16="http://schemas.microsoft.com/office/drawing/2014/main" id="{88F3874F-A130-C843-9E72-AFB2DD902123}"/>
              </a:ext>
            </a:extLst>
          </p:cNvPr>
          <p:cNvSpPr txBox="1"/>
          <p:nvPr/>
        </p:nvSpPr>
        <p:spPr>
          <a:xfrm>
            <a:off x="7487489" y="1462635"/>
            <a:ext cx="526106" cy="338554"/>
          </a:xfrm>
          <a:prstGeom prst="rect">
            <a:avLst/>
          </a:prstGeom>
          <a:noFill/>
        </p:spPr>
        <p:txBody>
          <a:bodyPr wrap="none" rtlCol="0">
            <a:spAutoFit/>
          </a:bodyPr>
          <a:lstStyle/>
          <a:p>
            <a:pPr algn="r"/>
            <a:r>
              <a:rPr lang="en-US" sz="1600" b="1">
                <a:solidFill>
                  <a:schemeClr val="accent2"/>
                </a:solidFill>
                <a:latin typeface="Avenir"/>
              </a:rPr>
              <a:t>250</a:t>
            </a:r>
          </a:p>
        </p:txBody>
      </p:sp>
      <p:sp>
        <p:nvSpPr>
          <p:cNvPr id="242" name="Down Arrow 241">
            <a:extLst>
              <a:ext uri="{FF2B5EF4-FFF2-40B4-BE49-F238E27FC236}">
                <a16:creationId xmlns:a16="http://schemas.microsoft.com/office/drawing/2014/main" id="{84AF3014-B3DD-BD46-8650-EE907DDD90EA}"/>
              </a:ext>
            </a:extLst>
          </p:cNvPr>
          <p:cNvSpPr/>
          <p:nvPr/>
        </p:nvSpPr>
        <p:spPr>
          <a:xfrm rot="10800000">
            <a:off x="6984000" y="14983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9" name="Group 328">
            <a:extLst>
              <a:ext uri="{FF2B5EF4-FFF2-40B4-BE49-F238E27FC236}">
                <a16:creationId xmlns:a16="http://schemas.microsoft.com/office/drawing/2014/main" id="{E15F7DE2-F1EB-C94A-AE48-4487C8B506B6}"/>
              </a:ext>
            </a:extLst>
          </p:cNvPr>
          <p:cNvGrpSpPr/>
          <p:nvPr/>
        </p:nvGrpSpPr>
        <p:grpSpPr>
          <a:xfrm>
            <a:off x="4330045" y="3136880"/>
            <a:ext cx="309700" cy="224238"/>
            <a:chOff x="770743" y="3715228"/>
            <a:chExt cx="309700" cy="224238"/>
          </a:xfrm>
        </p:grpSpPr>
        <p:sp>
          <p:nvSpPr>
            <p:cNvPr id="330" name="Oval 329">
              <a:extLst>
                <a:ext uri="{FF2B5EF4-FFF2-40B4-BE49-F238E27FC236}">
                  <a16:creationId xmlns:a16="http://schemas.microsoft.com/office/drawing/2014/main" id="{920E5E24-BE4B-BC48-AFD2-943FE12CD729}"/>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2" name="Group 331">
            <a:extLst>
              <a:ext uri="{FF2B5EF4-FFF2-40B4-BE49-F238E27FC236}">
                <a16:creationId xmlns:a16="http://schemas.microsoft.com/office/drawing/2014/main" id="{7924029E-A5DC-CB49-8E0F-74B666CD5BDE}"/>
              </a:ext>
            </a:extLst>
          </p:cNvPr>
          <p:cNvGrpSpPr/>
          <p:nvPr/>
        </p:nvGrpSpPr>
        <p:grpSpPr>
          <a:xfrm>
            <a:off x="4377396" y="5681195"/>
            <a:ext cx="309700" cy="224238"/>
            <a:chOff x="770743" y="3715228"/>
            <a:chExt cx="309700" cy="224238"/>
          </a:xfrm>
        </p:grpSpPr>
        <p:sp>
          <p:nvSpPr>
            <p:cNvPr id="333" name="Oval 332">
              <a:extLst>
                <a:ext uri="{FF2B5EF4-FFF2-40B4-BE49-F238E27FC236}">
                  <a16:creationId xmlns:a16="http://schemas.microsoft.com/office/drawing/2014/main" id="{5234A744-315A-EC44-BDF0-AAAA223BA63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350" name="Group 349">
            <a:extLst>
              <a:ext uri="{FF2B5EF4-FFF2-40B4-BE49-F238E27FC236}">
                <a16:creationId xmlns:a16="http://schemas.microsoft.com/office/drawing/2014/main" id="{9432C11D-E364-C746-985A-2AD5B5DB149E}"/>
              </a:ext>
            </a:extLst>
          </p:cNvPr>
          <p:cNvGrpSpPr/>
          <p:nvPr/>
        </p:nvGrpSpPr>
        <p:grpSpPr>
          <a:xfrm>
            <a:off x="2680630" y="4808856"/>
            <a:ext cx="245580" cy="224238"/>
            <a:chOff x="802803" y="3715228"/>
            <a:chExt cx="245580" cy="224238"/>
          </a:xfrm>
        </p:grpSpPr>
        <p:sp>
          <p:nvSpPr>
            <p:cNvPr id="351" name="Oval 350">
              <a:extLst>
                <a:ext uri="{FF2B5EF4-FFF2-40B4-BE49-F238E27FC236}">
                  <a16:creationId xmlns:a16="http://schemas.microsoft.com/office/drawing/2014/main" id="{7EF515DE-CFB5-C746-AC84-B4C313BD06E8}"/>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2" name="Rectangle 351">
              <a:extLst>
                <a:ext uri="{FF2B5EF4-FFF2-40B4-BE49-F238E27FC236}">
                  <a16:creationId xmlns:a16="http://schemas.microsoft.com/office/drawing/2014/main" id="{3B567B98-0230-FB4D-8B5A-D57CF8B99F8A}"/>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3" name="Group 352">
            <a:extLst>
              <a:ext uri="{FF2B5EF4-FFF2-40B4-BE49-F238E27FC236}">
                <a16:creationId xmlns:a16="http://schemas.microsoft.com/office/drawing/2014/main" id="{F40449CF-4146-A640-B710-857F798A33D4}"/>
              </a:ext>
            </a:extLst>
          </p:cNvPr>
          <p:cNvGrpSpPr/>
          <p:nvPr/>
        </p:nvGrpSpPr>
        <p:grpSpPr>
          <a:xfrm>
            <a:off x="6550922" y="1481480"/>
            <a:ext cx="245580" cy="224238"/>
            <a:chOff x="802803" y="3715228"/>
            <a:chExt cx="245580" cy="224238"/>
          </a:xfrm>
        </p:grpSpPr>
        <p:sp>
          <p:nvSpPr>
            <p:cNvPr id="354" name="Oval 353">
              <a:extLst>
                <a:ext uri="{FF2B5EF4-FFF2-40B4-BE49-F238E27FC236}">
                  <a16:creationId xmlns:a16="http://schemas.microsoft.com/office/drawing/2014/main" id="{1F8A312F-C689-FF42-84E9-02ECA6602256}"/>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5" name="Rectangle 354">
              <a:extLst>
                <a:ext uri="{FF2B5EF4-FFF2-40B4-BE49-F238E27FC236}">
                  <a16:creationId xmlns:a16="http://schemas.microsoft.com/office/drawing/2014/main" id="{50CBD88D-DC4A-3849-90CE-641B000548E3}"/>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94" name="Rectangle 193">
            <a:extLst>
              <a:ext uri="{FF2B5EF4-FFF2-40B4-BE49-F238E27FC236}">
                <a16:creationId xmlns:a16="http://schemas.microsoft.com/office/drawing/2014/main" id="{AD1AE879-D594-0841-BBF4-CABCCF51851F}"/>
              </a:ext>
            </a:extLst>
          </p:cNvPr>
          <p:cNvSpPr/>
          <p:nvPr/>
        </p:nvSpPr>
        <p:spPr>
          <a:xfrm>
            <a:off x="237688" y="2237771"/>
            <a:ext cx="107440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5" name="Group 194">
            <a:extLst>
              <a:ext uri="{FF2B5EF4-FFF2-40B4-BE49-F238E27FC236}">
                <a16:creationId xmlns:a16="http://schemas.microsoft.com/office/drawing/2014/main" id="{BED13C05-DF52-414E-BB94-7EE7F083B6FE}"/>
              </a:ext>
            </a:extLst>
          </p:cNvPr>
          <p:cNvGrpSpPr/>
          <p:nvPr/>
        </p:nvGrpSpPr>
        <p:grpSpPr>
          <a:xfrm>
            <a:off x="460156" y="2506817"/>
            <a:ext cx="10188967" cy="756003"/>
            <a:chOff x="926134" y="1719857"/>
            <a:chExt cx="9204181" cy="750146"/>
          </a:xfrm>
        </p:grpSpPr>
        <p:sp>
          <p:nvSpPr>
            <p:cNvPr id="196" name="TextBox 195">
              <a:extLst>
                <a:ext uri="{FF2B5EF4-FFF2-40B4-BE49-F238E27FC236}">
                  <a16:creationId xmlns:a16="http://schemas.microsoft.com/office/drawing/2014/main" id="{19F2D71E-5ADC-EA46-8C0D-C5BCC45BE863}"/>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오늘 </a:t>
              </a:r>
              <a:r>
                <a:rPr lang="en-US" altLang="ko-KR" sz="2000" dirty="0">
                  <a:solidFill>
                    <a:schemeClr val="dk1"/>
                  </a:solidFill>
                  <a:latin typeface="Calibri"/>
                  <a:ea typeface="Calibri"/>
                  <a:cs typeface="Calibri"/>
                  <a:sym typeface="Calibri"/>
                </a:rPr>
                <a:t>Ace Cleaners</a:t>
              </a:r>
              <a:r>
                <a:rPr lang="ko-KR" altLang="en-US" sz="2000" dirty="0">
                  <a:solidFill>
                    <a:schemeClr val="dk1"/>
                  </a:solidFill>
                  <a:latin typeface="Calibri"/>
                  <a:ea typeface="Calibri"/>
                  <a:cs typeface="Calibri"/>
                  <a:sym typeface="Calibri"/>
                </a:rPr>
                <a:t>가 가게를 청소했으며</a:t>
              </a:r>
              <a:r>
                <a:rPr lang="en-US" altLang="ko-KR" sz="2000" dirty="0">
                  <a:solidFill>
                    <a:schemeClr val="dk1"/>
                  </a:solidFill>
                  <a:latin typeface="Calibri"/>
                  <a:ea typeface="Calibri"/>
                  <a:cs typeface="Calibri"/>
                  <a:sym typeface="Calibri"/>
                </a:rPr>
                <a:t>, 14</a:t>
              </a:r>
              <a:r>
                <a:rPr lang="ko-KR" altLang="en-US" sz="2000" dirty="0">
                  <a:solidFill>
                    <a:schemeClr val="dk1"/>
                  </a:solidFill>
                  <a:latin typeface="Calibri"/>
                  <a:ea typeface="Calibri"/>
                  <a:cs typeface="Calibri"/>
                  <a:sym typeface="Calibri"/>
                </a:rPr>
                <a:t>일 이내에 결제할 수 있는 청구서를 남겼습니다</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197" name="TextBox 196">
              <a:extLst>
                <a:ext uri="{FF2B5EF4-FFF2-40B4-BE49-F238E27FC236}">
                  <a16:creationId xmlns:a16="http://schemas.microsoft.com/office/drawing/2014/main" id="{D91B0486-54F9-804E-A511-CB075216EDA8}"/>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Cleaning</a:t>
              </a:r>
            </a:p>
            <a:p>
              <a:pPr algn="ctr"/>
              <a:r>
                <a:rPr lang="en-GB" b="1">
                  <a:solidFill>
                    <a:schemeClr val="bg1">
                      <a:lumMod val="75000"/>
                    </a:schemeClr>
                  </a:solidFill>
                  <a:latin typeface="Avenir"/>
                  <a:ea typeface="Helvetica" charset="0"/>
                  <a:cs typeface="Helvetica" charset="0"/>
                </a:rPr>
                <a:t>250</a:t>
              </a:r>
            </a:p>
          </p:txBody>
        </p:sp>
        <p:sp>
          <p:nvSpPr>
            <p:cNvPr id="198" name="TextBox 197">
              <a:extLst>
                <a:ext uri="{FF2B5EF4-FFF2-40B4-BE49-F238E27FC236}">
                  <a16:creationId xmlns:a16="http://schemas.microsoft.com/office/drawing/2014/main" id="{F90CB9C6-F512-724B-8619-00B258085B3A}"/>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Accounts payable</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250</a:t>
              </a:r>
            </a:p>
          </p:txBody>
        </p:sp>
        <p:sp>
          <p:nvSpPr>
            <p:cNvPr id="199" name="TextBox 198">
              <a:extLst>
                <a:ext uri="{FF2B5EF4-FFF2-40B4-BE49-F238E27FC236}">
                  <a16:creationId xmlns:a16="http://schemas.microsoft.com/office/drawing/2014/main" id="{C7DA4430-05D0-C046-9E8F-3B7FDBFC0C3C}"/>
                </a:ext>
              </a:extLst>
            </p:cNvPr>
            <p:cNvSpPr txBox="1"/>
            <p:nvPr/>
          </p:nvSpPr>
          <p:spPr>
            <a:xfrm>
              <a:off x="926134" y="1719857"/>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9</a:t>
              </a:r>
            </a:p>
          </p:txBody>
        </p:sp>
      </p:grpSp>
      <p:sp>
        <p:nvSpPr>
          <p:cNvPr id="216" name="Down Arrow 215">
            <a:extLst>
              <a:ext uri="{FF2B5EF4-FFF2-40B4-BE49-F238E27FC236}">
                <a16:creationId xmlns:a16="http://schemas.microsoft.com/office/drawing/2014/main" id="{5FAE8CEC-B50A-3A43-81FD-5D797D8D103F}"/>
              </a:ext>
            </a:extLst>
          </p:cNvPr>
          <p:cNvSpPr/>
          <p:nvPr/>
        </p:nvSpPr>
        <p:spPr>
          <a:xfrm rot="10800000">
            <a:off x="153289" y="4549188"/>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8" name="Down Arrow 217">
            <a:extLst>
              <a:ext uri="{FF2B5EF4-FFF2-40B4-BE49-F238E27FC236}">
                <a16:creationId xmlns:a16="http://schemas.microsoft.com/office/drawing/2014/main" id="{B822B1AC-1B9F-C048-9C5C-B3288F36BEF2}"/>
              </a:ext>
            </a:extLst>
          </p:cNvPr>
          <p:cNvSpPr/>
          <p:nvPr/>
        </p:nvSpPr>
        <p:spPr>
          <a:xfrm rot="10800000">
            <a:off x="11212336" y="839631"/>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6" name="TextBox 175">
            <a:extLst>
              <a:ext uri="{FF2B5EF4-FFF2-40B4-BE49-F238E27FC236}">
                <a16:creationId xmlns:a16="http://schemas.microsoft.com/office/drawing/2014/main" id="{5EA062A6-8C25-EF49-8A7F-DBC9122CB079}"/>
              </a:ext>
            </a:extLst>
          </p:cNvPr>
          <p:cNvSpPr txBox="1"/>
          <p:nvPr/>
        </p:nvSpPr>
        <p:spPr>
          <a:xfrm>
            <a:off x="6403129" y="3421071"/>
            <a:ext cx="1548343" cy="566133"/>
          </a:xfrm>
          <a:prstGeom prst="rect">
            <a:avLst/>
          </a:prstGeom>
          <a:noFill/>
        </p:spPr>
        <p:txBody>
          <a:bodyPr wrap="square" rtlCol="0" anchor="ctr">
            <a:noAutofit/>
          </a:bodyPr>
          <a:lstStyle/>
          <a:p>
            <a:pPr algn="ctr"/>
            <a:r>
              <a:rPr lang="en-US" sz="2400" b="1">
                <a:latin typeface="Avenir"/>
              </a:rPr>
              <a:t>400</a:t>
            </a:r>
            <a:endParaRPr lang="en-GB" sz="2400"/>
          </a:p>
        </p:txBody>
      </p:sp>
      <p:sp>
        <p:nvSpPr>
          <p:cNvPr id="177" name="TextBox 176">
            <a:extLst>
              <a:ext uri="{FF2B5EF4-FFF2-40B4-BE49-F238E27FC236}">
                <a16:creationId xmlns:a16="http://schemas.microsoft.com/office/drawing/2014/main" id="{A3CB45A8-5497-5F43-8EAC-8DB9CF916557}"/>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650</a:t>
            </a:r>
            <a:endParaRPr lang="en-GB" sz="2400"/>
          </a:p>
        </p:txBody>
      </p:sp>
      <p:sp>
        <p:nvSpPr>
          <p:cNvPr id="202" name="TextBox 201">
            <a:extLst>
              <a:ext uri="{FF2B5EF4-FFF2-40B4-BE49-F238E27FC236}">
                <a16:creationId xmlns:a16="http://schemas.microsoft.com/office/drawing/2014/main" id="{5E098B09-6111-8D4E-BA5F-FA529E2A6AE3}"/>
              </a:ext>
            </a:extLst>
          </p:cNvPr>
          <p:cNvSpPr txBox="1"/>
          <p:nvPr/>
        </p:nvSpPr>
        <p:spPr>
          <a:xfrm>
            <a:off x="7267073" y="2508895"/>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250</a:t>
            </a:r>
          </a:p>
        </p:txBody>
      </p:sp>
      <p:sp>
        <p:nvSpPr>
          <p:cNvPr id="214" name="TextBox 213">
            <a:extLst>
              <a:ext uri="{FF2B5EF4-FFF2-40B4-BE49-F238E27FC236}">
                <a16:creationId xmlns:a16="http://schemas.microsoft.com/office/drawing/2014/main" id="{A7FBE5E0-D2F2-2547-94DF-5E9B79D14098}"/>
              </a:ext>
            </a:extLst>
          </p:cNvPr>
          <p:cNvSpPr txBox="1"/>
          <p:nvPr/>
        </p:nvSpPr>
        <p:spPr>
          <a:xfrm>
            <a:off x="8950143" y="2513008"/>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250</a:t>
            </a:r>
          </a:p>
        </p:txBody>
      </p:sp>
    </p:spTree>
    <p:extLst>
      <p:ext uri="{BB962C8B-B14F-4D97-AF65-F5344CB8AC3E}">
        <p14:creationId xmlns:p14="http://schemas.microsoft.com/office/powerpoint/2010/main" val="780483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3.33333E-6 L -0.43307 0.24815 " pathEditMode="relative" rAng="0" ptsTypes="AA">
                                      <p:cBhvr>
                                        <p:cTn id="6" dur="3000" fill="hold"/>
                                        <p:tgtEl>
                                          <p:spTgt spid="202"/>
                                        </p:tgtEl>
                                        <p:attrNameLst>
                                          <p:attrName>ppt_x</p:attrName>
                                          <p:attrName>ppt_y</p:attrName>
                                        </p:attrNameLst>
                                      </p:cBhvr>
                                      <p:rCtr x="-21654" y="12407"/>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202"/>
                                        </p:tgtEl>
                                        <p:attrNameLst>
                                          <p:attrName>ppt_w</p:attrName>
                                        </p:attrNameLst>
                                      </p:cBhvr>
                                      <p:tavLst>
                                        <p:tav tm="0">
                                          <p:val>
                                            <p:strVal val="ppt_w"/>
                                          </p:val>
                                        </p:tav>
                                        <p:tav tm="100000">
                                          <p:val>
                                            <p:fltVal val="0"/>
                                          </p:val>
                                        </p:tav>
                                      </p:tavLst>
                                    </p:anim>
                                    <p:anim calcmode="lin" valueType="num">
                                      <p:cBhvr>
                                        <p:cTn id="10" dur="1000"/>
                                        <p:tgtEl>
                                          <p:spTgt spid="202"/>
                                        </p:tgtEl>
                                        <p:attrNameLst>
                                          <p:attrName>ppt_h</p:attrName>
                                        </p:attrNameLst>
                                      </p:cBhvr>
                                      <p:tavLst>
                                        <p:tav tm="0">
                                          <p:val>
                                            <p:strVal val="ppt_h"/>
                                          </p:val>
                                        </p:tav>
                                        <p:tav tm="100000">
                                          <p:val>
                                            <p:fltVal val="0"/>
                                          </p:val>
                                        </p:tav>
                                      </p:tavLst>
                                    </p:anim>
                                    <p:anim calcmode="lin" valueType="num">
                                      <p:cBhvr>
                                        <p:cTn id="11" dur="1000"/>
                                        <p:tgtEl>
                                          <p:spTgt spid="202"/>
                                        </p:tgtEl>
                                        <p:attrNameLst>
                                          <p:attrName>style.rotation</p:attrName>
                                        </p:attrNameLst>
                                      </p:cBhvr>
                                      <p:tavLst>
                                        <p:tav tm="0">
                                          <p:val>
                                            <p:fltVal val="0"/>
                                          </p:val>
                                        </p:tav>
                                        <p:tav tm="100000">
                                          <p:val>
                                            <p:fltVal val="90"/>
                                          </p:val>
                                        </p:tav>
                                      </p:tavLst>
                                    </p:anim>
                                    <p:animEffect transition="out" filter="fade">
                                      <p:cBhvr>
                                        <p:cTn id="12" dur="1000"/>
                                        <p:tgtEl>
                                          <p:spTgt spid="202"/>
                                        </p:tgtEl>
                                      </p:cBhvr>
                                    </p:animEffect>
                                    <p:set>
                                      <p:cBhvr>
                                        <p:cTn id="13" dur="1" fill="hold">
                                          <p:stCondLst>
                                            <p:cond delay="999"/>
                                          </p:stCondLst>
                                        </p:cTn>
                                        <p:tgtEl>
                                          <p:spTgt spid="202"/>
                                        </p:tgtEl>
                                        <p:attrNameLst>
                                          <p:attrName>style.visibility</p:attrName>
                                        </p:attrNameLst>
                                      </p:cBhvr>
                                      <p:to>
                                        <p:strVal val="hidden"/>
                                      </p:to>
                                    </p:set>
                                  </p:childTnLst>
                                </p:cTn>
                              </p:par>
                              <p:par>
                                <p:cTn id="14" presetID="42" presetClass="entr" presetSubtype="0" fill="hold" nodeType="withEffect">
                                  <p:stCondLst>
                                    <p:cond delay="0"/>
                                  </p:stCondLst>
                                  <p:childTnLst>
                                    <p:set>
                                      <p:cBhvr>
                                        <p:cTn id="15" dur="1" fill="hold">
                                          <p:stCondLst>
                                            <p:cond delay="0"/>
                                          </p:stCondLst>
                                        </p:cTn>
                                        <p:tgtEl>
                                          <p:spTgt spid="350"/>
                                        </p:tgtEl>
                                        <p:attrNameLst>
                                          <p:attrName>style.visibility</p:attrName>
                                        </p:attrNameLst>
                                      </p:cBhvr>
                                      <p:to>
                                        <p:strVal val="visible"/>
                                      </p:to>
                                    </p:set>
                                    <p:animEffect transition="in" filter="fade">
                                      <p:cBhvr>
                                        <p:cTn id="16" dur="1000"/>
                                        <p:tgtEl>
                                          <p:spTgt spid="350"/>
                                        </p:tgtEl>
                                      </p:cBhvr>
                                    </p:animEffect>
                                    <p:anim calcmode="lin" valueType="num">
                                      <p:cBhvr>
                                        <p:cTn id="17" dur="1000" fill="hold"/>
                                        <p:tgtEl>
                                          <p:spTgt spid="350"/>
                                        </p:tgtEl>
                                        <p:attrNameLst>
                                          <p:attrName>ppt_x</p:attrName>
                                        </p:attrNameLst>
                                      </p:cBhvr>
                                      <p:tavLst>
                                        <p:tav tm="0">
                                          <p:val>
                                            <p:strVal val="#ppt_x"/>
                                          </p:val>
                                        </p:tav>
                                        <p:tav tm="100000">
                                          <p:val>
                                            <p:strVal val="#ppt_x"/>
                                          </p:val>
                                        </p:tav>
                                      </p:tavLst>
                                    </p:anim>
                                    <p:anim calcmode="lin" valueType="num">
                                      <p:cBhvr>
                                        <p:cTn id="18" dur="1000" fill="hold"/>
                                        <p:tgtEl>
                                          <p:spTgt spid="350"/>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40"/>
                                        </p:tgtEl>
                                        <p:attrNameLst>
                                          <p:attrName>style.visibility</p:attrName>
                                        </p:attrNameLst>
                                      </p:cBhvr>
                                      <p:to>
                                        <p:strVal val="visible"/>
                                      </p:to>
                                    </p:set>
                                    <p:animEffect transition="in" filter="fade">
                                      <p:cBhvr>
                                        <p:cTn id="21" dur="1000"/>
                                        <p:tgtEl>
                                          <p:spTgt spid="240"/>
                                        </p:tgtEl>
                                      </p:cBhvr>
                                    </p:animEffect>
                                    <p:anim calcmode="lin" valueType="num">
                                      <p:cBhvr>
                                        <p:cTn id="22" dur="1000" fill="hold"/>
                                        <p:tgtEl>
                                          <p:spTgt spid="240"/>
                                        </p:tgtEl>
                                        <p:attrNameLst>
                                          <p:attrName>ppt_x</p:attrName>
                                        </p:attrNameLst>
                                      </p:cBhvr>
                                      <p:tavLst>
                                        <p:tav tm="0">
                                          <p:val>
                                            <p:strVal val="#ppt_x"/>
                                          </p:val>
                                        </p:tav>
                                        <p:tav tm="100000">
                                          <p:val>
                                            <p:strVal val="#ppt_x"/>
                                          </p:val>
                                        </p:tav>
                                      </p:tavLst>
                                    </p:anim>
                                    <p:anim calcmode="lin" valueType="num">
                                      <p:cBhvr>
                                        <p:cTn id="23" dur="1000" fill="hold"/>
                                        <p:tgtEl>
                                          <p:spTgt spid="240"/>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39"/>
                                        </p:tgtEl>
                                        <p:attrNameLst>
                                          <p:attrName>style.visibility</p:attrName>
                                        </p:attrNameLst>
                                      </p:cBhvr>
                                      <p:to>
                                        <p:strVal val="visible"/>
                                      </p:to>
                                    </p:set>
                                    <p:animEffect transition="in" filter="fade">
                                      <p:cBhvr>
                                        <p:cTn id="26" dur="1000"/>
                                        <p:tgtEl>
                                          <p:spTgt spid="239"/>
                                        </p:tgtEl>
                                      </p:cBhvr>
                                    </p:animEffect>
                                    <p:anim calcmode="lin" valueType="num">
                                      <p:cBhvr>
                                        <p:cTn id="27" dur="1000" fill="hold"/>
                                        <p:tgtEl>
                                          <p:spTgt spid="239"/>
                                        </p:tgtEl>
                                        <p:attrNameLst>
                                          <p:attrName>ppt_x</p:attrName>
                                        </p:attrNameLst>
                                      </p:cBhvr>
                                      <p:tavLst>
                                        <p:tav tm="0">
                                          <p:val>
                                            <p:strVal val="#ppt_x"/>
                                          </p:val>
                                        </p:tav>
                                        <p:tav tm="100000">
                                          <p:val>
                                            <p:strVal val="#ppt_x"/>
                                          </p:val>
                                        </p:tav>
                                      </p:tavLst>
                                    </p:anim>
                                    <p:anim calcmode="lin" valueType="num">
                                      <p:cBhvr>
                                        <p:cTn id="28" dur="1000" fill="hold"/>
                                        <p:tgtEl>
                                          <p:spTgt spid="239"/>
                                        </p:tgtEl>
                                        <p:attrNameLst>
                                          <p:attrName>ppt_y</p:attrName>
                                        </p:attrNameLst>
                                      </p:cBhvr>
                                      <p:tavLst>
                                        <p:tav tm="0">
                                          <p:val>
                                            <p:strVal val="#ppt_y+.1"/>
                                          </p:val>
                                        </p:tav>
                                        <p:tav tm="100000">
                                          <p:val>
                                            <p:strVal val="#ppt_y"/>
                                          </p:val>
                                        </p:tav>
                                      </p:tavLst>
                                    </p:anim>
                                  </p:childTnLst>
                                </p:cTn>
                              </p:par>
                            </p:childTnLst>
                          </p:cTn>
                        </p:par>
                        <p:par>
                          <p:cTn id="29" fill="hold">
                            <p:stCondLst>
                              <p:cond delay="4000"/>
                            </p:stCondLst>
                            <p:childTnLst>
                              <p:par>
                                <p:cTn id="30" presetID="10" presetClass="entr" presetSubtype="0" fill="hold" grpId="0" nodeType="afterEffect">
                                  <p:stCondLst>
                                    <p:cond delay="0"/>
                                  </p:stCondLst>
                                  <p:childTnLst>
                                    <p:set>
                                      <p:cBhvr>
                                        <p:cTn id="31" dur="1" fill="hold">
                                          <p:stCondLst>
                                            <p:cond delay="0"/>
                                          </p:stCondLst>
                                        </p:cTn>
                                        <p:tgtEl>
                                          <p:spTgt spid="176"/>
                                        </p:tgtEl>
                                        <p:attrNameLst>
                                          <p:attrName>style.visibility</p:attrName>
                                        </p:attrNameLst>
                                      </p:cBhvr>
                                      <p:to>
                                        <p:strVal val="visible"/>
                                      </p:to>
                                    </p:set>
                                    <p:animEffect transition="in" filter="fade">
                                      <p:cBhvr>
                                        <p:cTn id="32" dur="1000"/>
                                        <p:tgtEl>
                                          <p:spTgt spid="176"/>
                                        </p:tgtEl>
                                      </p:cBhvr>
                                    </p:animEffect>
                                  </p:childTnLst>
                                </p:cTn>
                              </p:par>
                              <p:par>
                                <p:cTn id="33" presetID="10" presetClass="exit" presetSubtype="0" fill="hold" grpId="0" nodeType="withEffect">
                                  <p:stCondLst>
                                    <p:cond delay="0"/>
                                  </p:stCondLst>
                                  <p:childTnLst>
                                    <p:animEffect transition="out" filter="fade">
                                      <p:cBhvr>
                                        <p:cTn id="34" dur="500"/>
                                        <p:tgtEl>
                                          <p:spTgt spid="177"/>
                                        </p:tgtEl>
                                      </p:cBhvr>
                                    </p:animEffect>
                                    <p:set>
                                      <p:cBhvr>
                                        <p:cTn id="35" dur="1" fill="hold">
                                          <p:stCondLst>
                                            <p:cond delay="499"/>
                                          </p:stCondLst>
                                        </p:cTn>
                                        <p:tgtEl>
                                          <p:spTgt spid="177"/>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42" presetClass="path" presetSubtype="0" accel="50000" decel="50000" fill="hold" grpId="0" nodeType="clickEffect">
                                  <p:stCondLst>
                                    <p:cond delay="0"/>
                                  </p:stCondLst>
                                  <p:childTnLst>
                                    <p:animMotion origin="layout" path="M 5E-6 2.22222E-6 L -0.15938 -0.2375 " pathEditMode="relative" rAng="0" ptsTypes="AA">
                                      <p:cBhvr>
                                        <p:cTn id="39" dur="3000" fill="hold"/>
                                        <p:tgtEl>
                                          <p:spTgt spid="214"/>
                                        </p:tgtEl>
                                        <p:attrNameLst>
                                          <p:attrName>ppt_x</p:attrName>
                                          <p:attrName>ppt_y</p:attrName>
                                        </p:attrNameLst>
                                      </p:cBhvr>
                                      <p:rCtr x="-7969" y="-11875"/>
                                    </p:animMotion>
                                  </p:childTnLst>
                                </p:cTn>
                              </p:par>
                            </p:childTnLst>
                          </p:cTn>
                        </p:par>
                        <p:par>
                          <p:cTn id="40" fill="hold">
                            <p:stCondLst>
                              <p:cond delay="3000"/>
                            </p:stCondLst>
                            <p:childTnLst>
                              <p:par>
                                <p:cTn id="41" presetID="31" presetClass="exit" presetSubtype="0" fill="hold" grpId="1" nodeType="afterEffect">
                                  <p:stCondLst>
                                    <p:cond delay="0"/>
                                  </p:stCondLst>
                                  <p:childTnLst>
                                    <p:anim calcmode="lin" valueType="num">
                                      <p:cBhvr>
                                        <p:cTn id="42" dur="1000"/>
                                        <p:tgtEl>
                                          <p:spTgt spid="214"/>
                                        </p:tgtEl>
                                        <p:attrNameLst>
                                          <p:attrName>ppt_w</p:attrName>
                                        </p:attrNameLst>
                                      </p:cBhvr>
                                      <p:tavLst>
                                        <p:tav tm="0">
                                          <p:val>
                                            <p:strVal val="ppt_w"/>
                                          </p:val>
                                        </p:tav>
                                        <p:tav tm="100000">
                                          <p:val>
                                            <p:fltVal val="0"/>
                                          </p:val>
                                        </p:tav>
                                      </p:tavLst>
                                    </p:anim>
                                    <p:anim calcmode="lin" valueType="num">
                                      <p:cBhvr>
                                        <p:cTn id="43" dur="1000"/>
                                        <p:tgtEl>
                                          <p:spTgt spid="214"/>
                                        </p:tgtEl>
                                        <p:attrNameLst>
                                          <p:attrName>ppt_h</p:attrName>
                                        </p:attrNameLst>
                                      </p:cBhvr>
                                      <p:tavLst>
                                        <p:tav tm="0">
                                          <p:val>
                                            <p:strVal val="ppt_h"/>
                                          </p:val>
                                        </p:tav>
                                        <p:tav tm="100000">
                                          <p:val>
                                            <p:fltVal val="0"/>
                                          </p:val>
                                        </p:tav>
                                      </p:tavLst>
                                    </p:anim>
                                    <p:anim calcmode="lin" valueType="num">
                                      <p:cBhvr>
                                        <p:cTn id="44" dur="1000"/>
                                        <p:tgtEl>
                                          <p:spTgt spid="214"/>
                                        </p:tgtEl>
                                        <p:attrNameLst>
                                          <p:attrName>style.rotation</p:attrName>
                                        </p:attrNameLst>
                                      </p:cBhvr>
                                      <p:tavLst>
                                        <p:tav tm="0">
                                          <p:val>
                                            <p:fltVal val="0"/>
                                          </p:val>
                                        </p:tav>
                                        <p:tav tm="100000">
                                          <p:val>
                                            <p:fltVal val="90"/>
                                          </p:val>
                                        </p:tav>
                                      </p:tavLst>
                                    </p:anim>
                                    <p:animEffect transition="out" filter="fade">
                                      <p:cBhvr>
                                        <p:cTn id="45" dur="1000"/>
                                        <p:tgtEl>
                                          <p:spTgt spid="214"/>
                                        </p:tgtEl>
                                      </p:cBhvr>
                                    </p:animEffect>
                                    <p:set>
                                      <p:cBhvr>
                                        <p:cTn id="46" dur="1" fill="hold">
                                          <p:stCondLst>
                                            <p:cond delay="999"/>
                                          </p:stCondLst>
                                        </p:cTn>
                                        <p:tgtEl>
                                          <p:spTgt spid="214"/>
                                        </p:tgtEl>
                                        <p:attrNameLst>
                                          <p:attrName>style.visibility</p:attrName>
                                        </p:attrNameLst>
                                      </p:cBhvr>
                                      <p:to>
                                        <p:strVal val="hidden"/>
                                      </p:to>
                                    </p:set>
                                  </p:childTnLst>
                                </p:cTn>
                              </p:par>
                              <p:par>
                                <p:cTn id="47" presetID="42" presetClass="entr" presetSubtype="0" fill="hold" nodeType="withEffect">
                                  <p:stCondLst>
                                    <p:cond delay="0"/>
                                  </p:stCondLst>
                                  <p:childTnLst>
                                    <p:set>
                                      <p:cBhvr>
                                        <p:cTn id="48" dur="1" fill="hold">
                                          <p:stCondLst>
                                            <p:cond delay="0"/>
                                          </p:stCondLst>
                                        </p:cTn>
                                        <p:tgtEl>
                                          <p:spTgt spid="353"/>
                                        </p:tgtEl>
                                        <p:attrNameLst>
                                          <p:attrName>style.visibility</p:attrName>
                                        </p:attrNameLst>
                                      </p:cBhvr>
                                      <p:to>
                                        <p:strVal val="visible"/>
                                      </p:to>
                                    </p:set>
                                    <p:animEffect transition="in" filter="fade">
                                      <p:cBhvr>
                                        <p:cTn id="49" dur="1000"/>
                                        <p:tgtEl>
                                          <p:spTgt spid="353"/>
                                        </p:tgtEl>
                                      </p:cBhvr>
                                    </p:animEffect>
                                    <p:anim calcmode="lin" valueType="num">
                                      <p:cBhvr>
                                        <p:cTn id="50" dur="1000" fill="hold"/>
                                        <p:tgtEl>
                                          <p:spTgt spid="353"/>
                                        </p:tgtEl>
                                        <p:attrNameLst>
                                          <p:attrName>ppt_x</p:attrName>
                                        </p:attrNameLst>
                                      </p:cBhvr>
                                      <p:tavLst>
                                        <p:tav tm="0">
                                          <p:val>
                                            <p:strVal val="#ppt_x"/>
                                          </p:val>
                                        </p:tav>
                                        <p:tav tm="100000">
                                          <p:val>
                                            <p:strVal val="#ppt_x"/>
                                          </p:val>
                                        </p:tav>
                                      </p:tavLst>
                                    </p:anim>
                                    <p:anim calcmode="lin" valueType="num">
                                      <p:cBhvr>
                                        <p:cTn id="51" dur="1000" fill="hold"/>
                                        <p:tgtEl>
                                          <p:spTgt spid="35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42"/>
                                        </p:tgtEl>
                                        <p:attrNameLst>
                                          <p:attrName>style.visibility</p:attrName>
                                        </p:attrNameLst>
                                      </p:cBhvr>
                                      <p:to>
                                        <p:strVal val="visible"/>
                                      </p:to>
                                    </p:set>
                                    <p:animEffect transition="in" filter="fade">
                                      <p:cBhvr>
                                        <p:cTn id="54" dur="1000"/>
                                        <p:tgtEl>
                                          <p:spTgt spid="242"/>
                                        </p:tgtEl>
                                      </p:cBhvr>
                                    </p:animEffect>
                                    <p:anim calcmode="lin" valueType="num">
                                      <p:cBhvr>
                                        <p:cTn id="55" dur="1000" fill="hold"/>
                                        <p:tgtEl>
                                          <p:spTgt spid="242"/>
                                        </p:tgtEl>
                                        <p:attrNameLst>
                                          <p:attrName>ppt_x</p:attrName>
                                        </p:attrNameLst>
                                      </p:cBhvr>
                                      <p:tavLst>
                                        <p:tav tm="0">
                                          <p:val>
                                            <p:strVal val="#ppt_x"/>
                                          </p:val>
                                        </p:tav>
                                        <p:tav tm="100000">
                                          <p:val>
                                            <p:strVal val="#ppt_x"/>
                                          </p:val>
                                        </p:tav>
                                      </p:tavLst>
                                    </p:anim>
                                    <p:anim calcmode="lin" valueType="num">
                                      <p:cBhvr>
                                        <p:cTn id="56" dur="1000" fill="hold"/>
                                        <p:tgtEl>
                                          <p:spTgt spid="24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41"/>
                                        </p:tgtEl>
                                        <p:attrNameLst>
                                          <p:attrName>style.visibility</p:attrName>
                                        </p:attrNameLst>
                                      </p:cBhvr>
                                      <p:to>
                                        <p:strVal val="visible"/>
                                      </p:to>
                                    </p:set>
                                    <p:animEffect transition="in" filter="fade">
                                      <p:cBhvr>
                                        <p:cTn id="59" dur="1000"/>
                                        <p:tgtEl>
                                          <p:spTgt spid="241"/>
                                        </p:tgtEl>
                                      </p:cBhvr>
                                    </p:animEffect>
                                    <p:anim calcmode="lin" valueType="num">
                                      <p:cBhvr>
                                        <p:cTn id="60" dur="1000" fill="hold"/>
                                        <p:tgtEl>
                                          <p:spTgt spid="241"/>
                                        </p:tgtEl>
                                        <p:attrNameLst>
                                          <p:attrName>ppt_x</p:attrName>
                                        </p:attrNameLst>
                                      </p:cBhvr>
                                      <p:tavLst>
                                        <p:tav tm="0">
                                          <p:val>
                                            <p:strVal val="#ppt_x"/>
                                          </p:val>
                                        </p:tav>
                                        <p:tav tm="100000">
                                          <p:val>
                                            <p:strVal val="#ppt_x"/>
                                          </p:val>
                                        </p:tav>
                                      </p:tavLst>
                                    </p:anim>
                                    <p:anim calcmode="lin" valueType="num">
                                      <p:cBhvr>
                                        <p:cTn id="61" dur="1000" fill="hold"/>
                                        <p:tgtEl>
                                          <p:spTgt spid="241"/>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216"/>
                                        </p:tgtEl>
                                        <p:attrNameLst>
                                          <p:attrName>style.visibility</p:attrName>
                                        </p:attrNameLst>
                                      </p:cBhvr>
                                      <p:to>
                                        <p:strVal val="visible"/>
                                      </p:to>
                                    </p:set>
                                    <p:animEffect transition="in" filter="fade">
                                      <p:cBhvr>
                                        <p:cTn id="66" dur="1000"/>
                                        <p:tgtEl>
                                          <p:spTgt spid="216"/>
                                        </p:tgtEl>
                                      </p:cBhvr>
                                    </p:animEffect>
                                    <p:anim calcmode="lin" valueType="num">
                                      <p:cBhvr>
                                        <p:cTn id="67" dur="1000" fill="hold"/>
                                        <p:tgtEl>
                                          <p:spTgt spid="216"/>
                                        </p:tgtEl>
                                        <p:attrNameLst>
                                          <p:attrName>ppt_x</p:attrName>
                                        </p:attrNameLst>
                                      </p:cBhvr>
                                      <p:tavLst>
                                        <p:tav tm="0">
                                          <p:val>
                                            <p:strVal val="#ppt_x"/>
                                          </p:val>
                                        </p:tav>
                                        <p:tav tm="100000">
                                          <p:val>
                                            <p:strVal val="#ppt_x"/>
                                          </p:val>
                                        </p:tav>
                                      </p:tavLst>
                                    </p:anim>
                                    <p:anim calcmode="lin" valueType="num">
                                      <p:cBhvr>
                                        <p:cTn id="68" dur="1000" fill="hold"/>
                                        <p:tgtEl>
                                          <p:spTgt spid="216"/>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18"/>
                                        </p:tgtEl>
                                        <p:attrNameLst>
                                          <p:attrName>style.visibility</p:attrName>
                                        </p:attrNameLst>
                                      </p:cBhvr>
                                      <p:to>
                                        <p:strVal val="visible"/>
                                      </p:to>
                                    </p:set>
                                    <p:animEffect transition="in" filter="fade">
                                      <p:cBhvr>
                                        <p:cTn id="71" dur="1000"/>
                                        <p:tgtEl>
                                          <p:spTgt spid="218"/>
                                        </p:tgtEl>
                                      </p:cBhvr>
                                    </p:animEffect>
                                    <p:anim calcmode="lin" valueType="num">
                                      <p:cBhvr>
                                        <p:cTn id="72" dur="1000" fill="hold"/>
                                        <p:tgtEl>
                                          <p:spTgt spid="218"/>
                                        </p:tgtEl>
                                        <p:attrNameLst>
                                          <p:attrName>ppt_x</p:attrName>
                                        </p:attrNameLst>
                                      </p:cBhvr>
                                      <p:tavLst>
                                        <p:tav tm="0">
                                          <p:val>
                                            <p:strVal val="#ppt_x"/>
                                          </p:val>
                                        </p:tav>
                                        <p:tav tm="100000">
                                          <p:val>
                                            <p:strVal val="#ppt_x"/>
                                          </p:val>
                                        </p:tav>
                                      </p:tavLst>
                                    </p:anim>
                                    <p:anim calcmode="lin" valueType="num">
                                      <p:cBhvr>
                                        <p:cTn id="73" dur="1000" fill="hold"/>
                                        <p:tgtEl>
                                          <p:spTgt spid="2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 grpId="0"/>
      <p:bldP spid="240" grpId="0" animBg="1"/>
      <p:bldP spid="241" grpId="0"/>
      <p:bldP spid="242" grpId="0" animBg="1"/>
      <p:bldP spid="216" grpId="0" animBg="1"/>
      <p:bldP spid="218" grpId="0" animBg="1"/>
      <p:bldP spid="176" grpId="0"/>
      <p:bldP spid="177" grpId="0"/>
      <p:bldP spid="202" grpId="0" animBg="1"/>
      <p:bldP spid="202" grpId="1" animBg="1"/>
      <p:bldP spid="214" grpId="0" animBg="1"/>
      <p:bldP spid="214"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347"/>
        <p:cNvGrpSpPr/>
        <p:nvPr/>
      </p:nvGrpSpPr>
      <p:grpSpPr>
        <a:xfrm>
          <a:off x="0" y="0"/>
          <a:ext cx="0" cy="0"/>
          <a:chOff x="0" y="0"/>
          <a:chExt cx="0" cy="0"/>
        </a:xfrm>
      </p:grpSpPr>
      <p:sp>
        <p:nvSpPr>
          <p:cNvPr id="2348" name="Google Shape;2348;p67"/>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2349" name="Google Shape;2349;p67"/>
          <p:cNvGrpSpPr/>
          <p:nvPr/>
        </p:nvGrpSpPr>
        <p:grpSpPr>
          <a:xfrm>
            <a:off x="1284576" y="2130924"/>
            <a:ext cx="10188969" cy="756004"/>
            <a:chOff x="926134" y="1719856"/>
            <a:chExt cx="9204181" cy="750147"/>
          </a:xfrm>
        </p:grpSpPr>
        <p:sp>
          <p:nvSpPr>
            <p:cNvPr id="2350" name="Google Shape;2350;p67"/>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고객 C가 방문하여 선물용 상품권을 현금으로 구매함. 현금은 은행에 입금함.</a:t>
              </a:r>
              <a:endParaRPr sz="2000">
                <a:solidFill>
                  <a:schemeClr val="dk1"/>
                </a:solidFill>
                <a:latin typeface="Avenir"/>
                <a:ea typeface="Avenir"/>
                <a:cs typeface="Avenir"/>
                <a:sym typeface="Avenir"/>
              </a:endParaRPr>
            </a:p>
          </p:txBody>
        </p:sp>
        <p:sp>
          <p:nvSpPr>
            <p:cNvPr id="2351" name="Google Shape;2351;p67"/>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Cash</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100</a:t>
              </a:r>
              <a:endParaRPr/>
            </a:p>
          </p:txBody>
        </p:sp>
        <p:sp>
          <p:nvSpPr>
            <p:cNvPr id="2352" name="Google Shape;2352;p67"/>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Deferred income</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100</a:t>
              </a:r>
              <a:endParaRPr/>
            </a:p>
          </p:txBody>
        </p:sp>
        <p:sp>
          <p:nvSpPr>
            <p:cNvPr id="2353" name="Google Shape;2353;p67"/>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10</a:t>
              </a:r>
              <a:endParaRPr/>
            </a:p>
          </p:txBody>
        </p:sp>
      </p:grpSp>
      <p:sp>
        <p:nvSpPr>
          <p:cNvPr id="2354" name="Google Shape;2354;p67"/>
          <p:cNvSpPr txBox="1"/>
          <p:nvPr/>
        </p:nvSpPr>
        <p:spPr>
          <a:xfrm>
            <a:off x="8111143" y="2130928"/>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100</a:t>
            </a:r>
            <a:endParaRPr/>
          </a:p>
        </p:txBody>
      </p:sp>
      <p:sp>
        <p:nvSpPr>
          <p:cNvPr id="2355" name="Google Shape;2355;p67"/>
          <p:cNvSpPr txBox="1"/>
          <p:nvPr/>
        </p:nvSpPr>
        <p:spPr>
          <a:xfrm>
            <a:off x="9794213" y="2130928"/>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100</a:t>
            </a:r>
            <a:endParaRPr/>
          </a:p>
        </p:txBody>
      </p:sp>
      <p:cxnSp>
        <p:nvCxnSpPr>
          <p:cNvPr id="2356" name="Google Shape;2356;p67"/>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2357" name="Google Shape;2357;p67"/>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21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1994708"/>
            <a:ext cx="1620000" cy="1963989"/>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18" name="TextBox 117">
            <a:extLst>
              <a:ext uri="{FF2B5EF4-FFF2-40B4-BE49-F238E27FC236}">
                <a16:creationId xmlns:a16="http://schemas.microsoft.com/office/drawing/2014/main" id="{771DDF6F-B29C-AF46-A26D-B05A0E9136DB}"/>
              </a:ext>
            </a:extLst>
          </p:cNvPr>
          <p:cNvSpPr txBox="1"/>
          <p:nvPr/>
        </p:nvSpPr>
        <p:spPr>
          <a:xfrm>
            <a:off x="8114313" y="2028286"/>
            <a:ext cx="1864201" cy="338554"/>
          </a:xfrm>
          <a:prstGeom prst="rect">
            <a:avLst/>
          </a:prstGeom>
          <a:noFill/>
        </p:spPr>
        <p:txBody>
          <a:bodyPr wrap="square" rtlCol="0">
            <a:spAutoFit/>
          </a:bodyPr>
          <a:lstStyle/>
          <a:p>
            <a:pPr algn="ctr"/>
            <a:r>
              <a:rPr lang="en-US" sz="1600" dirty="0">
                <a:latin typeface="Avenir"/>
              </a:rPr>
              <a:t>Deferred revenue</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D59EDECC-B1D1-B040-BBB3-304302444F36}"/>
              </a:ext>
            </a:extLst>
          </p:cNvPr>
          <p:cNvSpPr txBox="1"/>
          <p:nvPr/>
        </p:nvSpPr>
        <p:spPr>
          <a:xfrm>
            <a:off x="3469894" y="199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21" name="Down Arrow 220">
            <a:extLst>
              <a:ext uri="{FF2B5EF4-FFF2-40B4-BE49-F238E27FC236}">
                <a16:creationId xmlns:a16="http://schemas.microsoft.com/office/drawing/2014/main" id="{123666BC-850F-5440-BFCE-47B8E5B5429B}"/>
              </a:ext>
            </a:extLst>
          </p:cNvPr>
          <p:cNvSpPr/>
          <p:nvPr/>
        </p:nvSpPr>
        <p:spPr>
          <a:xfrm rot="10800000">
            <a:off x="3007666" y="204993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TextBox 238">
            <a:extLst>
              <a:ext uri="{FF2B5EF4-FFF2-40B4-BE49-F238E27FC236}">
                <a16:creationId xmlns:a16="http://schemas.microsoft.com/office/drawing/2014/main" id="{A523F897-551A-8F49-B6AB-51DBFD3C53C0}"/>
              </a:ext>
            </a:extLst>
          </p:cNvPr>
          <p:cNvSpPr txBox="1"/>
          <p:nvPr/>
        </p:nvSpPr>
        <p:spPr>
          <a:xfrm>
            <a:off x="3599552" y="4796571"/>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250</a:t>
            </a:r>
          </a:p>
        </p:txBody>
      </p:sp>
      <p:sp>
        <p:nvSpPr>
          <p:cNvPr id="240" name="Down Arrow 239">
            <a:extLst>
              <a:ext uri="{FF2B5EF4-FFF2-40B4-BE49-F238E27FC236}">
                <a16:creationId xmlns:a16="http://schemas.microsoft.com/office/drawing/2014/main" id="{07DD916A-3850-9F4F-81C8-0C94788A77D2}"/>
              </a:ext>
            </a:extLst>
          </p:cNvPr>
          <p:cNvSpPr/>
          <p:nvPr/>
        </p:nvSpPr>
        <p:spPr>
          <a:xfrm rot="10800000">
            <a:off x="3096000" y="484745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extBox 240">
            <a:extLst>
              <a:ext uri="{FF2B5EF4-FFF2-40B4-BE49-F238E27FC236}">
                <a16:creationId xmlns:a16="http://schemas.microsoft.com/office/drawing/2014/main" id="{88F3874F-A130-C843-9E72-AFB2DD902123}"/>
              </a:ext>
            </a:extLst>
          </p:cNvPr>
          <p:cNvSpPr txBox="1"/>
          <p:nvPr/>
        </p:nvSpPr>
        <p:spPr>
          <a:xfrm>
            <a:off x="7487489" y="1462635"/>
            <a:ext cx="526106" cy="338554"/>
          </a:xfrm>
          <a:prstGeom prst="rect">
            <a:avLst/>
          </a:prstGeom>
          <a:noFill/>
        </p:spPr>
        <p:txBody>
          <a:bodyPr wrap="none" rtlCol="0">
            <a:spAutoFit/>
          </a:bodyPr>
          <a:lstStyle/>
          <a:p>
            <a:pPr algn="r"/>
            <a:r>
              <a:rPr lang="en-US" sz="1600" b="1">
                <a:solidFill>
                  <a:schemeClr val="accent2"/>
                </a:solidFill>
                <a:latin typeface="Avenir"/>
              </a:rPr>
              <a:t>250</a:t>
            </a:r>
          </a:p>
        </p:txBody>
      </p:sp>
      <p:sp>
        <p:nvSpPr>
          <p:cNvPr id="242" name="Down Arrow 241">
            <a:extLst>
              <a:ext uri="{FF2B5EF4-FFF2-40B4-BE49-F238E27FC236}">
                <a16:creationId xmlns:a16="http://schemas.microsoft.com/office/drawing/2014/main" id="{84AF3014-B3DD-BD46-8650-EE907DDD90EA}"/>
              </a:ext>
            </a:extLst>
          </p:cNvPr>
          <p:cNvSpPr/>
          <p:nvPr/>
        </p:nvSpPr>
        <p:spPr>
          <a:xfrm rot="10800000">
            <a:off x="6984000" y="14983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3" name="TextBox 242">
            <a:extLst>
              <a:ext uri="{FF2B5EF4-FFF2-40B4-BE49-F238E27FC236}">
                <a16:creationId xmlns:a16="http://schemas.microsoft.com/office/drawing/2014/main" id="{5B2E3768-A879-AE44-BA1D-3F82ECAC6E48}"/>
              </a:ext>
            </a:extLst>
          </p:cNvPr>
          <p:cNvSpPr txBox="1"/>
          <p:nvPr/>
        </p:nvSpPr>
        <p:spPr>
          <a:xfrm>
            <a:off x="9285817" y="1715500"/>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244" name="Down Arrow 243">
            <a:extLst>
              <a:ext uri="{FF2B5EF4-FFF2-40B4-BE49-F238E27FC236}">
                <a16:creationId xmlns:a16="http://schemas.microsoft.com/office/drawing/2014/main" id="{4574C5E5-4218-674B-8FB2-AB88F7FB3FDD}"/>
              </a:ext>
            </a:extLst>
          </p:cNvPr>
          <p:cNvSpPr/>
          <p:nvPr/>
        </p:nvSpPr>
        <p:spPr>
          <a:xfrm rot="10800000">
            <a:off x="8784000" y="1751173"/>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grpSp>
        <p:nvGrpSpPr>
          <p:cNvPr id="281" name="Group 280">
            <a:extLst>
              <a:ext uri="{FF2B5EF4-FFF2-40B4-BE49-F238E27FC236}">
                <a16:creationId xmlns:a16="http://schemas.microsoft.com/office/drawing/2014/main" id="{038C4DBA-DFAC-4340-8960-9AF8BB8FC7AF}"/>
              </a:ext>
            </a:extLst>
          </p:cNvPr>
          <p:cNvGrpSpPr>
            <a:grpSpLocks noChangeAspect="1"/>
          </p:cNvGrpSpPr>
          <p:nvPr/>
        </p:nvGrpSpPr>
        <p:grpSpPr>
          <a:xfrm>
            <a:off x="2528691" y="2037441"/>
            <a:ext cx="309700" cy="223916"/>
            <a:chOff x="756599" y="3715227"/>
            <a:chExt cx="321512" cy="232456"/>
          </a:xfrm>
        </p:grpSpPr>
        <p:sp>
          <p:nvSpPr>
            <p:cNvPr id="282" name="Oval 281">
              <a:extLst>
                <a:ext uri="{FF2B5EF4-FFF2-40B4-BE49-F238E27FC236}">
                  <a16:creationId xmlns:a16="http://schemas.microsoft.com/office/drawing/2014/main" id="{D97D5EE0-8446-1244-A657-E9DBF68238D5}"/>
                </a:ext>
              </a:extLst>
            </p:cNvPr>
            <p:cNvSpPr>
              <a:spLocks noChangeAspect="1"/>
            </p:cNvSpPr>
            <p:nvPr/>
          </p:nvSpPr>
          <p:spPr>
            <a:xfrm>
              <a:off x="810780" y="3715227"/>
              <a:ext cx="224238" cy="224238"/>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3" name="Rectangle 282">
              <a:extLst>
                <a:ext uri="{FF2B5EF4-FFF2-40B4-BE49-F238E27FC236}">
                  <a16:creationId xmlns:a16="http://schemas.microsoft.com/office/drawing/2014/main" id="{56AA7E7C-0592-B744-AFA9-D3A064F8B33C}"/>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9" name="Group 328">
            <a:extLst>
              <a:ext uri="{FF2B5EF4-FFF2-40B4-BE49-F238E27FC236}">
                <a16:creationId xmlns:a16="http://schemas.microsoft.com/office/drawing/2014/main" id="{E15F7DE2-F1EB-C94A-AE48-4487C8B506B6}"/>
              </a:ext>
            </a:extLst>
          </p:cNvPr>
          <p:cNvGrpSpPr/>
          <p:nvPr/>
        </p:nvGrpSpPr>
        <p:grpSpPr>
          <a:xfrm>
            <a:off x="4330045" y="3136880"/>
            <a:ext cx="309700" cy="224238"/>
            <a:chOff x="770743" y="3715228"/>
            <a:chExt cx="309700" cy="224238"/>
          </a:xfrm>
        </p:grpSpPr>
        <p:sp>
          <p:nvSpPr>
            <p:cNvPr id="330" name="Oval 329">
              <a:extLst>
                <a:ext uri="{FF2B5EF4-FFF2-40B4-BE49-F238E27FC236}">
                  <a16:creationId xmlns:a16="http://schemas.microsoft.com/office/drawing/2014/main" id="{920E5E24-BE4B-BC48-AFD2-943FE12CD729}"/>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2" name="Group 331">
            <a:extLst>
              <a:ext uri="{FF2B5EF4-FFF2-40B4-BE49-F238E27FC236}">
                <a16:creationId xmlns:a16="http://schemas.microsoft.com/office/drawing/2014/main" id="{7924029E-A5DC-CB49-8E0F-74B666CD5BDE}"/>
              </a:ext>
            </a:extLst>
          </p:cNvPr>
          <p:cNvGrpSpPr/>
          <p:nvPr/>
        </p:nvGrpSpPr>
        <p:grpSpPr>
          <a:xfrm>
            <a:off x="4377396" y="5681195"/>
            <a:ext cx="309700" cy="224238"/>
            <a:chOff x="770743" y="3715228"/>
            <a:chExt cx="309700" cy="224238"/>
          </a:xfrm>
        </p:grpSpPr>
        <p:sp>
          <p:nvSpPr>
            <p:cNvPr id="333" name="Oval 332">
              <a:extLst>
                <a:ext uri="{FF2B5EF4-FFF2-40B4-BE49-F238E27FC236}">
                  <a16:creationId xmlns:a16="http://schemas.microsoft.com/office/drawing/2014/main" id="{5234A744-315A-EC44-BDF0-AAAA223BA63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350" name="Group 349">
            <a:extLst>
              <a:ext uri="{FF2B5EF4-FFF2-40B4-BE49-F238E27FC236}">
                <a16:creationId xmlns:a16="http://schemas.microsoft.com/office/drawing/2014/main" id="{9432C11D-E364-C746-985A-2AD5B5DB149E}"/>
              </a:ext>
            </a:extLst>
          </p:cNvPr>
          <p:cNvGrpSpPr/>
          <p:nvPr/>
        </p:nvGrpSpPr>
        <p:grpSpPr>
          <a:xfrm>
            <a:off x="2680630" y="4808856"/>
            <a:ext cx="245580" cy="224238"/>
            <a:chOff x="802803" y="3715228"/>
            <a:chExt cx="245580" cy="224238"/>
          </a:xfrm>
        </p:grpSpPr>
        <p:sp>
          <p:nvSpPr>
            <p:cNvPr id="351" name="Oval 350">
              <a:extLst>
                <a:ext uri="{FF2B5EF4-FFF2-40B4-BE49-F238E27FC236}">
                  <a16:creationId xmlns:a16="http://schemas.microsoft.com/office/drawing/2014/main" id="{7EF515DE-CFB5-C746-AC84-B4C313BD06E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2" name="Rectangle 351">
              <a:extLst>
                <a:ext uri="{FF2B5EF4-FFF2-40B4-BE49-F238E27FC236}">
                  <a16:creationId xmlns:a16="http://schemas.microsoft.com/office/drawing/2014/main" id="{3B567B98-0230-FB4D-8B5A-D57CF8B99F8A}"/>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3" name="Group 352">
            <a:extLst>
              <a:ext uri="{FF2B5EF4-FFF2-40B4-BE49-F238E27FC236}">
                <a16:creationId xmlns:a16="http://schemas.microsoft.com/office/drawing/2014/main" id="{F40449CF-4146-A640-B710-857F798A33D4}"/>
              </a:ext>
            </a:extLst>
          </p:cNvPr>
          <p:cNvGrpSpPr/>
          <p:nvPr/>
        </p:nvGrpSpPr>
        <p:grpSpPr>
          <a:xfrm>
            <a:off x="6550922" y="1481480"/>
            <a:ext cx="245580" cy="224238"/>
            <a:chOff x="802803" y="3715228"/>
            <a:chExt cx="245580" cy="224238"/>
          </a:xfrm>
        </p:grpSpPr>
        <p:sp>
          <p:nvSpPr>
            <p:cNvPr id="354" name="Oval 353">
              <a:extLst>
                <a:ext uri="{FF2B5EF4-FFF2-40B4-BE49-F238E27FC236}">
                  <a16:creationId xmlns:a16="http://schemas.microsoft.com/office/drawing/2014/main" id="{1F8A312F-C689-FF42-84E9-02ECA660225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5" name="Rectangle 354">
              <a:extLst>
                <a:ext uri="{FF2B5EF4-FFF2-40B4-BE49-F238E27FC236}">
                  <a16:creationId xmlns:a16="http://schemas.microsoft.com/office/drawing/2014/main" id="{50CBD88D-DC4A-3849-90CE-641B000548E3}"/>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6" name="Group 355">
            <a:extLst>
              <a:ext uri="{FF2B5EF4-FFF2-40B4-BE49-F238E27FC236}">
                <a16:creationId xmlns:a16="http://schemas.microsoft.com/office/drawing/2014/main" id="{3E2317E5-1DF6-F144-A88B-97C61AC21234}"/>
              </a:ext>
            </a:extLst>
          </p:cNvPr>
          <p:cNvGrpSpPr/>
          <p:nvPr/>
        </p:nvGrpSpPr>
        <p:grpSpPr>
          <a:xfrm>
            <a:off x="8311967" y="1742779"/>
            <a:ext cx="309700" cy="224238"/>
            <a:chOff x="770743" y="3715228"/>
            <a:chExt cx="309700" cy="224238"/>
          </a:xfrm>
        </p:grpSpPr>
        <p:sp>
          <p:nvSpPr>
            <p:cNvPr id="357" name="Oval 356">
              <a:extLst>
                <a:ext uri="{FF2B5EF4-FFF2-40B4-BE49-F238E27FC236}">
                  <a16:creationId xmlns:a16="http://schemas.microsoft.com/office/drawing/2014/main" id="{6A31460D-137B-A74E-B6FC-B55DFB2AE333}"/>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8" name="Rectangle 357">
              <a:extLst>
                <a:ext uri="{FF2B5EF4-FFF2-40B4-BE49-F238E27FC236}">
                  <a16:creationId xmlns:a16="http://schemas.microsoft.com/office/drawing/2014/main" id="{CFFD1864-8612-0941-9E7F-4F8D6CCCC5CA}"/>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2" name="Group 431">
            <a:extLst>
              <a:ext uri="{FF2B5EF4-FFF2-40B4-BE49-F238E27FC236}">
                <a16:creationId xmlns:a16="http://schemas.microsoft.com/office/drawing/2014/main" id="{4848BB5E-72D6-154B-A4A4-863172845016}"/>
              </a:ext>
            </a:extLst>
          </p:cNvPr>
          <p:cNvGrpSpPr/>
          <p:nvPr/>
        </p:nvGrpSpPr>
        <p:grpSpPr>
          <a:xfrm>
            <a:off x="8214558" y="1260018"/>
            <a:ext cx="1620000" cy="796276"/>
            <a:chOff x="3810000" y="2015069"/>
            <a:chExt cx="1390650" cy="1596814"/>
          </a:xfrm>
          <a:solidFill>
            <a:schemeClr val="accent2"/>
          </a:solidFill>
        </p:grpSpPr>
        <p:sp>
          <p:nvSpPr>
            <p:cNvPr id="433" name="L-Shape 432">
              <a:extLst>
                <a:ext uri="{FF2B5EF4-FFF2-40B4-BE49-F238E27FC236}">
                  <a16:creationId xmlns:a16="http://schemas.microsoft.com/office/drawing/2014/main" id="{ABB06B6F-0697-9948-91DD-97E59BB658B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4" name="L-Shape 433">
              <a:extLst>
                <a:ext uri="{FF2B5EF4-FFF2-40B4-BE49-F238E27FC236}">
                  <a16:creationId xmlns:a16="http://schemas.microsoft.com/office/drawing/2014/main" id="{6F827A64-8AAF-EF46-AB91-B3C3D179257E}"/>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0" name="Rectangle 209">
            <a:extLst>
              <a:ext uri="{FF2B5EF4-FFF2-40B4-BE49-F238E27FC236}">
                <a16:creationId xmlns:a16="http://schemas.microsoft.com/office/drawing/2014/main" id="{E813EE06-E87E-054A-A01A-16FCD3AAD5FC}"/>
              </a:ext>
            </a:extLst>
          </p:cNvPr>
          <p:cNvSpPr/>
          <p:nvPr/>
        </p:nvSpPr>
        <p:spPr>
          <a:xfrm>
            <a:off x="1146817" y="4522208"/>
            <a:ext cx="107440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7" name="Group 246">
            <a:extLst>
              <a:ext uri="{FF2B5EF4-FFF2-40B4-BE49-F238E27FC236}">
                <a16:creationId xmlns:a16="http://schemas.microsoft.com/office/drawing/2014/main" id="{F6DE0189-D980-AB44-BB7B-364B51516595}"/>
              </a:ext>
            </a:extLst>
          </p:cNvPr>
          <p:cNvGrpSpPr/>
          <p:nvPr/>
        </p:nvGrpSpPr>
        <p:grpSpPr>
          <a:xfrm>
            <a:off x="1353375" y="4790659"/>
            <a:ext cx="10188967" cy="756004"/>
            <a:chOff x="926134" y="1719856"/>
            <a:chExt cx="9204181" cy="750147"/>
          </a:xfrm>
        </p:grpSpPr>
        <p:sp>
          <p:nvSpPr>
            <p:cNvPr id="248" name="TextBox 247">
              <a:extLst>
                <a:ext uri="{FF2B5EF4-FFF2-40B4-BE49-F238E27FC236}">
                  <a16:creationId xmlns:a16="http://schemas.microsoft.com/office/drawing/2014/main" id="{21E8841B-CB19-5846-8453-334B400EB00B}"/>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고객 </a:t>
              </a:r>
              <a:r>
                <a:rPr lang="en-US" altLang="ko-KR" sz="2000" dirty="0">
                  <a:solidFill>
                    <a:schemeClr val="dk1"/>
                  </a:solidFill>
                  <a:latin typeface="Calibri"/>
                  <a:ea typeface="Calibri"/>
                  <a:cs typeface="Calibri"/>
                  <a:sym typeface="Calibri"/>
                </a:rPr>
                <a:t>C</a:t>
              </a:r>
              <a:r>
                <a:rPr lang="ko-KR" altLang="en-US" sz="2000" dirty="0">
                  <a:solidFill>
                    <a:schemeClr val="dk1"/>
                  </a:solidFill>
                  <a:latin typeface="Calibri"/>
                  <a:ea typeface="Calibri"/>
                  <a:cs typeface="Calibri"/>
                  <a:sym typeface="Calibri"/>
                </a:rPr>
                <a:t>가 방문하여 선물용 상품권을 현금으로 구매함</a:t>
              </a:r>
              <a:r>
                <a:rPr lang="en-US" altLang="ko-KR" sz="2000" dirty="0">
                  <a:solidFill>
                    <a:schemeClr val="dk1"/>
                  </a:solidFill>
                  <a:latin typeface="Calibri"/>
                  <a:ea typeface="Calibri"/>
                  <a:cs typeface="Calibri"/>
                  <a:sym typeface="Calibri"/>
                </a:rPr>
                <a:t>. </a:t>
              </a:r>
              <a:r>
                <a:rPr lang="ko-KR" altLang="en-US" sz="2000" dirty="0">
                  <a:solidFill>
                    <a:schemeClr val="dk1"/>
                  </a:solidFill>
                  <a:latin typeface="Calibri"/>
                  <a:ea typeface="Calibri"/>
                  <a:cs typeface="Calibri"/>
                  <a:sym typeface="Calibri"/>
                </a:rPr>
                <a:t>현금은 은행에 입금함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249" name="TextBox 248">
              <a:extLst>
                <a:ext uri="{FF2B5EF4-FFF2-40B4-BE49-F238E27FC236}">
                  <a16:creationId xmlns:a16="http://schemas.microsoft.com/office/drawing/2014/main" id="{4D0FDF54-8811-2541-8AFE-CE6A5D2C060C}"/>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Cash</a:t>
              </a:r>
            </a:p>
            <a:p>
              <a:pPr algn="ctr"/>
              <a:r>
                <a:rPr lang="en-GB" b="1">
                  <a:solidFill>
                    <a:schemeClr val="bg1">
                      <a:lumMod val="75000"/>
                    </a:schemeClr>
                  </a:solidFill>
                  <a:latin typeface="Avenir"/>
                  <a:ea typeface="Helvetica" charset="0"/>
                  <a:cs typeface="Helvetica" charset="0"/>
                </a:rPr>
                <a:t>100</a:t>
              </a:r>
            </a:p>
          </p:txBody>
        </p:sp>
        <p:sp>
          <p:nvSpPr>
            <p:cNvPr id="250" name="TextBox 249">
              <a:extLst>
                <a:ext uri="{FF2B5EF4-FFF2-40B4-BE49-F238E27FC236}">
                  <a16:creationId xmlns:a16="http://schemas.microsoft.com/office/drawing/2014/main" id="{19E63395-076A-F14D-A5D0-726C3EAD81CA}"/>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dirty="0">
                  <a:solidFill>
                    <a:schemeClr val="bg1">
                      <a:lumMod val="75000"/>
                    </a:schemeClr>
                  </a:solidFill>
                  <a:latin typeface="Avenir"/>
                  <a:ea typeface="Helvetica" charset="0"/>
                  <a:cs typeface="Helvetica" charset="0"/>
                </a:rPr>
                <a:t>Deferred revenue</a:t>
              </a:r>
              <a:endParaRPr lang="en-GB" sz="1600" b="1" dirty="0">
                <a:solidFill>
                  <a:schemeClr val="bg1">
                    <a:lumMod val="75000"/>
                  </a:schemeClr>
                </a:solidFill>
                <a:latin typeface="Avenir"/>
                <a:ea typeface="Helvetica" charset="0"/>
                <a:cs typeface="Helvetica" charset="0"/>
              </a:endParaRPr>
            </a:p>
            <a:p>
              <a:pPr algn="ctr"/>
              <a:r>
                <a:rPr lang="en-GB" b="1" dirty="0">
                  <a:solidFill>
                    <a:schemeClr val="bg1">
                      <a:lumMod val="75000"/>
                    </a:schemeClr>
                  </a:solidFill>
                  <a:latin typeface="Avenir"/>
                  <a:ea typeface="Helvetica" charset="0"/>
                  <a:cs typeface="Helvetica" charset="0"/>
                </a:rPr>
                <a:t>100</a:t>
              </a:r>
            </a:p>
          </p:txBody>
        </p:sp>
        <p:sp>
          <p:nvSpPr>
            <p:cNvPr id="258" name="TextBox 257">
              <a:extLst>
                <a:ext uri="{FF2B5EF4-FFF2-40B4-BE49-F238E27FC236}">
                  <a16:creationId xmlns:a16="http://schemas.microsoft.com/office/drawing/2014/main" id="{4B1A5B8F-5191-5849-B486-E790513CED7C}"/>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10</a:t>
              </a:r>
            </a:p>
          </p:txBody>
        </p:sp>
      </p:grpSp>
      <p:sp>
        <p:nvSpPr>
          <p:cNvPr id="259" name="TextBox 258">
            <a:extLst>
              <a:ext uri="{FF2B5EF4-FFF2-40B4-BE49-F238E27FC236}">
                <a16:creationId xmlns:a16="http://schemas.microsoft.com/office/drawing/2014/main" id="{773C64F4-7B4A-E048-A759-B8B656518B7C}"/>
              </a:ext>
            </a:extLst>
          </p:cNvPr>
          <p:cNvSpPr txBox="1"/>
          <p:nvPr/>
        </p:nvSpPr>
        <p:spPr>
          <a:xfrm>
            <a:off x="8176202" y="4793332"/>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100</a:t>
            </a:r>
          </a:p>
        </p:txBody>
      </p:sp>
      <p:sp>
        <p:nvSpPr>
          <p:cNvPr id="260" name="TextBox 259">
            <a:extLst>
              <a:ext uri="{FF2B5EF4-FFF2-40B4-BE49-F238E27FC236}">
                <a16:creationId xmlns:a16="http://schemas.microsoft.com/office/drawing/2014/main" id="{04C38144-D211-A44B-A60D-862B56BEA36D}"/>
              </a:ext>
            </a:extLst>
          </p:cNvPr>
          <p:cNvSpPr txBox="1"/>
          <p:nvPr/>
        </p:nvSpPr>
        <p:spPr>
          <a:xfrm>
            <a:off x="9859272" y="4797445"/>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100</a:t>
            </a:r>
          </a:p>
        </p:txBody>
      </p:sp>
      <p:sp>
        <p:nvSpPr>
          <p:cNvPr id="261" name="Down Arrow 260">
            <a:extLst>
              <a:ext uri="{FF2B5EF4-FFF2-40B4-BE49-F238E27FC236}">
                <a16:creationId xmlns:a16="http://schemas.microsoft.com/office/drawing/2014/main" id="{331CEB54-0073-094E-83E4-08260637BE60}"/>
              </a:ext>
            </a:extLst>
          </p:cNvPr>
          <p:cNvSpPr/>
          <p:nvPr/>
        </p:nvSpPr>
        <p:spPr>
          <a:xfrm rot="10800000">
            <a:off x="153289" y="824059"/>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2" name="Down Arrow 261">
            <a:extLst>
              <a:ext uri="{FF2B5EF4-FFF2-40B4-BE49-F238E27FC236}">
                <a16:creationId xmlns:a16="http://schemas.microsoft.com/office/drawing/2014/main" id="{1A0DDA9E-7218-5A40-A0E2-A1342F14792B}"/>
              </a:ext>
            </a:extLst>
          </p:cNvPr>
          <p:cNvSpPr/>
          <p:nvPr/>
        </p:nvSpPr>
        <p:spPr>
          <a:xfrm rot="10800000">
            <a:off x="11196000" y="826738"/>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0" name="TextBox 189">
            <a:extLst>
              <a:ext uri="{FF2B5EF4-FFF2-40B4-BE49-F238E27FC236}">
                <a16:creationId xmlns:a16="http://schemas.microsoft.com/office/drawing/2014/main" id="{1E31F6C5-EAB3-9C49-BD38-CE3DC633AE0D}"/>
              </a:ext>
            </a:extLst>
          </p:cNvPr>
          <p:cNvSpPr txBox="1"/>
          <p:nvPr/>
        </p:nvSpPr>
        <p:spPr>
          <a:xfrm>
            <a:off x="6403129" y="3421071"/>
            <a:ext cx="1548343" cy="566133"/>
          </a:xfrm>
          <a:prstGeom prst="rect">
            <a:avLst/>
          </a:prstGeom>
          <a:noFill/>
        </p:spPr>
        <p:txBody>
          <a:bodyPr wrap="square" rtlCol="0" anchor="ctr">
            <a:noAutofit/>
          </a:bodyPr>
          <a:lstStyle/>
          <a:p>
            <a:pPr algn="ctr"/>
            <a:r>
              <a:rPr lang="en-US" sz="2400" b="1">
                <a:latin typeface="Avenir"/>
              </a:rPr>
              <a:t>400</a:t>
            </a:r>
            <a:endParaRPr lang="en-GB" sz="2400"/>
          </a:p>
        </p:txBody>
      </p:sp>
    </p:spTree>
    <p:extLst>
      <p:ext uri="{BB962C8B-B14F-4D97-AF65-F5344CB8AC3E}">
        <p14:creationId xmlns:p14="http://schemas.microsoft.com/office/powerpoint/2010/main" val="2059876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4.81481E-6 L -0.47942 -0.5213 " pathEditMode="relative" rAng="0" ptsTypes="AA">
                                      <p:cBhvr>
                                        <p:cTn id="6" dur="3000" fill="hold"/>
                                        <p:tgtEl>
                                          <p:spTgt spid="259"/>
                                        </p:tgtEl>
                                        <p:attrNameLst>
                                          <p:attrName>ppt_x</p:attrName>
                                          <p:attrName>ppt_y</p:attrName>
                                        </p:attrNameLst>
                                      </p:cBhvr>
                                      <p:rCtr x="-23971" y="-26065"/>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259"/>
                                        </p:tgtEl>
                                        <p:attrNameLst>
                                          <p:attrName>ppt_w</p:attrName>
                                        </p:attrNameLst>
                                      </p:cBhvr>
                                      <p:tavLst>
                                        <p:tav tm="0">
                                          <p:val>
                                            <p:strVal val="ppt_w"/>
                                          </p:val>
                                        </p:tav>
                                        <p:tav tm="100000">
                                          <p:val>
                                            <p:fltVal val="0"/>
                                          </p:val>
                                        </p:tav>
                                      </p:tavLst>
                                    </p:anim>
                                    <p:anim calcmode="lin" valueType="num">
                                      <p:cBhvr>
                                        <p:cTn id="10" dur="1000"/>
                                        <p:tgtEl>
                                          <p:spTgt spid="259"/>
                                        </p:tgtEl>
                                        <p:attrNameLst>
                                          <p:attrName>ppt_h</p:attrName>
                                        </p:attrNameLst>
                                      </p:cBhvr>
                                      <p:tavLst>
                                        <p:tav tm="0">
                                          <p:val>
                                            <p:strVal val="ppt_h"/>
                                          </p:val>
                                        </p:tav>
                                        <p:tav tm="100000">
                                          <p:val>
                                            <p:fltVal val="0"/>
                                          </p:val>
                                        </p:tav>
                                      </p:tavLst>
                                    </p:anim>
                                    <p:anim calcmode="lin" valueType="num">
                                      <p:cBhvr>
                                        <p:cTn id="11" dur="1000"/>
                                        <p:tgtEl>
                                          <p:spTgt spid="259"/>
                                        </p:tgtEl>
                                        <p:attrNameLst>
                                          <p:attrName>style.rotation</p:attrName>
                                        </p:attrNameLst>
                                      </p:cBhvr>
                                      <p:tavLst>
                                        <p:tav tm="0">
                                          <p:val>
                                            <p:fltVal val="0"/>
                                          </p:val>
                                        </p:tav>
                                        <p:tav tm="100000">
                                          <p:val>
                                            <p:fltVal val="90"/>
                                          </p:val>
                                        </p:tav>
                                      </p:tavLst>
                                    </p:anim>
                                    <p:animEffect transition="out" filter="fade">
                                      <p:cBhvr>
                                        <p:cTn id="12" dur="1000"/>
                                        <p:tgtEl>
                                          <p:spTgt spid="259"/>
                                        </p:tgtEl>
                                      </p:cBhvr>
                                    </p:animEffect>
                                    <p:set>
                                      <p:cBhvr>
                                        <p:cTn id="13" dur="1" fill="hold">
                                          <p:stCondLst>
                                            <p:cond delay="999"/>
                                          </p:stCondLst>
                                        </p:cTn>
                                        <p:tgtEl>
                                          <p:spTgt spid="259"/>
                                        </p:tgtEl>
                                        <p:attrNameLst>
                                          <p:attrName>style.visibility</p:attrName>
                                        </p:attrNameLst>
                                      </p:cBhvr>
                                      <p:to>
                                        <p:strVal val="hidden"/>
                                      </p:to>
                                    </p:set>
                                  </p:childTnLst>
                                </p:cTn>
                              </p:par>
                              <p:par>
                                <p:cTn id="14" presetID="42" presetClass="entr" presetSubtype="0" fill="hold" nodeType="withEffect">
                                  <p:stCondLst>
                                    <p:cond delay="0"/>
                                  </p:stCondLst>
                                  <p:childTnLst>
                                    <p:set>
                                      <p:cBhvr>
                                        <p:cTn id="15" dur="1" fill="hold">
                                          <p:stCondLst>
                                            <p:cond delay="0"/>
                                          </p:stCondLst>
                                        </p:cTn>
                                        <p:tgtEl>
                                          <p:spTgt spid="281"/>
                                        </p:tgtEl>
                                        <p:attrNameLst>
                                          <p:attrName>style.visibility</p:attrName>
                                        </p:attrNameLst>
                                      </p:cBhvr>
                                      <p:to>
                                        <p:strVal val="visible"/>
                                      </p:to>
                                    </p:set>
                                    <p:animEffect transition="in" filter="fade">
                                      <p:cBhvr>
                                        <p:cTn id="16" dur="1000"/>
                                        <p:tgtEl>
                                          <p:spTgt spid="281"/>
                                        </p:tgtEl>
                                      </p:cBhvr>
                                    </p:animEffect>
                                    <p:anim calcmode="lin" valueType="num">
                                      <p:cBhvr>
                                        <p:cTn id="17" dur="1000" fill="hold"/>
                                        <p:tgtEl>
                                          <p:spTgt spid="281"/>
                                        </p:tgtEl>
                                        <p:attrNameLst>
                                          <p:attrName>ppt_x</p:attrName>
                                        </p:attrNameLst>
                                      </p:cBhvr>
                                      <p:tavLst>
                                        <p:tav tm="0">
                                          <p:val>
                                            <p:strVal val="#ppt_x"/>
                                          </p:val>
                                        </p:tav>
                                        <p:tav tm="100000">
                                          <p:val>
                                            <p:strVal val="#ppt_x"/>
                                          </p:val>
                                        </p:tav>
                                      </p:tavLst>
                                    </p:anim>
                                    <p:anim calcmode="lin" valueType="num">
                                      <p:cBhvr>
                                        <p:cTn id="18" dur="1000" fill="hold"/>
                                        <p:tgtEl>
                                          <p:spTgt spid="281"/>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21"/>
                                        </p:tgtEl>
                                        <p:attrNameLst>
                                          <p:attrName>style.visibility</p:attrName>
                                        </p:attrNameLst>
                                      </p:cBhvr>
                                      <p:to>
                                        <p:strVal val="visible"/>
                                      </p:to>
                                    </p:set>
                                    <p:animEffect transition="in" filter="fade">
                                      <p:cBhvr>
                                        <p:cTn id="21" dur="1000"/>
                                        <p:tgtEl>
                                          <p:spTgt spid="221"/>
                                        </p:tgtEl>
                                      </p:cBhvr>
                                    </p:animEffect>
                                    <p:anim calcmode="lin" valueType="num">
                                      <p:cBhvr>
                                        <p:cTn id="22" dur="1000" fill="hold"/>
                                        <p:tgtEl>
                                          <p:spTgt spid="221"/>
                                        </p:tgtEl>
                                        <p:attrNameLst>
                                          <p:attrName>ppt_x</p:attrName>
                                        </p:attrNameLst>
                                      </p:cBhvr>
                                      <p:tavLst>
                                        <p:tav tm="0">
                                          <p:val>
                                            <p:strVal val="#ppt_x"/>
                                          </p:val>
                                        </p:tav>
                                        <p:tav tm="100000">
                                          <p:val>
                                            <p:strVal val="#ppt_x"/>
                                          </p:val>
                                        </p:tav>
                                      </p:tavLst>
                                    </p:anim>
                                    <p:anim calcmode="lin" valueType="num">
                                      <p:cBhvr>
                                        <p:cTn id="23" dur="1000" fill="hold"/>
                                        <p:tgtEl>
                                          <p:spTgt spid="221"/>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20"/>
                                        </p:tgtEl>
                                        <p:attrNameLst>
                                          <p:attrName>style.visibility</p:attrName>
                                        </p:attrNameLst>
                                      </p:cBhvr>
                                      <p:to>
                                        <p:strVal val="visible"/>
                                      </p:to>
                                    </p:set>
                                    <p:animEffect transition="in" filter="fade">
                                      <p:cBhvr>
                                        <p:cTn id="26" dur="1000"/>
                                        <p:tgtEl>
                                          <p:spTgt spid="220"/>
                                        </p:tgtEl>
                                      </p:cBhvr>
                                    </p:animEffect>
                                    <p:anim calcmode="lin" valueType="num">
                                      <p:cBhvr>
                                        <p:cTn id="27" dur="1000" fill="hold"/>
                                        <p:tgtEl>
                                          <p:spTgt spid="220"/>
                                        </p:tgtEl>
                                        <p:attrNameLst>
                                          <p:attrName>ppt_x</p:attrName>
                                        </p:attrNameLst>
                                      </p:cBhvr>
                                      <p:tavLst>
                                        <p:tav tm="0">
                                          <p:val>
                                            <p:strVal val="#ppt_x"/>
                                          </p:val>
                                        </p:tav>
                                        <p:tav tm="100000">
                                          <p:val>
                                            <p:strVal val="#ppt_x"/>
                                          </p:val>
                                        </p:tav>
                                      </p:tavLst>
                                    </p:anim>
                                    <p:anim calcmode="lin" valueType="num">
                                      <p:cBhvr>
                                        <p:cTn id="28" dur="1000" fill="hold"/>
                                        <p:tgtEl>
                                          <p:spTgt spid="22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8"/>
                                        </p:tgtEl>
                                        <p:attrNameLst>
                                          <p:attrName>style.visibility</p:attrName>
                                        </p:attrNameLst>
                                      </p:cBhvr>
                                      <p:to>
                                        <p:strVal val="visible"/>
                                      </p:to>
                                    </p:set>
                                    <p:animEffect transition="in" filter="fade">
                                      <p:cBhvr>
                                        <p:cTn id="33" dur="500"/>
                                        <p:tgtEl>
                                          <p:spTgt spid="118"/>
                                        </p:tgtEl>
                                      </p:cBhvr>
                                    </p:animEffect>
                                  </p:childTnLst>
                                </p:cTn>
                              </p:par>
                              <p:par>
                                <p:cTn id="34" presetID="10" presetClass="entr" presetSubtype="0" fill="hold" nodeType="withEffect">
                                  <p:stCondLst>
                                    <p:cond delay="0"/>
                                  </p:stCondLst>
                                  <p:childTnLst>
                                    <p:set>
                                      <p:cBhvr>
                                        <p:cTn id="35" dur="1" fill="hold">
                                          <p:stCondLst>
                                            <p:cond delay="0"/>
                                          </p:stCondLst>
                                        </p:cTn>
                                        <p:tgtEl>
                                          <p:spTgt spid="432"/>
                                        </p:tgtEl>
                                        <p:attrNameLst>
                                          <p:attrName>style.visibility</p:attrName>
                                        </p:attrNameLst>
                                      </p:cBhvr>
                                      <p:to>
                                        <p:strVal val="visible"/>
                                      </p:to>
                                    </p:set>
                                    <p:animEffect transition="in" filter="fade">
                                      <p:cBhvr>
                                        <p:cTn id="36" dur="500"/>
                                        <p:tgtEl>
                                          <p:spTgt spid="432"/>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0" nodeType="clickEffect">
                                  <p:stCondLst>
                                    <p:cond delay="0"/>
                                  </p:stCondLst>
                                  <p:childTnLst>
                                    <p:animMotion origin="layout" path="M -4.375E-6 3.7037E-7 L -0.12773 -0.55949 " pathEditMode="relative" rAng="0" ptsTypes="AA">
                                      <p:cBhvr>
                                        <p:cTn id="40" dur="3000" fill="hold"/>
                                        <p:tgtEl>
                                          <p:spTgt spid="260"/>
                                        </p:tgtEl>
                                        <p:attrNameLst>
                                          <p:attrName>ppt_x</p:attrName>
                                          <p:attrName>ppt_y</p:attrName>
                                        </p:attrNameLst>
                                      </p:cBhvr>
                                      <p:rCtr x="-6393" y="-27986"/>
                                    </p:animMotion>
                                  </p:childTnLst>
                                </p:cTn>
                              </p:par>
                            </p:childTnLst>
                          </p:cTn>
                        </p:par>
                        <p:par>
                          <p:cTn id="41" fill="hold">
                            <p:stCondLst>
                              <p:cond delay="3000"/>
                            </p:stCondLst>
                            <p:childTnLst>
                              <p:par>
                                <p:cTn id="42" presetID="31" presetClass="exit" presetSubtype="0" fill="hold" grpId="1" nodeType="afterEffect">
                                  <p:stCondLst>
                                    <p:cond delay="0"/>
                                  </p:stCondLst>
                                  <p:childTnLst>
                                    <p:anim calcmode="lin" valueType="num">
                                      <p:cBhvr>
                                        <p:cTn id="43" dur="1000"/>
                                        <p:tgtEl>
                                          <p:spTgt spid="260"/>
                                        </p:tgtEl>
                                        <p:attrNameLst>
                                          <p:attrName>ppt_w</p:attrName>
                                        </p:attrNameLst>
                                      </p:cBhvr>
                                      <p:tavLst>
                                        <p:tav tm="0">
                                          <p:val>
                                            <p:strVal val="ppt_w"/>
                                          </p:val>
                                        </p:tav>
                                        <p:tav tm="100000">
                                          <p:val>
                                            <p:fltVal val="0"/>
                                          </p:val>
                                        </p:tav>
                                      </p:tavLst>
                                    </p:anim>
                                    <p:anim calcmode="lin" valueType="num">
                                      <p:cBhvr>
                                        <p:cTn id="44" dur="1000"/>
                                        <p:tgtEl>
                                          <p:spTgt spid="260"/>
                                        </p:tgtEl>
                                        <p:attrNameLst>
                                          <p:attrName>ppt_h</p:attrName>
                                        </p:attrNameLst>
                                      </p:cBhvr>
                                      <p:tavLst>
                                        <p:tav tm="0">
                                          <p:val>
                                            <p:strVal val="ppt_h"/>
                                          </p:val>
                                        </p:tav>
                                        <p:tav tm="100000">
                                          <p:val>
                                            <p:fltVal val="0"/>
                                          </p:val>
                                        </p:tav>
                                      </p:tavLst>
                                    </p:anim>
                                    <p:anim calcmode="lin" valueType="num">
                                      <p:cBhvr>
                                        <p:cTn id="45" dur="1000"/>
                                        <p:tgtEl>
                                          <p:spTgt spid="260"/>
                                        </p:tgtEl>
                                        <p:attrNameLst>
                                          <p:attrName>style.rotation</p:attrName>
                                        </p:attrNameLst>
                                      </p:cBhvr>
                                      <p:tavLst>
                                        <p:tav tm="0">
                                          <p:val>
                                            <p:fltVal val="0"/>
                                          </p:val>
                                        </p:tav>
                                        <p:tav tm="100000">
                                          <p:val>
                                            <p:fltVal val="90"/>
                                          </p:val>
                                        </p:tav>
                                      </p:tavLst>
                                    </p:anim>
                                    <p:animEffect transition="out" filter="fade">
                                      <p:cBhvr>
                                        <p:cTn id="46" dur="1000"/>
                                        <p:tgtEl>
                                          <p:spTgt spid="260"/>
                                        </p:tgtEl>
                                      </p:cBhvr>
                                    </p:animEffect>
                                    <p:set>
                                      <p:cBhvr>
                                        <p:cTn id="47" dur="1" fill="hold">
                                          <p:stCondLst>
                                            <p:cond delay="999"/>
                                          </p:stCondLst>
                                        </p:cTn>
                                        <p:tgtEl>
                                          <p:spTgt spid="260"/>
                                        </p:tgtEl>
                                        <p:attrNameLst>
                                          <p:attrName>style.visibility</p:attrName>
                                        </p:attrNameLst>
                                      </p:cBhvr>
                                      <p:to>
                                        <p:strVal val="hidden"/>
                                      </p:to>
                                    </p:set>
                                  </p:childTnLst>
                                </p:cTn>
                              </p:par>
                              <p:par>
                                <p:cTn id="48" presetID="42" presetClass="entr" presetSubtype="0" fill="hold" nodeType="withEffect">
                                  <p:stCondLst>
                                    <p:cond delay="0"/>
                                  </p:stCondLst>
                                  <p:childTnLst>
                                    <p:set>
                                      <p:cBhvr>
                                        <p:cTn id="49" dur="1" fill="hold">
                                          <p:stCondLst>
                                            <p:cond delay="0"/>
                                          </p:stCondLst>
                                        </p:cTn>
                                        <p:tgtEl>
                                          <p:spTgt spid="356"/>
                                        </p:tgtEl>
                                        <p:attrNameLst>
                                          <p:attrName>style.visibility</p:attrName>
                                        </p:attrNameLst>
                                      </p:cBhvr>
                                      <p:to>
                                        <p:strVal val="visible"/>
                                      </p:to>
                                    </p:set>
                                    <p:animEffect transition="in" filter="fade">
                                      <p:cBhvr>
                                        <p:cTn id="50" dur="1000"/>
                                        <p:tgtEl>
                                          <p:spTgt spid="356"/>
                                        </p:tgtEl>
                                      </p:cBhvr>
                                    </p:animEffect>
                                    <p:anim calcmode="lin" valueType="num">
                                      <p:cBhvr>
                                        <p:cTn id="51" dur="1000" fill="hold"/>
                                        <p:tgtEl>
                                          <p:spTgt spid="356"/>
                                        </p:tgtEl>
                                        <p:attrNameLst>
                                          <p:attrName>ppt_x</p:attrName>
                                        </p:attrNameLst>
                                      </p:cBhvr>
                                      <p:tavLst>
                                        <p:tav tm="0">
                                          <p:val>
                                            <p:strVal val="#ppt_x"/>
                                          </p:val>
                                        </p:tav>
                                        <p:tav tm="100000">
                                          <p:val>
                                            <p:strVal val="#ppt_x"/>
                                          </p:val>
                                        </p:tav>
                                      </p:tavLst>
                                    </p:anim>
                                    <p:anim calcmode="lin" valueType="num">
                                      <p:cBhvr>
                                        <p:cTn id="52" dur="1000" fill="hold"/>
                                        <p:tgtEl>
                                          <p:spTgt spid="356"/>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44"/>
                                        </p:tgtEl>
                                        <p:attrNameLst>
                                          <p:attrName>style.visibility</p:attrName>
                                        </p:attrNameLst>
                                      </p:cBhvr>
                                      <p:to>
                                        <p:strVal val="visible"/>
                                      </p:to>
                                    </p:set>
                                    <p:animEffect transition="in" filter="fade">
                                      <p:cBhvr>
                                        <p:cTn id="55" dur="1000"/>
                                        <p:tgtEl>
                                          <p:spTgt spid="244"/>
                                        </p:tgtEl>
                                      </p:cBhvr>
                                    </p:animEffect>
                                    <p:anim calcmode="lin" valueType="num">
                                      <p:cBhvr>
                                        <p:cTn id="56" dur="1000" fill="hold"/>
                                        <p:tgtEl>
                                          <p:spTgt spid="244"/>
                                        </p:tgtEl>
                                        <p:attrNameLst>
                                          <p:attrName>ppt_x</p:attrName>
                                        </p:attrNameLst>
                                      </p:cBhvr>
                                      <p:tavLst>
                                        <p:tav tm="0">
                                          <p:val>
                                            <p:strVal val="#ppt_x"/>
                                          </p:val>
                                        </p:tav>
                                        <p:tav tm="100000">
                                          <p:val>
                                            <p:strVal val="#ppt_x"/>
                                          </p:val>
                                        </p:tav>
                                      </p:tavLst>
                                    </p:anim>
                                    <p:anim calcmode="lin" valueType="num">
                                      <p:cBhvr>
                                        <p:cTn id="57" dur="1000" fill="hold"/>
                                        <p:tgtEl>
                                          <p:spTgt spid="24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43"/>
                                        </p:tgtEl>
                                        <p:attrNameLst>
                                          <p:attrName>style.visibility</p:attrName>
                                        </p:attrNameLst>
                                      </p:cBhvr>
                                      <p:to>
                                        <p:strVal val="visible"/>
                                      </p:to>
                                    </p:set>
                                    <p:animEffect transition="in" filter="fade">
                                      <p:cBhvr>
                                        <p:cTn id="60" dur="1000"/>
                                        <p:tgtEl>
                                          <p:spTgt spid="243"/>
                                        </p:tgtEl>
                                      </p:cBhvr>
                                    </p:animEffect>
                                    <p:anim calcmode="lin" valueType="num">
                                      <p:cBhvr>
                                        <p:cTn id="61" dur="1000" fill="hold"/>
                                        <p:tgtEl>
                                          <p:spTgt spid="243"/>
                                        </p:tgtEl>
                                        <p:attrNameLst>
                                          <p:attrName>ppt_x</p:attrName>
                                        </p:attrNameLst>
                                      </p:cBhvr>
                                      <p:tavLst>
                                        <p:tav tm="0">
                                          <p:val>
                                            <p:strVal val="#ppt_x"/>
                                          </p:val>
                                        </p:tav>
                                        <p:tav tm="100000">
                                          <p:val>
                                            <p:strVal val="#ppt_x"/>
                                          </p:val>
                                        </p:tav>
                                      </p:tavLst>
                                    </p:anim>
                                    <p:anim calcmode="lin" valueType="num">
                                      <p:cBhvr>
                                        <p:cTn id="62" dur="1000" fill="hold"/>
                                        <p:tgtEl>
                                          <p:spTgt spid="243"/>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261"/>
                                        </p:tgtEl>
                                        <p:attrNameLst>
                                          <p:attrName>style.visibility</p:attrName>
                                        </p:attrNameLst>
                                      </p:cBhvr>
                                      <p:to>
                                        <p:strVal val="visible"/>
                                      </p:to>
                                    </p:set>
                                    <p:animEffect transition="in" filter="fade">
                                      <p:cBhvr>
                                        <p:cTn id="67" dur="1000"/>
                                        <p:tgtEl>
                                          <p:spTgt spid="261"/>
                                        </p:tgtEl>
                                      </p:cBhvr>
                                    </p:animEffect>
                                    <p:anim calcmode="lin" valueType="num">
                                      <p:cBhvr>
                                        <p:cTn id="68" dur="1000" fill="hold"/>
                                        <p:tgtEl>
                                          <p:spTgt spid="261"/>
                                        </p:tgtEl>
                                        <p:attrNameLst>
                                          <p:attrName>ppt_x</p:attrName>
                                        </p:attrNameLst>
                                      </p:cBhvr>
                                      <p:tavLst>
                                        <p:tav tm="0">
                                          <p:val>
                                            <p:strVal val="#ppt_x"/>
                                          </p:val>
                                        </p:tav>
                                        <p:tav tm="100000">
                                          <p:val>
                                            <p:strVal val="#ppt_x"/>
                                          </p:val>
                                        </p:tav>
                                      </p:tavLst>
                                    </p:anim>
                                    <p:anim calcmode="lin" valueType="num">
                                      <p:cBhvr>
                                        <p:cTn id="69" dur="1000" fill="hold"/>
                                        <p:tgtEl>
                                          <p:spTgt spid="261"/>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62"/>
                                        </p:tgtEl>
                                        <p:attrNameLst>
                                          <p:attrName>style.visibility</p:attrName>
                                        </p:attrNameLst>
                                      </p:cBhvr>
                                      <p:to>
                                        <p:strVal val="visible"/>
                                      </p:to>
                                    </p:set>
                                    <p:animEffect transition="in" filter="fade">
                                      <p:cBhvr>
                                        <p:cTn id="72" dur="1000"/>
                                        <p:tgtEl>
                                          <p:spTgt spid="262"/>
                                        </p:tgtEl>
                                      </p:cBhvr>
                                    </p:animEffect>
                                    <p:anim calcmode="lin" valueType="num">
                                      <p:cBhvr>
                                        <p:cTn id="73" dur="1000" fill="hold"/>
                                        <p:tgtEl>
                                          <p:spTgt spid="262"/>
                                        </p:tgtEl>
                                        <p:attrNameLst>
                                          <p:attrName>ppt_x</p:attrName>
                                        </p:attrNameLst>
                                      </p:cBhvr>
                                      <p:tavLst>
                                        <p:tav tm="0">
                                          <p:val>
                                            <p:strVal val="#ppt_x"/>
                                          </p:val>
                                        </p:tav>
                                        <p:tav tm="100000">
                                          <p:val>
                                            <p:strVal val="#ppt_x"/>
                                          </p:val>
                                        </p:tav>
                                      </p:tavLst>
                                    </p:anim>
                                    <p:anim calcmode="lin" valueType="num">
                                      <p:cBhvr>
                                        <p:cTn id="74" dur="1000" fill="hold"/>
                                        <p:tgtEl>
                                          <p:spTgt spid="2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220" grpId="0"/>
      <p:bldP spid="221" grpId="0" animBg="1"/>
      <p:bldP spid="243" grpId="0"/>
      <p:bldP spid="244" grpId="0" animBg="1"/>
      <p:bldP spid="259" grpId="0" animBg="1"/>
      <p:bldP spid="259" grpId="1" animBg="1"/>
      <p:bldP spid="260" grpId="0" animBg="1"/>
      <p:bldP spid="260" grpId="1" animBg="1"/>
      <p:bldP spid="261" grpId="0" animBg="1"/>
      <p:bldP spid="26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556"/>
        <p:cNvGrpSpPr/>
        <p:nvPr/>
      </p:nvGrpSpPr>
      <p:grpSpPr>
        <a:xfrm>
          <a:off x="0" y="0"/>
          <a:ext cx="0" cy="0"/>
          <a:chOff x="0" y="0"/>
          <a:chExt cx="0" cy="0"/>
        </a:xfrm>
      </p:grpSpPr>
      <p:sp>
        <p:nvSpPr>
          <p:cNvPr id="2557" name="Google Shape;2557;p69"/>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2558" name="Google Shape;2558;p69"/>
          <p:cNvGrpSpPr/>
          <p:nvPr/>
        </p:nvGrpSpPr>
        <p:grpSpPr>
          <a:xfrm>
            <a:off x="1284576" y="2130924"/>
            <a:ext cx="10188969" cy="756004"/>
            <a:chOff x="926134" y="1719856"/>
            <a:chExt cx="9204181" cy="750147"/>
          </a:xfrm>
        </p:grpSpPr>
        <p:sp>
          <p:nvSpPr>
            <p:cNvPr id="2559" name="Google Shape;2559;p69"/>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고객 B의 비서가 방문하여 미지급 금액 전액을 결제함. 현금은 은행에 입금함.</a:t>
              </a:r>
              <a:endParaRPr sz="2000">
                <a:solidFill>
                  <a:schemeClr val="dk1"/>
                </a:solidFill>
                <a:latin typeface="Avenir"/>
                <a:ea typeface="Avenir"/>
                <a:cs typeface="Avenir"/>
                <a:sym typeface="Avenir"/>
              </a:endParaRPr>
            </a:p>
          </p:txBody>
        </p:sp>
        <p:sp>
          <p:nvSpPr>
            <p:cNvPr id="2560" name="Google Shape;2560;p69"/>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Cash</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600</a:t>
              </a:r>
              <a:endParaRPr/>
            </a:p>
          </p:txBody>
        </p:sp>
        <p:sp>
          <p:nvSpPr>
            <p:cNvPr id="2561" name="Google Shape;2561;p69"/>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Accounts receivable</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600</a:t>
              </a:r>
              <a:endParaRPr/>
            </a:p>
          </p:txBody>
        </p:sp>
        <p:sp>
          <p:nvSpPr>
            <p:cNvPr id="2562" name="Google Shape;2562;p69"/>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11</a:t>
              </a:r>
              <a:endParaRPr/>
            </a:p>
          </p:txBody>
        </p:sp>
      </p:grpSp>
      <p:sp>
        <p:nvSpPr>
          <p:cNvPr id="2563" name="Google Shape;2563;p69"/>
          <p:cNvSpPr txBox="1"/>
          <p:nvPr/>
        </p:nvSpPr>
        <p:spPr>
          <a:xfrm>
            <a:off x="8109273" y="2130928"/>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600</a:t>
            </a:r>
            <a:endParaRPr/>
          </a:p>
        </p:txBody>
      </p:sp>
      <p:sp>
        <p:nvSpPr>
          <p:cNvPr id="2564" name="Google Shape;2564;p69"/>
          <p:cNvSpPr txBox="1"/>
          <p:nvPr/>
        </p:nvSpPr>
        <p:spPr>
          <a:xfrm>
            <a:off x="9792343" y="2130928"/>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600</a:t>
            </a:r>
            <a:endParaRPr/>
          </a:p>
        </p:txBody>
      </p:sp>
      <p:cxnSp>
        <p:nvCxnSpPr>
          <p:cNvPr id="2565" name="Google Shape;2565;p69"/>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2566" name="Google Shape;2566;p69"/>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21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1713372"/>
            <a:ext cx="1620000" cy="2245325"/>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18" name="TextBox 117">
            <a:extLst>
              <a:ext uri="{FF2B5EF4-FFF2-40B4-BE49-F238E27FC236}">
                <a16:creationId xmlns:a16="http://schemas.microsoft.com/office/drawing/2014/main" id="{771DDF6F-B29C-AF46-A26D-B05A0E9136DB}"/>
              </a:ext>
            </a:extLst>
          </p:cNvPr>
          <p:cNvSpPr txBox="1"/>
          <p:nvPr/>
        </p:nvSpPr>
        <p:spPr>
          <a:xfrm>
            <a:off x="8114313" y="2028286"/>
            <a:ext cx="1864201" cy="338554"/>
          </a:xfrm>
          <a:prstGeom prst="rect">
            <a:avLst/>
          </a:prstGeom>
          <a:noFill/>
        </p:spPr>
        <p:txBody>
          <a:bodyPr wrap="square" rtlCol="0">
            <a:spAutoFit/>
          </a:bodyPr>
          <a:lstStyle/>
          <a:p>
            <a:pPr algn="ctr"/>
            <a:r>
              <a:rPr lang="en-US" sz="1600" dirty="0">
                <a:latin typeface="Avenir"/>
              </a:rPr>
              <a:t>Deferred revenue</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2" name="TextBox 171">
            <a:extLst>
              <a:ext uri="{FF2B5EF4-FFF2-40B4-BE49-F238E27FC236}">
                <a16:creationId xmlns:a16="http://schemas.microsoft.com/office/drawing/2014/main" id="{1E829A5C-2F66-F748-9AB9-2ABF768ADAA8}"/>
              </a:ext>
            </a:extLst>
          </p:cNvPr>
          <p:cNvSpPr txBox="1"/>
          <p:nvPr/>
        </p:nvSpPr>
        <p:spPr>
          <a:xfrm>
            <a:off x="3469894" y="172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199" name="Down Arrow 198">
            <a:extLst>
              <a:ext uri="{FF2B5EF4-FFF2-40B4-BE49-F238E27FC236}">
                <a16:creationId xmlns:a16="http://schemas.microsoft.com/office/drawing/2014/main" id="{3FD208AA-CF32-B64F-B03C-969D3C0C8C66}"/>
              </a:ext>
            </a:extLst>
          </p:cNvPr>
          <p:cNvSpPr/>
          <p:nvPr/>
        </p:nvSpPr>
        <p:spPr>
          <a:xfrm rot="10800000">
            <a:off x="3011371" y="177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D59EDECC-B1D1-B040-BBB3-304302444F36}"/>
              </a:ext>
            </a:extLst>
          </p:cNvPr>
          <p:cNvSpPr txBox="1"/>
          <p:nvPr/>
        </p:nvSpPr>
        <p:spPr>
          <a:xfrm>
            <a:off x="3469894" y="199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21" name="Down Arrow 220">
            <a:extLst>
              <a:ext uri="{FF2B5EF4-FFF2-40B4-BE49-F238E27FC236}">
                <a16:creationId xmlns:a16="http://schemas.microsoft.com/office/drawing/2014/main" id="{123666BC-850F-5440-BFCE-47B8E5B5429B}"/>
              </a:ext>
            </a:extLst>
          </p:cNvPr>
          <p:cNvSpPr/>
          <p:nvPr/>
        </p:nvSpPr>
        <p:spPr>
          <a:xfrm rot="10800000">
            <a:off x="3007666" y="204993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TextBox 238">
            <a:extLst>
              <a:ext uri="{FF2B5EF4-FFF2-40B4-BE49-F238E27FC236}">
                <a16:creationId xmlns:a16="http://schemas.microsoft.com/office/drawing/2014/main" id="{A523F897-551A-8F49-B6AB-51DBFD3C53C0}"/>
              </a:ext>
            </a:extLst>
          </p:cNvPr>
          <p:cNvSpPr txBox="1"/>
          <p:nvPr/>
        </p:nvSpPr>
        <p:spPr>
          <a:xfrm>
            <a:off x="3599552" y="4796571"/>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250</a:t>
            </a:r>
          </a:p>
        </p:txBody>
      </p:sp>
      <p:sp>
        <p:nvSpPr>
          <p:cNvPr id="240" name="Down Arrow 239">
            <a:extLst>
              <a:ext uri="{FF2B5EF4-FFF2-40B4-BE49-F238E27FC236}">
                <a16:creationId xmlns:a16="http://schemas.microsoft.com/office/drawing/2014/main" id="{07DD916A-3850-9F4F-81C8-0C94788A77D2}"/>
              </a:ext>
            </a:extLst>
          </p:cNvPr>
          <p:cNvSpPr/>
          <p:nvPr/>
        </p:nvSpPr>
        <p:spPr>
          <a:xfrm rot="10800000">
            <a:off x="3096000" y="484745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extBox 240">
            <a:extLst>
              <a:ext uri="{FF2B5EF4-FFF2-40B4-BE49-F238E27FC236}">
                <a16:creationId xmlns:a16="http://schemas.microsoft.com/office/drawing/2014/main" id="{88F3874F-A130-C843-9E72-AFB2DD902123}"/>
              </a:ext>
            </a:extLst>
          </p:cNvPr>
          <p:cNvSpPr txBox="1"/>
          <p:nvPr/>
        </p:nvSpPr>
        <p:spPr>
          <a:xfrm>
            <a:off x="7487489" y="1462635"/>
            <a:ext cx="526106" cy="338554"/>
          </a:xfrm>
          <a:prstGeom prst="rect">
            <a:avLst/>
          </a:prstGeom>
          <a:noFill/>
        </p:spPr>
        <p:txBody>
          <a:bodyPr wrap="none" rtlCol="0">
            <a:spAutoFit/>
          </a:bodyPr>
          <a:lstStyle/>
          <a:p>
            <a:pPr algn="r"/>
            <a:r>
              <a:rPr lang="en-US" sz="1600" b="1">
                <a:solidFill>
                  <a:schemeClr val="accent2"/>
                </a:solidFill>
                <a:latin typeface="Avenir"/>
              </a:rPr>
              <a:t>250</a:t>
            </a:r>
          </a:p>
        </p:txBody>
      </p:sp>
      <p:sp>
        <p:nvSpPr>
          <p:cNvPr id="242" name="Down Arrow 241">
            <a:extLst>
              <a:ext uri="{FF2B5EF4-FFF2-40B4-BE49-F238E27FC236}">
                <a16:creationId xmlns:a16="http://schemas.microsoft.com/office/drawing/2014/main" id="{84AF3014-B3DD-BD46-8650-EE907DDD90EA}"/>
              </a:ext>
            </a:extLst>
          </p:cNvPr>
          <p:cNvSpPr/>
          <p:nvPr/>
        </p:nvSpPr>
        <p:spPr>
          <a:xfrm rot="10800000">
            <a:off x="6984000" y="14983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3" name="TextBox 242">
            <a:extLst>
              <a:ext uri="{FF2B5EF4-FFF2-40B4-BE49-F238E27FC236}">
                <a16:creationId xmlns:a16="http://schemas.microsoft.com/office/drawing/2014/main" id="{5B2E3768-A879-AE44-BA1D-3F82ECAC6E48}"/>
              </a:ext>
            </a:extLst>
          </p:cNvPr>
          <p:cNvSpPr txBox="1"/>
          <p:nvPr/>
        </p:nvSpPr>
        <p:spPr>
          <a:xfrm>
            <a:off x="9285817" y="1715500"/>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244" name="Down Arrow 243">
            <a:extLst>
              <a:ext uri="{FF2B5EF4-FFF2-40B4-BE49-F238E27FC236}">
                <a16:creationId xmlns:a16="http://schemas.microsoft.com/office/drawing/2014/main" id="{4574C5E5-4218-674B-8FB2-AB88F7FB3FDD}"/>
              </a:ext>
            </a:extLst>
          </p:cNvPr>
          <p:cNvSpPr/>
          <p:nvPr/>
        </p:nvSpPr>
        <p:spPr>
          <a:xfrm rot="10800000">
            <a:off x="8784000" y="1751173"/>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5" name="TextBox 244">
            <a:extLst>
              <a:ext uri="{FF2B5EF4-FFF2-40B4-BE49-F238E27FC236}">
                <a16:creationId xmlns:a16="http://schemas.microsoft.com/office/drawing/2014/main" id="{30F9F41D-65FA-3E4A-B645-18A9F04A48C7}"/>
              </a:ext>
            </a:extLst>
          </p:cNvPr>
          <p:cNvSpPr txBox="1"/>
          <p:nvPr/>
        </p:nvSpPr>
        <p:spPr>
          <a:xfrm>
            <a:off x="5269894" y="965882"/>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46" name="Down Arrow 245">
            <a:extLst>
              <a:ext uri="{FF2B5EF4-FFF2-40B4-BE49-F238E27FC236}">
                <a16:creationId xmlns:a16="http://schemas.microsoft.com/office/drawing/2014/main" id="{810B7F9B-FFF6-7646-B180-66C5E6B1ADE6}"/>
              </a:ext>
            </a:extLst>
          </p:cNvPr>
          <p:cNvSpPr/>
          <p:nvPr/>
        </p:nvSpPr>
        <p:spPr>
          <a:xfrm>
            <a:off x="4825605" y="10220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8" name="Group 277">
            <a:extLst>
              <a:ext uri="{FF2B5EF4-FFF2-40B4-BE49-F238E27FC236}">
                <a16:creationId xmlns:a16="http://schemas.microsoft.com/office/drawing/2014/main" id="{775D2738-1A15-3D43-963E-83A150D3DD08}"/>
              </a:ext>
            </a:extLst>
          </p:cNvPr>
          <p:cNvGrpSpPr>
            <a:grpSpLocks noChangeAspect="1"/>
          </p:cNvGrpSpPr>
          <p:nvPr/>
        </p:nvGrpSpPr>
        <p:grpSpPr>
          <a:xfrm>
            <a:off x="2528691" y="1763611"/>
            <a:ext cx="309700" cy="223916"/>
            <a:chOff x="756599" y="3715227"/>
            <a:chExt cx="321512" cy="232456"/>
          </a:xfrm>
        </p:grpSpPr>
        <p:sp>
          <p:nvSpPr>
            <p:cNvPr id="279" name="Oval 278">
              <a:extLst>
                <a:ext uri="{FF2B5EF4-FFF2-40B4-BE49-F238E27FC236}">
                  <a16:creationId xmlns:a16="http://schemas.microsoft.com/office/drawing/2014/main" id="{E14654BD-BDE4-0748-912C-22432B5DD3D8}"/>
                </a:ext>
              </a:extLst>
            </p:cNvPr>
            <p:cNvSpPr>
              <a:spLocks noChangeAspect="1"/>
            </p:cNvSpPr>
            <p:nvPr/>
          </p:nvSpPr>
          <p:spPr>
            <a:xfrm>
              <a:off x="810780" y="3715227"/>
              <a:ext cx="224238" cy="224238"/>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0" name="Rectangle 279">
              <a:extLst>
                <a:ext uri="{FF2B5EF4-FFF2-40B4-BE49-F238E27FC236}">
                  <a16:creationId xmlns:a16="http://schemas.microsoft.com/office/drawing/2014/main" id="{6A79CA8D-AC8C-2649-8D3F-6C8279757C83}"/>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281" name="Group 280">
            <a:extLst>
              <a:ext uri="{FF2B5EF4-FFF2-40B4-BE49-F238E27FC236}">
                <a16:creationId xmlns:a16="http://schemas.microsoft.com/office/drawing/2014/main" id="{038C4DBA-DFAC-4340-8960-9AF8BB8FC7AF}"/>
              </a:ext>
            </a:extLst>
          </p:cNvPr>
          <p:cNvGrpSpPr>
            <a:grpSpLocks noChangeAspect="1"/>
          </p:cNvGrpSpPr>
          <p:nvPr/>
        </p:nvGrpSpPr>
        <p:grpSpPr>
          <a:xfrm>
            <a:off x="2528691" y="2037441"/>
            <a:ext cx="309700" cy="223916"/>
            <a:chOff x="756599" y="3715227"/>
            <a:chExt cx="321512" cy="232456"/>
          </a:xfrm>
        </p:grpSpPr>
        <p:sp>
          <p:nvSpPr>
            <p:cNvPr id="282" name="Oval 281">
              <a:extLst>
                <a:ext uri="{FF2B5EF4-FFF2-40B4-BE49-F238E27FC236}">
                  <a16:creationId xmlns:a16="http://schemas.microsoft.com/office/drawing/2014/main" id="{D97D5EE0-8446-1244-A657-E9DBF68238D5}"/>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3" name="Rectangle 282">
              <a:extLst>
                <a:ext uri="{FF2B5EF4-FFF2-40B4-BE49-F238E27FC236}">
                  <a16:creationId xmlns:a16="http://schemas.microsoft.com/office/drawing/2014/main" id="{56AA7E7C-0592-B744-AFA9-D3A064F8B33C}"/>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9" name="Group 328">
            <a:extLst>
              <a:ext uri="{FF2B5EF4-FFF2-40B4-BE49-F238E27FC236}">
                <a16:creationId xmlns:a16="http://schemas.microsoft.com/office/drawing/2014/main" id="{E15F7DE2-F1EB-C94A-AE48-4487C8B506B6}"/>
              </a:ext>
            </a:extLst>
          </p:cNvPr>
          <p:cNvGrpSpPr/>
          <p:nvPr/>
        </p:nvGrpSpPr>
        <p:grpSpPr>
          <a:xfrm>
            <a:off x="4330045" y="3136880"/>
            <a:ext cx="309700" cy="224238"/>
            <a:chOff x="770743" y="3715228"/>
            <a:chExt cx="309700" cy="224238"/>
          </a:xfrm>
        </p:grpSpPr>
        <p:sp>
          <p:nvSpPr>
            <p:cNvPr id="330" name="Oval 329">
              <a:extLst>
                <a:ext uri="{FF2B5EF4-FFF2-40B4-BE49-F238E27FC236}">
                  <a16:creationId xmlns:a16="http://schemas.microsoft.com/office/drawing/2014/main" id="{920E5E24-BE4B-BC48-AFD2-943FE12CD729}"/>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2" name="Group 331">
            <a:extLst>
              <a:ext uri="{FF2B5EF4-FFF2-40B4-BE49-F238E27FC236}">
                <a16:creationId xmlns:a16="http://schemas.microsoft.com/office/drawing/2014/main" id="{7924029E-A5DC-CB49-8E0F-74B666CD5BDE}"/>
              </a:ext>
            </a:extLst>
          </p:cNvPr>
          <p:cNvGrpSpPr/>
          <p:nvPr/>
        </p:nvGrpSpPr>
        <p:grpSpPr>
          <a:xfrm>
            <a:off x="4377396" y="5681195"/>
            <a:ext cx="309700" cy="224238"/>
            <a:chOff x="770743" y="3715228"/>
            <a:chExt cx="309700" cy="224238"/>
          </a:xfrm>
        </p:grpSpPr>
        <p:sp>
          <p:nvSpPr>
            <p:cNvPr id="333" name="Oval 332">
              <a:extLst>
                <a:ext uri="{FF2B5EF4-FFF2-40B4-BE49-F238E27FC236}">
                  <a16:creationId xmlns:a16="http://schemas.microsoft.com/office/drawing/2014/main" id="{5234A744-315A-EC44-BDF0-AAAA223BA63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350" name="Group 349">
            <a:extLst>
              <a:ext uri="{FF2B5EF4-FFF2-40B4-BE49-F238E27FC236}">
                <a16:creationId xmlns:a16="http://schemas.microsoft.com/office/drawing/2014/main" id="{9432C11D-E364-C746-985A-2AD5B5DB149E}"/>
              </a:ext>
            </a:extLst>
          </p:cNvPr>
          <p:cNvGrpSpPr/>
          <p:nvPr/>
        </p:nvGrpSpPr>
        <p:grpSpPr>
          <a:xfrm>
            <a:off x="2680630" y="4808856"/>
            <a:ext cx="245580" cy="224238"/>
            <a:chOff x="802803" y="3715228"/>
            <a:chExt cx="245580" cy="224238"/>
          </a:xfrm>
        </p:grpSpPr>
        <p:sp>
          <p:nvSpPr>
            <p:cNvPr id="351" name="Oval 350">
              <a:extLst>
                <a:ext uri="{FF2B5EF4-FFF2-40B4-BE49-F238E27FC236}">
                  <a16:creationId xmlns:a16="http://schemas.microsoft.com/office/drawing/2014/main" id="{7EF515DE-CFB5-C746-AC84-B4C313BD06E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2" name="Rectangle 351">
              <a:extLst>
                <a:ext uri="{FF2B5EF4-FFF2-40B4-BE49-F238E27FC236}">
                  <a16:creationId xmlns:a16="http://schemas.microsoft.com/office/drawing/2014/main" id="{3B567B98-0230-FB4D-8B5A-D57CF8B99F8A}"/>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3" name="Group 352">
            <a:extLst>
              <a:ext uri="{FF2B5EF4-FFF2-40B4-BE49-F238E27FC236}">
                <a16:creationId xmlns:a16="http://schemas.microsoft.com/office/drawing/2014/main" id="{F40449CF-4146-A640-B710-857F798A33D4}"/>
              </a:ext>
            </a:extLst>
          </p:cNvPr>
          <p:cNvGrpSpPr/>
          <p:nvPr/>
        </p:nvGrpSpPr>
        <p:grpSpPr>
          <a:xfrm>
            <a:off x="6550922" y="1481480"/>
            <a:ext cx="245580" cy="224238"/>
            <a:chOff x="802803" y="3715228"/>
            <a:chExt cx="245580" cy="224238"/>
          </a:xfrm>
        </p:grpSpPr>
        <p:sp>
          <p:nvSpPr>
            <p:cNvPr id="354" name="Oval 353">
              <a:extLst>
                <a:ext uri="{FF2B5EF4-FFF2-40B4-BE49-F238E27FC236}">
                  <a16:creationId xmlns:a16="http://schemas.microsoft.com/office/drawing/2014/main" id="{1F8A312F-C689-FF42-84E9-02ECA660225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5" name="Rectangle 354">
              <a:extLst>
                <a:ext uri="{FF2B5EF4-FFF2-40B4-BE49-F238E27FC236}">
                  <a16:creationId xmlns:a16="http://schemas.microsoft.com/office/drawing/2014/main" id="{50CBD88D-DC4A-3849-90CE-641B000548E3}"/>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6" name="Group 355">
            <a:extLst>
              <a:ext uri="{FF2B5EF4-FFF2-40B4-BE49-F238E27FC236}">
                <a16:creationId xmlns:a16="http://schemas.microsoft.com/office/drawing/2014/main" id="{3E2317E5-1DF6-F144-A88B-97C61AC21234}"/>
              </a:ext>
            </a:extLst>
          </p:cNvPr>
          <p:cNvGrpSpPr/>
          <p:nvPr/>
        </p:nvGrpSpPr>
        <p:grpSpPr>
          <a:xfrm>
            <a:off x="8311967" y="1742779"/>
            <a:ext cx="309700" cy="224238"/>
            <a:chOff x="770743" y="3715228"/>
            <a:chExt cx="309700" cy="224238"/>
          </a:xfrm>
        </p:grpSpPr>
        <p:sp>
          <p:nvSpPr>
            <p:cNvPr id="357" name="Oval 356">
              <a:extLst>
                <a:ext uri="{FF2B5EF4-FFF2-40B4-BE49-F238E27FC236}">
                  <a16:creationId xmlns:a16="http://schemas.microsoft.com/office/drawing/2014/main" id="{6A31460D-137B-A74E-B6FC-B55DFB2AE33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8" name="Rectangle 357">
              <a:extLst>
                <a:ext uri="{FF2B5EF4-FFF2-40B4-BE49-F238E27FC236}">
                  <a16:creationId xmlns:a16="http://schemas.microsoft.com/office/drawing/2014/main" id="{CFFD1864-8612-0941-9E7F-4F8D6CCCC5CA}"/>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62" name="Group 361">
            <a:extLst>
              <a:ext uri="{FF2B5EF4-FFF2-40B4-BE49-F238E27FC236}">
                <a16:creationId xmlns:a16="http://schemas.microsoft.com/office/drawing/2014/main" id="{E6482679-9AB0-5541-BF89-93062662AF98}"/>
              </a:ext>
            </a:extLst>
          </p:cNvPr>
          <p:cNvGrpSpPr/>
          <p:nvPr/>
        </p:nvGrpSpPr>
        <p:grpSpPr>
          <a:xfrm>
            <a:off x="4319927" y="983503"/>
            <a:ext cx="309700" cy="224238"/>
            <a:chOff x="770743" y="3715228"/>
            <a:chExt cx="309700" cy="224238"/>
          </a:xfrm>
        </p:grpSpPr>
        <p:sp>
          <p:nvSpPr>
            <p:cNvPr id="363" name="Oval 362">
              <a:extLst>
                <a:ext uri="{FF2B5EF4-FFF2-40B4-BE49-F238E27FC236}">
                  <a16:creationId xmlns:a16="http://schemas.microsoft.com/office/drawing/2014/main" id="{0C24FACA-1CFE-B346-89AB-EB0E90F543B3}"/>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4" name="Rectangle 363">
              <a:extLst>
                <a:ext uri="{FF2B5EF4-FFF2-40B4-BE49-F238E27FC236}">
                  <a16:creationId xmlns:a16="http://schemas.microsoft.com/office/drawing/2014/main" id="{64C22221-FE7F-7946-B113-969909E0FA5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2" name="Group 431">
            <a:extLst>
              <a:ext uri="{FF2B5EF4-FFF2-40B4-BE49-F238E27FC236}">
                <a16:creationId xmlns:a16="http://schemas.microsoft.com/office/drawing/2014/main" id="{4848BB5E-72D6-154B-A4A4-863172845016}"/>
              </a:ext>
            </a:extLst>
          </p:cNvPr>
          <p:cNvGrpSpPr/>
          <p:nvPr/>
        </p:nvGrpSpPr>
        <p:grpSpPr>
          <a:xfrm>
            <a:off x="8214558" y="1260018"/>
            <a:ext cx="1620000" cy="796276"/>
            <a:chOff x="3810000" y="2015069"/>
            <a:chExt cx="1390650" cy="1596814"/>
          </a:xfrm>
          <a:solidFill>
            <a:schemeClr val="accent2"/>
          </a:solidFill>
        </p:grpSpPr>
        <p:sp>
          <p:nvSpPr>
            <p:cNvPr id="433" name="L-Shape 432">
              <a:extLst>
                <a:ext uri="{FF2B5EF4-FFF2-40B4-BE49-F238E27FC236}">
                  <a16:creationId xmlns:a16="http://schemas.microsoft.com/office/drawing/2014/main" id="{ABB06B6F-0697-9948-91DD-97E59BB658B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4" name="L-Shape 433">
              <a:extLst>
                <a:ext uri="{FF2B5EF4-FFF2-40B4-BE49-F238E27FC236}">
                  <a16:creationId xmlns:a16="http://schemas.microsoft.com/office/drawing/2014/main" id="{6F827A64-8AAF-EF46-AB91-B3C3D179257E}"/>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4" name="Rectangle 213">
            <a:extLst>
              <a:ext uri="{FF2B5EF4-FFF2-40B4-BE49-F238E27FC236}">
                <a16:creationId xmlns:a16="http://schemas.microsoft.com/office/drawing/2014/main" id="{148904FD-FDC4-0B4A-AA4A-A7C251A6CF52}"/>
              </a:ext>
            </a:extLst>
          </p:cNvPr>
          <p:cNvSpPr/>
          <p:nvPr/>
        </p:nvSpPr>
        <p:spPr>
          <a:xfrm>
            <a:off x="1146817" y="4522208"/>
            <a:ext cx="107440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6" name="Group 215">
            <a:extLst>
              <a:ext uri="{FF2B5EF4-FFF2-40B4-BE49-F238E27FC236}">
                <a16:creationId xmlns:a16="http://schemas.microsoft.com/office/drawing/2014/main" id="{259F06C5-6374-5448-87D4-27C142FA71EB}"/>
              </a:ext>
            </a:extLst>
          </p:cNvPr>
          <p:cNvGrpSpPr/>
          <p:nvPr/>
        </p:nvGrpSpPr>
        <p:grpSpPr>
          <a:xfrm>
            <a:off x="1366103" y="4803175"/>
            <a:ext cx="10188967" cy="756004"/>
            <a:chOff x="926134" y="1719856"/>
            <a:chExt cx="9204181" cy="750147"/>
          </a:xfrm>
        </p:grpSpPr>
        <p:sp>
          <p:nvSpPr>
            <p:cNvPr id="218" name="TextBox 217">
              <a:extLst>
                <a:ext uri="{FF2B5EF4-FFF2-40B4-BE49-F238E27FC236}">
                  <a16:creationId xmlns:a16="http://schemas.microsoft.com/office/drawing/2014/main" id="{F5FEC2EE-3B63-8344-BACC-32DFB1D4A617}"/>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고객 </a:t>
              </a:r>
              <a:r>
                <a:rPr lang="en-US" altLang="ko-KR" sz="2000" dirty="0">
                  <a:solidFill>
                    <a:schemeClr val="dk1"/>
                  </a:solidFill>
                  <a:latin typeface="Calibri"/>
                  <a:ea typeface="Calibri"/>
                  <a:cs typeface="Calibri"/>
                  <a:sym typeface="Calibri"/>
                </a:rPr>
                <a:t>B</a:t>
              </a:r>
              <a:r>
                <a:rPr lang="ko-KR" altLang="en-US" sz="2000" dirty="0">
                  <a:solidFill>
                    <a:schemeClr val="dk1"/>
                  </a:solidFill>
                  <a:latin typeface="Calibri"/>
                  <a:ea typeface="Calibri"/>
                  <a:cs typeface="Calibri"/>
                  <a:sym typeface="Calibri"/>
                </a:rPr>
                <a:t>의 비서가 방문하여 미지급 금액 전액을 결제함</a:t>
              </a:r>
              <a:r>
                <a:rPr lang="en-US" altLang="ko-KR" sz="2000" dirty="0">
                  <a:solidFill>
                    <a:schemeClr val="dk1"/>
                  </a:solidFill>
                  <a:latin typeface="Calibri"/>
                  <a:ea typeface="Calibri"/>
                  <a:cs typeface="Calibri"/>
                  <a:sym typeface="Calibri"/>
                </a:rPr>
                <a:t>. </a:t>
              </a:r>
              <a:r>
                <a:rPr lang="ko-KR" altLang="en-US" sz="2000" dirty="0">
                  <a:solidFill>
                    <a:schemeClr val="dk1"/>
                  </a:solidFill>
                  <a:latin typeface="Calibri"/>
                  <a:ea typeface="Calibri"/>
                  <a:cs typeface="Calibri"/>
                  <a:sym typeface="Calibri"/>
                </a:rPr>
                <a:t>현금은 은행에 입금함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251" name="TextBox 250">
              <a:extLst>
                <a:ext uri="{FF2B5EF4-FFF2-40B4-BE49-F238E27FC236}">
                  <a16:creationId xmlns:a16="http://schemas.microsoft.com/office/drawing/2014/main" id="{93633BB2-0CD8-F542-8F2A-ED6DC3EC8882}"/>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Cash</a:t>
              </a:r>
            </a:p>
            <a:p>
              <a:pPr algn="ctr"/>
              <a:r>
                <a:rPr lang="en-GB" b="1">
                  <a:solidFill>
                    <a:schemeClr val="bg1">
                      <a:lumMod val="75000"/>
                    </a:schemeClr>
                  </a:solidFill>
                  <a:latin typeface="Avenir"/>
                  <a:ea typeface="Helvetica" charset="0"/>
                  <a:cs typeface="Helvetica" charset="0"/>
                </a:rPr>
                <a:t>600</a:t>
              </a:r>
            </a:p>
          </p:txBody>
        </p:sp>
        <p:sp>
          <p:nvSpPr>
            <p:cNvPr id="252" name="TextBox 251">
              <a:extLst>
                <a:ext uri="{FF2B5EF4-FFF2-40B4-BE49-F238E27FC236}">
                  <a16:creationId xmlns:a16="http://schemas.microsoft.com/office/drawing/2014/main" id="{ED1FC6CE-A617-E347-802C-F4FC8DD70DC7}"/>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Accounts receivable</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600</a:t>
              </a:r>
            </a:p>
          </p:txBody>
        </p:sp>
        <p:sp>
          <p:nvSpPr>
            <p:cNvPr id="253" name="TextBox 252">
              <a:extLst>
                <a:ext uri="{FF2B5EF4-FFF2-40B4-BE49-F238E27FC236}">
                  <a16:creationId xmlns:a16="http://schemas.microsoft.com/office/drawing/2014/main" id="{8188021A-DEB2-B642-A1CC-E53F5EE748E2}"/>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11</a:t>
              </a:r>
            </a:p>
          </p:txBody>
        </p:sp>
      </p:grpSp>
      <p:sp>
        <p:nvSpPr>
          <p:cNvPr id="254" name="TextBox 253">
            <a:extLst>
              <a:ext uri="{FF2B5EF4-FFF2-40B4-BE49-F238E27FC236}">
                <a16:creationId xmlns:a16="http://schemas.microsoft.com/office/drawing/2014/main" id="{3CD129BD-1CD6-484D-8850-55186E4456D4}"/>
              </a:ext>
            </a:extLst>
          </p:cNvPr>
          <p:cNvSpPr txBox="1"/>
          <p:nvPr/>
        </p:nvSpPr>
        <p:spPr>
          <a:xfrm>
            <a:off x="8176202" y="4793332"/>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600</a:t>
            </a:r>
          </a:p>
        </p:txBody>
      </p:sp>
      <p:sp>
        <p:nvSpPr>
          <p:cNvPr id="255" name="TextBox 254">
            <a:extLst>
              <a:ext uri="{FF2B5EF4-FFF2-40B4-BE49-F238E27FC236}">
                <a16:creationId xmlns:a16="http://schemas.microsoft.com/office/drawing/2014/main" id="{DFDAF7E3-0092-0745-BF18-6C62C93AD3FE}"/>
              </a:ext>
            </a:extLst>
          </p:cNvPr>
          <p:cNvSpPr txBox="1"/>
          <p:nvPr/>
        </p:nvSpPr>
        <p:spPr>
          <a:xfrm>
            <a:off x="9859272" y="4797445"/>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600</a:t>
            </a:r>
          </a:p>
        </p:txBody>
      </p:sp>
      <p:sp>
        <p:nvSpPr>
          <p:cNvPr id="256" name="Down Arrow 255">
            <a:extLst>
              <a:ext uri="{FF2B5EF4-FFF2-40B4-BE49-F238E27FC236}">
                <a16:creationId xmlns:a16="http://schemas.microsoft.com/office/drawing/2014/main" id="{35FB27F3-4A01-264E-BB85-C89D84DCE1C6}"/>
              </a:ext>
            </a:extLst>
          </p:cNvPr>
          <p:cNvSpPr/>
          <p:nvPr/>
        </p:nvSpPr>
        <p:spPr>
          <a:xfrm rot="10800000">
            <a:off x="153289" y="837337"/>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Down Arrow 256">
            <a:extLst>
              <a:ext uri="{FF2B5EF4-FFF2-40B4-BE49-F238E27FC236}">
                <a16:creationId xmlns:a16="http://schemas.microsoft.com/office/drawing/2014/main" id="{D3C50140-1D5C-A44C-8EE5-0855E440D1D1}"/>
              </a:ext>
            </a:extLst>
          </p:cNvPr>
          <p:cNvSpPr/>
          <p:nvPr/>
        </p:nvSpPr>
        <p:spPr>
          <a:xfrm>
            <a:off x="137389" y="1922421"/>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2" name="TextBox 201">
            <a:extLst>
              <a:ext uri="{FF2B5EF4-FFF2-40B4-BE49-F238E27FC236}">
                <a16:creationId xmlns:a16="http://schemas.microsoft.com/office/drawing/2014/main" id="{FC2F532B-2A10-4144-BD09-6E8610DE2F06}"/>
              </a:ext>
            </a:extLst>
          </p:cNvPr>
          <p:cNvSpPr txBox="1"/>
          <p:nvPr/>
        </p:nvSpPr>
        <p:spPr>
          <a:xfrm>
            <a:off x="6403129" y="3421071"/>
            <a:ext cx="1548343" cy="566133"/>
          </a:xfrm>
          <a:prstGeom prst="rect">
            <a:avLst/>
          </a:prstGeom>
          <a:noFill/>
        </p:spPr>
        <p:txBody>
          <a:bodyPr wrap="square" rtlCol="0" anchor="ctr">
            <a:noAutofit/>
          </a:bodyPr>
          <a:lstStyle/>
          <a:p>
            <a:pPr algn="ctr"/>
            <a:r>
              <a:rPr lang="en-US" sz="2400" b="1">
                <a:latin typeface="Avenir"/>
              </a:rPr>
              <a:t>400</a:t>
            </a:r>
            <a:endParaRPr lang="en-GB" sz="2400"/>
          </a:p>
        </p:txBody>
      </p:sp>
    </p:spTree>
    <p:extLst>
      <p:ext uri="{BB962C8B-B14F-4D97-AF65-F5344CB8AC3E}">
        <p14:creationId xmlns:p14="http://schemas.microsoft.com/office/powerpoint/2010/main" val="366468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4.81481E-6 L -0.48867 -0.54885 " pathEditMode="relative" rAng="0" ptsTypes="AA">
                                      <p:cBhvr>
                                        <p:cTn id="6" dur="3000" fill="hold"/>
                                        <p:tgtEl>
                                          <p:spTgt spid="254"/>
                                        </p:tgtEl>
                                        <p:attrNameLst>
                                          <p:attrName>ppt_x</p:attrName>
                                          <p:attrName>ppt_y</p:attrName>
                                        </p:attrNameLst>
                                      </p:cBhvr>
                                      <p:rCtr x="-24440" y="-27454"/>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254"/>
                                        </p:tgtEl>
                                        <p:attrNameLst>
                                          <p:attrName>ppt_w</p:attrName>
                                        </p:attrNameLst>
                                      </p:cBhvr>
                                      <p:tavLst>
                                        <p:tav tm="0">
                                          <p:val>
                                            <p:strVal val="ppt_w"/>
                                          </p:val>
                                        </p:tav>
                                        <p:tav tm="100000">
                                          <p:val>
                                            <p:fltVal val="0"/>
                                          </p:val>
                                        </p:tav>
                                      </p:tavLst>
                                    </p:anim>
                                    <p:anim calcmode="lin" valueType="num">
                                      <p:cBhvr>
                                        <p:cTn id="10" dur="1000"/>
                                        <p:tgtEl>
                                          <p:spTgt spid="254"/>
                                        </p:tgtEl>
                                        <p:attrNameLst>
                                          <p:attrName>ppt_h</p:attrName>
                                        </p:attrNameLst>
                                      </p:cBhvr>
                                      <p:tavLst>
                                        <p:tav tm="0">
                                          <p:val>
                                            <p:strVal val="ppt_h"/>
                                          </p:val>
                                        </p:tav>
                                        <p:tav tm="100000">
                                          <p:val>
                                            <p:fltVal val="0"/>
                                          </p:val>
                                        </p:tav>
                                      </p:tavLst>
                                    </p:anim>
                                    <p:anim calcmode="lin" valueType="num">
                                      <p:cBhvr>
                                        <p:cTn id="11" dur="1000"/>
                                        <p:tgtEl>
                                          <p:spTgt spid="254"/>
                                        </p:tgtEl>
                                        <p:attrNameLst>
                                          <p:attrName>style.rotation</p:attrName>
                                        </p:attrNameLst>
                                      </p:cBhvr>
                                      <p:tavLst>
                                        <p:tav tm="0">
                                          <p:val>
                                            <p:fltVal val="0"/>
                                          </p:val>
                                        </p:tav>
                                        <p:tav tm="100000">
                                          <p:val>
                                            <p:fltVal val="90"/>
                                          </p:val>
                                        </p:tav>
                                      </p:tavLst>
                                    </p:anim>
                                    <p:animEffect transition="out" filter="fade">
                                      <p:cBhvr>
                                        <p:cTn id="12" dur="1000"/>
                                        <p:tgtEl>
                                          <p:spTgt spid="254"/>
                                        </p:tgtEl>
                                      </p:cBhvr>
                                    </p:animEffect>
                                    <p:set>
                                      <p:cBhvr>
                                        <p:cTn id="13" dur="1" fill="hold">
                                          <p:stCondLst>
                                            <p:cond delay="999"/>
                                          </p:stCondLst>
                                        </p:cTn>
                                        <p:tgtEl>
                                          <p:spTgt spid="254"/>
                                        </p:tgtEl>
                                        <p:attrNameLst>
                                          <p:attrName>style.visibility</p:attrName>
                                        </p:attrNameLst>
                                      </p:cBhvr>
                                      <p:to>
                                        <p:strVal val="hidden"/>
                                      </p:to>
                                    </p:set>
                                  </p:childTnLst>
                                </p:cTn>
                              </p:par>
                              <p:par>
                                <p:cTn id="14" presetID="42" presetClass="entr" presetSubtype="0" fill="hold" nodeType="withEffect">
                                  <p:stCondLst>
                                    <p:cond delay="0"/>
                                  </p:stCondLst>
                                  <p:childTnLst>
                                    <p:set>
                                      <p:cBhvr>
                                        <p:cTn id="15" dur="1" fill="hold">
                                          <p:stCondLst>
                                            <p:cond delay="0"/>
                                          </p:stCondLst>
                                        </p:cTn>
                                        <p:tgtEl>
                                          <p:spTgt spid="278"/>
                                        </p:tgtEl>
                                        <p:attrNameLst>
                                          <p:attrName>style.visibility</p:attrName>
                                        </p:attrNameLst>
                                      </p:cBhvr>
                                      <p:to>
                                        <p:strVal val="visible"/>
                                      </p:to>
                                    </p:set>
                                    <p:animEffect transition="in" filter="fade">
                                      <p:cBhvr>
                                        <p:cTn id="16" dur="1000"/>
                                        <p:tgtEl>
                                          <p:spTgt spid="278"/>
                                        </p:tgtEl>
                                      </p:cBhvr>
                                    </p:animEffect>
                                    <p:anim calcmode="lin" valueType="num">
                                      <p:cBhvr>
                                        <p:cTn id="17" dur="1000" fill="hold"/>
                                        <p:tgtEl>
                                          <p:spTgt spid="278"/>
                                        </p:tgtEl>
                                        <p:attrNameLst>
                                          <p:attrName>ppt_x</p:attrName>
                                        </p:attrNameLst>
                                      </p:cBhvr>
                                      <p:tavLst>
                                        <p:tav tm="0">
                                          <p:val>
                                            <p:strVal val="#ppt_x"/>
                                          </p:val>
                                        </p:tav>
                                        <p:tav tm="100000">
                                          <p:val>
                                            <p:strVal val="#ppt_x"/>
                                          </p:val>
                                        </p:tav>
                                      </p:tavLst>
                                    </p:anim>
                                    <p:anim calcmode="lin" valueType="num">
                                      <p:cBhvr>
                                        <p:cTn id="18" dur="1000" fill="hold"/>
                                        <p:tgtEl>
                                          <p:spTgt spid="278"/>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99"/>
                                        </p:tgtEl>
                                        <p:attrNameLst>
                                          <p:attrName>style.visibility</p:attrName>
                                        </p:attrNameLst>
                                      </p:cBhvr>
                                      <p:to>
                                        <p:strVal val="visible"/>
                                      </p:to>
                                    </p:set>
                                    <p:animEffect transition="in" filter="fade">
                                      <p:cBhvr>
                                        <p:cTn id="21" dur="1000"/>
                                        <p:tgtEl>
                                          <p:spTgt spid="199"/>
                                        </p:tgtEl>
                                      </p:cBhvr>
                                    </p:animEffect>
                                    <p:anim calcmode="lin" valueType="num">
                                      <p:cBhvr>
                                        <p:cTn id="22" dur="1000" fill="hold"/>
                                        <p:tgtEl>
                                          <p:spTgt spid="199"/>
                                        </p:tgtEl>
                                        <p:attrNameLst>
                                          <p:attrName>ppt_x</p:attrName>
                                        </p:attrNameLst>
                                      </p:cBhvr>
                                      <p:tavLst>
                                        <p:tav tm="0">
                                          <p:val>
                                            <p:strVal val="#ppt_x"/>
                                          </p:val>
                                        </p:tav>
                                        <p:tav tm="100000">
                                          <p:val>
                                            <p:strVal val="#ppt_x"/>
                                          </p:val>
                                        </p:tav>
                                      </p:tavLst>
                                    </p:anim>
                                    <p:anim calcmode="lin" valueType="num">
                                      <p:cBhvr>
                                        <p:cTn id="23" dur="1000" fill="hold"/>
                                        <p:tgtEl>
                                          <p:spTgt spid="199"/>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72"/>
                                        </p:tgtEl>
                                        <p:attrNameLst>
                                          <p:attrName>style.visibility</p:attrName>
                                        </p:attrNameLst>
                                      </p:cBhvr>
                                      <p:to>
                                        <p:strVal val="visible"/>
                                      </p:to>
                                    </p:set>
                                    <p:animEffect transition="in" filter="fade">
                                      <p:cBhvr>
                                        <p:cTn id="26" dur="1000"/>
                                        <p:tgtEl>
                                          <p:spTgt spid="172"/>
                                        </p:tgtEl>
                                      </p:cBhvr>
                                    </p:animEffect>
                                    <p:anim calcmode="lin" valueType="num">
                                      <p:cBhvr>
                                        <p:cTn id="27" dur="1000" fill="hold"/>
                                        <p:tgtEl>
                                          <p:spTgt spid="172"/>
                                        </p:tgtEl>
                                        <p:attrNameLst>
                                          <p:attrName>ppt_x</p:attrName>
                                        </p:attrNameLst>
                                      </p:cBhvr>
                                      <p:tavLst>
                                        <p:tav tm="0">
                                          <p:val>
                                            <p:strVal val="#ppt_x"/>
                                          </p:val>
                                        </p:tav>
                                        <p:tav tm="100000">
                                          <p:val>
                                            <p:strVal val="#ppt_x"/>
                                          </p:val>
                                        </p:tav>
                                      </p:tavLst>
                                    </p:anim>
                                    <p:anim calcmode="lin" valueType="num">
                                      <p:cBhvr>
                                        <p:cTn id="28" dur="1000" fill="hold"/>
                                        <p:tgtEl>
                                          <p:spTgt spid="17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0" nodeType="clickEffect">
                                  <p:stCondLst>
                                    <p:cond delay="0"/>
                                  </p:stCondLst>
                                  <p:childTnLst>
                                    <p:animMotion origin="layout" path="M -4.375E-6 3.7037E-7 L -0.44427 -0.61898 " pathEditMode="relative" rAng="0" ptsTypes="AA">
                                      <p:cBhvr>
                                        <p:cTn id="32" dur="3000" fill="hold"/>
                                        <p:tgtEl>
                                          <p:spTgt spid="255"/>
                                        </p:tgtEl>
                                        <p:attrNameLst>
                                          <p:attrName>ppt_x</p:attrName>
                                          <p:attrName>ppt_y</p:attrName>
                                        </p:attrNameLst>
                                      </p:cBhvr>
                                      <p:rCtr x="-22214" y="-30949"/>
                                    </p:animMotion>
                                  </p:childTnLst>
                                </p:cTn>
                              </p:par>
                            </p:childTnLst>
                          </p:cTn>
                        </p:par>
                        <p:par>
                          <p:cTn id="33" fill="hold">
                            <p:stCondLst>
                              <p:cond delay="3000"/>
                            </p:stCondLst>
                            <p:childTnLst>
                              <p:par>
                                <p:cTn id="34" presetID="31" presetClass="exit" presetSubtype="0" fill="hold" grpId="1" nodeType="afterEffect">
                                  <p:stCondLst>
                                    <p:cond delay="0"/>
                                  </p:stCondLst>
                                  <p:childTnLst>
                                    <p:anim calcmode="lin" valueType="num">
                                      <p:cBhvr>
                                        <p:cTn id="35" dur="1000"/>
                                        <p:tgtEl>
                                          <p:spTgt spid="255"/>
                                        </p:tgtEl>
                                        <p:attrNameLst>
                                          <p:attrName>ppt_w</p:attrName>
                                        </p:attrNameLst>
                                      </p:cBhvr>
                                      <p:tavLst>
                                        <p:tav tm="0">
                                          <p:val>
                                            <p:strVal val="ppt_w"/>
                                          </p:val>
                                        </p:tav>
                                        <p:tav tm="100000">
                                          <p:val>
                                            <p:fltVal val="0"/>
                                          </p:val>
                                        </p:tav>
                                      </p:tavLst>
                                    </p:anim>
                                    <p:anim calcmode="lin" valueType="num">
                                      <p:cBhvr>
                                        <p:cTn id="36" dur="1000"/>
                                        <p:tgtEl>
                                          <p:spTgt spid="255"/>
                                        </p:tgtEl>
                                        <p:attrNameLst>
                                          <p:attrName>ppt_h</p:attrName>
                                        </p:attrNameLst>
                                      </p:cBhvr>
                                      <p:tavLst>
                                        <p:tav tm="0">
                                          <p:val>
                                            <p:strVal val="ppt_h"/>
                                          </p:val>
                                        </p:tav>
                                        <p:tav tm="100000">
                                          <p:val>
                                            <p:fltVal val="0"/>
                                          </p:val>
                                        </p:tav>
                                      </p:tavLst>
                                    </p:anim>
                                    <p:anim calcmode="lin" valueType="num">
                                      <p:cBhvr>
                                        <p:cTn id="37" dur="1000"/>
                                        <p:tgtEl>
                                          <p:spTgt spid="255"/>
                                        </p:tgtEl>
                                        <p:attrNameLst>
                                          <p:attrName>style.rotation</p:attrName>
                                        </p:attrNameLst>
                                      </p:cBhvr>
                                      <p:tavLst>
                                        <p:tav tm="0">
                                          <p:val>
                                            <p:fltVal val="0"/>
                                          </p:val>
                                        </p:tav>
                                        <p:tav tm="100000">
                                          <p:val>
                                            <p:fltVal val="90"/>
                                          </p:val>
                                        </p:tav>
                                      </p:tavLst>
                                    </p:anim>
                                    <p:animEffect transition="out" filter="fade">
                                      <p:cBhvr>
                                        <p:cTn id="38" dur="1000"/>
                                        <p:tgtEl>
                                          <p:spTgt spid="255"/>
                                        </p:tgtEl>
                                      </p:cBhvr>
                                    </p:animEffect>
                                    <p:set>
                                      <p:cBhvr>
                                        <p:cTn id="39" dur="1" fill="hold">
                                          <p:stCondLst>
                                            <p:cond delay="999"/>
                                          </p:stCondLst>
                                        </p:cTn>
                                        <p:tgtEl>
                                          <p:spTgt spid="255"/>
                                        </p:tgtEl>
                                        <p:attrNameLst>
                                          <p:attrName>style.visibility</p:attrName>
                                        </p:attrNameLst>
                                      </p:cBhvr>
                                      <p:to>
                                        <p:strVal val="hidden"/>
                                      </p:to>
                                    </p:set>
                                  </p:childTnLst>
                                </p:cTn>
                              </p:par>
                              <p:par>
                                <p:cTn id="40" presetID="47" presetClass="entr" presetSubtype="0" fill="hold" nodeType="withEffect">
                                  <p:stCondLst>
                                    <p:cond delay="0"/>
                                  </p:stCondLst>
                                  <p:childTnLst>
                                    <p:set>
                                      <p:cBhvr>
                                        <p:cTn id="41" dur="1" fill="hold">
                                          <p:stCondLst>
                                            <p:cond delay="0"/>
                                          </p:stCondLst>
                                        </p:cTn>
                                        <p:tgtEl>
                                          <p:spTgt spid="362"/>
                                        </p:tgtEl>
                                        <p:attrNameLst>
                                          <p:attrName>style.visibility</p:attrName>
                                        </p:attrNameLst>
                                      </p:cBhvr>
                                      <p:to>
                                        <p:strVal val="visible"/>
                                      </p:to>
                                    </p:set>
                                    <p:animEffect transition="in" filter="fade">
                                      <p:cBhvr>
                                        <p:cTn id="42" dur="1000"/>
                                        <p:tgtEl>
                                          <p:spTgt spid="362"/>
                                        </p:tgtEl>
                                      </p:cBhvr>
                                    </p:animEffect>
                                    <p:anim calcmode="lin" valueType="num">
                                      <p:cBhvr>
                                        <p:cTn id="43" dur="1000" fill="hold"/>
                                        <p:tgtEl>
                                          <p:spTgt spid="362"/>
                                        </p:tgtEl>
                                        <p:attrNameLst>
                                          <p:attrName>ppt_x</p:attrName>
                                        </p:attrNameLst>
                                      </p:cBhvr>
                                      <p:tavLst>
                                        <p:tav tm="0">
                                          <p:val>
                                            <p:strVal val="#ppt_x"/>
                                          </p:val>
                                        </p:tav>
                                        <p:tav tm="100000">
                                          <p:val>
                                            <p:strVal val="#ppt_x"/>
                                          </p:val>
                                        </p:tav>
                                      </p:tavLst>
                                    </p:anim>
                                    <p:anim calcmode="lin" valueType="num">
                                      <p:cBhvr>
                                        <p:cTn id="44" dur="1000" fill="hold"/>
                                        <p:tgtEl>
                                          <p:spTgt spid="362"/>
                                        </p:tgtEl>
                                        <p:attrNameLst>
                                          <p:attrName>ppt_y</p:attrName>
                                        </p:attrNameLst>
                                      </p:cBhvr>
                                      <p:tavLst>
                                        <p:tav tm="0">
                                          <p:val>
                                            <p:strVal val="#ppt_y-.1"/>
                                          </p:val>
                                        </p:tav>
                                        <p:tav tm="100000">
                                          <p:val>
                                            <p:strVal val="#ppt_y"/>
                                          </p:val>
                                        </p:tav>
                                      </p:tavLst>
                                    </p:anim>
                                  </p:childTnLst>
                                </p:cTn>
                              </p:par>
                              <p:par>
                                <p:cTn id="45" presetID="47" presetClass="entr" presetSubtype="0" fill="hold" grpId="0" nodeType="withEffect">
                                  <p:stCondLst>
                                    <p:cond delay="0"/>
                                  </p:stCondLst>
                                  <p:childTnLst>
                                    <p:set>
                                      <p:cBhvr>
                                        <p:cTn id="46" dur="1" fill="hold">
                                          <p:stCondLst>
                                            <p:cond delay="0"/>
                                          </p:stCondLst>
                                        </p:cTn>
                                        <p:tgtEl>
                                          <p:spTgt spid="246"/>
                                        </p:tgtEl>
                                        <p:attrNameLst>
                                          <p:attrName>style.visibility</p:attrName>
                                        </p:attrNameLst>
                                      </p:cBhvr>
                                      <p:to>
                                        <p:strVal val="visible"/>
                                      </p:to>
                                    </p:set>
                                    <p:animEffect transition="in" filter="fade">
                                      <p:cBhvr>
                                        <p:cTn id="47" dur="1000"/>
                                        <p:tgtEl>
                                          <p:spTgt spid="246"/>
                                        </p:tgtEl>
                                      </p:cBhvr>
                                    </p:animEffect>
                                    <p:anim calcmode="lin" valueType="num">
                                      <p:cBhvr>
                                        <p:cTn id="48" dur="1000" fill="hold"/>
                                        <p:tgtEl>
                                          <p:spTgt spid="246"/>
                                        </p:tgtEl>
                                        <p:attrNameLst>
                                          <p:attrName>ppt_x</p:attrName>
                                        </p:attrNameLst>
                                      </p:cBhvr>
                                      <p:tavLst>
                                        <p:tav tm="0">
                                          <p:val>
                                            <p:strVal val="#ppt_x"/>
                                          </p:val>
                                        </p:tav>
                                        <p:tav tm="100000">
                                          <p:val>
                                            <p:strVal val="#ppt_x"/>
                                          </p:val>
                                        </p:tav>
                                      </p:tavLst>
                                    </p:anim>
                                    <p:anim calcmode="lin" valueType="num">
                                      <p:cBhvr>
                                        <p:cTn id="49" dur="1000" fill="hold"/>
                                        <p:tgtEl>
                                          <p:spTgt spid="246"/>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0"/>
                                  </p:stCondLst>
                                  <p:childTnLst>
                                    <p:set>
                                      <p:cBhvr>
                                        <p:cTn id="51" dur="1" fill="hold">
                                          <p:stCondLst>
                                            <p:cond delay="0"/>
                                          </p:stCondLst>
                                        </p:cTn>
                                        <p:tgtEl>
                                          <p:spTgt spid="245"/>
                                        </p:tgtEl>
                                        <p:attrNameLst>
                                          <p:attrName>style.visibility</p:attrName>
                                        </p:attrNameLst>
                                      </p:cBhvr>
                                      <p:to>
                                        <p:strVal val="visible"/>
                                      </p:to>
                                    </p:set>
                                    <p:animEffect transition="in" filter="fade">
                                      <p:cBhvr>
                                        <p:cTn id="52" dur="1000"/>
                                        <p:tgtEl>
                                          <p:spTgt spid="245"/>
                                        </p:tgtEl>
                                      </p:cBhvr>
                                    </p:animEffect>
                                    <p:anim calcmode="lin" valueType="num">
                                      <p:cBhvr>
                                        <p:cTn id="53" dur="1000" fill="hold"/>
                                        <p:tgtEl>
                                          <p:spTgt spid="245"/>
                                        </p:tgtEl>
                                        <p:attrNameLst>
                                          <p:attrName>ppt_x</p:attrName>
                                        </p:attrNameLst>
                                      </p:cBhvr>
                                      <p:tavLst>
                                        <p:tav tm="0">
                                          <p:val>
                                            <p:strVal val="#ppt_x"/>
                                          </p:val>
                                        </p:tav>
                                        <p:tav tm="100000">
                                          <p:val>
                                            <p:strVal val="#ppt_x"/>
                                          </p:val>
                                        </p:tav>
                                      </p:tavLst>
                                    </p:anim>
                                    <p:anim calcmode="lin" valueType="num">
                                      <p:cBhvr>
                                        <p:cTn id="54" dur="1000" fill="hold"/>
                                        <p:tgtEl>
                                          <p:spTgt spid="245"/>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56"/>
                                        </p:tgtEl>
                                        <p:attrNameLst>
                                          <p:attrName>style.visibility</p:attrName>
                                        </p:attrNameLst>
                                      </p:cBhvr>
                                      <p:to>
                                        <p:strVal val="visible"/>
                                      </p:to>
                                    </p:set>
                                    <p:animEffect transition="in" filter="fade">
                                      <p:cBhvr>
                                        <p:cTn id="59" dur="1000"/>
                                        <p:tgtEl>
                                          <p:spTgt spid="256"/>
                                        </p:tgtEl>
                                      </p:cBhvr>
                                    </p:animEffect>
                                    <p:anim calcmode="lin" valueType="num">
                                      <p:cBhvr>
                                        <p:cTn id="60" dur="1000" fill="hold"/>
                                        <p:tgtEl>
                                          <p:spTgt spid="256"/>
                                        </p:tgtEl>
                                        <p:attrNameLst>
                                          <p:attrName>ppt_x</p:attrName>
                                        </p:attrNameLst>
                                      </p:cBhvr>
                                      <p:tavLst>
                                        <p:tav tm="0">
                                          <p:val>
                                            <p:strVal val="#ppt_x"/>
                                          </p:val>
                                        </p:tav>
                                        <p:tav tm="100000">
                                          <p:val>
                                            <p:strVal val="#ppt_x"/>
                                          </p:val>
                                        </p:tav>
                                      </p:tavLst>
                                    </p:anim>
                                    <p:anim calcmode="lin" valueType="num">
                                      <p:cBhvr>
                                        <p:cTn id="61" dur="1000" fill="hold"/>
                                        <p:tgtEl>
                                          <p:spTgt spid="256"/>
                                        </p:tgtEl>
                                        <p:attrNameLst>
                                          <p:attrName>ppt_y</p:attrName>
                                        </p:attrNameLst>
                                      </p:cBhvr>
                                      <p:tavLst>
                                        <p:tav tm="0">
                                          <p:val>
                                            <p:strVal val="#ppt_y+.1"/>
                                          </p:val>
                                        </p:tav>
                                        <p:tav tm="100000">
                                          <p:val>
                                            <p:strVal val="#ppt_y"/>
                                          </p:val>
                                        </p:tav>
                                      </p:tavLst>
                                    </p:anim>
                                  </p:childTnLst>
                                </p:cTn>
                              </p:par>
                              <p:par>
                                <p:cTn id="62" presetID="47" presetClass="entr" presetSubtype="0" fill="hold" grpId="0" nodeType="withEffect">
                                  <p:stCondLst>
                                    <p:cond delay="0"/>
                                  </p:stCondLst>
                                  <p:childTnLst>
                                    <p:set>
                                      <p:cBhvr>
                                        <p:cTn id="63" dur="1" fill="hold">
                                          <p:stCondLst>
                                            <p:cond delay="0"/>
                                          </p:stCondLst>
                                        </p:cTn>
                                        <p:tgtEl>
                                          <p:spTgt spid="257"/>
                                        </p:tgtEl>
                                        <p:attrNameLst>
                                          <p:attrName>style.visibility</p:attrName>
                                        </p:attrNameLst>
                                      </p:cBhvr>
                                      <p:to>
                                        <p:strVal val="visible"/>
                                      </p:to>
                                    </p:set>
                                    <p:animEffect transition="in" filter="fade">
                                      <p:cBhvr>
                                        <p:cTn id="64" dur="1000"/>
                                        <p:tgtEl>
                                          <p:spTgt spid="257"/>
                                        </p:tgtEl>
                                      </p:cBhvr>
                                    </p:animEffect>
                                    <p:anim calcmode="lin" valueType="num">
                                      <p:cBhvr>
                                        <p:cTn id="65" dur="1000" fill="hold"/>
                                        <p:tgtEl>
                                          <p:spTgt spid="257"/>
                                        </p:tgtEl>
                                        <p:attrNameLst>
                                          <p:attrName>ppt_x</p:attrName>
                                        </p:attrNameLst>
                                      </p:cBhvr>
                                      <p:tavLst>
                                        <p:tav tm="0">
                                          <p:val>
                                            <p:strVal val="#ppt_x"/>
                                          </p:val>
                                        </p:tav>
                                        <p:tav tm="100000">
                                          <p:val>
                                            <p:strVal val="#ppt_x"/>
                                          </p:val>
                                        </p:tav>
                                      </p:tavLst>
                                    </p:anim>
                                    <p:anim calcmode="lin" valueType="num">
                                      <p:cBhvr>
                                        <p:cTn id="66" dur="1000" fill="hold"/>
                                        <p:tgtEl>
                                          <p:spTgt spid="2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p:bldP spid="199" grpId="0" animBg="1"/>
      <p:bldP spid="245" grpId="0"/>
      <p:bldP spid="246" grpId="0" animBg="1"/>
      <p:bldP spid="254" grpId="0" animBg="1"/>
      <p:bldP spid="254" grpId="1" animBg="1"/>
      <p:bldP spid="255" grpId="0" animBg="1"/>
      <p:bldP spid="255" grpId="1" animBg="1"/>
      <p:bldP spid="256" grpId="0" animBg="1"/>
      <p:bldP spid="25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775"/>
        <p:cNvGrpSpPr/>
        <p:nvPr/>
      </p:nvGrpSpPr>
      <p:grpSpPr>
        <a:xfrm>
          <a:off x="0" y="0"/>
          <a:ext cx="0" cy="0"/>
          <a:chOff x="0" y="0"/>
          <a:chExt cx="0" cy="0"/>
        </a:xfrm>
      </p:grpSpPr>
      <p:sp>
        <p:nvSpPr>
          <p:cNvPr id="2776" name="Google Shape;2776;p71"/>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2777" name="Google Shape;2777;p71"/>
          <p:cNvGrpSpPr/>
          <p:nvPr/>
        </p:nvGrpSpPr>
        <p:grpSpPr>
          <a:xfrm>
            <a:off x="1284576" y="2130924"/>
            <a:ext cx="10188969" cy="756004"/>
            <a:chOff x="926134" y="1719856"/>
            <a:chExt cx="9204181" cy="750147"/>
          </a:xfrm>
        </p:grpSpPr>
        <p:sp>
          <p:nvSpPr>
            <p:cNvPr id="2778" name="Google Shape;2778;p71"/>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고객 D가 일부 상품을 구매하고, 결제 수단으로 상품권을 제시함.</a:t>
              </a:r>
              <a:endParaRPr sz="2000">
                <a:solidFill>
                  <a:schemeClr val="dk1"/>
                </a:solidFill>
                <a:latin typeface="Avenir"/>
                <a:ea typeface="Avenir"/>
                <a:cs typeface="Avenir"/>
                <a:sym typeface="Avenir"/>
              </a:endParaRPr>
            </a:p>
          </p:txBody>
        </p:sp>
        <p:sp>
          <p:nvSpPr>
            <p:cNvPr id="2779" name="Google Shape;2779;p71"/>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Deferred income</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90</a:t>
              </a:r>
              <a:endParaRPr/>
            </a:p>
          </p:txBody>
        </p:sp>
        <p:sp>
          <p:nvSpPr>
            <p:cNvPr id="2780" name="Google Shape;2780;p71"/>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Sales</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90</a:t>
              </a:r>
              <a:endParaRPr/>
            </a:p>
          </p:txBody>
        </p:sp>
        <p:sp>
          <p:nvSpPr>
            <p:cNvPr id="2781" name="Google Shape;2781;p71"/>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12a</a:t>
              </a:r>
              <a:endParaRPr/>
            </a:p>
          </p:txBody>
        </p:sp>
      </p:grpSp>
      <p:sp>
        <p:nvSpPr>
          <p:cNvPr id="2782" name="Google Shape;2782;p71"/>
          <p:cNvSpPr txBox="1"/>
          <p:nvPr/>
        </p:nvSpPr>
        <p:spPr>
          <a:xfrm>
            <a:off x="8107404" y="2130924"/>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90</a:t>
            </a:r>
            <a:endParaRPr/>
          </a:p>
        </p:txBody>
      </p:sp>
      <p:sp>
        <p:nvSpPr>
          <p:cNvPr id="2783" name="Google Shape;2783;p71"/>
          <p:cNvSpPr txBox="1"/>
          <p:nvPr/>
        </p:nvSpPr>
        <p:spPr>
          <a:xfrm>
            <a:off x="9790474" y="2130924"/>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90</a:t>
            </a:r>
            <a:endParaRPr/>
          </a:p>
        </p:txBody>
      </p:sp>
      <p:cxnSp>
        <p:nvCxnSpPr>
          <p:cNvPr id="2784" name="Google Shape;2784;p71"/>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2785" name="Google Shape;2785;p71"/>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26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1713372"/>
            <a:ext cx="1620000" cy="2245325"/>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18" name="TextBox 117">
            <a:extLst>
              <a:ext uri="{FF2B5EF4-FFF2-40B4-BE49-F238E27FC236}">
                <a16:creationId xmlns:a16="http://schemas.microsoft.com/office/drawing/2014/main" id="{771DDF6F-B29C-AF46-A26D-B05A0E9136DB}"/>
              </a:ext>
            </a:extLst>
          </p:cNvPr>
          <p:cNvSpPr txBox="1"/>
          <p:nvPr/>
        </p:nvSpPr>
        <p:spPr>
          <a:xfrm>
            <a:off x="8114313" y="2028286"/>
            <a:ext cx="1864201" cy="338554"/>
          </a:xfrm>
          <a:prstGeom prst="rect">
            <a:avLst/>
          </a:prstGeom>
          <a:noFill/>
        </p:spPr>
        <p:txBody>
          <a:bodyPr wrap="square" rtlCol="0">
            <a:spAutoFit/>
          </a:bodyPr>
          <a:lstStyle/>
          <a:p>
            <a:pPr algn="ctr"/>
            <a:r>
              <a:rPr lang="en-US" sz="1600" dirty="0">
                <a:latin typeface="Avenir"/>
              </a:rPr>
              <a:t>Deferred revenue</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2" name="TextBox 171">
            <a:extLst>
              <a:ext uri="{FF2B5EF4-FFF2-40B4-BE49-F238E27FC236}">
                <a16:creationId xmlns:a16="http://schemas.microsoft.com/office/drawing/2014/main" id="{1E829A5C-2F66-F748-9AB9-2ABF768ADAA8}"/>
              </a:ext>
            </a:extLst>
          </p:cNvPr>
          <p:cNvSpPr txBox="1"/>
          <p:nvPr/>
        </p:nvSpPr>
        <p:spPr>
          <a:xfrm>
            <a:off x="3469894" y="172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199" name="Down Arrow 198">
            <a:extLst>
              <a:ext uri="{FF2B5EF4-FFF2-40B4-BE49-F238E27FC236}">
                <a16:creationId xmlns:a16="http://schemas.microsoft.com/office/drawing/2014/main" id="{3FD208AA-CF32-B64F-B03C-969D3C0C8C66}"/>
              </a:ext>
            </a:extLst>
          </p:cNvPr>
          <p:cNvSpPr/>
          <p:nvPr/>
        </p:nvSpPr>
        <p:spPr>
          <a:xfrm rot="10800000">
            <a:off x="3011371" y="177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D59EDECC-B1D1-B040-BBB3-304302444F36}"/>
              </a:ext>
            </a:extLst>
          </p:cNvPr>
          <p:cNvSpPr txBox="1"/>
          <p:nvPr/>
        </p:nvSpPr>
        <p:spPr>
          <a:xfrm>
            <a:off x="3469894" y="199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21" name="Down Arrow 220">
            <a:extLst>
              <a:ext uri="{FF2B5EF4-FFF2-40B4-BE49-F238E27FC236}">
                <a16:creationId xmlns:a16="http://schemas.microsoft.com/office/drawing/2014/main" id="{123666BC-850F-5440-BFCE-47B8E5B5429B}"/>
              </a:ext>
            </a:extLst>
          </p:cNvPr>
          <p:cNvSpPr/>
          <p:nvPr/>
        </p:nvSpPr>
        <p:spPr>
          <a:xfrm rot="10800000">
            <a:off x="3007666" y="204993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TextBox 238">
            <a:extLst>
              <a:ext uri="{FF2B5EF4-FFF2-40B4-BE49-F238E27FC236}">
                <a16:creationId xmlns:a16="http://schemas.microsoft.com/office/drawing/2014/main" id="{A523F897-551A-8F49-B6AB-51DBFD3C53C0}"/>
              </a:ext>
            </a:extLst>
          </p:cNvPr>
          <p:cNvSpPr txBox="1"/>
          <p:nvPr/>
        </p:nvSpPr>
        <p:spPr>
          <a:xfrm>
            <a:off x="3599552" y="4796571"/>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250</a:t>
            </a:r>
          </a:p>
        </p:txBody>
      </p:sp>
      <p:sp>
        <p:nvSpPr>
          <p:cNvPr id="240" name="Down Arrow 239">
            <a:extLst>
              <a:ext uri="{FF2B5EF4-FFF2-40B4-BE49-F238E27FC236}">
                <a16:creationId xmlns:a16="http://schemas.microsoft.com/office/drawing/2014/main" id="{07DD916A-3850-9F4F-81C8-0C94788A77D2}"/>
              </a:ext>
            </a:extLst>
          </p:cNvPr>
          <p:cNvSpPr/>
          <p:nvPr/>
        </p:nvSpPr>
        <p:spPr>
          <a:xfrm rot="10800000">
            <a:off x="3096000" y="484745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extBox 240">
            <a:extLst>
              <a:ext uri="{FF2B5EF4-FFF2-40B4-BE49-F238E27FC236}">
                <a16:creationId xmlns:a16="http://schemas.microsoft.com/office/drawing/2014/main" id="{88F3874F-A130-C843-9E72-AFB2DD902123}"/>
              </a:ext>
            </a:extLst>
          </p:cNvPr>
          <p:cNvSpPr txBox="1"/>
          <p:nvPr/>
        </p:nvSpPr>
        <p:spPr>
          <a:xfrm>
            <a:off x="7487489" y="1462635"/>
            <a:ext cx="526106" cy="338554"/>
          </a:xfrm>
          <a:prstGeom prst="rect">
            <a:avLst/>
          </a:prstGeom>
          <a:noFill/>
        </p:spPr>
        <p:txBody>
          <a:bodyPr wrap="none" rtlCol="0">
            <a:spAutoFit/>
          </a:bodyPr>
          <a:lstStyle/>
          <a:p>
            <a:pPr algn="r"/>
            <a:r>
              <a:rPr lang="en-US" sz="1600" b="1">
                <a:solidFill>
                  <a:schemeClr val="accent2"/>
                </a:solidFill>
                <a:latin typeface="Avenir"/>
              </a:rPr>
              <a:t>250</a:t>
            </a:r>
          </a:p>
        </p:txBody>
      </p:sp>
      <p:sp>
        <p:nvSpPr>
          <p:cNvPr id="242" name="Down Arrow 241">
            <a:extLst>
              <a:ext uri="{FF2B5EF4-FFF2-40B4-BE49-F238E27FC236}">
                <a16:creationId xmlns:a16="http://schemas.microsoft.com/office/drawing/2014/main" id="{84AF3014-B3DD-BD46-8650-EE907DDD90EA}"/>
              </a:ext>
            </a:extLst>
          </p:cNvPr>
          <p:cNvSpPr/>
          <p:nvPr/>
        </p:nvSpPr>
        <p:spPr>
          <a:xfrm rot="10800000">
            <a:off x="6984000" y="14983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3" name="TextBox 242">
            <a:extLst>
              <a:ext uri="{FF2B5EF4-FFF2-40B4-BE49-F238E27FC236}">
                <a16:creationId xmlns:a16="http://schemas.microsoft.com/office/drawing/2014/main" id="{5B2E3768-A879-AE44-BA1D-3F82ECAC6E48}"/>
              </a:ext>
            </a:extLst>
          </p:cNvPr>
          <p:cNvSpPr txBox="1"/>
          <p:nvPr/>
        </p:nvSpPr>
        <p:spPr>
          <a:xfrm>
            <a:off x="9285817" y="1715500"/>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244" name="Down Arrow 243">
            <a:extLst>
              <a:ext uri="{FF2B5EF4-FFF2-40B4-BE49-F238E27FC236}">
                <a16:creationId xmlns:a16="http://schemas.microsoft.com/office/drawing/2014/main" id="{4574C5E5-4218-674B-8FB2-AB88F7FB3FDD}"/>
              </a:ext>
            </a:extLst>
          </p:cNvPr>
          <p:cNvSpPr/>
          <p:nvPr/>
        </p:nvSpPr>
        <p:spPr>
          <a:xfrm rot="10800000">
            <a:off x="8784000" y="1751173"/>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5" name="TextBox 244">
            <a:extLst>
              <a:ext uri="{FF2B5EF4-FFF2-40B4-BE49-F238E27FC236}">
                <a16:creationId xmlns:a16="http://schemas.microsoft.com/office/drawing/2014/main" id="{30F9F41D-65FA-3E4A-B645-18A9F04A48C7}"/>
              </a:ext>
            </a:extLst>
          </p:cNvPr>
          <p:cNvSpPr txBox="1"/>
          <p:nvPr/>
        </p:nvSpPr>
        <p:spPr>
          <a:xfrm>
            <a:off x="5269894" y="965882"/>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46" name="Down Arrow 245">
            <a:extLst>
              <a:ext uri="{FF2B5EF4-FFF2-40B4-BE49-F238E27FC236}">
                <a16:creationId xmlns:a16="http://schemas.microsoft.com/office/drawing/2014/main" id="{810B7F9B-FFF6-7646-B180-66C5E6B1ADE6}"/>
              </a:ext>
            </a:extLst>
          </p:cNvPr>
          <p:cNvSpPr/>
          <p:nvPr/>
        </p:nvSpPr>
        <p:spPr>
          <a:xfrm>
            <a:off x="4825605" y="10220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TextBox 246">
            <a:extLst>
              <a:ext uri="{FF2B5EF4-FFF2-40B4-BE49-F238E27FC236}">
                <a16:creationId xmlns:a16="http://schemas.microsoft.com/office/drawing/2014/main" id="{AA659AB1-43FB-D747-AC50-E4454DC4B036}"/>
              </a:ext>
            </a:extLst>
          </p:cNvPr>
          <p:cNvSpPr txBox="1"/>
          <p:nvPr/>
        </p:nvSpPr>
        <p:spPr>
          <a:xfrm>
            <a:off x="7543708" y="5375143"/>
            <a:ext cx="412292" cy="338554"/>
          </a:xfrm>
          <a:prstGeom prst="rect">
            <a:avLst/>
          </a:prstGeom>
          <a:noFill/>
        </p:spPr>
        <p:txBody>
          <a:bodyPr wrap="none" rtlCol="0">
            <a:spAutoFit/>
          </a:bodyPr>
          <a:lstStyle/>
          <a:p>
            <a:pPr algn="r"/>
            <a:r>
              <a:rPr lang="en-US" sz="1600" b="1">
                <a:solidFill>
                  <a:schemeClr val="accent2"/>
                </a:solidFill>
                <a:latin typeface="Avenir"/>
              </a:rPr>
              <a:t>90</a:t>
            </a:r>
          </a:p>
        </p:txBody>
      </p:sp>
      <p:sp>
        <p:nvSpPr>
          <p:cNvPr id="248" name="Down Arrow 247">
            <a:extLst>
              <a:ext uri="{FF2B5EF4-FFF2-40B4-BE49-F238E27FC236}">
                <a16:creationId xmlns:a16="http://schemas.microsoft.com/office/drawing/2014/main" id="{12BC87CD-B219-D944-A303-51AE7219B591}"/>
              </a:ext>
            </a:extLst>
          </p:cNvPr>
          <p:cNvSpPr/>
          <p:nvPr/>
        </p:nvSpPr>
        <p:spPr>
          <a:xfrm rot="10800000">
            <a:off x="6984000" y="5425275"/>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9" name="TextBox 248">
            <a:extLst>
              <a:ext uri="{FF2B5EF4-FFF2-40B4-BE49-F238E27FC236}">
                <a16:creationId xmlns:a16="http://schemas.microsoft.com/office/drawing/2014/main" id="{A2C44290-0620-2943-8A42-C52EE722BCBB}"/>
              </a:ext>
            </a:extLst>
          </p:cNvPr>
          <p:cNvSpPr txBox="1"/>
          <p:nvPr/>
        </p:nvSpPr>
        <p:spPr>
          <a:xfrm>
            <a:off x="8947923" y="1452209"/>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90</a:t>
            </a:r>
          </a:p>
        </p:txBody>
      </p:sp>
      <p:sp>
        <p:nvSpPr>
          <p:cNvPr id="250" name="Down Arrow 249">
            <a:extLst>
              <a:ext uri="{FF2B5EF4-FFF2-40B4-BE49-F238E27FC236}">
                <a16:creationId xmlns:a16="http://schemas.microsoft.com/office/drawing/2014/main" id="{99FBA779-2143-0245-85BB-6BF02CC500E6}"/>
              </a:ext>
            </a:extLst>
          </p:cNvPr>
          <p:cNvSpPr/>
          <p:nvPr/>
        </p:nvSpPr>
        <p:spPr>
          <a:xfrm>
            <a:off x="8784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grpSp>
        <p:nvGrpSpPr>
          <p:cNvPr id="278" name="Group 277">
            <a:extLst>
              <a:ext uri="{FF2B5EF4-FFF2-40B4-BE49-F238E27FC236}">
                <a16:creationId xmlns:a16="http://schemas.microsoft.com/office/drawing/2014/main" id="{775D2738-1A15-3D43-963E-83A150D3DD08}"/>
              </a:ext>
            </a:extLst>
          </p:cNvPr>
          <p:cNvGrpSpPr>
            <a:grpSpLocks noChangeAspect="1"/>
          </p:cNvGrpSpPr>
          <p:nvPr/>
        </p:nvGrpSpPr>
        <p:grpSpPr>
          <a:xfrm>
            <a:off x="2528691" y="1763611"/>
            <a:ext cx="309700" cy="223916"/>
            <a:chOff x="756599" y="3715227"/>
            <a:chExt cx="321512" cy="232456"/>
          </a:xfrm>
        </p:grpSpPr>
        <p:sp>
          <p:nvSpPr>
            <p:cNvPr id="279" name="Oval 278">
              <a:extLst>
                <a:ext uri="{FF2B5EF4-FFF2-40B4-BE49-F238E27FC236}">
                  <a16:creationId xmlns:a16="http://schemas.microsoft.com/office/drawing/2014/main" id="{E14654BD-BDE4-0748-912C-22432B5DD3D8}"/>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0" name="Rectangle 279">
              <a:extLst>
                <a:ext uri="{FF2B5EF4-FFF2-40B4-BE49-F238E27FC236}">
                  <a16:creationId xmlns:a16="http://schemas.microsoft.com/office/drawing/2014/main" id="{6A79CA8D-AC8C-2649-8D3F-6C8279757C83}"/>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281" name="Group 280">
            <a:extLst>
              <a:ext uri="{FF2B5EF4-FFF2-40B4-BE49-F238E27FC236}">
                <a16:creationId xmlns:a16="http://schemas.microsoft.com/office/drawing/2014/main" id="{038C4DBA-DFAC-4340-8960-9AF8BB8FC7AF}"/>
              </a:ext>
            </a:extLst>
          </p:cNvPr>
          <p:cNvGrpSpPr>
            <a:grpSpLocks noChangeAspect="1"/>
          </p:cNvGrpSpPr>
          <p:nvPr/>
        </p:nvGrpSpPr>
        <p:grpSpPr>
          <a:xfrm>
            <a:off x="2528691" y="2037441"/>
            <a:ext cx="309700" cy="223916"/>
            <a:chOff x="756599" y="3715227"/>
            <a:chExt cx="321512" cy="232456"/>
          </a:xfrm>
        </p:grpSpPr>
        <p:sp>
          <p:nvSpPr>
            <p:cNvPr id="282" name="Oval 281">
              <a:extLst>
                <a:ext uri="{FF2B5EF4-FFF2-40B4-BE49-F238E27FC236}">
                  <a16:creationId xmlns:a16="http://schemas.microsoft.com/office/drawing/2014/main" id="{D97D5EE0-8446-1244-A657-E9DBF68238D5}"/>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3" name="Rectangle 282">
              <a:extLst>
                <a:ext uri="{FF2B5EF4-FFF2-40B4-BE49-F238E27FC236}">
                  <a16:creationId xmlns:a16="http://schemas.microsoft.com/office/drawing/2014/main" id="{56AA7E7C-0592-B744-AFA9-D3A064F8B33C}"/>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9" name="Group 328">
            <a:extLst>
              <a:ext uri="{FF2B5EF4-FFF2-40B4-BE49-F238E27FC236}">
                <a16:creationId xmlns:a16="http://schemas.microsoft.com/office/drawing/2014/main" id="{E15F7DE2-F1EB-C94A-AE48-4487C8B506B6}"/>
              </a:ext>
            </a:extLst>
          </p:cNvPr>
          <p:cNvGrpSpPr/>
          <p:nvPr/>
        </p:nvGrpSpPr>
        <p:grpSpPr>
          <a:xfrm>
            <a:off x="4330045" y="3136880"/>
            <a:ext cx="309700" cy="224238"/>
            <a:chOff x="770743" y="3715228"/>
            <a:chExt cx="309700" cy="224238"/>
          </a:xfrm>
        </p:grpSpPr>
        <p:sp>
          <p:nvSpPr>
            <p:cNvPr id="330" name="Oval 329">
              <a:extLst>
                <a:ext uri="{FF2B5EF4-FFF2-40B4-BE49-F238E27FC236}">
                  <a16:creationId xmlns:a16="http://schemas.microsoft.com/office/drawing/2014/main" id="{920E5E24-BE4B-BC48-AFD2-943FE12CD729}"/>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2" name="Group 331">
            <a:extLst>
              <a:ext uri="{FF2B5EF4-FFF2-40B4-BE49-F238E27FC236}">
                <a16:creationId xmlns:a16="http://schemas.microsoft.com/office/drawing/2014/main" id="{7924029E-A5DC-CB49-8E0F-74B666CD5BDE}"/>
              </a:ext>
            </a:extLst>
          </p:cNvPr>
          <p:cNvGrpSpPr/>
          <p:nvPr/>
        </p:nvGrpSpPr>
        <p:grpSpPr>
          <a:xfrm>
            <a:off x="4377396" y="5681195"/>
            <a:ext cx="309700" cy="224238"/>
            <a:chOff x="770743" y="3715228"/>
            <a:chExt cx="309700" cy="224238"/>
          </a:xfrm>
        </p:grpSpPr>
        <p:sp>
          <p:nvSpPr>
            <p:cNvPr id="333" name="Oval 332">
              <a:extLst>
                <a:ext uri="{FF2B5EF4-FFF2-40B4-BE49-F238E27FC236}">
                  <a16:creationId xmlns:a16="http://schemas.microsoft.com/office/drawing/2014/main" id="{5234A744-315A-EC44-BDF0-AAAA223BA63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4" name="Group 343">
            <a:extLst>
              <a:ext uri="{FF2B5EF4-FFF2-40B4-BE49-F238E27FC236}">
                <a16:creationId xmlns:a16="http://schemas.microsoft.com/office/drawing/2014/main" id="{F71B1C50-265E-F34D-AF22-A2B539B0A891}"/>
              </a:ext>
            </a:extLst>
          </p:cNvPr>
          <p:cNvGrpSpPr/>
          <p:nvPr/>
        </p:nvGrpSpPr>
        <p:grpSpPr>
          <a:xfrm>
            <a:off x="6448807" y="5416132"/>
            <a:ext cx="360996" cy="224238"/>
            <a:chOff x="736857" y="3715228"/>
            <a:chExt cx="360996" cy="224238"/>
          </a:xfrm>
        </p:grpSpPr>
        <p:sp>
          <p:nvSpPr>
            <p:cNvPr id="345" name="Oval 344">
              <a:extLst>
                <a:ext uri="{FF2B5EF4-FFF2-40B4-BE49-F238E27FC236}">
                  <a16:creationId xmlns:a16="http://schemas.microsoft.com/office/drawing/2014/main" id="{498E50BA-F1A1-524A-B905-153FA186C0CC}"/>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6" name="Rectangle 345">
              <a:extLst>
                <a:ext uri="{FF2B5EF4-FFF2-40B4-BE49-F238E27FC236}">
                  <a16:creationId xmlns:a16="http://schemas.microsoft.com/office/drawing/2014/main" id="{55D9C7D2-EAAC-644E-997D-9755B758C142}"/>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350" name="Group 349">
            <a:extLst>
              <a:ext uri="{FF2B5EF4-FFF2-40B4-BE49-F238E27FC236}">
                <a16:creationId xmlns:a16="http://schemas.microsoft.com/office/drawing/2014/main" id="{9432C11D-E364-C746-985A-2AD5B5DB149E}"/>
              </a:ext>
            </a:extLst>
          </p:cNvPr>
          <p:cNvGrpSpPr/>
          <p:nvPr/>
        </p:nvGrpSpPr>
        <p:grpSpPr>
          <a:xfrm>
            <a:off x="2680630" y="4808856"/>
            <a:ext cx="245580" cy="224238"/>
            <a:chOff x="802803" y="3715228"/>
            <a:chExt cx="245580" cy="224238"/>
          </a:xfrm>
        </p:grpSpPr>
        <p:sp>
          <p:nvSpPr>
            <p:cNvPr id="351" name="Oval 350">
              <a:extLst>
                <a:ext uri="{FF2B5EF4-FFF2-40B4-BE49-F238E27FC236}">
                  <a16:creationId xmlns:a16="http://schemas.microsoft.com/office/drawing/2014/main" id="{7EF515DE-CFB5-C746-AC84-B4C313BD06E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2" name="Rectangle 351">
              <a:extLst>
                <a:ext uri="{FF2B5EF4-FFF2-40B4-BE49-F238E27FC236}">
                  <a16:creationId xmlns:a16="http://schemas.microsoft.com/office/drawing/2014/main" id="{3B567B98-0230-FB4D-8B5A-D57CF8B99F8A}"/>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3" name="Group 352">
            <a:extLst>
              <a:ext uri="{FF2B5EF4-FFF2-40B4-BE49-F238E27FC236}">
                <a16:creationId xmlns:a16="http://schemas.microsoft.com/office/drawing/2014/main" id="{F40449CF-4146-A640-B710-857F798A33D4}"/>
              </a:ext>
            </a:extLst>
          </p:cNvPr>
          <p:cNvGrpSpPr/>
          <p:nvPr/>
        </p:nvGrpSpPr>
        <p:grpSpPr>
          <a:xfrm>
            <a:off x="6550922" y="1481480"/>
            <a:ext cx="245580" cy="224238"/>
            <a:chOff x="802803" y="3715228"/>
            <a:chExt cx="245580" cy="224238"/>
          </a:xfrm>
        </p:grpSpPr>
        <p:sp>
          <p:nvSpPr>
            <p:cNvPr id="354" name="Oval 353">
              <a:extLst>
                <a:ext uri="{FF2B5EF4-FFF2-40B4-BE49-F238E27FC236}">
                  <a16:creationId xmlns:a16="http://schemas.microsoft.com/office/drawing/2014/main" id="{1F8A312F-C689-FF42-84E9-02ECA660225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5" name="Rectangle 354">
              <a:extLst>
                <a:ext uri="{FF2B5EF4-FFF2-40B4-BE49-F238E27FC236}">
                  <a16:creationId xmlns:a16="http://schemas.microsoft.com/office/drawing/2014/main" id="{50CBD88D-DC4A-3849-90CE-641B000548E3}"/>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6" name="Group 355">
            <a:extLst>
              <a:ext uri="{FF2B5EF4-FFF2-40B4-BE49-F238E27FC236}">
                <a16:creationId xmlns:a16="http://schemas.microsoft.com/office/drawing/2014/main" id="{3E2317E5-1DF6-F144-A88B-97C61AC21234}"/>
              </a:ext>
            </a:extLst>
          </p:cNvPr>
          <p:cNvGrpSpPr/>
          <p:nvPr/>
        </p:nvGrpSpPr>
        <p:grpSpPr>
          <a:xfrm>
            <a:off x="8311967" y="1742779"/>
            <a:ext cx="309700" cy="224238"/>
            <a:chOff x="770743" y="3715228"/>
            <a:chExt cx="309700" cy="224238"/>
          </a:xfrm>
        </p:grpSpPr>
        <p:sp>
          <p:nvSpPr>
            <p:cNvPr id="357" name="Oval 356">
              <a:extLst>
                <a:ext uri="{FF2B5EF4-FFF2-40B4-BE49-F238E27FC236}">
                  <a16:creationId xmlns:a16="http://schemas.microsoft.com/office/drawing/2014/main" id="{6A31460D-137B-A74E-B6FC-B55DFB2AE33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8" name="Rectangle 357">
              <a:extLst>
                <a:ext uri="{FF2B5EF4-FFF2-40B4-BE49-F238E27FC236}">
                  <a16:creationId xmlns:a16="http://schemas.microsoft.com/office/drawing/2014/main" id="{CFFD1864-8612-0941-9E7F-4F8D6CCCC5CA}"/>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62" name="Group 361">
            <a:extLst>
              <a:ext uri="{FF2B5EF4-FFF2-40B4-BE49-F238E27FC236}">
                <a16:creationId xmlns:a16="http://schemas.microsoft.com/office/drawing/2014/main" id="{E6482679-9AB0-5541-BF89-93062662AF98}"/>
              </a:ext>
            </a:extLst>
          </p:cNvPr>
          <p:cNvGrpSpPr/>
          <p:nvPr/>
        </p:nvGrpSpPr>
        <p:grpSpPr>
          <a:xfrm>
            <a:off x="4319927" y="983503"/>
            <a:ext cx="309700" cy="224238"/>
            <a:chOff x="770743" y="3715228"/>
            <a:chExt cx="309700" cy="224238"/>
          </a:xfrm>
        </p:grpSpPr>
        <p:sp>
          <p:nvSpPr>
            <p:cNvPr id="363" name="Oval 362">
              <a:extLst>
                <a:ext uri="{FF2B5EF4-FFF2-40B4-BE49-F238E27FC236}">
                  <a16:creationId xmlns:a16="http://schemas.microsoft.com/office/drawing/2014/main" id="{0C24FACA-1CFE-B346-89AB-EB0E90F543B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4" name="Rectangle 363">
              <a:extLst>
                <a:ext uri="{FF2B5EF4-FFF2-40B4-BE49-F238E27FC236}">
                  <a16:creationId xmlns:a16="http://schemas.microsoft.com/office/drawing/2014/main" id="{64C22221-FE7F-7946-B113-969909E0FA5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365" name="Group 364">
            <a:extLst>
              <a:ext uri="{FF2B5EF4-FFF2-40B4-BE49-F238E27FC236}">
                <a16:creationId xmlns:a16="http://schemas.microsoft.com/office/drawing/2014/main" id="{2C13EA5E-21CD-1946-88C4-D8A584B17387}"/>
              </a:ext>
            </a:extLst>
          </p:cNvPr>
          <p:cNvGrpSpPr/>
          <p:nvPr/>
        </p:nvGrpSpPr>
        <p:grpSpPr>
          <a:xfrm>
            <a:off x="8280687" y="1478795"/>
            <a:ext cx="360996" cy="224238"/>
            <a:chOff x="736857" y="3715228"/>
            <a:chExt cx="360996" cy="224238"/>
          </a:xfrm>
        </p:grpSpPr>
        <p:sp>
          <p:nvSpPr>
            <p:cNvPr id="366" name="Oval 365">
              <a:extLst>
                <a:ext uri="{FF2B5EF4-FFF2-40B4-BE49-F238E27FC236}">
                  <a16:creationId xmlns:a16="http://schemas.microsoft.com/office/drawing/2014/main" id="{65A20A3F-C204-4E4F-8867-1B299AF2D0C6}"/>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7" name="Rectangle 366">
              <a:extLst>
                <a:ext uri="{FF2B5EF4-FFF2-40B4-BE49-F238E27FC236}">
                  <a16:creationId xmlns:a16="http://schemas.microsoft.com/office/drawing/2014/main" id="{23FEEFD6-358C-A543-9BF3-275D2038378C}"/>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2" name="Group 431">
            <a:extLst>
              <a:ext uri="{FF2B5EF4-FFF2-40B4-BE49-F238E27FC236}">
                <a16:creationId xmlns:a16="http://schemas.microsoft.com/office/drawing/2014/main" id="{4848BB5E-72D6-154B-A4A4-863172845016}"/>
              </a:ext>
            </a:extLst>
          </p:cNvPr>
          <p:cNvGrpSpPr/>
          <p:nvPr/>
        </p:nvGrpSpPr>
        <p:grpSpPr>
          <a:xfrm>
            <a:off x="8214558" y="1260018"/>
            <a:ext cx="1620000" cy="796276"/>
            <a:chOff x="3810000" y="2015069"/>
            <a:chExt cx="1390650" cy="1596814"/>
          </a:xfrm>
          <a:solidFill>
            <a:schemeClr val="accent2"/>
          </a:solidFill>
        </p:grpSpPr>
        <p:sp>
          <p:nvSpPr>
            <p:cNvPr id="433" name="L-Shape 432">
              <a:extLst>
                <a:ext uri="{FF2B5EF4-FFF2-40B4-BE49-F238E27FC236}">
                  <a16:creationId xmlns:a16="http://schemas.microsoft.com/office/drawing/2014/main" id="{ABB06B6F-0697-9948-91DD-97E59BB658B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4" name="L-Shape 433">
              <a:extLst>
                <a:ext uri="{FF2B5EF4-FFF2-40B4-BE49-F238E27FC236}">
                  <a16:creationId xmlns:a16="http://schemas.microsoft.com/office/drawing/2014/main" id="{6F827A64-8AAF-EF46-AB91-B3C3D179257E}"/>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61" name="Rectangle 260">
            <a:extLst>
              <a:ext uri="{FF2B5EF4-FFF2-40B4-BE49-F238E27FC236}">
                <a16:creationId xmlns:a16="http://schemas.microsoft.com/office/drawing/2014/main" id="{7D589F33-412C-C04F-9D4C-22CB2DF46F6D}"/>
              </a:ext>
            </a:extLst>
          </p:cNvPr>
          <p:cNvSpPr/>
          <p:nvPr/>
        </p:nvSpPr>
        <p:spPr>
          <a:xfrm>
            <a:off x="852876" y="2301814"/>
            <a:ext cx="107440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2" name="Group 261">
            <a:extLst>
              <a:ext uri="{FF2B5EF4-FFF2-40B4-BE49-F238E27FC236}">
                <a16:creationId xmlns:a16="http://schemas.microsoft.com/office/drawing/2014/main" id="{39BD8842-D79D-5F49-BCC7-179B9AC6B8FC}"/>
              </a:ext>
            </a:extLst>
          </p:cNvPr>
          <p:cNvGrpSpPr/>
          <p:nvPr/>
        </p:nvGrpSpPr>
        <p:grpSpPr>
          <a:xfrm>
            <a:off x="1059434" y="2575166"/>
            <a:ext cx="10188967" cy="756004"/>
            <a:chOff x="926134" y="1719856"/>
            <a:chExt cx="9204181" cy="750147"/>
          </a:xfrm>
        </p:grpSpPr>
        <p:sp>
          <p:nvSpPr>
            <p:cNvPr id="263" name="TextBox 262">
              <a:extLst>
                <a:ext uri="{FF2B5EF4-FFF2-40B4-BE49-F238E27FC236}">
                  <a16:creationId xmlns:a16="http://schemas.microsoft.com/office/drawing/2014/main" id="{04B6B197-720B-864A-99DC-3D55454A5B1D}"/>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고객 </a:t>
              </a:r>
              <a:r>
                <a:rPr lang="en-US" altLang="ko-KR" sz="2000" dirty="0">
                  <a:solidFill>
                    <a:schemeClr val="dk1"/>
                  </a:solidFill>
                  <a:latin typeface="Calibri"/>
                  <a:ea typeface="Calibri"/>
                  <a:cs typeface="Calibri"/>
                  <a:sym typeface="Calibri"/>
                </a:rPr>
                <a:t>D</a:t>
              </a:r>
              <a:r>
                <a:rPr lang="ko-KR" altLang="en-US" sz="2000" dirty="0">
                  <a:solidFill>
                    <a:schemeClr val="dk1"/>
                  </a:solidFill>
                  <a:latin typeface="Calibri"/>
                  <a:ea typeface="Calibri"/>
                  <a:cs typeface="Calibri"/>
                  <a:sym typeface="Calibri"/>
                </a:rPr>
                <a:t>가 일부 상품을 구매하고</a:t>
              </a:r>
              <a:r>
                <a:rPr lang="en-US" altLang="ko-KR" sz="2000" dirty="0">
                  <a:solidFill>
                    <a:schemeClr val="dk1"/>
                  </a:solidFill>
                  <a:latin typeface="Calibri"/>
                  <a:ea typeface="Calibri"/>
                  <a:cs typeface="Calibri"/>
                  <a:sym typeface="Calibri"/>
                </a:rPr>
                <a:t>, </a:t>
              </a:r>
              <a:r>
                <a:rPr lang="ko-KR" altLang="en-US" sz="2000" dirty="0">
                  <a:solidFill>
                    <a:schemeClr val="dk1"/>
                  </a:solidFill>
                  <a:latin typeface="Calibri"/>
                  <a:ea typeface="Calibri"/>
                  <a:cs typeface="Calibri"/>
                  <a:sym typeface="Calibri"/>
                </a:rPr>
                <a:t>결제 수단으로 상품권을 제시함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264" name="TextBox 263">
              <a:extLst>
                <a:ext uri="{FF2B5EF4-FFF2-40B4-BE49-F238E27FC236}">
                  <a16:creationId xmlns:a16="http://schemas.microsoft.com/office/drawing/2014/main" id="{8BD0F924-B979-DA44-ABFB-88C4B12E3EEB}"/>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dirty="0">
                  <a:solidFill>
                    <a:schemeClr val="bg1">
                      <a:lumMod val="75000"/>
                    </a:schemeClr>
                  </a:solidFill>
                  <a:latin typeface="Avenir"/>
                  <a:ea typeface="Helvetica" charset="0"/>
                  <a:cs typeface="Helvetica" charset="0"/>
                </a:rPr>
                <a:t>Deferred revenue</a:t>
              </a:r>
            </a:p>
            <a:p>
              <a:pPr algn="ctr"/>
              <a:r>
                <a:rPr lang="en-GB" b="1" dirty="0">
                  <a:solidFill>
                    <a:schemeClr val="bg1">
                      <a:lumMod val="75000"/>
                    </a:schemeClr>
                  </a:solidFill>
                  <a:latin typeface="Avenir"/>
                  <a:ea typeface="Helvetica" charset="0"/>
                  <a:cs typeface="Helvetica" charset="0"/>
                </a:rPr>
                <a:t>90</a:t>
              </a:r>
            </a:p>
          </p:txBody>
        </p:sp>
        <p:sp>
          <p:nvSpPr>
            <p:cNvPr id="265" name="TextBox 264">
              <a:extLst>
                <a:ext uri="{FF2B5EF4-FFF2-40B4-BE49-F238E27FC236}">
                  <a16:creationId xmlns:a16="http://schemas.microsoft.com/office/drawing/2014/main" id="{BCB2FEB0-6E2E-8143-86AF-D83B3DD452D3}"/>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Sales</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90</a:t>
              </a:r>
            </a:p>
          </p:txBody>
        </p:sp>
        <p:sp>
          <p:nvSpPr>
            <p:cNvPr id="266" name="TextBox 265">
              <a:extLst>
                <a:ext uri="{FF2B5EF4-FFF2-40B4-BE49-F238E27FC236}">
                  <a16:creationId xmlns:a16="http://schemas.microsoft.com/office/drawing/2014/main" id="{5371502A-EDAE-F242-B516-B069907C04E1}"/>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000">
                  <a:latin typeface="Avenir"/>
                  <a:ea typeface="Helvetica" charset="0"/>
                  <a:cs typeface="Helvetica" charset="0"/>
                </a:rPr>
                <a:t>12a</a:t>
              </a:r>
            </a:p>
          </p:txBody>
        </p:sp>
      </p:grpSp>
      <p:sp>
        <p:nvSpPr>
          <p:cNvPr id="267" name="TextBox 266">
            <a:extLst>
              <a:ext uri="{FF2B5EF4-FFF2-40B4-BE49-F238E27FC236}">
                <a16:creationId xmlns:a16="http://schemas.microsoft.com/office/drawing/2014/main" id="{10C7466A-0DC9-DE4E-8C58-1E14B8F0DEBF}"/>
              </a:ext>
            </a:extLst>
          </p:cNvPr>
          <p:cNvSpPr txBox="1"/>
          <p:nvPr/>
        </p:nvSpPr>
        <p:spPr>
          <a:xfrm>
            <a:off x="7881580" y="2570977"/>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90</a:t>
            </a:r>
          </a:p>
        </p:txBody>
      </p:sp>
      <p:sp>
        <p:nvSpPr>
          <p:cNvPr id="268" name="TextBox 267">
            <a:extLst>
              <a:ext uri="{FF2B5EF4-FFF2-40B4-BE49-F238E27FC236}">
                <a16:creationId xmlns:a16="http://schemas.microsoft.com/office/drawing/2014/main" id="{3484D381-6216-E34B-9CA2-706B83F36597}"/>
              </a:ext>
            </a:extLst>
          </p:cNvPr>
          <p:cNvSpPr txBox="1"/>
          <p:nvPr/>
        </p:nvSpPr>
        <p:spPr>
          <a:xfrm>
            <a:off x="9564650" y="2575090"/>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90</a:t>
            </a:r>
          </a:p>
        </p:txBody>
      </p:sp>
      <p:sp>
        <p:nvSpPr>
          <p:cNvPr id="269" name="Down Arrow 268">
            <a:extLst>
              <a:ext uri="{FF2B5EF4-FFF2-40B4-BE49-F238E27FC236}">
                <a16:creationId xmlns:a16="http://schemas.microsoft.com/office/drawing/2014/main" id="{46827AC9-1F80-C44D-BDF0-45E4C8062BB9}"/>
              </a:ext>
            </a:extLst>
          </p:cNvPr>
          <p:cNvSpPr/>
          <p:nvPr/>
        </p:nvSpPr>
        <p:spPr>
          <a:xfrm>
            <a:off x="11196000" y="839631"/>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0" name="Down Arrow 269">
            <a:extLst>
              <a:ext uri="{FF2B5EF4-FFF2-40B4-BE49-F238E27FC236}">
                <a16:creationId xmlns:a16="http://schemas.microsoft.com/office/drawing/2014/main" id="{C1EA116E-FC95-3F4C-9F5D-08AA78CFF2AD}"/>
              </a:ext>
            </a:extLst>
          </p:cNvPr>
          <p:cNvSpPr/>
          <p:nvPr/>
        </p:nvSpPr>
        <p:spPr>
          <a:xfrm rot="10800000">
            <a:off x="11196000" y="4551867"/>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0" name="TextBox 209">
            <a:extLst>
              <a:ext uri="{FF2B5EF4-FFF2-40B4-BE49-F238E27FC236}">
                <a16:creationId xmlns:a16="http://schemas.microsoft.com/office/drawing/2014/main" id="{3F57302F-9BA7-2345-A107-C9F677128D25}"/>
              </a:ext>
            </a:extLst>
          </p:cNvPr>
          <p:cNvSpPr txBox="1"/>
          <p:nvPr/>
        </p:nvSpPr>
        <p:spPr>
          <a:xfrm>
            <a:off x="6403128" y="3420567"/>
            <a:ext cx="1548343" cy="566133"/>
          </a:xfrm>
          <a:prstGeom prst="rect">
            <a:avLst/>
          </a:prstGeom>
          <a:noFill/>
        </p:spPr>
        <p:txBody>
          <a:bodyPr wrap="square" rtlCol="0" anchor="ctr">
            <a:noAutofit/>
          </a:bodyPr>
          <a:lstStyle/>
          <a:p>
            <a:pPr algn="ctr"/>
            <a:r>
              <a:rPr lang="en-US" sz="2400" b="1">
                <a:latin typeface="Avenir"/>
              </a:rPr>
              <a:t>490</a:t>
            </a:r>
            <a:endParaRPr lang="en-GB" sz="2400"/>
          </a:p>
        </p:txBody>
      </p:sp>
      <p:sp>
        <p:nvSpPr>
          <p:cNvPr id="214" name="TextBox 213">
            <a:extLst>
              <a:ext uri="{FF2B5EF4-FFF2-40B4-BE49-F238E27FC236}">
                <a16:creationId xmlns:a16="http://schemas.microsoft.com/office/drawing/2014/main" id="{C04214ED-F0B2-654E-A083-20C2588F9BE8}"/>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400</a:t>
            </a:r>
            <a:endParaRPr lang="en-GB" sz="2400"/>
          </a:p>
        </p:txBody>
      </p:sp>
    </p:spTree>
    <p:extLst>
      <p:ext uri="{BB962C8B-B14F-4D97-AF65-F5344CB8AC3E}">
        <p14:creationId xmlns:p14="http://schemas.microsoft.com/office/powerpoint/2010/main" val="3048914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375E-6 4.44444E-6 L -0.20131 0.33842 " pathEditMode="relative" rAng="0" ptsTypes="AA">
                                      <p:cBhvr>
                                        <p:cTn id="6" dur="3000" fill="hold"/>
                                        <p:tgtEl>
                                          <p:spTgt spid="268"/>
                                        </p:tgtEl>
                                        <p:attrNameLst>
                                          <p:attrName>ppt_x</p:attrName>
                                          <p:attrName>ppt_y</p:attrName>
                                        </p:attrNameLst>
                                      </p:cBhvr>
                                      <p:rCtr x="-10065" y="16921"/>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268"/>
                                        </p:tgtEl>
                                        <p:attrNameLst>
                                          <p:attrName>ppt_w</p:attrName>
                                        </p:attrNameLst>
                                      </p:cBhvr>
                                      <p:tavLst>
                                        <p:tav tm="0">
                                          <p:val>
                                            <p:strVal val="ppt_w"/>
                                          </p:val>
                                        </p:tav>
                                        <p:tav tm="100000">
                                          <p:val>
                                            <p:fltVal val="0"/>
                                          </p:val>
                                        </p:tav>
                                      </p:tavLst>
                                    </p:anim>
                                    <p:anim calcmode="lin" valueType="num">
                                      <p:cBhvr>
                                        <p:cTn id="10" dur="1000"/>
                                        <p:tgtEl>
                                          <p:spTgt spid="268"/>
                                        </p:tgtEl>
                                        <p:attrNameLst>
                                          <p:attrName>ppt_h</p:attrName>
                                        </p:attrNameLst>
                                      </p:cBhvr>
                                      <p:tavLst>
                                        <p:tav tm="0">
                                          <p:val>
                                            <p:strVal val="ppt_h"/>
                                          </p:val>
                                        </p:tav>
                                        <p:tav tm="100000">
                                          <p:val>
                                            <p:fltVal val="0"/>
                                          </p:val>
                                        </p:tav>
                                      </p:tavLst>
                                    </p:anim>
                                    <p:anim calcmode="lin" valueType="num">
                                      <p:cBhvr>
                                        <p:cTn id="11" dur="1000"/>
                                        <p:tgtEl>
                                          <p:spTgt spid="268"/>
                                        </p:tgtEl>
                                        <p:attrNameLst>
                                          <p:attrName>style.rotation</p:attrName>
                                        </p:attrNameLst>
                                      </p:cBhvr>
                                      <p:tavLst>
                                        <p:tav tm="0">
                                          <p:val>
                                            <p:fltVal val="0"/>
                                          </p:val>
                                        </p:tav>
                                        <p:tav tm="100000">
                                          <p:val>
                                            <p:fltVal val="90"/>
                                          </p:val>
                                        </p:tav>
                                      </p:tavLst>
                                    </p:anim>
                                    <p:animEffect transition="out" filter="fade">
                                      <p:cBhvr>
                                        <p:cTn id="12" dur="1000"/>
                                        <p:tgtEl>
                                          <p:spTgt spid="268"/>
                                        </p:tgtEl>
                                      </p:cBhvr>
                                    </p:animEffect>
                                    <p:set>
                                      <p:cBhvr>
                                        <p:cTn id="13" dur="1" fill="hold">
                                          <p:stCondLst>
                                            <p:cond delay="999"/>
                                          </p:stCondLst>
                                        </p:cTn>
                                        <p:tgtEl>
                                          <p:spTgt spid="268"/>
                                        </p:tgtEl>
                                        <p:attrNameLst>
                                          <p:attrName>style.visibility</p:attrName>
                                        </p:attrNameLst>
                                      </p:cBhvr>
                                      <p:to>
                                        <p:strVal val="hidden"/>
                                      </p:to>
                                    </p:set>
                                  </p:childTnLst>
                                </p:cTn>
                              </p:par>
                              <p:par>
                                <p:cTn id="14" presetID="42" presetClass="entr" presetSubtype="0" fill="hold" nodeType="withEffect">
                                  <p:stCondLst>
                                    <p:cond delay="0"/>
                                  </p:stCondLst>
                                  <p:childTnLst>
                                    <p:set>
                                      <p:cBhvr>
                                        <p:cTn id="15" dur="1" fill="hold">
                                          <p:stCondLst>
                                            <p:cond delay="0"/>
                                          </p:stCondLst>
                                        </p:cTn>
                                        <p:tgtEl>
                                          <p:spTgt spid="344"/>
                                        </p:tgtEl>
                                        <p:attrNameLst>
                                          <p:attrName>style.visibility</p:attrName>
                                        </p:attrNameLst>
                                      </p:cBhvr>
                                      <p:to>
                                        <p:strVal val="visible"/>
                                      </p:to>
                                    </p:set>
                                    <p:animEffect transition="in" filter="fade">
                                      <p:cBhvr>
                                        <p:cTn id="16" dur="1000"/>
                                        <p:tgtEl>
                                          <p:spTgt spid="344"/>
                                        </p:tgtEl>
                                      </p:cBhvr>
                                    </p:animEffect>
                                    <p:anim calcmode="lin" valueType="num">
                                      <p:cBhvr>
                                        <p:cTn id="17" dur="1000" fill="hold"/>
                                        <p:tgtEl>
                                          <p:spTgt spid="344"/>
                                        </p:tgtEl>
                                        <p:attrNameLst>
                                          <p:attrName>ppt_x</p:attrName>
                                        </p:attrNameLst>
                                      </p:cBhvr>
                                      <p:tavLst>
                                        <p:tav tm="0">
                                          <p:val>
                                            <p:strVal val="#ppt_x"/>
                                          </p:val>
                                        </p:tav>
                                        <p:tav tm="100000">
                                          <p:val>
                                            <p:strVal val="#ppt_x"/>
                                          </p:val>
                                        </p:tav>
                                      </p:tavLst>
                                    </p:anim>
                                    <p:anim calcmode="lin" valueType="num">
                                      <p:cBhvr>
                                        <p:cTn id="18" dur="1000" fill="hold"/>
                                        <p:tgtEl>
                                          <p:spTgt spid="344"/>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48"/>
                                        </p:tgtEl>
                                        <p:attrNameLst>
                                          <p:attrName>style.visibility</p:attrName>
                                        </p:attrNameLst>
                                      </p:cBhvr>
                                      <p:to>
                                        <p:strVal val="visible"/>
                                      </p:to>
                                    </p:set>
                                    <p:animEffect transition="in" filter="fade">
                                      <p:cBhvr>
                                        <p:cTn id="21" dur="1000"/>
                                        <p:tgtEl>
                                          <p:spTgt spid="248"/>
                                        </p:tgtEl>
                                      </p:cBhvr>
                                    </p:animEffect>
                                    <p:anim calcmode="lin" valueType="num">
                                      <p:cBhvr>
                                        <p:cTn id="22" dur="1000" fill="hold"/>
                                        <p:tgtEl>
                                          <p:spTgt spid="248"/>
                                        </p:tgtEl>
                                        <p:attrNameLst>
                                          <p:attrName>ppt_x</p:attrName>
                                        </p:attrNameLst>
                                      </p:cBhvr>
                                      <p:tavLst>
                                        <p:tav tm="0">
                                          <p:val>
                                            <p:strVal val="#ppt_x"/>
                                          </p:val>
                                        </p:tav>
                                        <p:tav tm="100000">
                                          <p:val>
                                            <p:strVal val="#ppt_x"/>
                                          </p:val>
                                        </p:tav>
                                      </p:tavLst>
                                    </p:anim>
                                    <p:anim calcmode="lin" valueType="num">
                                      <p:cBhvr>
                                        <p:cTn id="23" dur="1000" fill="hold"/>
                                        <p:tgtEl>
                                          <p:spTgt spid="24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47"/>
                                        </p:tgtEl>
                                        <p:attrNameLst>
                                          <p:attrName>style.visibility</p:attrName>
                                        </p:attrNameLst>
                                      </p:cBhvr>
                                      <p:to>
                                        <p:strVal val="visible"/>
                                      </p:to>
                                    </p:set>
                                    <p:animEffect transition="in" filter="fade">
                                      <p:cBhvr>
                                        <p:cTn id="26" dur="1000"/>
                                        <p:tgtEl>
                                          <p:spTgt spid="247"/>
                                        </p:tgtEl>
                                      </p:cBhvr>
                                    </p:animEffect>
                                    <p:anim calcmode="lin" valueType="num">
                                      <p:cBhvr>
                                        <p:cTn id="27" dur="1000" fill="hold"/>
                                        <p:tgtEl>
                                          <p:spTgt spid="247"/>
                                        </p:tgtEl>
                                        <p:attrNameLst>
                                          <p:attrName>ppt_x</p:attrName>
                                        </p:attrNameLst>
                                      </p:cBhvr>
                                      <p:tavLst>
                                        <p:tav tm="0">
                                          <p:val>
                                            <p:strVal val="#ppt_x"/>
                                          </p:val>
                                        </p:tav>
                                        <p:tav tm="100000">
                                          <p:val>
                                            <p:strVal val="#ppt_x"/>
                                          </p:val>
                                        </p:tav>
                                      </p:tavLst>
                                    </p:anim>
                                    <p:anim calcmode="lin" valueType="num">
                                      <p:cBhvr>
                                        <p:cTn id="28" dur="1000" fill="hold"/>
                                        <p:tgtEl>
                                          <p:spTgt spid="247"/>
                                        </p:tgtEl>
                                        <p:attrNameLst>
                                          <p:attrName>ppt_y</p:attrName>
                                        </p:attrNameLst>
                                      </p:cBhvr>
                                      <p:tavLst>
                                        <p:tav tm="0">
                                          <p:val>
                                            <p:strVal val="#ppt_y+.1"/>
                                          </p:val>
                                        </p:tav>
                                        <p:tav tm="100000">
                                          <p:val>
                                            <p:strVal val="#ppt_y"/>
                                          </p:val>
                                        </p:tav>
                                      </p:tavLst>
                                    </p:anim>
                                  </p:childTnLst>
                                </p:cTn>
                              </p:par>
                            </p:childTnLst>
                          </p:cTn>
                        </p:par>
                        <p:par>
                          <p:cTn id="29" fill="hold">
                            <p:stCondLst>
                              <p:cond delay="4000"/>
                            </p:stCondLst>
                            <p:childTnLst>
                              <p:par>
                                <p:cTn id="30" presetID="10" presetClass="entr" presetSubtype="0" fill="hold" grpId="0" nodeType="afterEffect">
                                  <p:stCondLst>
                                    <p:cond delay="0"/>
                                  </p:stCondLst>
                                  <p:childTnLst>
                                    <p:set>
                                      <p:cBhvr>
                                        <p:cTn id="31" dur="1" fill="hold">
                                          <p:stCondLst>
                                            <p:cond delay="0"/>
                                          </p:stCondLst>
                                        </p:cTn>
                                        <p:tgtEl>
                                          <p:spTgt spid="210"/>
                                        </p:tgtEl>
                                        <p:attrNameLst>
                                          <p:attrName>style.visibility</p:attrName>
                                        </p:attrNameLst>
                                      </p:cBhvr>
                                      <p:to>
                                        <p:strVal val="visible"/>
                                      </p:to>
                                    </p:set>
                                    <p:animEffect transition="in" filter="fade">
                                      <p:cBhvr>
                                        <p:cTn id="32" dur="1000"/>
                                        <p:tgtEl>
                                          <p:spTgt spid="210"/>
                                        </p:tgtEl>
                                      </p:cBhvr>
                                    </p:animEffect>
                                  </p:childTnLst>
                                </p:cTn>
                              </p:par>
                              <p:par>
                                <p:cTn id="33" presetID="10" presetClass="exit" presetSubtype="0" fill="hold" grpId="0" nodeType="withEffect">
                                  <p:stCondLst>
                                    <p:cond delay="0"/>
                                  </p:stCondLst>
                                  <p:childTnLst>
                                    <p:animEffect transition="out" filter="fade">
                                      <p:cBhvr>
                                        <p:cTn id="34" dur="500"/>
                                        <p:tgtEl>
                                          <p:spTgt spid="214"/>
                                        </p:tgtEl>
                                      </p:cBhvr>
                                    </p:animEffect>
                                    <p:set>
                                      <p:cBhvr>
                                        <p:cTn id="35" dur="1" fill="hold">
                                          <p:stCondLst>
                                            <p:cond delay="499"/>
                                          </p:stCondLst>
                                        </p:cTn>
                                        <p:tgtEl>
                                          <p:spTgt spid="214"/>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42" presetClass="path" presetSubtype="0" accel="50000" decel="50000" fill="hold" grpId="0" nodeType="clickEffect">
                                  <p:stCondLst>
                                    <p:cond delay="0"/>
                                  </p:stCondLst>
                                  <p:childTnLst>
                                    <p:animMotion origin="layout" path="M -4.79167E-6 -2.59259E-6 L -0.02591 -0.2618 " pathEditMode="relative" rAng="0" ptsTypes="AA">
                                      <p:cBhvr>
                                        <p:cTn id="39" dur="3000" fill="hold"/>
                                        <p:tgtEl>
                                          <p:spTgt spid="267"/>
                                        </p:tgtEl>
                                        <p:attrNameLst>
                                          <p:attrName>ppt_x</p:attrName>
                                          <p:attrName>ppt_y</p:attrName>
                                        </p:attrNameLst>
                                      </p:cBhvr>
                                      <p:rCtr x="-1302" y="-13102"/>
                                    </p:animMotion>
                                  </p:childTnLst>
                                </p:cTn>
                              </p:par>
                            </p:childTnLst>
                          </p:cTn>
                        </p:par>
                        <p:par>
                          <p:cTn id="40" fill="hold">
                            <p:stCondLst>
                              <p:cond delay="3000"/>
                            </p:stCondLst>
                            <p:childTnLst>
                              <p:par>
                                <p:cTn id="41" presetID="31" presetClass="exit" presetSubtype="0" fill="hold" grpId="1" nodeType="afterEffect">
                                  <p:stCondLst>
                                    <p:cond delay="0"/>
                                  </p:stCondLst>
                                  <p:childTnLst>
                                    <p:anim calcmode="lin" valueType="num">
                                      <p:cBhvr>
                                        <p:cTn id="42" dur="1000"/>
                                        <p:tgtEl>
                                          <p:spTgt spid="267"/>
                                        </p:tgtEl>
                                        <p:attrNameLst>
                                          <p:attrName>ppt_w</p:attrName>
                                        </p:attrNameLst>
                                      </p:cBhvr>
                                      <p:tavLst>
                                        <p:tav tm="0">
                                          <p:val>
                                            <p:strVal val="ppt_w"/>
                                          </p:val>
                                        </p:tav>
                                        <p:tav tm="100000">
                                          <p:val>
                                            <p:fltVal val="0"/>
                                          </p:val>
                                        </p:tav>
                                      </p:tavLst>
                                    </p:anim>
                                    <p:anim calcmode="lin" valueType="num">
                                      <p:cBhvr>
                                        <p:cTn id="43" dur="1000"/>
                                        <p:tgtEl>
                                          <p:spTgt spid="267"/>
                                        </p:tgtEl>
                                        <p:attrNameLst>
                                          <p:attrName>ppt_h</p:attrName>
                                        </p:attrNameLst>
                                      </p:cBhvr>
                                      <p:tavLst>
                                        <p:tav tm="0">
                                          <p:val>
                                            <p:strVal val="ppt_h"/>
                                          </p:val>
                                        </p:tav>
                                        <p:tav tm="100000">
                                          <p:val>
                                            <p:fltVal val="0"/>
                                          </p:val>
                                        </p:tav>
                                      </p:tavLst>
                                    </p:anim>
                                    <p:anim calcmode="lin" valueType="num">
                                      <p:cBhvr>
                                        <p:cTn id="44" dur="1000"/>
                                        <p:tgtEl>
                                          <p:spTgt spid="267"/>
                                        </p:tgtEl>
                                        <p:attrNameLst>
                                          <p:attrName>style.rotation</p:attrName>
                                        </p:attrNameLst>
                                      </p:cBhvr>
                                      <p:tavLst>
                                        <p:tav tm="0">
                                          <p:val>
                                            <p:fltVal val="0"/>
                                          </p:val>
                                        </p:tav>
                                        <p:tav tm="100000">
                                          <p:val>
                                            <p:fltVal val="90"/>
                                          </p:val>
                                        </p:tav>
                                      </p:tavLst>
                                    </p:anim>
                                    <p:animEffect transition="out" filter="fade">
                                      <p:cBhvr>
                                        <p:cTn id="45" dur="1000"/>
                                        <p:tgtEl>
                                          <p:spTgt spid="267"/>
                                        </p:tgtEl>
                                      </p:cBhvr>
                                    </p:animEffect>
                                    <p:set>
                                      <p:cBhvr>
                                        <p:cTn id="46" dur="1" fill="hold">
                                          <p:stCondLst>
                                            <p:cond delay="999"/>
                                          </p:stCondLst>
                                        </p:cTn>
                                        <p:tgtEl>
                                          <p:spTgt spid="267"/>
                                        </p:tgtEl>
                                        <p:attrNameLst>
                                          <p:attrName>style.visibility</p:attrName>
                                        </p:attrNameLst>
                                      </p:cBhvr>
                                      <p:to>
                                        <p:strVal val="hidden"/>
                                      </p:to>
                                    </p:set>
                                  </p:childTnLst>
                                </p:cTn>
                              </p:par>
                              <p:par>
                                <p:cTn id="47" presetID="47" presetClass="entr" presetSubtype="0" fill="hold" nodeType="withEffect">
                                  <p:stCondLst>
                                    <p:cond delay="0"/>
                                  </p:stCondLst>
                                  <p:childTnLst>
                                    <p:set>
                                      <p:cBhvr>
                                        <p:cTn id="48" dur="1" fill="hold">
                                          <p:stCondLst>
                                            <p:cond delay="0"/>
                                          </p:stCondLst>
                                        </p:cTn>
                                        <p:tgtEl>
                                          <p:spTgt spid="365"/>
                                        </p:tgtEl>
                                        <p:attrNameLst>
                                          <p:attrName>style.visibility</p:attrName>
                                        </p:attrNameLst>
                                      </p:cBhvr>
                                      <p:to>
                                        <p:strVal val="visible"/>
                                      </p:to>
                                    </p:set>
                                    <p:animEffect transition="in" filter="fade">
                                      <p:cBhvr>
                                        <p:cTn id="49" dur="1000"/>
                                        <p:tgtEl>
                                          <p:spTgt spid="365"/>
                                        </p:tgtEl>
                                      </p:cBhvr>
                                    </p:animEffect>
                                    <p:anim calcmode="lin" valueType="num">
                                      <p:cBhvr>
                                        <p:cTn id="50" dur="1000" fill="hold"/>
                                        <p:tgtEl>
                                          <p:spTgt spid="365"/>
                                        </p:tgtEl>
                                        <p:attrNameLst>
                                          <p:attrName>ppt_x</p:attrName>
                                        </p:attrNameLst>
                                      </p:cBhvr>
                                      <p:tavLst>
                                        <p:tav tm="0">
                                          <p:val>
                                            <p:strVal val="#ppt_x"/>
                                          </p:val>
                                        </p:tav>
                                        <p:tav tm="100000">
                                          <p:val>
                                            <p:strVal val="#ppt_x"/>
                                          </p:val>
                                        </p:tav>
                                      </p:tavLst>
                                    </p:anim>
                                    <p:anim calcmode="lin" valueType="num">
                                      <p:cBhvr>
                                        <p:cTn id="51" dur="1000" fill="hold"/>
                                        <p:tgtEl>
                                          <p:spTgt spid="365"/>
                                        </p:tgtEl>
                                        <p:attrNameLst>
                                          <p:attrName>ppt_y</p:attrName>
                                        </p:attrNameLst>
                                      </p:cBhvr>
                                      <p:tavLst>
                                        <p:tav tm="0">
                                          <p:val>
                                            <p:strVal val="#ppt_y-.1"/>
                                          </p:val>
                                        </p:tav>
                                        <p:tav tm="100000">
                                          <p:val>
                                            <p:strVal val="#ppt_y"/>
                                          </p:val>
                                        </p:tav>
                                      </p:tavLst>
                                    </p:anim>
                                  </p:childTnLst>
                                </p:cTn>
                              </p:par>
                              <p:par>
                                <p:cTn id="52" presetID="47" presetClass="entr" presetSubtype="0" fill="hold" grpId="0" nodeType="withEffect">
                                  <p:stCondLst>
                                    <p:cond delay="0"/>
                                  </p:stCondLst>
                                  <p:childTnLst>
                                    <p:set>
                                      <p:cBhvr>
                                        <p:cTn id="53" dur="1" fill="hold">
                                          <p:stCondLst>
                                            <p:cond delay="0"/>
                                          </p:stCondLst>
                                        </p:cTn>
                                        <p:tgtEl>
                                          <p:spTgt spid="250"/>
                                        </p:tgtEl>
                                        <p:attrNameLst>
                                          <p:attrName>style.visibility</p:attrName>
                                        </p:attrNameLst>
                                      </p:cBhvr>
                                      <p:to>
                                        <p:strVal val="visible"/>
                                      </p:to>
                                    </p:set>
                                    <p:animEffect transition="in" filter="fade">
                                      <p:cBhvr>
                                        <p:cTn id="54" dur="1000"/>
                                        <p:tgtEl>
                                          <p:spTgt spid="250"/>
                                        </p:tgtEl>
                                      </p:cBhvr>
                                    </p:animEffect>
                                    <p:anim calcmode="lin" valueType="num">
                                      <p:cBhvr>
                                        <p:cTn id="55" dur="1000" fill="hold"/>
                                        <p:tgtEl>
                                          <p:spTgt spid="250"/>
                                        </p:tgtEl>
                                        <p:attrNameLst>
                                          <p:attrName>ppt_x</p:attrName>
                                        </p:attrNameLst>
                                      </p:cBhvr>
                                      <p:tavLst>
                                        <p:tav tm="0">
                                          <p:val>
                                            <p:strVal val="#ppt_x"/>
                                          </p:val>
                                        </p:tav>
                                        <p:tav tm="100000">
                                          <p:val>
                                            <p:strVal val="#ppt_x"/>
                                          </p:val>
                                        </p:tav>
                                      </p:tavLst>
                                    </p:anim>
                                    <p:anim calcmode="lin" valueType="num">
                                      <p:cBhvr>
                                        <p:cTn id="56" dur="1000" fill="hold"/>
                                        <p:tgtEl>
                                          <p:spTgt spid="250"/>
                                        </p:tgtEl>
                                        <p:attrNameLst>
                                          <p:attrName>ppt_y</p:attrName>
                                        </p:attrNameLst>
                                      </p:cBhvr>
                                      <p:tavLst>
                                        <p:tav tm="0">
                                          <p:val>
                                            <p:strVal val="#ppt_y-.1"/>
                                          </p:val>
                                        </p:tav>
                                        <p:tav tm="100000">
                                          <p:val>
                                            <p:strVal val="#ppt_y"/>
                                          </p:val>
                                        </p:tav>
                                      </p:tavLst>
                                    </p:anim>
                                  </p:childTnLst>
                                </p:cTn>
                              </p:par>
                              <p:par>
                                <p:cTn id="57" presetID="47" presetClass="entr" presetSubtype="0" fill="hold" grpId="0" nodeType="withEffect">
                                  <p:stCondLst>
                                    <p:cond delay="0"/>
                                  </p:stCondLst>
                                  <p:childTnLst>
                                    <p:set>
                                      <p:cBhvr>
                                        <p:cTn id="58" dur="1" fill="hold">
                                          <p:stCondLst>
                                            <p:cond delay="0"/>
                                          </p:stCondLst>
                                        </p:cTn>
                                        <p:tgtEl>
                                          <p:spTgt spid="249"/>
                                        </p:tgtEl>
                                        <p:attrNameLst>
                                          <p:attrName>style.visibility</p:attrName>
                                        </p:attrNameLst>
                                      </p:cBhvr>
                                      <p:to>
                                        <p:strVal val="visible"/>
                                      </p:to>
                                    </p:set>
                                    <p:animEffect transition="in" filter="fade">
                                      <p:cBhvr>
                                        <p:cTn id="59" dur="1000"/>
                                        <p:tgtEl>
                                          <p:spTgt spid="249"/>
                                        </p:tgtEl>
                                      </p:cBhvr>
                                    </p:animEffect>
                                    <p:anim calcmode="lin" valueType="num">
                                      <p:cBhvr>
                                        <p:cTn id="60" dur="1000" fill="hold"/>
                                        <p:tgtEl>
                                          <p:spTgt spid="249"/>
                                        </p:tgtEl>
                                        <p:attrNameLst>
                                          <p:attrName>ppt_x</p:attrName>
                                        </p:attrNameLst>
                                      </p:cBhvr>
                                      <p:tavLst>
                                        <p:tav tm="0">
                                          <p:val>
                                            <p:strVal val="#ppt_x"/>
                                          </p:val>
                                        </p:tav>
                                        <p:tav tm="100000">
                                          <p:val>
                                            <p:strVal val="#ppt_x"/>
                                          </p:val>
                                        </p:tav>
                                      </p:tavLst>
                                    </p:anim>
                                    <p:anim calcmode="lin" valueType="num">
                                      <p:cBhvr>
                                        <p:cTn id="61" dur="1000" fill="hold"/>
                                        <p:tgtEl>
                                          <p:spTgt spid="249"/>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7" presetClass="entr" presetSubtype="0" fill="hold" grpId="0" nodeType="clickEffect">
                                  <p:stCondLst>
                                    <p:cond delay="0"/>
                                  </p:stCondLst>
                                  <p:childTnLst>
                                    <p:set>
                                      <p:cBhvr>
                                        <p:cTn id="65" dur="1" fill="hold">
                                          <p:stCondLst>
                                            <p:cond delay="0"/>
                                          </p:stCondLst>
                                        </p:cTn>
                                        <p:tgtEl>
                                          <p:spTgt spid="269"/>
                                        </p:tgtEl>
                                        <p:attrNameLst>
                                          <p:attrName>style.visibility</p:attrName>
                                        </p:attrNameLst>
                                      </p:cBhvr>
                                      <p:to>
                                        <p:strVal val="visible"/>
                                      </p:to>
                                    </p:set>
                                    <p:animEffect transition="in" filter="fade">
                                      <p:cBhvr>
                                        <p:cTn id="66" dur="1000"/>
                                        <p:tgtEl>
                                          <p:spTgt spid="269"/>
                                        </p:tgtEl>
                                      </p:cBhvr>
                                    </p:animEffect>
                                    <p:anim calcmode="lin" valueType="num">
                                      <p:cBhvr>
                                        <p:cTn id="67" dur="1000" fill="hold"/>
                                        <p:tgtEl>
                                          <p:spTgt spid="269"/>
                                        </p:tgtEl>
                                        <p:attrNameLst>
                                          <p:attrName>ppt_x</p:attrName>
                                        </p:attrNameLst>
                                      </p:cBhvr>
                                      <p:tavLst>
                                        <p:tav tm="0">
                                          <p:val>
                                            <p:strVal val="#ppt_x"/>
                                          </p:val>
                                        </p:tav>
                                        <p:tav tm="100000">
                                          <p:val>
                                            <p:strVal val="#ppt_x"/>
                                          </p:val>
                                        </p:tav>
                                      </p:tavLst>
                                    </p:anim>
                                    <p:anim calcmode="lin" valueType="num">
                                      <p:cBhvr>
                                        <p:cTn id="68" dur="1000" fill="hold"/>
                                        <p:tgtEl>
                                          <p:spTgt spid="269"/>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70"/>
                                        </p:tgtEl>
                                        <p:attrNameLst>
                                          <p:attrName>style.visibility</p:attrName>
                                        </p:attrNameLst>
                                      </p:cBhvr>
                                      <p:to>
                                        <p:strVal val="visible"/>
                                      </p:to>
                                    </p:set>
                                    <p:animEffect transition="in" filter="fade">
                                      <p:cBhvr>
                                        <p:cTn id="71" dur="1000"/>
                                        <p:tgtEl>
                                          <p:spTgt spid="270"/>
                                        </p:tgtEl>
                                      </p:cBhvr>
                                    </p:animEffect>
                                    <p:anim calcmode="lin" valueType="num">
                                      <p:cBhvr>
                                        <p:cTn id="72" dur="1000" fill="hold"/>
                                        <p:tgtEl>
                                          <p:spTgt spid="270"/>
                                        </p:tgtEl>
                                        <p:attrNameLst>
                                          <p:attrName>ppt_x</p:attrName>
                                        </p:attrNameLst>
                                      </p:cBhvr>
                                      <p:tavLst>
                                        <p:tav tm="0">
                                          <p:val>
                                            <p:strVal val="#ppt_x"/>
                                          </p:val>
                                        </p:tav>
                                        <p:tav tm="100000">
                                          <p:val>
                                            <p:strVal val="#ppt_x"/>
                                          </p:val>
                                        </p:tav>
                                      </p:tavLst>
                                    </p:anim>
                                    <p:anim calcmode="lin" valueType="num">
                                      <p:cBhvr>
                                        <p:cTn id="73" dur="1000" fill="hold"/>
                                        <p:tgtEl>
                                          <p:spTgt spid="2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p:bldP spid="248" grpId="0" animBg="1"/>
      <p:bldP spid="249" grpId="0"/>
      <p:bldP spid="250" grpId="0" animBg="1"/>
      <p:bldP spid="267" grpId="0" animBg="1"/>
      <p:bldP spid="267" grpId="1" animBg="1"/>
      <p:bldP spid="268" grpId="0" animBg="1"/>
      <p:bldP spid="268" grpId="1" animBg="1"/>
      <p:bldP spid="269" grpId="0" animBg="1"/>
      <p:bldP spid="270" grpId="0" animBg="1"/>
      <p:bldP spid="210" grpId="0"/>
      <p:bldP spid="214" grpId="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005"/>
        <p:cNvGrpSpPr/>
        <p:nvPr/>
      </p:nvGrpSpPr>
      <p:grpSpPr>
        <a:xfrm>
          <a:off x="0" y="0"/>
          <a:ext cx="0" cy="0"/>
          <a:chOff x="0" y="0"/>
          <a:chExt cx="0" cy="0"/>
        </a:xfrm>
      </p:grpSpPr>
      <p:sp>
        <p:nvSpPr>
          <p:cNvPr id="3006" name="Google Shape;3006;p73"/>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3007" name="Google Shape;3007;p73"/>
          <p:cNvGrpSpPr/>
          <p:nvPr/>
        </p:nvGrpSpPr>
        <p:grpSpPr>
          <a:xfrm>
            <a:off x="1284576" y="2130924"/>
            <a:ext cx="10188969" cy="756004"/>
            <a:chOff x="926134" y="1719856"/>
            <a:chExt cx="9204181" cy="750147"/>
          </a:xfrm>
        </p:grpSpPr>
        <p:sp>
          <p:nvSpPr>
            <p:cNvPr id="3008" name="Google Shape;3008;p73"/>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고객 D에게 판매하면서 일부 재고를 사용함.</a:t>
              </a:r>
              <a:endParaRPr sz="2000">
                <a:solidFill>
                  <a:schemeClr val="dk1"/>
                </a:solidFill>
                <a:latin typeface="Avenir"/>
                <a:ea typeface="Avenir"/>
                <a:cs typeface="Avenir"/>
                <a:sym typeface="Avenir"/>
              </a:endParaRPr>
            </a:p>
          </p:txBody>
        </p:sp>
        <p:sp>
          <p:nvSpPr>
            <p:cNvPr id="3009" name="Google Shape;3009;p73"/>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Cost of sales</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30</a:t>
              </a:r>
              <a:endParaRPr/>
            </a:p>
          </p:txBody>
        </p:sp>
        <p:sp>
          <p:nvSpPr>
            <p:cNvPr id="3010" name="Google Shape;3010;p73"/>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Inventory</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30</a:t>
              </a:r>
              <a:endParaRPr/>
            </a:p>
          </p:txBody>
        </p:sp>
        <p:sp>
          <p:nvSpPr>
            <p:cNvPr id="3011" name="Google Shape;3011;p73"/>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12b</a:t>
              </a:r>
              <a:endParaRPr/>
            </a:p>
          </p:txBody>
        </p:sp>
      </p:grpSp>
      <p:sp>
        <p:nvSpPr>
          <p:cNvPr id="3012" name="Google Shape;3012;p73"/>
          <p:cNvSpPr txBox="1"/>
          <p:nvPr/>
        </p:nvSpPr>
        <p:spPr>
          <a:xfrm>
            <a:off x="8109275" y="2132123"/>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30</a:t>
            </a:r>
            <a:endParaRPr/>
          </a:p>
        </p:txBody>
      </p:sp>
      <p:sp>
        <p:nvSpPr>
          <p:cNvPr id="3013" name="Google Shape;3013;p73"/>
          <p:cNvSpPr txBox="1"/>
          <p:nvPr/>
        </p:nvSpPr>
        <p:spPr>
          <a:xfrm>
            <a:off x="9792345" y="2132123"/>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30</a:t>
            </a:r>
            <a:endParaRPr/>
          </a:p>
        </p:txBody>
      </p:sp>
      <p:cxnSp>
        <p:nvCxnSpPr>
          <p:cNvPr id="3014" name="Google Shape;3014;p73"/>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3015" name="Google Shape;3015;p73"/>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26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1713372"/>
            <a:ext cx="1620000" cy="2245325"/>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18" name="TextBox 117">
            <a:extLst>
              <a:ext uri="{FF2B5EF4-FFF2-40B4-BE49-F238E27FC236}">
                <a16:creationId xmlns:a16="http://schemas.microsoft.com/office/drawing/2014/main" id="{771DDF6F-B29C-AF46-A26D-B05A0E9136DB}"/>
              </a:ext>
            </a:extLst>
          </p:cNvPr>
          <p:cNvSpPr txBox="1"/>
          <p:nvPr/>
        </p:nvSpPr>
        <p:spPr>
          <a:xfrm>
            <a:off x="8114313" y="2028286"/>
            <a:ext cx="1864201" cy="338554"/>
          </a:xfrm>
          <a:prstGeom prst="rect">
            <a:avLst/>
          </a:prstGeom>
          <a:noFill/>
        </p:spPr>
        <p:txBody>
          <a:bodyPr wrap="square" rtlCol="0">
            <a:spAutoFit/>
          </a:bodyPr>
          <a:lstStyle/>
          <a:p>
            <a:pPr algn="ctr"/>
            <a:r>
              <a:rPr lang="en-US" sz="1600" dirty="0">
                <a:latin typeface="Avenir"/>
              </a:rPr>
              <a:t>Deferred revenue</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2" name="TextBox 171">
            <a:extLst>
              <a:ext uri="{FF2B5EF4-FFF2-40B4-BE49-F238E27FC236}">
                <a16:creationId xmlns:a16="http://schemas.microsoft.com/office/drawing/2014/main" id="{1E829A5C-2F66-F748-9AB9-2ABF768ADAA8}"/>
              </a:ext>
            </a:extLst>
          </p:cNvPr>
          <p:cNvSpPr txBox="1"/>
          <p:nvPr/>
        </p:nvSpPr>
        <p:spPr>
          <a:xfrm>
            <a:off x="3469894" y="172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199" name="Down Arrow 198">
            <a:extLst>
              <a:ext uri="{FF2B5EF4-FFF2-40B4-BE49-F238E27FC236}">
                <a16:creationId xmlns:a16="http://schemas.microsoft.com/office/drawing/2014/main" id="{3FD208AA-CF32-B64F-B03C-969D3C0C8C66}"/>
              </a:ext>
            </a:extLst>
          </p:cNvPr>
          <p:cNvSpPr/>
          <p:nvPr/>
        </p:nvSpPr>
        <p:spPr>
          <a:xfrm rot="10800000">
            <a:off x="3011371" y="177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D59EDECC-B1D1-B040-BBB3-304302444F36}"/>
              </a:ext>
            </a:extLst>
          </p:cNvPr>
          <p:cNvSpPr txBox="1"/>
          <p:nvPr/>
        </p:nvSpPr>
        <p:spPr>
          <a:xfrm>
            <a:off x="3469894" y="199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21" name="Down Arrow 220">
            <a:extLst>
              <a:ext uri="{FF2B5EF4-FFF2-40B4-BE49-F238E27FC236}">
                <a16:creationId xmlns:a16="http://schemas.microsoft.com/office/drawing/2014/main" id="{123666BC-850F-5440-BFCE-47B8E5B5429B}"/>
              </a:ext>
            </a:extLst>
          </p:cNvPr>
          <p:cNvSpPr/>
          <p:nvPr/>
        </p:nvSpPr>
        <p:spPr>
          <a:xfrm rot="10800000">
            <a:off x="3007666" y="204993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TextBox 238">
            <a:extLst>
              <a:ext uri="{FF2B5EF4-FFF2-40B4-BE49-F238E27FC236}">
                <a16:creationId xmlns:a16="http://schemas.microsoft.com/office/drawing/2014/main" id="{A523F897-551A-8F49-B6AB-51DBFD3C53C0}"/>
              </a:ext>
            </a:extLst>
          </p:cNvPr>
          <p:cNvSpPr txBox="1"/>
          <p:nvPr/>
        </p:nvSpPr>
        <p:spPr>
          <a:xfrm>
            <a:off x="3599552" y="4796571"/>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250</a:t>
            </a:r>
          </a:p>
        </p:txBody>
      </p:sp>
      <p:sp>
        <p:nvSpPr>
          <p:cNvPr id="240" name="Down Arrow 239">
            <a:extLst>
              <a:ext uri="{FF2B5EF4-FFF2-40B4-BE49-F238E27FC236}">
                <a16:creationId xmlns:a16="http://schemas.microsoft.com/office/drawing/2014/main" id="{07DD916A-3850-9F4F-81C8-0C94788A77D2}"/>
              </a:ext>
            </a:extLst>
          </p:cNvPr>
          <p:cNvSpPr/>
          <p:nvPr/>
        </p:nvSpPr>
        <p:spPr>
          <a:xfrm rot="10800000">
            <a:off x="3096000" y="484745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extBox 240">
            <a:extLst>
              <a:ext uri="{FF2B5EF4-FFF2-40B4-BE49-F238E27FC236}">
                <a16:creationId xmlns:a16="http://schemas.microsoft.com/office/drawing/2014/main" id="{88F3874F-A130-C843-9E72-AFB2DD902123}"/>
              </a:ext>
            </a:extLst>
          </p:cNvPr>
          <p:cNvSpPr txBox="1"/>
          <p:nvPr/>
        </p:nvSpPr>
        <p:spPr>
          <a:xfrm>
            <a:off x="7487489" y="1462635"/>
            <a:ext cx="526106" cy="338554"/>
          </a:xfrm>
          <a:prstGeom prst="rect">
            <a:avLst/>
          </a:prstGeom>
          <a:noFill/>
        </p:spPr>
        <p:txBody>
          <a:bodyPr wrap="none" rtlCol="0">
            <a:spAutoFit/>
          </a:bodyPr>
          <a:lstStyle/>
          <a:p>
            <a:pPr algn="r"/>
            <a:r>
              <a:rPr lang="en-US" sz="1600" b="1">
                <a:solidFill>
                  <a:schemeClr val="accent2"/>
                </a:solidFill>
                <a:latin typeface="Avenir"/>
              </a:rPr>
              <a:t>250</a:t>
            </a:r>
          </a:p>
        </p:txBody>
      </p:sp>
      <p:sp>
        <p:nvSpPr>
          <p:cNvPr id="242" name="Down Arrow 241">
            <a:extLst>
              <a:ext uri="{FF2B5EF4-FFF2-40B4-BE49-F238E27FC236}">
                <a16:creationId xmlns:a16="http://schemas.microsoft.com/office/drawing/2014/main" id="{84AF3014-B3DD-BD46-8650-EE907DDD90EA}"/>
              </a:ext>
            </a:extLst>
          </p:cNvPr>
          <p:cNvSpPr/>
          <p:nvPr/>
        </p:nvSpPr>
        <p:spPr>
          <a:xfrm rot="10800000">
            <a:off x="6984000" y="14983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3" name="TextBox 242">
            <a:extLst>
              <a:ext uri="{FF2B5EF4-FFF2-40B4-BE49-F238E27FC236}">
                <a16:creationId xmlns:a16="http://schemas.microsoft.com/office/drawing/2014/main" id="{5B2E3768-A879-AE44-BA1D-3F82ECAC6E48}"/>
              </a:ext>
            </a:extLst>
          </p:cNvPr>
          <p:cNvSpPr txBox="1"/>
          <p:nvPr/>
        </p:nvSpPr>
        <p:spPr>
          <a:xfrm>
            <a:off x="9285817" y="1715500"/>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244" name="Down Arrow 243">
            <a:extLst>
              <a:ext uri="{FF2B5EF4-FFF2-40B4-BE49-F238E27FC236}">
                <a16:creationId xmlns:a16="http://schemas.microsoft.com/office/drawing/2014/main" id="{4574C5E5-4218-674B-8FB2-AB88F7FB3FDD}"/>
              </a:ext>
            </a:extLst>
          </p:cNvPr>
          <p:cNvSpPr/>
          <p:nvPr/>
        </p:nvSpPr>
        <p:spPr>
          <a:xfrm rot="10800000">
            <a:off x="8784000" y="1751173"/>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5" name="TextBox 244">
            <a:extLst>
              <a:ext uri="{FF2B5EF4-FFF2-40B4-BE49-F238E27FC236}">
                <a16:creationId xmlns:a16="http://schemas.microsoft.com/office/drawing/2014/main" id="{30F9F41D-65FA-3E4A-B645-18A9F04A48C7}"/>
              </a:ext>
            </a:extLst>
          </p:cNvPr>
          <p:cNvSpPr txBox="1"/>
          <p:nvPr/>
        </p:nvSpPr>
        <p:spPr>
          <a:xfrm>
            <a:off x="5269894" y="965882"/>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46" name="Down Arrow 245">
            <a:extLst>
              <a:ext uri="{FF2B5EF4-FFF2-40B4-BE49-F238E27FC236}">
                <a16:creationId xmlns:a16="http://schemas.microsoft.com/office/drawing/2014/main" id="{810B7F9B-FFF6-7646-B180-66C5E6B1ADE6}"/>
              </a:ext>
            </a:extLst>
          </p:cNvPr>
          <p:cNvSpPr/>
          <p:nvPr/>
        </p:nvSpPr>
        <p:spPr>
          <a:xfrm>
            <a:off x="4825605" y="10220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TextBox 246">
            <a:extLst>
              <a:ext uri="{FF2B5EF4-FFF2-40B4-BE49-F238E27FC236}">
                <a16:creationId xmlns:a16="http://schemas.microsoft.com/office/drawing/2014/main" id="{AA659AB1-43FB-D747-AC50-E4454DC4B036}"/>
              </a:ext>
            </a:extLst>
          </p:cNvPr>
          <p:cNvSpPr txBox="1"/>
          <p:nvPr/>
        </p:nvSpPr>
        <p:spPr>
          <a:xfrm>
            <a:off x="7543708" y="5375143"/>
            <a:ext cx="412292" cy="338554"/>
          </a:xfrm>
          <a:prstGeom prst="rect">
            <a:avLst/>
          </a:prstGeom>
          <a:noFill/>
        </p:spPr>
        <p:txBody>
          <a:bodyPr wrap="none" rtlCol="0">
            <a:spAutoFit/>
          </a:bodyPr>
          <a:lstStyle/>
          <a:p>
            <a:pPr algn="r"/>
            <a:r>
              <a:rPr lang="en-US" sz="1600" b="1">
                <a:solidFill>
                  <a:schemeClr val="accent2"/>
                </a:solidFill>
                <a:latin typeface="Avenir"/>
              </a:rPr>
              <a:t>90</a:t>
            </a:r>
          </a:p>
        </p:txBody>
      </p:sp>
      <p:sp>
        <p:nvSpPr>
          <p:cNvPr id="248" name="Down Arrow 247">
            <a:extLst>
              <a:ext uri="{FF2B5EF4-FFF2-40B4-BE49-F238E27FC236}">
                <a16:creationId xmlns:a16="http://schemas.microsoft.com/office/drawing/2014/main" id="{12BC87CD-B219-D944-A303-51AE7219B591}"/>
              </a:ext>
            </a:extLst>
          </p:cNvPr>
          <p:cNvSpPr/>
          <p:nvPr/>
        </p:nvSpPr>
        <p:spPr>
          <a:xfrm rot="10800000">
            <a:off x="6984000" y="5425275"/>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9" name="TextBox 248">
            <a:extLst>
              <a:ext uri="{FF2B5EF4-FFF2-40B4-BE49-F238E27FC236}">
                <a16:creationId xmlns:a16="http://schemas.microsoft.com/office/drawing/2014/main" id="{A2C44290-0620-2943-8A42-C52EE722BCBB}"/>
              </a:ext>
            </a:extLst>
          </p:cNvPr>
          <p:cNvSpPr txBox="1"/>
          <p:nvPr/>
        </p:nvSpPr>
        <p:spPr>
          <a:xfrm>
            <a:off x="8947923" y="1452209"/>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90</a:t>
            </a:r>
          </a:p>
        </p:txBody>
      </p:sp>
      <p:sp>
        <p:nvSpPr>
          <p:cNvPr id="250" name="Down Arrow 249">
            <a:extLst>
              <a:ext uri="{FF2B5EF4-FFF2-40B4-BE49-F238E27FC236}">
                <a16:creationId xmlns:a16="http://schemas.microsoft.com/office/drawing/2014/main" id="{99FBA779-2143-0245-85BB-6BF02CC500E6}"/>
              </a:ext>
            </a:extLst>
          </p:cNvPr>
          <p:cNvSpPr/>
          <p:nvPr/>
        </p:nvSpPr>
        <p:spPr>
          <a:xfrm>
            <a:off x="8784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51" name="TextBox 250">
            <a:extLst>
              <a:ext uri="{FF2B5EF4-FFF2-40B4-BE49-F238E27FC236}">
                <a16:creationId xmlns:a16="http://schemas.microsoft.com/office/drawing/2014/main" id="{42AF0AB4-8D2B-0143-996A-B4981D471025}"/>
              </a:ext>
            </a:extLst>
          </p:cNvPr>
          <p:cNvSpPr txBox="1"/>
          <p:nvPr/>
        </p:nvSpPr>
        <p:spPr>
          <a:xfrm>
            <a:off x="5383708" y="2869537"/>
            <a:ext cx="412292" cy="338554"/>
          </a:xfrm>
          <a:prstGeom prst="rect">
            <a:avLst/>
          </a:prstGeom>
          <a:noFill/>
        </p:spPr>
        <p:txBody>
          <a:bodyPr wrap="none" rtlCol="0">
            <a:spAutoFit/>
          </a:bodyPr>
          <a:lstStyle/>
          <a:p>
            <a:pPr algn="r"/>
            <a:r>
              <a:rPr lang="en-US" sz="1600" b="1">
                <a:solidFill>
                  <a:schemeClr val="accent2"/>
                </a:solidFill>
                <a:latin typeface="Avenir"/>
              </a:rPr>
              <a:t>30</a:t>
            </a:r>
          </a:p>
        </p:txBody>
      </p:sp>
      <p:sp>
        <p:nvSpPr>
          <p:cNvPr id="252" name="Down Arrow 251">
            <a:extLst>
              <a:ext uri="{FF2B5EF4-FFF2-40B4-BE49-F238E27FC236}">
                <a16:creationId xmlns:a16="http://schemas.microsoft.com/office/drawing/2014/main" id="{A7123581-9911-2E40-8E28-9FC2BB675D83}"/>
              </a:ext>
            </a:extLst>
          </p:cNvPr>
          <p:cNvSpPr/>
          <p:nvPr/>
        </p:nvSpPr>
        <p:spPr>
          <a:xfrm>
            <a:off x="4824000" y="29337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a:extLst>
              <a:ext uri="{FF2B5EF4-FFF2-40B4-BE49-F238E27FC236}">
                <a16:creationId xmlns:a16="http://schemas.microsoft.com/office/drawing/2014/main" id="{1F19AD71-5F84-1F46-AE8C-130720EF36F1}"/>
              </a:ext>
            </a:extLst>
          </p:cNvPr>
          <p:cNvSpPr txBox="1"/>
          <p:nvPr/>
        </p:nvSpPr>
        <p:spPr>
          <a:xfrm>
            <a:off x="5419708" y="5397501"/>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30</a:t>
            </a:r>
          </a:p>
        </p:txBody>
      </p:sp>
      <p:sp>
        <p:nvSpPr>
          <p:cNvPr id="254" name="Down Arrow 253">
            <a:extLst>
              <a:ext uri="{FF2B5EF4-FFF2-40B4-BE49-F238E27FC236}">
                <a16:creationId xmlns:a16="http://schemas.microsoft.com/office/drawing/2014/main" id="{21A7DE91-A1BB-F143-9944-47847F9AE787}"/>
              </a:ext>
            </a:extLst>
          </p:cNvPr>
          <p:cNvSpPr/>
          <p:nvPr/>
        </p:nvSpPr>
        <p:spPr>
          <a:xfrm rot="10800000">
            <a:off x="4860000" y="544838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8" name="Group 277">
            <a:extLst>
              <a:ext uri="{FF2B5EF4-FFF2-40B4-BE49-F238E27FC236}">
                <a16:creationId xmlns:a16="http://schemas.microsoft.com/office/drawing/2014/main" id="{775D2738-1A15-3D43-963E-83A150D3DD08}"/>
              </a:ext>
            </a:extLst>
          </p:cNvPr>
          <p:cNvGrpSpPr>
            <a:grpSpLocks noChangeAspect="1"/>
          </p:cNvGrpSpPr>
          <p:nvPr/>
        </p:nvGrpSpPr>
        <p:grpSpPr>
          <a:xfrm>
            <a:off x="2528691" y="1763611"/>
            <a:ext cx="309700" cy="223916"/>
            <a:chOff x="756599" y="3715227"/>
            <a:chExt cx="321512" cy="232456"/>
          </a:xfrm>
        </p:grpSpPr>
        <p:sp>
          <p:nvSpPr>
            <p:cNvPr id="279" name="Oval 278">
              <a:extLst>
                <a:ext uri="{FF2B5EF4-FFF2-40B4-BE49-F238E27FC236}">
                  <a16:creationId xmlns:a16="http://schemas.microsoft.com/office/drawing/2014/main" id="{E14654BD-BDE4-0748-912C-22432B5DD3D8}"/>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0" name="Rectangle 279">
              <a:extLst>
                <a:ext uri="{FF2B5EF4-FFF2-40B4-BE49-F238E27FC236}">
                  <a16:creationId xmlns:a16="http://schemas.microsoft.com/office/drawing/2014/main" id="{6A79CA8D-AC8C-2649-8D3F-6C8279757C83}"/>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281" name="Group 280">
            <a:extLst>
              <a:ext uri="{FF2B5EF4-FFF2-40B4-BE49-F238E27FC236}">
                <a16:creationId xmlns:a16="http://schemas.microsoft.com/office/drawing/2014/main" id="{038C4DBA-DFAC-4340-8960-9AF8BB8FC7AF}"/>
              </a:ext>
            </a:extLst>
          </p:cNvPr>
          <p:cNvGrpSpPr>
            <a:grpSpLocks noChangeAspect="1"/>
          </p:cNvGrpSpPr>
          <p:nvPr/>
        </p:nvGrpSpPr>
        <p:grpSpPr>
          <a:xfrm>
            <a:off x="2528691" y="2037441"/>
            <a:ext cx="309700" cy="223916"/>
            <a:chOff x="756599" y="3715227"/>
            <a:chExt cx="321512" cy="232456"/>
          </a:xfrm>
        </p:grpSpPr>
        <p:sp>
          <p:nvSpPr>
            <p:cNvPr id="282" name="Oval 281">
              <a:extLst>
                <a:ext uri="{FF2B5EF4-FFF2-40B4-BE49-F238E27FC236}">
                  <a16:creationId xmlns:a16="http://schemas.microsoft.com/office/drawing/2014/main" id="{D97D5EE0-8446-1244-A657-E9DBF68238D5}"/>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3" name="Rectangle 282">
              <a:extLst>
                <a:ext uri="{FF2B5EF4-FFF2-40B4-BE49-F238E27FC236}">
                  <a16:creationId xmlns:a16="http://schemas.microsoft.com/office/drawing/2014/main" id="{56AA7E7C-0592-B744-AFA9-D3A064F8B33C}"/>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9" name="Group 328">
            <a:extLst>
              <a:ext uri="{FF2B5EF4-FFF2-40B4-BE49-F238E27FC236}">
                <a16:creationId xmlns:a16="http://schemas.microsoft.com/office/drawing/2014/main" id="{E15F7DE2-F1EB-C94A-AE48-4487C8B506B6}"/>
              </a:ext>
            </a:extLst>
          </p:cNvPr>
          <p:cNvGrpSpPr/>
          <p:nvPr/>
        </p:nvGrpSpPr>
        <p:grpSpPr>
          <a:xfrm>
            <a:off x="4330045" y="3136880"/>
            <a:ext cx="309700" cy="224238"/>
            <a:chOff x="770743" y="3715228"/>
            <a:chExt cx="309700" cy="224238"/>
          </a:xfrm>
        </p:grpSpPr>
        <p:sp>
          <p:nvSpPr>
            <p:cNvPr id="330" name="Oval 329">
              <a:extLst>
                <a:ext uri="{FF2B5EF4-FFF2-40B4-BE49-F238E27FC236}">
                  <a16:creationId xmlns:a16="http://schemas.microsoft.com/office/drawing/2014/main" id="{920E5E24-BE4B-BC48-AFD2-943FE12CD729}"/>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2" name="Group 331">
            <a:extLst>
              <a:ext uri="{FF2B5EF4-FFF2-40B4-BE49-F238E27FC236}">
                <a16:creationId xmlns:a16="http://schemas.microsoft.com/office/drawing/2014/main" id="{7924029E-A5DC-CB49-8E0F-74B666CD5BDE}"/>
              </a:ext>
            </a:extLst>
          </p:cNvPr>
          <p:cNvGrpSpPr/>
          <p:nvPr/>
        </p:nvGrpSpPr>
        <p:grpSpPr>
          <a:xfrm>
            <a:off x="4377396" y="5681195"/>
            <a:ext cx="309700" cy="224238"/>
            <a:chOff x="770743" y="3715228"/>
            <a:chExt cx="309700" cy="224238"/>
          </a:xfrm>
        </p:grpSpPr>
        <p:sp>
          <p:nvSpPr>
            <p:cNvPr id="333" name="Oval 332">
              <a:extLst>
                <a:ext uri="{FF2B5EF4-FFF2-40B4-BE49-F238E27FC236}">
                  <a16:creationId xmlns:a16="http://schemas.microsoft.com/office/drawing/2014/main" id="{5234A744-315A-EC44-BDF0-AAAA223BA63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5" name="Group 334">
            <a:extLst>
              <a:ext uri="{FF2B5EF4-FFF2-40B4-BE49-F238E27FC236}">
                <a16:creationId xmlns:a16="http://schemas.microsoft.com/office/drawing/2014/main" id="{067E8254-2E00-4348-B74D-2F24011631C6}"/>
              </a:ext>
            </a:extLst>
          </p:cNvPr>
          <p:cNvGrpSpPr>
            <a:grpSpLocks noChangeAspect="1"/>
          </p:cNvGrpSpPr>
          <p:nvPr/>
        </p:nvGrpSpPr>
        <p:grpSpPr>
          <a:xfrm>
            <a:off x="4298376" y="2880000"/>
            <a:ext cx="368899" cy="223200"/>
            <a:chOff x="740286" y="3715228"/>
            <a:chExt cx="370615" cy="224238"/>
          </a:xfrm>
        </p:grpSpPr>
        <p:sp>
          <p:nvSpPr>
            <p:cNvPr id="336" name="Oval 335">
              <a:extLst>
                <a:ext uri="{FF2B5EF4-FFF2-40B4-BE49-F238E27FC236}">
                  <a16:creationId xmlns:a16="http://schemas.microsoft.com/office/drawing/2014/main" id="{C60F2B82-C705-134A-AEE1-E87F808B3E33}"/>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7" name="Rectangle 336">
              <a:extLst>
                <a:ext uri="{FF2B5EF4-FFF2-40B4-BE49-F238E27FC236}">
                  <a16:creationId xmlns:a16="http://schemas.microsoft.com/office/drawing/2014/main" id="{1C1DF2F7-5ABA-1546-94EF-20C60AF814A3}"/>
                </a:ext>
              </a:extLst>
            </p:cNvPr>
            <p:cNvSpPr/>
            <p:nvPr/>
          </p:nvSpPr>
          <p:spPr>
            <a:xfrm>
              <a:off x="740286" y="3724022"/>
              <a:ext cx="370615" cy="215444"/>
            </a:xfrm>
            <a:prstGeom prst="rect">
              <a:avLst/>
            </a:prstGeom>
          </p:spPr>
          <p:txBody>
            <a:bodyPr wrap="none">
              <a:spAutoFit/>
            </a:bodyPr>
            <a:lstStyle/>
            <a:p>
              <a:pPr algn="ctr"/>
              <a:r>
                <a:rPr lang="en-US" sz="800" b="1">
                  <a:solidFill>
                    <a:schemeClr val="tx1">
                      <a:lumMod val="50000"/>
                      <a:lumOff val="50000"/>
                    </a:schemeClr>
                  </a:solidFill>
                  <a:latin typeface="Avenir"/>
                </a:rPr>
                <a:t>12b</a:t>
              </a:r>
            </a:p>
          </p:txBody>
        </p:sp>
      </p:grpSp>
      <p:grpSp>
        <p:nvGrpSpPr>
          <p:cNvPr id="338" name="Group 337">
            <a:extLst>
              <a:ext uri="{FF2B5EF4-FFF2-40B4-BE49-F238E27FC236}">
                <a16:creationId xmlns:a16="http://schemas.microsoft.com/office/drawing/2014/main" id="{8B4FBB61-B1C8-2944-944E-209A07F65AB8}"/>
              </a:ext>
            </a:extLst>
          </p:cNvPr>
          <p:cNvGrpSpPr/>
          <p:nvPr/>
        </p:nvGrpSpPr>
        <p:grpSpPr>
          <a:xfrm>
            <a:off x="4345727" y="5432633"/>
            <a:ext cx="370614" cy="347348"/>
            <a:chOff x="740286" y="3715228"/>
            <a:chExt cx="370614" cy="347348"/>
          </a:xfrm>
        </p:grpSpPr>
        <p:sp>
          <p:nvSpPr>
            <p:cNvPr id="339" name="Oval 338">
              <a:extLst>
                <a:ext uri="{FF2B5EF4-FFF2-40B4-BE49-F238E27FC236}">
                  <a16:creationId xmlns:a16="http://schemas.microsoft.com/office/drawing/2014/main" id="{03770F02-78FE-664F-9B19-E8B021D1E4D7}"/>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0" name="Rectangle 339">
              <a:extLst>
                <a:ext uri="{FF2B5EF4-FFF2-40B4-BE49-F238E27FC236}">
                  <a16:creationId xmlns:a16="http://schemas.microsoft.com/office/drawing/2014/main" id="{8B246DE0-B9D9-B54D-A064-CB89E165C09F}"/>
                </a:ext>
              </a:extLst>
            </p:cNvPr>
            <p:cNvSpPr/>
            <p:nvPr/>
          </p:nvSpPr>
          <p:spPr>
            <a:xfrm>
              <a:off x="740286" y="3724022"/>
              <a:ext cx="370614" cy="338554"/>
            </a:xfrm>
            <a:prstGeom prst="rect">
              <a:avLst/>
            </a:prstGeom>
          </p:spPr>
          <p:txBody>
            <a:bodyPr wrap="none">
              <a:spAutoFit/>
            </a:bodyPr>
            <a:lstStyle/>
            <a:p>
              <a:pPr algn="ctr"/>
              <a:r>
                <a:rPr lang="en-US" sz="800" b="1">
                  <a:solidFill>
                    <a:schemeClr val="tx1">
                      <a:lumMod val="50000"/>
                      <a:lumOff val="50000"/>
                    </a:schemeClr>
                  </a:solidFill>
                  <a:latin typeface="Avenir"/>
                </a:rPr>
                <a:t>12b</a:t>
              </a:r>
            </a:p>
            <a:p>
              <a:pPr algn="ctr"/>
              <a:endParaRPr lang="en-US" sz="800" b="1">
                <a:solidFill>
                  <a:schemeClr val="tx1">
                    <a:lumMod val="50000"/>
                    <a:lumOff val="50000"/>
                  </a:schemeClr>
                </a:solidFill>
                <a:latin typeface="Avenir"/>
              </a:endParaRP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4" name="Group 343">
            <a:extLst>
              <a:ext uri="{FF2B5EF4-FFF2-40B4-BE49-F238E27FC236}">
                <a16:creationId xmlns:a16="http://schemas.microsoft.com/office/drawing/2014/main" id="{F71B1C50-265E-F34D-AF22-A2B539B0A891}"/>
              </a:ext>
            </a:extLst>
          </p:cNvPr>
          <p:cNvGrpSpPr/>
          <p:nvPr/>
        </p:nvGrpSpPr>
        <p:grpSpPr>
          <a:xfrm>
            <a:off x="6448807" y="5416132"/>
            <a:ext cx="360996" cy="224238"/>
            <a:chOff x="736857" y="3715228"/>
            <a:chExt cx="360996" cy="224238"/>
          </a:xfrm>
        </p:grpSpPr>
        <p:sp>
          <p:nvSpPr>
            <p:cNvPr id="345" name="Oval 344">
              <a:extLst>
                <a:ext uri="{FF2B5EF4-FFF2-40B4-BE49-F238E27FC236}">
                  <a16:creationId xmlns:a16="http://schemas.microsoft.com/office/drawing/2014/main" id="{498E50BA-F1A1-524A-B905-153FA186C0C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6" name="Rectangle 345">
              <a:extLst>
                <a:ext uri="{FF2B5EF4-FFF2-40B4-BE49-F238E27FC236}">
                  <a16:creationId xmlns:a16="http://schemas.microsoft.com/office/drawing/2014/main" id="{55D9C7D2-EAAC-644E-997D-9755B758C142}"/>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350" name="Group 349">
            <a:extLst>
              <a:ext uri="{FF2B5EF4-FFF2-40B4-BE49-F238E27FC236}">
                <a16:creationId xmlns:a16="http://schemas.microsoft.com/office/drawing/2014/main" id="{9432C11D-E364-C746-985A-2AD5B5DB149E}"/>
              </a:ext>
            </a:extLst>
          </p:cNvPr>
          <p:cNvGrpSpPr/>
          <p:nvPr/>
        </p:nvGrpSpPr>
        <p:grpSpPr>
          <a:xfrm>
            <a:off x="2680630" y="4808856"/>
            <a:ext cx="245580" cy="224238"/>
            <a:chOff x="802803" y="3715228"/>
            <a:chExt cx="245580" cy="224238"/>
          </a:xfrm>
        </p:grpSpPr>
        <p:sp>
          <p:nvSpPr>
            <p:cNvPr id="351" name="Oval 350">
              <a:extLst>
                <a:ext uri="{FF2B5EF4-FFF2-40B4-BE49-F238E27FC236}">
                  <a16:creationId xmlns:a16="http://schemas.microsoft.com/office/drawing/2014/main" id="{7EF515DE-CFB5-C746-AC84-B4C313BD06E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2" name="Rectangle 351">
              <a:extLst>
                <a:ext uri="{FF2B5EF4-FFF2-40B4-BE49-F238E27FC236}">
                  <a16:creationId xmlns:a16="http://schemas.microsoft.com/office/drawing/2014/main" id="{3B567B98-0230-FB4D-8B5A-D57CF8B99F8A}"/>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3" name="Group 352">
            <a:extLst>
              <a:ext uri="{FF2B5EF4-FFF2-40B4-BE49-F238E27FC236}">
                <a16:creationId xmlns:a16="http://schemas.microsoft.com/office/drawing/2014/main" id="{F40449CF-4146-A640-B710-857F798A33D4}"/>
              </a:ext>
            </a:extLst>
          </p:cNvPr>
          <p:cNvGrpSpPr/>
          <p:nvPr/>
        </p:nvGrpSpPr>
        <p:grpSpPr>
          <a:xfrm>
            <a:off x="6550922" y="1481480"/>
            <a:ext cx="245580" cy="224238"/>
            <a:chOff x="802803" y="3715228"/>
            <a:chExt cx="245580" cy="224238"/>
          </a:xfrm>
        </p:grpSpPr>
        <p:sp>
          <p:nvSpPr>
            <p:cNvPr id="354" name="Oval 353">
              <a:extLst>
                <a:ext uri="{FF2B5EF4-FFF2-40B4-BE49-F238E27FC236}">
                  <a16:creationId xmlns:a16="http://schemas.microsoft.com/office/drawing/2014/main" id="{1F8A312F-C689-FF42-84E9-02ECA660225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5" name="Rectangle 354">
              <a:extLst>
                <a:ext uri="{FF2B5EF4-FFF2-40B4-BE49-F238E27FC236}">
                  <a16:creationId xmlns:a16="http://schemas.microsoft.com/office/drawing/2014/main" id="{50CBD88D-DC4A-3849-90CE-641B000548E3}"/>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6" name="Group 355">
            <a:extLst>
              <a:ext uri="{FF2B5EF4-FFF2-40B4-BE49-F238E27FC236}">
                <a16:creationId xmlns:a16="http://schemas.microsoft.com/office/drawing/2014/main" id="{3E2317E5-1DF6-F144-A88B-97C61AC21234}"/>
              </a:ext>
            </a:extLst>
          </p:cNvPr>
          <p:cNvGrpSpPr/>
          <p:nvPr/>
        </p:nvGrpSpPr>
        <p:grpSpPr>
          <a:xfrm>
            <a:off x="8311967" y="1742779"/>
            <a:ext cx="309700" cy="224238"/>
            <a:chOff x="770743" y="3715228"/>
            <a:chExt cx="309700" cy="224238"/>
          </a:xfrm>
        </p:grpSpPr>
        <p:sp>
          <p:nvSpPr>
            <p:cNvPr id="357" name="Oval 356">
              <a:extLst>
                <a:ext uri="{FF2B5EF4-FFF2-40B4-BE49-F238E27FC236}">
                  <a16:creationId xmlns:a16="http://schemas.microsoft.com/office/drawing/2014/main" id="{6A31460D-137B-A74E-B6FC-B55DFB2AE33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8" name="Rectangle 357">
              <a:extLst>
                <a:ext uri="{FF2B5EF4-FFF2-40B4-BE49-F238E27FC236}">
                  <a16:creationId xmlns:a16="http://schemas.microsoft.com/office/drawing/2014/main" id="{CFFD1864-8612-0941-9E7F-4F8D6CCCC5CA}"/>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62" name="Group 361">
            <a:extLst>
              <a:ext uri="{FF2B5EF4-FFF2-40B4-BE49-F238E27FC236}">
                <a16:creationId xmlns:a16="http://schemas.microsoft.com/office/drawing/2014/main" id="{E6482679-9AB0-5541-BF89-93062662AF98}"/>
              </a:ext>
            </a:extLst>
          </p:cNvPr>
          <p:cNvGrpSpPr/>
          <p:nvPr/>
        </p:nvGrpSpPr>
        <p:grpSpPr>
          <a:xfrm>
            <a:off x="4319927" y="983503"/>
            <a:ext cx="309700" cy="224238"/>
            <a:chOff x="770743" y="3715228"/>
            <a:chExt cx="309700" cy="224238"/>
          </a:xfrm>
        </p:grpSpPr>
        <p:sp>
          <p:nvSpPr>
            <p:cNvPr id="363" name="Oval 362">
              <a:extLst>
                <a:ext uri="{FF2B5EF4-FFF2-40B4-BE49-F238E27FC236}">
                  <a16:creationId xmlns:a16="http://schemas.microsoft.com/office/drawing/2014/main" id="{0C24FACA-1CFE-B346-89AB-EB0E90F543B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4" name="Rectangle 363">
              <a:extLst>
                <a:ext uri="{FF2B5EF4-FFF2-40B4-BE49-F238E27FC236}">
                  <a16:creationId xmlns:a16="http://schemas.microsoft.com/office/drawing/2014/main" id="{64C22221-FE7F-7946-B113-969909E0FA5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365" name="Group 364">
            <a:extLst>
              <a:ext uri="{FF2B5EF4-FFF2-40B4-BE49-F238E27FC236}">
                <a16:creationId xmlns:a16="http://schemas.microsoft.com/office/drawing/2014/main" id="{2C13EA5E-21CD-1946-88C4-D8A584B17387}"/>
              </a:ext>
            </a:extLst>
          </p:cNvPr>
          <p:cNvGrpSpPr/>
          <p:nvPr/>
        </p:nvGrpSpPr>
        <p:grpSpPr>
          <a:xfrm>
            <a:off x="8280687" y="1478795"/>
            <a:ext cx="360996" cy="224238"/>
            <a:chOff x="736857" y="3715228"/>
            <a:chExt cx="360996" cy="224238"/>
          </a:xfrm>
        </p:grpSpPr>
        <p:sp>
          <p:nvSpPr>
            <p:cNvPr id="366" name="Oval 365">
              <a:extLst>
                <a:ext uri="{FF2B5EF4-FFF2-40B4-BE49-F238E27FC236}">
                  <a16:creationId xmlns:a16="http://schemas.microsoft.com/office/drawing/2014/main" id="{65A20A3F-C204-4E4F-8867-1B299AF2D0C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7" name="Rectangle 366">
              <a:extLst>
                <a:ext uri="{FF2B5EF4-FFF2-40B4-BE49-F238E27FC236}">
                  <a16:creationId xmlns:a16="http://schemas.microsoft.com/office/drawing/2014/main" id="{23FEEFD6-358C-A543-9BF3-275D2038378C}"/>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2" name="Group 431">
            <a:extLst>
              <a:ext uri="{FF2B5EF4-FFF2-40B4-BE49-F238E27FC236}">
                <a16:creationId xmlns:a16="http://schemas.microsoft.com/office/drawing/2014/main" id="{4848BB5E-72D6-154B-A4A4-863172845016}"/>
              </a:ext>
            </a:extLst>
          </p:cNvPr>
          <p:cNvGrpSpPr/>
          <p:nvPr/>
        </p:nvGrpSpPr>
        <p:grpSpPr>
          <a:xfrm>
            <a:off x="8214558" y="1260018"/>
            <a:ext cx="1620000" cy="796276"/>
            <a:chOff x="3810000" y="2015069"/>
            <a:chExt cx="1390650" cy="1596814"/>
          </a:xfrm>
          <a:solidFill>
            <a:schemeClr val="accent2"/>
          </a:solidFill>
        </p:grpSpPr>
        <p:sp>
          <p:nvSpPr>
            <p:cNvPr id="433" name="L-Shape 432">
              <a:extLst>
                <a:ext uri="{FF2B5EF4-FFF2-40B4-BE49-F238E27FC236}">
                  <a16:creationId xmlns:a16="http://schemas.microsoft.com/office/drawing/2014/main" id="{ABB06B6F-0697-9948-91DD-97E59BB658B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4" name="L-Shape 433">
              <a:extLst>
                <a:ext uri="{FF2B5EF4-FFF2-40B4-BE49-F238E27FC236}">
                  <a16:creationId xmlns:a16="http://schemas.microsoft.com/office/drawing/2014/main" id="{6F827A64-8AAF-EF46-AB91-B3C3D179257E}"/>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71" name="Rectangle 370">
            <a:extLst>
              <a:ext uri="{FF2B5EF4-FFF2-40B4-BE49-F238E27FC236}">
                <a16:creationId xmlns:a16="http://schemas.microsoft.com/office/drawing/2014/main" id="{F5EFEAB4-0894-C147-8ED2-9225795B0523}"/>
              </a:ext>
            </a:extLst>
          </p:cNvPr>
          <p:cNvSpPr/>
          <p:nvPr/>
        </p:nvSpPr>
        <p:spPr>
          <a:xfrm>
            <a:off x="923748" y="998647"/>
            <a:ext cx="1074401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2" name="Group 371">
            <a:extLst>
              <a:ext uri="{FF2B5EF4-FFF2-40B4-BE49-F238E27FC236}">
                <a16:creationId xmlns:a16="http://schemas.microsoft.com/office/drawing/2014/main" id="{60FA0ED2-EC24-EA4F-80F6-15B0EB0D5732}"/>
              </a:ext>
            </a:extLst>
          </p:cNvPr>
          <p:cNvGrpSpPr/>
          <p:nvPr/>
        </p:nvGrpSpPr>
        <p:grpSpPr>
          <a:xfrm>
            <a:off x="1130306" y="1271999"/>
            <a:ext cx="10188967" cy="756004"/>
            <a:chOff x="926134" y="1719856"/>
            <a:chExt cx="9204181" cy="750147"/>
          </a:xfrm>
        </p:grpSpPr>
        <p:sp>
          <p:nvSpPr>
            <p:cNvPr id="373" name="TextBox 372">
              <a:extLst>
                <a:ext uri="{FF2B5EF4-FFF2-40B4-BE49-F238E27FC236}">
                  <a16:creationId xmlns:a16="http://schemas.microsoft.com/office/drawing/2014/main" id="{2577EF00-B341-6148-9F91-E807EAC8AD66}"/>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고객 </a:t>
              </a:r>
              <a:r>
                <a:rPr lang="en-US" altLang="ko-KR" sz="2000" dirty="0">
                  <a:solidFill>
                    <a:schemeClr val="dk1"/>
                  </a:solidFill>
                  <a:latin typeface="Calibri"/>
                  <a:ea typeface="Calibri"/>
                  <a:cs typeface="Calibri"/>
                  <a:sym typeface="Calibri"/>
                </a:rPr>
                <a:t>D</a:t>
              </a:r>
              <a:r>
                <a:rPr lang="ko-KR" altLang="en-US" sz="2000" dirty="0">
                  <a:solidFill>
                    <a:schemeClr val="dk1"/>
                  </a:solidFill>
                  <a:latin typeface="Calibri"/>
                  <a:ea typeface="Calibri"/>
                  <a:cs typeface="Calibri"/>
                  <a:sym typeface="Calibri"/>
                </a:rPr>
                <a:t>에게 판매하면서 일부 재고를 사용함</a:t>
              </a:r>
              <a:r>
                <a:rPr lang="en-US" altLang="ko-KR" sz="2000" dirty="0">
                  <a:solidFill>
                    <a:schemeClr val="dk1"/>
                  </a:solidFill>
                  <a:latin typeface="Avenir"/>
                  <a:ea typeface="Avenir"/>
                  <a:cs typeface="Avenir"/>
                  <a:sym typeface="Avenir"/>
                </a:rPr>
                <a:t>.</a:t>
              </a:r>
              <a:endParaRPr lang="ko-KR" altLang="en-US" sz="2000" dirty="0"/>
            </a:p>
          </p:txBody>
        </p:sp>
        <p:sp>
          <p:nvSpPr>
            <p:cNvPr id="386" name="TextBox 385">
              <a:extLst>
                <a:ext uri="{FF2B5EF4-FFF2-40B4-BE49-F238E27FC236}">
                  <a16:creationId xmlns:a16="http://schemas.microsoft.com/office/drawing/2014/main" id="{5EF8D387-1329-3E44-B85D-7FE3F4151081}"/>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Cost of sales</a:t>
              </a:r>
            </a:p>
            <a:p>
              <a:pPr algn="ctr"/>
              <a:r>
                <a:rPr lang="en-GB" b="1">
                  <a:solidFill>
                    <a:schemeClr val="bg1">
                      <a:lumMod val="75000"/>
                    </a:schemeClr>
                  </a:solidFill>
                  <a:latin typeface="Avenir"/>
                  <a:ea typeface="Helvetica" charset="0"/>
                  <a:cs typeface="Helvetica" charset="0"/>
                </a:rPr>
                <a:t>30</a:t>
              </a:r>
            </a:p>
          </p:txBody>
        </p:sp>
        <p:sp>
          <p:nvSpPr>
            <p:cNvPr id="387" name="TextBox 386">
              <a:extLst>
                <a:ext uri="{FF2B5EF4-FFF2-40B4-BE49-F238E27FC236}">
                  <a16:creationId xmlns:a16="http://schemas.microsoft.com/office/drawing/2014/main" id="{DDD1047A-A695-3748-8D65-B89AA5F9DA9E}"/>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Inventory</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30</a:t>
              </a:r>
            </a:p>
          </p:txBody>
        </p:sp>
        <p:sp>
          <p:nvSpPr>
            <p:cNvPr id="388" name="TextBox 387">
              <a:extLst>
                <a:ext uri="{FF2B5EF4-FFF2-40B4-BE49-F238E27FC236}">
                  <a16:creationId xmlns:a16="http://schemas.microsoft.com/office/drawing/2014/main" id="{15437320-74E3-7449-B3E8-EDB10A5C0DB4}"/>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12b</a:t>
              </a:r>
            </a:p>
          </p:txBody>
        </p:sp>
      </p:grpSp>
      <p:sp>
        <p:nvSpPr>
          <p:cNvPr id="391" name="TextBox 390">
            <a:extLst>
              <a:ext uri="{FF2B5EF4-FFF2-40B4-BE49-F238E27FC236}">
                <a16:creationId xmlns:a16="http://schemas.microsoft.com/office/drawing/2014/main" id="{63D53A02-A40B-F340-857E-023DD81C26BE}"/>
              </a:ext>
            </a:extLst>
          </p:cNvPr>
          <p:cNvSpPr txBox="1"/>
          <p:nvPr/>
        </p:nvSpPr>
        <p:spPr>
          <a:xfrm>
            <a:off x="7946826" y="1283285"/>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30</a:t>
            </a:r>
          </a:p>
        </p:txBody>
      </p:sp>
      <p:sp>
        <p:nvSpPr>
          <p:cNvPr id="392" name="TextBox 391">
            <a:extLst>
              <a:ext uri="{FF2B5EF4-FFF2-40B4-BE49-F238E27FC236}">
                <a16:creationId xmlns:a16="http://schemas.microsoft.com/office/drawing/2014/main" id="{1A4CFBF7-179E-BA45-9E48-36438F80725B}"/>
              </a:ext>
            </a:extLst>
          </p:cNvPr>
          <p:cNvSpPr txBox="1"/>
          <p:nvPr/>
        </p:nvSpPr>
        <p:spPr>
          <a:xfrm>
            <a:off x="9629896" y="1287398"/>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30</a:t>
            </a:r>
          </a:p>
        </p:txBody>
      </p:sp>
      <p:sp>
        <p:nvSpPr>
          <p:cNvPr id="399" name="Down Arrow 398">
            <a:extLst>
              <a:ext uri="{FF2B5EF4-FFF2-40B4-BE49-F238E27FC236}">
                <a16:creationId xmlns:a16="http://schemas.microsoft.com/office/drawing/2014/main" id="{0C4BE5D3-2D74-3046-A488-E0D97331B58A}"/>
              </a:ext>
            </a:extLst>
          </p:cNvPr>
          <p:cNvSpPr/>
          <p:nvPr/>
        </p:nvSpPr>
        <p:spPr>
          <a:xfrm rot="10800000">
            <a:off x="153289" y="4549188"/>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1" name="Down Arrow 400">
            <a:extLst>
              <a:ext uri="{FF2B5EF4-FFF2-40B4-BE49-F238E27FC236}">
                <a16:creationId xmlns:a16="http://schemas.microsoft.com/office/drawing/2014/main" id="{5B7E3B2C-987B-A84D-B94F-63BC2C1191D6}"/>
              </a:ext>
            </a:extLst>
          </p:cNvPr>
          <p:cNvSpPr/>
          <p:nvPr/>
        </p:nvSpPr>
        <p:spPr>
          <a:xfrm>
            <a:off x="152838" y="842384"/>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5" name="TextBox 254">
            <a:extLst>
              <a:ext uri="{FF2B5EF4-FFF2-40B4-BE49-F238E27FC236}">
                <a16:creationId xmlns:a16="http://schemas.microsoft.com/office/drawing/2014/main" id="{B4A8E111-1B42-3340-83E4-9911A1BC1703}"/>
              </a:ext>
            </a:extLst>
          </p:cNvPr>
          <p:cNvSpPr txBox="1"/>
          <p:nvPr/>
        </p:nvSpPr>
        <p:spPr>
          <a:xfrm>
            <a:off x="6403128" y="3419412"/>
            <a:ext cx="1548343" cy="566133"/>
          </a:xfrm>
          <a:prstGeom prst="rect">
            <a:avLst/>
          </a:prstGeom>
          <a:noFill/>
        </p:spPr>
        <p:txBody>
          <a:bodyPr wrap="square" rtlCol="0" anchor="ctr">
            <a:noAutofit/>
          </a:bodyPr>
          <a:lstStyle/>
          <a:p>
            <a:pPr algn="ctr"/>
            <a:r>
              <a:rPr lang="en-US" sz="2400" b="1">
                <a:latin typeface="Avenir"/>
              </a:rPr>
              <a:t>460</a:t>
            </a:r>
            <a:endParaRPr lang="en-GB" sz="2400"/>
          </a:p>
        </p:txBody>
      </p:sp>
      <p:sp>
        <p:nvSpPr>
          <p:cNvPr id="256" name="TextBox 255">
            <a:extLst>
              <a:ext uri="{FF2B5EF4-FFF2-40B4-BE49-F238E27FC236}">
                <a16:creationId xmlns:a16="http://schemas.microsoft.com/office/drawing/2014/main" id="{36BD0622-277E-8244-A246-304AEC247FD7}"/>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490</a:t>
            </a:r>
            <a:endParaRPr lang="en-GB" sz="2400"/>
          </a:p>
        </p:txBody>
      </p:sp>
    </p:spTree>
    <p:extLst>
      <p:ext uri="{BB962C8B-B14F-4D97-AF65-F5344CB8AC3E}">
        <p14:creationId xmlns:p14="http://schemas.microsoft.com/office/powerpoint/2010/main" val="203276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6 -4.07407E-6 L -0.43398 0.1213 " pathEditMode="relative" rAng="0" ptsTypes="AA">
                                      <p:cBhvr>
                                        <p:cTn id="6" dur="3000" fill="hold"/>
                                        <p:tgtEl>
                                          <p:spTgt spid="392"/>
                                        </p:tgtEl>
                                        <p:attrNameLst>
                                          <p:attrName>ppt_x</p:attrName>
                                          <p:attrName>ppt_y</p:attrName>
                                        </p:attrNameLst>
                                      </p:cBhvr>
                                      <p:rCtr x="-21706" y="6065"/>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392"/>
                                        </p:tgtEl>
                                        <p:attrNameLst>
                                          <p:attrName>ppt_w</p:attrName>
                                        </p:attrNameLst>
                                      </p:cBhvr>
                                      <p:tavLst>
                                        <p:tav tm="0">
                                          <p:val>
                                            <p:strVal val="ppt_w"/>
                                          </p:val>
                                        </p:tav>
                                        <p:tav tm="100000">
                                          <p:val>
                                            <p:fltVal val="0"/>
                                          </p:val>
                                        </p:tav>
                                      </p:tavLst>
                                    </p:anim>
                                    <p:anim calcmode="lin" valueType="num">
                                      <p:cBhvr>
                                        <p:cTn id="10" dur="1000"/>
                                        <p:tgtEl>
                                          <p:spTgt spid="392"/>
                                        </p:tgtEl>
                                        <p:attrNameLst>
                                          <p:attrName>ppt_h</p:attrName>
                                        </p:attrNameLst>
                                      </p:cBhvr>
                                      <p:tavLst>
                                        <p:tav tm="0">
                                          <p:val>
                                            <p:strVal val="ppt_h"/>
                                          </p:val>
                                        </p:tav>
                                        <p:tav tm="100000">
                                          <p:val>
                                            <p:fltVal val="0"/>
                                          </p:val>
                                        </p:tav>
                                      </p:tavLst>
                                    </p:anim>
                                    <p:anim calcmode="lin" valueType="num">
                                      <p:cBhvr>
                                        <p:cTn id="11" dur="1000"/>
                                        <p:tgtEl>
                                          <p:spTgt spid="392"/>
                                        </p:tgtEl>
                                        <p:attrNameLst>
                                          <p:attrName>style.rotation</p:attrName>
                                        </p:attrNameLst>
                                      </p:cBhvr>
                                      <p:tavLst>
                                        <p:tav tm="0">
                                          <p:val>
                                            <p:fltVal val="0"/>
                                          </p:val>
                                        </p:tav>
                                        <p:tav tm="100000">
                                          <p:val>
                                            <p:fltVal val="90"/>
                                          </p:val>
                                        </p:tav>
                                      </p:tavLst>
                                    </p:anim>
                                    <p:animEffect transition="out" filter="fade">
                                      <p:cBhvr>
                                        <p:cTn id="12" dur="1000"/>
                                        <p:tgtEl>
                                          <p:spTgt spid="392"/>
                                        </p:tgtEl>
                                      </p:cBhvr>
                                    </p:animEffect>
                                    <p:set>
                                      <p:cBhvr>
                                        <p:cTn id="13" dur="1" fill="hold">
                                          <p:stCondLst>
                                            <p:cond delay="999"/>
                                          </p:stCondLst>
                                        </p:cTn>
                                        <p:tgtEl>
                                          <p:spTgt spid="392"/>
                                        </p:tgtEl>
                                        <p:attrNameLst>
                                          <p:attrName>style.visibility</p:attrName>
                                        </p:attrNameLst>
                                      </p:cBhvr>
                                      <p:to>
                                        <p:strVal val="hidden"/>
                                      </p:to>
                                    </p:set>
                                  </p:childTnLst>
                                </p:cTn>
                              </p:par>
                              <p:par>
                                <p:cTn id="14" presetID="47" presetClass="entr" presetSubtype="0" fill="hold" nodeType="withEffect">
                                  <p:stCondLst>
                                    <p:cond delay="0"/>
                                  </p:stCondLst>
                                  <p:childTnLst>
                                    <p:set>
                                      <p:cBhvr>
                                        <p:cTn id="15" dur="1" fill="hold">
                                          <p:stCondLst>
                                            <p:cond delay="0"/>
                                          </p:stCondLst>
                                        </p:cTn>
                                        <p:tgtEl>
                                          <p:spTgt spid="335"/>
                                        </p:tgtEl>
                                        <p:attrNameLst>
                                          <p:attrName>style.visibility</p:attrName>
                                        </p:attrNameLst>
                                      </p:cBhvr>
                                      <p:to>
                                        <p:strVal val="visible"/>
                                      </p:to>
                                    </p:set>
                                    <p:animEffect transition="in" filter="fade">
                                      <p:cBhvr>
                                        <p:cTn id="16" dur="1000"/>
                                        <p:tgtEl>
                                          <p:spTgt spid="335"/>
                                        </p:tgtEl>
                                      </p:cBhvr>
                                    </p:animEffect>
                                    <p:anim calcmode="lin" valueType="num">
                                      <p:cBhvr>
                                        <p:cTn id="17" dur="1000" fill="hold"/>
                                        <p:tgtEl>
                                          <p:spTgt spid="335"/>
                                        </p:tgtEl>
                                        <p:attrNameLst>
                                          <p:attrName>ppt_x</p:attrName>
                                        </p:attrNameLst>
                                      </p:cBhvr>
                                      <p:tavLst>
                                        <p:tav tm="0">
                                          <p:val>
                                            <p:strVal val="#ppt_x"/>
                                          </p:val>
                                        </p:tav>
                                        <p:tav tm="100000">
                                          <p:val>
                                            <p:strVal val="#ppt_x"/>
                                          </p:val>
                                        </p:tav>
                                      </p:tavLst>
                                    </p:anim>
                                    <p:anim calcmode="lin" valueType="num">
                                      <p:cBhvr>
                                        <p:cTn id="18" dur="1000" fill="hold"/>
                                        <p:tgtEl>
                                          <p:spTgt spid="335"/>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252"/>
                                        </p:tgtEl>
                                        <p:attrNameLst>
                                          <p:attrName>style.visibility</p:attrName>
                                        </p:attrNameLst>
                                      </p:cBhvr>
                                      <p:to>
                                        <p:strVal val="visible"/>
                                      </p:to>
                                    </p:set>
                                    <p:animEffect transition="in" filter="fade">
                                      <p:cBhvr>
                                        <p:cTn id="21" dur="1000"/>
                                        <p:tgtEl>
                                          <p:spTgt spid="252"/>
                                        </p:tgtEl>
                                      </p:cBhvr>
                                    </p:animEffect>
                                    <p:anim calcmode="lin" valueType="num">
                                      <p:cBhvr>
                                        <p:cTn id="22" dur="1000" fill="hold"/>
                                        <p:tgtEl>
                                          <p:spTgt spid="252"/>
                                        </p:tgtEl>
                                        <p:attrNameLst>
                                          <p:attrName>ppt_x</p:attrName>
                                        </p:attrNameLst>
                                      </p:cBhvr>
                                      <p:tavLst>
                                        <p:tav tm="0">
                                          <p:val>
                                            <p:strVal val="#ppt_x"/>
                                          </p:val>
                                        </p:tav>
                                        <p:tav tm="100000">
                                          <p:val>
                                            <p:strVal val="#ppt_x"/>
                                          </p:val>
                                        </p:tav>
                                      </p:tavLst>
                                    </p:anim>
                                    <p:anim calcmode="lin" valueType="num">
                                      <p:cBhvr>
                                        <p:cTn id="23" dur="1000" fill="hold"/>
                                        <p:tgtEl>
                                          <p:spTgt spid="252"/>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251"/>
                                        </p:tgtEl>
                                        <p:attrNameLst>
                                          <p:attrName>style.visibility</p:attrName>
                                        </p:attrNameLst>
                                      </p:cBhvr>
                                      <p:to>
                                        <p:strVal val="visible"/>
                                      </p:to>
                                    </p:set>
                                    <p:animEffect transition="in" filter="fade">
                                      <p:cBhvr>
                                        <p:cTn id="26" dur="1000"/>
                                        <p:tgtEl>
                                          <p:spTgt spid="251"/>
                                        </p:tgtEl>
                                      </p:cBhvr>
                                    </p:animEffect>
                                    <p:anim calcmode="lin" valueType="num">
                                      <p:cBhvr>
                                        <p:cTn id="27" dur="1000" fill="hold"/>
                                        <p:tgtEl>
                                          <p:spTgt spid="251"/>
                                        </p:tgtEl>
                                        <p:attrNameLst>
                                          <p:attrName>ppt_x</p:attrName>
                                        </p:attrNameLst>
                                      </p:cBhvr>
                                      <p:tavLst>
                                        <p:tav tm="0">
                                          <p:val>
                                            <p:strVal val="#ppt_x"/>
                                          </p:val>
                                        </p:tav>
                                        <p:tav tm="100000">
                                          <p:val>
                                            <p:strVal val="#ppt_x"/>
                                          </p:val>
                                        </p:tav>
                                      </p:tavLst>
                                    </p:anim>
                                    <p:anim calcmode="lin" valueType="num">
                                      <p:cBhvr>
                                        <p:cTn id="28" dur="1000" fill="hold"/>
                                        <p:tgtEl>
                                          <p:spTgt spid="25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0" nodeType="clickEffect">
                                  <p:stCondLst>
                                    <p:cond delay="0"/>
                                  </p:stCondLst>
                                  <p:childTnLst>
                                    <p:animMotion origin="layout" path="M -3.33333E-6 3.7037E-7 L -0.33541 0.50532 " pathEditMode="relative" rAng="0" ptsTypes="AA">
                                      <p:cBhvr>
                                        <p:cTn id="32" dur="3000" fill="hold"/>
                                        <p:tgtEl>
                                          <p:spTgt spid="391"/>
                                        </p:tgtEl>
                                        <p:attrNameLst>
                                          <p:attrName>ppt_x</p:attrName>
                                          <p:attrName>ppt_y</p:attrName>
                                        </p:attrNameLst>
                                      </p:cBhvr>
                                      <p:rCtr x="-16771" y="25255"/>
                                    </p:animMotion>
                                  </p:childTnLst>
                                </p:cTn>
                              </p:par>
                            </p:childTnLst>
                          </p:cTn>
                        </p:par>
                        <p:par>
                          <p:cTn id="33" fill="hold">
                            <p:stCondLst>
                              <p:cond delay="3000"/>
                            </p:stCondLst>
                            <p:childTnLst>
                              <p:par>
                                <p:cTn id="34" presetID="31" presetClass="exit" presetSubtype="0" fill="hold" grpId="1" nodeType="afterEffect">
                                  <p:stCondLst>
                                    <p:cond delay="0"/>
                                  </p:stCondLst>
                                  <p:childTnLst>
                                    <p:anim calcmode="lin" valueType="num">
                                      <p:cBhvr>
                                        <p:cTn id="35" dur="1000"/>
                                        <p:tgtEl>
                                          <p:spTgt spid="391"/>
                                        </p:tgtEl>
                                        <p:attrNameLst>
                                          <p:attrName>ppt_w</p:attrName>
                                        </p:attrNameLst>
                                      </p:cBhvr>
                                      <p:tavLst>
                                        <p:tav tm="0">
                                          <p:val>
                                            <p:strVal val="ppt_w"/>
                                          </p:val>
                                        </p:tav>
                                        <p:tav tm="100000">
                                          <p:val>
                                            <p:fltVal val="0"/>
                                          </p:val>
                                        </p:tav>
                                      </p:tavLst>
                                    </p:anim>
                                    <p:anim calcmode="lin" valueType="num">
                                      <p:cBhvr>
                                        <p:cTn id="36" dur="1000"/>
                                        <p:tgtEl>
                                          <p:spTgt spid="391"/>
                                        </p:tgtEl>
                                        <p:attrNameLst>
                                          <p:attrName>ppt_h</p:attrName>
                                        </p:attrNameLst>
                                      </p:cBhvr>
                                      <p:tavLst>
                                        <p:tav tm="0">
                                          <p:val>
                                            <p:strVal val="ppt_h"/>
                                          </p:val>
                                        </p:tav>
                                        <p:tav tm="100000">
                                          <p:val>
                                            <p:fltVal val="0"/>
                                          </p:val>
                                        </p:tav>
                                      </p:tavLst>
                                    </p:anim>
                                    <p:anim calcmode="lin" valueType="num">
                                      <p:cBhvr>
                                        <p:cTn id="37" dur="1000"/>
                                        <p:tgtEl>
                                          <p:spTgt spid="391"/>
                                        </p:tgtEl>
                                        <p:attrNameLst>
                                          <p:attrName>style.rotation</p:attrName>
                                        </p:attrNameLst>
                                      </p:cBhvr>
                                      <p:tavLst>
                                        <p:tav tm="0">
                                          <p:val>
                                            <p:fltVal val="0"/>
                                          </p:val>
                                        </p:tav>
                                        <p:tav tm="100000">
                                          <p:val>
                                            <p:fltVal val="90"/>
                                          </p:val>
                                        </p:tav>
                                      </p:tavLst>
                                    </p:anim>
                                    <p:animEffect transition="out" filter="fade">
                                      <p:cBhvr>
                                        <p:cTn id="38" dur="1000"/>
                                        <p:tgtEl>
                                          <p:spTgt spid="391"/>
                                        </p:tgtEl>
                                      </p:cBhvr>
                                    </p:animEffect>
                                    <p:set>
                                      <p:cBhvr>
                                        <p:cTn id="39" dur="1" fill="hold">
                                          <p:stCondLst>
                                            <p:cond delay="999"/>
                                          </p:stCondLst>
                                        </p:cTn>
                                        <p:tgtEl>
                                          <p:spTgt spid="391"/>
                                        </p:tgtEl>
                                        <p:attrNameLst>
                                          <p:attrName>style.visibility</p:attrName>
                                        </p:attrNameLst>
                                      </p:cBhvr>
                                      <p:to>
                                        <p:strVal val="hidden"/>
                                      </p:to>
                                    </p:set>
                                  </p:childTnLst>
                                </p:cTn>
                              </p:par>
                              <p:par>
                                <p:cTn id="40" presetID="42" presetClass="entr" presetSubtype="0" fill="hold" nodeType="withEffect">
                                  <p:stCondLst>
                                    <p:cond delay="0"/>
                                  </p:stCondLst>
                                  <p:childTnLst>
                                    <p:set>
                                      <p:cBhvr>
                                        <p:cTn id="41" dur="1" fill="hold">
                                          <p:stCondLst>
                                            <p:cond delay="0"/>
                                          </p:stCondLst>
                                        </p:cTn>
                                        <p:tgtEl>
                                          <p:spTgt spid="338"/>
                                        </p:tgtEl>
                                        <p:attrNameLst>
                                          <p:attrName>style.visibility</p:attrName>
                                        </p:attrNameLst>
                                      </p:cBhvr>
                                      <p:to>
                                        <p:strVal val="visible"/>
                                      </p:to>
                                    </p:set>
                                    <p:animEffect transition="in" filter="fade">
                                      <p:cBhvr>
                                        <p:cTn id="42" dur="1000"/>
                                        <p:tgtEl>
                                          <p:spTgt spid="338"/>
                                        </p:tgtEl>
                                      </p:cBhvr>
                                    </p:animEffect>
                                    <p:anim calcmode="lin" valueType="num">
                                      <p:cBhvr>
                                        <p:cTn id="43" dur="1000" fill="hold"/>
                                        <p:tgtEl>
                                          <p:spTgt spid="338"/>
                                        </p:tgtEl>
                                        <p:attrNameLst>
                                          <p:attrName>ppt_x</p:attrName>
                                        </p:attrNameLst>
                                      </p:cBhvr>
                                      <p:tavLst>
                                        <p:tav tm="0">
                                          <p:val>
                                            <p:strVal val="#ppt_x"/>
                                          </p:val>
                                        </p:tav>
                                        <p:tav tm="100000">
                                          <p:val>
                                            <p:strVal val="#ppt_x"/>
                                          </p:val>
                                        </p:tav>
                                      </p:tavLst>
                                    </p:anim>
                                    <p:anim calcmode="lin" valueType="num">
                                      <p:cBhvr>
                                        <p:cTn id="44" dur="1000" fill="hold"/>
                                        <p:tgtEl>
                                          <p:spTgt spid="338"/>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54"/>
                                        </p:tgtEl>
                                        <p:attrNameLst>
                                          <p:attrName>style.visibility</p:attrName>
                                        </p:attrNameLst>
                                      </p:cBhvr>
                                      <p:to>
                                        <p:strVal val="visible"/>
                                      </p:to>
                                    </p:set>
                                    <p:animEffect transition="in" filter="fade">
                                      <p:cBhvr>
                                        <p:cTn id="47" dur="1000"/>
                                        <p:tgtEl>
                                          <p:spTgt spid="254"/>
                                        </p:tgtEl>
                                      </p:cBhvr>
                                    </p:animEffect>
                                    <p:anim calcmode="lin" valueType="num">
                                      <p:cBhvr>
                                        <p:cTn id="48" dur="1000" fill="hold"/>
                                        <p:tgtEl>
                                          <p:spTgt spid="254"/>
                                        </p:tgtEl>
                                        <p:attrNameLst>
                                          <p:attrName>ppt_x</p:attrName>
                                        </p:attrNameLst>
                                      </p:cBhvr>
                                      <p:tavLst>
                                        <p:tav tm="0">
                                          <p:val>
                                            <p:strVal val="#ppt_x"/>
                                          </p:val>
                                        </p:tav>
                                        <p:tav tm="100000">
                                          <p:val>
                                            <p:strVal val="#ppt_x"/>
                                          </p:val>
                                        </p:tav>
                                      </p:tavLst>
                                    </p:anim>
                                    <p:anim calcmode="lin" valueType="num">
                                      <p:cBhvr>
                                        <p:cTn id="49" dur="1000" fill="hold"/>
                                        <p:tgtEl>
                                          <p:spTgt spid="25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53"/>
                                        </p:tgtEl>
                                        <p:attrNameLst>
                                          <p:attrName>style.visibility</p:attrName>
                                        </p:attrNameLst>
                                      </p:cBhvr>
                                      <p:to>
                                        <p:strVal val="visible"/>
                                      </p:to>
                                    </p:set>
                                    <p:animEffect transition="in" filter="fade">
                                      <p:cBhvr>
                                        <p:cTn id="52" dur="1000"/>
                                        <p:tgtEl>
                                          <p:spTgt spid="253"/>
                                        </p:tgtEl>
                                      </p:cBhvr>
                                    </p:animEffect>
                                    <p:anim calcmode="lin" valueType="num">
                                      <p:cBhvr>
                                        <p:cTn id="53" dur="1000" fill="hold"/>
                                        <p:tgtEl>
                                          <p:spTgt spid="253"/>
                                        </p:tgtEl>
                                        <p:attrNameLst>
                                          <p:attrName>ppt_x</p:attrName>
                                        </p:attrNameLst>
                                      </p:cBhvr>
                                      <p:tavLst>
                                        <p:tav tm="0">
                                          <p:val>
                                            <p:strVal val="#ppt_x"/>
                                          </p:val>
                                        </p:tav>
                                        <p:tav tm="100000">
                                          <p:val>
                                            <p:strVal val="#ppt_x"/>
                                          </p:val>
                                        </p:tav>
                                      </p:tavLst>
                                    </p:anim>
                                    <p:anim calcmode="lin" valueType="num">
                                      <p:cBhvr>
                                        <p:cTn id="54" dur="1000" fill="hold"/>
                                        <p:tgtEl>
                                          <p:spTgt spid="253"/>
                                        </p:tgtEl>
                                        <p:attrNameLst>
                                          <p:attrName>ppt_y</p:attrName>
                                        </p:attrNameLst>
                                      </p:cBhvr>
                                      <p:tavLst>
                                        <p:tav tm="0">
                                          <p:val>
                                            <p:strVal val="#ppt_y+.1"/>
                                          </p:val>
                                        </p:tav>
                                        <p:tav tm="100000">
                                          <p:val>
                                            <p:strVal val="#ppt_y"/>
                                          </p:val>
                                        </p:tav>
                                      </p:tavLst>
                                    </p:anim>
                                  </p:childTnLst>
                                </p:cTn>
                              </p:par>
                            </p:childTnLst>
                          </p:cTn>
                        </p:par>
                        <p:par>
                          <p:cTn id="55" fill="hold">
                            <p:stCondLst>
                              <p:cond delay="4000"/>
                            </p:stCondLst>
                            <p:childTnLst>
                              <p:par>
                                <p:cTn id="56" presetID="10" presetClass="entr" presetSubtype="0" fill="hold" grpId="0" nodeType="afterEffect">
                                  <p:stCondLst>
                                    <p:cond delay="0"/>
                                  </p:stCondLst>
                                  <p:childTnLst>
                                    <p:set>
                                      <p:cBhvr>
                                        <p:cTn id="57" dur="1" fill="hold">
                                          <p:stCondLst>
                                            <p:cond delay="0"/>
                                          </p:stCondLst>
                                        </p:cTn>
                                        <p:tgtEl>
                                          <p:spTgt spid="255"/>
                                        </p:tgtEl>
                                        <p:attrNameLst>
                                          <p:attrName>style.visibility</p:attrName>
                                        </p:attrNameLst>
                                      </p:cBhvr>
                                      <p:to>
                                        <p:strVal val="visible"/>
                                      </p:to>
                                    </p:set>
                                    <p:animEffect transition="in" filter="fade">
                                      <p:cBhvr>
                                        <p:cTn id="58" dur="1000"/>
                                        <p:tgtEl>
                                          <p:spTgt spid="255"/>
                                        </p:tgtEl>
                                      </p:cBhvr>
                                    </p:animEffect>
                                  </p:childTnLst>
                                </p:cTn>
                              </p:par>
                              <p:par>
                                <p:cTn id="59" presetID="10" presetClass="exit" presetSubtype="0" fill="hold" grpId="0" nodeType="withEffect">
                                  <p:stCondLst>
                                    <p:cond delay="0"/>
                                  </p:stCondLst>
                                  <p:childTnLst>
                                    <p:animEffect transition="out" filter="fade">
                                      <p:cBhvr>
                                        <p:cTn id="60" dur="500"/>
                                        <p:tgtEl>
                                          <p:spTgt spid="256"/>
                                        </p:tgtEl>
                                      </p:cBhvr>
                                    </p:animEffect>
                                    <p:set>
                                      <p:cBhvr>
                                        <p:cTn id="61" dur="1" fill="hold">
                                          <p:stCondLst>
                                            <p:cond delay="499"/>
                                          </p:stCondLst>
                                        </p:cTn>
                                        <p:tgtEl>
                                          <p:spTgt spid="256"/>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399"/>
                                        </p:tgtEl>
                                        <p:attrNameLst>
                                          <p:attrName>style.visibility</p:attrName>
                                        </p:attrNameLst>
                                      </p:cBhvr>
                                      <p:to>
                                        <p:strVal val="visible"/>
                                      </p:to>
                                    </p:set>
                                    <p:animEffect transition="in" filter="fade">
                                      <p:cBhvr>
                                        <p:cTn id="66" dur="1000"/>
                                        <p:tgtEl>
                                          <p:spTgt spid="399"/>
                                        </p:tgtEl>
                                      </p:cBhvr>
                                    </p:animEffect>
                                    <p:anim calcmode="lin" valueType="num">
                                      <p:cBhvr>
                                        <p:cTn id="67" dur="1000" fill="hold"/>
                                        <p:tgtEl>
                                          <p:spTgt spid="399"/>
                                        </p:tgtEl>
                                        <p:attrNameLst>
                                          <p:attrName>ppt_x</p:attrName>
                                        </p:attrNameLst>
                                      </p:cBhvr>
                                      <p:tavLst>
                                        <p:tav tm="0">
                                          <p:val>
                                            <p:strVal val="#ppt_x"/>
                                          </p:val>
                                        </p:tav>
                                        <p:tav tm="100000">
                                          <p:val>
                                            <p:strVal val="#ppt_x"/>
                                          </p:val>
                                        </p:tav>
                                      </p:tavLst>
                                    </p:anim>
                                    <p:anim calcmode="lin" valueType="num">
                                      <p:cBhvr>
                                        <p:cTn id="68" dur="1000" fill="hold"/>
                                        <p:tgtEl>
                                          <p:spTgt spid="399"/>
                                        </p:tgtEl>
                                        <p:attrNameLst>
                                          <p:attrName>ppt_y</p:attrName>
                                        </p:attrNameLst>
                                      </p:cBhvr>
                                      <p:tavLst>
                                        <p:tav tm="0">
                                          <p:val>
                                            <p:strVal val="#ppt_y+.1"/>
                                          </p:val>
                                        </p:tav>
                                        <p:tav tm="100000">
                                          <p:val>
                                            <p:strVal val="#ppt_y"/>
                                          </p:val>
                                        </p:tav>
                                      </p:tavLst>
                                    </p:anim>
                                  </p:childTnLst>
                                </p:cTn>
                              </p:par>
                              <p:par>
                                <p:cTn id="69" presetID="47" presetClass="entr" presetSubtype="0" fill="hold" grpId="0" nodeType="withEffect">
                                  <p:stCondLst>
                                    <p:cond delay="0"/>
                                  </p:stCondLst>
                                  <p:childTnLst>
                                    <p:set>
                                      <p:cBhvr>
                                        <p:cTn id="70" dur="1" fill="hold">
                                          <p:stCondLst>
                                            <p:cond delay="0"/>
                                          </p:stCondLst>
                                        </p:cTn>
                                        <p:tgtEl>
                                          <p:spTgt spid="401"/>
                                        </p:tgtEl>
                                        <p:attrNameLst>
                                          <p:attrName>style.visibility</p:attrName>
                                        </p:attrNameLst>
                                      </p:cBhvr>
                                      <p:to>
                                        <p:strVal val="visible"/>
                                      </p:to>
                                    </p:set>
                                    <p:animEffect transition="in" filter="fade">
                                      <p:cBhvr>
                                        <p:cTn id="71" dur="1000"/>
                                        <p:tgtEl>
                                          <p:spTgt spid="401"/>
                                        </p:tgtEl>
                                      </p:cBhvr>
                                    </p:animEffect>
                                    <p:anim calcmode="lin" valueType="num">
                                      <p:cBhvr>
                                        <p:cTn id="72" dur="1000" fill="hold"/>
                                        <p:tgtEl>
                                          <p:spTgt spid="401"/>
                                        </p:tgtEl>
                                        <p:attrNameLst>
                                          <p:attrName>ppt_x</p:attrName>
                                        </p:attrNameLst>
                                      </p:cBhvr>
                                      <p:tavLst>
                                        <p:tav tm="0">
                                          <p:val>
                                            <p:strVal val="#ppt_x"/>
                                          </p:val>
                                        </p:tav>
                                        <p:tav tm="100000">
                                          <p:val>
                                            <p:strVal val="#ppt_x"/>
                                          </p:val>
                                        </p:tav>
                                      </p:tavLst>
                                    </p:anim>
                                    <p:anim calcmode="lin" valueType="num">
                                      <p:cBhvr>
                                        <p:cTn id="73" dur="1000" fill="hold"/>
                                        <p:tgtEl>
                                          <p:spTgt spid="4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p:bldP spid="252" grpId="0" animBg="1"/>
      <p:bldP spid="253" grpId="0"/>
      <p:bldP spid="254" grpId="0" animBg="1"/>
      <p:bldP spid="391" grpId="0" animBg="1"/>
      <p:bldP spid="391" grpId="1" animBg="1"/>
      <p:bldP spid="392" grpId="0" animBg="1"/>
      <p:bldP spid="392" grpId="1" animBg="1"/>
      <p:bldP spid="399" grpId="0" animBg="1"/>
      <p:bldP spid="401" grpId="0" animBg="1"/>
      <p:bldP spid="255" grpId="0"/>
      <p:bldP spid="256" grpId="0"/>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45"/>
        <p:cNvGrpSpPr/>
        <p:nvPr/>
      </p:nvGrpSpPr>
      <p:grpSpPr>
        <a:xfrm>
          <a:off x="0" y="0"/>
          <a:ext cx="0" cy="0"/>
          <a:chOff x="0" y="0"/>
          <a:chExt cx="0" cy="0"/>
        </a:xfrm>
      </p:grpSpPr>
      <p:sp>
        <p:nvSpPr>
          <p:cNvPr id="3246" name="Google Shape;3246;p75"/>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3247" name="Google Shape;3247;p75"/>
          <p:cNvGrpSpPr/>
          <p:nvPr/>
        </p:nvGrpSpPr>
        <p:grpSpPr>
          <a:xfrm>
            <a:off x="1284576" y="2130924"/>
            <a:ext cx="10188969" cy="756004"/>
            <a:chOff x="926134" y="1719856"/>
            <a:chExt cx="9204181" cy="750147"/>
          </a:xfrm>
        </p:grpSpPr>
        <p:sp>
          <p:nvSpPr>
            <p:cNvPr id="3248" name="Google Shape;3248;p75"/>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3월부터 6월까지 진행될 광고 캠페인 비용을 은행 이체로 결제함.</a:t>
              </a:r>
              <a:endParaRPr sz="2000">
                <a:solidFill>
                  <a:schemeClr val="dk1"/>
                </a:solidFill>
                <a:latin typeface="Avenir"/>
                <a:ea typeface="Avenir"/>
                <a:cs typeface="Avenir"/>
                <a:sym typeface="Avenir"/>
              </a:endParaRPr>
            </a:p>
          </p:txBody>
        </p:sp>
        <p:sp>
          <p:nvSpPr>
            <p:cNvPr id="3249" name="Google Shape;3249;p75"/>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Deferred expenses</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800</a:t>
              </a:r>
              <a:endParaRPr/>
            </a:p>
          </p:txBody>
        </p:sp>
        <p:sp>
          <p:nvSpPr>
            <p:cNvPr id="3250" name="Google Shape;3250;p75"/>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Cash</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800</a:t>
              </a:r>
              <a:endParaRPr/>
            </a:p>
          </p:txBody>
        </p:sp>
        <p:sp>
          <p:nvSpPr>
            <p:cNvPr id="3251" name="Google Shape;3251;p75"/>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13</a:t>
              </a:r>
              <a:endParaRPr/>
            </a:p>
          </p:txBody>
        </p:sp>
      </p:grpSp>
      <p:sp>
        <p:nvSpPr>
          <p:cNvPr id="3252" name="Google Shape;3252;p75"/>
          <p:cNvSpPr txBox="1"/>
          <p:nvPr/>
        </p:nvSpPr>
        <p:spPr>
          <a:xfrm>
            <a:off x="8109273" y="2130924"/>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800</a:t>
            </a:r>
            <a:endParaRPr/>
          </a:p>
        </p:txBody>
      </p:sp>
      <p:sp>
        <p:nvSpPr>
          <p:cNvPr id="3253" name="Google Shape;3253;p75"/>
          <p:cNvSpPr txBox="1"/>
          <p:nvPr/>
        </p:nvSpPr>
        <p:spPr>
          <a:xfrm>
            <a:off x="9792343" y="2130924"/>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800</a:t>
            </a:r>
            <a:endParaRPr/>
          </a:p>
        </p:txBody>
      </p:sp>
      <p:cxnSp>
        <p:nvCxnSpPr>
          <p:cNvPr id="3254" name="Google Shape;3254;p75"/>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3255" name="Google Shape;3255;p75"/>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28 February</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1443348"/>
            <a:ext cx="1620000" cy="2515350"/>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09" name="TextBox 108">
            <a:extLst>
              <a:ext uri="{FF2B5EF4-FFF2-40B4-BE49-F238E27FC236}">
                <a16:creationId xmlns:a16="http://schemas.microsoft.com/office/drawing/2014/main" id="{B694B919-534C-2C41-8C61-09F0BDF0CC10}"/>
              </a:ext>
            </a:extLst>
          </p:cNvPr>
          <p:cNvSpPr txBox="1"/>
          <p:nvPr/>
        </p:nvSpPr>
        <p:spPr>
          <a:xfrm>
            <a:off x="4101806" y="2478490"/>
            <a:ext cx="1911388" cy="338554"/>
          </a:xfrm>
          <a:prstGeom prst="rect">
            <a:avLst/>
          </a:prstGeom>
          <a:noFill/>
        </p:spPr>
        <p:txBody>
          <a:bodyPr wrap="square" rtlCol="0">
            <a:spAutoFit/>
          </a:bodyPr>
          <a:lstStyle/>
          <a:p>
            <a:pPr algn="ctr"/>
            <a:r>
              <a:rPr lang="en-US" sz="1600">
                <a:latin typeface="Avenir"/>
              </a:rPr>
              <a:t>Deferred expenses</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18" name="TextBox 117">
            <a:extLst>
              <a:ext uri="{FF2B5EF4-FFF2-40B4-BE49-F238E27FC236}">
                <a16:creationId xmlns:a16="http://schemas.microsoft.com/office/drawing/2014/main" id="{771DDF6F-B29C-AF46-A26D-B05A0E9136DB}"/>
              </a:ext>
            </a:extLst>
          </p:cNvPr>
          <p:cNvSpPr txBox="1"/>
          <p:nvPr/>
        </p:nvSpPr>
        <p:spPr>
          <a:xfrm>
            <a:off x="8114313" y="2028286"/>
            <a:ext cx="1864201" cy="338554"/>
          </a:xfrm>
          <a:prstGeom prst="rect">
            <a:avLst/>
          </a:prstGeom>
          <a:noFill/>
        </p:spPr>
        <p:txBody>
          <a:bodyPr wrap="square" rtlCol="0">
            <a:spAutoFit/>
          </a:bodyPr>
          <a:lstStyle/>
          <a:p>
            <a:pPr algn="ctr"/>
            <a:r>
              <a:rPr lang="en-US" sz="1600" dirty="0">
                <a:latin typeface="Avenir"/>
              </a:rPr>
              <a:t>Deferred revenue</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2" name="TextBox 171">
            <a:extLst>
              <a:ext uri="{FF2B5EF4-FFF2-40B4-BE49-F238E27FC236}">
                <a16:creationId xmlns:a16="http://schemas.microsoft.com/office/drawing/2014/main" id="{1E829A5C-2F66-F748-9AB9-2ABF768ADAA8}"/>
              </a:ext>
            </a:extLst>
          </p:cNvPr>
          <p:cNvSpPr txBox="1"/>
          <p:nvPr/>
        </p:nvSpPr>
        <p:spPr>
          <a:xfrm>
            <a:off x="3469894" y="172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175" name="TextBox 174">
            <a:extLst>
              <a:ext uri="{FF2B5EF4-FFF2-40B4-BE49-F238E27FC236}">
                <a16:creationId xmlns:a16="http://schemas.microsoft.com/office/drawing/2014/main" id="{1EDF2EBA-BB67-8B4C-A078-DBEAC0E841AA}"/>
              </a:ext>
            </a:extLst>
          </p:cNvPr>
          <p:cNvSpPr txBox="1"/>
          <p:nvPr/>
        </p:nvSpPr>
        <p:spPr>
          <a:xfrm>
            <a:off x="3469894" y="1454709"/>
            <a:ext cx="526106" cy="338554"/>
          </a:xfrm>
          <a:prstGeom prst="rect">
            <a:avLst/>
          </a:prstGeom>
          <a:noFill/>
        </p:spPr>
        <p:txBody>
          <a:bodyPr wrap="none" rtlCol="0">
            <a:spAutoFit/>
          </a:bodyPr>
          <a:lstStyle/>
          <a:p>
            <a:pPr algn="r"/>
            <a:r>
              <a:rPr lang="en-US" sz="1600" b="1">
                <a:solidFill>
                  <a:schemeClr val="accent2"/>
                </a:solidFill>
                <a:latin typeface="Avenir"/>
              </a:rPr>
              <a:t>800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 name="Down Arrow 1">
            <a:extLst>
              <a:ext uri="{FF2B5EF4-FFF2-40B4-BE49-F238E27FC236}">
                <a16:creationId xmlns:a16="http://schemas.microsoft.com/office/drawing/2014/main" id="{F86048BE-D5F3-F04C-A5C9-FD8784673821}"/>
              </a:ext>
            </a:extLst>
          </p:cNvPr>
          <p:cNvSpPr/>
          <p:nvPr/>
        </p:nvSpPr>
        <p:spPr>
          <a:xfrm>
            <a:off x="3011371" y="152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Down Arrow 198">
            <a:extLst>
              <a:ext uri="{FF2B5EF4-FFF2-40B4-BE49-F238E27FC236}">
                <a16:creationId xmlns:a16="http://schemas.microsoft.com/office/drawing/2014/main" id="{3FD208AA-CF32-B64F-B03C-969D3C0C8C66}"/>
              </a:ext>
            </a:extLst>
          </p:cNvPr>
          <p:cNvSpPr/>
          <p:nvPr/>
        </p:nvSpPr>
        <p:spPr>
          <a:xfrm rot="10800000">
            <a:off x="3011371" y="177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D59EDECC-B1D1-B040-BBB3-304302444F36}"/>
              </a:ext>
            </a:extLst>
          </p:cNvPr>
          <p:cNvSpPr txBox="1"/>
          <p:nvPr/>
        </p:nvSpPr>
        <p:spPr>
          <a:xfrm>
            <a:off x="3469894" y="199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21" name="Down Arrow 220">
            <a:extLst>
              <a:ext uri="{FF2B5EF4-FFF2-40B4-BE49-F238E27FC236}">
                <a16:creationId xmlns:a16="http://schemas.microsoft.com/office/drawing/2014/main" id="{123666BC-850F-5440-BFCE-47B8E5B5429B}"/>
              </a:ext>
            </a:extLst>
          </p:cNvPr>
          <p:cNvSpPr/>
          <p:nvPr/>
        </p:nvSpPr>
        <p:spPr>
          <a:xfrm rot="10800000">
            <a:off x="3007666" y="204993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TextBox 238">
            <a:extLst>
              <a:ext uri="{FF2B5EF4-FFF2-40B4-BE49-F238E27FC236}">
                <a16:creationId xmlns:a16="http://schemas.microsoft.com/office/drawing/2014/main" id="{A523F897-551A-8F49-B6AB-51DBFD3C53C0}"/>
              </a:ext>
            </a:extLst>
          </p:cNvPr>
          <p:cNvSpPr txBox="1"/>
          <p:nvPr/>
        </p:nvSpPr>
        <p:spPr>
          <a:xfrm>
            <a:off x="3599552" y="4796571"/>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250</a:t>
            </a:r>
          </a:p>
        </p:txBody>
      </p:sp>
      <p:sp>
        <p:nvSpPr>
          <p:cNvPr id="240" name="Down Arrow 239">
            <a:extLst>
              <a:ext uri="{FF2B5EF4-FFF2-40B4-BE49-F238E27FC236}">
                <a16:creationId xmlns:a16="http://schemas.microsoft.com/office/drawing/2014/main" id="{07DD916A-3850-9F4F-81C8-0C94788A77D2}"/>
              </a:ext>
            </a:extLst>
          </p:cNvPr>
          <p:cNvSpPr/>
          <p:nvPr/>
        </p:nvSpPr>
        <p:spPr>
          <a:xfrm rot="10800000">
            <a:off x="3096000" y="484745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extBox 240">
            <a:extLst>
              <a:ext uri="{FF2B5EF4-FFF2-40B4-BE49-F238E27FC236}">
                <a16:creationId xmlns:a16="http://schemas.microsoft.com/office/drawing/2014/main" id="{88F3874F-A130-C843-9E72-AFB2DD902123}"/>
              </a:ext>
            </a:extLst>
          </p:cNvPr>
          <p:cNvSpPr txBox="1"/>
          <p:nvPr/>
        </p:nvSpPr>
        <p:spPr>
          <a:xfrm>
            <a:off x="7487489" y="1462635"/>
            <a:ext cx="526106" cy="338554"/>
          </a:xfrm>
          <a:prstGeom prst="rect">
            <a:avLst/>
          </a:prstGeom>
          <a:noFill/>
        </p:spPr>
        <p:txBody>
          <a:bodyPr wrap="none" rtlCol="0">
            <a:spAutoFit/>
          </a:bodyPr>
          <a:lstStyle/>
          <a:p>
            <a:pPr algn="r"/>
            <a:r>
              <a:rPr lang="en-US" sz="1600" b="1">
                <a:solidFill>
                  <a:schemeClr val="accent2"/>
                </a:solidFill>
                <a:latin typeface="Avenir"/>
              </a:rPr>
              <a:t>250</a:t>
            </a:r>
          </a:p>
        </p:txBody>
      </p:sp>
      <p:sp>
        <p:nvSpPr>
          <p:cNvPr id="242" name="Down Arrow 241">
            <a:extLst>
              <a:ext uri="{FF2B5EF4-FFF2-40B4-BE49-F238E27FC236}">
                <a16:creationId xmlns:a16="http://schemas.microsoft.com/office/drawing/2014/main" id="{84AF3014-B3DD-BD46-8650-EE907DDD90EA}"/>
              </a:ext>
            </a:extLst>
          </p:cNvPr>
          <p:cNvSpPr/>
          <p:nvPr/>
        </p:nvSpPr>
        <p:spPr>
          <a:xfrm rot="10800000">
            <a:off x="6984000" y="14983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3" name="TextBox 242">
            <a:extLst>
              <a:ext uri="{FF2B5EF4-FFF2-40B4-BE49-F238E27FC236}">
                <a16:creationId xmlns:a16="http://schemas.microsoft.com/office/drawing/2014/main" id="{5B2E3768-A879-AE44-BA1D-3F82ECAC6E48}"/>
              </a:ext>
            </a:extLst>
          </p:cNvPr>
          <p:cNvSpPr txBox="1"/>
          <p:nvPr/>
        </p:nvSpPr>
        <p:spPr>
          <a:xfrm>
            <a:off x="9285817" y="1715500"/>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244" name="Down Arrow 243">
            <a:extLst>
              <a:ext uri="{FF2B5EF4-FFF2-40B4-BE49-F238E27FC236}">
                <a16:creationId xmlns:a16="http://schemas.microsoft.com/office/drawing/2014/main" id="{4574C5E5-4218-674B-8FB2-AB88F7FB3FDD}"/>
              </a:ext>
            </a:extLst>
          </p:cNvPr>
          <p:cNvSpPr/>
          <p:nvPr/>
        </p:nvSpPr>
        <p:spPr>
          <a:xfrm rot="10800000">
            <a:off x="8784000" y="1751173"/>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5" name="TextBox 244">
            <a:extLst>
              <a:ext uri="{FF2B5EF4-FFF2-40B4-BE49-F238E27FC236}">
                <a16:creationId xmlns:a16="http://schemas.microsoft.com/office/drawing/2014/main" id="{30F9F41D-65FA-3E4A-B645-18A9F04A48C7}"/>
              </a:ext>
            </a:extLst>
          </p:cNvPr>
          <p:cNvSpPr txBox="1"/>
          <p:nvPr/>
        </p:nvSpPr>
        <p:spPr>
          <a:xfrm>
            <a:off x="5269894" y="965882"/>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46" name="Down Arrow 245">
            <a:extLst>
              <a:ext uri="{FF2B5EF4-FFF2-40B4-BE49-F238E27FC236}">
                <a16:creationId xmlns:a16="http://schemas.microsoft.com/office/drawing/2014/main" id="{810B7F9B-FFF6-7646-B180-66C5E6B1ADE6}"/>
              </a:ext>
            </a:extLst>
          </p:cNvPr>
          <p:cNvSpPr/>
          <p:nvPr/>
        </p:nvSpPr>
        <p:spPr>
          <a:xfrm>
            <a:off x="4825605" y="10220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TextBox 246">
            <a:extLst>
              <a:ext uri="{FF2B5EF4-FFF2-40B4-BE49-F238E27FC236}">
                <a16:creationId xmlns:a16="http://schemas.microsoft.com/office/drawing/2014/main" id="{AA659AB1-43FB-D747-AC50-E4454DC4B036}"/>
              </a:ext>
            </a:extLst>
          </p:cNvPr>
          <p:cNvSpPr txBox="1"/>
          <p:nvPr/>
        </p:nvSpPr>
        <p:spPr>
          <a:xfrm>
            <a:off x="7543708" y="5375143"/>
            <a:ext cx="412292" cy="338554"/>
          </a:xfrm>
          <a:prstGeom prst="rect">
            <a:avLst/>
          </a:prstGeom>
          <a:noFill/>
        </p:spPr>
        <p:txBody>
          <a:bodyPr wrap="none" rtlCol="0">
            <a:spAutoFit/>
          </a:bodyPr>
          <a:lstStyle/>
          <a:p>
            <a:pPr algn="r"/>
            <a:r>
              <a:rPr lang="en-US" sz="1600" b="1">
                <a:solidFill>
                  <a:schemeClr val="accent2"/>
                </a:solidFill>
                <a:latin typeface="Avenir"/>
              </a:rPr>
              <a:t>90</a:t>
            </a:r>
          </a:p>
        </p:txBody>
      </p:sp>
      <p:sp>
        <p:nvSpPr>
          <p:cNvPr id="248" name="Down Arrow 247">
            <a:extLst>
              <a:ext uri="{FF2B5EF4-FFF2-40B4-BE49-F238E27FC236}">
                <a16:creationId xmlns:a16="http://schemas.microsoft.com/office/drawing/2014/main" id="{12BC87CD-B219-D944-A303-51AE7219B591}"/>
              </a:ext>
            </a:extLst>
          </p:cNvPr>
          <p:cNvSpPr/>
          <p:nvPr/>
        </p:nvSpPr>
        <p:spPr>
          <a:xfrm rot="10800000">
            <a:off x="6984000" y="5425275"/>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9" name="TextBox 248">
            <a:extLst>
              <a:ext uri="{FF2B5EF4-FFF2-40B4-BE49-F238E27FC236}">
                <a16:creationId xmlns:a16="http://schemas.microsoft.com/office/drawing/2014/main" id="{A2C44290-0620-2943-8A42-C52EE722BCBB}"/>
              </a:ext>
            </a:extLst>
          </p:cNvPr>
          <p:cNvSpPr txBox="1"/>
          <p:nvPr/>
        </p:nvSpPr>
        <p:spPr>
          <a:xfrm>
            <a:off x="8947923" y="1452209"/>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90</a:t>
            </a:r>
          </a:p>
        </p:txBody>
      </p:sp>
      <p:sp>
        <p:nvSpPr>
          <p:cNvPr id="250" name="Down Arrow 249">
            <a:extLst>
              <a:ext uri="{FF2B5EF4-FFF2-40B4-BE49-F238E27FC236}">
                <a16:creationId xmlns:a16="http://schemas.microsoft.com/office/drawing/2014/main" id="{99FBA779-2143-0245-85BB-6BF02CC500E6}"/>
              </a:ext>
            </a:extLst>
          </p:cNvPr>
          <p:cNvSpPr/>
          <p:nvPr/>
        </p:nvSpPr>
        <p:spPr>
          <a:xfrm>
            <a:off x="8784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51" name="TextBox 250">
            <a:extLst>
              <a:ext uri="{FF2B5EF4-FFF2-40B4-BE49-F238E27FC236}">
                <a16:creationId xmlns:a16="http://schemas.microsoft.com/office/drawing/2014/main" id="{42AF0AB4-8D2B-0143-996A-B4981D471025}"/>
              </a:ext>
            </a:extLst>
          </p:cNvPr>
          <p:cNvSpPr txBox="1"/>
          <p:nvPr/>
        </p:nvSpPr>
        <p:spPr>
          <a:xfrm>
            <a:off x="5383708" y="2869537"/>
            <a:ext cx="412292" cy="338554"/>
          </a:xfrm>
          <a:prstGeom prst="rect">
            <a:avLst/>
          </a:prstGeom>
          <a:noFill/>
        </p:spPr>
        <p:txBody>
          <a:bodyPr wrap="none" rtlCol="0">
            <a:spAutoFit/>
          </a:bodyPr>
          <a:lstStyle/>
          <a:p>
            <a:pPr algn="r"/>
            <a:r>
              <a:rPr lang="en-US" sz="1600" b="1">
                <a:solidFill>
                  <a:schemeClr val="accent2"/>
                </a:solidFill>
                <a:latin typeface="Avenir"/>
              </a:rPr>
              <a:t>30</a:t>
            </a:r>
          </a:p>
        </p:txBody>
      </p:sp>
      <p:sp>
        <p:nvSpPr>
          <p:cNvPr id="252" name="Down Arrow 251">
            <a:extLst>
              <a:ext uri="{FF2B5EF4-FFF2-40B4-BE49-F238E27FC236}">
                <a16:creationId xmlns:a16="http://schemas.microsoft.com/office/drawing/2014/main" id="{A7123581-9911-2E40-8E28-9FC2BB675D83}"/>
              </a:ext>
            </a:extLst>
          </p:cNvPr>
          <p:cNvSpPr/>
          <p:nvPr/>
        </p:nvSpPr>
        <p:spPr>
          <a:xfrm>
            <a:off x="4824000" y="29337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a:extLst>
              <a:ext uri="{FF2B5EF4-FFF2-40B4-BE49-F238E27FC236}">
                <a16:creationId xmlns:a16="http://schemas.microsoft.com/office/drawing/2014/main" id="{1F19AD71-5F84-1F46-AE8C-130720EF36F1}"/>
              </a:ext>
            </a:extLst>
          </p:cNvPr>
          <p:cNvSpPr txBox="1"/>
          <p:nvPr/>
        </p:nvSpPr>
        <p:spPr>
          <a:xfrm>
            <a:off x="5419708" y="5397501"/>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30</a:t>
            </a:r>
          </a:p>
        </p:txBody>
      </p:sp>
      <p:sp>
        <p:nvSpPr>
          <p:cNvPr id="254" name="Down Arrow 253">
            <a:extLst>
              <a:ext uri="{FF2B5EF4-FFF2-40B4-BE49-F238E27FC236}">
                <a16:creationId xmlns:a16="http://schemas.microsoft.com/office/drawing/2014/main" id="{21A7DE91-A1BB-F143-9944-47847F9AE787}"/>
              </a:ext>
            </a:extLst>
          </p:cNvPr>
          <p:cNvSpPr/>
          <p:nvPr/>
        </p:nvSpPr>
        <p:spPr>
          <a:xfrm rot="10800000">
            <a:off x="4860000" y="544838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TextBox 254">
            <a:extLst>
              <a:ext uri="{FF2B5EF4-FFF2-40B4-BE49-F238E27FC236}">
                <a16:creationId xmlns:a16="http://schemas.microsoft.com/office/drawing/2014/main" id="{05B1A396-D0F4-AF4A-BCBC-DE574C091153}"/>
              </a:ext>
            </a:extLst>
          </p:cNvPr>
          <p:cNvSpPr txBox="1"/>
          <p:nvPr/>
        </p:nvSpPr>
        <p:spPr>
          <a:xfrm>
            <a:off x="5269894" y="215709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800</a:t>
            </a:r>
          </a:p>
        </p:txBody>
      </p:sp>
      <p:sp>
        <p:nvSpPr>
          <p:cNvPr id="256" name="Down Arrow 255">
            <a:extLst>
              <a:ext uri="{FF2B5EF4-FFF2-40B4-BE49-F238E27FC236}">
                <a16:creationId xmlns:a16="http://schemas.microsoft.com/office/drawing/2014/main" id="{38C36F68-D429-D34F-9A05-65CE9CE1A050}"/>
              </a:ext>
            </a:extLst>
          </p:cNvPr>
          <p:cNvSpPr/>
          <p:nvPr/>
        </p:nvSpPr>
        <p:spPr>
          <a:xfrm rot="10800000">
            <a:off x="4824000" y="219837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5" name="Group 274">
            <a:extLst>
              <a:ext uri="{FF2B5EF4-FFF2-40B4-BE49-F238E27FC236}">
                <a16:creationId xmlns:a16="http://schemas.microsoft.com/office/drawing/2014/main" id="{0453C8DB-4862-DB4A-B585-8CA95BFC63F2}"/>
              </a:ext>
            </a:extLst>
          </p:cNvPr>
          <p:cNvGrpSpPr>
            <a:grpSpLocks noChangeAspect="1"/>
          </p:cNvGrpSpPr>
          <p:nvPr/>
        </p:nvGrpSpPr>
        <p:grpSpPr>
          <a:xfrm>
            <a:off x="2528691" y="1497833"/>
            <a:ext cx="309700" cy="223917"/>
            <a:chOff x="756599" y="3715226"/>
            <a:chExt cx="321512" cy="232457"/>
          </a:xfrm>
        </p:grpSpPr>
        <p:sp>
          <p:nvSpPr>
            <p:cNvPr id="276" name="Oval 275">
              <a:extLst>
                <a:ext uri="{FF2B5EF4-FFF2-40B4-BE49-F238E27FC236}">
                  <a16:creationId xmlns:a16="http://schemas.microsoft.com/office/drawing/2014/main" id="{774D601C-555F-6541-9D58-035F53E13D4B}"/>
                </a:ext>
              </a:extLst>
            </p:cNvPr>
            <p:cNvSpPr>
              <a:spLocks noChangeAspect="1"/>
            </p:cNvSpPr>
            <p:nvPr/>
          </p:nvSpPr>
          <p:spPr>
            <a:xfrm>
              <a:off x="810780" y="3715226"/>
              <a:ext cx="224238" cy="224238"/>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77" name="Rectangle 276">
              <a:extLst>
                <a:ext uri="{FF2B5EF4-FFF2-40B4-BE49-F238E27FC236}">
                  <a16:creationId xmlns:a16="http://schemas.microsoft.com/office/drawing/2014/main" id="{BA257676-24B8-1342-B932-23DDEB005B47}"/>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13</a:t>
              </a:r>
            </a:p>
          </p:txBody>
        </p:sp>
      </p:grpSp>
      <p:grpSp>
        <p:nvGrpSpPr>
          <p:cNvPr id="278" name="Group 277">
            <a:extLst>
              <a:ext uri="{FF2B5EF4-FFF2-40B4-BE49-F238E27FC236}">
                <a16:creationId xmlns:a16="http://schemas.microsoft.com/office/drawing/2014/main" id="{775D2738-1A15-3D43-963E-83A150D3DD08}"/>
              </a:ext>
            </a:extLst>
          </p:cNvPr>
          <p:cNvGrpSpPr>
            <a:grpSpLocks noChangeAspect="1"/>
          </p:cNvGrpSpPr>
          <p:nvPr/>
        </p:nvGrpSpPr>
        <p:grpSpPr>
          <a:xfrm>
            <a:off x="2528691" y="1763611"/>
            <a:ext cx="309700" cy="223916"/>
            <a:chOff x="756599" y="3715227"/>
            <a:chExt cx="321512" cy="232456"/>
          </a:xfrm>
        </p:grpSpPr>
        <p:sp>
          <p:nvSpPr>
            <p:cNvPr id="279" name="Oval 278">
              <a:extLst>
                <a:ext uri="{FF2B5EF4-FFF2-40B4-BE49-F238E27FC236}">
                  <a16:creationId xmlns:a16="http://schemas.microsoft.com/office/drawing/2014/main" id="{E14654BD-BDE4-0748-912C-22432B5DD3D8}"/>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0" name="Rectangle 279">
              <a:extLst>
                <a:ext uri="{FF2B5EF4-FFF2-40B4-BE49-F238E27FC236}">
                  <a16:creationId xmlns:a16="http://schemas.microsoft.com/office/drawing/2014/main" id="{6A79CA8D-AC8C-2649-8D3F-6C8279757C83}"/>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281" name="Group 280">
            <a:extLst>
              <a:ext uri="{FF2B5EF4-FFF2-40B4-BE49-F238E27FC236}">
                <a16:creationId xmlns:a16="http://schemas.microsoft.com/office/drawing/2014/main" id="{038C4DBA-DFAC-4340-8960-9AF8BB8FC7AF}"/>
              </a:ext>
            </a:extLst>
          </p:cNvPr>
          <p:cNvGrpSpPr>
            <a:grpSpLocks noChangeAspect="1"/>
          </p:cNvGrpSpPr>
          <p:nvPr/>
        </p:nvGrpSpPr>
        <p:grpSpPr>
          <a:xfrm>
            <a:off x="2528691" y="2037441"/>
            <a:ext cx="309700" cy="223916"/>
            <a:chOff x="756599" y="3715227"/>
            <a:chExt cx="321512" cy="232456"/>
          </a:xfrm>
        </p:grpSpPr>
        <p:sp>
          <p:nvSpPr>
            <p:cNvPr id="282" name="Oval 281">
              <a:extLst>
                <a:ext uri="{FF2B5EF4-FFF2-40B4-BE49-F238E27FC236}">
                  <a16:creationId xmlns:a16="http://schemas.microsoft.com/office/drawing/2014/main" id="{D97D5EE0-8446-1244-A657-E9DBF68238D5}"/>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3" name="Rectangle 282">
              <a:extLst>
                <a:ext uri="{FF2B5EF4-FFF2-40B4-BE49-F238E27FC236}">
                  <a16:creationId xmlns:a16="http://schemas.microsoft.com/office/drawing/2014/main" id="{56AA7E7C-0592-B744-AFA9-D3A064F8B33C}"/>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9" name="Group 328">
            <a:extLst>
              <a:ext uri="{FF2B5EF4-FFF2-40B4-BE49-F238E27FC236}">
                <a16:creationId xmlns:a16="http://schemas.microsoft.com/office/drawing/2014/main" id="{E15F7DE2-F1EB-C94A-AE48-4487C8B506B6}"/>
              </a:ext>
            </a:extLst>
          </p:cNvPr>
          <p:cNvGrpSpPr/>
          <p:nvPr/>
        </p:nvGrpSpPr>
        <p:grpSpPr>
          <a:xfrm>
            <a:off x="4330045" y="3136880"/>
            <a:ext cx="309700" cy="224238"/>
            <a:chOff x="770743" y="3715228"/>
            <a:chExt cx="309700" cy="224238"/>
          </a:xfrm>
        </p:grpSpPr>
        <p:sp>
          <p:nvSpPr>
            <p:cNvPr id="330" name="Oval 329">
              <a:extLst>
                <a:ext uri="{FF2B5EF4-FFF2-40B4-BE49-F238E27FC236}">
                  <a16:creationId xmlns:a16="http://schemas.microsoft.com/office/drawing/2014/main" id="{920E5E24-BE4B-BC48-AFD2-943FE12CD729}"/>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2" name="Group 331">
            <a:extLst>
              <a:ext uri="{FF2B5EF4-FFF2-40B4-BE49-F238E27FC236}">
                <a16:creationId xmlns:a16="http://schemas.microsoft.com/office/drawing/2014/main" id="{7924029E-A5DC-CB49-8E0F-74B666CD5BDE}"/>
              </a:ext>
            </a:extLst>
          </p:cNvPr>
          <p:cNvGrpSpPr/>
          <p:nvPr/>
        </p:nvGrpSpPr>
        <p:grpSpPr>
          <a:xfrm>
            <a:off x="4377396" y="5681195"/>
            <a:ext cx="309700" cy="224238"/>
            <a:chOff x="770743" y="3715228"/>
            <a:chExt cx="309700" cy="224238"/>
          </a:xfrm>
        </p:grpSpPr>
        <p:sp>
          <p:nvSpPr>
            <p:cNvPr id="333" name="Oval 332">
              <a:extLst>
                <a:ext uri="{FF2B5EF4-FFF2-40B4-BE49-F238E27FC236}">
                  <a16:creationId xmlns:a16="http://schemas.microsoft.com/office/drawing/2014/main" id="{5234A744-315A-EC44-BDF0-AAAA223BA63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5" name="Group 334">
            <a:extLst>
              <a:ext uri="{FF2B5EF4-FFF2-40B4-BE49-F238E27FC236}">
                <a16:creationId xmlns:a16="http://schemas.microsoft.com/office/drawing/2014/main" id="{067E8254-2E00-4348-B74D-2F24011631C6}"/>
              </a:ext>
            </a:extLst>
          </p:cNvPr>
          <p:cNvGrpSpPr>
            <a:grpSpLocks noChangeAspect="1"/>
          </p:cNvGrpSpPr>
          <p:nvPr/>
        </p:nvGrpSpPr>
        <p:grpSpPr>
          <a:xfrm>
            <a:off x="4298376" y="2880000"/>
            <a:ext cx="368899" cy="223200"/>
            <a:chOff x="740286" y="3715228"/>
            <a:chExt cx="370615" cy="224238"/>
          </a:xfrm>
        </p:grpSpPr>
        <p:sp>
          <p:nvSpPr>
            <p:cNvPr id="336" name="Oval 335">
              <a:extLst>
                <a:ext uri="{FF2B5EF4-FFF2-40B4-BE49-F238E27FC236}">
                  <a16:creationId xmlns:a16="http://schemas.microsoft.com/office/drawing/2014/main" id="{C60F2B82-C705-134A-AEE1-E87F808B3E3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7" name="Rectangle 336">
              <a:extLst>
                <a:ext uri="{FF2B5EF4-FFF2-40B4-BE49-F238E27FC236}">
                  <a16:creationId xmlns:a16="http://schemas.microsoft.com/office/drawing/2014/main" id="{1C1DF2F7-5ABA-1546-94EF-20C60AF814A3}"/>
                </a:ext>
              </a:extLst>
            </p:cNvPr>
            <p:cNvSpPr/>
            <p:nvPr/>
          </p:nvSpPr>
          <p:spPr>
            <a:xfrm>
              <a:off x="740286" y="3724022"/>
              <a:ext cx="370615" cy="215444"/>
            </a:xfrm>
            <a:prstGeom prst="rect">
              <a:avLst/>
            </a:prstGeom>
          </p:spPr>
          <p:txBody>
            <a:bodyPr wrap="none">
              <a:spAutoFit/>
            </a:bodyPr>
            <a:lstStyle/>
            <a:p>
              <a:pPr algn="ctr"/>
              <a:r>
                <a:rPr lang="en-US" sz="800" b="1">
                  <a:solidFill>
                    <a:schemeClr val="tx1">
                      <a:lumMod val="50000"/>
                      <a:lumOff val="50000"/>
                    </a:schemeClr>
                  </a:solidFill>
                  <a:latin typeface="Avenir"/>
                </a:rPr>
                <a:t>12b</a:t>
              </a:r>
            </a:p>
          </p:txBody>
        </p:sp>
      </p:grpSp>
      <p:grpSp>
        <p:nvGrpSpPr>
          <p:cNvPr id="338" name="Group 337">
            <a:extLst>
              <a:ext uri="{FF2B5EF4-FFF2-40B4-BE49-F238E27FC236}">
                <a16:creationId xmlns:a16="http://schemas.microsoft.com/office/drawing/2014/main" id="{8B4FBB61-B1C8-2944-944E-209A07F65AB8}"/>
              </a:ext>
            </a:extLst>
          </p:cNvPr>
          <p:cNvGrpSpPr/>
          <p:nvPr/>
        </p:nvGrpSpPr>
        <p:grpSpPr>
          <a:xfrm>
            <a:off x="4345727" y="5432633"/>
            <a:ext cx="370614" cy="347348"/>
            <a:chOff x="740286" y="3715228"/>
            <a:chExt cx="370614" cy="347348"/>
          </a:xfrm>
        </p:grpSpPr>
        <p:sp>
          <p:nvSpPr>
            <p:cNvPr id="339" name="Oval 338">
              <a:extLst>
                <a:ext uri="{FF2B5EF4-FFF2-40B4-BE49-F238E27FC236}">
                  <a16:creationId xmlns:a16="http://schemas.microsoft.com/office/drawing/2014/main" id="{03770F02-78FE-664F-9B19-E8B021D1E4D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0" name="Rectangle 339">
              <a:extLst>
                <a:ext uri="{FF2B5EF4-FFF2-40B4-BE49-F238E27FC236}">
                  <a16:creationId xmlns:a16="http://schemas.microsoft.com/office/drawing/2014/main" id="{8B246DE0-B9D9-B54D-A064-CB89E165C09F}"/>
                </a:ext>
              </a:extLst>
            </p:cNvPr>
            <p:cNvSpPr/>
            <p:nvPr/>
          </p:nvSpPr>
          <p:spPr>
            <a:xfrm>
              <a:off x="740286" y="3724022"/>
              <a:ext cx="370614" cy="338554"/>
            </a:xfrm>
            <a:prstGeom prst="rect">
              <a:avLst/>
            </a:prstGeom>
          </p:spPr>
          <p:txBody>
            <a:bodyPr wrap="none">
              <a:spAutoFit/>
            </a:bodyPr>
            <a:lstStyle/>
            <a:p>
              <a:pPr algn="ctr"/>
              <a:r>
                <a:rPr lang="en-US" sz="800" b="1">
                  <a:solidFill>
                    <a:schemeClr val="tx1">
                      <a:lumMod val="50000"/>
                      <a:lumOff val="50000"/>
                    </a:schemeClr>
                  </a:solidFill>
                  <a:latin typeface="Avenir"/>
                </a:rPr>
                <a:t>12b</a:t>
              </a:r>
            </a:p>
            <a:p>
              <a:pPr algn="ctr"/>
              <a:endParaRPr lang="en-US" sz="800" b="1">
                <a:solidFill>
                  <a:schemeClr val="tx1">
                    <a:lumMod val="50000"/>
                    <a:lumOff val="50000"/>
                  </a:schemeClr>
                </a:solidFill>
                <a:latin typeface="Avenir"/>
              </a:endParaRP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4" name="Group 343">
            <a:extLst>
              <a:ext uri="{FF2B5EF4-FFF2-40B4-BE49-F238E27FC236}">
                <a16:creationId xmlns:a16="http://schemas.microsoft.com/office/drawing/2014/main" id="{F71B1C50-265E-F34D-AF22-A2B539B0A891}"/>
              </a:ext>
            </a:extLst>
          </p:cNvPr>
          <p:cNvGrpSpPr/>
          <p:nvPr/>
        </p:nvGrpSpPr>
        <p:grpSpPr>
          <a:xfrm>
            <a:off x="6448807" y="5416132"/>
            <a:ext cx="360996" cy="224238"/>
            <a:chOff x="736857" y="3715228"/>
            <a:chExt cx="360996" cy="224238"/>
          </a:xfrm>
        </p:grpSpPr>
        <p:sp>
          <p:nvSpPr>
            <p:cNvPr id="345" name="Oval 344">
              <a:extLst>
                <a:ext uri="{FF2B5EF4-FFF2-40B4-BE49-F238E27FC236}">
                  <a16:creationId xmlns:a16="http://schemas.microsoft.com/office/drawing/2014/main" id="{498E50BA-F1A1-524A-B905-153FA186C0C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6" name="Rectangle 345">
              <a:extLst>
                <a:ext uri="{FF2B5EF4-FFF2-40B4-BE49-F238E27FC236}">
                  <a16:creationId xmlns:a16="http://schemas.microsoft.com/office/drawing/2014/main" id="{55D9C7D2-EAAC-644E-997D-9755B758C142}"/>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350" name="Group 349">
            <a:extLst>
              <a:ext uri="{FF2B5EF4-FFF2-40B4-BE49-F238E27FC236}">
                <a16:creationId xmlns:a16="http://schemas.microsoft.com/office/drawing/2014/main" id="{9432C11D-E364-C746-985A-2AD5B5DB149E}"/>
              </a:ext>
            </a:extLst>
          </p:cNvPr>
          <p:cNvGrpSpPr/>
          <p:nvPr/>
        </p:nvGrpSpPr>
        <p:grpSpPr>
          <a:xfrm>
            <a:off x="2680630" y="4808856"/>
            <a:ext cx="245580" cy="224238"/>
            <a:chOff x="802803" y="3715228"/>
            <a:chExt cx="245580" cy="224238"/>
          </a:xfrm>
        </p:grpSpPr>
        <p:sp>
          <p:nvSpPr>
            <p:cNvPr id="351" name="Oval 350">
              <a:extLst>
                <a:ext uri="{FF2B5EF4-FFF2-40B4-BE49-F238E27FC236}">
                  <a16:creationId xmlns:a16="http://schemas.microsoft.com/office/drawing/2014/main" id="{7EF515DE-CFB5-C746-AC84-B4C313BD06E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2" name="Rectangle 351">
              <a:extLst>
                <a:ext uri="{FF2B5EF4-FFF2-40B4-BE49-F238E27FC236}">
                  <a16:creationId xmlns:a16="http://schemas.microsoft.com/office/drawing/2014/main" id="{3B567B98-0230-FB4D-8B5A-D57CF8B99F8A}"/>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3" name="Group 352">
            <a:extLst>
              <a:ext uri="{FF2B5EF4-FFF2-40B4-BE49-F238E27FC236}">
                <a16:creationId xmlns:a16="http://schemas.microsoft.com/office/drawing/2014/main" id="{F40449CF-4146-A640-B710-857F798A33D4}"/>
              </a:ext>
            </a:extLst>
          </p:cNvPr>
          <p:cNvGrpSpPr/>
          <p:nvPr/>
        </p:nvGrpSpPr>
        <p:grpSpPr>
          <a:xfrm>
            <a:off x="6550922" y="1481480"/>
            <a:ext cx="245580" cy="224238"/>
            <a:chOff x="802803" y="3715228"/>
            <a:chExt cx="245580" cy="224238"/>
          </a:xfrm>
        </p:grpSpPr>
        <p:sp>
          <p:nvSpPr>
            <p:cNvPr id="354" name="Oval 353">
              <a:extLst>
                <a:ext uri="{FF2B5EF4-FFF2-40B4-BE49-F238E27FC236}">
                  <a16:creationId xmlns:a16="http://schemas.microsoft.com/office/drawing/2014/main" id="{1F8A312F-C689-FF42-84E9-02ECA660225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5" name="Rectangle 354">
              <a:extLst>
                <a:ext uri="{FF2B5EF4-FFF2-40B4-BE49-F238E27FC236}">
                  <a16:creationId xmlns:a16="http://schemas.microsoft.com/office/drawing/2014/main" id="{50CBD88D-DC4A-3849-90CE-641B000548E3}"/>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6" name="Group 355">
            <a:extLst>
              <a:ext uri="{FF2B5EF4-FFF2-40B4-BE49-F238E27FC236}">
                <a16:creationId xmlns:a16="http://schemas.microsoft.com/office/drawing/2014/main" id="{3E2317E5-1DF6-F144-A88B-97C61AC21234}"/>
              </a:ext>
            </a:extLst>
          </p:cNvPr>
          <p:cNvGrpSpPr/>
          <p:nvPr/>
        </p:nvGrpSpPr>
        <p:grpSpPr>
          <a:xfrm>
            <a:off x="8311967" y="1742779"/>
            <a:ext cx="309700" cy="224238"/>
            <a:chOff x="770743" y="3715228"/>
            <a:chExt cx="309700" cy="224238"/>
          </a:xfrm>
        </p:grpSpPr>
        <p:sp>
          <p:nvSpPr>
            <p:cNvPr id="357" name="Oval 356">
              <a:extLst>
                <a:ext uri="{FF2B5EF4-FFF2-40B4-BE49-F238E27FC236}">
                  <a16:creationId xmlns:a16="http://schemas.microsoft.com/office/drawing/2014/main" id="{6A31460D-137B-A74E-B6FC-B55DFB2AE33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8" name="Rectangle 357">
              <a:extLst>
                <a:ext uri="{FF2B5EF4-FFF2-40B4-BE49-F238E27FC236}">
                  <a16:creationId xmlns:a16="http://schemas.microsoft.com/office/drawing/2014/main" id="{CFFD1864-8612-0941-9E7F-4F8D6CCCC5CA}"/>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62" name="Group 361">
            <a:extLst>
              <a:ext uri="{FF2B5EF4-FFF2-40B4-BE49-F238E27FC236}">
                <a16:creationId xmlns:a16="http://schemas.microsoft.com/office/drawing/2014/main" id="{E6482679-9AB0-5541-BF89-93062662AF98}"/>
              </a:ext>
            </a:extLst>
          </p:cNvPr>
          <p:cNvGrpSpPr/>
          <p:nvPr/>
        </p:nvGrpSpPr>
        <p:grpSpPr>
          <a:xfrm>
            <a:off x="4319927" y="983503"/>
            <a:ext cx="309700" cy="224238"/>
            <a:chOff x="770743" y="3715228"/>
            <a:chExt cx="309700" cy="224238"/>
          </a:xfrm>
        </p:grpSpPr>
        <p:sp>
          <p:nvSpPr>
            <p:cNvPr id="363" name="Oval 362">
              <a:extLst>
                <a:ext uri="{FF2B5EF4-FFF2-40B4-BE49-F238E27FC236}">
                  <a16:creationId xmlns:a16="http://schemas.microsoft.com/office/drawing/2014/main" id="{0C24FACA-1CFE-B346-89AB-EB0E90F543B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4" name="Rectangle 363">
              <a:extLst>
                <a:ext uri="{FF2B5EF4-FFF2-40B4-BE49-F238E27FC236}">
                  <a16:creationId xmlns:a16="http://schemas.microsoft.com/office/drawing/2014/main" id="{64C22221-FE7F-7946-B113-969909E0FA5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365" name="Group 364">
            <a:extLst>
              <a:ext uri="{FF2B5EF4-FFF2-40B4-BE49-F238E27FC236}">
                <a16:creationId xmlns:a16="http://schemas.microsoft.com/office/drawing/2014/main" id="{2C13EA5E-21CD-1946-88C4-D8A584B17387}"/>
              </a:ext>
            </a:extLst>
          </p:cNvPr>
          <p:cNvGrpSpPr/>
          <p:nvPr/>
        </p:nvGrpSpPr>
        <p:grpSpPr>
          <a:xfrm>
            <a:off x="8280687" y="1478795"/>
            <a:ext cx="360996" cy="224238"/>
            <a:chOff x="736857" y="3715228"/>
            <a:chExt cx="360996" cy="224238"/>
          </a:xfrm>
        </p:grpSpPr>
        <p:sp>
          <p:nvSpPr>
            <p:cNvPr id="366" name="Oval 365">
              <a:extLst>
                <a:ext uri="{FF2B5EF4-FFF2-40B4-BE49-F238E27FC236}">
                  <a16:creationId xmlns:a16="http://schemas.microsoft.com/office/drawing/2014/main" id="{65A20A3F-C204-4E4F-8867-1B299AF2D0C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7" name="Rectangle 366">
              <a:extLst>
                <a:ext uri="{FF2B5EF4-FFF2-40B4-BE49-F238E27FC236}">
                  <a16:creationId xmlns:a16="http://schemas.microsoft.com/office/drawing/2014/main" id="{23FEEFD6-358C-A543-9BF3-275D2038378C}"/>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grpSp>
        <p:nvGrpSpPr>
          <p:cNvPr id="368" name="Group 367">
            <a:extLst>
              <a:ext uri="{FF2B5EF4-FFF2-40B4-BE49-F238E27FC236}">
                <a16:creationId xmlns:a16="http://schemas.microsoft.com/office/drawing/2014/main" id="{0EA9870A-D7BD-7749-9180-333352A02EA4}"/>
              </a:ext>
            </a:extLst>
          </p:cNvPr>
          <p:cNvGrpSpPr/>
          <p:nvPr/>
        </p:nvGrpSpPr>
        <p:grpSpPr>
          <a:xfrm>
            <a:off x="4317141" y="2187210"/>
            <a:ext cx="309700" cy="224238"/>
            <a:chOff x="762505" y="3715228"/>
            <a:chExt cx="309700" cy="224238"/>
          </a:xfrm>
        </p:grpSpPr>
        <p:sp>
          <p:nvSpPr>
            <p:cNvPr id="369" name="Oval 368">
              <a:extLst>
                <a:ext uri="{FF2B5EF4-FFF2-40B4-BE49-F238E27FC236}">
                  <a16:creationId xmlns:a16="http://schemas.microsoft.com/office/drawing/2014/main" id="{EB5E2F46-B118-1045-AF33-FBEB9E67DC0D}"/>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rgbClr val="FF0000"/>
                </a:solidFill>
                <a:highlight>
                  <a:srgbClr val="FFFF00"/>
                </a:highlight>
                <a:latin typeface="Avenir"/>
              </a:endParaRPr>
            </a:p>
          </p:txBody>
        </p:sp>
        <p:sp>
          <p:nvSpPr>
            <p:cNvPr id="370" name="Rectangle 369">
              <a:extLst>
                <a:ext uri="{FF2B5EF4-FFF2-40B4-BE49-F238E27FC236}">
                  <a16:creationId xmlns:a16="http://schemas.microsoft.com/office/drawing/2014/main" id="{BEF5AC8E-3F33-C44D-B0DD-469F2AFB0FFB}"/>
                </a:ext>
              </a:extLst>
            </p:cNvPr>
            <p:cNvSpPr/>
            <p:nvPr/>
          </p:nvSpPr>
          <p:spPr>
            <a:xfrm>
              <a:off x="762505"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13</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08" name="Group 407">
            <a:extLst>
              <a:ext uri="{FF2B5EF4-FFF2-40B4-BE49-F238E27FC236}">
                <a16:creationId xmlns:a16="http://schemas.microsoft.com/office/drawing/2014/main" id="{D5BF0B9C-2E0D-C242-8CFF-FA38A5AF35FC}"/>
              </a:ext>
            </a:extLst>
          </p:cNvPr>
          <p:cNvGrpSpPr/>
          <p:nvPr/>
        </p:nvGrpSpPr>
        <p:grpSpPr>
          <a:xfrm>
            <a:off x="4247500" y="1892397"/>
            <a:ext cx="1620000" cy="613673"/>
            <a:chOff x="3810000" y="2381250"/>
            <a:chExt cx="1390650" cy="1230631"/>
          </a:xfrm>
          <a:solidFill>
            <a:schemeClr val="accent6">
              <a:lumMod val="75000"/>
            </a:schemeClr>
          </a:solidFill>
        </p:grpSpPr>
        <p:sp>
          <p:nvSpPr>
            <p:cNvPr id="409" name="L-Shape 408">
              <a:extLst>
                <a:ext uri="{FF2B5EF4-FFF2-40B4-BE49-F238E27FC236}">
                  <a16:creationId xmlns:a16="http://schemas.microsoft.com/office/drawing/2014/main" id="{949DD22A-6C28-4A42-838D-57C0B3AFBA2E}"/>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0" name="L-Shape 409">
              <a:extLst>
                <a:ext uri="{FF2B5EF4-FFF2-40B4-BE49-F238E27FC236}">
                  <a16:creationId xmlns:a16="http://schemas.microsoft.com/office/drawing/2014/main" id="{33CD775B-2A0C-DE47-A9A3-022685FE94F6}"/>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2" name="Group 431">
            <a:extLst>
              <a:ext uri="{FF2B5EF4-FFF2-40B4-BE49-F238E27FC236}">
                <a16:creationId xmlns:a16="http://schemas.microsoft.com/office/drawing/2014/main" id="{4848BB5E-72D6-154B-A4A4-863172845016}"/>
              </a:ext>
            </a:extLst>
          </p:cNvPr>
          <p:cNvGrpSpPr/>
          <p:nvPr/>
        </p:nvGrpSpPr>
        <p:grpSpPr>
          <a:xfrm>
            <a:off x="8214558" y="1260018"/>
            <a:ext cx="1620000" cy="796276"/>
            <a:chOff x="3810000" y="2015069"/>
            <a:chExt cx="1390650" cy="1596814"/>
          </a:xfrm>
          <a:solidFill>
            <a:schemeClr val="accent2"/>
          </a:solidFill>
        </p:grpSpPr>
        <p:sp>
          <p:nvSpPr>
            <p:cNvPr id="433" name="L-Shape 432">
              <a:extLst>
                <a:ext uri="{FF2B5EF4-FFF2-40B4-BE49-F238E27FC236}">
                  <a16:creationId xmlns:a16="http://schemas.microsoft.com/office/drawing/2014/main" id="{ABB06B6F-0697-9948-91DD-97E59BB658B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4" name="L-Shape 433">
              <a:extLst>
                <a:ext uri="{FF2B5EF4-FFF2-40B4-BE49-F238E27FC236}">
                  <a16:creationId xmlns:a16="http://schemas.microsoft.com/office/drawing/2014/main" id="{6F827A64-8AAF-EF46-AB91-B3C3D179257E}"/>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71" name="Rectangle 370">
            <a:extLst>
              <a:ext uri="{FF2B5EF4-FFF2-40B4-BE49-F238E27FC236}">
                <a16:creationId xmlns:a16="http://schemas.microsoft.com/office/drawing/2014/main" id="{704E9144-FC83-454C-95F5-4C78708FAD9D}"/>
              </a:ext>
            </a:extLst>
          </p:cNvPr>
          <p:cNvSpPr/>
          <p:nvPr/>
        </p:nvSpPr>
        <p:spPr>
          <a:xfrm>
            <a:off x="1961115" y="4272100"/>
            <a:ext cx="10045767"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2" name="Group 371">
            <a:extLst>
              <a:ext uri="{FF2B5EF4-FFF2-40B4-BE49-F238E27FC236}">
                <a16:creationId xmlns:a16="http://schemas.microsoft.com/office/drawing/2014/main" id="{58903224-EF61-C544-833B-9127FEF381D3}"/>
              </a:ext>
            </a:extLst>
          </p:cNvPr>
          <p:cNvGrpSpPr/>
          <p:nvPr/>
        </p:nvGrpSpPr>
        <p:grpSpPr>
          <a:xfrm>
            <a:off x="2170301" y="4562741"/>
            <a:ext cx="9543495" cy="756003"/>
            <a:chOff x="719091" y="1719857"/>
            <a:chExt cx="9543495" cy="756003"/>
          </a:xfrm>
        </p:grpSpPr>
        <p:sp>
          <p:nvSpPr>
            <p:cNvPr id="373" name="TextBox 372">
              <a:extLst>
                <a:ext uri="{FF2B5EF4-FFF2-40B4-BE49-F238E27FC236}">
                  <a16:creationId xmlns:a16="http://schemas.microsoft.com/office/drawing/2014/main" id="{E76F8F90-69C0-7F42-B4F4-839A80E838A9}"/>
                </a:ext>
              </a:extLst>
            </p:cNvPr>
            <p:cNvSpPr txBox="1"/>
            <p:nvPr/>
          </p:nvSpPr>
          <p:spPr>
            <a:xfrm>
              <a:off x="1420427" y="1719860"/>
              <a:ext cx="5476017" cy="756000"/>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en-US" altLang="ko-KR" sz="2000" dirty="0">
                  <a:solidFill>
                    <a:schemeClr val="dk1"/>
                  </a:solidFill>
                  <a:latin typeface="Calibri"/>
                  <a:ea typeface="Calibri"/>
                  <a:cs typeface="Calibri"/>
                  <a:sym typeface="Calibri"/>
                </a:rPr>
                <a:t>3</a:t>
              </a:r>
              <a:r>
                <a:rPr lang="ko-KR" altLang="en-US" sz="2000" dirty="0">
                  <a:solidFill>
                    <a:schemeClr val="dk1"/>
                  </a:solidFill>
                  <a:latin typeface="Calibri"/>
                  <a:ea typeface="Calibri"/>
                  <a:cs typeface="Calibri"/>
                  <a:sym typeface="Calibri"/>
                </a:rPr>
                <a:t>월부터 </a:t>
              </a:r>
              <a:r>
                <a:rPr lang="en-US" altLang="ko-KR" sz="2000" dirty="0">
                  <a:solidFill>
                    <a:schemeClr val="dk1"/>
                  </a:solidFill>
                  <a:latin typeface="Calibri"/>
                  <a:ea typeface="Calibri"/>
                  <a:cs typeface="Calibri"/>
                  <a:sym typeface="Calibri"/>
                </a:rPr>
                <a:t>6</a:t>
              </a:r>
              <a:r>
                <a:rPr lang="ko-KR" altLang="en-US" sz="2000" dirty="0">
                  <a:solidFill>
                    <a:schemeClr val="dk1"/>
                  </a:solidFill>
                  <a:latin typeface="Calibri"/>
                  <a:ea typeface="Calibri"/>
                  <a:cs typeface="Calibri"/>
                  <a:sym typeface="Calibri"/>
                </a:rPr>
                <a:t>월까지 진행될 광고 캠페인 비용을 은행 이체로 결제함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386" name="TextBox 385">
              <a:extLst>
                <a:ext uri="{FF2B5EF4-FFF2-40B4-BE49-F238E27FC236}">
                  <a16:creationId xmlns:a16="http://schemas.microsoft.com/office/drawing/2014/main" id="{67211A87-A34F-EE49-A467-C2CED1BFD348}"/>
                </a:ext>
              </a:extLst>
            </p:cNvPr>
            <p:cNvSpPr txBox="1"/>
            <p:nvPr/>
          </p:nvSpPr>
          <p:spPr>
            <a:xfrm>
              <a:off x="6896444" y="1719857"/>
              <a:ext cx="1683072" cy="75600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r>
                <a:rPr lang="en-GB" sz="1400" b="1">
                  <a:solidFill>
                    <a:schemeClr val="bg1">
                      <a:lumMod val="75000"/>
                    </a:schemeClr>
                  </a:solidFill>
                  <a:latin typeface="Avenir"/>
                  <a:ea typeface="Helvetica" charset="0"/>
                  <a:cs typeface="Helvetica" charset="0"/>
                </a:rPr>
                <a:t>Deferred expenses</a:t>
              </a:r>
            </a:p>
            <a:p>
              <a:pPr algn="ctr"/>
              <a:r>
                <a:rPr lang="en-GB" b="1">
                  <a:solidFill>
                    <a:schemeClr val="bg1">
                      <a:lumMod val="75000"/>
                    </a:schemeClr>
                  </a:solidFill>
                  <a:latin typeface="Avenir"/>
                  <a:ea typeface="Helvetica" charset="0"/>
                  <a:cs typeface="Helvetica" charset="0"/>
                </a:rPr>
                <a:t>800</a:t>
              </a:r>
            </a:p>
          </p:txBody>
        </p:sp>
        <p:sp>
          <p:nvSpPr>
            <p:cNvPr id="387" name="TextBox 386">
              <a:extLst>
                <a:ext uri="{FF2B5EF4-FFF2-40B4-BE49-F238E27FC236}">
                  <a16:creationId xmlns:a16="http://schemas.microsoft.com/office/drawing/2014/main" id="{344B05B2-8489-0645-8022-19D9434646C0}"/>
                </a:ext>
              </a:extLst>
            </p:cNvPr>
            <p:cNvSpPr txBox="1"/>
            <p:nvPr/>
          </p:nvSpPr>
          <p:spPr>
            <a:xfrm>
              <a:off x="8579514" y="1719857"/>
              <a:ext cx="1683072" cy="75600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r>
                <a:rPr lang="en-GB" sz="1400" b="1" dirty="0">
                  <a:solidFill>
                    <a:schemeClr val="bg1">
                      <a:lumMod val="75000"/>
                    </a:schemeClr>
                  </a:solidFill>
                  <a:latin typeface="Avenir"/>
                  <a:ea typeface="Helvetica" charset="0"/>
                  <a:cs typeface="Helvetica" charset="0"/>
                </a:rPr>
                <a:t>Cash</a:t>
              </a:r>
              <a:endParaRPr lang="en-GB" sz="1600" b="1" dirty="0">
                <a:solidFill>
                  <a:schemeClr val="bg1">
                    <a:lumMod val="75000"/>
                  </a:schemeClr>
                </a:solidFill>
                <a:latin typeface="Avenir"/>
                <a:ea typeface="Helvetica" charset="0"/>
                <a:cs typeface="Helvetica" charset="0"/>
              </a:endParaRPr>
            </a:p>
            <a:p>
              <a:pPr algn="ctr"/>
              <a:r>
                <a:rPr lang="en-GB" b="1" dirty="0">
                  <a:solidFill>
                    <a:schemeClr val="bg1">
                      <a:lumMod val="75000"/>
                    </a:schemeClr>
                  </a:solidFill>
                  <a:latin typeface="Avenir"/>
                  <a:ea typeface="Helvetica" charset="0"/>
                  <a:cs typeface="Helvetica" charset="0"/>
                </a:rPr>
                <a:t>800</a:t>
              </a:r>
            </a:p>
          </p:txBody>
        </p:sp>
        <p:sp>
          <p:nvSpPr>
            <p:cNvPr id="388" name="TextBox 387">
              <a:extLst>
                <a:ext uri="{FF2B5EF4-FFF2-40B4-BE49-F238E27FC236}">
                  <a16:creationId xmlns:a16="http://schemas.microsoft.com/office/drawing/2014/main" id="{50221051-F4DD-B94C-9D19-915BEB92AA23}"/>
                </a:ext>
              </a:extLst>
            </p:cNvPr>
            <p:cNvSpPr txBox="1"/>
            <p:nvPr/>
          </p:nvSpPr>
          <p:spPr>
            <a:xfrm>
              <a:off x="719091" y="1719857"/>
              <a:ext cx="701336" cy="756000"/>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13</a:t>
              </a:r>
            </a:p>
          </p:txBody>
        </p:sp>
      </p:grpSp>
      <p:sp>
        <p:nvSpPr>
          <p:cNvPr id="399" name="Down Arrow 398">
            <a:extLst>
              <a:ext uri="{FF2B5EF4-FFF2-40B4-BE49-F238E27FC236}">
                <a16:creationId xmlns:a16="http://schemas.microsoft.com/office/drawing/2014/main" id="{05060547-ED57-9148-9CAB-5BF64BE4BED3}"/>
              </a:ext>
            </a:extLst>
          </p:cNvPr>
          <p:cNvSpPr/>
          <p:nvPr/>
        </p:nvSpPr>
        <p:spPr>
          <a:xfrm rot="10800000">
            <a:off x="88847" y="859652"/>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1" name="Down Arrow 400">
            <a:extLst>
              <a:ext uri="{FF2B5EF4-FFF2-40B4-BE49-F238E27FC236}">
                <a16:creationId xmlns:a16="http://schemas.microsoft.com/office/drawing/2014/main" id="{AD2F51B9-A2E7-094C-BE08-A9CA73C0F3DF}"/>
              </a:ext>
            </a:extLst>
          </p:cNvPr>
          <p:cNvSpPr/>
          <p:nvPr/>
        </p:nvSpPr>
        <p:spPr>
          <a:xfrm>
            <a:off x="88847" y="1929152"/>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1" name="TextBox 390">
            <a:extLst>
              <a:ext uri="{FF2B5EF4-FFF2-40B4-BE49-F238E27FC236}">
                <a16:creationId xmlns:a16="http://schemas.microsoft.com/office/drawing/2014/main" id="{B6F67AB2-14C9-D246-9E76-7C10572B4738}"/>
              </a:ext>
            </a:extLst>
          </p:cNvPr>
          <p:cNvSpPr txBox="1"/>
          <p:nvPr/>
        </p:nvSpPr>
        <p:spPr>
          <a:xfrm>
            <a:off x="8343365" y="4556096"/>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133" b="1">
                <a:solidFill>
                  <a:schemeClr val="bg1"/>
                </a:solidFill>
                <a:latin typeface="Avenir"/>
                <a:ea typeface="Helvetica" charset="0"/>
                <a:cs typeface="Helvetica" charset="0"/>
              </a:rPr>
              <a:t>800</a:t>
            </a:r>
          </a:p>
        </p:txBody>
      </p:sp>
      <p:sp>
        <p:nvSpPr>
          <p:cNvPr id="392" name="TextBox 391">
            <a:extLst>
              <a:ext uri="{FF2B5EF4-FFF2-40B4-BE49-F238E27FC236}">
                <a16:creationId xmlns:a16="http://schemas.microsoft.com/office/drawing/2014/main" id="{5C468988-8152-2E45-9B17-656F6ACA3753}"/>
              </a:ext>
            </a:extLst>
          </p:cNvPr>
          <p:cNvSpPr txBox="1"/>
          <p:nvPr/>
        </p:nvSpPr>
        <p:spPr>
          <a:xfrm>
            <a:off x="10027674" y="4548904"/>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133" b="1">
                <a:solidFill>
                  <a:schemeClr val="bg1"/>
                </a:solidFill>
                <a:latin typeface="Avenir"/>
                <a:ea typeface="Helvetica" charset="0"/>
                <a:cs typeface="Helvetica" charset="0"/>
              </a:rPr>
              <a:t>800</a:t>
            </a:r>
          </a:p>
        </p:txBody>
      </p:sp>
      <p:sp>
        <p:nvSpPr>
          <p:cNvPr id="257" name="TextBox 256">
            <a:extLst>
              <a:ext uri="{FF2B5EF4-FFF2-40B4-BE49-F238E27FC236}">
                <a16:creationId xmlns:a16="http://schemas.microsoft.com/office/drawing/2014/main" id="{04B16388-6D39-F448-83B2-12A59AFB5109}"/>
              </a:ext>
            </a:extLst>
          </p:cNvPr>
          <p:cNvSpPr txBox="1"/>
          <p:nvPr/>
        </p:nvSpPr>
        <p:spPr>
          <a:xfrm>
            <a:off x="6403129" y="3421071"/>
            <a:ext cx="1548343" cy="566133"/>
          </a:xfrm>
          <a:prstGeom prst="rect">
            <a:avLst/>
          </a:prstGeom>
          <a:noFill/>
        </p:spPr>
        <p:txBody>
          <a:bodyPr wrap="square" rtlCol="0" anchor="ctr">
            <a:noAutofit/>
          </a:bodyPr>
          <a:lstStyle/>
          <a:p>
            <a:pPr algn="ctr"/>
            <a:r>
              <a:rPr lang="en-US" sz="2400" b="1">
                <a:latin typeface="Avenir"/>
              </a:rPr>
              <a:t>460</a:t>
            </a:r>
            <a:endParaRPr lang="en-GB" sz="2400"/>
          </a:p>
        </p:txBody>
      </p:sp>
    </p:spTree>
    <p:extLst>
      <p:ext uri="{BB962C8B-B14F-4D97-AF65-F5344CB8AC3E}">
        <p14:creationId xmlns:p14="http://schemas.microsoft.com/office/powerpoint/2010/main" val="1448676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54167E-6 2.96296E-6 L -0.57435 -0.55718 " pathEditMode="relative" rAng="0" ptsTypes="AA">
                                      <p:cBhvr>
                                        <p:cTn id="6" dur="3000" fill="hold"/>
                                        <p:tgtEl>
                                          <p:spTgt spid="392"/>
                                        </p:tgtEl>
                                        <p:attrNameLst>
                                          <p:attrName>ppt_x</p:attrName>
                                          <p:attrName>ppt_y</p:attrName>
                                        </p:attrNameLst>
                                      </p:cBhvr>
                                      <p:rCtr x="-28724" y="-27870"/>
                                    </p:animMotion>
                                  </p:childTnLst>
                                </p:cTn>
                              </p:par>
                            </p:childTnLst>
                          </p:cTn>
                        </p:par>
                        <p:par>
                          <p:cTn id="7" fill="hold">
                            <p:stCondLst>
                              <p:cond delay="3000"/>
                            </p:stCondLst>
                            <p:childTnLst>
                              <p:par>
                                <p:cTn id="8" presetID="31" presetClass="exit" presetSubtype="0" fill="hold" grpId="1" nodeType="afterEffect">
                                  <p:stCondLst>
                                    <p:cond delay="0"/>
                                  </p:stCondLst>
                                  <p:childTnLst>
                                    <p:anim calcmode="lin" valueType="num">
                                      <p:cBhvr>
                                        <p:cTn id="9" dur="1000"/>
                                        <p:tgtEl>
                                          <p:spTgt spid="392"/>
                                        </p:tgtEl>
                                        <p:attrNameLst>
                                          <p:attrName>ppt_w</p:attrName>
                                        </p:attrNameLst>
                                      </p:cBhvr>
                                      <p:tavLst>
                                        <p:tav tm="0">
                                          <p:val>
                                            <p:strVal val="ppt_w"/>
                                          </p:val>
                                        </p:tav>
                                        <p:tav tm="100000">
                                          <p:val>
                                            <p:fltVal val="0"/>
                                          </p:val>
                                        </p:tav>
                                      </p:tavLst>
                                    </p:anim>
                                    <p:anim calcmode="lin" valueType="num">
                                      <p:cBhvr>
                                        <p:cTn id="10" dur="1000"/>
                                        <p:tgtEl>
                                          <p:spTgt spid="392"/>
                                        </p:tgtEl>
                                        <p:attrNameLst>
                                          <p:attrName>ppt_h</p:attrName>
                                        </p:attrNameLst>
                                      </p:cBhvr>
                                      <p:tavLst>
                                        <p:tav tm="0">
                                          <p:val>
                                            <p:strVal val="ppt_h"/>
                                          </p:val>
                                        </p:tav>
                                        <p:tav tm="100000">
                                          <p:val>
                                            <p:fltVal val="0"/>
                                          </p:val>
                                        </p:tav>
                                      </p:tavLst>
                                    </p:anim>
                                    <p:anim calcmode="lin" valueType="num">
                                      <p:cBhvr>
                                        <p:cTn id="11" dur="1000"/>
                                        <p:tgtEl>
                                          <p:spTgt spid="392"/>
                                        </p:tgtEl>
                                        <p:attrNameLst>
                                          <p:attrName>style.rotation</p:attrName>
                                        </p:attrNameLst>
                                      </p:cBhvr>
                                      <p:tavLst>
                                        <p:tav tm="0">
                                          <p:val>
                                            <p:fltVal val="0"/>
                                          </p:val>
                                        </p:tav>
                                        <p:tav tm="100000">
                                          <p:val>
                                            <p:fltVal val="90"/>
                                          </p:val>
                                        </p:tav>
                                      </p:tavLst>
                                    </p:anim>
                                    <p:animEffect transition="out" filter="fade">
                                      <p:cBhvr>
                                        <p:cTn id="12" dur="1000"/>
                                        <p:tgtEl>
                                          <p:spTgt spid="392"/>
                                        </p:tgtEl>
                                      </p:cBhvr>
                                    </p:animEffect>
                                    <p:set>
                                      <p:cBhvr>
                                        <p:cTn id="13" dur="1" fill="hold">
                                          <p:stCondLst>
                                            <p:cond delay="999"/>
                                          </p:stCondLst>
                                        </p:cTn>
                                        <p:tgtEl>
                                          <p:spTgt spid="392"/>
                                        </p:tgtEl>
                                        <p:attrNameLst>
                                          <p:attrName>style.visibility</p:attrName>
                                        </p:attrNameLst>
                                      </p:cBhvr>
                                      <p:to>
                                        <p:strVal val="hidden"/>
                                      </p:to>
                                    </p:set>
                                  </p:childTnLst>
                                </p:cTn>
                              </p:par>
                              <p:par>
                                <p:cTn id="14" presetID="47" presetClass="entr" presetSubtype="0" fill="hold" nodeType="withEffect">
                                  <p:stCondLst>
                                    <p:cond delay="0"/>
                                  </p:stCondLst>
                                  <p:childTnLst>
                                    <p:set>
                                      <p:cBhvr>
                                        <p:cTn id="15" dur="1" fill="hold">
                                          <p:stCondLst>
                                            <p:cond delay="0"/>
                                          </p:stCondLst>
                                        </p:cTn>
                                        <p:tgtEl>
                                          <p:spTgt spid="275"/>
                                        </p:tgtEl>
                                        <p:attrNameLst>
                                          <p:attrName>style.visibility</p:attrName>
                                        </p:attrNameLst>
                                      </p:cBhvr>
                                      <p:to>
                                        <p:strVal val="visible"/>
                                      </p:to>
                                    </p:set>
                                    <p:animEffect transition="in" filter="fade">
                                      <p:cBhvr>
                                        <p:cTn id="16" dur="1000"/>
                                        <p:tgtEl>
                                          <p:spTgt spid="275"/>
                                        </p:tgtEl>
                                      </p:cBhvr>
                                    </p:animEffect>
                                    <p:anim calcmode="lin" valueType="num">
                                      <p:cBhvr>
                                        <p:cTn id="17" dur="1000" fill="hold"/>
                                        <p:tgtEl>
                                          <p:spTgt spid="275"/>
                                        </p:tgtEl>
                                        <p:attrNameLst>
                                          <p:attrName>ppt_x</p:attrName>
                                        </p:attrNameLst>
                                      </p:cBhvr>
                                      <p:tavLst>
                                        <p:tav tm="0">
                                          <p:val>
                                            <p:strVal val="#ppt_x"/>
                                          </p:val>
                                        </p:tav>
                                        <p:tav tm="100000">
                                          <p:val>
                                            <p:strVal val="#ppt_x"/>
                                          </p:val>
                                        </p:tav>
                                      </p:tavLst>
                                    </p:anim>
                                    <p:anim calcmode="lin" valueType="num">
                                      <p:cBhvr>
                                        <p:cTn id="18" dur="1000" fill="hold"/>
                                        <p:tgtEl>
                                          <p:spTgt spid="275"/>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175"/>
                                        </p:tgtEl>
                                        <p:attrNameLst>
                                          <p:attrName>style.visibility</p:attrName>
                                        </p:attrNameLst>
                                      </p:cBhvr>
                                      <p:to>
                                        <p:strVal val="visible"/>
                                      </p:to>
                                    </p:set>
                                    <p:animEffect transition="in" filter="fade">
                                      <p:cBhvr>
                                        <p:cTn id="26" dur="1000"/>
                                        <p:tgtEl>
                                          <p:spTgt spid="175"/>
                                        </p:tgtEl>
                                      </p:cBhvr>
                                    </p:animEffect>
                                    <p:anim calcmode="lin" valueType="num">
                                      <p:cBhvr>
                                        <p:cTn id="27" dur="1000" fill="hold"/>
                                        <p:tgtEl>
                                          <p:spTgt spid="175"/>
                                        </p:tgtEl>
                                        <p:attrNameLst>
                                          <p:attrName>ppt_x</p:attrName>
                                        </p:attrNameLst>
                                      </p:cBhvr>
                                      <p:tavLst>
                                        <p:tav tm="0">
                                          <p:val>
                                            <p:strVal val="#ppt_x"/>
                                          </p:val>
                                        </p:tav>
                                        <p:tav tm="100000">
                                          <p:val>
                                            <p:strVal val="#ppt_x"/>
                                          </p:val>
                                        </p:tav>
                                      </p:tavLst>
                                    </p:anim>
                                    <p:anim calcmode="lin" valueType="num">
                                      <p:cBhvr>
                                        <p:cTn id="28" dur="1000" fill="hold"/>
                                        <p:tgtEl>
                                          <p:spTgt spid="17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500"/>
                                        <p:tgtEl>
                                          <p:spTgt spid="109"/>
                                        </p:tgtEl>
                                      </p:cBhvr>
                                    </p:animEffect>
                                  </p:childTnLst>
                                </p:cTn>
                              </p:par>
                              <p:par>
                                <p:cTn id="34" presetID="10" presetClass="entr" presetSubtype="0" fill="hold" nodeType="withEffect">
                                  <p:stCondLst>
                                    <p:cond delay="0"/>
                                  </p:stCondLst>
                                  <p:childTnLst>
                                    <p:set>
                                      <p:cBhvr>
                                        <p:cTn id="35" dur="1" fill="hold">
                                          <p:stCondLst>
                                            <p:cond delay="0"/>
                                          </p:stCondLst>
                                        </p:cTn>
                                        <p:tgtEl>
                                          <p:spTgt spid="408"/>
                                        </p:tgtEl>
                                        <p:attrNameLst>
                                          <p:attrName>style.visibility</p:attrName>
                                        </p:attrNameLst>
                                      </p:cBhvr>
                                      <p:to>
                                        <p:strVal val="visible"/>
                                      </p:to>
                                    </p:set>
                                    <p:animEffect transition="in" filter="fade">
                                      <p:cBhvr>
                                        <p:cTn id="36" dur="500"/>
                                        <p:tgtEl>
                                          <p:spTgt spid="408"/>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0" nodeType="clickEffect">
                                  <p:stCondLst>
                                    <p:cond delay="0"/>
                                  </p:stCondLst>
                                  <p:childTnLst>
                                    <p:animMotion origin="layout" path="M 3.54167E-6 -3.7037E-7 L -0.35326 -0.46088 " pathEditMode="relative" rAng="0" ptsTypes="AA">
                                      <p:cBhvr>
                                        <p:cTn id="40" dur="3000" fill="hold"/>
                                        <p:tgtEl>
                                          <p:spTgt spid="391"/>
                                        </p:tgtEl>
                                        <p:attrNameLst>
                                          <p:attrName>ppt_x</p:attrName>
                                          <p:attrName>ppt_y</p:attrName>
                                        </p:attrNameLst>
                                      </p:cBhvr>
                                      <p:rCtr x="-17669" y="-23056"/>
                                    </p:animMotion>
                                  </p:childTnLst>
                                </p:cTn>
                              </p:par>
                            </p:childTnLst>
                          </p:cTn>
                        </p:par>
                        <p:par>
                          <p:cTn id="41" fill="hold">
                            <p:stCondLst>
                              <p:cond delay="3000"/>
                            </p:stCondLst>
                            <p:childTnLst>
                              <p:par>
                                <p:cTn id="42" presetID="31" presetClass="exit" presetSubtype="0" fill="hold" grpId="1" nodeType="afterEffect">
                                  <p:stCondLst>
                                    <p:cond delay="0"/>
                                  </p:stCondLst>
                                  <p:childTnLst>
                                    <p:anim calcmode="lin" valueType="num">
                                      <p:cBhvr>
                                        <p:cTn id="43" dur="1000"/>
                                        <p:tgtEl>
                                          <p:spTgt spid="391"/>
                                        </p:tgtEl>
                                        <p:attrNameLst>
                                          <p:attrName>ppt_w</p:attrName>
                                        </p:attrNameLst>
                                      </p:cBhvr>
                                      <p:tavLst>
                                        <p:tav tm="0">
                                          <p:val>
                                            <p:strVal val="ppt_w"/>
                                          </p:val>
                                        </p:tav>
                                        <p:tav tm="100000">
                                          <p:val>
                                            <p:fltVal val="0"/>
                                          </p:val>
                                        </p:tav>
                                      </p:tavLst>
                                    </p:anim>
                                    <p:anim calcmode="lin" valueType="num">
                                      <p:cBhvr>
                                        <p:cTn id="44" dur="1000"/>
                                        <p:tgtEl>
                                          <p:spTgt spid="391"/>
                                        </p:tgtEl>
                                        <p:attrNameLst>
                                          <p:attrName>ppt_h</p:attrName>
                                        </p:attrNameLst>
                                      </p:cBhvr>
                                      <p:tavLst>
                                        <p:tav tm="0">
                                          <p:val>
                                            <p:strVal val="ppt_h"/>
                                          </p:val>
                                        </p:tav>
                                        <p:tav tm="100000">
                                          <p:val>
                                            <p:fltVal val="0"/>
                                          </p:val>
                                        </p:tav>
                                      </p:tavLst>
                                    </p:anim>
                                    <p:anim calcmode="lin" valueType="num">
                                      <p:cBhvr>
                                        <p:cTn id="45" dur="1000"/>
                                        <p:tgtEl>
                                          <p:spTgt spid="391"/>
                                        </p:tgtEl>
                                        <p:attrNameLst>
                                          <p:attrName>style.rotation</p:attrName>
                                        </p:attrNameLst>
                                      </p:cBhvr>
                                      <p:tavLst>
                                        <p:tav tm="0">
                                          <p:val>
                                            <p:fltVal val="0"/>
                                          </p:val>
                                        </p:tav>
                                        <p:tav tm="100000">
                                          <p:val>
                                            <p:fltVal val="90"/>
                                          </p:val>
                                        </p:tav>
                                      </p:tavLst>
                                    </p:anim>
                                    <p:animEffect transition="out" filter="fade">
                                      <p:cBhvr>
                                        <p:cTn id="46" dur="1000"/>
                                        <p:tgtEl>
                                          <p:spTgt spid="391"/>
                                        </p:tgtEl>
                                      </p:cBhvr>
                                    </p:animEffect>
                                    <p:set>
                                      <p:cBhvr>
                                        <p:cTn id="47" dur="1" fill="hold">
                                          <p:stCondLst>
                                            <p:cond delay="999"/>
                                          </p:stCondLst>
                                        </p:cTn>
                                        <p:tgtEl>
                                          <p:spTgt spid="391"/>
                                        </p:tgtEl>
                                        <p:attrNameLst>
                                          <p:attrName>style.visibility</p:attrName>
                                        </p:attrNameLst>
                                      </p:cBhvr>
                                      <p:to>
                                        <p:strVal val="hidden"/>
                                      </p:to>
                                    </p:set>
                                  </p:childTnLst>
                                </p:cTn>
                              </p:par>
                              <p:par>
                                <p:cTn id="48" presetID="42" presetClass="entr" presetSubtype="0" fill="hold" nodeType="withEffect">
                                  <p:stCondLst>
                                    <p:cond delay="0"/>
                                  </p:stCondLst>
                                  <p:childTnLst>
                                    <p:set>
                                      <p:cBhvr>
                                        <p:cTn id="49" dur="1" fill="hold">
                                          <p:stCondLst>
                                            <p:cond delay="0"/>
                                          </p:stCondLst>
                                        </p:cTn>
                                        <p:tgtEl>
                                          <p:spTgt spid="368"/>
                                        </p:tgtEl>
                                        <p:attrNameLst>
                                          <p:attrName>style.visibility</p:attrName>
                                        </p:attrNameLst>
                                      </p:cBhvr>
                                      <p:to>
                                        <p:strVal val="visible"/>
                                      </p:to>
                                    </p:set>
                                    <p:animEffect transition="in" filter="fade">
                                      <p:cBhvr>
                                        <p:cTn id="50" dur="1000"/>
                                        <p:tgtEl>
                                          <p:spTgt spid="368"/>
                                        </p:tgtEl>
                                      </p:cBhvr>
                                    </p:animEffect>
                                    <p:anim calcmode="lin" valueType="num">
                                      <p:cBhvr>
                                        <p:cTn id="51" dur="1000" fill="hold"/>
                                        <p:tgtEl>
                                          <p:spTgt spid="368"/>
                                        </p:tgtEl>
                                        <p:attrNameLst>
                                          <p:attrName>ppt_x</p:attrName>
                                        </p:attrNameLst>
                                      </p:cBhvr>
                                      <p:tavLst>
                                        <p:tav tm="0">
                                          <p:val>
                                            <p:strVal val="#ppt_x"/>
                                          </p:val>
                                        </p:tav>
                                        <p:tav tm="100000">
                                          <p:val>
                                            <p:strVal val="#ppt_x"/>
                                          </p:val>
                                        </p:tav>
                                      </p:tavLst>
                                    </p:anim>
                                    <p:anim calcmode="lin" valueType="num">
                                      <p:cBhvr>
                                        <p:cTn id="52" dur="1000" fill="hold"/>
                                        <p:tgtEl>
                                          <p:spTgt spid="368"/>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56"/>
                                        </p:tgtEl>
                                        <p:attrNameLst>
                                          <p:attrName>style.visibility</p:attrName>
                                        </p:attrNameLst>
                                      </p:cBhvr>
                                      <p:to>
                                        <p:strVal val="visible"/>
                                      </p:to>
                                    </p:set>
                                    <p:animEffect transition="in" filter="fade">
                                      <p:cBhvr>
                                        <p:cTn id="55" dur="1000"/>
                                        <p:tgtEl>
                                          <p:spTgt spid="256"/>
                                        </p:tgtEl>
                                      </p:cBhvr>
                                    </p:animEffect>
                                    <p:anim calcmode="lin" valueType="num">
                                      <p:cBhvr>
                                        <p:cTn id="56" dur="1000" fill="hold"/>
                                        <p:tgtEl>
                                          <p:spTgt spid="256"/>
                                        </p:tgtEl>
                                        <p:attrNameLst>
                                          <p:attrName>ppt_x</p:attrName>
                                        </p:attrNameLst>
                                      </p:cBhvr>
                                      <p:tavLst>
                                        <p:tav tm="0">
                                          <p:val>
                                            <p:strVal val="#ppt_x"/>
                                          </p:val>
                                        </p:tav>
                                        <p:tav tm="100000">
                                          <p:val>
                                            <p:strVal val="#ppt_x"/>
                                          </p:val>
                                        </p:tav>
                                      </p:tavLst>
                                    </p:anim>
                                    <p:anim calcmode="lin" valueType="num">
                                      <p:cBhvr>
                                        <p:cTn id="57" dur="1000" fill="hold"/>
                                        <p:tgtEl>
                                          <p:spTgt spid="25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55"/>
                                        </p:tgtEl>
                                        <p:attrNameLst>
                                          <p:attrName>style.visibility</p:attrName>
                                        </p:attrNameLst>
                                      </p:cBhvr>
                                      <p:to>
                                        <p:strVal val="visible"/>
                                      </p:to>
                                    </p:set>
                                    <p:animEffect transition="in" filter="fade">
                                      <p:cBhvr>
                                        <p:cTn id="60" dur="1000"/>
                                        <p:tgtEl>
                                          <p:spTgt spid="255"/>
                                        </p:tgtEl>
                                      </p:cBhvr>
                                    </p:animEffect>
                                    <p:anim calcmode="lin" valueType="num">
                                      <p:cBhvr>
                                        <p:cTn id="61" dur="1000" fill="hold"/>
                                        <p:tgtEl>
                                          <p:spTgt spid="255"/>
                                        </p:tgtEl>
                                        <p:attrNameLst>
                                          <p:attrName>ppt_x</p:attrName>
                                        </p:attrNameLst>
                                      </p:cBhvr>
                                      <p:tavLst>
                                        <p:tav tm="0">
                                          <p:val>
                                            <p:strVal val="#ppt_x"/>
                                          </p:val>
                                        </p:tav>
                                        <p:tav tm="100000">
                                          <p:val>
                                            <p:strVal val="#ppt_x"/>
                                          </p:val>
                                        </p:tav>
                                      </p:tavLst>
                                    </p:anim>
                                    <p:anim calcmode="lin" valueType="num">
                                      <p:cBhvr>
                                        <p:cTn id="62" dur="1000" fill="hold"/>
                                        <p:tgtEl>
                                          <p:spTgt spid="255"/>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399"/>
                                        </p:tgtEl>
                                        <p:attrNameLst>
                                          <p:attrName>style.visibility</p:attrName>
                                        </p:attrNameLst>
                                      </p:cBhvr>
                                      <p:to>
                                        <p:strVal val="visible"/>
                                      </p:to>
                                    </p:set>
                                    <p:animEffect transition="in" filter="fade">
                                      <p:cBhvr>
                                        <p:cTn id="67" dur="1000"/>
                                        <p:tgtEl>
                                          <p:spTgt spid="399"/>
                                        </p:tgtEl>
                                      </p:cBhvr>
                                    </p:animEffect>
                                    <p:anim calcmode="lin" valueType="num">
                                      <p:cBhvr>
                                        <p:cTn id="68" dur="1000" fill="hold"/>
                                        <p:tgtEl>
                                          <p:spTgt spid="399"/>
                                        </p:tgtEl>
                                        <p:attrNameLst>
                                          <p:attrName>ppt_x</p:attrName>
                                        </p:attrNameLst>
                                      </p:cBhvr>
                                      <p:tavLst>
                                        <p:tav tm="0">
                                          <p:val>
                                            <p:strVal val="#ppt_x"/>
                                          </p:val>
                                        </p:tav>
                                        <p:tav tm="100000">
                                          <p:val>
                                            <p:strVal val="#ppt_x"/>
                                          </p:val>
                                        </p:tav>
                                      </p:tavLst>
                                    </p:anim>
                                    <p:anim calcmode="lin" valueType="num">
                                      <p:cBhvr>
                                        <p:cTn id="69" dur="1000" fill="hold"/>
                                        <p:tgtEl>
                                          <p:spTgt spid="399"/>
                                        </p:tgtEl>
                                        <p:attrNameLst>
                                          <p:attrName>ppt_y</p:attrName>
                                        </p:attrNameLst>
                                      </p:cBhvr>
                                      <p:tavLst>
                                        <p:tav tm="0">
                                          <p:val>
                                            <p:strVal val="#ppt_y+.1"/>
                                          </p:val>
                                        </p:tav>
                                        <p:tav tm="100000">
                                          <p:val>
                                            <p:strVal val="#ppt_y"/>
                                          </p:val>
                                        </p:tav>
                                      </p:tavLst>
                                    </p:anim>
                                  </p:childTnLst>
                                </p:cTn>
                              </p:par>
                              <p:par>
                                <p:cTn id="70" presetID="47" presetClass="entr" presetSubtype="0" fill="hold" grpId="0" nodeType="withEffect">
                                  <p:stCondLst>
                                    <p:cond delay="0"/>
                                  </p:stCondLst>
                                  <p:childTnLst>
                                    <p:set>
                                      <p:cBhvr>
                                        <p:cTn id="71" dur="1" fill="hold">
                                          <p:stCondLst>
                                            <p:cond delay="0"/>
                                          </p:stCondLst>
                                        </p:cTn>
                                        <p:tgtEl>
                                          <p:spTgt spid="401"/>
                                        </p:tgtEl>
                                        <p:attrNameLst>
                                          <p:attrName>style.visibility</p:attrName>
                                        </p:attrNameLst>
                                      </p:cBhvr>
                                      <p:to>
                                        <p:strVal val="visible"/>
                                      </p:to>
                                    </p:set>
                                    <p:animEffect transition="in" filter="fade">
                                      <p:cBhvr>
                                        <p:cTn id="72" dur="1000"/>
                                        <p:tgtEl>
                                          <p:spTgt spid="401"/>
                                        </p:tgtEl>
                                      </p:cBhvr>
                                    </p:animEffect>
                                    <p:anim calcmode="lin" valueType="num">
                                      <p:cBhvr>
                                        <p:cTn id="73" dur="1000" fill="hold"/>
                                        <p:tgtEl>
                                          <p:spTgt spid="401"/>
                                        </p:tgtEl>
                                        <p:attrNameLst>
                                          <p:attrName>ppt_x</p:attrName>
                                        </p:attrNameLst>
                                      </p:cBhvr>
                                      <p:tavLst>
                                        <p:tav tm="0">
                                          <p:val>
                                            <p:strVal val="#ppt_x"/>
                                          </p:val>
                                        </p:tav>
                                        <p:tav tm="100000">
                                          <p:val>
                                            <p:strVal val="#ppt_x"/>
                                          </p:val>
                                        </p:tav>
                                      </p:tavLst>
                                    </p:anim>
                                    <p:anim calcmode="lin" valueType="num">
                                      <p:cBhvr>
                                        <p:cTn id="74" dur="1000" fill="hold"/>
                                        <p:tgtEl>
                                          <p:spTgt spid="4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75" grpId="0"/>
      <p:bldP spid="2" grpId="0" animBg="1"/>
      <p:bldP spid="255" grpId="0"/>
      <p:bldP spid="256" grpId="0" animBg="1"/>
      <p:bldP spid="399" grpId="0" animBg="1"/>
      <p:bldP spid="401" grpId="0" animBg="1"/>
      <p:bldP spid="391" grpId="0" animBg="1"/>
      <p:bldP spid="391" grpId="1" animBg="1"/>
      <p:bldP spid="392" grpId="0" animBg="1"/>
      <p:bldP spid="392"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498"/>
        <p:cNvGrpSpPr/>
        <p:nvPr/>
      </p:nvGrpSpPr>
      <p:grpSpPr>
        <a:xfrm>
          <a:off x="0" y="0"/>
          <a:ext cx="0" cy="0"/>
          <a:chOff x="0" y="0"/>
          <a:chExt cx="0" cy="0"/>
        </a:xfrm>
      </p:grpSpPr>
      <p:sp>
        <p:nvSpPr>
          <p:cNvPr id="3499" name="Google Shape;3499;p77"/>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3500" name="Google Shape;3500;p77"/>
          <p:cNvGrpSpPr/>
          <p:nvPr/>
        </p:nvGrpSpPr>
        <p:grpSpPr>
          <a:xfrm>
            <a:off x="1284576" y="2130924"/>
            <a:ext cx="10188969" cy="756004"/>
            <a:chOff x="926134" y="1719856"/>
            <a:chExt cx="9204181" cy="750147"/>
          </a:xfrm>
        </p:grpSpPr>
        <p:sp>
          <p:nvSpPr>
            <p:cNvPr id="3501" name="Google Shape;3501;p77"/>
            <p:cNvSpPr txBox="1"/>
            <p:nvPr/>
          </p:nvSpPr>
          <p:spPr>
            <a:xfrm>
              <a:off x="1641585" y="1719860"/>
              <a:ext cx="5447935"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해당 장비는 잔존가치 없이 5년간 사용할 예정이며, 이번 달 사용분에 대해 회계 처리함.</a:t>
              </a:r>
              <a:endParaRPr sz="2000">
                <a:solidFill>
                  <a:schemeClr val="dk1"/>
                </a:solidFill>
                <a:latin typeface="Avenir"/>
                <a:ea typeface="Avenir"/>
                <a:cs typeface="Avenir"/>
                <a:sym typeface="Avenir"/>
              </a:endParaRPr>
            </a:p>
          </p:txBody>
        </p:sp>
        <p:sp>
          <p:nvSpPr>
            <p:cNvPr id="3502" name="Google Shape;3502;p77"/>
            <p:cNvSpPr txBox="1"/>
            <p:nvPr/>
          </p:nvSpPr>
          <p:spPr>
            <a:xfrm>
              <a:off x="7089520" y="1719858"/>
              <a:ext cx="1520398" cy="74531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Depreciation</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100</a:t>
              </a:r>
              <a:endParaRPr/>
            </a:p>
          </p:txBody>
        </p:sp>
        <p:sp>
          <p:nvSpPr>
            <p:cNvPr id="3503" name="Google Shape;3503;p77"/>
            <p:cNvSpPr txBox="1"/>
            <p:nvPr/>
          </p:nvSpPr>
          <p:spPr>
            <a:xfrm>
              <a:off x="8609917" y="1719858"/>
              <a:ext cx="1520398" cy="74531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Accumulated depreciation</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100</a:t>
              </a:r>
              <a:endParaRPr/>
            </a:p>
          </p:txBody>
        </p:sp>
        <p:sp>
          <p:nvSpPr>
            <p:cNvPr id="3504" name="Google Shape;3504;p77"/>
            <p:cNvSpPr txBox="1"/>
            <p:nvPr/>
          </p:nvSpPr>
          <p:spPr>
            <a:xfrm>
              <a:off x="926134" y="1719856"/>
              <a:ext cx="715451" cy="750143"/>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14</a:t>
              </a:r>
              <a:endParaRPr/>
            </a:p>
          </p:txBody>
        </p:sp>
      </p:grpSp>
      <p:sp>
        <p:nvSpPr>
          <p:cNvPr id="3505" name="Google Shape;3505;p77"/>
          <p:cNvSpPr txBox="1"/>
          <p:nvPr/>
        </p:nvSpPr>
        <p:spPr>
          <a:xfrm>
            <a:off x="8107403" y="2136051"/>
            <a:ext cx="168120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548135"/>
                </a:solidFill>
                <a:latin typeface="Avenir"/>
                <a:ea typeface="Avenir"/>
                <a:cs typeface="Avenir"/>
                <a:sym typeface="Avenir"/>
              </a:rPr>
              <a:t>100</a:t>
            </a:r>
            <a:endParaRPr/>
          </a:p>
        </p:txBody>
      </p:sp>
      <p:sp>
        <p:nvSpPr>
          <p:cNvPr id="3506" name="Google Shape;3506;p77"/>
          <p:cNvSpPr txBox="1"/>
          <p:nvPr/>
        </p:nvSpPr>
        <p:spPr>
          <a:xfrm>
            <a:off x="9790473" y="2136051"/>
            <a:ext cx="1681200"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accent2"/>
                </a:solidFill>
                <a:latin typeface="Avenir"/>
                <a:ea typeface="Avenir"/>
                <a:cs typeface="Avenir"/>
                <a:sym typeface="Avenir"/>
              </a:rPr>
              <a:t>100</a:t>
            </a:r>
            <a:endParaRPr/>
          </a:p>
        </p:txBody>
      </p:sp>
      <p:cxnSp>
        <p:nvCxnSpPr>
          <p:cNvPr id="3507" name="Google Shape;3507;p77"/>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3508" name="Google Shape;3508;p77"/>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31 March</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Shape 3513"/>
        <p:cNvGrpSpPr/>
        <p:nvPr/>
      </p:nvGrpSpPr>
      <p:grpSpPr>
        <a:xfrm>
          <a:off x="0" y="0"/>
          <a:ext cx="0" cy="0"/>
          <a:chOff x="0" y="0"/>
          <a:chExt cx="0" cy="0"/>
        </a:xfrm>
      </p:grpSpPr>
      <p:grpSp>
        <p:nvGrpSpPr>
          <p:cNvPr id="3514" name="Google Shape;3514;p78"/>
          <p:cNvGrpSpPr/>
          <p:nvPr/>
        </p:nvGrpSpPr>
        <p:grpSpPr>
          <a:xfrm>
            <a:off x="492858" y="1051509"/>
            <a:ext cx="11291146" cy="5895963"/>
            <a:chOff x="492858" y="773769"/>
            <a:chExt cx="11291146" cy="5895963"/>
          </a:xfrm>
        </p:grpSpPr>
        <p:sp>
          <p:nvSpPr>
            <p:cNvPr id="3515" name="Google Shape;3515;p78"/>
            <p:cNvSpPr txBox="1"/>
            <p:nvPr/>
          </p:nvSpPr>
          <p:spPr>
            <a:xfrm>
              <a:off x="6227788" y="2623662"/>
              <a:ext cx="5556216" cy="1692844"/>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Equity</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3516" name="Google Shape;3516;p78"/>
            <p:cNvSpPr txBox="1"/>
            <p:nvPr/>
          </p:nvSpPr>
          <p:spPr>
            <a:xfrm>
              <a:off x="6410845" y="3135649"/>
              <a:ext cx="1544844" cy="770509"/>
            </a:xfrm>
            <a:prstGeom prst="rect">
              <a:avLst/>
            </a:prstGeom>
            <a:noFill/>
            <a:ln w="57150" cap="flat" cmpd="sng">
              <a:solidFill>
                <a:srgbClr val="9420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2200" b="1">
                  <a:solidFill>
                    <a:srgbClr val="942093"/>
                  </a:solidFill>
                  <a:latin typeface="Avenir"/>
                  <a:ea typeface="Avenir"/>
                  <a:cs typeface="Avenir"/>
                  <a:sym typeface="Avenir"/>
                </a:rPr>
                <a:t>Profit</a:t>
              </a:r>
              <a:endParaRPr/>
            </a:p>
          </p:txBody>
        </p:sp>
        <p:sp>
          <p:nvSpPr>
            <p:cNvPr id="3517" name="Google Shape;3517;p78"/>
            <p:cNvSpPr txBox="1"/>
            <p:nvPr/>
          </p:nvSpPr>
          <p:spPr>
            <a:xfrm>
              <a:off x="6227788" y="773769"/>
              <a:ext cx="5556216" cy="1702674"/>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Liabilities</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3518" name="Google Shape;3518;p78"/>
            <p:cNvGrpSpPr/>
            <p:nvPr/>
          </p:nvGrpSpPr>
          <p:grpSpPr>
            <a:xfrm>
              <a:off x="492858" y="3906158"/>
              <a:ext cx="11291146" cy="2763574"/>
              <a:chOff x="1354633" y="4399872"/>
              <a:chExt cx="9550931" cy="2121952"/>
            </a:xfrm>
          </p:grpSpPr>
          <p:sp>
            <p:nvSpPr>
              <p:cNvPr id="3519" name="Google Shape;3519;p78"/>
              <p:cNvSpPr txBox="1"/>
              <p:nvPr/>
            </p:nvSpPr>
            <p:spPr>
              <a:xfrm>
                <a:off x="1354633" y="4813260"/>
                <a:ext cx="9550931" cy="1708564"/>
              </a:xfrm>
              <a:prstGeom prst="rect">
                <a:avLst/>
              </a:prstGeom>
              <a:solidFill>
                <a:srgbClr val="FCECFB"/>
              </a:solid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3520" name="Google Shape;3520;p78"/>
              <p:cNvSpPr txBox="1"/>
              <p:nvPr/>
            </p:nvSpPr>
            <p:spPr>
              <a:xfrm>
                <a:off x="6199863" y="4921166"/>
                <a:ext cx="4576976" cy="1495361"/>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Income</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3521" name="Google Shape;3521;p78"/>
              <p:cNvSpPr txBox="1"/>
              <p:nvPr/>
            </p:nvSpPr>
            <p:spPr>
              <a:xfrm>
                <a:off x="1481256" y="4921166"/>
                <a:ext cx="4552539" cy="1495361"/>
              </a:xfrm>
              <a:prstGeom prst="rect">
                <a:avLst/>
              </a:prstGeom>
              <a:solidFill>
                <a:srgbClr val="E1EFD8"/>
              </a:solid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2800" b="1">
                    <a:solidFill>
                      <a:srgbClr val="E1EFD8"/>
                    </a:solidFill>
                    <a:latin typeface="Avenir"/>
                    <a:ea typeface="Avenir"/>
                    <a:cs typeface="Avenir"/>
                    <a:sym typeface="Avenir"/>
                  </a:rPr>
                  <a:t>_</a:t>
                </a:r>
                <a:r>
                  <a:rPr lang="en-US" sz="2000" b="1">
                    <a:solidFill>
                      <a:schemeClr val="dk1"/>
                    </a:solidFill>
                    <a:latin typeface="Avenir"/>
                    <a:ea typeface="Avenir"/>
                    <a:cs typeface="Avenir"/>
                    <a:sym typeface="Avenir"/>
                  </a:rPr>
                  <a:t>Expenses</a:t>
                </a:r>
                <a:endParaRPr sz="2800" b="1">
                  <a:solidFill>
                    <a:schemeClr val="dk1"/>
                  </a:solidFill>
                  <a:latin typeface="Avenir"/>
                  <a:ea typeface="Avenir"/>
                  <a:cs typeface="Avenir"/>
                  <a:sym typeface="Avenir"/>
                </a:endParaRPr>
              </a:p>
            </p:txBody>
          </p:sp>
          <p:cxnSp>
            <p:nvCxnSpPr>
              <p:cNvPr id="3522" name="Google Shape;3522;p78"/>
              <p:cNvCxnSpPr>
                <a:stCxn id="3516" idx="2"/>
              </p:cNvCxnSpPr>
              <p:nvPr/>
            </p:nvCxnSpPr>
            <p:spPr>
              <a:xfrm>
                <a:off x="7013902" y="4399872"/>
                <a:ext cx="7500" cy="434700"/>
              </a:xfrm>
              <a:prstGeom prst="straightConnector1">
                <a:avLst/>
              </a:prstGeom>
              <a:noFill/>
              <a:ln w="76200" cap="flat" cmpd="sng">
                <a:solidFill>
                  <a:srgbClr val="942093"/>
                </a:solidFill>
                <a:prstDash val="solid"/>
                <a:miter lim="800000"/>
                <a:headEnd type="none" w="sm" len="sm"/>
                <a:tailEnd type="none" w="sm" len="sm"/>
              </a:ln>
            </p:spPr>
          </p:cxnSp>
        </p:grpSp>
        <p:sp>
          <p:nvSpPr>
            <p:cNvPr id="3523" name="Google Shape;3523;p78"/>
            <p:cNvSpPr txBox="1"/>
            <p:nvPr/>
          </p:nvSpPr>
          <p:spPr>
            <a:xfrm>
              <a:off x="492858" y="773769"/>
              <a:ext cx="5544457" cy="3542737"/>
            </a:xfrm>
            <a:prstGeom prst="rect">
              <a:avLst/>
            </a:prstGeom>
            <a:solidFill>
              <a:srgbClr val="E1EFD8"/>
            </a:solid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2800" b="1">
                  <a:solidFill>
                    <a:srgbClr val="E1EFD8"/>
                  </a:solidFill>
                  <a:latin typeface="Avenir"/>
                  <a:ea typeface="Avenir"/>
                  <a:cs typeface="Avenir"/>
                  <a:sym typeface="Avenir"/>
                </a:rPr>
                <a:t>_</a:t>
              </a:r>
              <a:r>
                <a:rPr lang="en-US" sz="2000" b="1">
                  <a:solidFill>
                    <a:schemeClr val="dk1"/>
                  </a:solidFill>
                  <a:latin typeface="Avenir"/>
                  <a:ea typeface="Avenir"/>
                  <a:cs typeface="Avenir"/>
                  <a:sym typeface="Avenir"/>
                </a:rPr>
                <a:t>Assets</a:t>
              </a:r>
              <a:endParaRPr sz="2800" b="1">
                <a:solidFill>
                  <a:schemeClr val="dk1"/>
                </a:solidFill>
                <a:latin typeface="Avenir"/>
                <a:ea typeface="Avenir"/>
                <a:cs typeface="Avenir"/>
                <a:sym typeface="Avenir"/>
              </a:endParaRPr>
            </a:p>
          </p:txBody>
        </p:sp>
      </p:grpSp>
      <p:sp>
        <p:nvSpPr>
          <p:cNvPr id="3524" name="Google Shape;3524;p78"/>
          <p:cNvSpPr/>
          <p:nvPr/>
        </p:nvSpPr>
        <p:spPr>
          <a:xfrm>
            <a:off x="1997281" y="1554901"/>
            <a:ext cx="2565924" cy="2795888"/>
          </a:xfrm>
          <a:prstGeom prst="rect">
            <a:avLst/>
          </a:prstGeom>
          <a:solidFill>
            <a:srgbClr val="E1EFD8">
              <a:alpha val="69803"/>
            </a:srgbClr>
          </a:solidFill>
          <a:ln w="76200" cap="flat" cmpd="sng">
            <a:solidFill>
              <a:schemeClr val="accent5"/>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None/>
            </a:pPr>
            <a:r>
              <a:rPr lang="en-US" sz="1800">
                <a:solidFill>
                  <a:schemeClr val="accent1"/>
                </a:solidFill>
                <a:latin typeface="Avenir"/>
                <a:ea typeface="Avenir"/>
                <a:cs typeface="Avenir"/>
                <a:sym typeface="Avenir"/>
              </a:rPr>
              <a:t>Net book value</a:t>
            </a:r>
            <a:endParaRPr/>
          </a:p>
        </p:txBody>
      </p:sp>
      <p:grpSp>
        <p:nvGrpSpPr>
          <p:cNvPr id="3525" name="Google Shape;3525;p78"/>
          <p:cNvGrpSpPr/>
          <p:nvPr/>
        </p:nvGrpSpPr>
        <p:grpSpPr>
          <a:xfrm>
            <a:off x="2430155" y="3342861"/>
            <a:ext cx="1620000" cy="613673"/>
            <a:chOff x="3810000" y="2381250"/>
            <a:chExt cx="1390650" cy="1230631"/>
          </a:xfrm>
        </p:grpSpPr>
        <p:sp>
          <p:nvSpPr>
            <p:cNvPr id="3526" name="Google Shape;3526;p78"/>
            <p:cNvSpPr/>
            <p:nvPr/>
          </p:nvSpPr>
          <p:spPr>
            <a:xfrm flipH="1">
              <a:off x="4505325" y="2381250"/>
              <a:ext cx="695325" cy="1230631"/>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3527" name="Google Shape;3527;p78"/>
            <p:cNvSpPr/>
            <p:nvPr/>
          </p:nvSpPr>
          <p:spPr>
            <a:xfrm>
              <a:off x="3810000" y="2381250"/>
              <a:ext cx="695325" cy="1230631"/>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grpSp>
      <p:sp>
        <p:nvSpPr>
          <p:cNvPr id="3528" name="Google Shape;3528;p78"/>
          <p:cNvSpPr txBox="1"/>
          <p:nvPr/>
        </p:nvSpPr>
        <p:spPr>
          <a:xfrm>
            <a:off x="2418355" y="3926061"/>
            <a:ext cx="164732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3529" name="Google Shape;3529;p78"/>
          <p:cNvSpPr txBox="1"/>
          <p:nvPr/>
        </p:nvSpPr>
        <p:spPr>
          <a:xfrm>
            <a:off x="3258190" y="3590397"/>
            <a:ext cx="697627"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6,000</a:t>
            </a:r>
            <a:endParaRPr/>
          </a:p>
        </p:txBody>
      </p:sp>
      <p:sp>
        <p:nvSpPr>
          <p:cNvPr id="3530" name="Google Shape;3530;p78"/>
          <p:cNvSpPr/>
          <p:nvPr/>
        </p:nvSpPr>
        <p:spPr>
          <a:xfrm rot="10800000">
            <a:off x="3006380" y="3639721"/>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531" name="Google Shape;3531;p78"/>
          <p:cNvGrpSpPr/>
          <p:nvPr/>
        </p:nvGrpSpPr>
        <p:grpSpPr>
          <a:xfrm>
            <a:off x="2541560" y="3631337"/>
            <a:ext cx="245580" cy="224238"/>
            <a:chOff x="802803" y="3715228"/>
            <a:chExt cx="245580" cy="224238"/>
          </a:xfrm>
        </p:grpSpPr>
        <p:sp>
          <p:nvSpPr>
            <p:cNvPr id="3532" name="Google Shape;3532;p78"/>
            <p:cNvSpPr/>
            <p:nvPr/>
          </p:nvSpPr>
          <p:spPr>
            <a:xfrm>
              <a:off x="810781" y="3715228"/>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3533" name="Google Shape;3533;p78"/>
            <p:cNvSpPr/>
            <p:nvPr/>
          </p:nvSpPr>
          <p:spPr>
            <a:xfrm>
              <a:off x="802803" y="3724022"/>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4</a:t>
              </a:r>
              <a:endParaRPr/>
            </a:p>
          </p:txBody>
        </p:sp>
      </p:grpSp>
      <p:sp>
        <p:nvSpPr>
          <p:cNvPr id="3534" name="Google Shape;3534;p78"/>
          <p:cNvSpPr txBox="1"/>
          <p:nvPr/>
        </p:nvSpPr>
        <p:spPr>
          <a:xfrm>
            <a:off x="492858" y="373659"/>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grpSp>
        <p:nvGrpSpPr>
          <p:cNvPr id="3535" name="Google Shape;3535;p78"/>
          <p:cNvGrpSpPr/>
          <p:nvPr/>
        </p:nvGrpSpPr>
        <p:grpSpPr>
          <a:xfrm>
            <a:off x="2431837" y="2239019"/>
            <a:ext cx="1620000" cy="613673"/>
            <a:chOff x="3810000" y="2381250"/>
            <a:chExt cx="1390650" cy="1230631"/>
          </a:xfrm>
        </p:grpSpPr>
        <p:sp>
          <p:nvSpPr>
            <p:cNvPr id="3536" name="Google Shape;3536;p78"/>
            <p:cNvSpPr/>
            <p:nvPr/>
          </p:nvSpPr>
          <p:spPr>
            <a:xfrm flipH="1">
              <a:off x="4505325" y="2381250"/>
              <a:ext cx="695325" cy="1230631"/>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3537" name="Google Shape;3537;p78"/>
            <p:cNvSpPr/>
            <p:nvPr/>
          </p:nvSpPr>
          <p:spPr>
            <a:xfrm>
              <a:off x="3810000" y="2381250"/>
              <a:ext cx="695325" cy="1230631"/>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grpSp>
      <p:sp>
        <p:nvSpPr>
          <p:cNvPr id="3538" name="Google Shape;3538;p78"/>
          <p:cNvSpPr txBox="1"/>
          <p:nvPr/>
        </p:nvSpPr>
        <p:spPr>
          <a:xfrm>
            <a:off x="2424875" y="2819506"/>
            <a:ext cx="1647322"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Accumulated depreciation</a:t>
            </a:r>
            <a:endParaRPr/>
          </a:p>
        </p:txBody>
      </p:sp>
      <p:sp>
        <p:nvSpPr>
          <p:cNvPr id="3539" name="Google Shape;3539;p78"/>
          <p:cNvSpPr txBox="1"/>
          <p:nvPr/>
        </p:nvSpPr>
        <p:spPr>
          <a:xfrm>
            <a:off x="3436231" y="2504827"/>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100</a:t>
            </a:r>
            <a:endParaRPr/>
          </a:p>
        </p:txBody>
      </p:sp>
      <p:sp>
        <p:nvSpPr>
          <p:cNvPr id="3540" name="Google Shape;3540;p78"/>
          <p:cNvSpPr/>
          <p:nvPr/>
        </p:nvSpPr>
        <p:spPr>
          <a:xfrm>
            <a:off x="3013056" y="2552833"/>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541" name="Google Shape;3541;p78"/>
          <p:cNvGrpSpPr/>
          <p:nvPr/>
        </p:nvGrpSpPr>
        <p:grpSpPr>
          <a:xfrm>
            <a:off x="2509931" y="2513811"/>
            <a:ext cx="309700" cy="224238"/>
            <a:chOff x="770743" y="3715228"/>
            <a:chExt cx="309700" cy="224238"/>
          </a:xfrm>
        </p:grpSpPr>
        <p:sp>
          <p:nvSpPr>
            <p:cNvPr id="3542" name="Google Shape;3542;p78"/>
            <p:cNvSpPr/>
            <p:nvPr/>
          </p:nvSpPr>
          <p:spPr>
            <a:xfrm>
              <a:off x="810781" y="3715228"/>
              <a:ext cx="216000" cy="216000"/>
            </a:xfrm>
            <a:prstGeom prst="ellipse">
              <a:avLst/>
            </a:prstGeom>
            <a:solidFill>
              <a:srgbClr val="FFFF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3543" name="Google Shape;3543;p78"/>
            <p:cNvSpPr/>
            <p:nvPr/>
          </p:nvSpPr>
          <p:spPr>
            <a:xfrm>
              <a:off x="770743" y="3724022"/>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14</a:t>
              </a:r>
              <a:endParaRPr/>
            </a:p>
          </p:txBody>
        </p:sp>
      </p:grpSp>
      <p:sp>
        <p:nvSpPr>
          <p:cNvPr id="3544" name="Google Shape;3544;p78"/>
          <p:cNvSpPr txBox="1"/>
          <p:nvPr/>
        </p:nvSpPr>
        <p:spPr>
          <a:xfrm>
            <a:off x="4187006" y="133386"/>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3545" name="Google Shape;3545;p78"/>
          <p:cNvCxnSpPr/>
          <p:nvPr/>
        </p:nvCxnSpPr>
        <p:spPr>
          <a:xfrm>
            <a:off x="4316098" y="566860"/>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3546" name="Google Shape;3546;p78"/>
          <p:cNvSpPr txBox="1"/>
          <p:nvPr/>
        </p:nvSpPr>
        <p:spPr>
          <a:xfrm>
            <a:off x="9504213" y="373659"/>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grpSp>
        <p:nvGrpSpPr>
          <p:cNvPr id="3547" name="Google Shape;3547;p78"/>
          <p:cNvGrpSpPr/>
          <p:nvPr/>
        </p:nvGrpSpPr>
        <p:grpSpPr>
          <a:xfrm>
            <a:off x="2426804" y="5368526"/>
            <a:ext cx="1620000" cy="546428"/>
            <a:chOff x="3810000" y="2381250"/>
            <a:chExt cx="1390650" cy="1230631"/>
          </a:xfrm>
        </p:grpSpPr>
        <p:sp>
          <p:nvSpPr>
            <p:cNvPr id="3548" name="Google Shape;3548;p78"/>
            <p:cNvSpPr/>
            <p:nvPr/>
          </p:nvSpPr>
          <p:spPr>
            <a:xfrm flipH="1">
              <a:off x="4505325" y="2381250"/>
              <a:ext cx="695325" cy="1230631"/>
            </a:xfrm>
            <a:prstGeom prst="corner">
              <a:avLst>
                <a:gd name="adj1" fmla="val 9817"/>
                <a:gd name="adj2" fmla="val 8904"/>
              </a:avLst>
            </a:prstGeom>
            <a:solidFill>
              <a:srgbClr val="548135"/>
            </a:solidFill>
            <a:ln w="1905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3549" name="Google Shape;3549;p78"/>
            <p:cNvSpPr/>
            <p:nvPr/>
          </p:nvSpPr>
          <p:spPr>
            <a:xfrm>
              <a:off x="3810000" y="2381250"/>
              <a:ext cx="695325" cy="1230631"/>
            </a:xfrm>
            <a:prstGeom prst="corner">
              <a:avLst>
                <a:gd name="adj1" fmla="val 9817"/>
                <a:gd name="adj2" fmla="val 8904"/>
              </a:avLst>
            </a:prstGeom>
            <a:solidFill>
              <a:srgbClr val="548135"/>
            </a:solidFill>
            <a:ln w="19050" cap="flat" cmpd="sng">
              <a:solidFill>
                <a:srgbClr val="54813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grpSp>
      <p:sp>
        <p:nvSpPr>
          <p:cNvPr id="3550" name="Google Shape;3550;p78"/>
          <p:cNvSpPr txBox="1"/>
          <p:nvPr/>
        </p:nvSpPr>
        <p:spPr>
          <a:xfrm>
            <a:off x="2128968" y="5914954"/>
            <a:ext cx="218713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Depreciation charge</a:t>
            </a:r>
            <a:endParaRPr/>
          </a:p>
        </p:txBody>
      </p:sp>
      <p:sp>
        <p:nvSpPr>
          <p:cNvPr id="3551" name="Google Shape;3551;p78"/>
          <p:cNvSpPr txBox="1"/>
          <p:nvPr/>
        </p:nvSpPr>
        <p:spPr>
          <a:xfrm>
            <a:off x="3483796" y="5534421"/>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100</a:t>
            </a:r>
            <a:endParaRPr/>
          </a:p>
        </p:txBody>
      </p:sp>
      <p:sp>
        <p:nvSpPr>
          <p:cNvPr id="3552" name="Google Shape;3552;p78"/>
          <p:cNvSpPr/>
          <p:nvPr/>
        </p:nvSpPr>
        <p:spPr>
          <a:xfrm rot="10800000">
            <a:off x="3203239" y="5585301"/>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553" name="Google Shape;3553;p78"/>
          <p:cNvGrpSpPr/>
          <p:nvPr/>
        </p:nvGrpSpPr>
        <p:grpSpPr>
          <a:xfrm>
            <a:off x="2521051" y="5582253"/>
            <a:ext cx="306494" cy="224238"/>
            <a:chOff x="772346" y="3715228"/>
            <a:chExt cx="306494" cy="224238"/>
          </a:xfrm>
        </p:grpSpPr>
        <p:sp>
          <p:nvSpPr>
            <p:cNvPr id="3554" name="Google Shape;3554;p78"/>
            <p:cNvSpPr/>
            <p:nvPr/>
          </p:nvSpPr>
          <p:spPr>
            <a:xfrm>
              <a:off x="810781" y="3715228"/>
              <a:ext cx="216000" cy="216000"/>
            </a:xfrm>
            <a:prstGeom prst="ellipse">
              <a:avLst/>
            </a:prstGeom>
            <a:solidFill>
              <a:srgbClr val="FFFF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3555" name="Google Shape;3555;p78"/>
            <p:cNvSpPr/>
            <p:nvPr/>
          </p:nvSpPr>
          <p:spPr>
            <a:xfrm>
              <a:off x="772346" y="3724022"/>
              <a:ext cx="306494"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14</a:t>
              </a:r>
              <a:endParaRPr/>
            </a:p>
          </p:txBody>
        </p:sp>
      </p:grpSp>
      <p:sp>
        <p:nvSpPr>
          <p:cNvPr id="3556" name="Google Shape;3556;p78"/>
          <p:cNvSpPr txBox="1"/>
          <p:nvPr/>
        </p:nvSpPr>
        <p:spPr>
          <a:xfrm>
            <a:off x="10026434" y="3924000"/>
            <a:ext cx="175756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3557" name="Google Shape;3557;p78"/>
          <p:cNvSpPr txBox="1"/>
          <p:nvPr/>
        </p:nvSpPr>
        <p:spPr>
          <a:xfrm>
            <a:off x="10776926" y="3605780"/>
            <a:ext cx="81144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20,000</a:t>
            </a:r>
            <a:endParaRPr/>
          </a:p>
        </p:txBody>
      </p:sp>
      <p:grpSp>
        <p:nvGrpSpPr>
          <p:cNvPr id="3558" name="Google Shape;3558;p78"/>
          <p:cNvGrpSpPr/>
          <p:nvPr/>
        </p:nvGrpSpPr>
        <p:grpSpPr>
          <a:xfrm>
            <a:off x="10116000" y="3650400"/>
            <a:ext cx="245580" cy="224238"/>
            <a:chOff x="802803" y="3715228"/>
            <a:chExt cx="245580" cy="224238"/>
          </a:xfrm>
        </p:grpSpPr>
        <p:sp>
          <p:nvSpPr>
            <p:cNvPr id="3559" name="Google Shape;3559;p78"/>
            <p:cNvSpPr/>
            <p:nvPr/>
          </p:nvSpPr>
          <p:spPr>
            <a:xfrm>
              <a:off x="810781" y="3715228"/>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3560" name="Google Shape;3560;p78"/>
            <p:cNvSpPr/>
            <p:nvPr/>
          </p:nvSpPr>
          <p:spPr>
            <a:xfrm>
              <a:off x="802803" y="3724022"/>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2</a:t>
              </a:r>
              <a:endParaRPr/>
            </a:p>
          </p:txBody>
        </p:sp>
      </p:grpSp>
      <p:grpSp>
        <p:nvGrpSpPr>
          <p:cNvPr id="3561" name="Google Shape;3561;p78"/>
          <p:cNvGrpSpPr/>
          <p:nvPr/>
        </p:nvGrpSpPr>
        <p:grpSpPr>
          <a:xfrm>
            <a:off x="9983452" y="3159099"/>
            <a:ext cx="1620000" cy="796276"/>
            <a:chOff x="3810000" y="2015069"/>
            <a:chExt cx="1390650" cy="1596814"/>
          </a:xfrm>
        </p:grpSpPr>
        <p:sp>
          <p:nvSpPr>
            <p:cNvPr id="3562" name="Google Shape;3562;p78"/>
            <p:cNvSpPr/>
            <p:nvPr/>
          </p:nvSpPr>
          <p:spPr>
            <a:xfrm flipH="1">
              <a:off x="4505325" y="2015073"/>
              <a:ext cx="695325" cy="1596810"/>
            </a:xfrm>
            <a:prstGeom prst="corner">
              <a:avLst>
                <a:gd name="adj1" fmla="val 7267"/>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3563" name="Google Shape;3563;p78"/>
            <p:cNvSpPr/>
            <p:nvPr/>
          </p:nvSpPr>
          <p:spPr>
            <a:xfrm>
              <a:off x="3810000" y="2015069"/>
              <a:ext cx="695325" cy="1596812"/>
            </a:xfrm>
            <a:prstGeom prst="corner">
              <a:avLst>
                <a:gd name="adj1" fmla="val 7268"/>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grpSp>
      <p:sp>
        <p:nvSpPr>
          <p:cNvPr id="3564" name="Google Shape;3564;p78"/>
          <p:cNvSpPr/>
          <p:nvPr/>
        </p:nvSpPr>
        <p:spPr>
          <a:xfrm rot="10800000">
            <a:off x="10548000" y="3653367"/>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3565" name="Google Shape;3565;p78"/>
          <p:cNvSpPr txBox="1"/>
          <p:nvPr/>
        </p:nvSpPr>
        <p:spPr>
          <a:xfrm>
            <a:off x="8209453" y="3923999"/>
            <a:ext cx="1620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Dividends</a:t>
            </a:r>
            <a:endParaRPr/>
          </a:p>
        </p:txBody>
      </p:sp>
      <p:grpSp>
        <p:nvGrpSpPr>
          <p:cNvPr id="3566" name="Google Shape;3566;p78"/>
          <p:cNvGrpSpPr/>
          <p:nvPr/>
        </p:nvGrpSpPr>
        <p:grpSpPr>
          <a:xfrm>
            <a:off x="8166470" y="3159098"/>
            <a:ext cx="1620000" cy="796276"/>
            <a:chOff x="3810000" y="2015069"/>
            <a:chExt cx="1390650" cy="1596814"/>
          </a:xfrm>
        </p:grpSpPr>
        <p:sp>
          <p:nvSpPr>
            <p:cNvPr id="3567" name="Google Shape;3567;p78"/>
            <p:cNvSpPr/>
            <p:nvPr/>
          </p:nvSpPr>
          <p:spPr>
            <a:xfrm flipH="1">
              <a:off x="4505325" y="2015073"/>
              <a:ext cx="695325" cy="1596810"/>
            </a:xfrm>
            <a:prstGeom prst="corner">
              <a:avLst>
                <a:gd name="adj1" fmla="val 7267"/>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3568" name="Google Shape;3568;p78"/>
            <p:cNvSpPr/>
            <p:nvPr/>
          </p:nvSpPr>
          <p:spPr>
            <a:xfrm>
              <a:off x="3810000" y="2015069"/>
              <a:ext cx="695325" cy="1596812"/>
            </a:xfrm>
            <a:prstGeom prst="corner">
              <a:avLst>
                <a:gd name="adj1" fmla="val 7268"/>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grpSp>
      <p:sp>
        <p:nvSpPr>
          <p:cNvPr id="3569" name="Google Shape;3569;p78"/>
          <p:cNvSpPr txBox="1"/>
          <p:nvPr/>
        </p:nvSpPr>
        <p:spPr>
          <a:xfrm>
            <a:off x="9203194" y="3565337"/>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100</a:t>
            </a:r>
            <a:endParaRPr/>
          </a:p>
        </p:txBody>
      </p:sp>
      <p:sp>
        <p:nvSpPr>
          <p:cNvPr id="3570" name="Google Shape;3570;p78"/>
          <p:cNvSpPr/>
          <p:nvPr/>
        </p:nvSpPr>
        <p:spPr>
          <a:xfrm rot="10800000">
            <a:off x="8922637" y="3616217"/>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571" name="Google Shape;3571;p78"/>
          <p:cNvGrpSpPr/>
          <p:nvPr/>
        </p:nvGrpSpPr>
        <p:grpSpPr>
          <a:xfrm>
            <a:off x="8243655" y="3613169"/>
            <a:ext cx="300083" cy="224238"/>
            <a:chOff x="775552" y="3715228"/>
            <a:chExt cx="300083" cy="224238"/>
          </a:xfrm>
        </p:grpSpPr>
        <p:sp>
          <p:nvSpPr>
            <p:cNvPr id="3572" name="Google Shape;3572;p78"/>
            <p:cNvSpPr/>
            <p:nvPr/>
          </p:nvSpPr>
          <p:spPr>
            <a:xfrm>
              <a:off x="810781" y="3715228"/>
              <a:ext cx="216000" cy="216000"/>
            </a:xfrm>
            <a:prstGeom prst="ellipse">
              <a:avLst/>
            </a:prstGeom>
            <a:solidFill>
              <a:srgbClr val="FFFF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3573" name="Google Shape;3573;p78"/>
            <p:cNvSpPr/>
            <p:nvPr/>
          </p:nvSpPr>
          <p:spPr>
            <a:xfrm>
              <a:off x="775552" y="3724022"/>
              <a:ext cx="300083"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17</a:t>
              </a: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38"/>
                                        </p:tgtEl>
                                        <p:attrNameLst>
                                          <p:attrName>style.visibility</p:attrName>
                                        </p:attrNameLst>
                                      </p:cBhvr>
                                      <p:to>
                                        <p:strVal val="visible"/>
                                      </p:to>
                                    </p:set>
                                    <p:animEffect transition="in" filter="fade">
                                      <p:cBhvr>
                                        <p:cTn id="7" dur="500"/>
                                        <p:tgtEl>
                                          <p:spTgt spid="3538"/>
                                        </p:tgtEl>
                                      </p:cBhvr>
                                    </p:animEffect>
                                  </p:childTnLst>
                                </p:cTn>
                              </p:par>
                              <p:par>
                                <p:cTn id="8" presetID="10" presetClass="entr" presetSubtype="0" fill="hold" nodeType="withEffect">
                                  <p:stCondLst>
                                    <p:cond delay="0"/>
                                  </p:stCondLst>
                                  <p:childTnLst>
                                    <p:set>
                                      <p:cBhvr>
                                        <p:cTn id="9" dur="1" fill="hold">
                                          <p:stCondLst>
                                            <p:cond delay="0"/>
                                          </p:stCondLst>
                                        </p:cTn>
                                        <p:tgtEl>
                                          <p:spTgt spid="3535"/>
                                        </p:tgtEl>
                                        <p:attrNameLst>
                                          <p:attrName>style.visibility</p:attrName>
                                        </p:attrNameLst>
                                      </p:cBhvr>
                                      <p:to>
                                        <p:strVal val="visible"/>
                                      </p:to>
                                    </p:set>
                                    <p:animEffect transition="in" filter="fade">
                                      <p:cBhvr>
                                        <p:cTn id="10" dur="500"/>
                                        <p:tgtEl>
                                          <p:spTgt spid="3535"/>
                                        </p:tgtEl>
                                      </p:cBhvr>
                                    </p:animEffect>
                                  </p:childTnLst>
                                </p:cTn>
                              </p:par>
                              <p:par>
                                <p:cTn id="11" presetID="10" presetClass="entr" presetSubtype="0" fill="hold" nodeType="withEffect">
                                  <p:stCondLst>
                                    <p:cond delay="0"/>
                                  </p:stCondLst>
                                  <p:childTnLst>
                                    <p:set>
                                      <p:cBhvr>
                                        <p:cTn id="12" dur="1" fill="hold">
                                          <p:stCondLst>
                                            <p:cond delay="0"/>
                                          </p:stCondLst>
                                        </p:cTn>
                                        <p:tgtEl>
                                          <p:spTgt spid="3540"/>
                                        </p:tgtEl>
                                        <p:attrNameLst>
                                          <p:attrName>style.visibility</p:attrName>
                                        </p:attrNameLst>
                                      </p:cBhvr>
                                      <p:to>
                                        <p:strVal val="visible"/>
                                      </p:to>
                                    </p:set>
                                    <p:animEffect transition="in" filter="fade">
                                      <p:cBhvr>
                                        <p:cTn id="13" dur="1000"/>
                                        <p:tgtEl>
                                          <p:spTgt spid="3540"/>
                                        </p:tgtEl>
                                      </p:cBhvr>
                                    </p:animEffect>
                                  </p:childTnLst>
                                </p:cTn>
                              </p:par>
                              <p:par>
                                <p:cTn id="14" presetID="10" presetClass="entr" presetSubtype="0" fill="hold" nodeType="withEffect">
                                  <p:stCondLst>
                                    <p:cond delay="0"/>
                                  </p:stCondLst>
                                  <p:childTnLst>
                                    <p:set>
                                      <p:cBhvr>
                                        <p:cTn id="15" dur="1" fill="hold">
                                          <p:stCondLst>
                                            <p:cond delay="0"/>
                                          </p:stCondLst>
                                        </p:cTn>
                                        <p:tgtEl>
                                          <p:spTgt spid="3541"/>
                                        </p:tgtEl>
                                        <p:attrNameLst>
                                          <p:attrName>style.visibility</p:attrName>
                                        </p:attrNameLst>
                                      </p:cBhvr>
                                      <p:to>
                                        <p:strVal val="visible"/>
                                      </p:to>
                                    </p:set>
                                    <p:animEffect transition="in" filter="fade">
                                      <p:cBhvr>
                                        <p:cTn id="16" dur="1000"/>
                                        <p:tgtEl>
                                          <p:spTgt spid="3541"/>
                                        </p:tgtEl>
                                      </p:cBhvr>
                                    </p:animEffect>
                                  </p:childTnLst>
                                </p:cTn>
                              </p:par>
                              <p:par>
                                <p:cTn id="17" presetID="10" presetClass="entr" presetSubtype="0" fill="hold" nodeType="withEffect">
                                  <p:stCondLst>
                                    <p:cond delay="0"/>
                                  </p:stCondLst>
                                  <p:childTnLst>
                                    <p:set>
                                      <p:cBhvr>
                                        <p:cTn id="18" dur="1" fill="hold">
                                          <p:stCondLst>
                                            <p:cond delay="0"/>
                                          </p:stCondLst>
                                        </p:cTn>
                                        <p:tgtEl>
                                          <p:spTgt spid="3539"/>
                                        </p:tgtEl>
                                        <p:attrNameLst>
                                          <p:attrName>style.visibility</p:attrName>
                                        </p:attrNameLst>
                                      </p:cBhvr>
                                      <p:to>
                                        <p:strVal val="visible"/>
                                      </p:to>
                                    </p:set>
                                    <p:animEffect transition="in" filter="fade">
                                      <p:cBhvr>
                                        <p:cTn id="19" dur="1000"/>
                                        <p:tgtEl>
                                          <p:spTgt spid="353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524"/>
                                        </p:tgtEl>
                                        <p:attrNameLst>
                                          <p:attrName>style.visibility</p:attrName>
                                        </p:attrNameLst>
                                      </p:cBhvr>
                                      <p:to>
                                        <p:strVal val="visible"/>
                                      </p:to>
                                    </p:set>
                                    <p:animEffect transition="in" filter="fade">
                                      <p:cBhvr>
                                        <p:cTn id="24" dur="500"/>
                                        <p:tgtEl>
                                          <p:spTgt spid="3524"/>
                                        </p:tgtEl>
                                      </p:cBhvr>
                                    </p:animEffect>
                                  </p:childTnLst>
                                </p:cTn>
                              </p:par>
                              <p:par>
                                <p:cTn id="25" presetID="10" presetClass="entr" presetSubtype="0" fill="hold" nodeType="withEffect">
                                  <p:stCondLst>
                                    <p:cond delay="0"/>
                                  </p:stCondLst>
                                  <p:childTnLst>
                                    <p:set>
                                      <p:cBhvr>
                                        <p:cTn id="26" dur="1" fill="hold">
                                          <p:stCondLst>
                                            <p:cond delay="0"/>
                                          </p:stCondLst>
                                        </p:cTn>
                                        <p:tgtEl>
                                          <p:spTgt spid="3553"/>
                                        </p:tgtEl>
                                        <p:attrNameLst>
                                          <p:attrName>style.visibility</p:attrName>
                                        </p:attrNameLst>
                                      </p:cBhvr>
                                      <p:to>
                                        <p:strVal val="visible"/>
                                      </p:to>
                                    </p:set>
                                    <p:animEffect transition="in" filter="fade">
                                      <p:cBhvr>
                                        <p:cTn id="27" dur="1000"/>
                                        <p:tgtEl>
                                          <p:spTgt spid="3553"/>
                                        </p:tgtEl>
                                      </p:cBhvr>
                                    </p:animEffect>
                                  </p:childTnLst>
                                </p:cTn>
                              </p:par>
                              <p:par>
                                <p:cTn id="28" presetID="10" presetClass="entr" presetSubtype="0" fill="hold" nodeType="withEffect">
                                  <p:stCondLst>
                                    <p:cond delay="0"/>
                                  </p:stCondLst>
                                  <p:childTnLst>
                                    <p:set>
                                      <p:cBhvr>
                                        <p:cTn id="29" dur="1" fill="hold">
                                          <p:stCondLst>
                                            <p:cond delay="0"/>
                                          </p:stCondLst>
                                        </p:cTn>
                                        <p:tgtEl>
                                          <p:spTgt spid="3552"/>
                                        </p:tgtEl>
                                        <p:attrNameLst>
                                          <p:attrName>style.visibility</p:attrName>
                                        </p:attrNameLst>
                                      </p:cBhvr>
                                      <p:to>
                                        <p:strVal val="visible"/>
                                      </p:to>
                                    </p:set>
                                    <p:animEffect transition="in" filter="fade">
                                      <p:cBhvr>
                                        <p:cTn id="30" dur="1000"/>
                                        <p:tgtEl>
                                          <p:spTgt spid="3552"/>
                                        </p:tgtEl>
                                      </p:cBhvr>
                                    </p:animEffect>
                                  </p:childTnLst>
                                </p:cTn>
                              </p:par>
                              <p:par>
                                <p:cTn id="31" presetID="10" presetClass="entr" presetSubtype="0" fill="hold" nodeType="withEffect">
                                  <p:stCondLst>
                                    <p:cond delay="0"/>
                                  </p:stCondLst>
                                  <p:childTnLst>
                                    <p:set>
                                      <p:cBhvr>
                                        <p:cTn id="32" dur="1" fill="hold">
                                          <p:stCondLst>
                                            <p:cond delay="0"/>
                                          </p:stCondLst>
                                        </p:cTn>
                                        <p:tgtEl>
                                          <p:spTgt spid="3551"/>
                                        </p:tgtEl>
                                        <p:attrNameLst>
                                          <p:attrName>style.visibility</p:attrName>
                                        </p:attrNameLst>
                                      </p:cBhvr>
                                      <p:to>
                                        <p:strVal val="visible"/>
                                      </p:to>
                                    </p:set>
                                    <p:animEffect transition="in" filter="fade">
                                      <p:cBhvr>
                                        <p:cTn id="33" dur="1000"/>
                                        <p:tgtEl>
                                          <p:spTgt spid="3551"/>
                                        </p:tgtEl>
                                      </p:cBhvr>
                                    </p:animEffect>
                                  </p:childTnLst>
                                </p:cTn>
                              </p:par>
                              <p:par>
                                <p:cTn id="34" presetID="10" presetClass="entr" presetSubtype="0" fill="hold" nodeType="withEffect">
                                  <p:stCondLst>
                                    <p:cond delay="0"/>
                                  </p:stCondLst>
                                  <p:childTnLst>
                                    <p:set>
                                      <p:cBhvr>
                                        <p:cTn id="35" dur="1" fill="hold">
                                          <p:stCondLst>
                                            <p:cond delay="0"/>
                                          </p:stCondLst>
                                        </p:cTn>
                                        <p:tgtEl>
                                          <p:spTgt spid="3571"/>
                                        </p:tgtEl>
                                        <p:attrNameLst>
                                          <p:attrName>style.visibility</p:attrName>
                                        </p:attrNameLst>
                                      </p:cBhvr>
                                      <p:to>
                                        <p:strVal val="visible"/>
                                      </p:to>
                                    </p:set>
                                    <p:animEffect transition="in" filter="fade">
                                      <p:cBhvr>
                                        <p:cTn id="36" dur="1000"/>
                                        <p:tgtEl>
                                          <p:spTgt spid="3571"/>
                                        </p:tgtEl>
                                      </p:cBhvr>
                                    </p:animEffect>
                                  </p:childTnLst>
                                </p:cTn>
                              </p:par>
                              <p:par>
                                <p:cTn id="37" presetID="10" presetClass="entr" presetSubtype="0" fill="hold" nodeType="withEffect">
                                  <p:stCondLst>
                                    <p:cond delay="0"/>
                                  </p:stCondLst>
                                  <p:childTnLst>
                                    <p:set>
                                      <p:cBhvr>
                                        <p:cTn id="38" dur="1" fill="hold">
                                          <p:stCondLst>
                                            <p:cond delay="0"/>
                                          </p:stCondLst>
                                        </p:cTn>
                                        <p:tgtEl>
                                          <p:spTgt spid="3570"/>
                                        </p:tgtEl>
                                        <p:attrNameLst>
                                          <p:attrName>style.visibility</p:attrName>
                                        </p:attrNameLst>
                                      </p:cBhvr>
                                      <p:to>
                                        <p:strVal val="visible"/>
                                      </p:to>
                                    </p:set>
                                    <p:animEffect transition="in" filter="fade">
                                      <p:cBhvr>
                                        <p:cTn id="39" dur="1000"/>
                                        <p:tgtEl>
                                          <p:spTgt spid="3570"/>
                                        </p:tgtEl>
                                      </p:cBhvr>
                                    </p:animEffect>
                                  </p:childTnLst>
                                </p:cTn>
                              </p:par>
                              <p:par>
                                <p:cTn id="40" presetID="10" presetClass="entr" presetSubtype="0" fill="hold" nodeType="withEffect">
                                  <p:stCondLst>
                                    <p:cond delay="0"/>
                                  </p:stCondLst>
                                  <p:childTnLst>
                                    <p:set>
                                      <p:cBhvr>
                                        <p:cTn id="41" dur="1" fill="hold">
                                          <p:stCondLst>
                                            <p:cond delay="0"/>
                                          </p:stCondLst>
                                        </p:cTn>
                                        <p:tgtEl>
                                          <p:spTgt spid="3569"/>
                                        </p:tgtEl>
                                        <p:attrNameLst>
                                          <p:attrName>style.visibility</p:attrName>
                                        </p:attrNameLst>
                                      </p:cBhvr>
                                      <p:to>
                                        <p:strVal val="visible"/>
                                      </p:to>
                                    </p:set>
                                    <p:animEffect transition="in" filter="fade">
                                      <p:cBhvr>
                                        <p:cTn id="42" dur="1000"/>
                                        <p:tgtEl>
                                          <p:spTgt spid="3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Shape 3578"/>
        <p:cNvGrpSpPr/>
        <p:nvPr/>
      </p:nvGrpSpPr>
      <p:grpSpPr>
        <a:xfrm>
          <a:off x="0" y="0"/>
          <a:ext cx="0" cy="0"/>
          <a:chOff x="0" y="0"/>
          <a:chExt cx="0" cy="0"/>
        </a:xfrm>
      </p:grpSpPr>
      <p:grpSp>
        <p:nvGrpSpPr>
          <p:cNvPr id="3579" name="Google Shape;3579;p79"/>
          <p:cNvGrpSpPr/>
          <p:nvPr/>
        </p:nvGrpSpPr>
        <p:grpSpPr>
          <a:xfrm>
            <a:off x="492858" y="773769"/>
            <a:ext cx="11291146" cy="5895963"/>
            <a:chOff x="492858" y="773769"/>
            <a:chExt cx="11291146" cy="5895963"/>
          </a:xfrm>
        </p:grpSpPr>
        <p:sp>
          <p:nvSpPr>
            <p:cNvPr id="3580" name="Google Shape;3580;p79"/>
            <p:cNvSpPr txBox="1"/>
            <p:nvPr/>
          </p:nvSpPr>
          <p:spPr>
            <a:xfrm>
              <a:off x="6227788" y="2623662"/>
              <a:ext cx="5556216" cy="1692844"/>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Equity</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3581" name="Google Shape;3581;p79"/>
            <p:cNvSpPr txBox="1"/>
            <p:nvPr/>
          </p:nvSpPr>
          <p:spPr>
            <a:xfrm>
              <a:off x="6410845" y="3135649"/>
              <a:ext cx="1544844" cy="770509"/>
            </a:xfrm>
            <a:prstGeom prst="rect">
              <a:avLst/>
            </a:prstGeom>
            <a:noFill/>
            <a:ln w="57150" cap="flat" cmpd="sng">
              <a:solidFill>
                <a:srgbClr val="9420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None/>
              </a:pPr>
              <a:r>
                <a:rPr lang="en-US" sz="2200" b="1">
                  <a:solidFill>
                    <a:srgbClr val="942093"/>
                  </a:solidFill>
                  <a:latin typeface="Avenir"/>
                  <a:ea typeface="Avenir"/>
                  <a:cs typeface="Avenir"/>
                  <a:sym typeface="Avenir"/>
                </a:rPr>
                <a:t>Profit</a:t>
              </a:r>
              <a:endParaRPr/>
            </a:p>
          </p:txBody>
        </p:sp>
        <p:sp>
          <p:nvSpPr>
            <p:cNvPr id="3582" name="Google Shape;3582;p79"/>
            <p:cNvSpPr txBox="1"/>
            <p:nvPr/>
          </p:nvSpPr>
          <p:spPr>
            <a:xfrm>
              <a:off x="6227788" y="773769"/>
              <a:ext cx="5556216" cy="1702674"/>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Liabilities</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3583" name="Google Shape;3583;p79"/>
            <p:cNvGrpSpPr/>
            <p:nvPr/>
          </p:nvGrpSpPr>
          <p:grpSpPr>
            <a:xfrm>
              <a:off x="492858" y="3906158"/>
              <a:ext cx="11291146" cy="2763574"/>
              <a:chOff x="1354633" y="4399872"/>
              <a:chExt cx="9550931" cy="2121952"/>
            </a:xfrm>
          </p:grpSpPr>
          <p:sp>
            <p:nvSpPr>
              <p:cNvPr id="3584" name="Google Shape;3584;p79"/>
              <p:cNvSpPr txBox="1"/>
              <p:nvPr/>
            </p:nvSpPr>
            <p:spPr>
              <a:xfrm>
                <a:off x="1354633" y="4813260"/>
                <a:ext cx="9550931" cy="1708564"/>
              </a:xfrm>
              <a:prstGeom prst="rect">
                <a:avLst/>
              </a:prstGeom>
              <a:solidFill>
                <a:srgbClr val="FCECFB"/>
              </a:solid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3585" name="Google Shape;3585;p79"/>
              <p:cNvSpPr txBox="1"/>
              <p:nvPr/>
            </p:nvSpPr>
            <p:spPr>
              <a:xfrm>
                <a:off x="6199863" y="4921166"/>
                <a:ext cx="4576976" cy="1495361"/>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Income</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3586" name="Google Shape;3586;p79"/>
              <p:cNvSpPr txBox="1"/>
              <p:nvPr/>
            </p:nvSpPr>
            <p:spPr>
              <a:xfrm>
                <a:off x="1481256" y="4921166"/>
                <a:ext cx="4552539" cy="1495361"/>
              </a:xfrm>
              <a:prstGeom prst="rect">
                <a:avLst/>
              </a:prstGeom>
              <a:solidFill>
                <a:srgbClr val="E1EFD8"/>
              </a:solid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2800" b="1">
                    <a:solidFill>
                      <a:srgbClr val="E1EFD8"/>
                    </a:solidFill>
                    <a:latin typeface="Avenir"/>
                    <a:ea typeface="Avenir"/>
                    <a:cs typeface="Avenir"/>
                    <a:sym typeface="Avenir"/>
                  </a:rPr>
                  <a:t>_</a:t>
                </a:r>
                <a:r>
                  <a:rPr lang="en-US" sz="2000" b="1">
                    <a:solidFill>
                      <a:schemeClr val="dk1"/>
                    </a:solidFill>
                    <a:latin typeface="Avenir"/>
                    <a:ea typeface="Avenir"/>
                    <a:cs typeface="Avenir"/>
                    <a:sym typeface="Avenir"/>
                  </a:rPr>
                  <a:t>Expenses</a:t>
                </a:r>
                <a:endParaRPr sz="2800" b="1">
                  <a:solidFill>
                    <a:schemeClr val="dk1"/>
                  </a:solidFill>
                  <a:latin typeface="Avenir"/>
                  <a:ea typeface="Avenir"/>
                  <a:cs typeface="Avenir"/>
                  <a:sym typeface="Avenir"/>
                </a:endParaRPr>
              </a:p>
            </p:txBody>
          </p:sp>
          <p:cxnSp>
            <p:nvCxnSpPr>
              <p:cNvPr id="3587" name="Google Shape;3587;p79"/>
              <p:cNvCxnSpPr>
                <a:stCxn id="3581" idx="2"/>
              </p:cNvCxnSpPr>
              <p:nvPr/>
            </p:nvCxnSpPr>
            <p:spPr>
              <a:xfrm>
                <a:off x="7013902" y="4399872"/>
                <a:ext cx="7500" cy="434700"/>
              </a:xfrm>
              <a:prstGeom prst="straightConnector1">
                <a:avLst/>
              </a:prstGeom>
              <a:noFill/>
              <a:ln w="76200" cap="flat" cmpd="sng">
                <a:solidFill>
                  <a:srgbClr val="942093"/>
                </a:solidFill>
                <a:prstDash val="solid"/>
                <a:miter lim="800000"/>
                <a:headEnd type="none" w="sm" len="sm"/>
                <a:tailEnd type="none" w="sm" len="sm"/>
              </a:ln>
            </p:spPr>
          </p:cxnSp>
        </p:grpSp>
        <p:sp>
          <p:nvSpPr>
            <p:cNvPr id="3588" name="Google Shape;3588;p79"/>
            <p:cNvSpPr txBox="1"/>
            <p:nvPr/>
          </p:nvSpPr>
          <p:spPr>
            <a:xfrm>
              <a:off x="492858" y="773769"/>
              <a:ext cx="5544457" cy="3542737"/>
            </a:xfrm>
            <a:prstGeom prst="rect">
              <a:avLst/>
            </a:prstGeom>
            <a:solidFill>
              <a:srgbClr val="E1EFD8"/>
            </a:solid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2800" b="1">
                  <a:solidFill>
                    <a:srgbClr val="E1EFD8"/>
                  </a:solidFill>
                  <a:latin typeface="Avenir"/>
                  <a:ea typeface="Avenir"/>
                  <a:cs typeface="Avenir"/>
                  <a:sym typeface="Avenir"/>
                </a:rPr>
                <a:t>_</a:t>
              </a:r>
              <a:r>
                <a:rPr lang="en-US" sz="2000" b="1">
                  <a:solidFill>
                    <a:schemeClr val="dk1"/>
                  </a:solidFill>
                  <a:latin typeface="Avenir"/>
                  <a:ea typeface="Avenir"/>
                  <a:cs typeface="Avenir"/>
                  <a:sym typeface="Avenir"/>
                </a:rPr>
                <a:t>Assets</a:t>
              </a:r>
              <a:endParaRPr sz="2800" b="1">
                <a:solidFill>
                  <a:schemeClr val="dk1"/>
                </a:solidFill>
                <a:latin typeface="Avenir"/>
                <a:ea typeface="Avenir"/>
                <a:cs typeface="Avenir"/>
                <a:sym typeface="Avenir"/>
              </a:endParaRPr>
            </a:p>
          </p:txBody>
        </p:sp>
      </p:grpSp>
      <p:sp>
        <p:nvSpPr>
          <p:cNvPr id="3589" name="Google Shape;3589;p79"/>
          <p:cNvSpPr txBox="1"/>
          <p:nvPr/>
        </p:nvSpPr>
        <p:spPr>
          <a:xfrm>
            <a:off x="492858" y="373659"/>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3590" name="Google Shape;3590;p79"/>
          <p:cNvSpPr txBox="1"/>
          <p:nvPr/>
        </p:nvSpPr>
        <p:spPr>
          <a:xfrm>
            <a:off x="4187006" y="133386"/>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3591" name="Google Shape;3591;p79"/>
          <p:cNvCxnSpPr/>
          <p:nvPr/>
        </p:nvCxnSpPr>
        <p:spPr>
          <a:xfrm>
            <a:off x="4316098" y="566860"/>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3592" name="Google Shape;3592;p79"/>
          <p:cNvSpPr txBox="1"/>
          <p:nvPr/>
        </p:nvSpPr>
        <p:spPr>
          <a:xfrm>
            <a:off x="9504213" y="373659"/>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sp>
        <p:nvSpPr>
          <p:cNvPr id="3593" name="Google Shape;3593;p79"/>
          <p:cNvSpPr txBox="1"/>
          <p:nvPr/>
        </p:nvSpPr>
        <p:spPr>
          <a:xfrm>
            <a:off x="10026434" y="3924000"/>
            <a:ext cx="175756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3594" name="Google Shape;3594;p79"/>
          <p:cNvSpPr txBox="1"/>
          <p:nvPr/>
        </p:nvSpPr>
        <p:spPr>
          <a:xfrm>
            <a:off x="10776926" y="3605780"/>
            <a:ext cx="81144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20,000</a:t>
            </a:r>
            <a:endParaRPr/>
          </a:p>
        </p:txBody>
      </p:sp>
      <p:grpSp>
        <p:nvGrpSpPr>
          <p:cNvPr id="3595" name="Google Shape;3595;p79"/>
          <p:cNvGrpSpPr/>
          <p:nvPr/>
        </p:nvGrpSpPr>
        <p:grpSpPr>
          <a:xfrm>
            <a:off x="10116000" y="3650400"/>
            <a:ext cx="245580" cy="224238"/>
            <a:chOff x="802803" y="3715228"/>
            <a:chExt cx="245580" cy="224238"/>
          </a:xfrm>
        </p:grpSpPr>
        <p:sp>
          <p:nvSpPr>
            <p:cNvPr id="3596" name="Google Shape;3596;p79"/>
            <p:cNvSpPr/>
            <p:nvPr/>
          </p:nvSpPr>
          <p:spPr>
            <a:xfrm>
              <a:off x="810781" y="3715228"/>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3597" name="Google Shape;3597;p79"/>
            <p:cNvSpPr/>
            <p:nvPr/>
          </p:nvSpPr>
          <p:spPr>
            <a:xfrm>
              <a:off x="802803" y="3724022"/>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2</a:t>
              </a:r>
              <a:endParaRPr/>
            </a:p>
          </p:txBody>
        </p:sp>
      </p:grpSp>
      <p:grpSp>
        <p:nvGrpSpPr>
          <p:cNvPr id="3598" name="Google Shape;3598;p79"/>
          <p:cNvGrpSpPr/>
          <p:nvPr/>
        </p:nvGrpSpPr>
        <p:grpSpPr>
          <a:xfrm>
            <a:off x="9983452" y="3159099"/>
            <a:ext cx="1620000" cy="796276"/>
            <a:chOff x="3810000" y="2015069"/>
            <a:chExt cx="1390650" cy="1596814"/>
          </a:xfrm>
        </p:grpSpPr>
        <p:sp>
          <p:nvSpPr>
            <p:cNvPr id="3599" name="Google Shape;3599;p79"/>
            <p:cNvSpPr/>
            <p:nvPr/>
          </p:nvSpPr>
          <p:spPr>
            <a:xfrm flipH="1">
              <a:off x="4505325" y="2015073"/>
              <a:ext cx="695325" cy="1596810"/>
            </a:xfrm>
            <a:prstGeom prst="corner">
              <a:avLst>
                <a:gd name="adj1" fmla="val 7267"/>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3600" name="Google Shape;3600;p79"/>
            <p:cNvSpPr/>
            <p:nvPr/>
          </p:nvSpPr>
          <p:spPr>
            <a:xfrm>
              <a:off x="3810000" y="2015069"/>
              <a:ext cx="695325" cy="1596812"/>
            </a:xfrm>
            <a:prstGeom prst="corner">
              <a:avLst>
                <a:gd name="adj1" fmla="val 7268"/>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grpSp>
      <p:sp>
        <p:nvSpPr>
          <p:cNvPr id="3601" name="Google Shape;3601;p79"/>
          <p:cNvSpPr/>
          <p:nvPr/>
        </p:nvSpPr>
        <p:spPr>
          <a:xfrm rot="10800000">
            <a:off x="10548000" y="3653367"/>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3602" name="Google Shape;3602;p79"/>
          <p:cNvSpPr txBox="1"/>
          <p:nvPr/>
        </p:nvSpPr>
        <p:spPr>
          <a:xfrm>
            <a:off x="8209453" y="3923999"/>
            <a:ext cx="1620000"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Dividends</a:t>
            </a:r>
            <a:endParaRPr/>
          </a:p>
        </p:txBody>
      </p:sp>
      <p:grpSp>
        <p:nvGrpSpPr>
          <p:cNvPr id="3603" name="Google Shape;3603;p79"/>
          <p:cNvGrpSpPr/>
          <p:nvPr/>
        </p:nvGrpSpPr>
        <p:grpSpPr>
          <a:xfrm>
            <a:off x="8166470" y="3159098"/>
            <a:ext cx="1620000" cy="796276"/>
            <a:chOff x="3810000" y="2015069"/>
            <a:chExt cx="1390650" cy="1596814"/>
          </a:xfrm>
        </p:grpSpPr>
        <p:sp>
          <p:nvSpPr>
            <p:cNvPr id="3604" name="Google Shape;3604;p79"/>
            <p:cNvSpPr/>
            <p:nvPr/>
          </p:nvSpPr>
          <p:spPr>
            <a:xfrm flipH="1">
              <a:off x="4505325" y="2015073"/>
              <a:ext cx="695325" cy="1596810"/>
            </a:xfrm>
            <a:prstGeom prst="corner">
              <a:avLst>
                <a:gd name="adj1" fmla="val 7267"/>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3605" name="Google Shape;3605;p79"/>
            <p:cNvSpPr/>
            <p:nvPr/>
          </p:nvSpPr>
          <p:spPr>
            <a:xfrm>
              <a:off x="3810000" y="2015069"/>
              <a:ext cx="695325" cy="1596812"/>
            </a:xfrm>
            <a:prstGeom prst="corner">
              <a:avLst>
                <a:gd name="adj1" fmla="val 7268"/>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grpSp>
      <p:sp>
        <p:nvSpPr>
          <p:cNvPr id="3606" name="Google Shape;3606;p79"/>
          <p:cNvSpPr txBox="1"/>
          <p:nvPr/>
        </p:nvSpPr>
        <p:spPr>
          <a:xfrm>
            <a:off x="9031673" y="3565337"/>
            <a:ext cx="697627"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1,000</a:t>
            </a:r>
            <a:endParaRPr/>
          </a:p>
        </p:txBody>
      </p:sp>
      <p:sp>
        <p:nvSpPr>
          <p:cNvPr id="3607" name="Google Shape;3607;p79"/>
          <p:cNvSpPr/>
          <p:nvPr/>
        </p:nvSpPr>
        <p:spPr>
          <a:xfrm>
            <a:off x="8753821" y="3644353"/>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608" name="Google Shape;3608;p79"/>
          <p:cNvGrpSpPr/>
          <p:nvPr/>
        </p:nvGrpSpPr>
        <p:grpSpPr>
          <a:xfrm>
            <a:off x="8243655" y="3613169"/>
            <a:ext cx="300083" cy="224238"/>
            <a:chOff x="775552" y="3715228"/>
            <a:chExt cx="300083" cy="224238"/>
          </a:xfrm>
        </p:grpSpPr>
        <p:sp>
          <p:nvSpPr>
            <p:cNvPr id="3609" name="Google Shape;3609;p79"/>
            <p:cNvSpPr/>
            <p:nvPr/>
          </p:nvSpPr>
          <p:spPr>
            <a:xfrm>
              <a:off x="810781" y="3715228"/>
              <a:ext cx="216000" cy="216000"/>
            </a:xfrm>
            <a:prstGeom prst="ellipse">
              <a:avLst/>
            </a:prstGeom>
            <a:solidFill>
              <a:srgbClr val="FFFF0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3610" name="Google Shape;3610;p79"/>
            <p:cNvSpPr/>
            <p:nvPr/>
          </p:nvSpPr>
          <p:spPr>
            <a:xfrm>
              <a:off x="775552" y="3724022"/>
              <a:ext cx="300083"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17</a:t>
              </a: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08"/>
                                        </p:tgtEl>
                                        <p:attrNameLst>
                                          <p:attrName>style.visibility</p:attrName>
                                        </p:attrNameLst>
                                      </p:cBhvr>
                                      <p:to>
                                        <p:strVal val="visible"/>
                                      </p:to>
                                    </p:set>
                                    <p:animEffect transition="in" filter="fade">
                                      <p:cBhvr>
                                        <p:cTn id="7" dur="1000"/>
                                        <p:tgtEl>
                                          <p:spTgt spid="3608"/>
                                        </p:tgtEl>
                                      </p:cBhvr>
                                    </p:animEffect>
                                  </p:childTnLst>
                                </p:cTn>
                              </p:par>
                              <p:par>
                                <p:cTn id="8" presetID="10" presetClass="entr" presetSubtype="0" fill="hold" nodeType="withEffect">
                                  <p:stCondLst>
                                    <p:cond delay="0"/>
                                  </p:stCondLst>
                                  <p:childTnLst>
                                    <p:set>
                                      <p:cBhvr>
                                        <p:cTn id="9" dur="1" fill="hold">
                                          <p:stCondLst>
                                            <p:cond delay="0"/>
                                          </p:stCondLst>
                                        </p:cTn>
                                        <p:tgtEl>
                                          <p:spTgt spid="3607"/>
                                        </p:tgtEl>
                                        <p:attrNameLst>
                                          <p:attrName>style.visibility</p:attrName>
                                        </p:attrNameLst>
                                      </p:cBhvr>
                                      <p:to>
                                        <p:strVal val="visible"/>
                                      </p:to>
                                    </p:set>
                                    <p:animEffect transition="in" filter="fade">
                                      <p:cBhvr>
                                        <p:cTn id="10" dur="1000"/>
                                        <p:tgtEl>
                                          <p:spTgt spid="3607"/>
                                        </p:tgtEl>
                                      </p:cBhvr>
                                    </p:animEffect>
                                  </p:childTnLst>
                                </p:cTn>
                              </p:par>
                              <p:par>
                                <p:cTn id="11" presetID="10" presetClass="entr" presetSubtype="0" fill="hold" nodeType="withEffect">
                                  <p:stCondLst>
                                    <p:cond delay="0"/>
                                  </p:stCondLst>
                                  <p:childTnLst>
                                    <p:set>
                                      <p:cBhvr>
                                        <p:cTn id="12" dur="1" fill="hold">
                                          <p:stCondLst>
                                            <p:cond delay="0"/>
                                          </p:stCondLst>
                                        </p:cTn>
                                        <p:tgtEl>
                                          <p:spTgt spid="3606"/>
                                        </p:tgtEl>
                                        <p:attrNameLst>
                                          <p:attrName>style.visibility</p:attrName>
                                        </p:attrNameLst>
                                      </p:cBhvr>
                                      <p:to>
                                        <p:strVal val="visible"/>
                                      </p:to>
                                    </p:set>
                                    <p:animEffect transition="in" filter="fade">
                                      <p:cBhvr>
                                        <p:cTn id="13" dur="1000"/>
                                        <p:tgtEl>
                                          <p:spTgt spid="3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19318"/>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52792"/>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sp>
        <p:nvSpPr>
          <p:cNvPr id="401" name="Rectangle 400">
            <a:extLst>
              <a:ext uri="{FF2B5EF4-FFF2-40B4-BE49-F238E27FC236}">
                <a16:creationId xmlns:a16="http://schemas.microsoft.com/office/drawing/2014/main" id="{36D6E7A3-1CF3-F44A-8203-C6DEE141B73C}"/>
              </a:ext>
            </a:extLst>
          </p:cNvPr>
          <p:cNvSpPr/>
          <p:nvPr/>
        </p:nvSpPr>
        <p:spPr>
          <a:xfrm>
            <a:off x="512592" y="1760497"/>
            <a:ext cx="1917459" cy="2514104"/>
          </a:xfrm>
          <a:prstGeom prst="rect">
            <a:avLst/>
          </a:prstGeom>
          <a:solidFill>
            <a:srgbClr val="4BEDFF">
              <a:alpha val="35000"/>
            </a:srgbClr>
          </a:solidFill>
          <a:ln w="762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50000"/>
              </a:lnSpc>
            </a:pPr>
            <a:r>
              <a:rPr lang="en-GB">
                <a:solidFill>
                  <a:schemeClr val="accent1"/>
                </a:solidFill>
                <a:latin typeface="Avenir"/>
              </a:rPr>
              <a:t>Net book value</a:t>
            </a:r>
          </a:p>
        </p:txBody>
      </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1443348"/>
            <a:ext cx="1620000" cy="2515350"/>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09" name="TextBox 108">
            <a:extLst>
              <a:ext uri="{FF2B5EF4-FFF2-40B4-BE49-F238E27FC236}">
                <a16:creationId xmlns:a16="http://schemas.microsoft.com/office/drawing/2014/main" id="{B694B919-534C-2C41-8C61-09F0BDF0CC10}"/>
              </a:ext>
            </a:extLst>
          </p:cNvPr>
          <p:cNvSpPr txBox="1"/>
          <p:nvPr/>
        </p:nvSpPr>
        <p:spPr>
          <a:xfrm>
            <a:off x="4101806" y="2478490"/>
            <a:ext cx="1911388" cy="338554"/>
          </a:xfrm>
          <a:prstGeom prst="rect">
            <a:avLst/>
          </a:prstGeom>
          <a:noFill/>
        </p:spPr>
        <p:txBody>
          <a:bodyPr wrap="square" rtlCol="0">
            <a:spAutoFit/>
          </a:bodyPr>
          <a:lstStyle/>
          <a:p>
            <a:pPr algn="ctr"/>
            <a:r>
              <a:rPr lang="en-US" sz="1600">
                <a:latin typeface="Avenir"/>
              </a:rPr>
              <a:t>Deferred expenses</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4" name="TextBox 113">
            <a:extLst>
              <a:ext uri="{FF2B5EF4-FFF2-40B4-BE49-F238E27FC236}">
                <a16:creationId xmlns:a16="http://schemas.microsoft.com/office/drawing/2014/main" id="{1EEBC55C-3C1F-1642-8926-FEB0EBD0F049}"/>
              </a:ext>
            </a:extLst>
          </p:cNvPr>
          <p:cNvSpPr txBox="1"/>
          <p:nvPr/>
        </p:nvSpPr>
        <p:spPr>
          <a:xfrm>
            <a:off x="796515" y="6192000"/>
            <a:ext cx="1603683" cy="338554"/>
          </a:xfrm>
          <a:prstGeom prst="rect">
            <a:avLst/>
          </a:prstGeom>
          <a:noFill/>
        </p:spPr>
        <p:txBody>
          <a:bodyPr wrap="square" rtlCol="0">
            <a:spAutoFit/>
          </a:bodyPr>
          <a:lstStyle/>
          <a:p>
            <a:pPr algn="ctr"/>
            <a:r>
              <a:rPr lang="en-US" sz="1600">
                <a:latin typeface="Avenir"/>
              </a:rPr>
              <a:t>Depreciation</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18" name="TextBox 117">
            <a:extLst>
              <a:ext uri="{FF2B5EF4-FFF2-40B4-BE49-F238E27FC236}">
                <a16:creationId xmlns:a16="http://schemas.microsoft.com/office/drawing/2014/main" id="{771DDF6F-B29C-AF46-A26D-B05A0E9136DB}"/>
              </a:ext>
            </a:extLst>
          </p:cNvPr>
          <p:cNvSpPr txBox="1"/>
          <p:nvPr/>
        </p:nvSpPr>
        <p:spPr>
          <a:xfrm>
            <a:off x="8114313" y="2028286"/>
            <a:ext cx="1864201" cy="338554"/>
          </a:xfrm>
          <a:prstGeom prst="rect">
            <a:avLst/>
          </a:prstGeom>
          <a:noFill/>
        </p:spPr>
        <p:txBody>
          <a:bodyPr wrap="square" rtlCol="0">
            <a:spAutoFit/>
          </a:bodyPr>
          <a:lstStyle/>
          <a:p>
            <a:pPr algn="ctr"/>
            <a:r>
              <a:rPr lang="en-US" sz="1600" dirty="0">
                <a:latin typeface="Avenir"/>
              </a:rPr>
              <a:t>Deferred revenue</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2" name="TextBox 171">
            <a:extLst>
              <a:ext uri="{FF2B5EF4-FFF2-40B4-BE49-F238E27FC236}">
                <a16:creationId xmlns:a16="http://schemas.microsoft.com/office/drawing/2014/main" id="{1E829A5C-2F66-F748-9AB9-2ABF768ADAA8}"/>
              </a:ext>
            </a:extLst>
          </p:cNvPr>
          <p:cNvSpPr txBox="1"/>
          <p:nvPr/>
        </p:nvSpPr>
        <p:spPr>
          <a:xfrm>
            <a:off x="3469894" y="172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175" name="TextBox 174">
            <a:extLst>
              <a:ext uri="{FF2B5EF4-FFF2-40B4-BE49-F238E27FC236}">
                <a16:creationId xmlns:a16="http://schemas.microsoft.com/office/drawing/2014/main" id="{1EDF2EBA-BB67-8B4C-A078-DBEAC0E841AA}"/>
              </a:ext>
            </a:extLst>
          </p:cNvPr>
          <p:cNvSpPr txBox="1"/>
          <p:nvPr/>
        </p:nvSpPr>
        <p:spPr>
          <a:xfrm>
            <a:off x="3469894" y="1454709"/>
            <a:ext cx="526106" cy="338554"/>
          </a:xfrm>
          <a:prstGeom prst="rect">
            <a:avLst/>
          </a:prstGeom>
          <a:noFill/>
        </p:spPr>
        <p:txBody>
          <a:bodyPr wrap="none" rtlCol="0">
            <a:spAutoFit/>
          </a:bodyPr>
          <a:lstStyle/>
          <a:p>
            <a:pPr algn="r"/>
            <a:r>
              <a:rPr lang="en-US" sz="1600" b="1">
                <a:solidFill>
                  <a:schemeClr val="accent2"/>
                </a:solidFill>
                <a:latin typeface="Avenir"/>
              </a:rPr>
              <a:t>800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 name="Down Arrow 1">
            <a:extLst>
              <a:ext uri="{FF2B5EF4-FFF2-40B4-BE49-F238E27FC236}">
                <a16:creationId xmlns:a16="http://schemas.microsoft.com/office/drawing/2014/main" id="{F86048BE-D5F3-F04C-A5C9-FD8784673821}"/>
              </a:ext>
            </a:extLst>
          </p:cNvPr>
          <p:cNvSpPr/>
          <p:nvPr/>
        </p:nvSpPr>
        <p:spPr>
          <a:xfrm>
            <a:off x="3011371" y="152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Down Arrow 198">
            <a:extLst>
              <a:ext uri="{FF2B5EF4-FFF2-40B4-BE49-F238E27FC236}">
                <a16:creationId xmlns:a16="http://schemas.microsoft.com/office/drawing/2014/main" id="{3FD208AA-CF32-B64F-B03C-969D3C0C8C66}"/>
              </a:ext>
            </a:extLst>
          </p:cNvPr>
          <p:cNvSpPr/>
          <p:nvPr/>
        </p:nvSpPr>
        <p:spPr>
          <a:xfrm rot="10800000">
            <a:off x="3011371" y="177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8" name="Down Arrow 217">
            <a:extLst>
              <a:ext uri="{FF2B5EF4-FFF2-40B4-BE49-F238E27FC236}">
                <a16:creationId xmlns:a16="http://schemas.microsoft.com/office/drawing/2014/main" id="{4482D691-4D69-A242-A177-A1C5F39277C4}"/>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D59EDECC-B1D1-B040-BBB3-304302444F36}"/>
              </a:ext>
            </a:extLst>
          </p:cNvPr>
          <p:cNvSpPr txBox="1"/>
          <p:nvPr/>
        </p:nvSpPr>
        <p:spPr>
          <a:xfrm>
            <a:off x="3469894" y="199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21" name="Down Arrow 220">
            <a:extLst>
              <a:ext uri="{FF2B5EF4-FFF2-40B4-BE49-F238E27FC236}">
                <a16:creationId xmlns:a16="http://schemas.microsoft.com/office/drawing/2014/main" id="{123666BC-850F-5440-BFCE-47B8E5B5429B}"/>
              </a:ext>
            </a:extLst>
          </p:cNvPr>
          <p:cNvSpPr/>
          <p:nvPr/>
        </p:nvSpPr>
        <p:spPr>
          <a:xfrm rot="10800000">
            <a:off x="3007666" y="204993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TextBox 238">
            <a:extLst>
              <a:ext uri="{FF2B5EF4-FFF2-40B4-BE49-F238E27FC236}">
                <a16:creationId xmlns:a16="http://schemas.microsoft.com/office/drawing/2014/main" id="{A523F897-551A-8F49-B6AB-51DBFD3C53C0}"/>
              </a:ext>
            </a:extLst>
          </p:cNvPr>
          <p:cNvSpPr txBox="1"/>
          <p:nvPr/>
        </p:nvSpPr>
        <p:spPr>
          <a:xfrm>
            <a:off x="3599552" y="4796571"/>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250</a:t>
            </a:r>
          </a:p>
        </p:txBody>
      </p:sp>
      <p:sp>
        <p:nvSpPr>
          <p:cNvPr id="240" name="Down Arrow 239">
            <a:extLst>
              <a:ext uri="{FF2B5EF4-FFF2-40B4-BE49-F238E27FC236}">
                <a16:creationId xmlns:a16="http://schemas.microsoft.com/office/drawing/2014/main" id="{07DD916A-3850-9F4F-81C8-0C94788A77D2}"/>
              </a:ext>
            </a:extLst>
          </p:cNvPr>
          <p:cNvSpPr/>
          <p:nvPr/>
        </p:nvSpPr>
        <p:spPr>
          <a:xfrm rot="10800000">
            <a:off x="3096000" y="484745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extBox 240">
            <a:extLst>
              <a:ext uri="{FF2B5EF4-FFF2-40B4-BE49-F238E27FC236}">
                <a16:creationId xmlns:a16="http://schemas.microsoft.com/office/drawing/2014/main" id="{88F3874F-A130-C843-9E72-AFB2DD902123}"/>
              </a:ext>
            </a:extLst>
          </p:cNvPr>
          <p:cNvSpPr txBox="1"/>
          <p:nvPr/>
        </p:nvSpPr>
        <p:spPr>
          <a:xfrm>
            <a:off x="7487489" y="1462635"/>
            <a:ext cx="526106" cy="338554"/>
          </a:xfrm>
          <a:prstGeom prst="rect">
            <a:avLst/>
          </a:prstGeom>
          <a:noFill/>
        </p:spPr>
        <p:txBody>
          <a:bodyPr wrap="none" rtlCol="0">
            <a:spAutoFit/>
          </a:bodyPr>
          <a:lstStyle/>
          <a:p>
            <a:pPr algn="r"/>
            <a:r>
              <a:rPr lang="en-US" sz="1600" b="1">
                <a:solidFill>
                  <a:schemeClr val="accent2"/>
                </a:solidFill>
                <a:latin typeface="Avenir"/>
              </a:rPr>
              <a:t>250</a:t>
            </a:r>
          </a:p>
        </p:txBody>
      </p:sp>
      <p:sp>
        <p:nvSpPr>
          <p:cNvPr id="242" name="Down Arrow 241">
            <a:extLst>
              <a:ext uri="{FF2B5EF4-FFF2-40B4-BE49-F238E27FC236}">
                <a16:creationId xmlns:a16="http://schemas.microsoft.com/office/drawing/2014/main" id="{84AF3014-B3DD-BD46-8650-EE907DDD90EA}"/>
              </a:ext>
            </a:extLst>
          </p:cNvPr>
          <p:cNvSpPr/>
          <p:nvPr/>
        </p:nvSpPr>
        <p:spPr>
          <a:xfrm rot="10800000">
            <a:off x="6984000" y="14983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3" name="TextBox 242">
            <a:extLst>
              <a:ext uri="{FF2B5EF4-FFF2-40B4-BE49-F238E27FC236}">
                <a16:creationId xmlns:a16="http://schemas.microsoft.com/office/drawing/2014/main" id="{5B2E3768-A879-AE44-BA1D-3F82ECAC6E48}"/>
              </a:ext>
            </a:extLst>
          </p:cNvPr>
          <p:cNvSpPr txBox="1"/>
          <p:nvPr/>
        </p:nvSpPr>
        <p:spPr>
          <a:xfrm>
            <a:off x="9285817" y="1715500"/>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245" name="TextBox 244">
            <a:extLst>
              <a:ext uri="{FF2B5EF4-FFF2-40B4-BE49-F238E27FC236}">
                <a16:creationId xmlns:a16="http://schemas.microsoft.com/office/drawing/2014/main" id="{30F9F41D-65FA-3E4A-B645-18A9F04A48C7}"/>
              </a:ext>
            </a:extLst>
          </p:cNvPr>
          <p:cNvSpPr txBox="1"/>
          <p:nvPr/>
        </p:nvSpPr>
        <p:spPr>
          <a:xfrm>
            <a:off x="5269894" y="965882"/>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46" name="Down Arrow 245">
            <a:extLst>
              <a:ext uri="{FF2B5EF4-FFF2-40B4-BE49-F238E27FC236}">
                <a16:creationId xmlns:a16="http://schemas.microsoft.com/office/drawing/2014/main" id="{810B7F9B-FFF6-7646-B180-66C5E6B1ADE6}"/>
              </a:ext>
            </a:extLst>
          </p:cNvPr>
          <p:cNvSpPr/>
          <p:nvPr/>
        </p:nvSpPr>
        <p:spPr>
          <a:xfrm>
            <a:off x="4825605" y="10220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TextBox 246">
            <a:extLst>
              <a:ext uri="{FF2B5EF4-FFF2-40B4-BE49-F238E27FC236}">
                <a16:creationId xmlns:a16="http://schemas.microsoft.com/office/drawing/2014/main" id="{AA659AB1-43FB-D747-AC50-E4454DC4B036}"/>
              </a:ext>
            </a:extLst>
          </p:cNvPr>
          <p:cNvSpPr txBox="1"/>
          <p:nvPr/>
        </p:nvSpPr>
        <p:spPr>
          <a:xfrm>
            <a:off x="7543708" y="5375143"/>
            <a:ext cx="412292" cy="338554"/>
          </a:xfrm>
          <a:prstGeom prst="rect">
            <a:avLst/>
          </a:prstGeom>
          <a:noFill/>
        </p:spPr>
        <p:txBody>
          <a:bodyPr wrap="none" rtlCol="0">
            <a:spAutoFit/>
          </a:bodyPr>
          <a:lstStyle/>
          <a:p>
            <a:pPr algn="r"/>
            <a:r>
              <a:rPr lang="en-US" sz="1600" b="1">
                <a:solidFill>
                  <a:schemeClr val="accent2"/>
                </a:solidFill>
                <a:latin typeface="Avenir"/>
              </a:rPr>
              <a:t>90</a:t>
            </a:r>
          </a:p>
        </p:txBody>
      </p:sp>
      <p:sp>
        <p:nvSpPr>
          <p:cNvPr id="248" name="Down Arrow 247">
            <a:extLst>
              <a:ext uri="{FF2B5EF4-FFF2-40B4-BE49-F238E27FC236}">
                <a16:creationId xmlns:a16="http://schemas.microsoft.com/office/drawing/2014/main" id="{12BC87CD-B219-D944-A303-51AE7219B591}"/>
              </a:ext>
            </a:extLst>
          </p:cNvPr>
          <p:cNvSpPr/>
          <p:nvPr/>
        </p:nvSpPr>
        <p:spPr>
          <a:xfrm rot="10800000">
            <a:off x="6984000" y="5425275"/>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9" name="TextBox 248">
            <a:extLst>
              <a:ext uri="{FF2B5EF4-FFF2-40B4-BE49-F238E27FC236}">
                <a16:creationId xmlns:a16="http://schemas.microsoft.com/office/drawing/2014/main" id="{A2C44290-0620-2943-8A42-C52EE722BCBB}"/>
              </a:ext>
            </a:extLst>
          </p:cNvPr>
          <p:cNvSpPr txBox="1"/>
          <p:nvPr/>
        </p:nvSpPr>
        <p:spPr>
          <a:xfrm>
            <a:off x="8947923" y="1452209"/>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90</a:t>
            </a:r>
          </a:p>
        </p:txBody>
      </p:sp>
      <p:sp>
        <p:nvSpPr>
          <p:cNvPr id="251" name="TextBox 250">
            <a:extLst>
              <a:ext uri="{FF2B5EF4-FFF2-40B4-BE49-F238E27FC236}">
                <a16:creationId xmlns:a16="http://schemas.microsoft.com/office/drawing/2014/main" id="{42AF0AB4-8D2B-0143-996A-B4981D471025}"/>
              </a:ext>
            </a:extLst>
          </p:cNvPr>
          <p:cNvSpPr txBox="1"/>
          <p:nvPr/>
        </p:nvSpPr>
        <p:spPr>
          <a:xfrm>
            <a:off x="5383708" y="2869537"/>
            <a:ext cx="412292" cy="338554"/>
          </a:xfrm>
          <a:prstGeom prst="rect">
            <a:avLst/>
          </a:prstGeom>
          <a:noFill/>
        </p:spPr>
        <p:txBody>
          <a:bodyPr wrap="none" rtlCol="0">
            <a:spAutoFit/>
          </a:bodyPr>
          <a:lstStyle/>
          <a:p>
            <a:pPr algn="r"/>
            <a:r>
              <a:rPr lang="en-US" sz="1600" b="1">
                <a:solidFill>
                  <a:schemeClr val="accent2"/>
                </a:solidFill>
                <a:latin typeface="Avenir"/>
              </a:rPr>
              <a:t>30</a:t>
            </a:r>
          </a:p>
        </p:txBody>
      </p:sp>
      <p:sp>
        <p:nvSpPr>
          <p:cNvPr id="252" name="Down Arrow 251">
            <a:extLst>
              <a:ext uri="{FF2B5EF4-FFF2-40B4-BE49-F238E27FC236}">
                <a16:creationId xmlns:a16="http://schemas.microsoft.com/office/drawing/2014/main" id="{A7123581-9911-2E40-8E28-9FC2BB675D83}"/>
              </a:ext>
            </a:extLst>
          </p:cNvPr>
          <p:cNvSpPr/>
          <p:nvPr/>
        </p:nvSpPr>
        <p:spPr>
          <a:xfrm>
            <a:off x="4824000" y="29337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a:extLst>
              <a:ext uri="{FF2B5EF4-FFF2-40B4-BE49-F238E27FC236}">
                <a16:creationId xmlns:a16="http://schemas.microsoft.com/office/drawing/2014/main" id="{1F19AD71-5F84-1F46-AE8C-130720EF36F1}"/>
              </a:ext>
            </a:extLst>
          </p:cNvPr>
          <p:cNvSpPr txBox="1"/>
          <p:nvPr/>
        </p:nvSpPr>
        <p:spPr>
          <a:xfrm>
            <a:off x="5419708" y="5397501"/>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30</a:t>
            </a:r>
          </a:p>
        </p:txBody>
      </p:sp>
      <p:sp>
        <p:nvSpPr>
          <p:cNvPr id="254" name="Down Arrow 253">
            <a:extLst>
              <a:ext uri="{FF2B5EF4-FFF2-40B4-BE49-F238E27FC236}">
                <a16:creationId xmlns:a16="http://schemas.microsoft.com/office/drawing/2014/main" id="{21A7DE91-A1BB-F143-9944-47847F9AE787}"/>
              </a:ext>
            </a:extLst>
          </p:cNvPr>
          <p:cNvSpPr/>
          <p:nvPr/>
        </p:nvSpPr>
        <p:spPr>
          <a:xfrm rot="10800000">
            <a:off x="4860000" y="544838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TextBox 254">
            <a:extLst>
              <a:ext uri="{FF2B5EF4-FFF2-40B4-BE49-F238E27FC236}">
                <a16:creationId xmlns:a16="http://schemas.microsoft.com/office/drawing/2014/main" id="{05B1A396-D0F4-AF4A-BCBC-DE574C091153}"/>
              </a:ext>
            </a:extLst>
          </p:cNvPr>
          <p:cNvSpPr txBox="1"/>
          <p:nvPr/>
        </p:nvSpPr>
        <p:spPr>
          <a:xfrm>
            <a:off x="5269894" y="215709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800</a:t>
            </a:r>
          </a:p>
        </p:txBody>
      </p:sp>
      <p:sp>
        <p:nvSpPr>
          <p:cNvPr id="256" name="Down Arrow 255">
            <a:extLst>
              <a:ext uri="{FF2B5EF4-FFF2-40B4-BE49-F238E27FC236}">
                <a16:creationId xmlns:a16="http://schemas.microsoft.com/office/drawing/2014/main" id="{38C36F68-D429-D34F-9A05-65CE9CE1A050}"/>
              </a:ext>
            </a:extLst>
          </p:cNvPr>
          <p:cNvSpPr/>
          <p:nvPr/>
        </p:nvSpPr>
        <p:spPr>
          <a:xfrm rot="10800000">
            <a:off x="4824000" y="219837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TextBox 258">
            <a:extLst>
              <a:ext uri="{FF2B5EF4-FFF2-40B4-BE49-F238E27FC236}">
                <a16:creationId xmlns:a16="http://schemas.microsoft.com/office/drawing/2014/main" id="{17178582-0F2F-0E48-9096-C57B00200624}"/>
              </a:ext>
            </a:extLst>
          </p:cNvPr>
          <p:cNvSpPr txBox="1"/>
          <p:nvPr/>
        </p:nvSpPr>
        <p:spPr>
          <a:xfrm>
            <a:off x="1816755" y="5897226"/>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60" name="Down Arrow 259">
            <a:extLst>
              <a:ext uri="{FF2B5EF4-FFF2-40B4-BE49-F238E27FC236}">
                <a16:creationId xmlns:a16="http://schemas.microsoft.com/office/drawing/2014/main" id="{14A5B91A-41ED-424E-AFFC-4DC1EF5555A7}"/>
              </a:ext>
            </a:extLst>
          </p:cNvPr>
          <p:cNvSpPr/>
          <p:nvPr/>
        </p:nvSpPr>
        <p:spPr>
          <a:xfrm rot="10800000">
            <a:off x="1296000" y="594720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5" name="Group 274">
            <a:extLst>
              <a:ext uri="{FF2B5EF4-FFF2-40B4-BE49-F238E27FC236}">
                <a16:creationId xmlns:a16="http://schemas.microsoft.com/office/drawing/2014/main" id="{0453C8DB-4862-DB4A-B585-8CA95BFC63F2}"/>
              </a:ext>
            </a:extLst>
          </p:cNvPr>
          <p:cNvGrpSpPr>
            <a:grpSpLocks noChangeAspect="1"/>
          </p:cNvGrpSpPr>
          <p:nvPr/>
        </p:nvGrpSpPr>
        <p:grpSpPr>
          <a:xfrm>
            <a:off x="2528691" y="1497833"/>
            <a:ext cx="309700" cy="223917"/>
            <a:chOff x="756599" y="3715226"/>
            <a:chExt cx="321512" cy="232457"/>
          </a:xfrm>
        </p:grpSpPr>
        <p:sp>
          <p:nvSpPr>
            <p:cNvPr id="276" name="Oval 275">
              <a:extLst>
                <a:ext uri="{FF2B5EF4-FFF2-40B4-BE49-F238E27FC236}">
                  <a16:creationId xmlns:a16="http://schemas.microsoft.com/office/drawing/2014/main" id="{774D601C-555F-6541-9D58-035F53E13D4B}"/>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77" name="Rectangle 276">
              <a:extLst>
                <a:ext uri="{FF2B5EF4-FFF2-40B4-BE49-F238E27FC236}">
                  <a16:creationId xmlns:a16="http://schemas.microsoft.com/office/drawing/2014/main" id="{BA257676-24B8-1342-B932-23DDEB005B47}"/>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13</a:t>
              </a:r>
            </a:p>
          </p:txBody>
        </p:sp>
      </p:grpSp>
      <p:grpSp>
        <p:nvGrpSpPr>
          <p:cNvPr id="278" name="Group 277">
            <a:extLst>
              <a:ext uri="{FF2B5EF4-FFF2-40B4-BE49-F238E27FC236}">
                <a16:creationId xmlns:a16="http://schemas.microsoft.com/office/drawing/2014/main" id="{775D2738-1A15-3D43-963E-83A150D3DD08}"/>
              </a:ext>
            </a:extLst>
          </p:cNvPr>
          <p:cNvGrpSpPr>
            <a:grpSpLocks noChangeAspect="1"/>
          </p:cNvGrpSpPr>
          <p:nvPr/>
        </p:nvGrpSpPr>
        <p:grpSpPr>
          <a:xfrm>
            <a:off x="2528691" y="1763611"/>
            <a:ext cx="309700" cy="223916"/>
            <a:chOff x="756599" y="3715227"/>
            <a:chExt cx="321512" cy="232456"/>
          </a:xfrm>
        </p:grpSpPr>
        <p:sp>
          <p:nvSpPr>
            <p:cNvPr id="279" name="Oval 278">
              <a:extLst>
                <a:ext uri="{FF2B5EF4-FFF2-40B4-BE49-F238E27FC236}">
                  <a16:creationId xmlns:a16="http://schemas.microsoft.com/office/drawing/2014/main" id="{E14654BD-BDE4-0748-912C-22432B5DD3D8}"/>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0" name="Rectangle 279">
              <a:extLst>
                <a:ext uri="{FF2B5EF4-FFF2-40B4-BE49-F238E27FC236}">
                  <a16:creationId xmlns:a16="http://schemas.microsoft.com/office/drawing/2014/main" id="{6A79CA8D-AC8C-2649-8D3F-6C8279757C83}"/>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281" name="Group 280">
            <a:extLst>
              <a:ext uri="{FF2B5EF4-FFF2-40B4-BE49-F238E27FC236}">
                <a16:creationId xmlns:a16="http://schemas.microsoft.com/office/drawing/2014/main" id="{038C4DBA-DFAC-4340-8960-9AF8BB8FC7AF}"/>
              </a:ext>
            </a:extLst>
          </p:cNvPr>
          <p:cNvGrpSpPr>
            <a:grpSpLocks noChangeAspect="1"/>
          </p:cNvGrpSpPr>
          <p:nvPr/>
        </p:nvGrpSpPr>
        <p:grpSpPr>
          <a:xfrm>
            <a:off x="2528691" y="2037441"/>
            <a:ext cx="309700" cy="223916"/>
            <a:chOff x="756599" y="3715227"/>
            <a:chExt cx="321512" cy="232456"/>
          </a:xfrm>
        </p:grpSpPr>
        <p:sp>
          <p:nvSpPr>
            <p:cNvPr id="282" name="Oval 281">
              <a:extLst>
                <a:ext uri="{FF2B5EF4-FFF2-40B4-BE49-F238E27FC236}">
                  <a16:creationId xmlns:a16="http://schemas.microsoft.com/office/drawing/2014/main" id="{D97D5EE0-8446-1244-A657-E9DBF68238D5}"/>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3" name="Rectangle 282">
              <a:extLst>
                <a:ext uri="{FF2B5EF4-FFF2-40B4-BE49-F238E27FC236}">
                  <a16:creationId xmlns:a16="http://schemas.microsoft.com/office/drawing/2014/main" id="{56AA7E7C-0592-B744-AFA9-D3A064F8B33C}"/>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9" name="Group 328">
            <a:extLst>
              <a:ext uri="{FF2B5EF4-FFF2-40B4-BE49-F238E27FC236}">
                <a16:creationId xmlns:a16="http://schemas.microsoft.com/office/drawing/2014/main" id="{E15F7DE2-F1EB-C94A-AE48-4487C8B506B6}"/>
              </a:ext>
            </a:extLst>
          </p:cNvPr>
          <p:cNvGrpSpPr/>
          <p:nvPr/>
        </p:nvGrpSpPr>
        <p:grpSpPr>
          <a:xfrm>
            <a:off x="4330045" y="3136880"/>
            <a:ext cx="309700" cy="224238"/>
            <a:chOff x="770743" y="3715228"/>
            <a:chExt cx="309700" cy="224238"/>
          </a:xfrm>
        </p:grpSpPr>
        <p:sp>
          <p:nvSpPr>
            <p:cNvPr id="330" name="Oval 329">
              <a:extLst>
                <a:ext uri="{FF2B5EF4-FFF2-40B4-BE49-F238E27FC236}">
                  <a16:creationId xmlns:a16="http://schemas.microsoft.com/office/drawing/2014/main" id="{920E5E24-BE4B-BC48-AFD2-943FE12CD729}"/>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2" name="Group 331">
            <a:extLst>
              <a:ext uri="{FF2B5EF4-FFF2-40B4-BE49-F238E27FC236}">
                <a16:creationId xmlns:a16="http://schemas.microsoft.com/office/drawing/2014/main" id="{7924029E-A5DC-CB49-8E0F-74B666CD5BDE}"/>
              </a:ext>
            </a:extLst>
          </p:cNvPr>
          <p:cNvGrpSpPr/>
          <p:nvPr/>
        </p:nvGrpSpPr>
        <p:grpSpPr>
          <a:xfrm>
            <a:off x="4377396" y="5681195"/>
            <a:ext cx="309700" cy="224238"/>
            <a:chOff x="770743" y="3715228"/>
            <a:chExt cx="309700" cy="224238"/>
          </a:xfrm>
        </p:grpSpPr>
        <p:sp>
          <p:nvSpPr>
            <p:cNvPr id="333" name="Oval 332">
              <a:extLst>
                <a:ext uri="{FF2B5EF4-FFF2-40B4-BE49-F238E27FC236}">
                  <a16:creationId xmlns:a16="http://schemas.microsoft.com/office/drawing/2014/main" id="{5234A744-315A-EC44-BDF0-AAAA223BA63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5" name="Group 334">
            <a:extLst>
              <a:ext uri="{FF2B5EF4-FFF2-40B4-BE49-F238E27FC236}">
                <a16:creationId xmlns:a16="http://schemas.microsoft.com/office/drawing/2014/main" id="{067E8254-2E00-4348-B74D-2F24011631C6}"/>
              </a:ext>
            </a:extLst>
          </p:cNvPr>
          <p:cNvGrpSpPr>
            <a:grpSpLocks noChangeAspect="1"/>
          </p:cNvGrpSpPr>
          <p:nvPr/>
        </p:nvGrpSpPr>
        <p:grpSpPr>
          <a:xfrm>
            <a:off x="4298376" y="2880000"/>
            <a:ext cx="368899" cy="223200"/>
            <a:chOff x="740286" y="3715228"/>
            <a:chExt cx="370615" cy="224238"/>
          </a:xfrm>
        </p:grpSpPr>
        <p:sp>
          <p:nvSpPr>
            <p:cNvPr id="336" name="Oval 335">
              <a:extLst>
                <a:ext uri="{FF2B5EF4-FFF2-40B4-BE49-F238E27FC236}">
                  <a16:creationId xmlns:a16="http://schemas.microsoft.com/office/drawing/2014/main" id="{C60F2B82-C705-134A-AEE1-E87F808B3E3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7" name="Rectangle 336">
              <a:extLst>
                <a:ext uri="{FF2B5EF4-FFF2-40B4-BE49-F238E27FC236}">
                  <a16:creationId xmlns:a16="http://schemas.microsoft.com/office/drawing/2014/main" id="{1C1DF2F7-5ABA-1546-94EF-20C60AF814A3}"/>
                </a:ext>
              </a:extLst>
            </p:cNvPr>
            <p:cNvSpPr/>
            <p:nvPr/>
          </p:nvSpPr>
          <p:spPr>
            <a:xfrm>
              <a:off x="740286" y="3724022"/>
              <a:ext cx="370615" cy="215444"/>
            </a:xfrm>
            <a:prstGeom prst="rect">
              <a:avLst/>
            </a:prstGeom>
          </p:spPr>
          <p:txBody>
            <a:bodyPr wrap="none">
              <a:spAutoFit/>
            </a:bodyPr>
            <a:lstStyle/>
            <a:p>
              <a:pPr algn="ctr"/>
              <a:r>
                <a:rPr lang="en-US" sz="800" b="1">
                  <a:solidFill>
                    <a:schemeClr val="tx1">
                      <a:lumMod val="50000"/>
                      <a:lumOff val="50000"/>
                    </a:schemeClr>
                  </a:solidFill>
                  <a:latin typeface="Avenir"/>
                </a:rPr>
                <a:t>12b</a:t>
              </a:r>
            </a:p>
          </p:txBody>
        </p:sp>
      </p:grpSp>
      <p:grpSp>
        <p:nvGrpSpPr>
          <p:cNvPr id="338" name="Group 337">
            <a:extLst>
              <a:ext uri="{FF2B5EF4-FFF2-40B4-BE49-F238E27FC236}">
                <a16:creationId xmlns:a16="http://schemas.microsoft.com/office/drawing/2014/main" id="{8B4FBB61-B1C8-2944-944E-209A07F65AB8}"/>
              </a:ext>
            </a:extLst>
          </p:cNvPr>
          <p:cNvGrpSpPr/>
          <p:nvPr/>
        </p:nvGrpSpPr>
        <p:grpSpPr>
          <a:xfrm>
            <a:off x="4345727" y="5432633"/>
            <a:ext cx="370614" cy="347348"/>
            <a:chOff x="740286" y="3715228"/>
            <a:chExt cx="370614" cy="347348"/>
          </a:xfrm>
        </p:grpSpPr>
        <p:sp>
          <p:nvSpPr>
            <p:cNvPr id="339" name="Oval 338">
              <a:extLst>
                <a:ext uri="{FF2B5EF4-FFF2-40B4-BE49-F238E27FC236}">
                  <a16:creationId xmlns:a16="http://schemas.microsoft.com/office/drawing/2014/main" id="{03770F02-78FE-664F-9B19-E8B021D1E4D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0" name="Rectangle 339">
              <a:extLst>
                <a:ext uri="{FF2B5EF4-FFF2-40B4-BE49-F238E27FC236}">
                  <a16:creationId xmlns:a16="http://schemas.microsoft.com/office/drawing/2014/main" id="{8B246DE0-B9D9-B54D-A064-CB89E165C09F}"/>
                </a:ext>
              </a:extLst>
            </p:cNvPr>
            <p:cNvSpPr/>
            <p:nvPr/>
          </p:nvSpPr>
          <p:spPr>
            <a:xfrm>
              <a:off x="740286" y="3724022"/>
              <a:ext cx="370614" cy="338554"/>
            </a:xfrm>
            <a:prstGeom prst="rect">
              <a:avLst/>
            </a:prstGeom>
          </p:spPr>
          <p:txBody>
            <a:bodyPr wrap="none">
              <a:spAutoFit/>
            </a:bodyPr>
            <a:lstStyle/>
            <a:p>
              <a:pPr algn="ctr"/>
              <a:r>
                <a:rPr lang="en-US" sz="800" b="1">
                  <a:solidFill>
                    <a:schemeClr val="tx1">
                      <a:lumMod val="50000"/>
                      <a:lumOff val="50000"/>
                    </a:schemeClr>
                  </a:solidFill>
                  <a:latin typeface="Avenir"/>
                </a:rPr>
                <a:t>12b</a:t>
              </a:r>
            </a:p>
            <a:p>
              <a:pPr algn="ctr"/>
              <a:endParaRPr lang="en-US" sz="800" b="1">
                <a:solidFill>
                  <a:schemeClr val="tx1">
                    <a:lumMod val="50000"/>
                    <a:lumOff val="50000"/>
                  </a:schemeClr>
                </a:solidFill>
                <a:latin typeface="Avenir"/>
              </a:endParaRP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4" name="Group 343">
            <a:extLst>
              <a:ext uri="{FF2B5EF4-FFF2-40B4-BE49-F238E27FC236}">
                <a16:creationId xmlns:a16="http://schemas.microsoft.com/office/drawing/2014/main" id="{F71B1C50-265E-F34D-AF22-A2B539B0A891}"/>
              </a:ext>
            </a:extLst>
          </p:cNvPr>
          <p:cNvGrpSpPr/>
          <p:nvPr/>
        </p:nvGrpSpPr>
        <p:grpSpPr>
          <a:xfrm>
            <a:off x="6448807" y="5416132"/>
            <a:ext cx="360996" cy="224238"/>
            <a:chOff x="736857" y="3715228"/>
            <a:chExt cx="360996" cy="224238"/>
          </a:xfrm>
        </p:grpSpPr>
        <p:sp>
          <p:nvSpPr>
            <p:cNvPr id="345" name="Oval 344">
              <a:extLst>
                <a:ext uri="{FF2B5EF4-FFF2-40B4-BE49-F238E27FC236}">
                  <a16:creationId xmlns:a16="http://schemas.microsoft.com/office/drawing/2014/main" id="{498E50BA-F1A1-524A-B905-153FA186C0C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6" name="Rectangle 345">
              <a:extLst>
                <a:ext uri="{FF2B5EF4-FFF2-40B4-BE49-F238E27FC236}">
                  <a16:creationId xmlns:a16="http://schemas.microsoft.com/office/drawing/2014/main" id="{55D9C7D2-EAAC-644E-997D-9755B758C142}"/>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350" name="Group 349">
            <a:extLst>
              <a:ext uri="{FF2B5EF4-FFF2-40B4-BE49-F238E27FC236}">
                <a16:creationId xmlns:a16="http://schemas.microsoft.com/office/drawing/2014/main" id="{9432C11D-E364-C746-985A-2AD5B5DB149E}"/>
              </a:ext>
            </a:extLst>
          </p:cNvPr>
          <p:cNvGrpSpPr/>
          <p:nvPr/>
        </p:nvGrpSpPr>
        <p:grpSpPr>
          <a:xfrm>
            <a:off x="2680630" y="4808856"/>
            <a:ext cx="245580" cy="224238"/>
            <a:chOff x="802803" y="3715228"/>
            <a:chExt cx="245580" cy="224238"/>
          </a:xfrm>
        </p:grpSpPr>
        <p:sp>
          <p:nvSpPr>
            <p:cNvPr id="351" name="Oval 350">
              <a:extLst>
                <a:ext uri="{FF2B5EF4-FFF2-40B4-BE49-F238E27FC236}">
                  <a16:creationId xmlns:a16="http://schemas.microsoft.com/office/drawing/2014/main" id="{7EF515DE-CFB5-C746-AC84-B4C313BD06E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2" name="Rectangle 351">
              <a:extLst>
                <a:ext uri="{FF2B5EF4-FFF2-40B4-BE49-F238E27FC236}">
                  <a16:creationId xmlns:a16="http://schemas.microsoft.com/office/drawing/2014/main" id="{3B567B98-0230-FB4D-8B5A-D57CF8B99F8A}"/>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3" name="Group 352">
            <a:extLst>
              <a:ext uri="{FF2B5EF4-FFF2-40B4-BE49-F238E27FC236}">
                <a16:creationId xmlns:a16="http://schemas.microsoft.com/office/drawing/2014/main" id="{F40449CF-4146-A640-B710-857F798A33D4}"/>
              </a:ext>
            </a:extLst>
          </p:cNvPr>
          <p:cNvGrpSpPr/>
          <p:nvPr/>
        </p:nvGrpSpPr>
        <p:grpSpPr>
          <a:xfrm>
            <a:off x="6550922" y="1481480"/>
            <a:ext cx="245580" cy="224238"/>
            <a:chOff x="802803" y="3715228"/>
            <a:chExt cx="245580" cy="224238"/>
          </a:xfrm>
        </p:grpSpPr>
        <p:sp>
          <p:nvSpPr>
            <p:cNvPr id="354" name="Oval 353">
              <a:extLst>
                <a:ext uri="{FF2B5EF4-FFF2-40B4-BE49-F238E27FC236}">
                  <a16:creationId xmlns:a16="http://schemas.microsoft.com/office/drawing/2014/main" id="{1F8A312F-C689-FF42-84E9-02ECA660225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5" name="Rectangle 354">
              <a:extLst>
                <a:ext uri="{FF2B5EF4-FFF2-40B4-BE49-F238E27FC236}">
                  <a16:creationId xmlns:a16="http://schemas.microsoft.com/office/drawing/2014/main" id="{50CBD88D-DC4A-3849-90CE-641B000548E3}"/>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6" name="Group 355">
            <a:extLst>
              <a:ext uri="{FF2B5EF4-FFF2-40B4-BE49-F238E27FC236}">
                <a16:creationId xmlns:a16="http://schemas.microsoft.com/office/drawing/2014/main" id="{3E2317E5-1DF6-F144-A88B-97C61AC21234}"/>
              </a:ext>
            </a:extLst>
          </p:cNvPr>
          <p:cNvGrpSpPr/>
          <p:nvPr/>
        </p:nvGrpSpPr>
        <p:grpSpPr>
          <a:xfrm>
            <a:off x="8311967" y="1742779"/>
            <a:ext cx="309700" cy="224238"/>
            <a:chOff x="770743" y="3715228"/>
            <a:chExt cx="309700" cy="224238"/>
          </a:xfrm>
        </p:grpSpPr>
        <p:sp>
          <p:nvSpPr>
            <p:cNvPr id="357" name="Oval 356">
              <a:extLst>
                <a:ext uri="{FF2B5EF4-FFF2-40B4-BE49-F238E27FC236}">
                  <a16:creationId xmlns:a16="http://schemas.microsoft.com/office/drawing/2014/main" id="{6A31460D-137B-A74E-B6FC-B55DFB2AE33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8" name="Rectangle 357">
              <a:extLst>
                <a:ext uri="{FF2B5EF4-FFF2-40B4-BE49-F238E27FC236}">
                  <a16:creationId xmlns:a16="http://schemas.microsoft.com/office/drawing/2014/main" id="{CFFD1864-8612-0941-9E7F-4F8D6CCCC5CA}"/>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62" name="Group 361">
            <a:extLst>
              <a:ext uri="{FF2B5EF4-FFF2-40B4-BE49-F238E27FC236}">
                <a16:creationId xmlns:a16="http://schemas.microsoft.com/office/drawing/2014/main" id="{E6482679-9AB0-5541-BF89-93062662AF98}"/>
              </a:ext>
            </a:extLst>
          </p:cNvPr>
          <p:cNvGrpSpPr/>
          <p:nvPr/>
        </p:nvGrpSpPr>
        <p:grpSpPr>
          <a:xfrm>
            <a:off x="4319927" y="983503"/>
            <a:ext cx="309700" cy="224238"/>
            <a:chOff x="770743" y="3715228"/>
            <a:chExt cx="309700" cy="224238"/>
          </a:xfrm>
        </p:grpSpPr>
        <p:sp>
          <p:nvSpPr>
            <p:cNvPr id="363" name="Oval 362">
              <a:extLst>
                <a:ext uri="{FF2B5EF4-FFF2-40B4-BE49-F238E27FC236}">
                  <a16:creationId xmlns:a16="http://schemas.microsoft.com/office/drawing/2014/main" id="{0C24FACA-1CFE-B346-89AB-EB0E90F543B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4" name="Rectangle 363">
              <a:extLst>
                <a:ext uri="{FF2B5EF4-FFF2-40B4-BE49-F238E27FC236}">
                  <a16:creationId xmlns:a16="http://schemas.microsoft.com/office/drawing/2014/main" id="{64C22221-FE7F-7946-B113-969909E0FA5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365" name="Group 364">
            <a:extLst>
              <a:ext uri="{FF2B5EF4-FFF2-40B4-BE49-F238E27FC236}">
                <a16:creationId xmlns:a16="http://schemas.microsoft.com/office/drawing/2014/main" id="{2C13EA5E-21CD-1946-88C4-D8A584B17387}"/>
              </a:ext>
            </a:extLst>
          </p:cNvPr>
          <p:cNvGrpSpPr/>
          <p:nvPr/>
        </p:nvGrpSpPr>
        <p:grpSpPr>
          <a:xfrm>
            <a:off x="8280687" y="1478795"/>
            <a:ext cx="360996" cy="224238"/>
            <a:chOff x="736857" y="3715228"/>
            <a:chExt cx="360996" cy="224238"/>
          </a:xfrm>
        </p:grpSpPr>
        <p:sp>
          <p:nvSpPr>
            <p:cNvPr id="366" name="Oval 365">
              <a:extLst>
                <a:ext uri="{FF2B5EF4-FFF2-40B4-BE49-F238E27FC236}">
                  <a16:creationId xmlns:a16="http://schemas.microsoft.com/office/drawing/2014/main" id="{65A20A3F-C204-4E4F-8867-1B299AF2D0C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7" name="Rectangle 366">
              <a:extLst>
                <a:ext uri="{FF2B5EF4-FFF2-40B4-BE49-F238E27FC236}">
                  <a16:creationId xmlns:a16="http://schemas.microsoft.com/office/drawing/2014/main" id="{23FEEFD6-358C-A543-9BF3-275D2038378C}"/>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grpSp>
        <p:nvGrpSpPr>
          <p:cNvPr id="368" name="Group 367">
            <a:extLst>
              <a:ext uri="{FF2B5EF4-FFF2-40B4-BE49-F238E27FC236}">
                <a16:creationId xmlns:a16="http://schemas.microsoft.com/office/drawing/2014/main" id="{0EA9870A-D7BD-7749-9180-333352A02EA4}"/>
              </a:ext>
            </a:extLst>
          </p:cNvPr>
          <p:cNvGrpSpPr/>
          <p:nvPr/>
        </p:nvGrpSpPr>
        <p:grpSpPr>
          <a:xfrm>
            <a:off x="4317141" y="2187210"/>
            <a:ext cx="309700" cy="224238"/>
            <a:chOff x="762505" y="3715228"/>
            <a:chExt cx="309700" cy="224238"/>
          </a:xfrm>
        </p:grpSpPr>
        <p:sp>
          <p:nvSpPr>
            <p:cNvPr id="369" name="Oval 368">
              <a:extLst>
                <a:ext uri="{FF2B5EF4-FFF2-40B4-BE49-F238E27FC236}">
                  <a16:creationId xmlns:a16="http://schemas.microsoft.com/office/drawing/2014/main" id="{EB5E2F46-B118-1045-AF33-FBEB9E67DC0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70" name="Rectangle 369">
              <a:extLst>
                <a:ext uri="{FF2B5EF4-FFF2-40B4-BE49-F238E27FC236}">
                  <a16:creationId xmlns:a16="http://schemas.microsoft.com/office/drawing/2014/main" id="{BEF5AC8E-3F33-C44D-B0DD-469F2AFB0FFB}"/>
                </a:ext>
              </a:extLst>
            </p:cNvPr>
            <p:cNvSpPr/>
            <p:nvPr/>
          </p:nvSpPr>
          <p:spPr>
            <a:xfrm>
              <a:off x="762505"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13</a:t>
              </a:r>
            </a:p>
          </p:txBody>
        </p:sp>
      </p:grpSp>
      <p:grpSp>
        <p:nvGrpSpPr>
          <p:cNvPr id="374" name="Group 373">
            <a:extLst>
              <a:ext uri="{FF2B5EF4-FFF2-40B4-BE49-F238E27FC236}">
                <a16:creationId xmlns:a16="http://schemas.microsoft.com/office/drawing/2014/main" id="{151B6A92-2701-2048-A0DE-3EA783245FB9}"/>
              </a:ext>
            </a:extLst>
          </p:cNvPr>
          <p:cNvGrpSpPr/>
          <p:nvPr/>
        </p:nvGrpSpPr>
        <p:grpSpPr>
          <a:xfrm>
            <a:off x="852407" y="5920266"/>
            <a:ext cx="309700" cy="224238"/>
            <a:chOff x="770743" y="3715228"/>
            <a:chExt cx="309700" cy="224238"/>
          </a:xfrm>
        </p:grpSpPr>
        <p:sp>
          <p:nvSpPr>
            <p:cNvPr id="375" name="Oval 374">
              <a:extLst>
                <a:ext uri="{FF2B5EF4-FFF2-40B4-BE49-F238E27FC236}">
                  <a16:creationId xmlns:a16="http://schemas.microsoft.com/office/drawing/2014/main" id="{2E2E7022-3AC3-4141-A9D3-0559902526EA}"/>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76" name="Rectangle 375">
              <a:extLst>
                <a:ext uri="{FF2B5EF4-FFF2-40B4-BE49-F238E27FC236}">
                  <a16:creationId xmlns:a16="http://schemas.microsoft.com/office/drawing/2014/main" id="{8ED0D82D-C4ED-BB4B-9F5D-50AC2840E0FF}"/>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14</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59591"/>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272" name="Group 271">
            <a:extLst>
              <a:ext uri="{FF2B5EF4-FFF2-40B4-BE49-F238E27FC236}">
                <a16:creationId xmlns:a16="http://schemas.microsoft.com/office/drawing/2014/main" id="{B10B35FA-FFD5-244C-8FBB-DB3A536F6315}"/>
              </a:ext>
            </a:extLst>
          </p:cNvPr>
          <p:cNvGrpSpPr/>
          <p:nvPr/>
        </p:nvGrpSpPr>
        <p:grpSpPr>
          <a:xfrm>
            <a:off x="674882" y="2236958"/>
            <a:ext cx="1620000" cy="613673"/>
            <a:chOff x="3810000" y="2381250"/>
            <a:chExt cx="1390650" cy="1230631"/>
          </a:xfrm>
          <a:solidFill>
            <a:schemeClr val="accent6">
              <a:lumMod val="75000"/>
            </a:schemeClr>
          </a:solidFill>
        </p:grpSpPr>
        <p:sp>
          <p:nvSpPr>
            <p:cNvPr id="273" name="L-Shape 272">
              <a:extLst>
                <a:ext uri="{FF2B5EF4-FFF2-40B4-BE49-F238E27FC236}">
                  <a16:creationId xmlns:a16="http://schemas.microsoft.com/office/drawing/2014/main" id="{DF7D733A-4FFE-744F-B214-78B04041F690}"/>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274" name="L-Shape 273">
              <a:extLst>
                <a:ext uri="{FF2B5EF4-FFF2-40B4-BE49-F238E27FC236}">
                  <a16:creationId xmlns:a16="http://schemas.microsoft.com/office/drawing/2014/main" id="{15DAAC84-AD00-F244-9996-0E67F278AF0C}"/>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90" name="TextBox 389">
            <a:extLst>
              <a:ext uri="{FF2B5EF4-FFF2-40B4-BE49-F238E27FC236}">
                <a16:creationId xmlns:a16="http://schemas.microsoft.com/office/drawing/2014/main" id="{9DA43E6F-DA2D-6D47-9527-3D4C06A2AADE}"/>
              </a:ext>
            </a:extLst>
          </p:cNvPr>
          <p:cNvSpPr txBox="1"/>
          <p:nvPr/>
        </p:nvSpPr>
        <p:spPr>
          <a:xfrm>
            <a:off x="667920" y="2817445"/>
            <a:ext cx="1647322" cy="584775"/>
          </a:xfrm>
          <a:prstGeom prst="rect">
            <a:avLst/>
          </a:prstGeom>
          <a:noFill/>
        </p:spPr>
        <p:txBody>
          <a:bodyPr wrap="square" rtlCol="0">
            <a:spAutoFit/>
          </a:bodyPr>
          <a:lstStyle/>
          <a:p>
            <a:pPr algn="ctr"/>
            <a:r>
              <a:rPr lang="en-US" sz="1600">
                <a:latin typeface="Avenir"/>
              </a:rPr>
              <a:t>Accumulated depreciation</a:t>
            </a:r>
          </a:p>
        </p:txBody>
      </p:sp>
      <p:sp>
        <p:nvSpPr>
          <p:cNvPr id="393" name="TextBox 392">
            <a:extLst>
              <a:ext uri="{FF2B5EF4-FFF2-40B4-BE49-F238E27FC236}">
                <a16:creationId xmlns:a16="http://schemas.microsoft.com/office/drawing/2014/main" id="{390520E5-A3C2-894D-85E5-0E4333EB6E08}"/>
              </a:ext>
            </a:extLst>
          </p:cNvPr>
          <p:cNvSpPr txBox="1"/>
          <p:nvPr/>
        </p:nvSpPr>
        <p:spPr>
          <a:xfrm>
            <a:off x="1679276" y="2502766"/>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394" name="Down Arrow 393">
            <a:extLst>
              <a:ext uri="{FF2B5EF4-FFF2-40B4-BE49-F238E27FC236}">
                <a16:creationId xmlns:a16="http://schemas.microsoft.com/office/drawing/2014/main" id="{B0F8BD20-9927-4341-B34D-0F3411EA8E55}"/>
              </a:ext>
            </a:extLst>
          </p:cNvPr>
          <p:cNvSpPr/>
          <p:nvPr/>
        </p:nvSpPr>
        <p:spPr>
          <a:xfrm>
            <a:off x="1256101" y="255077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2" name="Group 401">
            <a:extLst>
              <a:ext uri="{FF2B5EF4-FFF2-40B4-BE49-F238E27FC236}">
                <a16:creationId xmlns:a16="http://schemas.microsoft.com/office/drawing/2014/main" id="{C8506339-CA6B-4143-ADBA-38D4D796E42A}"/>
              </a:ext>
            </a:extLst>
          </p:cNvPr>
          <p:cNvGrpSpPr/>
          <p:nvPr/>
        </p:nvGrpSpPr>
        <p:grpSpPr>
          <a:xfrm>
            <a:off x="752976" y="2511750"/>
            <a:ext cx="309700" cy="224238"/>
            <a:chOff x="770743" y="3715228"/>
            <a:chExt cx="309700" cy="224238"/>
          </a:xfrm>
        </p:grpSpPr>
        <p:sp>
          <p:nvSpPr>
            <p:cNvPr id="403" name="Oval 402">
              <a:extLst>
                <a:ext uri="{FF2B5EF4-FFF2-40B4-BE49-F238E27FC236}">
                  <a16:creationId xmlns:a16="http://schemas.microsoft.com/office/drawing/2014/main" id="{FE70CBEC-117D-0044-B4ED-7B3D135EE713}"/>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404" name="Rectangle 403">
              <a:extLst>
                <a:ext uri="{FF2B5EF4-FFF2-40B4-BE49-F238E27FC236}">
                  <a16:creationId xmlns:a16="http://schemas.microsoft.com/office/drawing/2014/main" id="{A4CE54F9-C870-974D-B405-FB6285BA0682}"/>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14</a:t>
              </a:r>
            </a:p>
          </p:txBody>
        </p:sp>
      </p:gr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08" name="Group 407">
            <a:extLst>
              <a:ext uri="{FF2B5EF4-FFF2-40B4-BE49-F238E27FC236}">
                <a16:creationId xmlns:a16="http://schemas.microsoft.com/office/drawing/2014/main" id="{D5BF0B9C-2E0D-C242-8CFF-FA38A5AF35FC}"/>
              </a:ext>
            </a:extLst>
          </p:cNvPr>
          <p:cNvGrpSpPr/>
          <p:nvPr/>
        </p:nvGrpSpPr>
        <p:grpSpPr>
          <a:xfrm>
            <a:off x="4247500" y="1892397"/>
            <a:ext cx="1620000" cy="613673"/>
            <a:chOff x="3810000" y="2381250"/>
            <a:chExt cx="1390650" cy="1230631"/>
          </a:xfrm>
          <a:solidFill>
            <a:schemeClr val="accent6">
              <a:lumMod val="75000"/>
            </a:schemeClr>
          </a:solidFill>
        </p:grpSpPr>
        <p:sp>
          <p:nvSpPr>
            <p:cNvPr id="409" name="L-Shape 408">
              <a:extLst>
                <a:ext uri="{FF2B5EF4-FFF2-40B4-BE49-F238E27FC236}">
                  <a16:creationId xmlns:a16="http://schemas.microsoft.com/office/drawing/2014/main" id="{949DD22A-6C28-4A42-838D-57C0B3AFBA2E}"/>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0" name="L-Shape 409">
              <a:extLst>
                <a:ext uri="{FF2B5EF4-FFF2-40B4-BE49-F238E27FC236}">
                  <a16:creationId xmlns:a16="http://schemas.microsoft.com/office/drawing/2014/main" id="{33CD775B-2A0C-DE47-A9A3-022685FE94F6}"/>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63169"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7" name="Group 416">
            <a:extLst>
              <a:ext uri="{FF2B5EF4-FFF2-40B4-BE49-F238E27FC236}">
                <a16:creationId xmlns:a16="http://schemas.microsoft.com/office/drawing/2014/main" id="{FA5A2220-0725-2E4C-8EE1-0CFDAAB53629}"/>
              </a:ext>
            </a:extLst>
          </p:cNvPr>
          <p:cNvGrpSpPr/>
          <p:nvPr/>
        </p:nvGrpSpPr>
        <p:grpSpPr>
          <a:xfrm>
            <a:off x="788356" y="5618680"/>
            <a:ext cx="1620000" cy="613673"/>
            <a:chOff x="3810000" y="2381250"/>
            <a:chExt cx="1390650" cy="1230631"/>
          </a:xfrm>
          <a:solidFill>
            <a:schemeClr val="accent6">
              <a:lumMod val="75000"/>
            </a:schemeClr>
          </a:solidFill>
        </p:grpSpPr>
        <p:sp>
          <p:nvSpPr>
            <p:cNvPr id="418" name="L-Shape 417">
              <a:extLst>
                <a:ext uri="{FF2B5EF4-FFF2-40B4-BE49-F238E27FC236}">
                  <a16:creationId xmlns:a16="http://schemas.microsoft.com/office/drawing/2014/main" id="{CFC81F53-CA91-174B-9872-9729D066141F}"/>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9" name="L-Shape 418">
              <a:extLst>
                <a:ext uri="{FF2B5EF4-FFF2-40B4-BE49-F238E27FC236}">
                  <a16:creationId xmlns:a16="http://schemas.microsoft.com/office/drawing/2014/main" id="{E8759028-EA69-3049-85B6-E41AA8BA6521}"/>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2" name="Group 431">
            <a:extLst>
              <a:ext uri="{FF2B5EF4-FFF2-40B4-BE49-F238E27FC236}">
                <a16:creationId xmlns:a16="http://schemas.microsoft.com/office/drawing/2014/main" id="{4848BB5E-72D6-154B-A4A4-863172845016}"/>
              </a:ext>
            </a:extLst>
          </p:cNvPr>
          <p:cNvGrpSpPr/>
          <p:nvPr/>
        </p:nvGrpSpPr>
        <p:grpSpPr>
          <a:xfrm>
            <a:off x="8214558" y="1260018"/>
            <a:ext cx="1620000" cy="796276"/>
            <a:chOff x="3810000" y="2015069"/>
            <a:chExt cx="1390650" cy="1596814"/>
          </a:xfrm>
          <a:solidFill>
            <a:schemeClr val="accent2"/>
          </a:solidFill>
        </p:grpSpPr>
        <p:sp>
          <p:nvSpPr>
            <p:cNvPr id="433" name="L-Shape 432">
              <a:extLst>
                <a:ext uri="{FF2B5EF4-FFF2-40B4-BE49-F238E27FC236}">
                  <a16:creationId xmlns:a16="http://schemas.microsoft.com/office/drawing/2014/main" id="{ABB06B6F-0697-9948-91DD-97E59BB658B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4" name="L-Shape 433">
              <a:extLst>
                <a:ext uri="{FF2B5EF4-FFF2-40B4-BE49-F238E27FC236}">
                  <a16:creationId xmlns:a16="http://schemas.microsoft.com/office/drawing/2014/main" id="{6F827A64-8AAF-EF46-AB91-B3C3D179257E}"/>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1" name="Rectangle 370">
            <a:extLst>
              <a:ext uri="{FF2B5EF4-FFF2-40B4-BE49-F238E27FC236}">
                <a16:creationId xmlns:a16="http://schemas.microsoft.com/office/drawing/2014/main" id="{2A6CC128-2BB1-814E-AF95-807893CEB4D5}"/>
              </a:ext>
            </a:extLst>
          </p:cNvPr>
          <p:cNvSpPr/>
          <p:nvPr/>
        </p:nvSpPr>
        <p:spPr>
          <a:xfrm>
            <a:off x="1541040" y="4152714"/>
            <a:ext cx="10452799"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2" name="Group 371">
            <a:extLst>
              <a:ext uri="{FF2B5EF4-FFF2-40B4-BE49-F238E27FC236}">
                <a16:creationId xmlns:a16="http://schemas.microsoft.com/office/drawing/2014/main" id="{12A284CE-F201-FC4F-843D-D07C52C430FE}"/>
              </a:ext>
            </a:extLst>
          </p:cNvPr>
          <p:cNvGrpSpPr/>
          <p:nvPr/>
        </p:nvGrpSpPr>
        <p:grpSpPr>
          <a:xfrm>
            <a:off x="1672955" y="4447820"/>
            <a:ext cx="10188967" cy="756004"/>
            <a:chOff x="926134" y="1719856"/>
            <a:chExt cx="9204181" cy="750147"/>
          </a:xfrm>
        </p:grpSpPr>
        <p:sp>
          <p:nvSpPr>
            <p:cNvPr id="373" name="TextBox 372">
              <a:extLst>
                <a:ext uri="{FF2B5EF4-FFF2-40B4-BE49-F238E27FC236}">
                  <a16:creationId xmlns:a16="http://schemas.microsoft.com/office/drawing/2014/main" id="{09899927-0A08-8F43-BCDA-944874913751}"/>
                </a:ext>
              </a:extLst>
            </p:cNvPr>
            <p:cNvSpPr txBox="1"/>
            <p:nvPr/>
          </p:nvSpPr>
          <p:spPr>
            <a:xfrm>
              <a:off x="1641585" y="1719860"/>
              <a:ext cx="5447935" cy="750143"/>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ko-KR" altLang="en-US" sz="2000" dirty="0">
                  <a:solidFill>
                    <a:schemeClr val="dk1"/>
                  </a:solidFill>
                  <a:latin typeface="Calibri"/>
                  <a:ea typeface="Calibri"/>
                  <a:cs typeface="Calibri"/>
                  <a:sym typeface="Calibri"/>
                </a:rPr>
                <a:t>해당 장비는 잔존가치 없이 </a:t>
              </a:r>
              <a:r>
                <a:rPr lang="en-US" altLang="ko-KR" sz="2000" dirty="0">
                  <a:solidFill>
                    <a:schemeClr val="dk1"/>
                  </a:solidFill>
                  <a:latin typeface="Calibri"/>
                  <a:ea typeface="Calibri"/>
                  <a:cs typeface="Calibri"/>
                  <a:sym typeface="Calibri"/>
                </a:rPr>
                <a:t>5</a:t>
              </a:r>
              <a:r>
                <a:rPr lang="ko-KR" altLang="en-US" sz="2000" dirty="0">
                  <a:solidFill>
                    <a:schemeClr val="dk1"/>
                  </a:solidFill>
                  <a:latin typeface="Calibri"/>
                  <a:ea typeface="Calibri"/>
                  <a:cs typeface="Calibri"/>
                  <a:sym typeface="Calibri"/>
                </a:rPr>
                <a:t>년간 사용할 예정이며</a:t>
              </a:r>
              <a:r>
                <a:rPr lang="en-US" altLang="ko-KR" sz="2000" dirty="0">
                  <a:solidFill>
                    <a:schemeClr val="dk1"/>
                  </a:solidFill>
                  <a:latin typeface="Calibri"/>
                  <a:ea typeface="Calibri"/>
                  <a:cs typeface="Calibri"/>
                  <a:sym typeface="Calibri"/>
                </a:rPr>
                <a:t>, </a:t>
              </a:r>
              <a:r>
                <a:rPr lang="ko-KR" altLang="en-US" sz="2000" dirty="0">
                  <a:solidFill>
                    <a:schemeClr val="dk1"/>
                  </a:solidFill>
                  <a:latin typeface="Calibri"/>
                  <a:ea typeface="Calibri"/>
                  <a:cs typeface="Calibri"/>
                  <a:sym typeface="Calibri"/>
                </a:rPr>
                <a:t>이번 달 사용분에 대해 회계 처리함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386" name="TextBox 385">
              <a:extLst>
                <a:ext uri="{FF2B5EF4-FFF2-40B4-BE49-F238E27FC236}">
                  <a16:creationId xmlns:a16="http://schemas.microsoft.com/office/drawing/2014/main" id="{A23123D8-819B-5641-A123-CB4460028A7E}"/>
                </a:ext>
              </a:extLst>
            </p:cNvPr>
            <p:cNvSpPr txBox="1"/>
            <p:nvPr/>
          </p:nvSpPr>
          <p:spPr>
            <a:xfrm>
              <a:off x="7089520" y="1719858"/>
              <a:ext cx="1520398" cy="74531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Depreciation</a:t>
              </a:r>
            </a:p>
            <a:p>
              <a:pPr algn="ctr"/>
              <a:r>
                <a:rPr lang="en-GB" b="1">
                  <a:solidFill>
                    <a:schemeClr val="bg1">
                      <a:lumMod val="75000"/>
                    </a:schemeClr>
                  </a:solidFill>
                  <a:latin typeface="Avenir"/>
                  <a:ea typeface="Helvetica" charset="0"/>
                  <a:cs typeface="Helvetica" charset="0"/>
                </a:rPr>
                <a:t>100</a:t>
              </a:r>
            </a:p>
          </p:txBody>
        </p:sp>
        <p:sp>
          <p:nvSpPr>
            <p:cNvPr id="387" name="TextBox 386">
              <a:extLst>
                <a:ext uri="{FF2B5EF4-FFF2-40B4-BE49-F238E27FC236}">
                  <a16:creationId xmlns:a16="http://schemas.microsoft.com/office/drawing/2014/main" id="{189F1C80-6910-CB4F-B289-CC2BA4B3F387}"/>
                </a:ext>
              </a:extLst>
            </p:cNvPr>
            <p:cNvSpPr txBox="1"/>
            <p:nvPr/>
          </p:nvSpPr>
          <p:spPr>
            <a:xfrm>
              <a:off x="8609917" y="1719858"/>
              <a:ext cx="1520398" cy="74531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lnSpc>
                  <a:spcPct val="90000"/>
                </a:lnSpc>
              </a:pPr>
              <a:r>
                <a:rPr lang="en-GB" sz="1400" b="1">
                  <a:solidFill>
                    <a:schemeClr val="bg1">
                      <a:lumMod val="75000"/>
                    </a:schemeClr>
                  </a:solidFill>
                  <a:latin typeface="Avenir"/>
                  <a:ea typeface="Helvetica" charset="0"/>
                  <a:cs typeface="Helvetica" charset="0"/>
                </a:rPr>
                <a:t>Accumulated depreciation</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100</a:t>
              </a:r>
            </a:p>
          </p:txBody>
        </p:sp>
        <p:sp>
          <p:nvSpPr>
            <p:cNvPr id="388" name="TextBox 387">
              <a:extLst>
                <a:ext uri="{FF2B5EF4-FFF2-40B4-BE49-F238E27FC236}">
                  <a16:creationId xmlns:a16="http://schemas.microsoft.com/office/drawing/2014/main" id="{326429F8-3C03-D744-85CF-0B72BE930EAF}"/>
                </a:ext>
              </a:extLst>
            </p:cNvPr>
            <p:cNvSpPr txBox="1"/>
            <p:nvPr/>
          </p:nvSpPr>
          <p:spPr>
            <a:xfrm>
              <a:off x="926134" y="1719856"/>
              <a:ext cx="715451" cy="750143"/>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14</a:t>
              </a:r>
            </a:p>
          </p:txBody>
        </p:sp>
      </p:grpSp>
      <p:sp>
        <p:nvSpPr>
          <p:cNvPr id="391" name="TextBox 390">
            <a:extLst>
              <a:ext uri="{FF2B5EF4-FFF2-40B4-BE49-F238E27FC236}">
                <a16:creationId xmlns:a16="http://schemas.microsoft.com/office/drawing/2014/main" id="{FCA03A99-B2BC-F041-993A-A7237C69C7B9}"/>
              </a:ext>
            </a:extLst>
          </p:cNvPr>
          <p:cNvSpPr txBox="1"/>
          <p:nvPr/>
        </p:nvSpPr>
        <p:spPr>
          <a:xfrm>
            <a:off x="8498460" y="4443450"/>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100</a:t>
            </a:r>
          </a:p>
        </p:txBody>
      </p:sp>
      <p:sp>
        <p:nvSpPr>
          <p:cNvPr id="392" name="TextBox 391">
            <a:extLst>
              <a:ext uri="{FF2B5EF4-FFF2-40B4-BE49-F238E27FC236}">
                <a16:creationId xmlns:a16="http://schemas.microsoft.com/office/drawing/2014/main" id="{8CF2E893-19EA-1847-9C73-0A7A024644C6}"/>
              </a:ext>
            </a:extLst>
          </p:cNvPr>
          <p:cNvSpPr txBox="1"/>
          <p:nvPr/>
        </p:nvSpPr>
        <p:spPr>
          <a:xfrm>
            <a:off x="10181530" y="4447939"/>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100</a:t>
            </a:r>
          </a:p>
        </p:txBody>
      </p:sp>
      <p:sp>
        <p:nvSpPr>
          <p:cNvPr id="399" name="Down Arrow 398">
            <a:extLst>
              <a:ext uri="{FF2B5EF4-FFF2-40B4-BE49-F238E27FC236}">
                <a16:creationId xmlns:a16="http://schemas.microsoft.com/office/drawing/2014/main" id="{2FAF7EA8-234B-044C-ADFC-14EFF7ECB645}"/>
              </a:ext>
            </a:extLst>
          </p:cNvPr>
          <p:cNvSpPr/>
          <p:nvPr/>
        </p:nvSpPr>
        <p:spPr>
          <a:xfrm rot="10800000">
            <a:off x="153289" y="4549188"/>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0" name="Down Arrow 399">
            <a:extLst>
              <a:ext uri="{FF2B5EF4-FFF2-40B4-BE49-F238E27FC236}">
                <a16:creationId xmlns:a16="http://schemas.microsoft.com/office/drawing/2014/main" id="{B9B600D3-AC53-0047-9D5D-24E2CA9BCD10}"/>
              </a:ext>
            </a:extLst>
          </p:cNvPr>
          <p:cNvSpPr/>
          <p:nvPr/>
        </p:nvSpPr>
        <p:spPr>
          <a:xfrm>
            <a:off x="152838" y="842384"/>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1" name="Down Arrow 440">
            <a:extLst>
              <a:ext uri="{FF2B5EF4-FFF2-40B4-BE49-F238E27FC236}">
                <a16:creationId xmlns:a16="http://schemas.microsoft.com/office/drawing/2014/main" id="{5BE953CC-9831-074E-8F67-D49317B4B757}"/>
              </a:ext>
            </a:extLst>
          </p:cNvPr>
          <p:cNvSpPr/>
          <p:nvPr/>
        </p:nvSpPr>
        <p:spPr>
          <a:xfrm rot="10800000">
            <a:off x="8784000" y="1751173"/>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442" name="Down Arrow 441">
            <a:extLst>
              <a:ext uri="{FF2B5EF4-FFF2-40B4-BE49-F238E27FC236}">
                <a16:creationId xmlns:a16="http://schemas.microsoft.com/office/drawing/2014/main" id="{AE626D12-7309-7044-ACC8-F20D085A232C}"/>
              </a:ext>
            </a:extLst>
          </p:cNvPr>
          <p:cNvSpPr/>
          <p:nvPr/>
        </p:nvSpPr>
        <p:spPr>
          <a:xfrm>
            <a:off x="8784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443" name="Down Arrow 442">
            <a:extLst>
              <a:ext uri="{FF2B5EF4-FFF2-40B4-BE49-F238E27FC236}">
                <a16:creationId xmlns:a16="http://schemas.microsoft.com/office/drawing/2014/main" id="{DD6E49EC-DCF2-B64E-9173-2B79E71EE2E9}"/>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444" name="Down Arrow 443">
            <a:extLst>
              <a:ext uri="{FF2B5EF4-FFF2-40B4-BE49-F238E27FC236}">
                <a16:creationId xmlns:a16="http://schemas.microsoft.com/office/drawing/2014/main" id="{01EFDFED-39ED-0B4F-86DC-381A750E4CA6}"/>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57" name="TextBox 256">
            <a:extLst>
              <a:ext uri="{FF2B5EF4-FFF2-40B4-BE49-F238E27FC236}">
                <a16:creationId xmlns:a16="http://schemas.microsoft.com/office/drawing/2014/main" id="{D3D6FC1B-701E-E740-8D09-0B1D40343CFC}"/>
              </a:ext>
            </a:extLst>
          </p:cNvPr>
          <p:cNvSpPr txBox="1"/>
          <p:nvPr/>
        </p:nvSpPr>
        <p:spPr>
          <a:xfrm>
            <a:off x="6403128" y="3419412"/>
            <a:ext cx="1548343" cy="566133"/>
          </a:xfrm>
          <a:prstGeom prst="rect">
            <a:avLst/>
          </a:prstGeom>
          <a:noFill/>
        </p:spPr>
        <p:txBody>
          <a:bodyPr wrap="square" rtlCol="0" anchor="ctr">
            <a:noAutofit/>
          </a:bodyPr>
          <a:lstStyle/>
          <a:p>
            <a:pPr algn="ctr"/>
            <a:r>
              <a:rPr lang="en-US" sz="2400" b="1">
                <a:latin typeface="Avenir"/>
              </a:rPr>
              <a:t>360</a:t>
            </a:r>
            <a:endParaRPr lang="en-GB" sz="2400"/>
          </a:p>
        </p:txBody>
      </p:sp>
      <p:sp>
        <p:nvSpPr>
          <p:cNvPr id="258" name="TextBox 257">
            <a:extLst>
              <a:ext uri="{FF2B5EF4-FFF2-40B4-BE49-F238E27FC236}">
                <a16:creationId xmlns:a16="http://schemas.microsoft.com/office/drawing/2014/main" id="{943A8E61-67AF-424D-8006-C08EED28ECBF}"/>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460</a:t>
            </a:r>
            <a:endParaRPr lang="en-GB" sz="2400"/>
          </a:p>
        </p:txBody>
      </p:sp>
    </p:spTree>
    <p:extLst>
      <p:ext uri="{BB962C8B-B14F-4D97-AF65-F5344CB8AC3E}">
        <p14:creationId xmlns:p14="http://schemas.microsoft.com/office/powerpoint/2010/main" val="2242202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500"/>
                                        <p:tgtEl>
                                          <p:spTgt spid="114"/>
                                        </p:tgtEl>
                                      </p:cBhvr>
                                    </p:animEffect>
                                  </p:childTnLst>
                                </p:cTn>
                              </p:par>
                              <p:par>
                                <p:cTn id="8" presetID="10" presetClass="entr" presetSubtype="0" fill="hold" nodeType="withEffect">
                                  <p:stCondLst>
                                    <p:cond delay="0"/>
                                  </p:stCondLst>
                                  <p:childTnLst>
                                    <p:set>
                                      <p:cBhvr>
                                        <p:cTn id="9" dur="1" fill="hold">
                                          <p:stCondLst>
                                            <p:cond delay="0"/>
                                          </p:stCondLst>
                                        </p:cTn>
                                        <p:tgtEl>
                                          <p:spTgt spid="417"/>
                                        </p:tgtEl>
                                        <p:attrNameLst>
                                          <p:attrName>style.visibility</p:attrName>
                                        </p:attrNameLst>
                                      </p:cBhvr>
                                      <p:to>
                                        <p:strVal val="visible"/>
                                      </p:to>
                                    </p:set>
                                    <p:animEffect transition="in" filter="fade">
                                      <p:cBhvr>
                                        <p:cTn id="10" dur="500"/>
                                        <p:tgtEl>
                                          <p:spTgt spid="41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4.375E-6 7.40741E-7 L -0.66355 0.10718 " pathEditMode="relative" rAng="0" ptsTypes="AA">
                                      <p:cBhvr>
                                        <p:cTn id="14" dur="3000" fill="hold"/>
                                        <p:tgtEl>
                                          <p:spTgt spid="391"/>
                                        </p:tgtEl>
                                        <p:attrNameLst>
                                          <p:attrName>ppt_x</p:attrName>
                                          <p:attrName>ppt_y</p:attrName>
                                        </p:attrNameLst>
                                      </p:cBhvr>
                                      <p:rCtr x="-33177" y="5347"/>
                                    </p:animMotion>
                                  </p:childTnLst>
                                </p:cTn>
                              </p:par>
                            </p:childTnLst>
                          </p:cTn>
                        </p:par>
                        <p:par>
                          <p:cTn id="15" fill="hold">
                            <p:stCondLst>
                              <p:cond delay="3000"/>
                            </p:stCondLst>
                            <p:childTnLst>
                              <p:par>
                                <p:cTn id="16" presetID="31" presetClass="exit" presetSubtype="0" fill="hold" grpId="1" nodeType="afterEffect">
                                  <p:stCondLst>
                                    <p:cond delay="0"/>
                                  </p:stCondLst>
                                  <p:childTnLst>
                                    <p:anim calcmode="lin" valueType="num">
                                      <p:cBhvr>
                                        <p:cTn id="17" dur="1000"/>
                                        <p:tgtEl>
                                          <p:spTgt spid="391"/>
                                        </p:tgtEl>
                                        <p:attrNameLst>
                                          <p:attrName>ppt_w</p:attrName>
                                        </p:attrNameLst>
                                      </p:cBhvr>
                                      <p:tavLst>
                                        <p:tav tm="0">
                                          <p:val>
                                            <p:strVal val="ppt_w"/>
                                          </p:val>
                                        </p:tav>
                                        <p:tav tm="100000">
                                          <p:val>
                                            <p:fltVal val="0"/>
                                          </p:val>
                                        </p:tav>
                                      </p:tavLst>
                                    </p:anim>
                                    <p:anim calcmode="lin" valueType="num">
                                      <p:cBhvr>
                                        <p:cTn id="18" dur="1000"/>
                                        <p:tgtEl>
                                          <p:spTgt spid="391"/>
                                        </p:tgtEl>
                                        <p:attrNameLst>
                                          <p:attrName>ppt_h</p:attrName>
                                        </p:attrNameLst>
                                      </p:cBhvr>
                                      <p:tavLst>
                                        <p:tav tm="0">
                                          <p:val>
                                            <p:strVal val="ppt_h"/>
                                          </p:val>
                                        </p:tav>
                                        <p:tav tm="100000">
                                          <p:val>
                                            <p:fltVal val="0"/>
                                          </p:val>
                                        </p:tav>
                                      </p:tavLst>
                                    </p:anim>
                                    <p:anim calcmode="lin" valueType="num">
                                      <p:cBhvr>
                                        <p:cTn id="19" dur="1000"/>
                                        <p:tgtEl>
                                          <p:spTgt spid="391"/>
                                        </p:tgtEl>
                                        <p:attrNameLst>
                                          <p:attrName>style.rotation</p:attrName>
                                        </p:attrNameLst>
                                      </p:cBhvr>
                                      <p:tavLst>
                                        <p:tav tm="0">
                                          <p:val>
                                            <p:fltVal val="0"/>
                                          </p:val>
                                        </p:tav>
                                        <p:tav tm="100000">
                                          <p:val>
                                            <p:fltVal val="90"/>
                                          </p:val>
                                        </p:tav>
                                      </p:tavLst>
                                    </p:anim>
                                    <p:animEffect transition="out" filter="fade">
                                      <p:cBhvr>
                                        <p:cTn id="20" dur="1000"/>
                                        <p:tgtEl>
                                          <p:spTgt spid="391"/>
                                        </p:tgtEl>
                                      </p:cBhvr>
                                    </p:animEffect>
                                    <p:set>
                                      <p:cBhvr>
                                        <p:cTn id="21" dur="1" fill="hold">
                                          <p:stCondLst>
                                            <p:cond delay="999"/>
                                          </p:stCondLst>
                                        </p:cTn>
                                        <p:tgtEl>
                                          <p:spTgt spid="391"/>
                                        </p:tgtEl>
                                        <p:attrNameLst>
                                          <p:attrName>style.visibility</p:attrName>
                                        </p:attrNameLst>
                                      </p:cBhvr>
                                      <p:to>
                                        <p:strVal val="hidden"/>
                                      </p:to>
                                    </p:set>
                                  </p:childTnLst>
                                </p:cTn>
                              </p:par>
                              <p:par>
                                <p:cTn id="22" presetID="42" presetClass="entr" presetSubtype="0" fill="hold" nodeType="withEffect">
                                  <p:stCondLst>
                                    <p:cond delay="0"/>
                                  </p:stCondLst>
                                  <p:childTnLst>
                                    <p:set>
                                      <p:cBhvr>
                                        <p:cTn id="23" dur="1" fill="hold">
                                          <p:stCondLst>
                                            <p:cond delay="0"/>
                                          </p:stCondLst>
                                        </p:cTn>
                                        <p:tgtEl>
                                          <p:spTgt spid="374"/>
                                        </p:tgtEl>
                                        <p:attrNameLst>
                                          <p:attrName>style.visibility</p:attrName>
                                        </p:attrNameLst>
                                      </p:cBhvr>
                                      <p:to>
                                        <p:strVal val="visible"/>
                                      </p:to>
                                    </p:set>
                                    <p:animEffect transition="in" filter="fade">
                                      <p:cBhvr>
                                        <p:cTn id="24" dur="1000"/>
                                        <p:tgtEl>
                                          <p:spTgt spid="374"/>
                                        </p:tgtEl>
                                      </p:cBhvr>
                                    </p:animEffect>
                                    <p:anim calcmode="lin" valueType="num">
                                      <p:cBhvr>
                                        <p:cTn id="25" dur="1000" fill="hold"/>
                                        <p:tgtEl>
                                          <p:spTgt spid="374"/>
                                        </p:tgtEl>
                                        <p:attrNameLst>
                                          <p:attrName>ppt_x</p:attrName>
                                        </p:attrNameLst>
                                      </p:cBhvr>
                                      <p:tavLst>
                                        <p:tav tm="0">
                                          <p:val>
                                            <p:strVal val="#ppt_x"/>
                                          </p:val>
                                        </p:tav>
                                        <p:tav tm="100000">
                                          <p:val>
                                            <p:strVal val="#ppt_x"/>
                                          </p:val>
                                        </p:tav>
                                      </p:tavLst>
                                    </p:anim>
                                    <p:anim calcmode="lin" valueType="num">
                                      <p:cBhvr>
                                        <p:cTn id="26" dur="1000" fill="hold"/>
                                        <p:tgtEl>
                                          <p:spTgt spid="37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60"/>
                                        </p:tgtEl>
                                        <p:attrNameLst>
                                          <p:attrName>style.visibility</p:attrName>
                                        </p:attrNameLst>
                                      </p:cBhvr>
                                      <p:to>
                                        <p:strVal val="visible"/>
                                      </p:to>
                                    </p:set>
                                    <p:animEffect transition="in" filter="fade">
                                      <p:cBhvr>
                                        <p:cTn id="29" dur="1000"/>
                                        <p:tgtEl>
                                          <p:spTgt spid="260"/>
                                        </p:tgtEl>
                                      </p:cBhvr>
                                    </p:animEffect>
                                    <p:anim calcmode="lin" valueType="num">
                                      <p:cBhvr>
                                        <p:cTn id="30" dur="1000" fill="hold"/>
                                        <p:tgtEl>
                                          <p:spTgt spid="260"/>
                                        </p:tgtEl>
                                        <p:attrNameLst>
                                          <p:attrName>ppt_x</p:attrName>
                                        </p:attrNameLst>
                                      </p:cBhvr>
                                      <p:tavLst>
                                        <p:tav tm="0">
                                          <p:val>
                                            <p:strVal val="#ppt_x"/>
                                          </p:val>
                                        </p:tav>
                                        <p:tav tm="100000">
                                          <p:val>
                                            <p:strVal val="#ppt_x"/>
                                          </p:val>
                                        </p:tav>
                                      </p:tavLst>
                                    </p:anim>
                                    <p:anim calcmode="lin" valueType="num">
                                      <p:cBhvr>
                                        <p:cTn id="31" dur="1000" fill="hold"/>
                                        <p:tgtEl>
                                          <p:spTgt spid="26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59"/>
                                        </p:tgtEl>
                                        <p:attrNameLst>
                                          <p:attrName>style.visibility</p:attrName>
                                        </p:attrNameLst>
                                      </p:cBhvr>
                                      <p:to>
                                        <p:strVal val="visible"/>
                                      </p:to>
                                    </p:set>
                                    <p:animEffect transition="in" filter="fade">
                                      <p:cBhvr>
                                        <p:cTn id="34" dur="1000"/>
                                        <p:tgtEl>
                                          <p:spTgt spid="259"/>
                                        </p:tgtEl>
                                      </p:cBhvr>
                                    </p:animEffect>
                                    <p:anim calcmode="lin" valueType="num">
                                      <p:cBhvr>
                                        <p:cTn id="35" dur="1000" fill="hold"/>
                                        <p:tgtEl>
                                          <p:spTgt spid="259"/>
                                        </p:tgtEl>
                                        <p:attrNameLst>
                                          <p:attrName>ppt_x</p:attrName>
                                        </p:attrNameLst>
                                      </p:cBhvr>
                                      <p:tavLst>
                                        <p:tav tm="0">
                                          <p:val>
                                            <p:strVal val="#ppt_x"/>
                                          </p:val>
                                        </p:tav>
                                        <p:tav tm="100000">
                                          <p:val>
                                            <p:strVal val="#ppt_x"/>
                                          </p:val>
                                        </p:tav>
                                      </p:tavLst>
                                    </p:anim>
                                    <p:anim calcmode="lin" valueType="num">
                                      <p:cBhvr>
                                        <p:cTn id="36" dur="1000" fill="hold"/>
                                        <p:tgtEl>
                                          <p:spTgt spid="259"/>
                                        </p:tgtEl>
                                        <p:attrNameLst>
                                          <p:attrName>ppt_y</p:attrName>
                                        </p:attrNameLst>
                                      </p:cBhvr>
                                      <p:tavLst>
                                        <p:tav tm="0">
                                          <p:val>
                                            <p:strVal val="#ppt_y+.1"/>
                                          </p:val>
                                        </p:tav>
                                        <p:tav tm="100000">
                                          <p:val>
                                            <p:strVal val="#ppt_y"/>
                                          </p:val>
                                        </p:tav>
                                      </p:tavLst>
                                    </p:anim>
                                  </p:childTnLst>
                                </p:cTn>
                              </p:par>
                            </p:childTnLst>
                          </p:cTn>
                        </p:par>
                        <p:par>
                          <p:cTn id="37" fill="hold">
                            <p:stCondLst>
                              <p:cond delay="4000"/>
                            </p:stCondLst>
                            <p:childTnLst>
                              <p:par>
                                <p:cTn id="38" presetID="10" presetClass="entr" presetSubtype="0" fill="hold" grpId="0" nodeType="afterEffect">
                                  <p:stCondLst>
                                    <p:cond delay="0"/>
                                  </p:stCondLst>
                                  <p:childTnLst>
                                    <p:set>
                                      <p:cBhvr>
                                        <p:cTn id="39" dur="1" fill="hold">
                                          <p:stCondLst>
                                            <p:cond delay="0"/>
                                          </p:stCondLst>
                                        </p:cTn>
                                        <p:tgtEl>
                                          <p:spTgt spid="257"/>
                                        </p:tgtEl>
                                        <p:attrNameLst>
                                          <p:attrName>style.visibility</p:attrName>
                                        </p:attrNameLst>
                                      </p:cBhvr>
                                      <p:to>
                                        <p:strVal val="visible"/>
                                      </p:to>
                                    </p:set>
                                    <p:animEffect transition="in" filter="fade">
                                      <p:cBhvr>
                                        <p:cTn id="40" dur="1000"/>
                                        <p:tgtEl>
                                          <p:spTgt spid="257"/>
                                        </p:tgtEl>
                                      </p:cBhvr>
                                    </p:animEffect>
                                  </p:childTnLst>
                                </p:cTn>
                              </p:par>
                              <p:par>
                                <p:cTn id="41" presetID="10" presetClass="exit" presetSubtype="0" fill="hold" grpId="0" nodeType="withEffect">
                                  <p:stCondLst>
                                    <p:cond delay="0"/>
                                  </p:stCondLst>
                                  <p:childTnLst>
                                    <p:animEffect transition="out" filter="fade">
                                      <p:cBhvr>
                                        <p:cTn id="42" dur="500"/>
                                        <p:tgtEl>
                                          <p:spTgt spid="258"/>
                                        </p:tgtEl>
                                      </p:cBhvr>
                                    </p:animEffect>
                                    <p:set>
                                      <p:cBhvr>
                                        <p:cTn id="43" dur="1" fill="hold">
                                          <p:stCondLst>
                                            <p:cond delay="499"/>
                                          </p:stCondLst>
                                        </p:cTn>
                                        <p:tgtEl>
                                          <p:spTgt spid="258"/>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90"/>
                                        </p:tgtEl>
                                        <p:attrNameLst>
                                          <p:attrName>style.visibility</p:attrName>
                                        </p:attrNameLst>
                                      </p:cBhvr>
                                      <p:to>
                                        <p:strVal val="visible"/>
                                      </p:to>
                                    </p:set>
                                    <p:animEffect transition="in" filter="fade">
                                      <p:cBhvr>
                                        <p:cTn id="48" dur="500"/>
                                        <p:tgtEl>
                                          <p:spTgt spid="390"/>
                                        </p:tgtEl>
                                      </p:cBhvr>
                                    </p:animEffect>
                                  </p:childTnLst>
                                </p:cTn>
                              </p:par>
                              <p:par>
                                <p:cTn id="49" presetID="10" presetClass="entr" presetSubtype="0" fill="hold" nodeType="withEffect">
                                  <p:stCondLst>
                                    <p:cond delay="0"/>
                                  </p:stCondLst>
                                  <p:childTnLst>
                                    <p:set>
                                      <p:cBhvr>
                                        <p:cTn id="50" dur="1" fill="hold">
                                          <p:stCondLst>
                                            <p:cond delay="0"/>
                                          </p:stCondLst>
                                        </p:cTn>
                                        <p:tgtEl>
                                          <p:spTgt spid="272"/>
                                        </p:tgtEl>
                                        <p:attrNameLst>
                                          <p:attrName>style.visibility</p:attrName>
                                        </p:attrNameLst>
                                      </p:cBhvr>
                                      <p:to>
                                        <p:strVal val="visible"/>
                                      </p:to>
                                    </p:set>
                                    <p:animEffect transition="in" filter="fade">
                                      <p:cBhvr>
                                        <p:cTn id="51" dur="500"/>
                                        <p:tgtEl>
                                          <p:spTgt spid="272"/>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path" presetSubtype="0" accel="50000" decel="50000" fill="hold" grpId="0" nodeType="clickEffect">
                                  <p:stCondLst>
                                    <p:cond delay="0"/>
                                  </p:stCondLst>
                                  <p:childTnLst>
                                    <p:animMotion origin="layout" path="M 3.33333E-6 -3.7037E-6 L -0.76641 -0.39421 " pathEditMode="relative" rAng="0" ptsTypes="AA">
                                      <p:cBhvr>
                                        <p:cTn id="55" dur="3000" fill="hold"/>
                                        <p:tgtEl>
                                          <p:spTgt spid="392"/>
                                        </p:tgtEl>
                                        <p:attrNameLst>
                                          <p:attrName>ppt_x</p:attrName>
                                          <p:attrName>ppt_y</p:attrName>
                                        </p:attrNameLst>
                                      </p:cBhvr>
                                      <p:rCtr x="-38320" y="-19722"/>
                                    </p:animMotion>
                                  </p:childTnLst>
                                </p:cTn>
                              </p:par>
                            </p:childTnLst>
                          </p:cTn>
                        </p:par>
                        <p:par>
                          <p:cTn id="56" fill="hold">
                            <p:stCondLst>
                              <p:cond delay="3000"/>
                            </p:stCondLst>
                            <p:childTnLst>
                              <p:par>
                                <p:cTn id="57" presetID="31" presetClass="exit" presetSubtype="0" fill="hold" grpId="1" nodeType="afterEffect">
                                  <p:stCondLst>
                                    <p:cond delay="0"/>
                                  </p:stCondLst>
                                  <p:childTnLst>
                                    <p:anim calcmode="lin" valueType="num">
                                      <p:cBhvr>
                                        <p:cTn id="58" dur="1000"/>
                                        <p:tgtEl>
                                          <p:spTgt spid="392"/>
                                        </p:tgtEl>
                                        <p:attrNameLst>
                                          <p:attrName>ppt_w</p:attrName>
                                        </p:attrNameLst>
                                      </p:cBhvr>
                                      <p:tavLst>
                                        <p:tav tm="0">
                                          <p:val>
                                            <p:strVal val="ppt_w"/>
                                          </p:val>
                                        </p:tav>
                                        <p:tav tm="100000">
                                          <p:val>
                                            <p:fltVal val="0"/>
                                          </p:val>
                                        </p:tav>
                                      </p:tavLst>
                                    </p:anim>
                                    <p:anim calcmode="lin" valueType="num">
                                      <p:cBhvr>
                                        <p:cTn id="59" dur="1000"/>
                                        <p:tgtEl>
                                          <p:spTgt spid="392"/>
                                        </p:tgtEl>
                                        <p:attrNameLst>
                                          <p:attrName>ppt_h</p:attrName>
                                        </p:attrNameLst>
                                      </p:cBhvr>
                                      <p:tavLst>
                                        <p:tav tm="0">
                                          <p:val>
                                            <p:strVal val="ppt_h"/>
                                          </p:val>
                                        </p:tav>
                                        <p:tav tm="100000">
                                          <p:val>
                                            <p:fltVal val="0"/>
                                          </p:val>
                                        </p:tav>
                                      </p:tavLst>
                                    </p:anim>
                                    <p:anim calcmode="lin" valueType="num">
                                      <p:cBhvr>
                                        <p:cTn id="60" dur="1000"/>
                                        <p:tgtEl>
                                          <p:spTgt spid="392"/>
                                        </p:tgtEl>
                                        <p:attrNameLst>
                                          <p:attrName>style.rotation</p:attrName>
                                        </p:attrNameLst>
                                      </p:cBhvr>
                                      <p:tavLst>
                                        <p:tav tm="0">
                                          <p:val>
                                            <p:fltVal val="0"/>
                                          </p:val>
                                        </p:tav>
                                        <p:tav tm="100000">
                                          <p:val>
                                            <p:fltVal val="90"/>
                                          </p:val>
                                        </p:tav>
                                      </p:tavLst>
                                    </p:anim>
                                    <p:animEffect transition="out" filter="fade">
                                      <p:cBhvr>
                                        <p:cTn id="61" dur="1000"/>
                                        <p:tgtEl>
                                          <p:spTgt spid="392"/>
                                        </p:tgtEl>
                                      </p:cBhvr>
                                    </p:animEffect>
                                    <p:set>
                                      <p:cBhvr>
                                        <p:cTn id="62" dur="1" fill="hold">
                                          <p:stCondLst>
                                            <p:cond delay="999"/>
                                          </p:stCondLst>
                                        </p:cTn>
                                        <p:tgtEl>
                                          <p:spTgt spid="392"/>
                                        </p:tgtEl>
                                        <p:attrNameLst>
                                          <p:attrName>style.visibility</p:attrName>
                                        </p:attrNameLst>
                                      </p:cBhvr>
                                      <p:to>
                                        <p:strVal val="hidden"/>
                                      </p:to>
                                    </p:set>
                                  </p:childTnLst>
                                </p:cTn>
                              </p:par>
                              <p:par>
                                <p:cTn id="63" presetID="47" presetClass="entr" presetSubtype="0" fill="hold" grpId="0" nodeType="withEffect">
                                  <p:stCondLst>
                                    <p:cond delay="0"/>
                                  </p:stCondLst>
                                  <p:childTnLst>
                                    <p:set>
                                      <p:cBhvr>
                                        <p:cTn id="64" dur="1" fill="hold">
                                          <p:stCondLst>
                                            <p:cond delay="0"/>
                                          </p:stCondLst>
                                        </p:cTn>
                                        <p:tgtEl>
                                          <p:spTgt spid="394"/>
                                        </p:tgtEl>
                                        <p:attrNameLst>
                                          <p:attrName>style.visibility</p:attrName>
                                        </p:attrNameLst>
                                      </p:cBhvr>
                                      <p:to>
                                        <p:strVal val="visible"/>
                                      </p:to>
                                    </p:set>
                                    <p:animEffect transition="in" filter="fade">
                                      <p:cBhvr>
                                        <p:cTn id="65" dur="1000"/>
                                        <p:tgtEl>
                                          <p:spTgt spid="394"/>
                                        </p:tgtEl>
                                      </p:cBhvr>
                                    </p:animEffect>
                                    <p:anim calcmode="lin" valueType="num">
                                      <p:cBhvr>
                                        <p:cTn id="66" dur="1000" fill="hold"/>
                                        <p:tgtEl>
                                          <p:spTgt spid="394"/>
                                        </p:tgtEl>
                                        <p:attrNameLst>
                                          <p:attrName>ppt_x</p:attrName>
                                        </p:attrNameLst>
                                      </p:cBhvr>
                                      <p:tavLst>
                                        <p:tav tm="0">
                                          <p:val>
                                            <p:strVal val="#ppt_x"/>
                                          </p:val>
                                        </p:tav>
                                        <p:tav tm="100000">
                                          <p:val>
                                            <p:strVal val="#ppt_x"/>
                                          </p:val>
                                        </p:tav>
                                      </p:tavLst>
                                    </p:anim>
                                    <p:anim calcmode="lin" valueType="num">
                                      <p:cBhvr>
                                        <p:cTn id="67" dur="1000" fill="hold"/>
                                        <p:tgtEl>
                                          <p:spTgt spid="394"/>
                                        </p:tgtEl>
                                        <p:attrNameLst>
                                          <p:attrName>ppt_y</p:attrName>
                                        </p:attrNameLst>
                                      </p:cBhvr>
                                      <p:tavLst>
                                        <p:tav tm="0">
                                          <p:val>
                                            <p:strVal val="#ppt_y-.1"/>
                                          </p:val>
                                        </p:tav>
                                        <p:tav tm="100000">
                                          <p:val>
                                            <p:strVal val="#ppt_y"/>
                                          </p:val>
                                        </p:tav>
                                      </p:tavLst>
                                    </p:anim>
                                  </p:childTnLst>
                                </p:cTn>
                              </p:par>
                              <p:par>
                                <p:cTn id="68" presetID="47" presetClass="entr" presetSubtype="0" fill="hold" nodeType="withEffect">
                                  <p:stCondLst>
                                    <p:cond delay="0"/>
                                  </p:stCondLst>
                                  <p:childTnLst>
                                    <p:set>
                                      <p:cBhvr>
                                        <p:cTn id="69" dur="1" fill="hold">
                                          <p:stCondLst>
                                            <p:cond delay="0"/>
                                          </p:stCondLst>
                                        </p:cTn>
                                        <p:tgtEl>
                                          <p:spTgt spid="402"/>
                                        </p:tgtEl>
                                        <p:attrNameLst>
                                          <p:attrName>style.visibility</p:attrName>
                                        </p:attrNameLst>
                                      </p:cBhvr>
                                      <p:to>
                                        <p:strVal val="visible"/>
                                      </p:to>
                                    </p:set>
                                    <p:animEffect transition="in" filter="fade">
                                      <p:cBhvr>
                                        <p:cTn id="70" dur="1000"/>
                                        <p:tgtEl>
                                          <p:spTgt spid="402"/>
                                        </p:tgtEl>
                                      </p:cBhvr>
                                    </p:animEffect>
                                    <p:anim calcmode="lin" valueType="num">
                                      <p:cBhvr>
                                        <p:cTn id="71" dur="1000" fill="hold"/>
                                        <p:tgtEl>
                                          <p:spTgt spid="402"/>
                                        </p:tgtEl>
                                        <p:attrNameLst>
                                          <p:attrName>ppt_x</p:attrName>
                                        </p:attrNameLst>
                                      </p:cBhvr>
                                      <p:tavLst>
                                        <p:tav tm="0">
                                          <p:val>
                                            <p:strVal val="#ppt_x"/>
                                          </p:val>
                                        </p:tav>
                                        <p:tav tm="100000">
                                          <p:val>
                                            <p:strVal val="#ppt_x"/>
                                          </p:val>
                                        </p:tav>
                                      </p:tavLst>
                                    </p:anim>
                                    <p:anim calcmode="lin" valueType="num">
                                      <p:cBhvr>
                                        <p:cTn id="72" dur="1000" fill="hold"/>
                                        <p:tgtEl>
                                          <p:spTgt spid="402"/>
                                        </p:tgtEl>
                                        <p:attrNameLst>
                                          <p:attrName>ppt_y</p:attrName>
                                        </p:attrNameLst>
                                      </p:cBhvr>
                                      <p:tavLst>
                                        <p:tav tm="0">
                                          <p:val>
                                            <p:strVal val="#ppt_y-.1"/>
                                          </p:val>
                                        </p:tav>
                                        <p:tav tm="100000">
                                          <p:val>
                                            <p:strVal val="#ppt_y"/>
                                          </p:val>
                                        </p:tav>
                                      </p:tavLst>
                                    </p:anim>
                                  </p:childTnLst>
                                </p:cTn>
                              </p:par>
                              <p:par>
                                <p:cTn id="73" presetID="47" presetClass="entr" presetSubtype="0" fill="hold" grpId="0" nodeType="withEffect">
                                  <p:stCondLst>
                                    <p:cond delay="0"/>
                                  </p:stCondLst>
                                  <p:childTnLst>
                                    <p:set>
                                      <p:cBhvr>
                                        <p:cTn id="74" dur="1" fill="hold">
                                          <p:stCondLst>
                                            <p:cond delay="0"/>
                                          </p:stCondLst>
                                        </p:cTn>
                                        <p:tgtEl>
                                          <p:spTgt spid="393"/>
                                        </p:tgtEl>
                                        <p:attrNameLst>
                                          <p:attrName>style.visibility</p:attrName>
                                        </p:attrNameLst>
                                      </p:cBhvr>
                                      <p:to>
                                        <p:strVal val="visible"/>
                                      </p:to>
                                    </p:set>
                                    <p:animEffect transition="in" filter="fade">
                                      <p:cBhvr>
                                        <p:cTn id="75" dur="1000"/>
                                        <p:tgtEl>
                                          <p:spTgt spid="393"/>
                                        </p:tgtEl>
                                      </p:cBhvr>
                                    </p:animEffect>
                                    <p:anim calcmode="lin" valueType="num">
                                      <p:cBhvr>
                                        <p:cTn id="76" dur="1000" fill="hold"/>
                                        <p:tgtEl>
                                          <p:spTgt spid="393"/>
                                        </p:tgtEl>
                                        <p:attrNameLst>
                                          <p:attrName>ppt_x</p:attrName>
                                        </p:attrNameLst>
                                      </p:cBhvr>
                                      <p:tavLst>
                                        <p:tav tm="0">
                                          <p:val>
                                            <p:strVal val="#ppt_x"/>
                                          </p:val>
                                        </p:tav>
                                        <p:tav tm="100000">
                                          <p:val>
                                            <p:strVal val="#ppt_x"/>
                                          </p:val>
                                        </p:tav>
                                      </p:tavLst>
                                    </p:anim>
                                    <p:anim calcmode="lin" valueType="num">
                                      <p:cBhvr>
                                        <p:cTn id="77" dur="1000" fill="hold"/>
                                        <p:tgtEl>
                                          <p:spTgt spid="393"/>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399"/>
                                        </p:tgtEl>
                                        <p:attrNameLst>
                                          <p:attrName>style.visibility</p:attrName>
                                        </p:attrNameLst>
                                      </p:cBhvr>
                                      <p:to>
                                        <p:strVal val="visible"/>
                                      </p:to>
                                    </p:set>
                                    <p:animEffect transition="in" filter="fade">
                                      <p:cBhvr>
                                        <p:cTn id="82" dur="1000"/>
                                        <p:tgtEl>
                                          <p:spTgt spid="399"/>
                                        </p:tgtEl>
                                      </p:cBhvr>
                                    </p:animEffect>
                                    <p:anim calcmode="lin" valueType="num">
                                      <p:cBhvr>
                                        <p:cTn id="83" dur="1000" fill="hold"/>
                                        <p:tgtEl>
                                          <p:spTgt spid="399"/>
                                        </p:tgtEl>
                                        <p:attrNameLst>
                                          <p:attrName>ppt_x</p:attrName>
                                        </p:attrNameLst>
                                      </p:cBhvr>
                                      <p:tavLst>
                                        <p:tav tm="0">
                                          <p:val>
                                            <p:strVal val="#ppt_x"/>
                                          </p:val>
                                        </p:tav>
                                        <p:tav tm="100000">
                                          <p:val>
                                            <p:strVal val="#ppt_x"/>
                                          </p:val>
                                        </p:tav>
                                      </p:tavLst>
                                    </p:anim>
                                    <p:anim calcmode="lin" valueType="num">
                                      <p:cBhvr>
                                        <p:cTn id="84" dur="1000" fill="hold"/>
                                        <p:tgtEl>
                                          <p:spTgt spid="399"/>
                                        </p:tgtEl>
                                        <p:attrNameLst>
                                          <p:attrName>ppt_y</p:attrName>
                                        </p:attrNameLst>
                                      </p:cBhvr>
                                      <p:tavLst>
                                        <p:tav tm="0">
                                          <p:val>
                                            <p:strVal val="#ppt_y+.1"/>
                                          </p:val>
                                        </p:tav>
                                        <p:tav tm="100000">
                                          <p:val>
                                            <p:strVal val="#ppt_y"/>
                                          </p:val>
                                        </p:tav>
                                      </p:tavLst>
                                    </p:anim>
                                  </p:childTnLst>
                                </p:cTn>
                              </p:par>
                              <p:par>
                                <p:cTn id="85" presetID="47" presetClass="entr" presetSubtype="0" fill="hold" grpId="0" nodeType="withEffect">
                                  <p:stCondLst>
                                    <p:cond delay="0"/>
                                  </p:stCondLst>
                                  <p:childTnLst>
                                    <p:set>
                                      <p:cBhvr>
                                        <p:cTn id="86" dur="1" fill="hold">
                                          <p:stCondLst>
                                            <p:cond delay="0"/>
                                          </p:stCondLst>
                                        </p:cTn>
                                        <p:tgtEl>
                                          <p:spTgt spid="400"/>
                                        </p:tgtEl>
                                        <p:attrNameLst>
                                          <p:attrName>style.visibility</p:attrName>
                                        </p:attrNameLst>
                                      </p:cBhvr>
                                      <p:to>
                                        <p:strVal val="visible"/>
                                      </p:to>
                                    </p:set>
                                    <p:animEffect transition="in" filter="fade">
                                      <p:cBhvr>
                                        <p:cTn id="87" dur="1000"/>
                                        <p:tgtEl>
                                          <p:spTgt spid="400"/>
                                        </p:tgtEl>
                                      </p:cBhvr>
                                    </p:animEffect>
                                    <p:anim calcmode="lin" valueType="num">
                                      <p:cBhvr>
                                        <p:cTn id="88" dur="1000" fill="hold"/>
                                        <p:tgtEl>
                                          <p:spTgt spid="400"/>
                                        </p:tgtEl>
                                        <p:attrNameLst>
                                          <p:attrName>ppt_x</p:attrName>
                                        </p:attrNameLst>
                                      </p:cBhvr>
                                      <p:tavLst>
                                        <p:tav tm="0">
                                          <p:val>
                                            <p:strVal val="#ppt_x"/>
                                          </p:val>
                                        </p:tav>
                                        <p:tav tm="100000">
                                          <p:val>
                                            <p:strVal val="#ppt_x"/>
                                          </p:val>
                                        </p:tav>
                                      </p:tavLst>
                                    </p:anim>
                                    <p:anim calcmode="lin" valueType="num">
                                      <p:cBhvr>
                                        <p:cTn id="89" dur="1000" fill="hold"/>
                                        <p:tgtEl>
                                          <p:spTgt spid="400"/>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01"/>
                                        </p:tgtEl>
                                        <p:attrNameLst>
                                          <p:attrName>style.visibility</p:attrName>
                                        </p:attrNameLst>
                                      </p:cBhvr>
                                      <p:to>
                                        <p:strVal val="visible"/>
                                      </p:to>
                                    </p:set>
                                    <p:animEffect transition="in" filter="fade">
                                      <p:cBhvr>
                                        <p:cTn id="94" dur="500"/>
                                        <p:tgtEl>
                                          <p:spTgt spid="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 grpId="0" animBg="1"/>
      <p:bldP spid="114" grpId="0"/>
      <p:bldP spid="259" grpId="0"/>
      <p:bldP spid="260" grpId="0" animBg="1"/>
      <p:bldP spid="390" grpId="0"/>
      <p:bldP spid="393" grpId="0"/>
      <p:bldP spid="394" grpId="0" animBg="1"/>
      <p:bldP spid="391" grpId="0" animBg="1"/>
      <p:bldP spid="391" grpId="1" animBg="1"/>
      <p:bldP spid="392" grpId="0" animBg="1"/>
      <p:bldP spid="392" grpId="1" animBg="1"/>
      <p:bldP spid="399" grpId="0" animBg="1"/>
      <p:bldP spid="400" grpId="0" animBg="1"/>
      <p:bldP spid="257" grpId="0"/>
      <p:bldP spid="258" grpId="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873"/>
        <p:cNvGrpSpPr/>
        <p:nvPr/>
      </p:nvGrpSpPr>
      <p:grpSpPr>
        <a:xfrm>
          <a:off x="0" y="0"/>
          <a:ext cx="0" cy="0"/>
          <a:chOff x="0" y="0"/>
          <a:chExt cx="0" cy="0"/>
        </a:xfrm>
      </p:grpSpPr>
      <p:grpSp>
        <p:nvGrpSpPr>
          <p:cNvPr id="3874" name="Google Shape;3874;p81"/>
          <p:cNvGrpSpPr/>
          <p:nvPr/>
        </p:nvGrpSpPr>
        <p:grpSpPr>
          <a:xfrm>
            <a:off x="1284578" y="2130924"/>
            <a:ext cx="10188966" cy="756000"/>
            <a:chOff x="719091" y="1719857"/>
            <a:chExt cx="9543493" cy="785865"/>
          </a:xfrm>
        </p:grpSpPr>
        <p:sp>
          <p:nvSpPr>
            <p:cNvPr id="3875" name="Google Shape;3875;p81"/>
            <p:cNvSpPr txBox="1"/>
            <p:nvPr/>
          </p:nvSpPr>
          <p:spPr>
            <a:xfrm>
              <a:off x="1460917" y="1719860"/>
              <a:ext cx="5648774" cy="785862"/>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3월 31일까지 사용된 이연 광고비를 회계 처리함.</a:t>
              </a:r>
              <a:endParaRPr sz="2000">
                <a:solidFill>
                  <a:schemeClr val="dk1"/>
                </a:solidFill>
                <a:latin typeface="Avenir"/>
                <a:ea typeface="Avenir"/>
                <a:cs typeface="Avenir"/>
                <a:sym typeface="Avenir"/>
              </a:endParaRPr>
            </a:p>
          </p:txBody>
        </p:sp>
        <p:sp>
          <p:nvSpPr>
            <p:cNvPr id="3876" name="Google Shape;3876;p81"/>
            <p:cNvSpPr txBox="1"/>
            <p:nvPr/>
          </p:nvSpPr>
          <p:spPr>
            <a:xfrm>
              <a:off x="7109689" y="1719857"/>
              <a:ext cx="1576447" cy="785864"/>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Advertising</a:t>
              </a:r>
              <a:endParaRPr/>
            </a:p>
            <a:p>
              <a:pPr marL="0" marR="0" lvl="0" indent="0" algn="ctr" rtl="0">
                <a:lnSpc>
                  <a:spcPct val="90000"/>
                </a:lnSpc>
                <a:spcBef>
                  <a:spcPts val="0"/>
                </a:spcBef>
                <a:spcAft>
                  <a:spcPts val="0"/>
                </a:spcAft>
                <a:buNone/>
              </a:pPr>
              <a:r>
                <a:rPr lang="en-US" sz="1800" b="1">
                  <a:solidFill>
                    <a:srgbClr val="BFBFBF"/>
                  </a:solidFill>
                  <a:latin typeface="Avenir"/>
                  <a:ea typeface="Avenir"/>
                  <a:cs typeface="Avenir"/>
                  <a:sym typeface="Avenir"/>
                </a:rPr>
                <a:t>200</a:t>
              </a:r>
              <a:endParaRPr/>
            </a:p>
          </p:txBody>
        </p:sp>
        <p:sp>
          <p:nvSpPr>
            <p:cNvPr id="3877" name="Google Shape;3877;p81"/>
            <p:cNvSpPr txBox="1"/>
            <p:nvPr/>
          </p:nvSpPr>
          <p:spPr>
            <a:xfrm>
              <a:off x="8686137" y="1719857"/>
              <a:ext cx="1576447" cy="785864"/>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1">
                  <a:solidFill>
                    <a:srgbClr val="BFBFBF"/>
                  </a:solidFill>
                  <a:latin typeface="Avenir"/>
                  <a:ea typeface="Avenir"/>
                  <a:cs typeface="Avenir"/>
                  <a:sym typeface="Avenir"/>
                </a:rPr>
                <a:t>Deferred expenses</a:t>
              </a:r>
              <a:endParaRPr sz="1600" b="1">
                <a:solidFill>
                  <a:srgbClr val="BFBFBF"/>
                </a:solidFill>
                <a:latin typeface="Avenir"/>
                <a:ea typeface="Avenir"/>
                <a:cs typeface="Avenir"/>
                <a:sym typeface="Avenir"/>
              </a:endParaRPr>
            </a:p>
            <a:p>
              <a:pPr marL="0" marR="0" lvl="0" indent="0" algn="ctr" rtl="0">
                <a:lnSpc>
                  <a:spcPct val="90000"/>
                </a:lnSpc>
                <a:spcBef>
                  <a:spcPts val="0"/>
                </a:spcBef>
                <a:spcAft>
                  <a:spcPts val="0"/>
                </a:spcAft>
                <a:buNone/>
              </a:pPr>
              <a:r>
                <a:rPr lang="en-US" sz="1800" b="1">
                  <a:solidFill>
                    <a:srgbClr val="BFBFBF"/>
                  </a:solidFill>
                  <a:latin typeface="Avenir"/>
                  <a:ea typeface="Avenir"/>
                  <a:cs typeface="Avenir"/>
                  <a:sym typeface="Avenir"/>
                </a:rPr>
                <a:t>200</a:t>
              </a:r>
              <a:endParaRPr/>
            </a:p>
          </p:txBody>
        </p:sp>
        <p:sp>
          <p:nvSpPr>
            <p:cNvPr id="3878" name="Google Shape;3878;p81"/>
            <p:cNvSpPr txBox="1"/>
            <p:nvPr/>
          </p:nvSpPr>
          <p:spPr>
            <a:xfrm>
              <a:off x="719091" y="1719857"/>
              <a:ext cx="741826" cy="785864"/>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15</a:t>
              </a:r>
              <a:endParaRPr/>
            </a:p>
          </p:txBody>
        </p:sp>
      </p:grpSp>
      <p:sp>
        <p:nvSpPr>
          <p:cNvPr id="3879" name="Google Shape;3879;p81"/>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sp>
        <p:nvSpPr>
          <p:cNvPr id="3880" name="Google Shape;3880;p81"/>
          <p:cNvSpPr txBox="1"/>
          <p:nvPr/>
        </p:nvSpPr>
        <p:spPr>
          <a:xfrm>
            <a:off x="8107403" y="2130923"/>
            <a:ext cx="1683070"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rgbClr val="548135"/>
                </a:solidFill>
                <a:latin typeface="Avenir"/>
                <a:ea typeface="Avenir"/>
                <a:cs typeface="Avenir"/>
                <a:sym typeface="Avenir"/>
              </a:rPr>
              <a:t>200</a:t>
            </a:r>
            <a:endParaRPr/>
          </a:p>
        </p:txBody>
      </p:sp>
      <p:sp>
        <p:nvSpPr>
          <p:cNvPr id="3881" name="Google Shape;3881;p81"/>
          <p:cNvSpPr txBox="1"/>
          <p:nvPr/>
        </p:nvSpPr>
        <p:spPr>
          <a:xfrm>
            <a:off x="9790473" y="2130922"/>
            <a:ext cx="1683068"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accent2"/>
                </a:solidFill>
                <a:latin typeface="Avenir"/>
                <a:ea typeface="Avenir"/>
                <a:cs typeface="Avenir"/>
                <a:sym typeface="Avenir"/>
              </a:rPr>
              <a:t>200</a:t>
            </a:r>
            <a:endParaRPr/>
          </a:p>
        </p:txBody>
      </p:sp>
      <p:cxnSp>
        <p:nvCxnSpPr>
          <p:cNvPr id="3882" name="Google Shape;3882;p81"/>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3883" name="Google Shape;3883;p81"/>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31 March</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AFEEEED1-A67F-7B4D-B573-1C8C8F9E4DA0}"/>
              </a:ext>
            </a:extLst>
          </p:cNvPr>
          <p:cNvGrpSpPr/>
          <p:nvPr/>
        </p:nvGrpSpPr>
        <p:grpSpPr>
          <a:xfrm>
            <a:off x="492858" y="773769"/>
            <a:ext cx="11291146" cy="5895963"/>
            <a:chOff x="492858" y="773769"/>
            <a:chExt cx="11291146" cy="5895963"/>
          </a:xfrm>
        </p:grpSpPr>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4" name="Group 3">
              <a:extLst>
                <a:ext uri="{FF2B5EF4-FFF2-40B4-BE49-F238E27FC236}">
                  <a16:creationId xmlns:a16="http://schemas.microsoft.com/office/drawing/2014/main" id="{021BD936-11DF-914A-9814-58487BB1FF7E}"/>
                </a:ext>
              </a:extLst>
            </p:cNvPr>
            <p:cNvGrpSpPr/>
            <p:nvPr/>
          </p:nvGrpSpPr>
          <p:grpSpPr>
            <a:xfrm>
              <a:off x="492858" y="3906157"/>
              <a:ext cx="11291146" cy="2763575"/>
              <a:chOff x="1354633" y="4399871"/>
              <a:chExt cx="9550931" cy="2121953"/>
            </a:xfrm>
          </p:grpSpPr>
          <p:sp>
            <p:nvSpPr>
              <p:cNvPr id="44" name="TextBox 43">
                <a:extLst>
                  <a:ext uri="{FF2B5EF4-FFF2-40B4-BE49-F238E27FC236}">
                    <a16:creationId xmlns:a16="http://schemas.microsoft.com/office/drawing/2014/main" id="{BAAAFA65-E071-7B4C-BF50-653A0B9C6101}"/>
                  </a:ext>
                </a:extLst>
              </p:cNvPr>
              <p:cNvSpPr txBox="1"/>
              <p:nvPr/>
            </p:nvSpPr>
            <p:spPr>
              <a:xfrm>
                <a:off x="1354633" y="4813260"/>
                <a:ext cx="9550931" cy="1708564"/>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199863" y="4921166"/>
                <a:ext cx="4576976" cy="1495361"/>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1481256" y="4921166"/>
                <a:ext cx="4552539" cy="1495361"/>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013902" y="4399871"/>
                <a:ext cx="7436" cy="43469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grpSp>
      <p:grpSp>
        <p:nvGrpSpPr>
          <p:cNvPr id="68" name="Group 67">
            <a:extLst>
              <a:ext uri="{FF2B5EF4-FFF2-40B4-BE49-F238E27FC236}">
                <a16:creationId xmlns:a16="http://schemas.microsoft.com/office/drawing/2014/main" id="{0FAFDE31-17C4-694A-9315-7CA4875BA5A6}"/>
              </a:ext>
            </a:extLst>
          </p:cNvPr>
          <p:cNvGrpSpPr/>
          <p:nvPr/>
        </p:nvGrpSpPr>
        <p:grpSpPr>
          <a:xfrm>
            <a:off x="4248000" y="2850495"/>
            <a:ext cx="1620000" cy="1116000"/>
            <a:chOff x="3810000" y="2381250"/>
            <a:chExt cx="1390650" cy="1230631"/>
          </a:xfrm>
          <a:solidFill>
            <a:schemeClr val="accent6">
              <a:lumMod val="75000"/>
            </a:schemeClr>
          </a:solidFill>
        </p:grpSpPr>
        <p:sp>
          <p:nvSpPr>
            <p:cNvPr id="69" name="L-Shape 68">
              <a:extLst>
                <a:ext uri="{FF2B5EF4-FFF2-40B4-BE49-F238E27FC236}">
                  <a16:creationId xmlns:a16="http://schemas.microsoft.com/office/drawing/2014/main" id="{C916329F-8F7D-F447-AC3E-053EBC610106}"/>
                </a:ext>
              </a:extLst>
            </p:cNvPr>
            <p:cNvSpPr/>
            <p:nvPr/>
          </p:nvSpPr>
          <p:spPr>
            <a:xfrm flipH="1">
              <a:off x="4505325"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3810000" y="2381250"/>
              <a:ext cx="695325" cy="1230631"/>
            </a:xfrm>
            <a:prstGeom prst="corner">
              <a:avLst>
                <a:gd name="adj1" fmla="val 7073"/>
                <a:gd name="adj2" fmla="val 694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3" name="Group 2">
            <a:extLst>
              <a:ext uri="{FF2B5EF4-FFF2-40B4-BE49-F238E27FC236}">
                <a16:creationId xmlns:a16="http://schemas.microsoft.com/office/drawing/2014/main" id="{4F1A6A0D-8815-F841-B6AF-961D92BF5699}"/>
              </a:ext>
            </a:extLst>
          </p:cNvPr>
          <p:cNvGrpSpPr/>
          <p:nvPr/>
        </p:nvGrpSpPr>
        <p:grpSpPr>
          <a:xfrm>
            <a:off x="2458800" y="1443348"/>
            <a:ext cx="1620000" cy="2515350"/>
            <a:chOff x="671549" y="1402787"/>
            <a:chExt cx="1620000" cy="2549293"/>
          </a:xfrm>
        </p:grpSpPr>
        <p:sp>
          <p:nvSpPr>
            <p:cNvPr id="75" name="L-Shape 74">
              <a:extLst>
                <a:ext uri="{FF2B5EF4-FFF2-40B4-BE49-F238E27FC236}">
                  <a16:creationId xmlns:a16="http://schemas.microsoft.com/office/drawing/2014/main" id="{40AFD111-C01B-474D-9CE9-92D7DED4680D}"/>
                </a:ext>
              </a:extLst>
            </p:cNvPr>
            <p:cNvSpPr/>
            <p:nvPr/>
          </p:nvSpPr>
          <p:spPr>
            <a:xfrm flipH="1">
              <a:off x="1481549" y="1402787"/>
              <a:ext cx="810000" cy="2549293"/>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671549" y="1402787"/>
              <a:ext cx="810000" cy="2549293"/>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grpSp>
      <p:grpSp>
        <p:nvGrpSpPr>
          <p:cNvPr id="77" name="Group 76">
            <a:extLst>
              <a:ext uri="{FF2B5EF4-FFF2-40B4-BE49-F238E27FC236}">
                <a16:creationId xmlns:a16="http://schemas.microsoft.com/office/drawing/2014/main" id="{2521A7CC-DB3D-AE45-BD4C-1DF27CA0BB15}"/>
              </a:ext>
            </a:extLst>
          </p:cNvPr>
          <p:cNvGrpSpPr/>
          <p:nvPr/>
        </p:nvGrpSpPr>
        <p:grpSpPr>
          <a:xfrm>
            <a:off x="673200" y="3340800"/>
            <a:ext cx="1620000" cy="613673"/>
            <a:chOff x="3810000" y="2381250"/>
            <a:chExt cx="1390650" cy="1230631"/>
          </a:xfrm>
          <a:solidFill>
            <a:schemeClr val="accent6">
              <a:lumMod val="75000"/>
            </a:schemeClr>
          </a:solidFill>
        </p:grpSpPr>
        <p:sp>
          <p:nvSpPr>
            <p:cNvPr id="78" name="L-Shape 77">
              <a:extLst>
                <a:ext uri="{FF2B5EF4-FFF2-40B4-BE49-F238E27FC236}">
                  <a16:creationId xmlns:a16="http://schemas.microsoft.com/office/drawing/2014/main" id="{B99F5FC8-696C-664D-8BB1-F085E5F5B13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09" name="TextBox 108">
            <a:extLst>
              <a:ext uri="{FF2B5EF4-FFF2-40B4-BE49-F238E27FC236}">
                <a16:creationId xmlns:a16="http://schemas.microsoft.com/office/drawing/2014/main" id="{B694B919-534C-2C41-8C61-09F0BDF0CC10}"/>
              </a:ext>
            </a:extLst>
          </p:cNvPr>
          <p:cNvSpPr txBox="1"/>
          <p:nvPr/>
        </p:nvSpPr>
        <p:spPr>
          <a:xfrm>
            <a:off x="4101806" y="2478490"/>
            <a:ext cx="1911388" cy="338554"/>
          </a:xfrm>
          <a:prstGeom prst="rect">
            <a:avLst/>
          </a:prstGeom>
          <a:noFill/>
        </p:spPr>
        <p:txBody>
          <a:bodyPr wrap="square" rtlCol="0">
            <a:spAutoFit/>
          </a:bodyPr>
          <a:lstStyle/>
          <a:p>
            <a:pPr algn="ctr"/>
            <a:r>
              <a:rPr lang="en-US" sz="1600">
                <a:latin typeface="Avenir"/>
              </a:rPr>
              <a:t>Deferred expenses</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1" name="TextBox 110">
            <a:extLst>
              <a:ext uri="{FF2B5EF4-FFF2-40B4-BE49-F238E27FC236}">
                <a16:creationId xmlns:a16="http://schemas.microsoft.com/office/drawing/2014/main" id="{90449D72-B487-F94C-A127-21B967258AB2}"/>
              </a:ext>
            </a:extLst>
          </p:cNvPr>
          <p:cNvSpPr txBox="1"/>
          <p:nvPr/>
        </p:nvSpPr>
        <p:spPr>
          <a:xfrm>
            <a:off x="2570770" y="6192000"/>
            <a:ext cx="1585661" cy="338554"/>
          </a:xfrm>
          <a:prstGeom prst="rect">
            <a:avLst/>
          </a:prstGeom>
          <a:noFill/>
        </p:spPr>
        <p:txBody>
          <a:bodyPr wrap="square" rtlCol="0">
            <a:spAutoFit/>
          </a:bodyPr>
          <a:lstStyle/>
          <a:p>
            <a:pPr algn="ctr"/>
            <a:r>
              <a:rPr lang="en-US" sz="1600">
                <a:latin typeface="Avenir"/>
              </a:rPr>
              <a:t>Advertising</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4" name="TextBox 113">
            <a:extLst>
              <a:ext uri="{FF2B5EF4-FFF2-40B4-BE49-F238E27FC236}">
                <a16:creationId xmlns:a16="http://schemas.microsoft.com/office/drawing/2014/main" id="{1EEBC55C-3C1F-1642-8926-FEB0EBD0F049}"/>
              </a:ext>
            </a:extLst>
          </p:cNvPr>
          <p:cNvSpPr txBox="1"/>
          <p:nvPr/>
        </p:nvSpPr>
        <p:spPr>
          <a:xfrm>
            <a:off x="796515" y="6192000"/>
            <a:ext cx="1603683" cy="338554"/>
          </a:xfrm>
          <a:prstGeom prst="rect">
            <a:avLst/>
          </a:prstGeom>
          <a:noFill/>
        </p:spPr>
        <p:txBody>
          <a:bodyPr wrap="square" rtlCol="0">
            <a:spAutoFit/>
          </a:bodyPr>
          <a:lstStyle/>
          <a:p>
            <a:pPr algn="ctr"/>
            <a:r>
              <a:rPr lang="en-US" sz="1600">
                <a:latin typeface="Avenir"/>
              </a:rPr>
              <a:t>Depreciation</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18" name="TextBox 117">
            <a:extLst>
              <a:ext uri="{FF2B5EF4-FFF2-40B4-BE49-F238E27FC236}">
                <a16:creationId xmlns:a16="http://schemas.microsoft.com/office/drawing/2014/main" id="{771DDF6F-B29C-AF46-A26D-B05A0E9136DB}"/>
              </a:ext>
            </a:extLst>
          </p:cNvPr>
          <p:cNvSpPr txBox="1"/>
          <p:nvPr/>
        </p:nvSpPr>
        <p:spPr>
          <a:xfrm>
            <a:off x="8114313" y="2028286"/>
            <a:ext cx="1864201" cy="338554"/>
          </a:xfrm>
          <a:prstGeom prst="rect">
            <a:avLst/>
          </a:prstGeom>
          <a:noFill/>
        </p:spPr>
        <p:txBody>
          <a:bodyPr wrap="square" rtlCol="0">
            <a:spAutoFit/>
          </a:bodyPr>
          <a:lstStyle/>
          <a:p>
            <a:pPr algn="ctr"/>
            <a:r>
              <a:rPr lang="en-US" sz="1600" dirty="0">
                <a:latin typeface="Avenir"/>
              </a:rPr>
              <a:t>Deferred revenue</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172" name="TextBox 171">
            <a:extLst>
              <a:ext uri="{FF2B5EF4-FFF2-40B4-BE49-F238E27FC236}">
                <a16:creationId xmlns:a16="http://schemas.microsoft.com/office/drawing/2014/main" id="{1E829A5C-2F66-F748-9AB9-2ABF768ADAA8}"/>
              </a:ext>
            </a:extLst>
          </p:cNvPr>
          <p:cNvSpPr txBox="1"/>
          <p:nvPr/>
        </p:nvSpPr>
        <p:spPr>
          <a:xfrm>
            <a:off x="3469894" y="172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175" name="TextBox 174">
            <a:extLst>
              <a:ext uri="{FF2B5EF4-FFF2-40B4-BE49-F238E27FC236}">
                <a16:creationId xmlns:a16="http://schemas.microsoft.com/office/drawing/2014/main" id="{1EDF2EBA-BB67-8B4C-A078-DBEAC0E841AA}"/>
              </a:ext>
            </a:extLst>
          </p:cNvPr>
          <p:cNvSpPr txBox="1"/>
          <p:nvPr/>
        </p:nvSpPr>
        <p:spPr>
          <a:xfrm>
            <a:off x="3469894" y="1454709"/>
            <a:ext cx="526106" cy="338554"/>
          </a:xfrm>
          <a:prstGeom prst="rect">
            <a:avLst/>
          </a:prstGeom>
          <a:noFill/>
        </p:spPr>
        <p:txBody>
          <a:bodyPr wrap="none" rtlCol="0">
            <a:spAutoFit/>
          </a:bodyPr>
          <a:lstStyle/>
          <a:p>
            <a:pPr algn="r"/>
            <a:r>
              <a:rPr lang="en-US" sz="1600" b="1">
                <a:solidFill>
                  <a:schemeClr val="accent2"/>
                </a:solidFill>
                <a:latin typeface="Avenir"/>
              </a:rPr>
              <a:t>800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 name="Down Arrow 1">
            <a:extLst>
              <a:ext uri="{FF2B5EF4-FFF2-40B4-BE49-F238E27FC236}">
                <a16:creationId xmlns:a16="http://schemas.microsoft.com/office/drawing/2014/main" id="{F86048BE-D5F3-F04C-A5C9-FD8784673821}"/>
              </a:ext>
            </a:extLst>
          </p:cNvPr>
          <p:cNvSpPr/>
          <p:nvPr/>
        </p:nvSpPr>
        <p:spPr>
          <a:xfrm>
            <a:off x="3011371" y="152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Down Arrow 198">
            <a:extLst>
              <a:ext uri="{FF2B5EF4-FFF2-40B4-BE49-F238E27FC236}">
                <a16:creationId xmlns:a16="http://schemas.microsoft.com/office/drawing/2014/main" id="{3FD208AA-CF32-B64F-B03C-969D3C0C8C66}"/>
              </a:ext>
            </a:extLst>
          </p:cNvPr>
          <p:cNvSpPr/>
          <p:nvPr/>
        </p:nvSpPr>
        <p:spPr>
          <a:xfrm rot="10800000">
            <a:off x="3011371" y="177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8" name="Down Arrow 217">
            <a:extLst>
              <a:ext uri="{FF2B5EF4-FFF2-40B4-BE49-F238E27FC236}">
                <a16:creationId xmlns:a16="http://schemas.microsoft.com/office/drawing/2014/main" id="{4482D691-4D69-A242-A177-A1C5F39277C4}"/>
              </a:ext>
            </a:extLst>
          </p:cNvPr>
          <p:cNvSpPr/>
          <p:nvPr/>
        </p:nvSpPr>
        <p:spPr>
          <a:xfrm rot="10800000">
            <a:off x="10630284" y="3659745"/>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TextBox 219">
            <a:extLst>
              <a:ext uri="{FF2B5EF4-FFF2-40B4-BE49-F238E27FC236}">
                <a16:creationId xmlns:a16="http://schemas.microsoft.com/office/drawing/2014/main" id="{D59EDECC-B1D1-B040-BBB3-304302444F36}"/>
              </a:ext>
            </a:extLst>
          </p:cNvPr>
          <p:cNvSpPr txBox="1"/>
          <p:nvPr/>
        </p:nvSpPr>
        <p:spPr>
          <a:xfrm>
            <a:off x="3469894" y="199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21" name="Down Arrow 220">
            <a:extLst>
              <a:ext uri="{FF2B5EF4-FFF2-40B4-BE49-F238E27FC236}">
                <a16:creationId xmlns:a16="http://schemas.microsoft.com/office/drawing/2014/main" id="{123666BC-850F-5440-BFCE-47B8E5B5429B}"/>
              </a:ext>
            </a:extLst>
          </p:cNvPr>
          <p:cNvSpPr/>
          <p:nvPr/>
        </p:nvSpPr>
        <p:spPr>
          <a:xfrm rot="10800000">
            <a:off x="3007666" y="204993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TextBox 238">
            <a:extLst>
              <a:ext uri="{FF2B5EF4-FFF2-40B4-BE49-F238E27FC236}">
                <a16:creationId xmlns:a16="http://schemas.microsoft.com/office/drawing/2014/main" id="{A523F897-551A-8F49-B6AB-51DBFD3C53C0}"/>
              </a:ext>
            </a:extLst>
          </p:cNvPr>
          <p:cNvSpPr txBox="1"/>
          <p:nvPr/>
        </p:nvSpPr>
        <p:spPr>
          <a:xfrm>
            <a:off x="3599552" y="4796571"/>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250</a:t>
            </a:r>
          </a:p>
        </p:txBody>
      </p:sp>
      <p:sp>
        <p:nvSpPr>
          <p:cNvPr id="240" name="Down Arrow 239">
            <a:extLst>
              <a:ext uri="{FF2B5EF4-FFF2-40B4-BE49-F238E27FC236}">
                <a16:creationId xmlns:a16="http://schemas.microsoft.com/office/drawing/2014/main" id="{07DD916A-3850-9F4F-81C8-0C94788A77D2}"/>
              </a:ext>
            </a:extLst>
          </p:cNvPr>
          <p:cNvSpPr/>
          <p:nvPr/>
        </p:nvSpPr>
        <p:spPr>
          <a:xfrm rot="10800000">
            <a:off x="3096000" y="484745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extBox 240">
            <a:extLst>
              <a:ext uri="{FF2B5EF4-FFF2-40B4-BE49-F238E27FC236}">
                <a16:creationId xmlns:a16="http://schemas.microsoft.com/office/drawing/2014/main" id="{88F3874F-A130-C843-9E72-AFB2DD902123}"/>
              </a:ext>
            </a:extLst>
          </p:cNvPr>
          <p:cNvSpPr txBox="1"/>
          <p:nvPr/>
        </p:nvSpPr>
        <p:spPr>
          <a:xfrm>
            <a:off x="7487489" y="1462635"/>
            <a:ext cx="526106" cy="338554"/>
          </a:xfrm>
          <a:prstGeom prst="rect">
            <a:avLst/>
          </a:prstGeom>
          <a:noFill/>
        </p:spPr>
        <p:txBody>
          <a:bodyPr wrap="none" rtlCol="0">
            <a:spAutoFit/>
          </a:bodyPr>
          <a:lstStyle/>
          <a:p>
            <a:pPr algn="r"/>
            <a:r>
              <a:rPr lang="en-US" sz="1600" b="1">
                <a:solidFill>
                  <a:schemeClr val="accent2"/>
                </a:solidFill>
                <a:latin typeface="Avenir"/>
              </a:rPr>
              <a:t>250</a:t>
            </a:r>
          </a:p>
        </p:txBody>
      </p:sp>
      <p:sp>
        <p:nvSpPr>
          <p:cNvPr id="242" name="Down Arrow 241">
            <a:extLst>
              <a:ext uri="{FF2B5EF4-FFF2-40B4-BE49-F238E27FC236}">
                <a16:creationId xmlns:a16="http://schemas.microsoft.com/office/drawing/2014/main" id="{84AF3014-B3DD-BD46-8650-EE907DDD90EA}"/>
              </a:ext>
            </a:extLst>
          </p:cNvPr>
          <p:cNvSpPr/>
          <p:nvPr/>
        </p:nvSpPr>
        <p:spPr>
          <a:xfrm rot="10800000">
            <a:off x="6984000" y="14983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3" name="TextBox 242">
            <a:extLst>
              <a:ext uri="{FF2B5EF4-FFF2-40B4-BE49-F238E27FC236}">
                <a16:creationId xmlns:a16="http://schemas.microsoft.com/office/drawing/2014/main" id="{5B2E3768-A879-AE44-BA1D-3F82ECAC6E48}"/>
              </a:ext>
            </a:extLst>
          </p:cNvPr>
          <p:cNvSpPr txBox="1"/>
          <p:nvPr/>
        </p:nvSpPr>
        <p:spPr>
          <a:xfrm>
            <a:off x="9285817" y="1715500"/>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244" name="Down Arrow 243">
            <a:extLst>
              <a:ext uri="{FF2B5EF4-FFF2-40B4-BE49-F238E27FC236}">
                <a16:creationId xmlns:a16="http://schemas.microsoft.com/office/drawing/2014/main" id="{4574C5E5-4218-674B-8FB2-AB88F7FB3FDD}"/>
              </a:ext>
            </a:extLst>
          </p:cNvPr>
          <p:cNvSpPr/>
          <p:nvPr/>
        </p:nvSpPr>
        <p:spPr>
          <a:xfrm rot="10800000">
            <a:off x="8784000" y="1751173"/>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5" name="TextBox 244">
            <a:extLst>
              <a:ext uri="{FF2B5EF4-FFF2-40B4-BE49-F238E27FC236}">
                <a16:creationId xmlns:a16="http://schemas.microsoft.com/office/drawing/2014/main" id="{30F9F41D-65FA-3E4A-B645-18A9F04A48C7}"/>
              </a:ext>
            </a:extLst>
          </p:cNvPr>
          <p:cNvSpPr txBox="1"/>
          <p:nvPr/>
        </p:nvSpPr>
        <p:spPr>
          <a:xfrm>
            <a:off x="5269894" y="965882"/>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46" name="Down Arrow 245">
            <a:extLst>
              <a:ext uri="{FF2B5EF4-FFF2-40B4-BE49-F238E27FC236}">
                <a16:creationId xmlns:a16="http://schemas.microsoft.com/office/drawing/2014/main" id="{810B7F9B-FFF6-7646-B180-66C5E6B1ADE6}"/>
              </a:ext>
            </a:extLst>
          </p:cNvPr>
          <p:cNvSpPr/>
          <p:nvPr/>
        </p:nvSpPr>
        <p:spPr>
          <a:xfrm>
            <a:off x="4825605" y="10220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TextBox 246">
            <a:extLst>
              <a:ext uri="{FF2B5EF4-FFF2-40B4-BE49-F238E27FC236}">
                <a16:creationId xmlns:a16="http://schemas.microsoft.com/office/drawing/2014/main" id="{AA659AB1-43FB-D747-AC50-E4454DC4B036}"/>
              </a:ext>
            </a:extLst>
          </p:cNvPr>
          <p:cNvSpPr txBox="1"/>
          <p:nvPr/>
        </p:nvSpPr>
        <p:spPr>
          <a:xfrm>
            <a:off x="7543708" y="5375143"/>
            <a:ext cx="412292" cy="338554"/>
          </a:xfrm>
          <a:prstGeom prst="rect">
            <a:avLst/>
          </a:prstGeom>
          <a:noFill/>
        </p:spPr>
        <p:txBody>
          <a:bodyPr wrap="none" rtlCol="0">
            <a:spAutoFit/>
          </a:bodyPr>
          <a:lstStyle/>
          <a:p>
            <a:pPr algn="r"/>
            <a:r>
              <a:rPr lang="en-US" sz="1600" b="1">
                <a:solidFill>
                  <a:schemeClr val="accent2"/>
                </a:solidFill>
                <a:latin typeface="Avenir"/>
              </a:rPr>
              <a:t>90</a:t>
            </a:r>
          </a:p>
        </p:txBody>
      </p:sp>
      <p:sp>
        <p:nvSpPr>
          <p:cNvPr id="248" name="Down Arrow 247">
            <a:extLst>
              <a:ext uri="{FF2B5EF4-FFF2-40B4-BE49-F238E27FC236}">
                <a16:creationId xmlns:a16="http://schemas.microsoft.com/office/drawing/2014/main" id="{12BC87CD-B219-D944-A303-51AE7219B591}"/>
              </a:ext>
            </a:extLst>
          </p:cNvPr>
          <p:cNvSpPr/>
          <p:nvPr/>
        </p:nvSpPr>
        <p:spPr>
          <a:xfrm rot="10800000">
            <a:off x="6984000" y="5425275"/>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9" name="TextBox 248">
            <a:extLst>
              <a:ext uri="{FF2B5EF4-FFF2-40B4-BE49-F238E27FC236}">
                <a16:creationId xmlns:a16="http://schemas.microsoft.com/office/drawing/2014/main" id="{A2C44290-0620-2943-8A42-C52EE722BCBB}"/>
              </a:ext>
            </a:extLst>
          </p:cNvPr>
          <p:cNvSpPr txBox="1"/>
          <p:nvPr/>
        </p:nvSpPr>
        <p:spPr>
          <a:xfrm>
            <a:off x="8947923" y="1452209"/>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90</a:t>
            </a:r>
          </a:p>
        </p:txBody>
      </p:sp>
      <p:sp>
        <p:nvSpPr>
          <p:cNvPr id="250" name="Down Arrow 249">
            <a:extLst>
              <a:ext uri="{FF2B5EF4-FFF2-40B4-BE49-F238E27FC236}">
                <a16:creationId xmlns:a16="http://schemas.microsoft.com/office/drawing/2014/main" id="{99FBA779-2143-0245-85BB-6BF02CC500E6}"/>
              </a:ext>
            </a:extLst>
          </p:cNvPr>
          <p:cNvSpPr/>
          <p:nvPr/>
        </p:nvSpPr>
        <p:spPr>
          <a:xfrm>
            <a:off x="8784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51" name="TextBox 250">
            <a:extLst>
              <a:ext uri="{FF2B5EF4-FFF2-40B4-BE49-F238E27FC236}">
                <a16:creationId xmlns:a16="http://schemas.microsoft.com/office/drawing/2014/main" id="{42AF0AB4-8D2B-0143-996A-B4981D471025}"/>
              </a:ext>
            </a:extLst>
          </p:cNvPr>
          <p:cNvSpPr txBox="1"/>
          <p:nvPr/>
        </p:nvSpPr>
        <p:spPr>
          <a:xfrm>
            <a:off x="5383708" y="2869537"/>
            <a:ext cx="412292" cy="338554"/>
          </a:xfrm>
          <a:prstGeom prst="rect">
            <a:avLst/>
          </a:prstGeom>
          <a:noFill/>
        </p:spPr>
        <p:txBody>
          <a:bodyPr wrap="none" rtlCol="0">
            <a:spAutoFit/>
          </a:bodyPr>
          <a:lstStyle/>
          <a:p>
            <a:pPr algn="r"/>
            <a:r>
              <a:rPr lang="en-US" sz="1600" b="1">
                <a:solidFill>
                  <a:schemeClr val="accent2"/>
                </a:solidFill>
                <a:latin typeface="Avenir"/>
              </a:rPr>
              <a:t>30</a:t>
            </a:r>
          </a:p>
        </p:txBody>
      </p:sp>
      <p:sp>
        <p:nvSpPr>
          <p:cNvPr id="252" name="Down Arrow 251">
            <a:extLst>
              <a:ext uri="{FF2B5EF4-FFF2-40B4-BE49-F238E27FC236}">
                <a16:creationId xmlns:a16="http://schemas.microsoft.com/office/drawing/2014/main" id="{A7123581-9911-2E40-8E28-9FC2BB675D83}"/>
              </a:ext>
            </a:extLst>
          </p:cNvPr>
          <p:cNvSpPr/>
          <p:nvPr/>
        </p:nvSpPr>
        <p:spPr>
          <a:xfrm>
            <a:off x="4824000" y="29337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a:extLst>
              <a:ext uri="{FF2B5EF4-FFF2-40B4-BE49-F238E27FC236}">
                <a16:creationId xmlns:a16="http://schemas.microsoft.com/office/drawing/2014/main" id="{1F19AD71-5F84-1F46-AE8C-130720EF36F1}"/>
              </a:ext>
            </a:extLst>
          </p:cNvPr>
          <p:cNvSpPr txBox="1"/>
          <p:nvPr/>
        </p:nvSpPr>
        <p:spPr>
          <a:xfrm>
            <a:off x="5419708" y="5397501"/>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30</a:t>
            </a:r>
          </a:p>
        </p:txBody>
      </p:sp>
      <p:sp>
        <p:nvSpPr>
          <p:cNvPr id="254" name="Down Arrow 253">
            <a:extLst>
              <a:ext uri="{FF2B5EF4-FFF2-40B4-BE49-F238E27FC236}">
                <a16:creationId xmlns:a16="http://schemas.microsoft.com/office/drawing/2014/main" id="{21A7DE91-A1BB-F143-9944-47847F9AE787}"/>
              </a:ext>
            </a:extLst>
          </p:cNvPr>
          <p:cNvSpPr/>
          <p:nvPr/>
        </p:nvSpPr>
        <p:spPr>
          <a:xfrm rot="10800000">
            <a:off x="4860000" y="544838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TextBox 254">
            <a:extLst>
              <a:ext uri="{FF2B5EF4-FFF2-40B4-BE49-F238E27FC236}">
                <a16:creationId xmlns:a16="http://schemas.microsoft.com/office/drawing/2014/main" id="{05B1A396-D0F4-AF4A-BCBC-DE574C091153}"/>
              </a:ext>
            </a:extLst>
          </p:cNvPr>
          <p:cNvSpPr txBox="1"/>
          <p:nvPr/>
        </p:nvSpPr>
        <p:spPr>
          <a:xfrm>
            <a:off x="5269894" y="215709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800</a:t>
            </a:r>
          </a:p>
        </p:txBody>
      </p:sp>
      <p:sp>
        <p:nvSpPr>
          <p:cNvPr id="256" name="Down Arrow 255">
            <a:extLst>
              <a:ext uri="{FF2B5EF4-FFF2-40B4-BE49-F238E27FC236}">
                <a16:creationId xmlns:a16="http://schemas.microsoft.com/office/drawing/2014/main" id="{38C36F68-D429-D34F-9A05-65CE9CE1A050}"/>
              </a:ext>
            </a:extLst>
          </p:cNvPr>
          <p:cNvSpPr/>
          <p:nvPr/>
        </p:nvSpPr>
        <p:spPr>
          <a:xfrm rot="10800000">
            <a:off x="4824000" y="219837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TextBox 258">
            <a:extLst>
              <a:ext uri="{FF2B5EF4-FFF2-40B4-BE49-F238E27FC236}">
                <a16:creationId xmlns:a16="http://schemas.microsoft.com/office/drawing/2014/main" id="{17178582-0F2F-0E48-9096-C57B00200624}"/>
              </a:ext>
            </a:extLst>
          </p:cNvPr>
          <p:cNvSpPr txBox="1"/>
          <p:nvPr/>
        </p:nvSpPr>
        <p:spPr>
          <a:xfrm>
            <a:off x="1816755" y="5897226"/>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60" name="Down Arrow 259">
            <a:extLst>
              <a:ext uri="{FF2B5EF4-FFF2-40B4-BE49-F238E27FC236}">
                <a16:creationId xmlns:a16="http://schemas.microsoft.com/office/drawing/2014/main" id="{14A5B91A-41ED-424E-AFFC-4DC1EF5555A7}"/>
              </a:ext>
            </a:extLst>
          </p:cNvPr>
          <p:cNvSpPr/>
          <p:nvPr/>
        </p:nvSpPr>
        <p:spPr>
          <a:xfrm rot="10800000">
            <a:off x="1296000" y="594720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TextBox 260">
            <a:extLst>
              <a:ext uri="{FF2B5EF4-FFF2-40B4-BE49-F238E27FC236}">
                <a16:creationId xmlns:a16="http://schemas.microsoft.com/office/drawing/2014/main" id="{57E245BC-4FC8-B845-9D5B-E499FC4224AC}"/>
              </a:ext>
            </a:extLst>
          </p:cNvPr>
          <p:cNvSpPr txBox="1"/>
          <p:nvPr/>
        </p:nvSpPr>
        <p:spPr>
          <a:xfrm>
            <a:off x="3577894" y="5912376"/>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200</a:t>
            </a:r>
          </a:p>
        </p:txBody>
      </p:sp>
      <p:sp>
        <p:nvSpPr>
          <p:cNvPr id="262" name="Down Arrow 261">
            <a:extLst>
              <a:ext uri="{FF2B5EF4-FFF2-40B4-BE49-F238E27FC236}">
                <a16:creationId xmlns:a16="http://schemas.microsoft.com/office/drawing/2014/main" id="{9793E6F4-4628-D348-BD73-B45AA8F10CF4}"/>
              </a:ext>
            </a:extLst>
          </p:cNvPr>
          <p:cNvSpPr/>
          <p:nvPr/>
        </p:nvSpPr>
        <p:spPr>
          <a:xfrm rot="10800000">
            <a:off x="3096000" y="5963256"/>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TextBox 262">
            <a:extLst>
              <a:ext uri="{FF2B5EF4-FFF2-40B4-BE49-F238E27FC236}">
                <a16:creationId xmlns:a16="http://schemas.microsoft.com/office/drawing/2014/main" id="{42B80C80-A341-6940-8E9A-AB568387E8CE}"/>
              </a:ext>
            </a:extLst>
          </p:cNvPr>
          <p:cNvSpPr txBox="1"/>
          <p:nvPr/>
        </p:nvSpPr>
        <p:spPr>
          <a:xfrm>
            <a:off x="5269894" y="1906095"/>
            <a:ext cx="526106" cy="338554"/>
          </a:xfrm>
          <a:prstGeom prst="rect">
            <a:avLst/>
          </a:prstGeom>
          <a:noFill/>
        </p:spPr>
        <p:txBody>
          <a:bodyPr wrap="none" rtlCol="0">
            <a:spAutoFit/>
          </a:bodyPr>
          <a:lstStyle/>
          <a:p>
            <a:pPr algn="r"/>
            <a:r>
              <a:rPr lang="en-US" sz="1600" b="1">
                <a:solidFill>
                  <a:schemeClr val="accent2"/>
                </a:solidFill>
                <a:latin typeface="Avenir"/>
              </a:rPr>
              <a:t>200</a:t>
            </a:r>
          </a:p>
        </p:txBody>
      </p:sp>
      <p:sp>
        <p:nvSpPr>
          <p:cNvPr id="264" name="Down Arrow 263">
            <a:extLst>
              <a:ext uri="{FF2B5EF4-FFF2-40B4-BE49-F238E27FC236}">
                <a16:creationId xmlns:a16="http://schemas.microsoft.com/office/drawing/2014/main" id="{F638D17A-434B-E849-8978-BF635C049B7D}"/>
              </a:ext>
            </a:extLst>
          </p:cNvPr>
          <p:cNvSpPr/>
          <p:nvPr/>
        </p:nvSpPr>
        <p:spPr>
          <a:xfrm>
            <a:off x="4824000" y="195394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5" name="Group 274">
            <a:extLst>
              <a:ext uri="{FF2B5EF4-FFF2-40B4-BE49-F238E27FC236}">
                <a16:creationId xmlns:a16="http://schemas.microsoft.com/office/drawing/2014/main" id="{0453C8DB-4862-DB4A-B585-8CA95BFC63F2}"/>
              </a:ext>
            </a:extLst>
          </p:cNvPr>
          <p:cNvGrpSpPr>
            <a:grpSpLocks noChangeAspect="1"/>
          </p:cNvGrpSpPr>
          <p:nvPr/>
        </p:nvGrpSpPr>
        <p:grpSpPr>
          <a:xfrm>
            <a:off x="2528691" y="1497833"/>
            <a:ext cx="309700" cy="223917"/>
            <a:chOff x="756599" y="3715226"/>
            <a:chExt cx="321512" cy="232457"/>
          </a:xfrm>
        </p:grpSpPr>
        <p:sp>
          <p:nvSpPr>
            <p:cNvPr id="276" name="Oval 275">
              <a:extLst>
                <a:ext uri="{FF2B5EF4-FFF2-40B4-BE49-F238E27FC236}">
                  <a16:creationId xmlns:a16="http://schemas.microsoft.com/office/drawing/2014/main" id="{774D601C-555F-6541-9D58-035F53E13D4B}"/>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77" name="Rectangle 276">
              <a:extLst>
                <a:ext uri="{FF2B5EF4-FFF2-40B4-BE49-F238E27FC236}">
                  <a16:creationId xmlns:a16="http://schemas.microsoft.com/office/drawing/2014/main" id="{BA257676-24B8-1342-B932-23DDEB005B47}"/>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13</a:t>
              </a:r>
            </a:p>
          </p:txBody>
        </p:sp>
      </p:grpSp>
      <p:grpSp>
        <p:nvGrpSpPr>
          <p:cNvPr id="278" name="Group 277">
            <a:extLst>
              <a:ext uri="{FF2B5EF4-FFF2-40B4-BE49-F238E27FC236}">
                <a16:creationId xmlns:a16="http://schemas.microsoft.com/office/drawing/2014/main" id="{775D2738-1A15-3D43-963E-83A150D3DD08}"/>
              </a:ext>
            </a:extLst>
          </p:cNvPr>
          <p:cNvGrpSpPr>
            <a:grpSpLocks noChangeAspect="1"/>
          </p:cNvGrpSpPr>
          <p:nvPr/>
        </p:nvGrpSpPr>
        <p:grpSpPr>
          <a:xfrm>
            <a:off x="2528691" y="1763611"/>
            <a:ext cx="309700" cy="223916"/>
            <a:chOff x="756599" y="3715227"/>
            <a:chExt cx="321512" cy="232456"/>
          </a:xfrm>
        </p:grpSpPr>
        <p:sp>
          <p:nvSpPr>
            <p:cNvPr id="279" name="Oval 278">
              <a:extLst>
                <a:ext uri="{FF2B5EF4-FFF2-40B4-BE49-F238E27FC236}">
                  <a16:creationId xmlns:a16="http://schemas.microsoft.com/office/drawing/2014/main" id="{E14654BD-BDE4-0748-912C-22432B5DD3D8}"/>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0" name="Rectangle 279">
              <a:extLst>
                <a:ext uri="{FF2B5EF4-FFF2-40B4-BE49-F238E27FC236}">
                  <a16:creationId xmlns:a16="http://schemas.microsoft.com/office/drawing/2014/main" id="{6A79CA8D-AC8C-2649-8D3F-6C8279757C83}"/>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281" name="Group 280">
            <a:extLst>
              <a:ext uri="{FF2B5EF4-FFF2-40B4-BE49-F238E27FC236}">
                <a16:creationId xmlns:a16="http://schemas.microsoft.com/office/drawing/2014/main" id="{038C4DBA-DFAC-4340-8960-9AF8BB8FC7AF}"/>
              </a:ext>
            </a:extLst>
          </p:cNvPr>
          <p:cNvGrpSpPr>
            <a:grpSpLocks noChangeAspect="1"/>
          </p:cNvGrpSpPr>
          <p:nvPr/>
        </p:nvGrpSpPr>
        <p:grpSpPr>
          <a:xfrm>
            <a:off x="2528691" y="2037441"/>
            <a:ext cx="309700" cy="223916"/>
            <a:chOff x="756599" y="3715227"/>
            <a:chExt cx="321512" cy="232456"/>
          </a:xfrm>
        </p:grpSpPr>
        <p:sp>
          <p:nvSpPr>
            <p:cNvPr id="282" name="Oval 281">
              <a:extLst>
                <a:ext uri="{FF2B5EF4-FFF2-40B4-BE49-F238E27FC236}">
                  <a16:creationId xmlns:a16="http://schemas.microsoft.com/office/drawing/2014/main" id="{D97D5EE0-8446-1244-A657-E9DBF68238D5}"/>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3" name="Rectangle 282">
              <a:extLst>
                <a:ext uri="{FF2B5EF4-FFF2-40B4-BE49-F238E27FC236}">
                  <a16:creationId xmlns:a16="http://schemas.microsoft.com/office/drawing/2014/main" id="{56AA7E7C-0592-B744-AFA9-D3A064F8B33C}"/>
                </a:ext>
              </a:extLst>
            </p:cNvPr>
            <p:cNvSpPr/>
            <p:nvPr/>
          </p:nvSpPr>
          <p:spPr>
            <a:xfrm>
              <a:off x="756599" y="3724022"/>
              <a:ext cx="321512" cy="223661"/>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284" name="Group 283">
            <a:extLst>
              <a:ext uri="{FF2B5EF4-FFF2-40B4-BE49-F238E27FC236}">
                <a16:creationId xmlns:a16="http://schemas.microsoft.com/office/drawing/2014/main" id="{C90B4E07-594A-A14A-8963-85FDC07BC01C}"/>
              </a:ext>
            </a:extLst>
          </p:cNvPr>
          <p:cNvGrpSpPr>
            <a:grpSpLocks/>
          </p:cNvGrpSpPr>
          <p:nvPr/>
        </p:nvGrpSpPr>
        <p:grpSpPr>
          <a:xfrm>
            <a:off x="2568712" y="2307277"/>
            <a:ext cx="247184" cy="223916"/>
            <a:chOff x="797287" y="3715227"/>
            <a:chExt cx="256611" cy="232456"/>
          </a:xfrm>
        </p:grpSpPr>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810780" y="3715227"/>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797287" y="3724022"/>
              <a:ext cx="256611" cy="223661"/>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287" name="Group 286">
            <a:extLst>
              <a:ext uri="{FF2B5EF4-FFF2-40B4-BE49-F238E27FC236}">
                <a16:creationId xmlns:a16="http://schemas.microsoft.com/office/drawing/2014/main" id="{BE926AC0-ACF9-5740-BF86-F896C99583F8}"/>
              </a:ext>
            </a:extLst>
          </p:cNvPr>
          <p:cNvGrpSpPr>
            <a:grpSpLocks noChangeAspect="1"/>
          </p:cNvGrpSpPr>
          <p:nvPr/>
        </p:nvGrpSpPr>
        <p:grpSpPr>
          <a:xfrm>
            <a:off x="2530414" y="2567405"/>
            <a:ext cx="300083" cy="223917"/>
            <a:chOff x="761592" y="3715226"/>
            <a:chExt cx="311527" cy="232457"/>
          </a:xfrm>
        </p:grpSpPr>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810780" y="3715226"/>
              <a:ext cx="224238" cy="224238"/>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761592" y="3724022"/>
              <a:ext cx="311527" cy="223661"/>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290" name="Group 289">
            <a:extLst>
              <a:ext uri="{FF2B5EF4-FFF2-40B4-BE49-F238E27FC236}">
                <a16:creationId xmlns:a16="http://schemas.microsoft.com/office/drawing/2014/main" id="{38EED77C-46A6-6E47-A051-2199A74CA1A8}"/>
              </a:ext>
            </a:extLst>
          </p:cNvPr>
          <p:cNvGrpSpPr>
            <a:grpSpLocks noChangeAspect="1"/>
          </p:cNvGrpSpPr>
          <p:nvPr/>
        </p:nvGrpSpPr>
        <p:grpSpPr>
          <a:xfrm>
            <a:off x="2574025" y="2841900"/>
            <a:ext cx="245580" cy="224238"/>
            <a:chOff x="802803" y="3715228"/>
            <a:chExt cx="245580" cy="224238"/>
          </a:xfrm>
        </p:grpSpPr>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293" name="Group 292">
            <a:extLst>
              <a:ext uri="{FF2B5EF4-FFF2-40B4-BE49-F238E27FC236}">
                <a16:creationId xmlns:a16="http://schemas.microsoft.com/office/drawing/2014/main" id="{7EA12345-64B4-9B4F-80EB-C2490FE51E5A}"/>
              </a:ext>
            </a:extLst>
          </p:cNvPr>
          <p:cNvGrpSpPr>
            <a:grpSpLocks noChangeAspect="1"/>
          </p:cNvGrpSpPr>
          <p:nvPr/>
        </p:nvGrpSpPr>
        <p:grpSpPr>
          <a:xfrm>
            <a:off x="2574025" y="3121887"/>
            <a:ext cx="245580" cy="224238"/>
            <a:chOff x="802803" y="3715228"/>
            <a:chExt cx="245580" cy="224238"/>
          </a:xfrm>
        </p:grpSpPr>
        <p:sp>
          <p:nvSpPr>
            <p:cNvPr id="294" name="Oval 293">
              <a:extLst>
                <a:ext uri="{FF2B5EF4-FFF2-40B4-BE49-F238E27FC236}">
                  <a16:creationId xmlns:a16="http://schemas.microsoft.com/office/drawing/2014/main" id="{9D60FA63-7E57-514B-B70F-35F1B62DC48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296" name="Group 295">
            <a:extLst>
              <a:ext uri="{FF2B5EF4-FFF2-40B4-BE49-F238E27FC236}">
                <a16:creationId xmlns:a16="http://schemas.microsoft.com/office/drawing/2014/main" id="{268F4D50-BB31-204D-9E04-6E1CD0EFBD66}"/>
              </a:ext>
            </a:extLst>
          </p:cNvPr>
          <p:cNvGrpSpPr>
            <a:grpSpLocks noChangeAspect="1"/>
          </p:cNvGrpSpPr>
          <p:nvPr/>
        </p:nvGrpSpPr>
        <p:grpSpPr>
          <a:xfrm>
            <a:off x="2574025" y="3385828"/>
            <a:ext cx="245580" cy="224238"/>
            <a:chOff x="802803" y="3715228"/>
            <a:chExt cx="245580" cy="224238"/>
          </a:xfrm>
        </p:grpSpPr>
        <p:sp>
          <p:nvSpPr>
            <p:cNvPr id="297" name="Oval 296">
              <a:extLst>
                <a:ext uri="{FF2B5EF4-FFF2-40B4-BE49-F238E27FC236}">
                  <a16:creationId xmlns:a16="http://schemas.microsoft.com/office/drawing/2014/main" id="{782A7A6F-7C88-A64A-BBBA-21033EE930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299" name="Group 298">
            <a:extLst>
              <a:ext uri="{FF2B5EF4-FFF2-40B4-BE49-F238E27FC236}">
                <a16:creationId xmlns:a16="http://schemas.microsoft.com/office/drawing/2014/main" id="{7165C54F-DEEF-8E4F-8153-F26E8569CBA2}"/>
              </a:ext>
            </a:extLst>
          </p:cNvPr>
          <p:cNvGrpSpPr>
            <a:grpSpLocks noChangeAspect="1"/>
          </p:cNvGrpSpPr>
          <p:nvPr/>
        </p:nvGrpSpPr>
        <p:grpSpPr>
          <a:xfrm>
            <a:off x="2574025" y="3649299"/>
            <a:ext cx="245580" cy="224238"/>
            <a:chOff x="802803" y="3715228"/>
            <a:chExt cx="245580" cy="224238"/>
          </a:xfrm>
        </p:grpSpPr>
        <p:sp>
          <p:nvSpPr>
            <p:cNvPr id="300" name="Oval 299">
              <a:extLst>
                <a:ext uri="{FF2B5EF4-FFF2-40B4-BE49-F238E27FC236}">
                  <a16:creationId xmlns:a16="http://schemas.microsoft.com/office/drawing/2014/main" id="{F7EA4154-958E-F04F-AE3B-F6F38D3B0CF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2" name="Group 301">
            <a:extLst>
              <a:ext uri="{FF2B5EF4-FFF2-40B4-BE49-F238E27FC236}">
                <a16:creationId xmlns:a16="http://schemas.microsoft.com/office/drawing/2014/main" id="{EB39509A-6AED-B54E-8E0C-F78CAD8D721A}"/>
              </a:ext>
            </a:extLst>
          </p:cNvPr>
          <p:cNvGrpSpPr/>
          <p:nvPr/>
        </p:nvGrpSpPr>
        <p:grpSpPr>
          <a:xfrm>
            <a:off x="10117559" y="1755851"/>
            <a:ext cx="245580" cy="224238"/>
            <a:chOff x="802803" y="3715228"/>
            <a:chExt cx="245580" cy="224238"/>
          </a:xfrm>
        </p:grpSpPr>
        <p:sp>
          <p:nvSpPr>
            <p:cNvPr id="303" name="Oval 302">
              <a:extLst>
                <a:ext uri="{FF2B5EF4-FFF2-40B4-BE49-F238E27FC236}">
                  <a16:creationId xmlns:a16="http://schemas.microsoft.com/office/drawing/2014/main" id="{99D93E88-A37F-6340-9178-872858ADD56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grpSp>
      <p:grpSp>
        <p:nvGrpSpPr>
          <p:cNvPr id="305" name="Group 304">
            <a:extLst>
              <a:ext uri="{FF2B5EF4-FFF2-40B4-BE49-F238E27FC236}">
                <a16:creationId xmlns:a16="http://schemas.microsoft.com/office/drawing/2014/main" id="{78069252-B7CC-2040-ACB1-7ABB3C535C16}"/>
              </a:ext>
            </a:extLst>
          </p:cNvPr>
          <p:cNvGrpSpPr/>
          <p:nvPr/>
        </p:nvGrpSpPr>
        <p:grpSpPr>
          <a:xfrm>
            <a:off x="10116000" y="3650400"/>
            <a:ext cx="245580" cy="224238"/>
            <a:chOff x="802803" y="3715228"/>
            <a:chExt cx="245580" cy="224238"/>
          </a:xfrm>
        </p:grpSpPr>
        <p:sp>
          <p:nvSpPr>
            <p:cNvPr id="306" name="Oval 305">
              <a:extLst>
                <a:ext uri="{FF2B5EF4-FFF2-40B4-BE49-F238E27FC236}">
                  <a16:creationId xmlns:a16="http://schemas.microsoft.com/office/drawing/2014/main" id="{B5B11F87-FF18-FA41-B3A7-F478BDA13F9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grpSp>
      <p:grpSp>
        <p:nvGrpSpPr>
          <p:cNvPr id="308" name="Group 307">
            <a:extLst>
              <a:ext uri="{FF2B5EF4-FFF2-40B4-BE49-F238E27FC236}">
                <a16:creationId xmlns:a16="http://schemas.microsoft.com/office/drawing/2014/main" id="{F5AC7503-8D5E-744A-9A74-F94440BE2E73}"/>
              </a:ext>
            </a:extLst>
          </p:cNvPr>
          <p:cNvGrpSpPr/>
          <p:nvPr/>
        </p:nvGrpSpPr>
        <p:grpSpPr>
          <a:xfrm>
            <a:off x="10117837" y="1489299"/>
            <a:ext cx="245580" cy="224238"/>
            <a:chOff x="802803" y="3715228"/>
            <a:chExt cx="245580" cy="224238"/>
          </a:xfrm>
        </p:grpSpPr>
        <p:sp>
          <p:nvSpPr>
            <p:cNvPr id="309" name="Oval 308">
              <a:extLst>
                <a:ext uri="{FF2B5EF4-FFF2-40B4-BE49-F238E27FC236}">
                  <a16:creationId xmlns:a16="http://schemas.microsoft.com/office/drawing/2014/main" id="{34C499B5-5C08-3940-8365-A8491CC03E7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grpSp>
      <p:grpSp>
        <p:nvGrpSpPr>
          <p:cNvPr id="311" name="Group 310">
            <a:extLst>
              <a:ext uri="{FF2B5EF4-FFF2-40B4-BE49-F238E27FC236}">
                <a16:creationId xmlns:a16="http://schemas.microsoft.com/office/drawing/2014/main" id="{D1B5E61B-6B3D-5249-8AED-4BAE98B63F4F}"/>
              </a:ext>
            </a:extLst>
          </p:cNvPr>
          <p:cNvGrpSpPr/>
          <p:nvPr/>
        </p:nvGrpSpPr>
        <p:grpSpPr>
          <a:xfrm>
            <a:off x="6553087" y="1741845"/>
            <a:ext cx="245580" cy="224238"/>
            <a:chOff x="802803" y="3715228"/>
            <a:chExt cx="245580" cy="224238"/>
          </a:xfrm>
        </p:grpSpPr>
        <p:sp>
          <p:nvSpPr>
            <p:cNvPr id="312" name="Oval 311">
              <a:extLst>
                <a:ext uri="{FF2B5EF4-FFF2-40B4-BE49-F238E27FC236}">
                  <a16:creationId xmlns:a16="http://schemas.microsoft.com/office/drawing/2014/main" id="{8982AEFD-B198-C44C-804D-A50629792334}"/>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4" name="Group 313">
            <a:extLst>
              <a:ext uri="{FF2B5EF4-FFF2-40B4-BE49-F238E27FC236}">
                <a16:creationId xmlns:a16="http://schemas.microsoft.com/office/drawing/2014/main" id="{5C2EBE43-9510-914B-AD3F-CFAE3C0523CD}"/>
              </a:ext>
            </a:extLst>
          </p:cNvPr>
          <p:cNvGrpSpPr/>
          <p:nvPr/>
        </p:nvGrpSpPr>
        <p:grpSpPr>
          <a:xfrm>
            <a:off x="784605" y="3629276"/>
            <a:ext cx="245580" cy="224238"/>
            <a:chOff x="802803" y="3715228"/>
            <a:chExt cx="245580" cy="224238"/>
          </a:xfrm>
        </p:grpSpPr>
        <p:sp>
          <p:nvSpPr>
            <p:cNvPr id="315" name="Oval 314">
              <a:extLst>
                <a:ext uri="{FF2B5EF4-FFF2-40B4-BE49-F238E27FC236}">
                  <a16:creationId xmlns:a16="http://schemas.microsoft.com/office/drawing/2014/main" id="{C69056FF-AC70-2E48-A272-306CC1A4981B}"/>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grpSp>
      <p:grpSp>
        <p:nvGrpSpPr>
          <p:cNvPr id="317" name="Group 316">
            <a:extLst>
              <a:ext uri="{FF2B5EF4-FFF2-40B4-BE49-F238E27FC236}">
                <a16:creationId xmlns:a16="http://schemas.microsoft.com/office/drawing/2014/main" id="{9FB76A26-C3D9-AD43-8E15-C910B24A33A0}"/>
              </a:ext>
            </a:extLst>
          </p:cNvPr>
          <p:cNvGrpSpPr/>
          <p:nvPr/>
        </p:nvGrpSpPr>
        <p:grpSpPr>
          <a:xfrm>
            <a:off x="4359077" y="3641899"/>
            <a:ext cx="245580" cy="224238"/>
            <a:chOff x="802803" y="3715228"/>
            <a:chExt cx="245580" cy="224238"/>
          </a:xfrm>
        </p:grpSpPr>
        <p:sp>
          <p:nvSpPr>
            <p:cNvPr id="318" name="Oval 317">
              <a:extLst>
                <a:ext uri="{FF2B5EF4-FFF2-40B4-BE49-F238E27FC236}">
                  <a16:creationId xmlns:a16="http://schemas.microsoft.com/office/drawing/2014/main" id="{569692DC-9844-0D42-9853-133F95FB4AB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grpSp>
      <p:grpSp>
        <p:nvGrpSpPr>
          <p:cNvPr id="320" name="Group 319">
            <a:extLst>
              <a:ext uri="{FF2B5EF4-FFF2-40B4-BE49-F238E27FC236}">
                <a16:creationId xmlns:a16="http://schemas.microsoft.com/office/drawing/2014/main" id="{CA9CDBE1-AA99-CC41-BBF1-135E8C45247C}"/>
              </a:ext>
            </a:extLst>
          </p:cNvPr>
          <p:cNvGrpSpPr/>
          <p:nvPr/>
        </p:nvGrpSpPr>
        <p:grpSpPr>
          <a:xfrm>
            <a:off x="6484980" y="5931080"/>
            <a:ext cx="300082" cy="224238"/>
            <a:chOff x="775552" y="3715228"/>
            <a:chExt cx="300082" cy="224238"/>
          </a:xfrm>
        </p:grpSpPr>
        <p:sp>
          <p:nvSpPr>
            <p:cNvPr id="321" name="Oval 320">
              <a:extLst>
                <a:ext uri="{FF2B5EF4-FFF2-40B4-BE49-F238E27FC236}">
                  <a16:creationId xmlns:a16="http://schemas.microsoft.com/office/drawing/2014/main" id="{398C46BB-3A50-ED44-A443-D03AC54BAB4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grpSp>
      <p:grpSp>
        <p:nvGrpSpPr>
          <p:cNvPr id="323" name="Group 322">
            <a:extLst>
              <a:ext uri="{FF2B5EF4-FFF2-40B4-BE49-F238E27FC236}">
                <a16:creationId xmlns:a16="http://schemas.microsoft.com/office/drawing/2014/main" id="{3BEB143C-2DFE-5D4F-A0DE-3CB7F93AD79F}"/>
              </a:ext>
            </a:extLst>
          </p:cNvPr>
          <p:cNvGrpSpPr/>
          <p:nvPr/>
        </p:nvGrpSpPr>
        <p:grpSpPr>
          <a:xfrm>
            <a:off x="4325561" y="3388584"/>
            <a:ext cx="309700" cy="224238"/>
            <a:chOff x="770743" y="3715228"/>
            <a:chExt cx="309700" cy="224238"/>
          </a:xfrm>
        </p:grpSpPr>
        <p:sp>
          <p:nvSpPr>
            <p:cNvPr id="324" name="Oval 323">
              <a:extLst>
                <a:ext uri="{FF2B5EF4-FFF2-40B4-BE49-F238E27FC236}">
                  <a16:creationId xmlns:a16="http://schemas.microsoft.com/office/drawing/2014/main" id="{9BD5CC4F-FE4D-7943-A1CC-DFDF51B6191E}"/>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6" name="Group 325">
            <a:extLst>
              <a:ext uri="{FF2B5EF4-FFF2-40B4-BE49-F238E27FC236}">
                <a16:creationId xmlns:a16="http://schemas.microsoft.com/office/drawing/2014/main" id="{4EA10479-53C4-274D-9BE6-66DA200A4D16}"/>
              </a:ext>
            </a:extLst>
          </p:cNvPr>
          <p:cNvGrpSpPr/>
          <p:nvPr/>
        </p:nvGrpSpPr>
        <p:grpSpPr>
          <a:xfrm>
            <a:off x="4372912" y="5940000"/>
            <a:ext cx="309700" cy="224238"/>
            <a:chOff x="770743" y="3715228"/>
            <a:chExt cx="309700" cy="224238"/>
          </a:xfrm>
        </p:grpSpPr>
        <p:sp>
          <p:nvSpPr>
            <p:cNvPr id="327" name="Oval 326">
              <a:extLst>
                <a:ext uri="{FF2B5EF4-FFF2-40B4-BE49-F238E27FC236}">
                  <a16:creationId xmlns:a16="http://schemas.microsoft.com/office/drawing/2014/main" id="{B44D8AB9-25F3-2E48-9074-14E6DBD363A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grpSp>
      <p:grpSp>
        <p:nvGrpSpPr>
          <p:cNvPr id="329" name="Group 328">
            <a:extLst>
              <a:ext uri="{FF2B5EF4-FFF2-40B4-BE49-F238E27FC236}">
                <a16:creationId xmlns:a16="http://schemas.microsoft.com/office/drawing/2014/main" id="{E15F7DE2-F1EB-C94A-AE48-4487C8B506B6}"/>
              </a:ext>
            </a:extLst>
          </p:cNvPr>
          <p:cNvGrpSpPr/>
          <p:nvPr/>
        </p:nvGrpSpPr>
        <p:grpSpPr>
          <a:xfrm>
            <a:off x="4330045" y="3136880"/>
            <a:ext cx="309700" cy="224238"/>
            <a:chOff x="770743" y="3715228"/>
            <a:chExt cx="309700" cy="224238"/>
          </a:xfrm>
        </p:grpSpPr>
        <p:sp>
          <p:nvSpPr>
            <p:cNvPr id="330" name="Oval 329">
              <a:extLst>
                <a:ext uri="{FF2B5EF4-FFF2-40B4-BE49-F238E27FC236}">
                  <a16:creationId xmlns:a16="http://schemas.microsoft.com/office/drawing/2014/main" id="{920E5E24-BE4B-BC48-AFD2-943FE12CD729}"/>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2" name="Group 331">
            <a:extLst>
              <a:ext uri="{FF2B5EF4-FFF2-40B4-BE49-F238E27FC236}">
                <a16:creationId xmlns:a16="http://schemas.microsoft.com/office/drawing/2014/main" id="{7924029E-A5DC-CB49-8E0F-74B666CD5BDE}"/>
              </a:ext>
            </a:extLst>
          </p:cNvPr>
          <p:cNvGrpSpPr/>
          <p:nvPr/>
        </p:nvGrpSpPr>
        <p:grpSpPr>
          <a:xfrm>
            <a:off x="4377396" y="5681195"/>
            <a:ext cx="309700" cy="224238"/>
            <a:chOff x="770743" y="3715228"/>
            <a:chExt cx="309700" cy="224238"/>
          </a:xfrm>
        </p:grpSpPr>
        <p:sp>
          <p:nvSpPr>
            <p:cNvPr id="333" name="Oval 332">
              <a:extLst>
                <a:ext uri="{FF2B5EF4-FFF2-40B4-BE49-F238E27FC236}">
                  <a16:creationId xmlns:a16="http://schemas.microsoft.com/office/drawing/2014/main" id="{5234A744-315A-EC44-BDF0-AAAA223BA63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grpSp>
      <p:grpSp>
        <p:nvGrpSpPr>
          <p:cNvPr id="335" name="Group 334">
            <a:extLst>
              <a:ext uri="{FF2B5EF4-FFF2-40B4-BE49-F238E27FC236}">
                <a16:creationId xmlns:a16="http://schemas.microsoft.com/office/drawing/2014/main" id="{067E8254-2E00-4348-B74D-2F24011631C6}"/>
              </a:ext>
            </a:extLst>
          </p:cNvPr>
          <p:cNvGrpSpPr>
            <a:grpSpLocks noChangeAspect="1"/>
          </p:cNvGrpSpPr>
          <p:nvPr/>
        </p:nvGrpSpPr>
        <p:grpSpPr>
          <a:xfrm>
            <a:off x="4298376" y="2880000"/>
            <a:ext cx="368899" cy="223200"/>
            <a:chOff x="740286" y="3715228"/>
            <a:chExt cx="370615" cy="224238"/>
          </a:xfrm>
        </p:grpSpPr>
        <p:sp>
          <p:nvSpPr>
            <p:cNvPr id="336" name="Oval 335">
              <a:extLst>
                <a:ext uri="{FF2B5EF4-FFF2-40B4-BE49-F238E27FC236}">
                  <a16:creationId xmlns:a16="http://schemas.microsoft.com/office/drawing/2014/main" id="{C60F2B82-C705-134A-AEE1-E87F808B3E3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7" name="Rectangle 336">
              <a:extLst>
                <a:ext uri="{FF2B5EF4-FFF2-40B4-BE49-F238E27FC236}">
                  <a16:creationId xmlns:a16="http://schemas.microsoft.com/office/drawing/2014/main" id="{1C1DF2F7-5ABA-1546-94EF-20C60AF814A3}"/>
                </a:ext>
              </a:extLst>
            </p:cNvPr>
            <p:cNvSpPr/>
            <p:nvPr/>
          </p:nvSpPr>
          <p:spPr>
            <a:xfrm>
              <a:off x="740286" y="3724022"/>
              <a:ext cx="370615" cy="215444"/>
            </a:xfrm>
            <a:prstGeom prst="rect">
              <a:avLst/>
            </a:prstGeom>
          </p:spPr>
          <p:txBody>
            <a:bodyPr wrap="none">
              <a:spAutoFit/>
            </a:bodyPr>
            <a:lstStyle/>
            <a:p>
              <a:pPr algn="ctr"/>
              <a:r>
                <a:rPr lang="en-US" sz="800" b="1">
                  <a:solidFill>
                    <a:schemeClr val="tx1">
                      <a:lumMod val="50000"/>
                      <a:lumOff val="50000"/>
                    </a:schemeClr>
                  </a:solidFill>
                  <a:latin typeface="Avenir"/>
                </a:rPr>
                <a:t>12b</a:t>
              </a:r>
            </a:p>
          </p:txBody>
        </p:sp>
      </p:grpSp>
      <p:grpSp>
        <p:nvGrpSpPr>
          <p:cNvPr id="338" name="Group 337">
            <a:extLst>
              <a:ext uri="{FF2B5EF4-FFF2-40B4-BE49-F238E27FC236}">
                <a16:creationId xmlns:a16="http://schemas.microsoft.com/office/drawing/2014/main" id="{8B4FBB61-B1C8-2944-944E-209A07F65AB8}"/>
              </a:ext>
            </a:extLst>
          </p:cNvPr>
          <p:cNvGrpSpPr/>
          <p:nvPr/>
        </p:nvGrpSpPr>
        <p:grpSpPr>
          <a:xfrm>
            <a:off x="4345727" y="5432633"/>
            <a:ext cx="370614" cy="347348"/>
            <a:chOff x="740286" y="3715228"/>
            <a:chExt cx="370614" cy="347348"/>
          </a:xfrm>
        </p:grpSpPr>
        <p:sp>
          <p:nvSpPr>
            <p:cNvPr id="339" name="Oval 338">
              <a:extLst>
                <a:ext uri="{FF2B5EF4-FFF2-40B4-BE49-F238E27FC236}">
                  <a16:creationId xmlns:a16="http://schemas.microsoft.com/office/drawing/2014/main" id="{03770F02-78FE-664F-9B19-E8B021D1E4D7}"/>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0" name="Rectangle 339">
              <a:extLst>
                <a:ext uri="{FF2B5EF4-FFF2-40B4-BE49-F238E27FC236}">
                  <a16:creationId xmlns:a16="http://schemas.microsoft.com/office/drawing/2014/main" id="{8B246DE0-B9D9-B54D-A064-CB89E165C09F}"/>
                </a:ext>
              </a:extLst>
            </p:cNvPr>
            <p:cNvSpPr/>
            <p:nvPr/>
          </p:nvSpPr>
          <p:spPr>
            <a:xfrm>
              <a:off x="740286" y="3724022"/>
              <a:ext cx="370614" cy="338554"/>
            </a:xfrm>
            <a:prstGeom prst="rect">
              <a:avLst/>
            </a:prstGeom>
          </p:spPr>
          <p:txBody>
            <a:bodyPr wrap="none">
              <a:spAutoFit/>
            </a:bodyPr>
            <a:lstStyle/>
            <a:p>
              <a:pPr algn="ctr"/>
              <a:r>
                <a:rPr lang="en-US" sz="800" b="1">
                  <a:solidFill>
                    <a:schemeClr val="tx1">
                      <a:lumMod val="50000"/>
                      <a:lumOff val="50000"/>
                    </a:schemeClr>
                  </a:solidFill>
                  <a:latin typeface="Avenir"/>
                </a:rPr>
                <a:t>12b</a:t>
              </a:r>
            </a:p>
            <a:p>
              <a:pPr algn="ctr"/>
              <a:endParaRPr lang="en-US" sz="800" b="1">
                <a:solidFill>
                  <a:schemeClr val="tx1">
                    <a:lumMod val="50000"/>
                    <a:lumOff val="50000"/>
                  </a:schemeClr>
                </a:solidFill>
                <a:latin typeface="Avenir"/>
              </a:endParaRPr>
            </a:p>
          </p:txBody>
        </p:sp>
      </p:grpSp>
      <p:grpSp>
        <p:nvGrpSpPr>
          <p:cNvPr id="341" name="Group 340">
            <a:extLst>
              <a:ext uri="{FF2B5EF4-FFF2-40B4-BE49-F238E27FC236}">
                <a16:creationId xmlns:a16="http://schemas.microsoft.com/office/drawing/2014/main" id="{E77E441B-047E-CE46-A25B-28311776F8F4}"/>
              </a:ext>
            </a:extLst>
          </p:cNvPr>
          <p:cNvGrpSpPr/>
          <p:nvPr/>
        </p:nvGrpSpPr>
        <p:grpSpPr>
          <a:xfrm>
            <a:off x="6484980" y="5676798"/>
            <a:ext cx="300082" cy="224238"/>
            <a:chOff x="775552" y="3715228"/>
            <a:chExt cx="300082" cy="224238"/>
          </a:xfrm>
        </p:grpSpPr>
        <p:sp>
          <p:nvSpPr>
            <p:cNvPr id="342" name="Oval 341">
              <a:extLst>
                <a:ext uri="{FF2B5EF4-FFF2-40B4-BE49-F238E27FC236}">
                  <a16:creationId xmlns:a16="http://schemas.microsoft.com/office/drawing/2014/main" id="{1B02B6B2-B69E-7842-9D28-1C7E8CB1A281}"/>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44" name="Group 343">
            <a:extLst>
              <a:ext uri="{FF2B5EF4-FFF2-40B4-BE49-F238E27FC236}">
                <a16:creationId xmlns:a16="http://schemas.microsoft.com/office/drawing/2014/main" id="{F71B1C50-265E-F34D-AF22-A2B539B0A891}"/>
              </a:ext>
            </a:extLst>
          </p:cNvPr>
          <p:cNvGrpSpPr/>
          <p:nvPr/>
        </p:nvGrpSpPr>
        <p:grpSpPr>
          <a:xfrm>
            <a:off x="6448807" y="5416132"/>
            <a:ext cx="360996" cy="224238"/>
            <a:chOff x="736857" y="3715228"/>
            <a:chExt cx="360996" cy="224238"/>
          </a:xfrm>
        </p:grpSpPr>
        <p:sp>
          <p:nvSpPr>
            <p:cNvPr id="345" name="Oval 344">
              <a:extLst>
                <a:ext uri="{FF2B5EF4-FFF2-40B4-BE49-F238E27FC236}">
                  <a16:creationId xmlns:a16="http://schemas.microsoft.com/office/drawing/2014/main" id="{498E50BA-F1A1-524A-B905-153FA186C0CC}"/>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6" name="Rectangle 345">
              <a:extLst>
                <a:ext uri="{FF2B5EF4-FFF2-40B4-BE49-F238E27FC236}">
                  <a16:creationId xmlns:a16="http://schemas.microsoft.com/office/drawing/2014/main" id="{55D9C7D2-EAAC-644E-997D-9755B758C142}"/>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grpSp>
        <p:nvGrpSpPr>
          <p:cNvPr id="347" name="Group 346">
            <a:extLst>
              <a:ext uri="{FF2B5EF4-FFF2-40B4-BE49-F238E27FC236}">
                <a16:creationId xmlns:a16="http://schemas.microsoft.com/office/drawing/2014/main" id="{0CCC7D28-1F7A-7149-AAF0-4EED59597E2F}"/>
              </a:ext>
            </a:extLst>
          </p:cNvPr>
          <p:cNvGrpSpPr/>
          <p:nvPr/>
        </p:nvGrpSpPr>
        <p:grpSpPr>
          <a:xfrm>
            <a:off x="2681463" y="5057611"/>
            <a:ext cx="245580" cy="224238"/>
            <a:chOff x="802803" y="3715228"/>
            <a:chExt cx="245580" cy="224238"/>
          </a:xfrm>
        </p:grpSpPr>
        <p:sp>
          <p:nvSpPr>
            <p:cNvPr id="348" name="Oval 347">
              <a:extLst>
                <a:ext uri="{FF2B5EF4-FFF2-40B4-BE49-F238E27FC236}">
                  <a16:creationId xmlns:a16="http://schemas.microsoft.com/office/drawing/2014/main" id="{6762E7B6-B27B-C941-ABAC-597F1AC73B95}"/>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grpSp>
      <p:grpSp>
        <p:nvGrpSpPr>
          <p:cNvPr id="350" name="Group 349">
            <a:extLst>
              <a:ext uri="{FF2B5EF4-FFF2-40B4-BE49-F238E27FC236}">
                <a16:creationId xmlns:a16="http://schemas.microsoft.com/office/drawing/2014/main" id="{9432C11D-E364-C746-985A-2AD5B5DB149E}"/>
              </a:ext>
            </a:extLst>
          </p:cNvPr>
          <p:cNvGrpSpPr/>
          <p:nvPr/>
        </p:nvGrpSpPr>
        <p:grpSpPr>
          <a:xfrm>
            <a:off x="2680630" y="4808856"/>
            <a:ext cx="245580" cy="224238"/>
            <a:chOff x="802803" y="3715228"/>
            <a:chExt cx="245580" cy="224238"/>
          </a:xfrm>
        </p:grpSpPr>
        <p:sp>
          <p:nvSpPr>
            <p:cNvPr id="351" name="Oval 350">
              <a:extLst>
                <a:ext uri="{FF2B5EF4-FFF2-40B4-BE49-F238E27FC236}">
                  <a16:creationId xmlns:a16="http://schemas.microsoft.com/office/drawing/2014/main" id="{7EF515DE-CFB5-C746-AC84-B4C313BD06E8}"/>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2" name="Rectangle 351">
              <a:extLst>
                <a:ext uri="{FF2B5EF4-FFF2-40B4-BE49-F238E27FC236}">
                  <a16:creationId xmlns:a16="http://schemas.microsoft.com/office/drawing/2014/main" id="{3B567B98-0230-FB4D-8B5A-D57CF8B99F8A}"/>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3" name="Group 352">
            <a:extLst>
              <a:ext uri="{FF2B5EF4-FFF2-40B4-BE49-F238E27FC236}">
                <a16:creationId xmlns:a16="http://schemas.microsoft.com/office/drawing/2014/main" id="{F40449CF-4146-A640-B710-857F798A33D4}"/>
              </a:ext>
            </a:extLst>
          </p:cNvPr>
          <p:cNvGrpSpPr/>
          <p:nvPr/>
        </p:nvGrpSpPr>
        <p:grpSpPr>
          <a:xfrm>
            <a:off x="6550922" y="1481480"/>
            <a:ext cx="245580" cy="224238"/>
            <a:chOff x="802803" y="3715228"/>
            <a:chExt cx="245580" cy="224238"/>
          </a:xfrm>
        </p:grpSpPr>
        <p:sp>
          <p:nvSpPr>
            <p:cNvPr id="354" name="Oval 353">
              <a:extLst>
                <a:ext uri="{FF2B5EF4-FFF2-40B4-BE49-F238E27FC236}">
                  <a16:creationId xmlns:a16="http://schemas.microsoft.com/office/drawing/2014/main" id="{1F8A312F-C689-FF42-84E9-02ECA660225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5" name="Rectangle 354">
              <a:extLst>
                <a:ext uri="{FF2B5EF4-FFF2-40B4-BE49-F238E27FC236}">
                  <a16:creationId xmlns:a16="http://schemas.microsoft.com/office/drawing/2014/main" id="{50CBD88D-DC4A-3849-90CE-641B000548E3}"/>
                </a:ext>
              </a:extLst>
            </p:cNvPr>
            <p:cNvSpPr/>
            <p:nvPr/>
          </p:nvSpPr>
          <p:spPr>
            <a:xfrm>
              <a:off x="802803" y="37240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grpSp>
      <p:grpSp>
        <p:nvGrpSpPr>
          <p:cNvPr id="356" name="Group 355">
            <a:extLst>
              <a:ext uri="{FF2B5EF4-FFF2-40B4-BE49-F238E27FC236}">
                <a16:creationId xmlns:a16="http://schemas.microsoft.com/office/drawing/2014/main" id="{3E2317E5-1DF6-F144-A88B-97C61AC21234}"/>
              </a:ext>
            </a:extLst>
          </p:cNvPr>
          <p:cNvGrpSpPr/>
          <p:nvPr/>
        </p:nvGrpSpPr>
        <p:grpSpPr>
          <a:xfrm>
            <a:off x="8311967" y="1742779"/>
            <a:ext cx="309700" cy="224238"/>
            <a:chOff x="770743" y="3715228"/>
            <a:chExt cx="309700" cy="224238"/>
          </a:xfrm>
        </p:grpSpPr>
        <p:sp>
          <p:nvSpPr>
            <p:cNvPr id="357" name="Oval 356">
              <a:extLst>
                <a:ext uri="{FF2B5EF4-FFF2-40B4-BE49-F238E27FC236}">
                  <a16:creationId xmlns:a16="http://schemas.microsoft.com/office/drawing/2014/main" id="{6A31460D-137B-A74E-B6FC-B55DFB2AE33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8" name="Rectangle 357">
              <a:extLst>
                <a:ext uri="{FF2B5EF4-FFF2-40B4-BE49-F238E27FC236}">
                  <a16:creationId xmlns:a16="http://schemas.microsoft.com/office/drawing/2014/main" id="{CFFD1864-8612-0941-9E7F-4F8D6CCCC5CA}"/>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grpSp>
      <p:grpSp>
        <p:nvGrpSpPr>
          <p:cNvPr id="359" name="Group 358">
            <a:extLst>
              <a:ext uri="{FF2B5EF4-FFF2-40B4-BE49-F238E27FC236}">
                <a16:creationId xmlns:a16="http://schemas.microsoft.com/office/drawing/2014/main" id="{0B138D15-33DA-594B-9977-4B6B88437CDB}"/>
              </a:ext>
            </a:extLst>
          </p:cNvPr>
          <p:cNvGrpSpPr/>
          <p:nvPr/>
        </p:nvGrpSpPr>
        <p:grpSpPr>
          <a:xfrm>
            <a:off x="4322372" y="1240114"/>
            <a:ext cx="300082" cy="224238"/>
            <a:chOff x="775552" y="3715228"/>
            <a:chExt cx="300082" cy="224238"/>
          </a:xfrm>
        </p:grpSpPr>
        <p:sp>
          <p:nvSpPr>
            <p:cNvPr id="360" name="Oval 359">
              <a:extLst>
                <a:ext uri="{FF2B5EF4-FFF2-40B4-BE49-F238E27FC236}">
                  <a16:creationId xmlns:a16="http://schemas.microsoft.com/office/drawing/2014/main" id="{B19CA466-0BF9-9243-882A-C5EC199C6CE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775552" y="372402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grpSp>
      <p:grpSp>
        <p:nvGrpSpPr>
          <p:cNvPr id="362" name="Group 361">
            <a:extLst>
              <a:ext uri="{FF2B5EF4-FFF2-40B4-BE49-F238E27FC236}">
                <a16:creationId xmlns:a16="http://schemas.microsoft.com/office/drawing/2014/main" id="{E6482679-9AB0-5541-BF89-93062662AF98}"/>
              </a:ext>
            </a:extLst>
          </p:cNvPr>
          <p:cNvGrpSpPr/>
          <p:nvPr/>
        </p:nvGrpSpPr>
        <p:grpSpPr>
          <a:xfrm>
            <a:off x="4319927" y="983503"/>
            <a:ext cx="309700" cy="224238"/>
            <a:chOff x="770743" y="3715228"/>
            <a:chExt cx="309700" cy="224238"/>
          </a:xfrm>
        </p:grpSpPr>
        <p:sp>
          <p:nvSpPr>
            <p:cNvPr id="363" name="Oval 362">
              <a:extLst>
                <a:ext uri="{FF2B5EF4-FFF2-40B4-BE49-F238E27FC236}">
                  <a16:creationId xmlns:a16="http://schemas.microsoft.com/office/drawing/2014/main" id="{0C24FACA-1CFE-B346-89AB-EB0E90F543B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4" name="Rectangle 363">
              <a:extLst>
                <a:ext uri="{FF2B5EF4-FFF2-40B4-BE49-F238E27FC236}">
                  <a16:creationId xmlns:a16="http://schemas.microsoft.com/office/drawing/2014/main" id="{64C22221-FE7F-7946-B113-969909E0FA5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grpSp>
      <p:grpSp>
        <p:nvGrpSpPr>
          <p:cNvPr id="365" name="Group 364">
            <a:extLst>
              <a:ext uri="{FF2B5EF4-FFF2-40B4-BE49-F238E27FC236}">
                <a16:creationId xmlns:a16="http://schemas.microsoft.com/office/drawing/2014/main" id="{2C13EA5E-21CD-1946-88C4-D8A584B17387}"/>
              </a:ext>
            </a:extLst>
          </p:cNvPr>
          <p:cNvGrpSpPr/>
          <p:nvPr/>
        </p:nvGrpSpPr>
        <p:grpSpPr>
          <a:xfrm>
            <a:off x="8280687" y="1478795"/>
            <a:ext cx="360996" cy="224238"/>
            <a:chOff x="736857" y="3715228"/>
            <a:chExt cx="360996" cy="224238"/>
          </a:xfrm>
        </p:grpSpPr>
        <p:sp>
          <p:nvSpPr>
            <p:cNvPr id="366" name="Oval 365">
              <a:extLst>
                <a:ext uri="{FF2B5EF4-FFF2-40B4-BE49-F238E27FC236}">
                  <a16:creationId xmlns:a16="http://schemas.microsoft.com/office/drawing/2014/main" id="{65A20A3F-C204-4E4F-8867-1B299AF2D0C6}"/>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7" name="Rectangle 366">
              <a:extLst>
                <a:ext uri="{FF2B5EF4-FFF2-40B4-BE49-F238E27FC236}">
                  <a16:creationId xmlns:a16="http://schemas.microsoft.com/office/drawing/2014/main" id="{23FEEFD6-358C-A543-9BF3-275D2038378C}"/>
                </a:ext>
              </a:extLst>
            </p:cNvPr>
            <p:cNvSpPr/>
            <p:nvPr/>
          </p:nvSpPr>
          <p:spPr>
            <a:xfrm>
              <a:off x="736857" y="3724022"/>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grpSp>
      <p:grpSp>
        <p:nvGrpSpPr>
          <p:cNvPr id="368" name="Group 367">
            <a:extLst>
              <a:ext uri="{FF2B5EF4-FFF2-40B4-BE49-F238E27FC236}">
                <a16:creationId xmlns:a16="http://schemas.microsoft.com/office/drawing/2014/main" id="{0EA9870A-D7BD-7749-9180-333352A02EA4}"/>
              </a:ext>
            </a:extLst>
          </p:cNvPr>
          <p:cNvGrpSpPr/>
          <p:nvPr/>
        </p:nvGrpSpPr>
        <p:grpSpPr>
          <a:xfrm>
            <a:off x="4317141" y="2187210"/>
            <a:ext cx="309700" cy="224238"/>
            <a:chOff x="762505" y="3715228"/>
            <a:chExt cx="309700" cy="224238"/>
          </a:xfrm>
        </p:grpSpPr>
        <p:sp>
          <p:nvSpPr>
            <p:cNvPr id="369" name="Oval 368">
              <a:extLst>
                <a:ext uri="{FF2B5EF4-FFF2-40B4-BE49-F238E27FC236}">
                  <a16:creationId xmlns:a16="http://schemas.microsoft.com/office/drawing/2014/main" id="{EB5E2F46-B118-1045-AF33-FBEB9E67DC0D}"/>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70" name="Rectangle 369">
              <a:extLst>
                <a:ext uri="{FF2B5EF4-FFF2-40B4-BE49-F238E27FC236}">
                  <a16:creationId xmlns:a16="http://schemas.microsoft.com/office/drawing/2014/main" id="{BEF5AC8E-3F33-C44D-B0DD-469F2AFB0FFB}"/>
                </a:ext>
              </a:extLst>
            </p:cNvPr>
            <p:cNvSpPr/>
            <p:nvPr/>
          </p:nvSpPr>
          <p:spPr>
            <a:xfrm>
              <a:off x="762505"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13</a:t>
              </a:r>
            </a:p>
          </p:txBody>
        </p:sp>
      </p:grpSp>
      <p:grpSp>
        <p:nvGrpSpPr>
          <p:cNvPr id="374" name="Group 373">
            <a:extLst>
              <a:ext uri="{FF2B5EF4-FFF2-40B4-BE49-F238E27FC236}">
                <a16:creationId xmlns:a16="http://schemas.microsoft.com/office/drawing/2014/main" id="{151B6A92-2701-2048-A0DE-3EA783245FB9}"/>
              </a:ext>
            </a:extLst>
          </p:cNvPr>
          <p:cNvGrpSpPr/>
          <p:nvPr/>
        </p:nvGrpSpPr>
        <p:grpSpPr>
          <a:xfrm>
            <a:off x="852407" y="5920266"/>
            <a:ext cx="309700" cy="224238"/>
            <a:chOff x="770743" y="3715228"/>
            <a:chExt cx="309700" cy="224238"/>
          </a:xfrm>
        </p:grpSpPr>
        <p:sp>
          <p:nvSpPr>
            <p:cNvPr id="375" name="Oval 374">
              <a:extLst>
                <a:ext uri="{FF2B5EF4-FFF2-40B4-BE49-F238E27FC236}">
                  <a16:creationId xmlns:a16="http://schemas.microsoft.com/office/drawing/2014/main" id="{2E2E7022-3AC3-4141-A9D3-0559902526EA}"/>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76" name="Rectangle 375">
              <a:extLst>
                <a:ext uri="{FF2B5EF4-FFF2-40B4-BE49-F238E27FC236}">
                  <a16:creationId xmlns:a16="http://schemas.microsoft.com/office/drawing/2014/main" id="{8ED0D82D-C4ED-BB4B-9F5D-50AC2840E0FF}"/>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14</a:t>
              </a:r>
            </a:p>
          </p:txBody>
        </p:sp>
      </p:grpSp>
      <p:grpSp>
        <p:nvGrpSpPr>
          <p:cNvPr id="377" name="Group 376">
            <a:extLst>
              <a:ext uri="{FF2B5EF4-FFF2-40B4-BE49-F238E27FC236}">
                <a16:creationId xmlns:a16="http://schemas.microsoft.com/office/drawing/2014/main" id="{84FAF781-024F-7F47-BF3A-83A8D1BDE460}"/>
              </a:ext>
            </a:extLst>
          </p:cNvPr>
          <p:cNvGrpSpPr/>
          <p:nvPr/>
        </p:nvGrpSpPr>
        <p:grpSpPr>
          <a:xfrm>
            <a:off x="4325894" y="1931502"/>
            <a:ext cx="309700" cy="224238"/>
            <a:chOff x="770743" y="3715228"/>
            <a:chExt cx="309700" cy="224238"/>
          </a:xfrm>
        </p:grpSpPr>
        <p:sp>
          <p:nvSpPr>
            <p:cNvPr id="378" name="Oval 377">
              <a:extLst>
                <a:ext uri="{FF2B5EF4-FFF2-40B4-BE49-F238E27FC236}">
                  <a16:creationId xmlns:a16="http://schemas.microsoft.com/office/drawing/2014/main" id="{B310EC8B-7606-CF46-949E-FC3A48253F7A}"/>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79" name="Rectangle 378">
              <a:extLst>
                <a:ext uri="{FF2B5EF4-FFF2-40B4-BE49-F238E27FC236}">
                  <a16:creationId xmlns:a16="http://schemas.microsoft.com/office/drawing/2014/main" id="{B5598E6B-8A94-8F44-A402-08032494757E}"/>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15</a:t>
              </a:r>
            </a:p>
          </p:txBody>
        </p:sp>
      </p:grpSp>
      <p:grpSp>
        <p:nvGrpSpPr>
          <p:cNvPr id="380" name="Group 379">
            <a:extLst>
              <a:ext uri="{FF2B5EF4-FFF2-40B4-BE49-F238E27FC236}">
                <a16:creationId xmlns:a16="http://schemas.microsoft.com/office/drawing/2014/main" id="{E41458D8-C906-4446-B5B7-2D911C334472}"/>
              </a:ext>
            </a:extLst>
          </p:cNvPr>
          <p:cNvGrpSpPr/>
          <p:nvPr/>
        </p:nvGrpSpPr>
        <p:grpSpPr>
          <a:xfrm>
            <a:off x="2620396" y="5933422"/>
            <a:ext cx="309700" cy="224238"/>
            <a:chOff x="770743" y="3715228"/>
            <a:chExt cx="309700" cy="224238"/>
          </a:xfrm>
        </p:grpSpPr>
        <p:sp>
          <p:nvSpPr>
            <p:cNvPr id="381" name="Oval 380">
              <a:extLst>
                <a:ext uri="{FF2B5EF4-FFF2-40B4-BE49-F238E27FC236}">
                  <a16:creationId xmlns:a16="http://schemas.microsoft.com/office/drawing/2014/main" id="{D13E324C-B2AE-414B-B7F6-4B504A764B17}"/>
                </a:ext>
              </a:extLst>
            </p:cNvPr>
            <p:cNvSpPr/>
            <p:nvPr/>
          </p:nvSpPr>
          <p:spPr>
            <a:xfrm>
              <a:off x="810781" y="371522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82" name="Rectangle 381">
              <a:extLst>
                <a:ext uri="{FF2B5EF4-FFF2-40B4-BE49-F238E27FC236}">
                  <a16:creationId xmlns:a16="http://schemas.microsoft.com/office/drawing/2014/main" id="{4DFF5B3D-46BE-CE41-9A23-C390F5D92B4B}"/>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15</a:t>
              </a:r>
            </a:p>
          </p:txBody>
        </p:sp>
      </p:gr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grpSp>
        <p:nvGrpSpPr>
          <p:cNvPr id="272" name="Group 271">
            <a:extLst>
              <a:ext uri="{FF2B5EF4-FFF2-40B4-BE49-F238E27FC236}">
                <a16:creationId xmlns:a16="http://schemas.microsoft.com/office/drawing/2014/main" id="{B10B35FA-FFD5-244C-8FBB-DB3A536F6315}"/>
              </a:ext>
            </a:extLst>
          </p:cNvPr>
          <p:cNvGrpSpPr/>
          <p:nvPr/>
        </p:nvGrpSpPr>
        <p:grpSpPr>
          <a:xfrm>
            <a:off x="674882" y="2236958"/>
            <a:ext cx="1620000" cy="613673"/>
            <a:chOff x="3810000" y="2381250"/>
            <a:chExt cx="1390650" cy="1230631"/>
          </a:xfrm>
          <a:solidFill>
            <a:schemeClr val="accent6">
              <a:lumMod val="75000"/>
            </a:schemeClr>
          </a:solidFill>
        </p:grpSpPr>
        <p:sp>
          <p:nvSpPr>
            <p:cNvPr id="273" name="L-Shape 272">
              <a:extLst>
                <a:ext uri="{FF2B5EF4-FFF2-40B4-BE49-F238E27FC236}">
                  <a16:creationId xmlns:a16="http://schemas.microsoft.com/office/drawing/2014/main" id="{DF7D733A-4FFE-744F-B214-78B04041F690}"/>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274" name="L-Shape 273">
              <a:extLst>
                <a:ext uri="{FF2B5EF4-FFF2-40B4-BE49-F238E27FC236}">
                  <a16:creationId xmlns:a16="http://schemas.microsoft.com/office/drawing/2014/main" id="{15DAAC84-AD00-F244-9996-0E67F278AF0C}"/>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90" name="TextBox 389">
            <a:extLst>
              <a:ext uri="{FF2B5EF4-FFF2-40B4-BE49-F238E27FC236}">
                <a16:creationId xmlns:a16="http://schemas.microsoft.com/office/drawing/2014/main" id="{9DA43E6F-DA2D-6D47-9527-3D4C06A2AADE}"/>
              </a:ext>
            </a:extLst>
          </p:cNvPr>
          <p:cNvSpPr txBox="1"/>
          <p:nvPr/>
        </p:nvSpPr>
        <p:spPr>
          <a:xfrm>
            <a:off x="667920" y="2817445"/>
            <a:ext cx="1647322" cy="584775"/>
          </a:xfrm>
          <a:prstGeom prst="rect">
            <a:avLst/>
          </a:prstGeom>
          <a:noFill/>
        </p:spPr>
        <p:txBody>
          <a:bodyPr wrap="square" rtlCol="0">
            <a:spAutoFit/>
          </a:bodyPr>
          <a:lstStyle/>
          <a:p>
            <a:pPr algn="ctr"/>
            <a:r>
              <a:rPr lang="en-US" sz="1600">
                <a:latin typeface="Avenir"/>
              </a:rPr>
              <a:t>Accumulated depreciation</a:t>
            </a:r>
          </a:p>
        </p:txBody>
      </p:sp>
      <p:sp>
        <p:nvSpPr>
          <p:cNvPr id="393" name="TextBox 392">
            <a:extLst>
              <a:ext uri="{FF2B5EF4-FFF2-40B4-BE49-F238E27FC236}">
                <a16:creationId xmlns:a16="http://schemas.microsoft.com/office/drawing/2014/main" id="{390520E5-A3C2-894D-85E5-0E4333EB6E08}"/>
              </a:ext>
            </a:extLst>
          </p:cNvPr>
          <p:cNvSpPr txBox="1"/>
          <p:nvPr/>
        </p:nvSpPr>
        <p:spPr>
          <a:xfrm>
            <a:off x="1679276" y="2502766"/>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394" name="Down Arrow 393">
            <a:extLst>
              <a:ext uri="{FF2B5EF4-FFF2-40B4-BE49-F238E27FC236}">
                <a16:creationId xmlns:a16="http://schemas.microsoft.com/office/drawing/2014/main" id="{B0F8BD20-9927-4341-B34D-0F3411EA8E55}"/>
              </a:ext>
            </a:extLst>
          </p:cNvPr>
          <p:cNvSpPr/>
          <p:nvPr/>
        </p:nvSpPr>
        <p:spPr>
          <a:xfrm>
            <a:off x="1256101" y="255077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2" name="Group 401">
            <a:extLst>
              <a:ext uri="{FF2B5EF4-FFF2-40B4-BE49-F238E27FC236}">
                <a16:creationId xmlns:a16="http://schemas.microsoft.com/office/drawing/2014/main" id="{C8506339-CA6B-4143-ADBA-38D4D796E42A}"/>
              </a:ext>
            </a:extLst>
          </p:cNvPr>
          <p:cNvGrpSpPr/>
          <p:nvPr/>
        </p:nvGrpSpPr>
        <p:grpSpPr>
          <a:xfrm>
            <a:off x="752976" y="2511750"/>
            <a:ext cx="309700" cy="224238"/>
            <a:chOff x="770743" y="3715228"/>
            <a:chExt cx="309700" cy="224238"/>
          </a:xfrm>
        </p:grpSpPr>
        <p:sp>
          <p:nvSpPr>
            <p:cNvPr id="403" name="Oval 402">
              <a:extLst>
                <a:ext uri="{FF2B5EF4-FFF2-40B4-BE49-F238E27FC236}">
                  <a16:creationId xmlns:a16="http://schemas.microsoft.com/office/drawing/2014/main" id="{FE70CBEC-117D-0044-B4ED-7B3D135EE713}"/>
                </a:ext>
              </a:extLst>
            </p:cNvPr>
            <p:cNvSpPr/>
            <p:nvPr/>
          </p:nvSpPr>
          <p:spPr>
            <a:xfrm>
              <a:off x="810781" y="37152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404" name="Rectangle 403">
              <a:extLst>
                <a:ext uri="{FF2B5EF4-FFF2-40B4-BE49-F238E27FC236}">
                  <a16:creationId xmlns:a16="http://schemas.microsoft.com/office/drawing/2014/main" id="{A4CE54F9-C870-974D-B405-FB6285BA0682}"/>
                </a:ext>
              </a:extLst>
            </p:cNvPr>
            <p:cNvSpPr/>
            <p:nvPr/>
          </p:nvSpPr>
          <p:spPr>
            <a:xfrm>
              <a:off x="770743" y="37240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14</a:t>
              </a:r>
            </a:p>
          </p:txBody>
        </p:sp>
      </p:grpSp>
      <p:grpSp>
        <p:nvGrpSpPr>
          <p:cNvPr id="405" name="Group 404">
            <a:extLst>
              <a:ext uri="{FF2B5EF4-FFF2-40B4-BE49-F238E27FC236}">
                <a16:creationId xmlns:a16="http://schemas.microsoft.com/office/drawing/2014/main" id="{B5E8B448-3359-6047-A901-2663E8A040F1}"/>
              </a:ext>
            </a:extLst>
          </p:cNvPr>
          <p:cNvGrpSpPr/>
          <p:nvPr/>
        </p:nvGrpSpPr>
        <p:grpSpPr>
          <a:xfrm>
            <a:off x="4247500" y="957969"/>
            <a:ext cx="1620000" cy="613673"/>
            <a:chOff x="3810000" y="2381250"/>
            <a:chExt cx="1390650" cy="1230631"/>
          </a:xfrm>
          <a:solidFill>
            <a:schemeClr val="accent6">
              <a:lumMod val="75000"/>
            </a:schemeClr>
          </a:solidFill>
        </p:grpSpPr>
        <p:sp>
          <p:nvSpPr>
            <p:cNvPr id="406" name="L-Shape 405">
              <a:extLst>
                <a:ext uri="{FF2B5EF4-FFF2-40B4-BE49-F238E27FC236}">
                  <a16:creationId xmlns:a16="http://schemas.microsoft.com/office/drawing/2014/main" id="{422C7669-2B67-E844-8AD6-CD39F32EE693}"/>
                </a:ext>
              </a:extLst>
            </p:cNvPr>
            <p:cNvSpPr/>
            <p:nvPr/>
          </p:nvSpPr>
          <p:spPr>
            <a:xfrm flipH="1">
              <a:off x="4505325"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3810000" y="2381250"/>
              <a:ext cx="695325" cy="1230631"/>
            </a:xfrm>
            <a:prstGeom prst="corner">
              <a:avLst>
                <a:gd name="adj1" fmla="val 9817"/>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08" name="Group 407">
            <a:extLst>
              <a:ext uri="{FF2B5EF4-FFF2-40B4-BE49-F238E27FC236}">
                <a16:creationId xmlns:a16="http://schemas.microsoft.com/office/drawing/2014/main" id="{D5BF0B9C-2E0D-C242-8CFF-FA38A5AF35FC}"/>
              </a:ext>
            </a:extLst>
          </p:cNvPr>
          <p:cNvGrpSpPr/>
          <p:nvPr/>
        </p:nvGrpSpPr>
        <p:grpSpPr>
          <a:xfrm>
            <a:off x="4247500" y="1892397"/>
            <a:ext cx="1620000" cy="613673"/>
            <a:chOff x="3810000" y="2381250"/>
            <a:chExt cx="1390650" cy="1230631"/>
          </a:xfrm>
          <a:solidFill>
            <a:schemeClr val="accent6">
              <a:lumMod val="75000"/>
            </a:schemeClr>
          </a:solidFill>
        </p:grpSpPr>
        <p:sp>
          <p:nvSpPr>
            <p:cNvPr id="409" name="L-Shape 408">
              <a:extLst>
                <a:ext uri="{FF2B5EF4-FFF2-40B4-BE49-F238E27FC236}">
                  <a16:creationId xmlns:a16="http://schemas.microsoft.com/office/drawing/2014/main" id="{949DD22A-6C28-4A42-838D-57C0B3AFBA2E}"/>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0" name="L-Shape 409">
              <a:extLst>
                <a:ext uri="{FF2B5EF4-FFF2-40B4-BE49-F238E27FC236}">
                  <a16:creationId xmlns:a16="http://schemas.microsoft.com/office/drawing/2014/main" id="{33CD775B-2A0C-DE47-A9A3-022685FE94F6}"/>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1" name="Group 410">
            <a:extLst>
              <a:ext uri="{FF2B5EF4-FFF2-40B4-BE49-F238E27FC236}">
                <a16:creationId xmlns:a16="http://schemas.microsoft.com/office/drawing/2014/main" id="{022F6EA9-7658-814F-A10B-D03A6D0AAF9C}"/>
              </a:ext>
            </a:extLst>
          </p:cNvPr>
          <p:cNvGrpSpPr/>
          <p:nvPr/>
        </p:nvGrpSpPr>
        <p:grpSpPr>
          <a:xfrm>
            <a:off x="2556000" y="4767598"/>
            <a:ext cx="1620000" cy="613673"/>
            <a:chOff x="3810000" y="2381250"/>
            <a:chExt cx="1390650" cy="1230631"/>
          </a:xfrm>
          <a:solidFill>
            <a:schemeClr val="accent6">
              <a:lumMod val="75000"/>
            </a:schemeClr>
          </a:solidFill>
        </p:grpSpPr>
        <p:sp>
          <p:nvSpPr>
            <p:cNvPr id="412" name="L-Shape 411">
              <a:extLst>
                <a:ext uri="{FF2B5EF4-FFF2-40B4-BE49-F238E27FC236}">
                  <a16:creationId xmlns:a16="http://schemas.microsoft.com/office/drawing/2014/main" id="{FEC5C8AE-56DC-A645-B700-BDD31418BAC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4" name="Group 413">
            <a:extLst>
              <a:ext uri="{FF2B5EF4-FFF2-40B4-BE49-F238E27FC236}">
                <a16:creationId xmlns:a16="http://schemas.microsoft.com/office/drawing/2014/main" id="{A94AD495-E79D-8F49-95B5-678342740E3C}"/>
              </a:ext>
            </a:extLst>
          </p:cNvPr>
          <p:cNvGrpSpPr/>
          <p:nvPr/>
        </p:nvGrpSpPr>
        <p:grpSpPr>
          <a:xfrm>
            <a:off x="2556000" y="5633028"/>
            <a:ext cx="1620000" cy="613673"/>
            <a:chOff x="3810000" y="2381250"/>
            <a:chExt cx="1390650" cy="1230631"/>
          </a:xfrm>
          <a:solidFill>
            <a:schemeClr val="accent6">
              <a:lumMod val="75000"/>
            </a:schemeClr>
          </a:solidFill>
        </p:grpSpPr>
        <p:sp>
          <p:nvSpPr>
            <p:cNvPr id="415" name="L-Shape 414">
              <a:extLst>
                <a:ext uri="{FF2B5EF4-FFF2-40B4-BE49-F238E27FC236}">
                  <a16:creationId xmlns:a16="http://schemas.microsoft.com/office/drawing/2014/main" id="{4CD4DED9-CB9E-AC4B-BE2A-78F037DBFEA8}"/>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6" name="L-Shape 415">
              <a:extLst>
                <a:ext uri="{FF2B5EF4-FFF2-40B4-BE49-F238E27FC236}">
                  <a16:creationId xmlns:a16="http://schemas.microsoft.com/office/drawing/2014/main" id="{FC60011B-6414-164E-9D9C-FE2679057335}"/>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17" name="Group 416">
            <a:extLst>
              <a:ext uri="{FF2B5EF4-FFF2-40B4-BE49-F238E27FC236}">
                <a16:creationId xmlns:a16="http://schemas.microsoft.com/office/drawing/2014/main" id="{FA5A2220-0725-2E4C-8EE1-0CFDAAB53629}"/>
              </a:ext>
            </a:extLst>
          </p:cNvPr>
          <p:cNvGrpSpPr/>
          <p:nvPr/>
        </p:nvGrpSpPr>
        <p:grpSpPr>
          <a:xfrm>
            <a:off x="788356" y="5618680"/>
            <a:ext cx="1620000" cy="613673"/>
            <a:chOff x="3810000" y="2381250"/>
            <a:chExt cx="1390650" cy="1230631"/>
          </a:xfrm>
          <a:solidFill>
            <a:schemeClr val="accent6">
              <a:lumMod val="75000"/>
            </a:schemeClr>
          </a:solidFill>
        </p:grpSpPr>
        <p:sp>
          <p:nvSpPr>
            <p:cNvPr id="418" name="L-Shape 417">
              <a:extLst>
                <a:ext uri="{FF2B5EF4-FFF2-40B4-BE49-F238E27FC236}">
                  <a16:creationId xmlns:a16="http://schemas.microsoft.com/office/drawing/2014/main" id="{CFC81F53-CA91-174B-9872-9729D066141F}"/>
                </a:ext>
              </a:extLst>
            </p:cNvPr>
            <p:cNvSpPr/>
            <p:nvPr/>
          </p:nvSpPr>
          <p:spPr>
            <a:xfrm flipH="1">
              <a:off x="4505325"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9" name="L-Shape 418">
              <a:extLst>
                <a:ext uri="{FF2B5EF4-FFF2-40B4-BE49-F238E27FC236}">
                  <a16:creationId xmlns:a16="http://schemas.microsoft.com/office/drawing/2014/main" id="{E8759028-EA69-3049-85B6-E41AA8BA6521}"/>
                </a:ext>
              </a:extLst>
            </p:cNvPr>
            <p:cNvSpPr/>
            <p:nvPr/>
          </p:nvSpPr>
          <p:spPr>
            <a:xfrm>
              <a:off x="3810000" y="2381250"/>
              <a:ext cx="695325" cy="1230631"/>
            </a:xfrm>
            <a:prstGeom prst="corner">
              <a:avLst>
                <a:gd name="adj1" fmla="val 9300"/>
                <a:gd name="adj2" fmla="val 890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0" name="Group 419">
            <a:extLst>
              <a:ext uri="{FF2B5EF4-FFF2-40B4-BE49-F238E27FC236}">
                <a16:creationId xmlns:a16="http://schemas.microsoft.com/office/drawing/2014/main" id="{3879A878-BB24-5C4E-8DED-AA8AA8416168}"/>
              </a:ext>
            </a:extLst>
          </p:cNvPr>
          <p:cNvGrpSpPr/>
          <p:nvPr/>
        </p:nvGrpSpPr>
        <p:grpSpPr>
          <a:xfrm>
            <a:off x="4292494" y="5448381"/>
            <a:ext cx="1620000" cy="796276"/>
            <a:chOff x="3810000" y="2015069"/>
            <a:chExt cx="1390650" cy="1596814"/>
          </a:xfrm>
          <a:solidFill>
            <a:schemeClr val="accent6">
              <a:lumMod val="75000"/>
            </a:schemeClr>
          </a:solidFill>
        </p:grpSpPr>
        <p:sp>
          <p:nvSpPr>
            <p:cNvPr id="421" name="L-Shape 420">
              <a:extLst>
                <a:ext uri="{FF2B5EF4-FFF2-40B4-BE49-F238E27FC236}">
                  <a16:creationId xmlns:a16="http://schemas.microsoft.com/office/drawing/2014/main" id="{BA2D9C48-4D89-9D41-9A86-8C07C56E1D9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3" name="Group 422">
            <a:extLst>
              <a:ext uri="{FF2B5EF4-FFF2-40B4-BE49-F238E27FC236}">
                <a16:creationId xmlns:a16="http://schemas.microsoft.com/office/drawing/2014/main" id="{7B802F43-9F5E-A14B-9D86-B2DA6CA6BAF3}"/>
              </a:ext>
            </a:extLst>
          </p:cNvPr>
          <p:cNvGrpSpPr/>
          <p:nvPr/>
        </p:nvGrpSpPr>
        <p:grpSpPr>
          <a:xfrm>
            <a:off x="6382456" y="5448381"/>
            <a:ext cx="1620000" cy="796276"/>
            <a:chOff x="3810000" y="2015069"/>
            <a:chExt cx="1390650" cy="1596814"/>
          </a:xfrm>
          <a:solidFill>
            <a:schemeClr val="accent2"/>
          </a:solidFill>
        </p:grpSpPr>
        <p:sp>
          <p:nvSpPr>
            <p:cNvPr id="424" name="L-Shape 423">
              <a:extLst>
                <a:ext uri="{FF2B5EF4-FFF2-40B4-BE49-F238E27FC236}">
                  <a16:creationId xmlns:a16="http://schemas.microsoft.com/office/drawing/2014/main" id="{3FE59A14-5D36-2645-8D6C-212D8CAE6DE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29" name="Group 428">
            <a:extLst>
              <a:ext uri="{FF2B5EF4-FFF2-40B4-BE49-F238E27FC236}">
                <a16:creationId xmlns:a16="http://schemas.microsoft.com/office/drawing/2014/main" id="{A3C62AF3-2D43-9647-B711-5C094AC46C3F}"/>
              </a:ext>
            </a:extLst>
          </p:cNvPr>
          <p:cNvGrpSpPr/>
          <p:nvPr/>
        </p:nvGrpSpPr>
        <p:grpSpPr>
          <a:xfrm>
            <a:off x="9983452" y="3159099"/>
            <a:ext cx="1620000" cy="796276"/>
            <a:chOff x="3810000" y="2015069"/>
            <a:chExt cx="1390650" cy="1596814"/>
          </a:xfrm>
          <a:solidFill>
            <a:schemeClr val="accent2"/>
          </a:solidFill>
        </p:grpSpPr>
        <p:sp>
          <p:nvSpPr>
            <p:cNvPr id="430" name="L-Shape 429">
              <a:extLst>
                <a:ext uri="{FF2B5EF4-FFF2-40B4-BE49-F238E27FC236}">
                  <a16:creationId xmlns:a16="http://schemas.microsoft.com/office/drawing/2014/main" id="{68D6734C-0027-194F-BF8A-040486A2DB35}"/>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2" name="Group 431">
            <a:extLst>
              <a:ext uri="{FF2B5EF4-FFF2-40B4-BE49-F238E27FC236}">
                <a16:creationId xmlns:a16="http://schemas.microsoft.com/office/drawing/2014/main" id="{4848BB5E-72D6-154B-A4A4-863172845016}"/>
              </a:ext>
            </a:extLst>
          </p:cNvPr>
          <p:cNvGrpSpPr/>
          <p:nvPr/>
        </p:nvGrpSpPr>
        <p:grpSpPr>
          <a:xfrm>
            <a:off x="8214558" y="1260018"/>
            <a:ext cx="1620000" cy="796276"/>
            <a:chOff x="3810000" y="2015069"/>
            <a:chExt cx="1390650" cy="1596814"/>
          </a:xfrm>
          <a:solidFill>
            <a:schemeClr val="accent2"/>
          </a:solidFill>
        </p:grpSpPr>
        <p:sp>
          <p:nvSpPr>
            <p:cNvPr id="433" name="L-Shape 432">
              <a:extLst>
                <a:ext uri="{FF2B5EF4-FFF2-40B4-BE49-F238E27FC236}">
                  <a16:creationId xmlns:a16="http://schemas.microsoft.com/office/drawing/2014/main" id="{ABB06B6F-0697-9948-91DD-97E59BB658BB}"/>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4" name="L-Shape 433">
              <a:extLst>
                <a:ext uri="{FF2B5EF4-FFF2-40B4-BE49-F238E27FC236}">
                  <a16:creationId xmlns:a16="http://schemas.microsoft.com/office/drawing/2014/main" id="{6F827A64-8AAF-EF46-AB91-B3C3D179257E}"/>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5" name="Group 434">
            <a:extLst>
              <a:ext uri="{FF2B5EF4-FFF2-40B4-BE49-F238E27FC236}">
                <a16:creationId xmlns:a16="http://schemas.microsoft.com/office/drawing/2014/main" id="{4BF78748-8099-A04D-A988-CC7F94C0749B}"/>
              </a:ext>
            </a:extLst>
          </p:cNvPr>
          <p:cNvGrpSpPr/>
          <p:nvPr/>
        </p:nvGrpSpPr>
        <p:grpSpPr>
          <a:xfrm>
            <a:off x="10006085" y="1263488"/>
            <a:ext cx="1620000" cy="796276"/>
            <a:chOff x="3810000" y="2015069"/>
            <a:chExt cx="1390650" cy="1596814"/>
          </a:xfrm>
          <a:solidFill>
            <a:schemeClr val="accent2"/>
          </a:solidFill>
        </p:grpSpPr>
        <p:sp>
          <p:nvSpPr>
            <p:cNvPr id="436" name="L-Shape 435">
              <a:extLst>
                <a:ext uri="{FF2B5EF4-FFF2-40B4-BE49-F238E27FC236}">
                  <a16:creationId xmlns:a16="http://schemas.microsoft.com/office/drawing/2014/main" id="{15CC524B-0762-3D4A-B259-A2EBD694AAC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grpSp>
        <p:nvGrpSpPr>
          <p:cNvPr id="438" name="Group 437">
            <a:extLst>
              <a:ext uri="{FF2B5EF4-FFF2-40B4-BE49-F238E27FC236}">
                <a16:creationId xmlns:a16="http://schemas.microsoft.com/office/drawing/2014/main" id="{6473B99F-863F-454D-BCB0-F8F4067841C8}"/>
              </a:ext>
            </a:extLst>
          </p:cNvPr>
          <p:cNvGrpSpPr/>
          <p:nvPr/>
        </p:nvGrpSpPr>
        <p:grpSpPr>
          <a:xfrm>
            <a:off x="6428511" y="1266563"/>
            <a:ext cx="1620000" cy="796276"/>
            <a:chOff x="3810000" y="2015069"/>
            <a:chExt cx="1390650" cy="1596814"/>
          </a:xfrm>
          <a:solidFill>
            <a:schemeClr val="accent2"/>
          </a:solidFill>
        </p:grpSpPr>
        <p:sp>
          <p:nvSpPr>
            <p:cNvPr id="439" name="L-Shape 438">
              <a:extLst>
                <a:ext uri="{FF2B5EF4-FFF2-40B4-BE49-F238E27FC236}">
                  <a16:creationId xmlns:a16="http://schemas.microsoft.com/office/drawing/2014/main" id="{DB03DE00-D9CE-3F4A-AF56-BAEEDF41F6F2}"/>
                </a:ext>
              </a:extLst>
            </p:cNvPr>
            <p:cNvSpPr/>
            <p:nvPr/>
          </p:nvSpPr>
          <p:spPr>
            <a:xfrm flipH="1">
              <a:off x="4505325" y="2015073"/>
              <a:ext cx="695325" cy="1596810"/>
            </a:xfrm>
            <a:prstGeom prst="corner">
              <a:avLst>
                <a:gd name="adj1" fmla="val 7267"/>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3810000" y="2015069"/>
              <a:ext cx="695325" cy="1596812"/>
            </a:xfrm>
            <a:prstGeom prst="corner">
              <a:avLst>
                <a:gd name="adj1" fmla="val 7268"/>
                <a:gd name="adj2" fmla="val 78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grpSp>
      <p:sp>
        <p:nvSpPr>
          <p:cNvPr id="371" name="Rectangle 370">
            <a:extLst>
              <a:ext uri="{FF2B5EF4-FFF2-40B4-BE49-F238E27FC236}">
                <a16:creationId xmlns:a16="http://schemas.microsoft.com/office/drawing/2014/main" id="{E86BC8D0-46A4-1641-9648-56CB73A642B7}"/>
              </a:ext>
            </a:extLst>
          </p:cNvPr>
          <p:cNvSpPr/>
          <p:nvPr/>
        </p:nvSpPr>
        <p:spPr>
          <a:xfrm>
            <a:off x="1357425" y="3894835"/>
            <a:ext cx="10586794" cy="1205854"/>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Down Arrow 398">
            <a:extLst>
              <a:ext uri="{FF2B5EF4-FFF2-40B4-BE49-F238E27FC236}">
                <a16:creationId xmlns:a16="http://schemas.microsoft.com/office/drawing/2014/main" id="{BF650763-8546-3942-99C4-889A5AA3D7E2}"/>
              </a:ext>
            </a:extLst>
          </p:cNvPr>
          <p:cNvSpPr/>
          <p:nvPr/>
        </p:nvSpPr>
        <p:spPr>
          <a:xfrm rot="10800000">
            <a:off x="153289" y="4549188"/>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0" name="Down Arrow 399">
            <a:extLst>
              <a:ext uri="{FF2B5EF4-FFF2-40B4-BE49-F238E27FC236}">
                <a16:creationId xmlns:a16="http://schemas.microsoft.com/office/drawing/2014/main" id="{F3223B55-E09F-A142-AA0E-15DAC02FC75D}"/>
              </a:ext>
            </a:extLst>
          </p:cNvPr>
          <p:cNvSpPr/>
          <p:nvPr/>
        </p:nvSpPr>
        <p:spPr>
          <a:xfrm>
            <a:off x="152838" y="842384"/>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1" name="Down Arrow 400">
            <a:extLst>
              <a:ext uri="{FF2B5EF4-FFF2-40B4-BE49-F238E27FC236}">
                <a16:creationId xmlns:a16="http://schemas.microsoft.com/office/drawing/2014/main" id="{ADF58291-F609-CE4B-AB66-932F8EFF86D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441" name="Down Arrow 440">
            <a:extLst>
              <a:ext uri="{FF2B5EF4-FFF2-40B4-BE49-F238E27FC236}">
                <a16:creationId xmlns:a16="http://schemas.microsoft.com/office/drawing/2014/main" id="{33B4ED47-99C6-FD46-8BF9-48A82A58C1A9}"/>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grpSp>
        <p:nvGrpSpPr>
          <p:cNvPr id="266" name="Group 265">
            <a:extLst>
              <a:ext uri="{FF2B5EF4-FFF2-40B4-BE49-F238E27FC236}">
                <a16:creationId xmlns:a16="http://schemas.microsoft.com/office/drawing/2014/main" id="{4B429123-235A-4646-8E82-4AAA5DAAADAF}"/>
              </a:ext>
            </a:extLst>
          </p:cNvPr>
          <p:cNvGrpSpPr/>
          <p:nvPr/>
        </p:nvGrpSpPr>
        <p:grpSpPr>
          <a:xfrm>
            <a:off x="1536422" y="4119212"/>
            <a:ext cx="10186175" cy="756551"/>
            <a:chOff x="719091" y="1719856"/>
            <a:chExt cx="9540882" cy="791545"/>
          </a:xfrm>
        </p:grpSpPr>
        <p:sp>
          <p:nvSpPr>
            <p:cNvPr id="267" name="TextBox 266">
              <a:extLst>
                <a:ext uri="{FF2B5EF4-FFF2-40B4-BE49-F238E27FC236}">
                  <a16:creationId xmlns:a16="http://schemas.microsoft.com/office/drawing/2014/main" id="{7A56EE0E-E351-754D-B8FC-6300B728C0B6}"/>
                </a:ext>
              </a:extLst>
            </p:cNvPr>
            <p:cNvSpPr txBox="1"/>
            <p:nvPr/>
          </p:nvSpPr>
          <p:spPr>
            <a:xfrm>
              <a:off x="1460917" y="1719859"/>
              <a:ext cx="5648774" cy="790969"/>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en-US" altLang="ko-KR" sz="2000" dirty="0">
                  <a:solidFill>
                    <a:schemeClr val="dk1"/>
                  </a:solidFill>
                  <a:latin typeface="Calibri"/>
                  <a:ea typeface="Calibri"/>
                  <a:cs typeface="Calibri"/>
                  <a:sym typeface="Calibri"/>
                </a:rPr>
                <a:t>3</a:t>
              </a:r>
              <a:r>
                <a:rPr lang="ko-KR" altLang="en-US" sz="2000" dirty="0">
                  <a:solidFill>
                    <a:schemeClr val="dk1"/>
                  </a:solidFill>
                  <a:latin typeface="Calibri"/>
                  <a:ea typeface="Calibri"/>
                  <a:cs typeface="Calibri"/>
                  <a:sym typeface="Calibri"/>
                </a:rPr>
                <a:t>월 </a:t>
              </a:r>
              <a:r>
                <a:rPr lang="en-US" altLang="ko-KR" sz="2000" dirty="0">
                  <a:solidFill>
                    <a:schemeClr val="dk1"/>
                  </a:solidFill>
                  <a:latin typeface="Calibri"/>
                  <a:ea typeface="Calibri"/>
                  <a:cs typeface="Calibri"/>
                  <a:sym typeface="Calibri"/>
                </a:rPr>
                <a:t>31</a:t>
              </a:r>
              <a:r>
                <a:rPr lang="ko-KR" altLang="en-US" sz="2000" dirty="0">
                  <a:solidFill>
                    <a:schemeClr val="dk1"/>
                  </a:solidFill>
                  <a:latin typeface="Calibri"/>
                  <a:ea typeface="Calibri"/>
                  <a:cs typeface="Calibri"/>
                  <a:sym typeface="Calibri"/>
                </a:rPr>
                <a:t>일까지 사용된 </a:t>
              </a:r>
              <a:r>
                <a:rPr lang="ko-KR" altLang="en-US" sz="2000" dirty="0" err="1">
                  <a:solidFill>
                    <a:schemeClr val="dk1"/>
                  </a:solidFill>
                  <a:latin typeface="Calibri"/>
                  <a:ea typeface="Calibri"/>
                  <a:cs typeface="Calibri"/>
                  <a:sym typeface="Calibri"/>
                </a:rPr>
                <a:t>이연</a:t>
              </a:r>
              <a:r>
                <a:rPr lang="ko-KR" altLang="en-US" sz="2000" dirty="0">
                  <a:solidFill>
                    <a:schemeClr val="dk1"/>
                  </a:solidFill>
                  <a:latin typeface="Calibri"/>
                  <a:ea typeface="Calibri"/>
                  <a:cs typeface="Calibri"/>
                  <a:sym typeface="Calibri"/>
                </a:rPr>
                <a:t> </a:t>
              </a:r>
              <a:r>
                <a:rPr lang="en-US" altLang="ko-KR" sz="2000" dirty="0">
                  <a:solidFill>
                    <a:schemeClr val="dk1"/>
                  </a:solidFill>
                  <a:latin typeface="Calibri"/>
                  <a:ea typeface="Calibri"/>
                  <a:cs typeface="Calibri"/>
                  <a:sym typeface="Calibri"/>
                </a:rPr>
                <a:t>(deferred) </a:t>
              </a:r>
              <a:r>
                <a:rPr lang="ko-KR" altLang="en-US" sz="2000" dirty="0">
                  <a:solidFill>
                    <a:schemeClr val="dk1"/>
                  </a:solidFill>
                  <a:latin typeface="Calibri"/>
                  <a:ea typeface="Calibri"/>
                  <a:cs typeface="Calibri"/>
                  <a:sym typeface="Calibri"/>
                </a:rPr>
                <a:t>광고비 를 회계 처리함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268" name="TextBox 267">
              <a:extLst>
                <a:ext uri="{FF2B5EF4-FFF2-40B4-BE49-F238E27FC236}">
                  <a16:creationId xmlns:a16="http://schemas.microsoft.com/office/drawing/2014/main" id="{AC665F92-D86D-0942-ACCD-F5E281D98EC7}"/>
                </a:ext>
              </a:extLst>
            </p:cNvPr>
            <p:cNvSpPr txBox="1"/>
            <p:nvPr/>
          </p:nvSpPr>
          <p:spPr>
            <a:xfrm>
              <a:off x="7107675" y="1720432"/>
              <a:ext cx="1576448" cy="790969"/>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r>
                <a:rPr lang="en-GB" sz="1400" b="1">
                  <a:solidFill>
                    <a:schemeClr val="bg1">
                      <a:lumMod val="75000"/>
                    </a:schemeClr>
                  </a:solidFill>
                  <a:latin typeface="Avenir"/>
                  <a:ea typeface="Helvetica" charset="0"/>
                  <a:cs typeface="Helvetica" charset="0"/>
                </a:rPr>
                <a:t>Advertising</a:t>
              </a:r>
            </a:p>
            <a:p>
              <a:pPr algn="ctr"/>
              <a:r>
                <a:rPr lang="en-GB" b="1">
                  <a:solidFill>
                    <a:schemeClr val="bg1">
                      <a:lumMod val="75000"/>
                    </a:schemeClr>
                  </a:solidFill>
                  <a:latin typeface="Avenir"/>
                  <a:ea typeface="Helvetica" charset="0"/>
                  <a:cs typeface="Helvetica" charset="0"/>
                </a:rPr>
                <a:t>200</a:t>
              </a:r>
            </a:p>
          </p:txBody>
        </p:sp>
        <p:sp>
          <p:nvSpPr>
            <p:cNvPr id="269" name="TextBox 268">
              <a:extLst>
                <a:ext uri="{FF2B5EF4-FFF2-40B4-BE49-F238E27FC236}">
                  <a16:creationId xmlns:a16="http://schemas.microsoft.com/office/drawing/2014/main" id="{4F467518-65B3-2E41-A651-BA973AD881F8}"/>
                </a:ext>
              </a:extLst>
            </p:cNvPr>
            <p:cNvSpPr txBox="1"/>
            <p:nvPr/>
          </p:nvSpPr>
          <p:spPr>
            <a:xfrm>
              <a:off x="8683525" y="1720431"/>
              <a:ext cx="1576448" cy="790969"/>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r>
                <a:rPr lang="en-GB" sz="1400" b="1">
                  <a:solidFill>
                    <a:schemeClr val="bg1">
                      <a:lumMod val="75000"/>
                    </a:schemeClr>
                  </a:solidFill>
                  <a:latin typeface="Avenir"/>
                  <a:ea typeface="Helvetica" charset="0"/>
                  <a:cs typeface="Helvetica" charset="0"/>
                </a:rPr>
                <a:t>Deferred expenses</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200</a:t>
              </a:r>
            </a:p>
          </p:txBody>
        </p:sp>
        <p:sp>
          <p:nvSpPr>
            <p:cNvPr id="270" name="TextBox 269">
              <a:extLst>
                <a:ext uri="{FF2B5EF4-FFF2-40B4-BE49-F238E27FC236}">
                  <a16:creationId xmlns:a16="http://schemas.microsoft.com/office/drawing/2014/main" id="{31DF9A88-A838-3047-BBF3-7A828B48640D}"/>
                </a:ext>
              </a:extLst>
            </p:cNvPr>
            <p:cNvSpPr txBox="1"/>
            <p:nvPr/>
          </p:nvSpPr>
          <p:spPr>
            <a:xfrm>
              <a:off x="719091" y="1719856"/>
              <a:ext cx="741825" cy="790969"/>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15</a:t>
              </a:r>
            </a:p>
          </p:txBody>
        </p:sp>
      </p:grpSp>
      <p:sp>
        <p:nvSpPr>
          <p:cNvPr id="372" name="TextBox 371">
            <a:extLst>
              <a:ext uri="{FF2B5EF4-FFF2-40B4-BE49-F238E27FC236}">
                <a16:creationId xmlns:a16="http://schemas.microsoft.com/office/drawing/2014/main" id="{DED67D05-3EDA-AD40-B1FB-71F354153A06}"/>
              </a:ext>
            </a:extLst>
          </p:cNvPr>
          <p:cNvSpPr txBox="1"/>
          <p:nvPr/>
        </p:nvSpPr>
        <p:spPr>
          <a:xfrm>
            <a:off x="6403128" y="3419412"/>
            <a:ext cx="1548343" cy="566133"/>
          </a:xfrm>
          <a:prstGeom prst="rect">
            <a:avLst/>
          </a:prstGeom>
          <a:noFill/>
        </p:spPr>
        <p:txBody>
          <a:bodyPr wrap="square" rtlCol="0" anchor="ctr">
            <a:noAutofit/>
          </a:bodyPr>
          <a:lstStyle/>
          <a:p>
            <a:pPr algn="ctr"/>
            <a:r>
              <a:rPr lang="en-US" sz="2400" b="1">
                <a:latin typeface="Avenir"/>
              </a:rPr>
              <a:t>160</a:t>
            </a:r>
            <a:endParaRPr lang="en-GB" sz="2400"/>
          </a:p>
        </p:txBody>
      </p:sp>
      <p:sp>
        <p:nvSpPr>
          <p:cNvPr id="373" name="TextBox 372">
            <a:extLst>
              <a:ext uri="{FF2B5EF4-FFF2-40B4-BE49-F238E27FC236}">
                <a16:creationId xmlns:a16="http://schemas.microsoft.com/office/drawing/2014/main" id="{BCC9A204-7955-AF40-B3BC-6A413026ED4F}"/>
              </a:ext>
            </a:extLst>
          </p:cNvPr>
          <p:cNvSpPr txBox="1"/>
          <p:nvPr/>
        </p:nvSpPr>
        <p:spPr>
          <a:xfrm>
            <a:off x="6403129" y="3419412"/>
            <a:ext cx="1548343" cy="566133"/>
          </a:xfrm>
          <a:prstGeom prst="rect">
            <a:avLst/>
          </a:prstGeom>
          <a:noFill/>
        </p:spPr>
        <p:txBody>
          <a:bodyPr wrap="square" rtlCol="0" anchor="ctr">
            <a:noAutofit/>
          </a:bodyPr>
          <a:lstStyle/>
          <a:p>
            <a:pPr algn="ctr"/>
            <a:r>
              <a:rPr lang="en-US" sz="2400" b="1">
                <a:latin typeface="Avenir"/>
              </a:rPr>
              <a:t>360</a:t>
            </a:r>
            <a:endParaRPr lang="en-GB" sz="2400"/>
          </a:p>
        </p:txBody>
      </p:sp>
      <p:sp>
        <p:nvSpPr>
          <p:cNvPr id="271" name="TextBox 270">
            <a:extLst>
              <a:ext uri="{FF2B5EF4-FFF2-40B4-BE49-F238E27FC236}">
                <a16:creationId xmlns:a16="http://schemas.microsoft.com/office/drawing/2014/main" id="{EC844A8B-5679-274C-BB36-459FB6B657A2}"/>
              </a:ext>
            </a:extLst>
          </p:cNvPr>
          <p:cNvSpPr txBox="1"/>
          <p:nvPr/>
        </p:nvSpPr>
        <p:spPr>
          <a:xfrm>
            <a:off x="8351278" y="4119762"/>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200</a:t>
            </a:r>
          </a:p>
        </p:txBody>
      </p:sp>
      <p:sp>
        <p:nvSpPr>
          <p:cNvPr id="383" name="TextBox 382">
            <a:extLst>
              <a:ext uri="{FF2B5EF4-FFF2-40B4-BE49-F238E27FC236}">
                <a16:creationId xmlns:a16="http://schemas.microsoft.com/office/drawing/2014/main" id="{D3953314-A136-7E4D-821E-E9AE82B803ED}"/>
              </a:ext>
            </a:extLst>
          </p:cNvPr>
          <p:cNvSpPr txBox="1"/>
          <p:nvPr/>
        </p:nvSpPr>
        <p:spPr>
          <a:xfrm>
            <a:off x="10039527" y="4119900"/>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200</a:t>
            </a:r>
          </a:p>
        </p:txBody>
      </p:sp>
    </p:spTree>
    <p:extLst>
      <p:ext uri="{BB962C8B-B14F-4D97-AF65-F5344CB8AC3E}">
        <p14:creationId xmlns:p14="http://schemas.microsoft.com/office/powerpoint/2010/main" val="249945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500"/>
                                        <p:tgtEl>
                                          <p:spTgt spid="4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fade">
                                      <p:cBhvr>
                                        <p:cTn id="10" dur="500"/>
                                        <p:tgtEl>
                                          <p:spTgt spid="111"/>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3.54167E-6 2.96296E-6 L -0.5181 0.18703 " pathEditMode="relative" rAng="0" ptsTypes="AA">
                                      <p:cBhvr>
                                        <p:cTn id="14" dur="3000" fill="hold"/>
                                        <p:tgtEl>
                                          <p:spTgt spid="271"/>
                                        </p:tgtEl>
                                        <p:attrNameLst>
                                          <p:attrName>ppt_x</p:attrName>
                                          <p:attrName>ppt_y</p:attrName>
                                        </p:attrNameLst>
                                      </p:cBhvr>
                                      <p:rCtr x="-25911" y="9352"/>
                                    </p:animMotion>
                                  </p:childTnLst>
                                </p:cTn>
                              </p:par>
                            </p:childTnLst>
                          </p:cTn>
                        </p:par>
                        <p:par>
                          <p:cTn id="15" fill="hold">
                            <p:stCondLst>
                              <p:cond delay="3000"/>
                            </p:stCondLst>
                            <p:childTnLst>
                              <p:par>
                                <p:cTn id="16" presetID="31" presetClass="exit" presetSubtype="0" fill="hold" grpId="1" nodeType="afterEffect">
                                  <p:stCondLst>
                                    <p:cond delay="0"/>
                                  </p:stCondLst>
                                  <p:childTnLst>
                                    <p:anim calcmode="lin" valueType="num">
                                      <p:cBhvr>
                                        <p:cTn id="17" dur="2000"/>
                                        <p:tgtEl>
                                          <p:spTgt spid="271"/>
                                        </p:tgtEl>
                                        <p:attrNameLst>
                                          <p:attrName>ppt_w</p:attrName>
                                        </p:attrNameLst>
                                      </p:cBhvr>
                                      <p:tavLst>
                                        <p:tav tm="0">
                                          <p:val>
                                            <p:strVal val="ppt_w"/>
                                          </p:val>
                                        </p:tav>
                                        <p:tav tm="100000">
                                          <p:val>
                                            <p:fltVal val="0"/>
                                          </p:val>
                                        </p:tav>
                                      </p:tavLst>
                                    </p:anim>
                                    <p:anim calcmode="lin" valueType="num">
                                      <p:cBhvr>
                                        <p:cTn id="18" dur="2000"/>
                                        <p:tgtEl>
                                          <p:spTgt spid="271"/>
                                        </p:tgtEl>
                                        <p:attrNameLst>
                                          <p:attrName>ppt_h</p:attrName>
                                        </p:attrNameLst>
                                      </p:cBhvr>
                                      <p:tavLst>
                                        <p:tav tm="0">
                                          <p:val>
                                            <p:strVal val="ppt_h"/>
                                          </p:val>
                                        </p:tav>
                                        <p:tav tm="100000">
                                          <p:val>
                                            <p:fltVal val="0"/>
                                          </p:val>
                                        </p:tav>
                                      </p:tavLst>
                                    </p:anim>
                                    <p:anim calcmode="lin" valueType="num">
                                      <p:cBhvr>
                                        <p:cTn id="19" dur="2000"/>
                                        <p:tgtEl>
                                          <p:spTgt spid="271"/>
                                        </p:tgtEl>
                                        <p:attrNameLst>
                                          <p:attrName>style.rotation</p:attrName>
                                        </p:attrNameLst>
                                      </p:cBhvr>
                                      <p:tavLst>
                                        <p:tav tm="0">
                                          <p:val>
                                            <p:fltVal val="0"/>
                                          </p:val>
                                        </p:tav>
                                        <p:tav tm="100000">
                                          <p:val>
                                            <p:fltVal val="90"/>
                                          </p:val>
                                        </p:tav>
                                      </p:tavLst>
                                    </p:anim>
                                    <p:animEffect transition="out" filter="fade">
                                      <p:cBhvr>
                                        <p:cTn id="20" dur="2000"/>
                                        <p:tgtEl>
                                          <p:spTgt spid="271"/>
                                        </p:tgtEl>
                                      </p:cBhvr>
                                    </p:animEffect>
                                    <p:set>
                                      <p:cBhvr>
                                        <p:cTn id="21" dur="1" fill="hold">
                                          <p:stCondLst>
                                            <p:cond delay="1999"/>
                                          </p:stCondLst>
                                        </p:cTn>
                                        <p:tgtEl>
                                          <p:spTgt spid="271"/>
                                        </p:tgtEl>
                                        <p:attrNameLst>
                                          <p:attrName>style.visibility</p:attrName>
                                        </p:attrNameLst>
                                      </p:cBhvr>
                                      <p:to>
                                        <p:strVal val="hidden"/>
                                      </p:to>
                                    </p:set>
                                  </p:childTnLst>
                                </p:cTn>
                              </p:par>
                              <p:par>
                                <p:cTn id="22" presetID="42" presetClass="entr" presetSubtype="0" fill="hold" nodeType="withEffect">
                                  <p:stCondLst>
                                    <p:cond delay="0"/>
                                  </p:stCondLst>
                                  <p:childTnLst>
                                    <p:set>
                                      <p:cBhvr>
                                        <p:cTn id="23" dur="1" fill="hold">
                                          <p:stCondLst>
                                            <p:cond delay="0"/>
                                          </p:stCondLst>
                                        </p:cTn>
                                        <p:tgtEl>
                                          <p:spTgt spid="380"/>
                                        </p:tgtEl>
                                        <p:attrNameLst>
                                          <p:attrName>style.visibility</p:attrName>
                                        </p:attrNameLst>
                                      </p:cBhvr>
                                      <p:to>
                                        <p:strVal val="visible"/>
                                      </p:to>
                                    </p:set>
                                    <p:animEffect transition="in" filter="fade">
                                      <p:cBhvr>
                                        <p:cTn id="24" dur="1000"/>
                                        <p:tgtEl>
                                          <p:spTgt spid="380"/>
                                        </p:tgtEl>
                                      </p:cBhvr>
                                    </p:animEffect>
                                    <p:anim calcmode="lin" valueType="num">
                                      <p:cBhvr>
                                        <p:cTn id="25" dur="1000" fill="hold"/>
                                        <p:tgtEl>
                                          <p:spTgt spid="380"/>
                                        </p:tgtEl>
                                        <p:attrNameLst>
                                          <p:attrName>ppt_x</p:attrName>
                                        </p:attrNameLst>
                                      </p:cBhvr>
                                      <p:tavLst>
                                        <p:tav tm="0">
                                          <p:val>
                                            <p:strVal val="#ppt_x"/>
                                          </p:val>
                                        </p:tav>
                                        <p:tav tm="100000">
                                          <p:val>
                                            <p:strVal val="#ppt_x"/>
                                          </p:val>
                                        </p:tav>
                                      </p:tavLst>
                                    </p:anim>
                                    <p:anim calcmode="lin" valueType="num">
                                      <p:cBhvr>
                                        <p:cTn id="26" dur="1000" fill="hold"/>
                                        <p:tgtEl>
                                          <p:spTgt spid="38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62"/>
                                        </p:tgtEl>
                                        <p:attrNameLst>
                                          <p:attrName>style.visibility</p:attrName>
                                        </p:attrNameLst>
                                      </p:cBhvr>
                                      <p:to>
                                        <p:strVal val="visible"/>
                                      </p:to>
                                    </p:set>
                                    <p:animEffect transition="in" filter="fade">
                                      <p:cBhvr>
                                        <p:cTn id="29" dur="1000"/>
                                        <p:tgtEl>
                                          <p:spTgt spid="262"/>
                                        </p:tgtEl>
                                      </p:cBhvr>
                                    </p:animEffect>
                                    <p:anim calcmode="lin" valueType="num">
                                      <p:cBhvr>
                                        <p:cTn id="30" dur="1000" fill="hold"/>
                                        <p:tgtEl>
                                          <p:spTgt spid="262"/>
                                        </p:tgtEl>
                                        <p:attrNameLst>
                                          <p:attrName>ppt_x</p:attrName>
                                        </p:attrNameLst>
                                      </p:cBhvr>
                                      <p:tavLst>
                                        <p:tav tm="0">
                                          <p:val>
                                            <p:strVal val="#ppt_x"/>
                                          </p:val>
                                        </p:tav>
                                        <p:tav tm="100000">
                                          <p:val>
                                            <p:strVal val="#ppt_x"/>
                                          </p:val>
                                        </p:tav>
                                      </p:tavLst>
                                    </p:anim>
                                    <p:anim calcmode="lin" valueType="num">
                                      <p:cBhvr>
                                        <p:cTn id="31" dur="1000" fill="hold"/>
                                        <p:tgtEl>
                                          <p:spTgt spid="26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61"/>
                                        </p:tgtEl>
                                        <p:attrNameLst>
                                          <p:attrName>style.visibility</p:attrName>
                                        </p:attrNameLst>
                                      </p:cBhvr>
                                      <p:to>
                                        <p:strVal val="visible"/>
                                      </p:to>
                                    </p:set>
                                    <p:animEffect transition="in" filter="fade">
                                      <p:cBhvr>
                                        <p:cTn id="34" dur="1000"/>
                                        <p:tgtEl>
                                          <p:spTgt spid="261"/>
                                        </p:tgtEl>
                                      </p:cBhvr>
                                    </p:animEffect>
                                    <p:anim calcmode="lin" valueType="num">
                                      <p:cBhvr>
                                        <p:cTn id="35" dur="1000" fill="hold"/>
                                        <p:tgtEl>
                                          <p:spTgt spid="261"/>
                                        </p:tgtEl>
                                        <p:attrNameLst>
                                          <p:attrName>ppt_x</p:attrName>
                                        </p:attrNameLst>
                                      </p:cBhvr>
                                      <p:tavLst>
                                        <p:tav tm="0">
                                          <p:val>
                                            <p:strVal val="#ppt_x"/>
                                          </p:val>
                                        </p:tav>
                                        <p:tav tm="100000">
                                          <p:val>
                                            <p:strVal val="#ppt_x"/>
                                          </p:val>
                                        </p:tav>
                                      </p:tavLst>
                                    </p:anim>
                                    <p:anim calcmode="lin" valueType="num">
                                      <p:cBhvr>
                                        <p:cTn id="36" dur="1000" fill="hold"/>
                                        <p:tgtEl>
                                          <p:spTgt spid="261"/>
                                        </p:tgtEl>
                                        <p:attrNameLst>
                                          <p:attrName>ppt_y</p:attrName>
                                        </p:attrNameLst>
                                      </p:cBhvr>
                                      <p:tavLst>
                                        <p:tav tm="0">
                                          <p:val>
                                            <p:strVal val="#ppt_y+.1"/>
                                          </p:val>
                                        </p:tav>
                                        <p:tav tm="100000">
                                          <p:val>
                                            <p:strVal val="#ppt_y"/>
                                          </p:val>
                                        </p:tav>
                                      </p:tavLst>
                                    </p:anim>
                                  </p:childTnLst>
                                </p:cTn>
                              </p:par>
                            </p:childTnLst>
                          </p:cTn>
                        </p:par>
                        <p:par>
                          <p:cTn id="37" fill="hold">
                            <p:stCondLst>
                              <p:cond delay="5000"/>
                            </p:stCondLst>
                            <p:childTnLst>
                              <p:par>
                                <p:cTn id="38" presetID="10" presetClass="entr" presetSubtype="0" fill="hold" grpId="0" nodeType="afterEffect">
                                  <p:stCondLst>
                                    <p:cond delay="0"/>
                                  </p:stCondLst>
                                  <p:childTnLst>
                                    <p:set>
                                      <p:cBhvr>
                                        <p:cTn id="39" dur="1" fill="hold">
                                          <p:stCondLst>
                                            <p:cond delay="0"/>
                                          </p:stCondLst>
                                        </p:cTn>
                                        <p:tgtEl>
                                          <p:spTgt spid="372"/>
                                        </p:tgtEl>
                                        <p:attrNameLst>
                                          <p:attrName>style.visibility</p:attrName>
                                        </p:attrNameLst>
                                      </p:cBhvr>
                                      <p:to>
                                        <p:strVal val="visible"/>
                                      </p:to>
                                    </p:set>
                                    <p:animEffect transition="in" filter="fade">
                                      <p:cBhvr>
                                        <p:cTn id="40" dur="1000"/>
                                        <p:tgtEl>
                                          <p:spTgt spid="372"/>
                                        </p:tgtEl>
                                      </p:cBhvr>
                                    </p:animEffect>
                                  </p:childTnLst>
                                </p:cTn>
                              </p:par>
                              <p:par>
                                <p:cTn id="41" presetID="10" presetClass="exit" presetSubtype="0" fill="hold" grpId="0" nodeType="withEffect">
                                  <p:stCondLst>
                                    <p:cond delay="0"/>
                                  </p:stCondLst>
                                  <p:childTnLst>
                                    <p:animEffect transition="out" filter="fade">
                                      <p:cBhvr>
                                        <p:cTn id="42" dur="500"/>
                                        <p:tgtEl>
                                          <p:spTgt spid="373"/>
                                        </p:tgtEl>
                                      </p:cBhvr>
                                    </p:animEffect>
                                    <p:set>
                                      <p:cBhvr>
                                        <p:cTn id="43" dur="1" fill="hold">
                                          <p:stCondLst>
                                            <p:cond delay="499"/>
                                          </p:stCondLst>
                                        </p:cTn>
                                        <p:tgtEl>
                                          <p:spTgt spid="373"/>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42" presetClass="path" presetSubtype="0" accel="50000" decel="50000" fill="hold" grpId="0" nodeType="clickEffect">
                                  <p:stCondLst>
                                    <p:cond delay="0"/>
                                  </p:stCondLst>
                                  <p:childTnLst>
                                    <p:animMotion origin="layout" path="M 2.08333E-6 2.96296E-6 L -0.43646 -0.3838 " pathEditMode="relative" rAng="0" ptsTypes="AA">
                                      <p:cBhvr>
                                        <p:cTn id="47" dur="3000" fill="hold"/>
                                        <p:tgtEl>
                                          <p:spTgt spid="383"/>
                                        </p:tgtEl>
                                        <p:attrNameLst>
                                          <p:attrName>ppt_x</p:attrName>
                                          <p:attrName>ppt_y</p:attrName>
                                        </p:attrNameLst>
                                      </p:cBhvr>
                                      <p:rCtr x="-21823" y="-19190"/>
                                    </p:animMotion>
                                  </p:childTnLst>
                                </p:cTn>
                              </p:par>
                            </p:childTnLst>
                          </p:cTn>
                        </p:par>
                        <p:par>
                          <p:cTn id="48" fill="hold">
                            <p:stCondLst>
                              <p:cond delay="3000"/>
                            </p:stCondLst>
                            <p:childTnLst>
                              <p:par>
                                <p:cTn id="49" presetID="31" presetClass="exit" presetSubtype="0" fill="hold" grpId="1" nodeType="afterEffect">
                                  <p:stCondLst>
                                    <p:cond delay="0"/>
                                  </p:stCondLst>
                                  <p:childTnLst>
                                    <p:anim calcmode="lin" valueType="num">
                                      <p:cBhvr>
                                        <p:cTn id="50" dur="1000"/>
                                        <p:tgtEl>
                                          <p:spTgt spid="383"/>
                                        </p:tgtEl>
                                        <p:attrNameLst>
                                          <p:attrName>ppt_w</p:attrName>
                                        </p:attrNameLst>
                                      </p:cBhvr>
                                      <p:tavLst>
                                        <p:tav tm="0">
                                          <p:val>
                                            <p:strVal val="ppt_w"/>
                                          </p:val>
                                        </p:tav>
                                        <p:tav tm="100000">
                                          <p:val>
                                            <p:fltVal val="0"/>
                                          </p:val>
                                        </p:tav>
                                      </p:tavLst>
                                    </p:anim>
                                    <p:anim calcmode="lin" valueType="num">
                                      <p:cBhvr>
                                        <p:cTn id="51" dur="1000"/>
                                        <p:tgtEl>
                                          <p:spTgt spid="383"/>
                                        </p:tgtEl>
                                        <p:attrNameLst>
                                          <p:attrName>ppt_h</p:attrName>
                                        </p:attrNameLst>
                                      </p:cBhvr>
                                      <p:tavLst>
                                        <p:tav tm="0">
                                          <p:val>
                                            <p:strVal val="ppt_h"/>
                                          </p:val>
                                        </p:tav>
                                        <p:tav tm="100000">
                                          <p:val>
                                            <p:fltVal val="0"/>
                                          </p:val>
                                        </p:tav>
                                      </p:tavLst>
                                    </p:anim>
                                    <p:anim calcmode="lin" valueType="num">
                                      <p:cBhvr>
                                        <p:cTn id="52" dur="1000"/>
                                        <p:tgtEl>
                                          <p:spTgt spid="383"/>
                                        </p:tgtEl>
                                        <p:attrNameLst>
                                          <p:attrName>style.rotation</p:attrName>
                                        </p:attrNameLst>
                                      </p:cBhvr>
                                      <p:tavLst>
                                        <p:tav tm="0">
                                          <p:val>
                                            <p:fltVal val="0"/>
                                          </p:val>
                                        </p:tav>
                                        <p:tav tm="100000">
                                          <p:val>
                                            <p:fltVal val="90"/>
                                          </p:val>
                                        </p:tav>
                                      </p:tavLst>
                                    </p:anim>
                                    <p:animEffect transition="out" filter="fade">
                                      <p:cBhvr>
                                        <p:cTn id="53" dur="1000"/>
                                        <p:tgtEl>
                                          <p:spTgt spid="383"/>
                                        </p:tgtEl>
                                      </p:cBhvr>
                                    </p:animEffect>
                                    <p:set>
                                      <p:cBhvr>
                                        <p:cTn id="54" dur="1" fill="hold">
                                          <p:stCondLst>
                                            <p:cond delay="999"/>
                                          </p:stCondLst>
                                        </p:cTn>
                                        <p:tgtEl>
                                          <p:spTgt spid="383"/>
                                        </p:tgtEl>
                                        <p:attrNameLst>
                                          <p:attrName>style.visibility</p:attrName>
                                        </p:attrNameLst>
                                      </p:cBhvr>
                                      <p:to>
                                        <p:strVal val="hidden"/>
                                      </p:to>
                                    </p:set>
                                  </p:childTnLst>
                                </p:cTn>
                              </p:par>
                              <p:par>
                                <p:cTn id="55" presetID="47" presetClass="entr" presetSubtype="0" fill="hold" nodeType="withEffect">
                                  <p:stCondLst>
                                    <p:cond delay="0"/>
                                  </p:stCondLst>
                                  <p:childTnLst>
                                    <p:set>
                                      <p:cBhvr>
                                        <p:cTn id="56" dur="1" fill="hold">
                                          <p:stCondLst>
                                            <p:cond delay="0"/>
                                          </p:stCondLst>
                                        </p:cTn>
                                        <p:tgtEl>
                                          <p:spTgt spid="377"/>
                                        </p:tgtEl>
                                        <p:attrNameLst>
                                          <p:attrName>style.visibility</p:attrName>
                                        </p:attrNameLst>
                                      </p:cBhvr>
                                      <p:to>
                                        <p:strVal val="visible"/>
                                      </p:to>
                                    </p:set>
                                    <p:animEffect transition="in" filter="fade">
                                      <p:cBhvr>
                                        <p:cTn id="57" dur="1000"/>
                                        <p:tgtEl>
                                          <p:spTgt spid="377"/>
                                        </p:tgtEl>
                                      </p:cBhvr>
                                    </p:animEffect>
                                    <p:anim calcmode="lin" valueType="num">
                                      <p:cBhvr>
                                        <p:cTn id="58" dur="1000" fill="hold"/>
                                        <p:tgtEl>
                                          <p:spTgt spid="377"/>
                                        </p:tgtEl>
                                        <p:attrNameLst>
                                          <p:attrName>ppt_x</p:attrName>
                                        </p:attrNameLst>
                                      </p:cBhvr>
                                      <p:tavLst>
                                        <p:tav tm="0">
                                          <p:val>
                                            <p:strVal val="#ppt_x"/>
                                          </p:val>
                                        </p:tav>
                                        <p:tav tm="100000">
                                          <p:val>
                                            <p:strVal val="#ppt_x"/>
                                          </p:val>
                                        </p:tav>
                                      </p:tavLst>
                                    </p:anim>
                                    <p:anim calcmode="lin" valueType="num">
                                      <p:cBhvr>
                                        <p:cTn id="59" dur="1000" fill="hold"/>
                                        <p:tgtEl>
                                          <p:spTgt spid="377"/>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264"/>
                                        </p:tgtEl>
                                        <p:attrNameLst>
                                          <p:attrName>style.visibility</p:attrName>
                                        </p:attrNameLst>
                                      </p:cBhvr>
                                      <p:to>
                                        <p:strVal val="visible"/>
                                      </p:to>
                                    </p:set>
                                    <p:animEffect transition="in" filter="fade">
                                      <p:cBhvr>
                                        <p:cTn id="62" dur="1000"/>
                                        <p:tgtEl>
                                          <p:spTgt spid="264"/>
                                        </p:tgtEl>
                                      </p:cBhvr>
                                    </p:animEffect>
                                    <p:anim calcmode="lin" valueType="num">
                                      <p:cBhvr>
                                        <p:cTn id="63" dur="1000" fill="hold"/>
                                        <p:tgtEl>
                                          <p:spTgt spid="264"/>
                                        </p:tgtEl>
                                        <p:attrNameLst>
                                          <p:attrName>ppt_x</p:attrName>
                                        </p:attrNameLst>
                                      </p:cBhvr>
                                      <p:tavLst>
                                        <p:tav tm="0">
                                          <p:val>
                                            <p:strVal val="#ppt_x"/>
                                          </p:val>
                                        </p:tav>
                                        <p:tav tm="100000">
                                          <p:val>
                                            <p:strVal val="#ppt_x"/>
                                          </p:val>
                                        </p:tav>
                                      </p:tavLst>
                                    </p:anim>
                                    <p:anim calcmode="lin" valueType="num">
                                      <p:cBhvr>
                                        <p:cTn id="64" dur="1000" fill="hold"/>
                                        <p:tgtEl>
                                          <p:spTgt spid="264"/>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263"/>
                                        </p:tgtEl>
                                        <p:attrNameLst>
                                          <p:attrName>style.visibility</p:attrName>
                                        </p:attrNameLst>
                                      </p:cBhvr>
                                      <p:to>
                                        <p:strVal val="visible"/>
                                      </p:to>
                                    </p:set>
                                    <p:animEffect transition="in" filter="fade">
                                      <p:cBhvr>
                                        <p:cTn id="67" dur="1000"/>
                                        <p:tgtEl>
                                          <p:spTgt spid="263"/>
                                        </p:tgtEl>
                                      </p:cBhvr>
                                    </p:animEffect>
                                    <p:anim calcmode="lin" valueType="num">
                                      <p:cBhvr>
                                        <p:cTn id="68" dur="1000" fill="hold"/>
                                        <p:tgtEl>
                                          <p:spTgt spid="263"/>
                                        </p:tgtEl>
                                        <p:attrNameLst>
                                          <p:attrName>ppt_x</p:attrName>
                                        </p:attrNameLst>
                                      </p:cBhvr>
                                      <p:tavLst>
                                        <p:tav tm="0">
                                          <p:val>
                                            <p:strVal val="#ppt_x"/>
                                          </p:val>
                                        </p:tav>
                                        <p:tav tm="100000">
                                          <p:val>
                                            <p:strVal val="#ppt_x"/>
                                          </p:val>
                                        </p:tav>
                                      </p:tavLst>
                                    </p:anim>
                                    <p:anim calcmode="lin" valueType="num">
                                      <p:cBhvr>
                                        <p:cTn id="69" dur="1000" fill="hold"/>
                                        <p:tgtEl>
                                          <p:spTgt spid="263"/>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399"/>
                                        </p:tgtEl>
                                        <p:attrNameLst>
                                          <p:attrName>style.visibility</p:attrName>
                                        </p:attrNameLst>
                                      </p:cBhvr>
                                      <p:to>
                                        <p:strVal val="visible"/>
                                      </p:to>
                                    </p:set>
                                    <p:animEffect transition="in" filter="fade">
                                      <p:cBhvr>
                                        <p:cTn id="74" dur="1000"/>
                                        <p:tgtEl>
                                          <p:spTgt spid="399"/>
                                        </p:tgtEl>
                                      </p:cBhvr>
                                    </p:animEffect>
                                    <p:anim calcmode="lin" valueType="num">
                                      <p:cBhvr>
                                        <p:cTn id="75" dur="1000" fill="hold"/>
                                        <p:tgtEl>
                                          <p:spTgt spid="399"/>
                                        </p:tgtEl>
                                        <p:attrNameLst>
                                          <p:attrName>ppt_x</p:attrName>
                                        </p:attrNameLst>
                                      </p:cBhvr>
                                      <p:tavLst>
                                        <p:tav tm="0">
                                          <p:val>
                                            <p:strVal val="#ppt_x"/>
                                          </p:val>
                                        </p:tav>
                                        <p:tav tm="100000">
                                          <p:val>
                                            <p:strVal val="#ppt_x"/>
                                          </p:val>
                                        </p:tav>
                                      </p:tavLst>
                                    </p:anim>
                                    <p:anim calcmode="lin" valueType="num">
                                      <p:cBhvr>
                                        <p:cTn id="76" dur="1000" fill="hold"/>
                                        <p:tgtEl>
                                          <p:spTgt spid="399"/>
                                        </p:tgtEl>
                                        <p:attrNameLst>
                                          <p:attrName>ppt_y</p:attrName>
                                        </p:attrNameLst>
                                      </p:cBhvr>
                                      <p:tavLst>
                                        <p:tav tm="0">
                                          <p:val>
                                            <p:strVal val="#ppt_y+.1"/>
                                          </p:val>
                                        </p:tav>
                                        <p:tav tm="100000">
                                          <p:val>
                                            <p:strVal val="#ppt_y"/>
                                          </p:val>
                                        </p:tav>
                                      </p:tavLst>
                                    </p:anim>
                                  </p:childTnLst>
                                </p:cTn>
                              </p:par>
                              <p:par>
                                <p:cTn id="77" presetID="47" presetClass="entr" presetSubtype="0" fill="hold" grpId="0" nodeType="withEffect">
                                  <p:stCondLst>
                                    <p:cond delay="0"/>
                                  </p:stCondLst>
                                  <p:childTnLst>
                                    <p:set>
                                      <p:cBhvr>
                                        <p:cTn id="78" dur="1" fill="hold">
                                          <p:stCondLst>
                                            <p:cond delay="0"/>
                                          </p:stCondLst>
                                        </p:cTn>
                                        <p:tgtEl>
                                          <p:spTgt spid="400"/>
                                        </p:tgtEl>
                                        <p:attrNameLst>
                                          <p:attrName>style.visibility</p:attrName>
                                        </p:attrNameLst>
                                      </p:cBhvr>
                                      <p:to>
                                        <p:strVal val="visible"/>
                                      </p:to>
                                    </p:set>
                                    <p:animEffect transition="in" filter="fade">
                                      <p:cBhvr>
                                        <p:cTn id="79" dur="1000"/>
                                        <p:tgtEl>
                                          <p:spTgt spid="400"/>
                                        </p:tgtEl>
                                      </p:cBhvr>
                                    </p:animEffect>
                                    <p:anim calcmode="lin" valueType="num">
                                      <p:cBhvr>
                                        <p:cTn id="80" dur="1000" fill="hold"/>
                                        <p:tgtEl>
                                          <p:spTgt spid="400"/>
                                        </p:tgtEl>
                                        <p:attrNameLst>
                                          <p:attrName>ppt_x</p:attrName>
                                        </p:attrNameLst>
                                      </p:cBhvr>
                                      <p:tavLst>
                                        <p:tav tm="0">
                                          <p:val>
                                            <p:strVal val="#ppt_x"/>
                                          </p:val>
                                        </p:tav>
                                        <p:tav tm="100000">
                                          <p:val>
                                            <p:strVal val="#ppt_x"/>
                                          </p:val>
                                        </p:tav>
                                      </p:tavLst>
                                    </p:anim>
                                    <p:anim calcmode="lin" valueType="num">
                                      <p:cBhvr>
                                        <p:cTn id="81" dur="1000" fill="hold"/>
                                        <p:tgtEl>
                                          <p:spTgt spid="4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261" grpId="0"/>
      <p:bldP spid="262" grpId="0" animBg="1"/>
      <p:bldP spid="263" grpId="0"/>
      <p:bldP spid="264" grpId="0" animBg="1"/>
      <p:bldP spid="399" grpId="0" animBg="1"/>
      <p:bldP spid="400" grpId="0" animBg="1"/>
      <p:bldP spid="372" grpId="0"/>
      <p:bldP spid="373" grpId="0"/>
      <p:bldP spid="271" grpId="0" animBg="1"/>
      <p:bldP spid="271" grpId="1" animBg="1"/>
      <p:bldP spid="383" grpId="0" animBg="1"/>
      <p:bldP spid="383"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159"/>
        <p:cNvGrpSpPr/>
        <p:nvPr/>
      </p:nvGrpSpPr>
      <p:grpSpPr>
        <a:xfrm>
          <a:off x="0" y="0"/>
          <a:ext cx="0" cy="0"/>
          <a:chOff x="0" y="0"/>
          <a:chExt cx="0" cy="0"/>
        </a:xfrm>
      </p:grpSpPr>
      <p:sp>
        <p:nvSpPr>
          <p:cNvPr id="4160" name="Google Shape;4160;p83"/>
          <p:cNvSpPr txBox="1"/>
          <p:nvPr/>
        </p:nvSpPr>
        <p:spPr>
          <a:xfrm>
            <a:off x="4187006" y="284371"/>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grpSp>
        <p:nvGrpSpPr>
          <p:cNvPr id="4161" name="Google Shape;4161;p83"/>
          <p:cNvGrpSpPr/>
          <p:nvPr/>
        </p:nvGrpSpPr>
        <p:grpSpPr>
          <a:xfrm>
            <a:off x="1284578" y="2130923"/>
            <a:ext cx="10187237" cy="756009"/>
            <a:chOff x="1284578" y="2130923"/>
            <a:chExt cx="10187237" cy="756009"/>
          </a:xfrm>
        </p:grpSpPr>
        <p:grpSp>
          <p:nvGrpSpPr>
            <p:cNvPr id="4162" name="Google Shape;4162;p83"/>
            <p:cNvGrpSpPr/>
            <p:nvPr/>
          </p:nvGrpSpPr>
          <p:grpSpPr>
            <a:xfrm>
              <a:off x="1284578" y="2130929"/>
              <a:ext cx="10187237" cy="756003"/>
              <a:chOff x="719091" y="1719857"/>
              <a:chExt cx="9545223" cy="756003"/>
            </a:xfrm>
          </p:grpSpPr>
          <p:sp>
            <p:nvSpPr>
              <p:cNvPr id="4163" name="Google Shape;4163;p83"/>
              <p:cNvSpPr txBox="1"/>
              <p:nvPr/>
            </p:nvSpPr>
            <p:spPr>
              <a:xfrm>
                <a:off x="1456307" y="1719860"/>
                <a:ext cx="5650757" cy="756000"/>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139700" marR="0" lvl="0" indent="0" algn="l" rtl="0">
                  <a:spcBef>
                    <a:spcPts val="0"/>
                  </a:spcBef>
                  <a:spcAft>
                    <a:spcPts val="0"/>
                  </a:spcAft>
                  <a:buNone/>
                </a:pPr>
                <a:r>
                  <a:rPr lang="en-US" sz="2000">
                    <a:solidFill>
                      <a:schemeClr val="dk1"/>
                    </a:solidFill>
                    <a:latin typeface="Calibri"/>
                    <a:ea typeface="Calibri"/>
                    <a:cs typeface="Calibri"/>
                    <a:sym typeface="Calibri"/>
                  </a:rPr>
                  <a:t>ZZZ 공급업체에게 전액 지급함.</a:t>
                </a:r>
                <a:endParaRPr sz="2000">
                  <a:solidFill>
                    <a:schemeClr val="dk1"/>
                  </a:solidFill>
                  <a:latin typeface="Avenir"/>
                  <a:ea typeface="Avenir"/>
                  <a:cs typeface="Avenir"/>
                  <a:sym typeface="Avenir"/>
                </a:endParaRPr>
              </a:p>
            </p:txBody>
          </p:sp>
          <p:sp>
            <p:nvSpPr>
              <p:cNvPr id="4164" name="Google Shape;4164;p83"/>
              <p:cNvSpPr txBox="1"/>
              <p:nvPr/>
            </p:nvSpPr>
            <p:spPr>
              <a:xfrm>
                <a:off x="7107065" y="1719857"/>
                <a:ext cx="1578623" cy="756000"/>
              </a:xfrm>
              <a:prstGeom prst="rect">
                <a:avLst/>
              </a:prstGeom>
              <a:solidFill>
                <a:srgbClr val="E1EFD8"/>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rgbClr val="BFBFBF"/>
                    </a:solidFill>
                    <a:latin typeface="Avenir"/>
                    <a:ea typeface="Avenir"/>
                    <a:cs typeface="Avenir"/>
                    <a:sym typeface="Avenir"/>
                  </a:rPr>
                  <a:t>Accounts payable</a:t>
                </a: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6,000</a:t>
                </a:r>
                <a:endParaRPr/>
              </a:p>
            </p:txBody>
          </p:sp>
          <p:sp>
            <p:nvSpPr>
              <p:cNvPr id="4165" name="Google Shape;4165;p83"/>
              <p:cNvSpPr txBox="1"/>
              <p:nvPr/>
            </p:nvSpPr>
            <p:spPr>
              <a:xfrm>
                <a:off x="8685691" y="1719857"/>
                <a:ext cx="1578623" cy="756000"/>
              </a:xfrm>
              <a:prstGeom prst="rect">
                <a:avLst/>
              </a:prstGeom>
              <a:solidFill>
                <a:srgbClr val="FBE4D4"/>
              </a:solidFill>
              <a:ln w="9525" cap="flat" cmpd="sng">
                <a:solidFill>
                  <a:srgbClr val="BFBFB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rgbClr val="BFBFBF"/>
                    </a:solidFill>
                    <a:latin typeface="Avenir"/>
                    <a:ea typeface="Avenir"/>
                    <a:cs typeface="Avenir"/>
                    <a:sym typeface="Avenir"/>
                  </a:rPr>
                  <a:t>Cash</a:t>
                </a:r>
                <a:endParaRPr sz="1600" b="1">
                  <a:solidFill>
                    <a:srgbClr val="BFBFBF"/>
                  </a:solidFill>
                  <a:latin typeface="Avenir"/>
                  <a:ea typeface="Avenir"/>
                  <a:cs typeface="Avenir"/>
                  <a:sym typeface="Avenir"/>
                </a:endParaRPr>
              </a:p>
              <a:p>
                <a:pPr marL="0" marR="0" lvl="0" indent="0" algn="ctr" rtl="0">
                  <a:spcBef>
                    <a:spcPts val="0"/>
                  </a:spcBef>
                  <a:spcAft>
                    <a:spcPts val="0"/>
                  </a:spcAft>
                  <a:buNone/>
                </a:pPr>
                <a:r>
                  <a:rPr lang="en-US" sz="1800" b="1">
                    <a:solidFill>
                      <a:srgbClr val="BFBFBF"/>
                    </a:solidFill>
                    <a:latin typeface="Avenir"/>
                    <a:ea typeface="Avenir"/>
                    <a:cs typeface="Avenir"/>
                    <a:sym typeface="Avenir"/>
                  </a:rPr>
                  <a:t>6,000</a:t>
                </a:r>
                <a:endParaRPr/>
              </a:p>
            </p:txBody>
          </p:sp>
          <p:sp>
            <p:nvSpPr>
              <p:cNvPr id="4166" name="Google Shape;4166;p83"/>
              <p:cNvSpPr txBox="1"/>
              <p:nvPr/>
            </p:nvSpPr>
            <p:spPr>
              <a:xfrm>
                <a:off x="719091" y="1719857"/>
                <a:ext cx="737213" cy="756000"/>
              </a:xfrm>
              <a:prstGeom prst="rect">
                <a:avLst/>
              </a:prstGeom>
              <a:solidFill>
                <a:schemeClr val="lt1"/>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16</a:t>
                </a:r>
                <a:endParaRPr/>
              </a:p>
            </p:txBody>
          </p:sp>
        </p:grpSp>
        <p:sp>
          <p:nvSpPr>
            <p:cNvPr id="4167" name="Google Shape;4167;p83"/>
            <p:cNvSpPr txBox="1"/>
            <p:nvPr/>
          </p:nvSpPr>
          <p:spPr>
            <a:xfrm>
              <a:off x="8102209" y="2130926"/>
              <a:ext cx="1684802" cy="756000"/>
            </a:xfrm>
            <a:prstGeom prst="rect">
              <a:avLst/>
            </a:prstGeom>
            <a:solidFill>
              <a:srgbClr val="548135"/>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6,000</a:t>
              </a:r>
              <a:endParaRPr/>
            </a:p>
          </p:txBody>
        </p:sp>
        <p:sp>
          <p:nvSpPr>
            <p:cNvPr id="4168" name="Google Shape;4168;p83"/>
            <p:cNvSpPr txBox="1"/>
            <p:nvPr/>
          </p:nvSpPr>
          <p:spPr>
            <a:xfrm>
              <a:off x="9787014" y="2130923"/>
              <a:ext cx="1684801" cy="756000"/>
            </a:xfrm>
            <a:prstGeom prst="rect">
              <a:avLst/>
            </a:prstGeom>
            <a:solidFill>
              <a:schemeClr val="accent2"/>
            </a:solidFill>
            <a:ln w="9525" cap="flat" cmpd="sng">
              <a:solidFill>
                <a:srgbClr val="BFBFB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lt1"/>
                  </a:solidFill>
                  <a:latin typeface="Avenir"/>
                  <a:ea typeface="Avenir"/>
                  <a:cs typeface="Avenir"/>
                  <a:sym typeface="Avenir"/>
                </a:rPr>
                <a:t>6,000</a:t>
              </a:r>
              <a:endParaRPr/>
            </a:p>
          </p:txBody>
        </p:sp>
      </p:grpSp>
      <p:cxnSp>
        <p:nvCxnSpPr>
          <p:cNvPr id="4169" name="Google Shape;4169;p83"/>
          <p:cNvCxnSpPr/>
          <p:nvPr/>
        </p:nvCxnSpPr>
        <p:spPr>
          <a:xfrm>
            <a:off x="4316098" y="717845"/>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4170" name="Google Shape;4170;p83"/>
          <p:cNvSpPr/>
          <p:nvPr/>
        </p:nvSpPr>
        <p:spPr>
          <a:xfrm>
            <a:off x="1284578" y="1520543"/>
            <a:ext cx="2024679" cy="4201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30">
                <a:solidFill>
                  <a:schemeClr val="dk1"/>
                </a:solidFill>
                <a:latin typeface="Avenir"/>
                <a:ea typeface="Avenir"/>
                <a:cs typeface="Avenir"/>
                <a:sym typeface="Avenir"/>
              </a:rPr>
              <a:t>31 March</a:t>
            </a:r>
            <a:endParaRPr sz="2130">
              <a:solidFill>
                <a:schemeClr val="dk1"/>
              </a:solidFill>
              <a:latin typeface="Avenir"/>
              <a:ea typeface="Avenir"/>
              <a:cs typeface="Avenir"/>
              <a:sym typeface="Aveni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B0CB96DC-198E-CD4D-970B-BCF8959BDC4C}"/>
              </a:ext>
            </a:extLst>
          </p:cNvPr>
          <p:cNvSpPr txBox="1"/>
          <p:nvPr/>
        </p:nvSpPr>
        <p:spPr>
          <a:xfrm>
            <a:off x="4187006" y="133386"/>
            <a:ext cx="2774990" cy="523220"/>
          </a:xfrm>
          <a:prstGeom prst="rect">
            <a:avLst/>
          </a:prstGeom>
          <a:noFill/>
        </p:spPr>
        <p:txBody>
          <a:bodyPr wrap="none" rtlCol="0">
            <a:spAutoFit/>
          </a:bodyPr>
          <a:lstStyle/>
          <a:p>
            <a:r>
              <a:rPr lang="en-US" sz="2800" dirty="0">
                <a:solidFill>
                  <a:schemeClr val="accent1"/>
                </a:solidFill>
                <a:latin typeface="Avenir"/>
              </a:rPr>
              <a:t>Global Books, Inc.</a:t>
            </a:r>
          </a:p>
        </p:txBody>
      </p:sp>
      <p:cxnSp>
        <p:nvCxnSpPr>
          <p:cNvPr id="64" name="Straight Connector 63">
            <a:extLst>
              <a:ext uri="{FF2B5EF4-FFF2-40B4-BE49-F238E27FC236}">
                <a16:creationId xmlns:a16="http://schemas.microsoft.com/office/drawing/2014/main" id="{A43F703A-E4E7-1244-AF50-4F47AD797F1D}"/>
              </a:ext>
            </a:extLst>
          </p:cNvPr>
          <p:cNvCxnSpPr>
            <a:cxnSpLocks/>
          </p:cNvCxnSpPr>
          <p:nvPr/>
        </p:nvCxnSpPr>
        <p:spPr>
          <a:xfrm>
            <a:off x="4316098" y="566860"/>
            <a:ext cx="3375212"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sp>
        <p:nvSpPr>
          <p:cNvPr id="397" name="TextBox 396">
            <a:extLst>
              <a:ext uri="{FF2B5EF4-FFF2-40B4-BE49-F238E27FC236}">
                <a16:creationId xmlns:a16="http://schemas.microsoft.com/office/drawing/2014/main" id="{1FE8D7A1-DD8E-454B-AE1F-1E7879C864EB}"/>
              </a:ext>
            </a:extLst>
          </p:cNvPr>
          <p:cNvSpPr txBox="1"/>
          <p:nvPr/>
        </p:nvSpPr>
        <p:spPr>
          <a:xfrm>
            <a:off x="9504213" y="373659"/>
            <a:ext cx="2279791" cy="400110"/>
          </a:xfrm>
          <a:prstGeom prst="rect">
            <a:avLst/>
          </a:prstGeom>
          <a:noFill/>
        </p:spPr>
        <p:txBody>
          <a:bodyPr wrap="none" rtlCol="0">
            <a:spAutoFit/>
          </a:bodyPr>
          <a:lstStyle/>
          <a:p>
            <a:pPr algn="r"/>
            <a:r>
              <a:rPr lang="en-US" sz="2000" b="1">
                <a:solidFill>
                  <a:schemeClr val="accent2"/>
                </a:solidFill>
                <a:latin typeface="Avenir"/>
              </a:rPr>
              <a:t>Sources of funds</a:t>
            </a:r>
          </a:p>
        </p:txBody>
      </p:sp>
      <p:sp>
        <p:nvSpPr>
          <p:cNvPr id="398" name="TextBox 397">
            <a:extLst>
              <a:ext uri="{FF2B5EF4-FFF2-40B4-BE49-F238E27FC236}">
                <a16:creationId xmlns:a16="http://schemas.microsoft.com/office/drawing/2014/main" id="{BA236A56-DF2E-F243-8A1A-3BBEAA73DB64}"/>
              </a:ext>
            </a:extLst>
          </p:cNvPr>
          <p:cNvSpPr txBox="1"/>
          <p:nvPr/>
        </p:nvSpPr>
        <p:spPr>
          <a:xfrm>
            <a:off x="492858" y="373659"/>
            <a:ext cx="1880643" cy="400110"/>
          </a:xfrm>
          <a:prstGeom prst="rect">
            <a:avLst/>
          </a:prstGeom>
          <a:noFill/>
        </p:spPr>
        <p:txBody>
          <a:bodyPr wrap="none" rtlCol="0">
            <a:spAutoFit/>
          </a:bodyPr>
          <a:lstStyle/>
          <a:p>
            <a:r>
              <a:rPr lang="en-US" sz="2000" b="1">
                <a:solidFill>
                  <a:schemeClr val="accent6"/>
                </a:solidFill>
                <a:latin typeface="Avenir"/>
              </a:rPr>
              <a:t>Uses of funds</a:t>
            </a:r>
          </a:p>
        </p:txBody>
      </p:sp>
      <p:sp>
        <p:nvSpPr>
          <p:cNvPr id="9" name="TextBox 8">
            <a:extLst>
              <a:ext uri="{FF2B5EF4-FFF2-40B4-BE49-F238E27FC236}">
                <a16:creationId xmlns:a16="http://schemas.microsoft.com/office/drawing/2014/main" id="{61E8333C-28AA-F44C-9287-DF6C682DED39}"/>
              </a:ext>
            </a:extLst>
          </p:cNvPr>
          <p:cNvSpPr txBox="1"/>
          <p:nvPr/>
        </p:nvSpPr>
        <p:spPr>
          <a:xfrm>
            <a:off x="6227788" y="2623662"/>
            <a:ext cx="5556216" cy="169284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Equity</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sp>
        <p:nvSpPr>
          <p:cNvPr id="45" name="TextBox 44">
            <a:extLst>
              <a:ext uri="{FF2B5EF4-FFF2-40B4-BE49-F238E27FC236}">
                <a16:creationId xmlns:a16="http://schemas.microsoft.com/office/drawing/2014/main" id="{F43DB63F-71A1-0948-814E-E6EC32BDC714}"/>
              </a:ext>
            </a:extLst>
          </p:cNvPr>
          <p:cNvSpPr txBox="1"/>
          <p:nvPr/>
        </p:nvSpPr>
        <p:spPr>
          <a:xfrm>
            <a:off x="6410845" y="3135649"/>
            <a:ext cx="1544844" cy="770509"/>
          </a:xfrm>
          <a:prstGeom prst="rect">
            <a:avLst/>
          </a:prstGeom>
          <a:noFill/>
          <a:ln w="57150">
            <a:solidFill>
              <a:srgbClr val="942093"/>
            </a:solidFill>
            <a:miter lim="800000"/>
          </a:ln>
        </p:spPr>
        <p:txBody>
          <a:bodyPr wrap="square" rtlCol="0" anchor="t">
            <a:noAutofit/>
          </a:bodyPr>
          <a:lstStyle/>
          <a:p>
            <a:pPr algn="ctr">
              <a:lnSpc>
                <a:spcPct val="120000"/>
              </a:lnSpc>
            </a:pPr>
            <a:r>
              <a:rPr lang="en-US" sz="2200" b="1">
                <a:solidFill>
                  <a:srgbClr val="942093"/>
                </a:solidFill>
                <a:latin typeface="Avenir"/>
                <a:ea typeface="Helvetica Neue" panose="02000503000000020004" pitchFamily="2" charset="0"/>
                <a:cs typeface="Helvetica Neue" panose="02000503000000020004" pitchFamily="2" charset="0"/>
              </a:rPr>
              <a:t>Profit</a:t>
            </a:r>
          </a:p>
        </p:txBody>
      </p:sp>
      <p:sp>
        <p:nvSpPr>
          <p:cNvPr id="10" name="TextBox 9">
            <a:extLst>
              <a:ext uri="{FF2B5EF4-FFF2-40B4-BE49-F238E27FC236}">
                <a16:creationId xmlns:a16="http://schemas.microsoft.com/office/drawing/2014/main" id="{C4339F0E-00F1-7A45-AD15-733A9D47733A}"/>
              </a:ext>
            </a:extLst>
          </p:cNvPr>
          <p:cNvSpPr txBox="1"/>
          <p:nvPr/>
        </p:nvSpPr>
        <p:spPr>
          <a:xfrm>
            <a:off x="6227788" y="773769"/>
            <a:ext cx="5556216" cy="1702674"/>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a:latin typeface="Avenir"/>
                <a:ea typeface="Helvetica Neue" panose="02000503000000020004" pitchFamily="2" charset="0"/>
                <a:cs typeface="Helvetica Neue" panose="02000503000000020004" pitchFamily="2" charset="0"/>
              </a:rPr>
              <a:t>Liabilities</a:t>
            </a:r>
            <a:r>
              <a:rPr lang="en-US" sz="2800" b="1">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a:latin typeface="Avenir"/>
                <a:ea typeface="Helvetica Neue" panose="02000503000000020004" pitchFamily="2" charset="0"/>
                <a:cs typeface="Helvetica Neue" panose="02000503000000020004" pitchFamily="2" charset="0"/>
              </a:rPr>
              <a:t> </a:t>
            </a:r>
          </a:p>
        </p:txBody>
      </p:sp>
      <p:grpSp>
        <p:nvGrpSpPr>
          <p:cNvPr id="8" name="Group 7">
            <a:extLst>
              <a:ext uri="{FF2B5EF4-FFF2-40B4-BE49-F238E27FC236}">
                <a16:creationId xmlns:a16="http://schemas.microsoft.com/office/drawing/2014/main" id="{8545A739-9D0B-064E-8E60-C343D88BEB62}"/>
              </a:ext>
            </a:extLst>
          </p:cNvPr>
          <p:cNvGrpSpPr/>
          <p:nvPr/>
        </p:nvGrpSpPr>
        <p:grpSpPr>
          <a:xfrm>
            <a:off x="492858" y="3906157"/>
            <a:ext cx="11291146" cy="2763575"/>
            <a:chOff x="492858" y="3906157"/>
            <a:chExt cx="11291146" cy="2763575"/>
          </a:xfrm>
        </p:grpSpPr>
        <p:sp>
          <p:nvSpPr>
            <p:cNvPr id="44" name="TextBox 43">
              <a:extLst>
                <a:ext uri="{FF2B5EF4-FFF2-40B4-BE49-F238E27FC236}">
                  <a16:creationId xmlns:a16="http://schemas.microsoft.com/office/drawing/2014/main" id="{BAAAFA65-E071-7B4C-BF50-653A0B9C6101}"/>
                </a:ext>
              </a:extLst>
            </p:cNvPr>
            <p:cNvSpPr txBox="1"/>
            <p:nvPr/>
          </p:nvSpPr>
          <p:spPr>
            <a:xfrm>
              <a:off x="492858" y="4444544"/>
              <a:ext cx="11291146" cy="2225188"/>
            </a:xfrm>
            <a:prstGeom prst="rect">
              <a:avLst/>
            </a:prstGeom>
            <a:solidFill>
              <a:srgbClr val="FCECFB"/>
            </a:solidFill>
            <a:ln w="76200">
              <a:solidFill>
                <a:srgbClr val="942093"/>
              </a:solidFill>
              <a:miter lim="800000"/>
            </a:ln>
          </p:spPr>
          <p:txBody>
            <a:bodyPr wrap="square" rtlCol="0">
              <a:noAutofit/>
            </a:bodyPr>
            <a:lstStyle/>
            <a:p>
              <a:pPr algn="r">
                <a:lnSpc>
                  <a:spcPct val="120000"/>
                </a:lnSpc>
              </a:pPr>
              <a:r>
                <a:rPr lang="en-US" sz="2800" b="1">
                  <a:latin typeface="Avenir"/>
                  <a:ea typeface="Helvetica Neue" panose="02000503000000020004" pitchFamily="2" charset="0"/>
                  <a:cs typeface="Helvetica Neue" panose="02000503000000020004" pitchFamily="2" charset="0"/>
                </a:rPr>
                <a:t> </a:t>
              </a:r>
            </a:p>
          </p:txBody>
        </p:sp>
        <p:sp>
          <p:nvSpPr>
            <p:cNvPr id="41" name="TextBox 40">
              <a:extLst>
                <a:ext uri="{FF2B5EF4-FFF2-40B4-BE49-F238E27FC236}">
                  <a16:creationId xmlns:a16="http://schemas.microsoft.com/office/drawing/2014/main" id="{BD5DA1B8-72F0-E745-B02D-3DCC1C44936E}"/>
                </a:ext>
              </a:extLst>
            </p:cNvPr>
            <p:cNvSpPr txBox="1"/>
            <p:nvPr/>
          </p:nvSpPr>
          <p:spPr>
            <a:xfrm>
              <a:off x="6220907" y="4585078"/>
              <a:ext cx="5410918" cy="1947518"/>
            </a:xfrm>
            <a:prstGeom prst="rect">
              <a:avLst/>
            </a:prstGeom>
            <a:solidFill>
              <a:schemeClr val="accent4">
                <a:lumMod val="20000"/>
                <a:lumOff val="80000"/>
              </a:schemeClr>
            </a:solidFill>
            <a:ln w="76200">
              <a:solidFill>
                <a:schemeClr val="accent2">
                  <a:lumMod val="60000"/>
                  <a:lumOff val="40000"/>
                </a:schemeClr>
              </a:solidFill>
              <a:miter lim="800000"/>
            </a:ln>
          </p:spPr>
          <p:txBody>
            <a:bodyPr wrap="square" rtlCol="0">
              <a:noAutofit/>
            </a:bodyPr>
            <a:lstStyle/>
            <a:p>
              <a:pPr algn="r">
                <a:lnSpc>
                  <a:spcPct val="80000"/>
                </a:lnSpc>
              </a:pPr>
              <a:r>
                <a:rPr lang="en-US" sz="2000" b="1" dirty="0">
                  <a:latin typeface="Avenir"/>
                  <a:ea typeface="Helvetica Neue" panose="02000503000000020004" pitchFamily="2" charset="0"/>
                  <a:cs typeface="Helvetica Neue" panose="02000503000000020004" pitchFamily="2" charset="0"/>
                </a:rPr>
                <a:t>Revenue</a:t>
              </a:r>
              <a:r>
                <a:rPr lang="en-US" sz="2800" b="1" dirty="0">
                  <a:solidFill>
                    <a:schemeClr val="accent4">
                      <a:lumMod val="20000"/>
                      <a:lumOff val="80000"/>
                    </a:schemeClr>
                  </a:solidFill>
                  <a:latin typeface="Avenir"/>
                  <a:ea typeface="Helvetica Neue" panose="02000503000000020004" pitchFamily="2" charset="0"/>
                  <a:cs typeface="Helvetica Neue" panose="02000503000000020004" pitchFamily="2" charset="0"/>
                </a:rPr>
                <a:t>_</a:t>
              </a:r>
              <a:r>
                <a:rPr lang="en-US" sz="2800" b="1" dirty="0">
                  <a:latin typeface="Avenir"/>
                  <a:ea typeface="Helvetica Neue" panose="02000503000000020004" pitchFamily="2" charset="0"/>
                  <a:cs typeface="Helvetica Neue" panose="02000503000000020004" pitchFamily="2" charset="0"/>
                </a:rPr>
                <a:t> </a:t>
              </a:r>
            </a:p>
          </p:txBody>
        </p:sp>
        <p:sp>
          <p:nvSpPr>
            <p:cNvPr id="43" name="TextBox 42">
              <a:extLst>
                <a:ext uri="{FF2B5EF4-FFF2-40B4-BE49-F238E27FC236}">
                  <a16:creationId xmlns:a16="http://schemas.microsoft.com/office/drawing/2014/main" id="{D0447C74-849A-FA45-94A5-42A20A0B2C0E}"/>
                </a:ext>
              </a:extLst>
            </p:cNvPr>
            <p:cNvSpPr txBox="1"/>
            <p:nvPr/>
          </p:nvSpPr>
          <p:spPr>
            <a:xfrm>
              <a:off x="642552" y="4585078"/>
              <a:ext cx="5382028" cy="1947518"/>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Expenses</a:t>
              </a:r>
              <a:endParaRPr lang="en-US" sz="2800" b="1">
                <a:latin typeface="Avenir"/>
                <a:ea typeface="Helvetica Neue" panose="02000503000000020004" pitchFamily="2" charset="0"/>
                <a:cs typeface="Helvetica Neue" panose="02000503000000020004" pitchFamily="2" charset="0"/>
              </a:endParaRPr>
            </a:p>
          </p:txBody>
        </p:sp>
        <p:sp>
          <p:nvSpPr>
            <p:cNvPr id="111" name="TextBox 110">
              <a:extLst>
                <a:ext uri="{FF2B5EF4-FFF2-40B4-BE49-F238E27FC236}">
                  <a16:creationId xmlns:a16="http://schemas.microsoft.com/office/drawing/2014/main" id="{90449D72-B487-F94C-A127-21B967258AB2}"/>
                </a:ext>
              </a:extLst>
            </p:cNvPr>
            <p:cNvSpPr txBox="1"/>
            <p:nvPr/>
          </p:nvSpPr>
          <p:spPr>
            <a:xfrm>
              <a:off x="2570770" y="6192000"/>
              <a:ext cx="1585661" cy="338554"/>
            </a:xfrm>
            <a:prstGeom prst="rect">
              <a:avLst/>
            </a:prstGeom>
            <a:noFill/>
          </p:spPr>
          <p:txBody>
            <a:bodyPr wrap="square" rtlCol="0">
              <a:spAutoFit/>
            </a:bodyPr>
            <a:lstStyle/>
            <a:p>
              <a:pPr algn="ctr"/>
              <a:r>
                <a:rPr lang="en-US" sz="1600">
                  <a:latin typeface="Avenir"/>
                </a:rPr>
                <a:t>Advertising</a:t>
              </a:r>
            </a:p>
          </p:txBody>
        </p:sp>
        <p:sp>
          <p:nvSpPr>
            <p:cNvPr id="112" name="TextBox 111">
              <a:extLst>
                <a:ext uri="{FF2B5EF4-FFF2-40B4-BE49-F238E27FC236}">
                  <a16:creationId xmlns:a16="http://schemas.microsoft.com/office/drawing/2014/main" id="{121B5738-587C-A94B-A311-E07450FCA23E}"/>
                </a:ext>
              </a:extLst>
            </p:cNvPr>
            <p:cNvSpPr txBox="1"/>
            <p:nvPr/>
          </p:nvSpPr>
          <p:spPr>
            <a:xfrm>
              <a:off x="2596439" y="5339671"/>
              <a:ext cx="1590567" cy="338554"/>
            </a:xfrm>
            <a:prstGeom prst="rect">
              <a:avLst/>
            </a:prstGeom>
            <a:noFill/>
          </p:spPr>
          <p:txBody>
            <a:bodyPr wrap="square" rtlCol="0">
              <a:spAutoFit/>
            </a:bodyPr>
            <a:lstStyle/>
            <a:p>
              <a:pPr algn="ctr"/>
              <a:r>
                <a:rPr lang="en-US" sz="1600">
                  <a:latin typeface="Avenir"/>
                </a:rPr>
                <a:t>Cleaning</a:t>
              </a:r>
            </a:p>
          </p:txBody>
        </p:sp>
        <p:sp>
          <p:nvSpPr>
            <p:cNvPr id="113" name="TextBox 112">
              <a:extLst>
                <a:ext uri="{FF2B5EF4-FFF2-40B4-BE49-F238E27FC236}">
                  <a16:creationId xmlns:a16="http://schemas.microsoft.com/office/drawing/2014/main" id="{F3592B3A-B1AE-554C-9B22-8AACD07ADAAD}"/>
                </a:ext>
              </a:extLst>
            </p:cNvPr>
            <p:cNvSpPr txBox="1"/>
            <p:nvPr/>
          </p:nvSpPr>
          <p:spPr>
            <a:xfrm>
              <a:off x="4306077" y="6192000"/>
              <a:ext cx="1606417" cy="338554"/>
            </a:xfrm>
            <a:prstGeom prst="rect">
              <a:avLst/>
            </a:prstGeom>
            <a:noFill/>
          </p:spPr>
          <p:txBody>
            <a:bodyPr wrap="square" rtlCol="0">
              <a:spAutoFit/>
            </a:bodyPr>
            <a:lstStyle/>
            <a:p>
              <a:pPr algn="ctr"/>
              <a:r>
                <a:rPr lang="en-US" sz="1600">
                  <a:latin typeface="Avenir"/>
                </a:rPr>
                <a:t>Cost of sales</a:t>
              </a:r>
            </a:p>
          </p:txBody>
        </p:sp>
        <p:sp>
          <p:nvSpPr>
            <p:cNvPr id="114" name="TextBox 113">
              <a:extLst>
                <a:ext uri="{FF2B5EF4-FFF2-40B4-BE49-F238E27FC236}">
                  <a16:creationId xmlns:a16="http://schemas.microsoft.com/office/drawing/2014/main" id="{1EEBC55C-3C1F-1642-8926-FEB0EBD0F049}"/>
                </a:ext>
              </a:extLst>
            </p:cNvPr>
            <p:cNvSpPr txBox="1"/>
            <p:nvPr/>
          </p:nvSpPr>
          <p:spPr>
            <a:xfrm>
              <a:off x="796515" y="6192000"/>
              <a:ext cx="1603683" cy="338554"/>
            </a:xfrm>
            <a:prstGeom prst="rect">
              <a:avLst/>
            </a:prstGeom>
            <a:noFill/>
          </p:spPr>
          <p:txBody>
            <a:bodyPr wrap="square" rtlCol="0">
              <a:spAutoFit/>
            </a:bodyPr>
            <a:lstStyle/>
            <a:p>
              <a:pPr algn="ctr"/>
              <a:r>
                <a:rPr lang="en-US" sz="1600">
                  <a:latin typeface="Avenir"/>
                </a:rPr>
                <a:t>Depreciation</a:t>
              </a:r>
            </a:p>
          </p:txBody>
        </p:sp>
        <p:sp>
          <p:nvSpPr>
            <p:cNvPr id="115" name="TextBox 114">
              <a:extLst>
                <a:ext uri="{FF2B5EF4-FFF2-40B4-BE49-F238E27FC236}">
                  <a16:creationId xmlns:a16="http://schemas.microsoft.com/office/drawing/2014/main" id="{50607C56-98BD-A043-A296-94D13A8EB2D9}"/>
                </a:ext>
              </a:extLst>
            </p:cNvPr>
            <p:cNvSpPr txBox="1"/>
            <p:nvPr/>
          </p:nvSpPr>
          <p:spPr>
            <a:xfrm>
              <a:off x="6295758" y="6192000"/>
              <a:ext cx="1842786" cy="338554"/>
            </a:xfrm>
            <a:prstGeom prst="rect">
              <a:avLst/>
            </a:prstGeom>
            <a:noFill/>
          </p:spPr>
          <p:txBody>
            <a:bodyPr wrap="square" rtlCol="0">
              <a:spAutoFit/>
            </a:bodyPr>
            <a:lstStyle/>
            <a:p>
              <a:pPr algn="ctr"/>
              <a:r>
                <a:rPr lang="en-US" sz="1600">
                  <a:latin typeface="Avenir"/>
                </a:rPr>
                <a:t>Revenue (sales)</a:t>
              </a:r>
            </a:p>
          </p:txBody>
        </p:sp>
        <p:sp>
          <p:nvSpPr>
            <p:cNvPr id="169" name="TextBox 168">
              <a:extLst>
                <a:ext uri="{FF2B5EF4-FFF2-40B4-BE49-F238E27FC236}">
                  <a16:creationId xmlns:a16="http://schemas.microsoft.com/office/drawing/2014/main" id="{A8BCCDD3-7ADC-E14B-B0FA-BC3D931C3BE4}"/>
                </a:ext>
              </a:extLst>
            </p:cNvPr>
            <p:cNvSpPr txBox="1"/>
            <p:nvPr/>
          </p:nvSpPr>
          <p:spPr>
            <a:xfrm>
              <a:off x="3713366" y="5031445"/>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50</a:t>
              </a:r>
            </a:p>
          </p:txBody>
        </p:sp>
        <p:sp>
          <p:nvSpPr>
            <p:cNvPr id="215" name="TextBox 214">
              <a:extLst>
                <a:ext uri="{FF2B5EF4-FFF2-40B4-BE49-F238E27FC236}">
                  <a16:creationId xmlns:a16="http://schemas.microsoft.com/office/drawing/2014/main" id="{4D2B276C-17E8-F34D-8EA7-F3F8C85A5737}"/>
                </a:ext>
              </a:extLst>
            </p:cNvPr>
            <p:cNvSpPr txBox="1"/>
            <p:nvPr/>
          </p:nvSpPr>
          <p:spPr>
            <a:xfrm>
              <a:off x="7429894" y="5905082"/>
              <a:ext cx="526106" cy="338554"/>
            </a:xfrm>
            <a:prstGeom prst="rect">
              <a:avLst/>
            </a:prstGeom>
            <a:noFill/>
          </p:spPr>
          <p:txBody>
            <a:bodyPr wrap="none" rtlCol="0">
              <a:spAutoFit/>
            </a:bodyPr>
            <a:lstStyle/>
            <a:p>
              <a:pPr algn="r"/>
              <a:r>
                <a:rPr lang="en-US" sz="1600" b="1">
                  <a:solidFill>
                    <a:schemeClr val="accent2"/>
                  </a:solidFill>
                  <a:latin typeface="Avenir"/>
                </a:rPr>
                <a:t>700</a:t>
              </a:r>
            </a:p>
          </p:txBody>
        </p:sp>
        <p:sp>
          <p:nvSpPr>
            <p:cNvPr id="217" name="Down Arrow 216">
              <a:extLst>
                <a:ext uri="{FF2B5EF4-FFF2-40B4-BE49-F238E27FC236}">
                  <a16:creationId xmlns:a16="http://schemas.microsoft.com/office/drawing/2014/main" id="{F8618D62-2A62-F241-A7EE-1EBE8B7E7961}"/>
                </a:ext>
              </a:extLst>
            </p:cNvPr>
            <p:cNvSpPr/>
            <p:nvPr/>
          </p:nvSpPr>
          <p:spPr>
            <a:xfrm rot="10800000">
              <a:off x="6984000" y="59430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19" name="Down Arrow 218">
              <a:extLst>
                <a:ext uri="{FF2B5EF4-FFF2-40B4-BE49-F238E27FC236}">
                  <a16:creationId xmlns:a16="http://schemas.microsoft.com/office/drawing/2014/main" id="{416110E3-A2AB-8642-98D1-C205A158295A}"/>
                </a:ext>
              </a:extLst>
            </p:cNvPr>
            <p:cNvSpPr/>
            <p:nvPr/>
          </p:nvSpPr>
          <p:spPr>
            <a:xfrm rot="10800000">
              <a:off x="3096000" y="5082325"/>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TextBox 228">
              <a:extLst>
                <a:ext uri="{FF2B5EF4-FFF2-40B4-BE49-F238E27FC236}">
                  <a16:creationId xmlns:a16="http://schemas.microsoft.com/office/drawing/2014/main" id="{917D7B85-8035-DD49-AD3C-653CAF962405}"/>
                </a:ext>
              </a:extLst>
            </p:cNvPr>
            <p:cNvSpPr txBox="1"/>
            <p:nvPr/>
          </p:nvSpPr>
          <p:spPr>
            <a:xfrm>
              <a:off x="5305894" y="5893862"/>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0" name="Down Arrow 229">
              <a:extLst>
                <a:ext uri="{FF2B5EF4-FFF2-40B4-BE49-F238E27FC236}">
                  <a16:creationId xmlns:a16="http://schemas.microsoft.com/office/drawing/2014/main" id="{DB474155-D7F2-F240-A8D0-B1E59F873FFC}"/>
                </a:ext>
              </a:extLst>
            </p:cNvPr>
            <p:cNvSpPr/>
            <p:nvPr/>
          </p:nvSpPr>
          <p:spPr>
            <a:xfrm rot="10800000">
              <a:off x="4860000" y="594474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TextBox 230">
              <a:extLst>
                <a:ext uri="{FF2B5EF4-FFF2-40B4-BE49-F238E27FC236}">
                  <a16:creationId xmlns:a16="http://schemas.microsoft.com/office/drawing/2014/main" id="{E781F1E4-D0BB-7344-9A1F-F9862372A244}"/>
                </a:ext>
              </a:extLst>
            </p:cNvPr>
            <p:cNvSpPr txBox="1"/>
            <p:nvPr/>
          </p:nvSpPr>
          <p:spPr>
            <a:xfrm>
              <a:off x="7429894" y="5645244"/>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32" name="Down Arrow 231">
              <a:extLst>
                <a:ext uri="{FF2B5EF4-FFF2-40B4-BE49-F238E27FC236}">
                  <a16:creationId xmlns:a16="http://schemas.microsoft.com/office/drawing/2014/main" id="{83E0389C-B1BE-E148-8BB7-82E709CC82B9}"/>
                </a:ext>
              </a:extLst>
            </p:cNvPr>
            <p:cNvSpPr/>
            <p:nvPr/>
          </p:nvSpPr>
          <p:spPr>
            <a:xfrm rot="10800000">
              <a:off x="6984000" y="569537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37" name="TextBox 236">
              <a:extLst>
                <a:ext uri="{FF2B5EF4-FFF2-40B4-BE49-F238E27FC236}">
                  <a16:creationId xmlns:a16="http://schemas.microsoft.com/office/drawing/2014/main" id="{AD65D871-C325-C44B-ABB2-75EC8DFE6FFF}"/>
                </a:ext>
              </a:extLst>
            </p:cNvPr>
            <p:cNvSpPr txBox="1"/>
            <p:nvPr/>
          </p:nvSpPr>
          <p:spPr>
            <a:xfrm>
              <a:off x="5305894" y="5646024"/>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300</a:t>
              </a:r>
            </a:p>
          </p:txBody>
        </p:sp>
        <p:sp>
          <p:nvSpPr>
            <p:cNvPr id="238" name="Down Arrow 237">
              <a:extLst>
                <a:ext uri="{FF2B5EF4-FFF2-40B4-BE49-F238E27FC236}">
                  <a16:creationId xmlns:a16="http://schemas.microsoft.com/office/drawing/2014/main" id="{95A1CE39-8568-0648-8BF3-E3811DC983C4}"/>
                </a:ext>
              </a:extLst>
            </p:cNvPr>
            <p:cNvSpPr/>
            <p:nvPr/>
          </p:nvSpPr>
          <p:spPr>
            <a:xfrm rot="10800000">
              <a:off x="4860000" y="5696904"/>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TextBox 238">
              <a:extLst>
                <a:ext uri="{FF2B5EF4-FFF2-40B4-BE49-F238E27FC236}">
                  <a16:creationId xmlns:a16="http://schemas.microsoft.com/office/drawing/2014/main" id="{A523F897-551A-8F49-B6AB-51DBFD3C53C0}"/>
                </a:ext>
              </a:extLst>
            </p:cNvPr>
            <p:cNvSpPr txBox="1"/>
            <p:nvPr/>
          </p:nvSpPr>
          <p:spPr>
            <a:xfrm>
              <a:off x="3599552" y="4796571"/>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250</a:t>
              </a:r>
            </a:p>
          </p:txBody>
        </p:sp>
        <p:sp>
          <p:nvSpPr>
            <p:cNvPr id="240" name="Down Arrow 239">
              <a:extLst>
                <a:ext uri="{FF2B5EF4-FFF2-40B4-BE49-F238E27FC236}">
                  <a16:creationId xmlns:a16="http://schemas.microsoft.com/office/drawing/2014/main" id="{07DD916A-3850-9F4F-81C8-0C94788A77D2}"/>
                </a:ext>
              </a:extLst>
            </p:cNvPr>
            <p:cNvSpPr/>
            <p:nvPr/>
          </p:nvSpPr>
          <p:spPr>
            <a:xfrm rot="10800000">
              <a:off x="3096000" y="484745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TextBox 246">
              <a:extLst>
                <a:ext uri="{FF2B5EF4-FFF2-40B4-BE49-F238E27FC236}">
                  <a16:creationId xmlns:a16="http://schemas.microsoft.com/office/drawing/2014/main" id="{AA659AB1-43FB-D747-AC50-E4454DC4B036}"/>
                </a:ext>
              </a:extLst>
            </p:cNvPr>
            <p:cNvSpPr txBox="1"/>
            <p:nvPr/>
          </p:nvSpPr>
          <p:spPr>
            <a:xfrm>
              <a:off x="7543708" y="5375143"/>
              <a:ext cx="412292" cy="338554"/>
            </a:xfrm>
            <a:prstGeom prst="rect">
              <a:avLst/>
            </a:prstGeom>
            <a:noFill/>
          </p:spPr>
          <p:txBody>
            <a:bodyPr wrap="none" rtlCol="0">
              <a:spAutoFit/>
            </a:bodyPr>
            <a:lstStyle/>
            <a:p>
              <a:pPr algn="r"/>
              <a:r>
                <a:rPr lang="en-US" sz="1600" b="1">
                  <a:solidFill>
                    <a:schemeClr val="accent2"/>
                  </a:solidFill>
                  <a:latin typeface="Avenir"/>
                </a:rPr>
                <a:t>90</a:t>
              </a:r>
            </a:p>
          </p:txBody>
        </p:sp>
        <p:sp>
          <p:nvSpPr>
            <p:cNvPr id="248" name="Down Arrow 247">
              <a:extLst>
                <a:ext uri="{FF2B5EF4-FFF2-40B4-BE49-F238E27FC236}">
                  <a16:creationId xmlns:a16="http://schemas.microsoft.com/office/drawing/2014/main" id="{12BC87CD-B219-D944-A303-51AE7219B591}"/>
                </a:ext>
              </a:extLst>
            </p:cNvPr>
            <p:cNvSpPr/>
            <p:nvPr/>
          </p:nvSpPr>
          <p:spPr>
            <a:xfrm rot="10800000">
              <a:off x="6984000" y="5425275"/>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53" name="TextBox 252">
              <a:extLst>
                <a:ext uri="{FF2B5EF4-FFF2-40B4-BE49-F238E27FC236}">
                  <a16:creationId xmlns:a16="http://schemas.microsoft.com/office/drawing/2014/main" id="{1F19AD71-5F84-1F46-AE8C-130720EF36F1}"/>
                </a:ext>
              </a:extLst>
            </p:cNvPr>
            <p:cNvSpPr txBox="1"/>
            <p:nvPr/>
          </p:nvSpPr>
          <p:spPr>
            <a:xfrm>
              <a:off x="5419708" y="5397501"/>
              <a:ext cx="412292" cy="338554"/>
            </a:xfrm>
            <a:prstGeom prst="rect">
              <a:avLst/>
            </a:prstGeom>
            <a:noFill/>
          </p:spPr>
          <p:txBody>
            <a:bodyPr wrap="none" rtlCol="0">
              <a:spAutoFit/>
            </a:bodyPr>
            <a:lstStyle/>
            <a:p>
              <a:pPr algn="r"/>
              <a:r>
                <a:rPr lang="en-US" sz="1600" b="1">
                  <a:solidFill>
                    <a:schemeClr val="accent6">
                      <a:lumMod val="75000"/>
                    </a:schemeClr>
                  </a:solidFill>
                  <a:latin typeface="Avenir"/>
                </a:rPr>
                <a:t>30</a:t>
              </a:r>
            </a:p>
          </p:txBody>
        </p:sp>
        <p:sp>
          <p:nvSpPr>
            <p:cNvPr id="254" name="Down Arrow 253">
              <a:extLst>
                <a:ext uri="{FF2B5EF4-FFF2-40B4-BE49-F238E27FC236}">
                  <a16:creationId xmlns:a16="http://schemas.microsoft.com/office/drawing/2014/main" id="{21A7DE91-A1BB-F143-9944-47847F9AE787}"/>
                </a:ext>
              </a:extLst>
            </p:cNvPr>
            <p:cNvSpPr/>
            <p:nvPr/>
          </p:nvSpPr>
          <p:spPr>
            <a:xfrm rot="10800000">
              <a:off x="4860000" y="5448381"/>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TextBox 258">
              <a:extLst>
                <a:ext uri="{FF2B5EF4-FFF2-40B4-BE49-F238E27FC236}">
                  <a16:creationId xmlns:a16="http://schemas.microsoft.com/office/drawing/2014/main" id="{17178582-0F2F-0E48-9096-C57B00200624}"/>
                </a:ext>
              </a:extLst>
            </p:cNvPr>
            <p:cNvSpPr txBox="1"/>
            <p:nvPr/>
          </p:nvSpPr>
          <p:spPr>
            <a:xfrm>
              <a:off x="1816755" y="5897226"/>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60" name="Down Arrow 259">
              <a:extLst>
                <a:ext uri="{FF2B5EF4-FFF2-40B4-BE49-F238E27FC236}">
                  <a16:creationId xmlns:a16="http://schemas.microsoft.com/office/drawing/2014/main" id="{14A5B91A-41ED-424E-AFFC-4DC1EF5555A7}"/>
                </a:ext>
              </a:extLst>
            </p:cNvPr>
            <p:cNvSpPr/>
            <p:nvPr/>
          </p:nvSpPr>
          <p:spPr>
            <a:xfrm rot="10800000">
              <a:off x="1296000" y="594720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TextBox 260">
              <a:extLst>
                <a:ext uri="{FF2B5EF4-FFF2-40B4-BE49-F238E27FC236}">
                  <a16:creationId xmlns:a16="http://schemas.microsoft.com/office/drawing/2014/main" id="{57E245BC-4FC8-B845-9D5B-E499FC4224AC}"/>
                </a:ext>
              </a:extLst>
            </p:cNvPr>
            <p:cNvSpPr txBox="1"/>
            <p:nvPr/>
          </p:nvSpPr>
          <p:spPr>
            <a:xfrm>
              <a:off x="3577894" y="5912376"/>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200</a:t>
              </a:r>
            </a:p>
          </p:txBody>
        </p:sp>
        <p:sp>
          <p:nvSpPr>
            <p:cNvPr id="262" name="Down Arrow 261">
              <a:extLst>
                <a:ext uri="{FF2B5EF4-FFF2-40B4-BE49-F238E27FC236}">
                  <a16:creationId xmlns:a16="http://schemas.microsoft.com/office/drawing/2014/main" id="{9793E6F4-4628-D348-BD73-B45AA8F10CF4}"/>
                </a:ext>
              </a:extLst>
            </p:cNvPr>
            <p:cNvSpPr/>
            <p:nvPr/>
          </p:nvSpPr>
          <p:spPr>
            <a:xfrm rot="10800000">
              <a:off x="3096000" y="5963256"/>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Oval 320">
              <a:extLst>
                <a:ext uri="{FF2B5EF4-FFF2-40B4-BE49-F238E27FC236}">
                  <a16:creationId xmlns:a16="http://schemas.microsoft.com/office/drawing/2014/main" id="{398C46BB-3A50-ED44-A443-D03AC54BAB4A}"/>
                </a:ext>
              </a:extLst>
            </p:cNvPr>
            <p:cNvSpPr/>
            <p:nvPr/>
          </p:nvSpPr>
          <p:spPr>
            <a:xfrm>
              <a:off x="6520209" y="593108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2" name="Rectangle 321">
              <a:extLst>
                <a:ext uri="{FF2B5EF4-FFF2-40B4-BE49-F238E27FC236}">
                  <a16:creationId xmlns:a16="http://schemas.microsoft.com/office/drawing/2014/main" id="{95942E07-E504-DD46-9114-A4BF7BE2FC70}"/>
                </a:ext>
              </a:extLst>
            </p:cNvPr>
            <p:cNvSpPr/>
            <p:nvPr/>
          </p:nvSpPr>
          <p:spPr>
            <a:xfrm>
              <a:off x="6484980" y="5939874"/>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sp>
          <p:nvSpPr>
            <p:cNvPr id="327" name="Oval 326">
              <a:extLst>
                <a:ext uri="{FF2B5EF4-FFF2-40B4-BE49-F238E27FC236}">
                  <a16:creationId xmlns:a16="http://schemas.microsoft.com/office/drawing/2014/main" id="{B44D8AB9-25F3-2E48-9074-14E6DBD363AD}"/>
                </a:ext>
              </a:extLst>
            </p:cNvPr>
            <p:cNvSpPr/>
            <p:nvPr/>
          </p:nvSpPr>
          <p:spPr>
            <a:xfrm>
              <a:off x="4412950" y="594000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8" name="Rectangle 327">
              <a:extLst>
                <a:ext uri="{FF2B5EF4-FFF2-40B4-BE49-F238E27FC236}">
                  <a16:creationId xmlns:a16="http://schemas.microsoft.com/office/drawing/2014/main" id="{F99E84F1-6489-E244-9ECD-FD8F01D82D9B}"/>
                </a:ext>
              </a:extLst>
            </p:cNvPr>
            <p:cNvSpPr/>
            <p:nvPr/>
          </p:nvSpPr>
          <p:spPr>
            <a:xfrm>
              <a:off x="4372912" y="5948794"/>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sp>
          <p:nvSpPr>
            <p:cNvPr id="333" name="Oval 332">
              <a:extLst>
                <a:ext uri="{FF2B5EF4-FFF2-40B4-BE49-F238E27FC236}">
                  <a16:creationId xmlns:a16="http://schemas.microsoft.com/office/drawing/2014/main" id="{5234A744-315A-EC44-BDF0-AAAA223BA637}"/>
                </a:ext>
              </a:extLst>
            </p:cNvPr>
            <p:cNvSpPr/>
            <p:nvPr/>
          </p:nvSpPr>
          <p:spPr>
            <a:xfrm>
              <a:off x="4417434" y="5681195"/>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4" name="Rectangle 333">
              <a:extLst>
                <a:ext uri="{FF2B5EF4-FFF2-40B4-BE49-F238E27FC236}">
                  <a16:creationId xmlns:a16="http://schemas.microsoft.com/office/drawing/2014/main" id="{52355BDB-89F5-CF41-8FBD-153559BF294B}"/>
                </a:ext>
              </a:extLst>
            </p:cNvPr>
            <p:cNvSpPr/>
            <p:nvPr/>
          </p:nvSpPr>
          <p:spPr>
            <a:xfrm>
              <a:off x="4377396" y="5689989"/>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sp>
          <p:nvSpPr>
            <p:cNvPr id="339" name="Oval 338">
              <a:extLst>
                <a:ext uri="{FF2B5EF4-FFF2-40B4-BE49-F238E27FC236}">
                  <a16:creationId xmlns:a16="http://schemas.microsoft.com/office/drawing/2014/main" id="{03770F02-78FE-664F-9B19-E8B021D1E4D7}"/>
                </a:ext>
              </a:extLst>
            </p:cNvPr>
            <p:cNvSpPr/>
            <p:nvPr/>
          </p:nvSpPr>
          <p:spPr>
            <a:xfrm>
              <a:off x="4416222" y="5432633"/>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0" name="Rectangle 339">
              <a:extLst>
                <a:ext uri="{FF2B5EF4-FFF2-40B4-BE49-F238E27FC236}">
                  <a16:creationId xmlns:a16="http://schemas.microsoft.com/office/drawing/2014/main" id="{8B246DE0-B9D9-B54D-A064-CB89E165C09F}"/>
                </a:ext>
              </a:extLst>
            </p:cNvPr>
            <p:cNvSpPr/>
            <p:nvPr/>
          </p:nvSpPr>
          <p:spPr>
            <a:xfrm>
              <a:off x="4345727" y="5441427"/>
              <a:ext cx="370614" cy="338554"/>
            </a:xfrm>
            <a:prstGeom prst="rect">
              <a:avLst/>
            </a:prstGeom>
          </p:spPr>
          <p:txBody>
            <a:bodyPr wrap="none">
              <a:spAutoFit/>
            </a:bodyPr>
            <a:lstStyle/>
            <a:p>
              <a:pPr algn="ctr"/>
              <a:r>
                <a:rPr lang="en-US" sz="800" b="1">
                  <a:solidFill>
                    <a:schemeClr val="tx1">
                      <a:lumMod val="50000"/>
                      <a:lumOff val="50000"/>
                    </a:schemeClr>
                  </a:solidFill>
                  <a:latin typeface="Avenir"/>
                </a:rPr>
                <a:t>12b</a:t>
              </a:r>
            </a:p>
            <a:p>
              <a:pPr algn="ctr"/>
              <a:endParaRPr lang="en-US" sz="800" b="1">
                <a:solidFill>
                  <a:schemeClr val="tx1">
                    <a:lumMod val="50000"/>
                    <a:lumOff val="50000"/>
                  </a:schemeClr>
                </a:solidFill>
                <a:latin typeface="Avenir"/>
              </a:endParaRPr>
            </a:p>
          </p:txBody>
        </p:sp>
        <p:sp>
          <p:nvSpPr>
            <p:cNvPr id="342" name="Oval 341">
              <a:extLst>
                <a:ext uri="{FF2B5EF4-FFF2-40B4-BE49-F238E27FC236}">
                  <a16:creationId xmlns:a16="http://schemas.microsoft.com/office/drawing/2014/main" id="{1B02B6B2-B69E-7842-9D28-1C7E8CB1A281}"/>
                </a:ext>
              </a:extLst>
            </p:cNvPr>
            <p:cNvSpPr/>
            <p:nvPr/>
          </p:nvSpPr>
          <p:spPr>
            <a:xfrm>
              <a:off x="6520209" y="567679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3" name="Rectangle 342">
              <a:extLst>
                <a:ext uri="{FF2B5EF4-FFF2-40B4-BE49-F238E27FC236}">
                  <a16:creationId xmlns:a16="http://schemas.microsoft.com/office/drawing/2014/main" id="{120E3A7D-22AA-E647-8281-EE164AF657AD}"/>
                </a:ext>
              </a:extLst>
            </p:cNvPr>
            <p:cNvSpPr/>
            <p:nvPr/>
          </p:nvSpPr>
          <p:spPr>
            <a:xfrm>
              <a:off x="6484980" y="5685592"/>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sp>
          <p:nvSpPr>
            <p:cNvPr id="345" name="Oval 344">
              <a:extLst>
                <a:ext uri="{FF2B5EF4-FFF2-40B4-BE49-F238E27FC236}">
                  <a16:creationId xmlns:a16="http://schemas.microsoft.com/office/drawing/2014/main" id="{498E50BA-F1A1-524A-B905-153FA186C0CC}"/>
                </a:ext>
              </a:extLst>
            </p:cNvPr>
            <p:cNvSpPr/>
            <p:nvPr/>
          </p:nvSpPr>
          <p:spPr>
            <a:xfrm>
              <a:off x="6522731" y="5416132"/>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6" name="Rectangle 345">
              <a:extLst>
                <a:ext uri="{FF2B5EF4-FFF2-40B4-BE49-F238E27FC236}">
                  <a16:creationId xmlns:a16="http://schemas.microsoft.com/office/drawing/2014/main" id="{55D9C7D2-EAAC-644E-997D-9755B758C142}"/>
                </a:ext>
              </a:extLst>
            </p:cNvPr>
            <p:cNvSpPr/>
            <p:nvPr/>
          </p:nvSpPr>
          <p:spPr>
            <a:xfrm>
              <a:off x="6448807" y="5424926"/>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sp>
          <p:nvSpPr>
            <p:cNvPr id="348" name="Oval 347">
              <a:extLst>
                <a:ext uri="{FF2B5EF4-FFF2-40B4-BE49-F238E27FC236}">
                  <a16:creationId xmlns:a16="http://schemas.microsoft.com/office/drawing/2014/main" id="{6762E7B6-B27B-C941-ABAC-597F1AC73B95}"/>
                </a:ext>
              </a:extLst>
            </p:cNvPr>
            <p:cNvSpPr/>
            <p:nvPr/>
          </p:nvSpPr>
          <p:spPr>
            <a:xfrm>
              <a:off x="2689441" y="5057611"/>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49" name="Rectangle 348">
              <a:extLst>
                <a:ext uri="{FF2B5EF4-FFF2-40B4-BE49-F238E27FC236}">
                  <a16:creationId xmlns:a16="http://schemas.microsoft.com/office/drawing/2014/main" id="{78D21582-A888-DE48-836C-0238DA64DB4F}"/>
                </a:ext>
              </a:extLst>
            </p:cNvPr>
            <p:cNvSpPr/>
            <p:nvPr/>
          </p:nvSpPr>
          <p:spPr>
            <a:xfrm>
              <a:off x="2681463" y="5066405"/>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sp>
          <p:nvSpPr>
            <p:cNvPr id="351" name="Oval 350">
              <a:extLst>
                <a:ext uri="{FF2B5EF4-FFF2-40B4-BE49-F238E27FC236}">
                  <a16:creationId xmlns:a16="http://schemas.microsoft.com/office/drawing/2014/main" id="{7EF515DE-CFB5-C746-AC84-B4C313BD06E8}"/>
                </a:ext>
              </a:extLst>
            </p:cNvPr>
            <p:cNvSpPr/>
            <p:nvPr/>
          </p:nvSpPr>
          <p:spPr>
            <a:xfrm>
              <a:off x="2688608" y="4808856"/>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2" name="Rectangle 351">
              <a:extLst>
                <a:ext uri="{FF2B5EF4-FFF2-40B4-BE49-F238E27FC236}">
                  <a16:creationId xmlns:a16="http://schemas.microsoft.com/office/drawing/2014/main" id="{3B567B98-0230-FB4D-8B5A-D57CF8B99F8A}"/>
                </a:ext>
              </a:extLst>
            </p:cNvPr>
            <p:cNvSpPr/>
            <p:nvPr/>
          </p:nvSpPr>
          <p:spPr>
            <a:xfrm>
              <a:off x="2680630" y="4817650"/>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sp>
          <p:nvSpPr>
            <p:cNvPr id="375" name="Oval 374">
              <a:extLst>
                <a:ext uri="{FF2B5EF4-FFF2-40B4-BE49-F238E27FC236}">
                  <a16:creationId xmlns:a16="http://schemas.microsoft.com/office/drawing/2014/main" id="{2E2E7022-3AC3-4141-A9D3-0559902526EA}"/>
                </a:ext>
              </a:extLst>
            </p:cNvPr>
            <p:cNvSpPr/>
            <p:nvPr/>
          </p:nvSpPr>
          <p:spPr>
            <a:xfrm>
              <a:off x="892445" y="594000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76" name="Rectangle 375">
              <a:extLst>
                <a:ext uri="{FF2B5EF4-FFF2-40B4-BE49-F238E27FC236}">
                  <a16:creationId xmlns:a16="http://schemas.microsoft.com/office/drawing/2014/main" id="{8ED0D82D-C4ED-BB4B-9F5D-50AC2840E0FF}"/>
                </a:ext>
              </a:extLst>
            </p:cNvPr>
            <p:cNvSpPr/>
            <p:nvPr/>
          </p:nvSpPr>
          <p:spPr>
            <a:xfrm>
              <a:off x="852407" y="5948794"/>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14</a:t>
              </a:r>
            </a:p>
          </p:txBody>
        </p:sp>
        <p:sp>
          <p:nvSpPr>
            <p:cNvPr id="381" name="Oval 380">
              <a:extLst>
                <a:ext uri="{FF2B5EF4-FFF2-40B4-BE49-F238E27FC236}">
                  <a16:creationId xmlns:a16="http://schemas.microsoft.com/office/drawing/2014/main" id="{D13E324C-B2AE-414B-B7F6-4B504A764B17}"/>
                </a:ext>
              </a:extLst>
            </p:cNvPr>
            <p:cNvSpPr/>
            <p:nvPr/>
          </p:nvSpPr>
          <p:spPr>
            <a:xfrm>
              <a:off x="2660434" y="594000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82" name="Rectangle 381">
              <a:extLst>
                <a:ext uri="{FF2B5EF4-FFF2-40B4-BE49-F238E27FC236}">
                  <a16:creationId xmlns:a16="http://schemas.microsoft.com/office/drawing/2014/main" id="{4DFF5B3D-46BE-CE41-9A23-C390F5D92B4B}"/>
                </a:ext>
              </a:extLst>
            </p:cNvPr>
            <p:cNvSpPr/>
            <p:nvPr/>
          </p:nvSpPr>
          <p:spPr>
            <a:xfrm>
              <a:off x="2620396" y="5948794"/>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15</a:t>
              </a:r>
            </a:p>
          </p:txBody>
        </p:sp>
        <p:sp>
          <p:nvSpPr>
            <p:cNvPr id="412" name="L-Shape 411">
              <a:extLst>
                <a:ext uri="{FF2B5EF4-FFF2-40B4-BE49-F238E27FC236}">
                  <a16:creationId xmlns:a16="http://schemas.microsoft.com/office/drawing/2014/main" id="{FEC5C8AE-56DC-A645-B700-BDD31418BAC8}"/>
                </a:ext>
              </a:extLst>
            </p:cNvPr>
            <p:cNvSpPr/>
            <p:nvPr/>
          </p:nvSpPr>
          <p:spPr>
            <a:xfrm flipH="1">
              <a:off x="3366000" y="4767598"/>
              <a:ext cx="810000" cy="613673"/>
            </a:xfrm>
            <a:prstGeom prst="corner">
              <a:avLst>
                <a:gd name="adj1" fmla="val 9300"/>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3" name="L-Shape 412">
              <a:extLst>
                <a:ext uri="{FF2B5EF4-FFF2-40B4-BE49-F238E27FC236}">
                  <a16:creationId xmlns:a16="http://schemas.microsoft.com/office/drawing/2014/main" id="{22B67BC0-71B1-3D4D-B1C7-898751D00CCC}"/>
                </a:ext>
              </a:extLst>
            </p:cNvPr>
            <p:cNvSpPr/>
            <p:nvPr/>
          </p:nvSpPr>
          <p:spPr>
            <a:xfrm>
              <a:off x="2556000" y="4767598"/>
              <a:ext cx="810000" cy="613673"/>
            </a:xfrm>
            <a:prstGeom prst="corner">
              <a:avLst>
                <a:gd name="adj1" fmla="val 9300"/>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5" name="L-Shape 414">
              <a:extLst>
                <a:ext uri="{FF2B5EF4-FFF2-40B4-BE49-F238E27FC236}">
                  <a16:creationId xmlns:a16="http://schemas.microsoft.com/office/drawing/2014/main" id="{4CD4DED9-CB9E-AC4B-BE2A-78F037DBFEA8}"/>
                </a:ext>
              </a:extLst>
            </p:cNvPr>
            <p:cNvSpPr/>
            <p:nvPr/>
          </p:nvSpPr>
          <p:spPr>
            <a:xfrm flipH="1">
              <a:off x="3366000" y="5633028"/>
              <a:ext cx="810000" cy="613673"/>
            </a:xfrm>
            <a:prstGeom prst="corner">
              <a:avLst>
                <a:gd name="adj1" fmla="val 9300"/>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6" name="L-Shape 415">
              <a:extLst>
                <a:ext uri="{FF2B5EF4-FFF2-40B4-BE49-F238E27FC236}">
                  <a16:creationId xmlns:a16="http://schemas.microsoft.com/office/drawing/2014/main" id="{FC60011B-6414-164E-9D9C-FE2679057335}"/>
                </a:ext>
              </a:extLst>
            </p:cNvPr>
            <p:cNvSpPr/>
            <p:nvPr/>
          </p:nvSpPr>
          <p:spPr>
            <a:xfrm>
              <a:off x="2556000" y="5633028"/>
              <a:ext cx="810000" cy="613673"/>
            </a:xfrm>
            <a:prstGeom prst="corner">
              <a:avLst>
                <a:gd name="adj1" fmla="val 9300"/>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8" name="L-Shape 417">
              <a:extLst>
                <a:ext uri="{FF2B5EF4-FFF2-40B4-BE49-F238E27FC236}">
                  <a16:creationId xmlns:a16="http://schemas.microsoft.com/office/drawing/2014/main" id="{CFC81F53-CA91-174B-9872-9729D066141F}"/>
                </a:ext>
              </a:extLst>
            </p:cNvPr>
            <p:cNvSpPr/>
            <p:nvPr/>
          </p:nvSpPr>
          <p:spPr>
            <a:xfrm flipH="1">
              <a:off x="1598356" y="5618680"/>
              <a:ext cx="810000" cy="613673"/>
            </a:xfrm>
            <a:prstGeom prst="corner">
              <a:avLst>
                <a:gd name="adj1" fmla="val 9300"/>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9" name="L-Shape 418">
              <a:extLst>
                <a:ext uri="{FF2B5EF4-FFF2-40B4-BE49-F238E27FC236}">
                  <a16:creationId xmlns:a16="http://schemas.microsoft.com/office/drawing/2014/main" id="{E8759028-EA69-3049-85B6-E41AA8BA6521}"/>
                </a:ext>
              </a:extLst>
            </p:cNvPr>
            <p:cNvSpPr/>
            <p:nvPr/>
          </p:nvSpPr>
          <p:spPr>
            <a:xfrm>
              <a:off x="788356" y="5618680"/>
              <a:ext cx="810000" cy="613673"/>
            </a:xfrm>
            <a:prstGeom prst="corner">
              <a:avLst>
                <a:gd name="adj1" fmla="val 9300"/>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1" name="L-Shape 420">
              <a:extLst>
                <a:ext uri="{FF2B5EF4-FFF2-40B4-BE49-F238E27FC236}">
                  <a16:creationId xmlns:a16="http://schemas.microsoft.com/office/drawing/2014/main" id="{BA2D9C48-4D89-9D41-9A86-8C07C56E1D9B}"/>
                </a:ext>
              </a:extLst>
            </p:cNvPr>
            <p:cNvSpPr/>
            <p:nvPr/>
          </p:nvSpPr>
          <p:spPr>
            <a:xfrm flipH="1">
              <a:off x="5102494" y="5448383"/>
              <a:ext cx="810000" cy="796274"/>
            </a:xfrm>
            <a:prstGeom prst="corner">
              <a:avLst>
                <a:gd name="adj1" fmla="val 7267"/>
                <a:gd name="adj2" fmla="val 788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2" name="L-Shape 421">
              <a:extLst>
                <a:ext uri="{FF2B5EF4-FFF2-40B4-BE49-F238E27FC236}">
                  <a16:creationId xmlns:a16="http://schemas.microsoft.com/office/drawing/2014/main" id="{21AD4FFB-95DA-6847-8F89-536BF9981BAF}"/>
                </a:ext>
              </a:extLst>
            </p:cNvPr>
            <p:cNvSpPr/>
            <p:nvPr/>
          </p:nvSpPr>
          <p:spPr>
            <a:xfrm>
              <a:off x="4292494" y="5448381"/>
              <a:ext cx="810000" cy="796275"/>
            </a:xfrm>
            <a:prstGeom prst="corner">
              <a:avLst>
                <a:gd name="adj1" fmla="val 7268"/>
                <a:gd name="adj2" fmla="val 788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4" name="L-Shape 423">
              <a:extLst>
                <a:ext uri="{FF2B5EF4-FFF2-40B4-BE49-F238E27FC236}">
                  <a16:creationId xmlns:a16="http://schemas.microsoft.com/office/drawing/2014/main" id="{3FE59A14-5D36-2645-8D6C-212D8CAE6DE2}"/>
                </a:ext>
              </a:extLst>
            </p:cNvPr>
            <p:cNvSpPr/>
            <p:nvPr/>
          </p:nvSpPr>
          <p:spPr>
            <a:xfrm flipH="1">
              <a:off x="7192456" y="5448383"/>
              <a:ext cx="810000" cy="796274"/>
            </a:xfrm>
            <a:prstGeom prst="corner">
              <a:avLst>
                <a:gd name="adj1" fmla="val 7267"/>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25" name="L-Shape 424">
              <a:extLst>
                <a:ext uri="{FF2B5EF4-FFF2-40B4-BE49-F238E27FC236}">
                  <a16:creationId xmlns:a16="http://schemas.microsoft.com/office/drawing/2014/main" id="{0C755AE6-7667-B743-B400-A3007F0EA37F}"/>
                </a:ext>
              </a:extLst>
            </p:cNvPr>
            <p:cNvSpPr/>
            <p:nvPr/>
          </p:nvSpPr>
          <p:spPr>
            <a:xfrm>
              <a:off x="6382456" y="5448381"/>
              <a:ext cx="810000" cy="796275"/>
            </a:xfrm>
            <a:prstGeom prst="corner">
              <a:avLst>
                <a:gd name="adj1" fmla="val 7268"/>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cxnSp>
          <p:nvCxnSpPr>
            <p:cNvPr id="46" name="Straight Connector 45">
              <a:extLst>
                <a:ext uri="{FF2B5EF4-FFF2-40B4-BE49-F238E27FC236}">
                  <a16:creationId xmlns:a16="http://schemas.microsoft.com/office/drawing/2014/main" id="{166116F0-EFD1-1D42-93A4-25C271A8EFAA}"/>
                </a:ext>
              </a:extLst>
            </p:cNvPr>
            <p:cNvCxnSpPr>
              <a:cxnSpLocks/>
              <a:stCxn id="45" idx="2"/>
            </p:cNvCxnSpPr>
            <p:nvPr/>
          </p:nvCxnSpPr>
          <p:spPr>
            <a:xfrm>
              <a:off x="7183267" y="3906157"/>
              <a:ext cx="8791" cy="566134"/>
            </a:xfrm>
            <a:prstGeom prst="line">
              <a:avLst/>
            </a:prstGeom>
            <a:ln w="76200">
              <a:solidFill>
                <a:srgbClr val="942093"/>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5D9704C7-709F-544C-A89E-7C8DCE0BCA2C}"/>
              </a:ext>
            </a:extLst>
          </p:cNvPr>
          <p:cNvSpPr txBox="1"/>
          <p:nvPr/>
        </p:nvSpPr>
        <p:spPr>
          <a:xfrm>
            <a:off x="492858" y="773769"/>
            <a:ext cx="5544457" cy="3542737"/>
          </a:xfrm>
          <a:prstGeom prst="rect">
            <a:avLst/>
          </a:prstGeom>
          <a:solidFill>
            <a:schemeClr val="accent6">
              <a:lumMod val="20000"/>
              <a:lumOff val="80000"/>
            </a:schemeClr>
          </a:solidFill>
          <a:ln w="76200">
            <a:solidFill>
              <a:schemeClr val="accent6">
                <a:lumMod val="60000"/>
                <a:lumOff val="40000"/>
              </a:schemeClr>
            </a:solidFill>
            <a:miter lim="800000"/>
          </a:ln>
        </p:spPr>
        <p:txBody>
          <a:bodyPr wrap="square" rtlCol="0">
            <a:noAutofit/>
          </a:bodyPr>
          <a:lstStyle/>
          <a:p>
            <a:pPr>
              <a:lnSpc>
                <a:spcPct val="80000"/>
              </a:lnSpc>
            </a:pPr>
            <a:r>
              <a:rPr lang="en-US" sz="2800" b="1">
                <a:solidFill>
                  <a:schemeClr val="accent6">
                    <a:lumMod val="20000"/>
                    <a:lumOff val="80000"/>
                  </a:schemeClr>
                </a:solidFill>
                <a:latin typeface="Avenir"/>
                <a:ea typeface="Helvetica Neue" panose="02000503000000020004" pitchFamily="2" charset="0"/>
                <a:cs typeface="Helvetica Neue" panose="02000503000000020004" pitchFamily="2" charset="0"/>
              </a:rPr>
              <a:t>_</a:t>
            </a:r>
            <a:r>
              <a:rPr lang="en-US" sz="2000" b="1">
                <a:latin typeface="Avenir"/>
                <a:ea typeface="Helvetica Neue" panose="02000503000000020004" pitchFamily="2" charset="0"/>
                <a:cs typeface="Helvetica Neue" panose="02000503000000020004" pitchFamily="2" charset="0"/>
              </a:rPr>
              <a:t>Assets</a:t>
            </a:r>
            <a:endParaRPr lang="en-US" sz="2800" b="1">
              <a:latin typeface="Avenir"/>
              <a:ea typeface="Helvetica Neue" panose="02000503000000020004" pitchFamily="2" charset="0"/>
              <a:cs typeface="Helvetica Neue" panose="02000503000000020004" pitchFamily="2" charset="0"/>
            </a:endParaRPr>
          </a:p>
        </p:txBody>
      </p:sp>
      <p:sp>
        <p:nvSpPr>
          <p:cNvPr id="69" name="L-Shape 68">
            <a:extLst>
              <a:ext uri="{FF2B5EF4-FFF2-40B4-BE49-F238E27FC236}">
                <a16:creationId xmlns:a16="http://schemas.microsoft.com/office/drawing/2014/main" id="{C916329F-8F7D-F447-AC3E-053EBC610106}"/>
              </a:ext>
            </a:extLst>
          </p:cNvPr>
          <p:cNvSpPr/>
          <p:nvPr/>
        </p:nvSpPr>
        <p:spPr>
          <a:xfrm flipH="1">
            <a:off x="5058000" y="2850495"/>
            <a:ext cx="810000" cy="1116000"/>
          </a:xfrm>
          <a:prstGeom prst="corner">
            <a:avLst>
              <a:gd name="adj1" fmla="val 7073"/>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0" name="L-Shape 69">
            <a:extLst>
              <a:ext uri="{FF2B5EF4-FFF2-40B4-BE49-F238E27FC236}">
                <a16:creationId xmlns:a16="http://schemas.microsoft.com/office/drawing/2014/main" id="{55CBAD70-B8C8-BE49-91EF-EB9AD318FD64}"/>
              </a:ext>
            </a:extLst>
          </p:cNvPr>
          <p:cNvSpPr/>
          <p:nvPr/>
        </p:nvSpPr>
        <p:spPr>
          <a:xfrm>
            <a:off x="4248000" y="2850495"/>
            <a:ext cx="810000" cy="1116000"/>
          </a:xfrm>
          <a:prstGeom prst="corner">
            <a:avLst>
              <a:gd name="adj1" fmla="val 7073"/>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5" name="L-Shape 74">
            <a:extLst>
              <a:ext uri="{FF2B5EF4-FFF2-40B4-BE49-F238E27FC236}">
                <a16:creationId xmlns:a16="http://schemas.microsoft.com/office/drawing/2014/main" id="{40AFD111-C01B-474D-9CE9-92D7DED4680D}"/>
              </a:ext>
            </a:extLst>
          </p:cNvPr>
          <p:cNvSpPr/>
          <p:nvPr/>
        </p:nvSpPr>
        <p:spPr>
          <a:xfrm flipH="1">
            <a:off x="3268800" y="957790"/>
            <a:ext cx="810000" cy="3000908"/>
          </a:xfrm>
          <a:prstGeom prst="corner">
            <a:avLst>
              <a:gd name="adj1" fmla="val 6497"/>
              <a:gd name="adj2" fmla="val 694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6" name="L-Shape 75">
            <a:extLst>
              <a:ext uri="{FF2B5EF4-FFF2-40B4-BE49-F238E27FC236}">
                <a16:creationId xmlns:a16="http://schemas.microsoft.com/office/drawing/2014/main" id="{A05CE061-205B-DC4F-8FDE-954DCB992C30}"/>
              </a:ext>
            </a:extLst>
          </p:cNvPr>
          <p:cNvSpPr/>
          <p:nvPr/>
        </p:nvSpPr>
        <p:spPr>
          <a:xfrm>
            <a:off x="2458800" y="957790"/>
            <a:ext cx="810000" cy="3000908"/>
          </a:xfrm>
          <a:prstGeom prst="corner">
            <a:avLst>
              <a:gd name="adj1" fmla="val 6497"/>
              <a:gd name="adj2" fmla="val 7336"/>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a:latin typeface="Avenir"/>
            </a:endParaRPr>
          </a:p>
        </p:txBody>
      </p:sp>
      <p:sp>
        <p:nvSpPr>
          <p:cNvPr id="78" name="L-Shape 77">
            <a:extLst>
              <a:ext uri="{FF2B5EF4-FFF2-40B4-BE49-F238E27FC236}">
                <a16:creationId xmlns:a16="http://schemas.microsoft.com/office/drawing/2014/main" id="{B99F5FC8-696C-664D-8BB1-F085E5F5B133}"/>
              </a:ext>
            </a:extLst>
          </p:cNvPr>
          <p:cNvSpPr/>
          <p:nvPr/>
        </p:nvSpPr>
        <p:spPr>
          <a:xfrm flipH="1">
            <a:off x="1483200" y="3340800"/>
            <a:ext cx="810000" cy="613673"/>
          </a:xfrm>
          <a:prstGeom prst="corner">
            <a:avLst>
              <a:gd name="adj1" fmla="val 9817"/>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79" name="L-Shape 78">
            <a:extLst>
              <a:ext uri="{FF2B5EF4-FFF2-40B4-BE49-F238E27FC236}">
                <a16:creationId xmlns:a16="http://schemas.microsoft.com/office/drawing/2014/main" id="{C4960DC6-0824-2E49-98C1-5C0A9A2FB5A7}"/>
              </a:ext>
            </a:extLst>
          </p:cNvPr>
          <p:cNvSpPr/>
          <p:nvPr/>
        </p:nvSpPr>
        <p:spPr>
          <a:xfrm>
            <a:off x="673200" y="3340800"/>
            <a:ext cx="810000" cy="613673"/>
          </a:xfrm>
          <a:prstGeom prst="corner">
            <a:avLst>
              <a:gd name="adj1" fmla="val 9817"/>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37" name="TextBox 36">
            <a:extLst>
              <a:ext uri="{FF2B5EF4-FFF2-40B4-BE49-F238E27FC236}">
                <a16:creationId xmlns:a16="http://schemas.microsoft.com/office/drawing/2014/main" id="{E223E90B-6A6B-1141-A651-0CC76824BD64}"/>
              </a:ext>
            </a:extLst>
          </p:cNvPr>
          <p:cNvSpPr txBox="1"/>
          <p:nvPr/>
        </p:nvSpPr>
        <p:spPr>
          <a:xfrm>
            <a:off x="2551146" y="3924000"/>
            <a:ext cx="1393331" cy="338554"/>
          </a:xfrm>
          <a:prstGeom prst="rect">
            <a:avLst/>
          </a:prstGeom>
          <a:noFill/>
        </p:spPr>
        <p:txBody>
          <a:bodyPr wrap="none" rtlCol="0">
            <a:spAutoFit/>
          </a:bodyPr>
          <a:lstStyle/>
          <a:p>
            <a:pPr algn="ctr"/>
            <a:r>
              <a:rPr lang="en-US" sz="1600">
                <a:latin typeface="Avenir"/>
              </a:rPr>
              <a:t>Cash at bank</a:t>
            </a:r>
          </a:p>
        </p:txBody>
      </p:sp>
      <p:sp>
        <p:nvSpPr>
          <p:cNvPr id="108" name="TextBox 107">
            <a:extLst>
              <a:ext uri="{FF2B5EF4-FFF2-40B4-BE49-F238E27FC236}">
                <a16:creationId xmlns:a16="http://schemas.microsoft.com/office/drawing/2014/main" id="{0AB4F2A3-4613-A14B-9B24-5809A17207EC}"/>
              </a:ext>
            </a:extLst>
          </p:cNvPr>
          <p:cNvSpPr txBox="1"/>
          <p:nvPr/>
        </p:nvSpPr>
        <p:spPr>
          <a:xfrm>
            <a:off x="4292494" y="3924000"/>
            <a:ext cx="1531779" cy="338554"/>
          </a:xfrm>
          <a:prstGeom prst="rect">
            <a:avLst/>
          </a:prstGeom>
          <a:noFill/>
        </p:spPr>
        <p:txBody>
          <a:bodyPr wrap="square" rtlCol="0">
            <a:spAutoFit/>
          </a:bodyPr>
          <a:lstStyle/>
          <a:p>
            <a:pPr algn="ctr"/>
            <a:r>
              <a:rPr lang="en-US" sz="1600">
                <a:latin typeface="Avenir"/>
              </a:rPr>
              <a:t>Inventory</a:t>
            </a:r>
          </a:p>
        </p:txBody>
      </p:sp>
      <p:sp>
        <p:nvSpPr>
          <p:cNvPr id="109" name="TextBox 108">
            <a:extLst>
              <a:ext uri="{FF2B5EF4-FFF2-40B4-BE49-F238E27FC236}">
                <a16:creationId xmlns:a16="http://schemas.microsoft.com/office/drawing/2014/main" id="{B694B919-534C-2C41-8C61-09F0BDF0CC10}"/>
              </a:ext>
            </a:extLst>
          </p:cNvPr>
          <p:cNvSpPr txBox="1"/>
          <p:nvPr/>
        </p:nvSpPr>
        <p:spPr>
          <a:xfrm>
            <a:off x="4101806" y="2478490"/>
            <a:ext cx="1911388" cy="338554"/>
          </a:xfrm>
          <a:prstGeom prst="rect">
            <a:avLst/>
          </a:prstGeom>
          <a:noFill/>
        </p:spPr>
        <p:txBody>
          <a:bodyPr wrap="square" rtlCol="0">
            <a:spAutoFit/>
          </a:bodyPr>
          <a:lstStyle/>
          <a:p>
            <a:pPr algn="ctr"/>
            <a:r>
              <a:rPr lang="en-US" sz="1600">
                <a:latin typeface="Avenir"/>
              </a:rPr>
              <a:t>Deferred expenses</a:t>
            </a:r>
          </a:p>
        </p:txBody>
      </p:sp>
      <p:sp>
        <p:nvSpPr>
          <p:cNvPr id="110" name="TextBox 109">
            <a:extLst>
              <a:ext uri="{FF2B5EF4-FFF2-40B4-BE49-F238E27FC236}">
                <a16:creationId xmlns:a16="http://schemas.microsoft.com/office/drawing/2014/main" id="{250FFD4C-0E18-2143-A991-253A9FB19C67}"/>
              </a:ext>
            </a:extLst>
          </p:cNvPr>
          <p:cNvSpPr txBox="1"/>
          <p:nvPr/>
        </p:nvSpPr>
        <p:spPr>
          <a:xfrm>
            <a:off x="661400" y="3924000"/>
            <a:ext cx="1647322" cy="338554"/>
          </a:xfrm>
          <a:prstGeom prst="rect">
            <a:avLst/>
          </a:prstGeom>
          <a:noFill/>
        </p:spPr>
        <p:txBody>
          <a:bodyPr wrap="square" rtlCol="0">
            <a:spAutoFit/>
          </a:bodyPr>
          <a:lstStyle/>
          <a:p>
            <a:pPr algn="ctr"/>
            <a:r>
              <a:rPr lang="en-US" sz="1600">
                <a:latin typeface="Avenir"/>
              </a:rPr>
              <a:t>Equipment</a:t>
            </a:r>
          </a:p>
        </p:txBody>
      </p:sp>
      <p:sp>
        <p:nvSpPr>
          <p:cNvPr id="117" name="TextBox 116">
            <a:extLst>
              <a:ext uri="{FF2B5EF4-FFF2-40B4-BE49-F238E27FC236}">
                <a16:creationId xmlns:a16="http://schemas.microsoft.com/office/drawing/2014/main" id="{237BC73F-6C09-3846-969F-9D9F0BD4F56E}"/>
              </a:ext>
            </a:extLst>
          </p:cNvPr>
          <p:cNvSpPr txBox="1"/>
          <p:nvPr/>
        </p:nvSpPr>
        <p:spPr>
          <a:xfrm>
            <a:off x="10028967" y="2029411"/>
            <a:ext cx="1593685" cy="338554"/>
          </a:xfrm>
          <a:prstGeom prst="rect">
            <a:avLst/>
          </a:prstGeom>
          <a:noFill/>
        </p:spPr>
        <p:txBody>
          <a:bodyPr wrap="square" rtlCol="0">
            <a:spAutoFit/>
          </a:bodyPr>
          <a:lstStyle/>
          <a:p>
            <a:pPr algn="ctr"/>
            <a:r>
              <a:rPr lang="en-US" sz="1600">
                <a:latin typeface="Avenir"/>
              </a:rPr>
              <a:t>Bank loan</a:t>
            </a:r>
          </a:p>
        </p:txBody>
      </p:sp>
      <p:sp>
        <p:nvSpPr>
          <p:cNvPr id="118" name="TextBox 117">
            <a:extLst>
              <a:ext uri="{FF2B5EF4-FFF2-40B4-BE49-F238E27FC236}">
                <a16:creationId xmlns:a16="http://schemas.microsoft.com/office/drawing/2014/main" id="{771DDF6F-B29C-AF46-A26D-B05A0E9136DB}"/>
              </a:ext>
            </a:extLst>
          </p:cNvPr>
          <p:cNvSpPr txBox="1"/>
          <p:nvPr/>
        </p:nvSpPr>
        <p:spPr>
          <a:xfrm>
            <a:off x="8114313" y="2028286"/>
            <a:ext cx="1864201" cy="338554"/>
          </a:xfrm>
          <a:prstGeom prst="rect">
            <a:avLst/>
          </a:prstGeom>
          <a:noFill/>
        </p:spPr>
        <p:txBody>
          <a:bodyPr wrap="square" rtlCol="0">
            <a:spAutoFit/>
          </a:bodyPr>
          <a:lstStyle/>
          <a:p>
            <a:pPr algn="ctr"/>
            <a:r>
              <a:rPr lang="en-US" sz="1600" dirty="0">
                <a:latin typeface="Avenir"/>
              </a:rPr>
              <a:t>Deferred revenue</a:t>
            </a:r>
          </a:p>
        </p:txBody>
      </p:sp>
      <p:sp>
        <p:nvSpPr>
          <p:cNvPr id="121" name="TextBox 120">
            <a:extLst>
              <a:ext uri="{FF2B5EF4-FFF2-40B4-BE49-F238E27FC236}">
                <a16:creationId xmlns:a16="http://schemas.microsoft.com/office/drawing/2014/main" id="{4AF78C35-DE89-ED4B-B9E2-054D93E394F4}"/>
              </a:ext>
            </a:extLst>
          </p:cNvPr>
          <p:cNvSpPr txBox="1"/>
          <p:nvPr/>
        </p:nvSpPr>
        <p:spPr>
          <a:xfrm>
            <a:off x="3184560" y="361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30,000</a:t>
            </a:r>
          </a:p>
        </p:txBody>
      </p:sp>
      <p:sp>
        <p:nvSpPr>
          <p:cNvPr id="154" name="TextBox 153">
            <a:extLst>
              <a:ext uri="{FF2B5EF4-FFF2-40B4-BE49-F238E27FC236}">
                <a16:creationId xmlns:a16="http://schemas.microsoft.com/office/drawing/2014/main" id="{6E437928-42EA-BF44-9750-7DDD88EE0279}"/>
              </a:ext>
            </a:extLst>
          </p:cNvPr>
          <p:cNvSpPr txBox="1"/>
          <p:nvPr/>
        </p:nvSpPr>
        <p:spPr>
          <a:xfrm>
            <a:off x="3184560" y="3344709"/>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20,000</a:t>
            </a:r>
          </a:p>
        </p:txBody>
      </p:sp>
      <p:sp>
        <p:nvSpPr>
          <p:cNvPr id="157" name="TextBox 156">
            <a:extLst>
              <a:ext uri="{FF2B5EF4-FFF2-40B4-BE49-F238E27FC236}">
                <a16:creationId xmlns:a16="http://schemas.microsoft.com/office/drawing/2014/main" id="{0C9613FE-066E-314E-BC8D-6E10D36BF1A1}"/>
              </a:ext>
            </a:extLst>
          </p:cNvPr>
          <p:cNvSpPr txBox="1"/>
          <p:nvPr/>
        </p:nvSpPr>
        <p:spPr>
          <a:xfrm>
            <a:off x="3298373" y="3074709"/>
            <a:ext cx="697627" cy="338554"/>
          </a:xfrm>
          <a:prstGeom prst="rect">
            <a:avLst/>
          </a:prstGeom>
          <a:noFill/>
        </p:spPr>
        <p:txBody>
          <a:bodyPr wrap="none" rtlCol="0">
            <a:spAutoFit/>
          </a:bodyPr>
          <a:lstStyle/>
          <a:p>
            <a:pPr algn="r"/>
            <a:r>
              <a:rPr lang="en-US" sz="1600" b="1">
                <a:solidFill>
                  <a:schemeClr val="accent2"/>
                </a:solidFill>
                <a:latin typeface="Avenir"/>
              </a:rPr>
              <a:t>5,000</a:t>
            </a:r>
          </a:p>
        </p:txBody>
      </p:sp>
      <p:sp>
        <p:nvSpPr>
          <p:cNvPr id="163" name="TextBox 162">
            <a:extLst>
              <a:ext uri="{FF2B5EF4-FFF2-40B4-BE49-F238E27FC236}">
                <a16:creationId xmlns:a16="http://schemas.microsoft.com/office/drawing/2014/main" id="{9ECF76B1-D232-594B-AEC5-8EBA9E7B4293}"/>
              </a:ext>
            </a:extLst>
          </p:cNvPr>
          <p:cNvSpPr txBox="1"/>
          <p:nvPr/>
        </p:nvSpPr>
        <p:spPr>
          <a:xfrm>
            <a:off x="3469894" y="253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700</a:t>
            </a:r>
          </a:p>
        </p:txBody>
      </p:sp>
      <p:sp>
        <p:nvSpPr>
          <p:cNvPr id="181" name="TextBox 180">
            <a:extLst>
              <a:ext uri="{FF2B5EF4-FFF2-40B4-BE49-F238E27FC236}">
                <a16:creationId xmlns:a16="http://schemas.microsoft.com/office/drawing/2014/main" id="{F9F58AF2-2027-7140-9032-10E07B0F4431}"/>
              </a:ext>
            </a:extLst>
          </p:cNvPr>
          <p:cNvSpPr txBox="1"/>
          <p:nvPr/>
        </p:nvSpPr>
        <p:spPr>
          <a:xfrm>
            <a:off x="3583708" y="2264709"/>
            <a:ext cx="412292" cy="338554"/>
          </a:xfrm>
          <a:prstGeom prst="rect">
            <a:avLst/>
          </a:prstGeom>
          <a:noFill/>
        </p:spPr>
        <p:txBody>
          <a:bodyPr wrap="none" rtlCol="0">
            <a:spAutoFit/>
          </a:bodyPr>
          <a:lstStyle/>
          <a:p>
            <a:pPr algn="r"/>
            <a:r>
              <a:rPr lang="en-US" sz="1600" b="1">
                <a:solidFill>
                  <a:schemeClr val="accent2"/>
                </a:solidFill>
                <a:latin typeface="Avenir"/>
              </a:rPr>
              <a:t>50</a:t>
            </a:r>
          </a:p>
        </p:txBody>
      </p:sp>
      <p:sp>
        <p:nvSpPr>
          <p:cNvPr id="172" name="TextBox 171">
            <a:extLst>
              <a:ext uri="{FF2B5EF4-FFF2-40B4-BE49-F238E27FC236}">
                <a16:creationId xmlns:a16="http://schemas.microsoft.com/office/drawing/2014/main" id="{1E829A5C-2F66-F748-9AB9-2ABF768ADAA8}"/>
              </a:ext>
            </a:extLst>
          </p:cNvPr>
          <p:cNvSpPr txBox="1"/>
          <p:nvPr/>
        </p:nvSpPr>
        <p:spPr>
          <a:xfrm>
            <a:off x="3469894" y="172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175" name="TextBox 174">
            <a:extLst>
              <a:ext uri="{FF2B5EF4-FFF2-40B4-BE49-F238E27FC236}">
                <a16:creationId xmlns:a16="http://schemas.microsoft.com/office/drawing/2014/main" id="{1EDF2EBA-BB67-8B4C-A078-DBEAC0E841AA}"/>
              </a:ext>
            </a:extLst>
          </p:cNvPr>
          <p:cNvSpPr txBox="1"/>
          <p:nvPr/>
        </p:nvSpPr>
        <p:spPr>
          <a:xfrm>
            <a:off x="3469894" y="1454709"/>
            <a:ext cx="526106" cy="338554"/>
          </a:xfrm>
          <a:prstGeom prst="rect">
            <a:avLst/>
          </a:prstGeom>
          <a:noFill/>
        </p:spPr>
        <p:txBody>
          <a:bodyPr wrap="none" rtlCol="0">
            <a:spAutoFit/>
          </a:bodyPr>
          <a:lstStyle/>
          <a:p>
            <a:pPr algn="r"/>
            <a:r>
              <a:rPr lang="en-US" sz="1600" b="1">
                <a:solidFill>
                  <a:schemeClr val="accent2"/>
                </a:solidFill>
                <a:latin typeface="Avenir"/>
              </a:rPr>
              <a:t>800</a:t>
            </a:r>
          </a:p>
        </p:txBody>
      </p:sp>
      <p:sp>
        <p:nvSpPr>
          <p:cNvPr id="178" name="TextBox 177">
            <a:extLst>
              <a:ext uri="{FF2B5EF4-FFF2-40B4-BE49-F238E27FC236}">
                <a16:creationId xmlns:a16="http://schemas.microsoft.com/office/drawing/2014/main" id="{222045B8-0A29-5D40-B258-A790A73168E9}"/>
              </a:ext>
            </a:extLst>
          </p:cNvPr>
          <p:cNvSpPr txBox="1"/>
          <p:nvPr/>
        </p:nvSpPr>
        <p:spPr>
          <a:xfrm>
            <a:off x="3184560" y="2804709"/>
            <a:ext cx="811440" cy="338554"/>
          </a:xfrm>
          <a:prstGeom prst="rect">
            <a:avLst/>
          </a:prstGeom>
          <a:noFill/>
        </p:spPr>
        <p:txBody>
          <a:bodyPr wrap="none" rtlCol="0">
            <a:spAutoFit/>
          </a:bodyPr>
          <a:lstStyle/>
          <a:p>
            <a:pPr algn="r"/>
            <a:r>
              <a:rPr lang="en-US" sz="1600" b="1">
                <a:solidFill>
                  <a:schemeClr val="accent2"/>
                </a:solidFill>
                <a:latin typeface="Avenir"/>
              </a:rPr>
              <a:t>10,000</a:t>
            </a:r>
          </a:p>
        </p:txBody>
      </p:sp>
      <p:sp>
        <p:nvSpPr>
          <p:cNvPr id="119" name="TextBox 118">
            <a:extLst>
              <a:ext uri="{FF2B5EF4-FFF2-40B4-BE49-F238E27FC236}">
                <a16:creationId xmlns:a16="http://schemas.microsoft.com/office/drawing/2014/main" id="{0244EA70-5881-3148-80B9-6DFFE16A9FDA}"/>
              </a:ext>
            </a:extLst>
          </p:cNvPr>
          <p:cNvSpPr txBox="1"/>
          <p:nvPr/>
        </p:nvSpPr>
        <p:spPr>
          <a:xfrm>
            <a:off x="10026435" y="3924000"/>
            <a:ext cx="1620000" cy="584775"/>
          </a:xfrm>
          <a:prstGeom prst="rect">
            <a:avLst/>
          </a:prstGeom>
          <a:noFill/>
        </p:spPr>
        <p:txBody>
          <a:bodyPr wrap="square" rtlCol="0">
            <a:spAutoFit/>
          </a:bodyPr>
          <a:lstStyle/>
          <a:p>
            <a:pPr algn="ctr"/>
            <a:r>
              <a:rPr lang="en-US" sz="1600" dirty="0">
                <a:latin typeface="Avenir"/>
              </a:rPr>
              <a:t>Contributed capital</a:t>
            </a:r>
          </a:p>
        </p:txBody>
      </p:sp>
      <p:sp>
        <p:nvSpPr>
          <p:cNvPr id="2" name="Down Arrow 1">
            <a:extLst>
              <a:ext uri="{FF2B5EF4-FFF2-40B4-BE49-F238E27FC236}">
                <a16:creationId xmlns:a16="http://schemas.microsoft.com/office/drawing/2014/main" id="{F86048BE-D5F3-F04C-A5C9-FD8784673821}"/>
              </a:ext>
            </a:extLst>
          </p:cNvPr>
          <p:cNvSpPr/>
          <p:nvPr/>
        </p:nvSpPr>
        <p:spPr>
          <a:xfrm>
            <a:off x="3011371" y="152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Down Arrow 198">
            <a:extLst>
              <a:ext uri="{FF2B5EF4-FFF2-40B4-BE49-F238E27FC236}">
                <a16:creationId xmlns:a16="http://schemas.microsoft.com/office/drawing/2014/main" id="{3FD208AA-CF32-B64F-B03C-969D3C0C8C66}"/>
              </a:ext>
            </a:extLst>
          </p:cNvPr>
          <p:cNvSpPr/>
          <p:nvPr/>
        </p:nvSpPr>
        <p:spPr>
          <a:xfrm rot="10800000">
            <a:off x="3011371" y="177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Down Arrow 199">
            <a:extLst>
              <a:ext uri="{FF2B5EF4-FFF2-40B4-BE49-F238E27FC236}">
                <a16:creationId xmlns:a16="http://schemas.microsoft.com/office/drawing/2014/main" id="{1FAF3004-1D41-C745-8781-BBD1028A56FD}"/>
              </a:ext>
            </a:extLst>
          </p:cNvPr>
          <p:cNvSpPr/>
          <p:nvPr/>
        </p:nvSpPr>
        <p:spPr>
          <a:xfrm>
            <a:off x="3011371" y="233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Down Arrow 200">
            <a:extLst>
              <a:ext uri="{FF2B5EF4-FFF2-40B4-BE49-F238E27FC236}">
                <a16:creationId xmlns:a16="http://schemas.microsoft.com/office/drawing/2014/main" id="{CBCC3500-5911-CC46-9CDA-4AA54F742FE8}"/>
              </a:ext>
            </a:extLst>
          </p:cNvPr>
          <p:cNvSpPr/>
          <p:nvPr/>
        </p:nvSpPr>
        <p:spPr>
          <a:xfrm rot="10800000">
            <a:off x="3011371" y="258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Down Arrow 202">
            <a:extLst>
              <a:ext uri="{FF2B5EF4-FFF2-40B4-BE49-F238E27FC236}">
                <a16:creationId xmlns:a16="http://schemas.microsoft.com/office/drawing/2014/main" id="{F34EE384-BD9E-2B45-8928-249AF3342E54}"/>
              </a:ext>
            </a:extLst>
          </p:cNvPr>
          <p:cNvSpPr/>
          <p:nvPr/>
        </p:nvSpPr>
        <p:spPr>
          <a:xfrm>
            <a:off x="3011371" y="287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Down Arrow 203">
            <a:extLst>
              <a:ext uri="{FF2B5EF4-FFF2-40B4-BE49-F238E27FC236}">
                <a16:creationId xmlns:a16="http://schemas.microsoft.com/office/drawing/2014/main" id="{18440202-5302-0C4E-A297-36C9AEB943B1}"/>
              </a:ext>
            </a:extLst>
          </p:cNvPr>
          <p:cNvSpPr/>
          <p:nvPr/>
        </p:nvSpPr>
        <p:spPr>
          <a:xfrm>
            <a:off x="3011371" y="31467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Down Arrow 204">
            <a:extLst>
              <a:ext uri="{FF2B5EF4-FFF2-40B4-BE49-F238E27FC236}">
                <a16:creationId xmlns:a16="http://schemas.microsoft.com/office/drawing/2014/main" id="{06655FC9-46C0-8340-9B86-492124572EDB}"/>
              </a:ext>
            </a:extLst>
          </p:cNvPr>
          <p:cNvSpPr/>
          <p:nvPr/>
        </p:nvSpPr>
        <p:spPr>
          <a:xfrm rot="10800000">
            <a:off x="3011371" y="339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Down Arrow 205">
            <a:extLst>
              <a:ext uri="{FF2B5EF4-FFF2-40B4-BE49-F238E27FC236}">
                <a16:creationId xmlns:a16="http://schemas.microsoft.com/office/drawing/2014/main" id="{DF283A28-19DA-BB45-89DB-B37E818C679B}"/>
              </a:ext>
            </a:extLst>
          </p:cNvPr>
          <p:cNvSpPr/>
          <p:nvPr/>
        </p:nvSpPr>
        <p:spPr>
          <a:xfrm rot="10800000">
            <a:off x="3011371" y="3664033"/>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extBox 206">
            <a:extLst>
              <a:ext uri="{FF2B5EF4-FFF2-40B4-BE49-F238E27FC236}">
                <a16:creationId xmlns:a16="http://schemas.microsoft.com/office/drawing/2014/main" id="{4031B2E0-821C-9544-BDBB-7BE8E8626AEE}"/>
              </a:ext>
            </a:extLst>
          </p:cNvPr>
          <p:cNvSpPr txBox="1"/>
          <p:nvPr/>
        </p:nvSpPr>
        <p:spPr>
          <a:xfrm>
            <a:off x="10785455" y="1718255"/>
            <a:ext cx="811440" cy="338554"/>
          </a:xfrm>
          <a:prstGeom prst="rect">
            <a:avLst/>
          </a:prstGeom>
          <a:noFill/>
        </p:spPr>
        <p:txBody>
          <a:bodyPr wrap="none" rtlCol="0">
            <a:spAutoFit/>
          </a:bodyPr>
          <a:lstStyle/>
          <a:p>
            <a:pPr algn="r"/>
            <a:r>
              <a:rPr lang="en-US" sz="1600" b="1">
                <a:solidFill>
                  <a:schemeClr val="accent2"/>
                </a:solidFill>
                <a:latin typeface="Avenir"/>
              </a:rPr>
              <a:t>30,000</a:t>
            </a:r>
          </a:p>
        </p:txBody>
      </p:sp>
      <p:sp>
        <p:nvSpPr>
          <p:cNvPr id="208" name="Down Arrow 207">
            <a:extLst>
              <a:ext uri="{FF2B5EF4-FFF2-40B4-BE49-F238E27FC236}">
                <a16:creationId xmlns:a16="http://schemas.microsoft.com/office/drawing/2014/main" id="{CA42904E-03CE-7F4D-AFDF-7E39C972270E}"/>
              </a:ext>
            </a:extLst>
          </p:cNvPr>
          <p:cNvSpPr/>
          <p:nvPr/>
        </p:nvSpPr>
        <p:spPr>
          <a:xfrm rot="10800000">
            <a:off x="10548000" y="175788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09" name="TextBox 208">
            <a:extLst>
              <a:ext uri="{FF2B5EF4-FFF2-40B4-BE49-F238E27FC236}">
                <a16:creationId xmlns:a16="http://schemas.microsoft.com/office/drawing/2014/main" id="{DBE8AEB2-6A45-E64A-8F5D-ADD7C54979A7}"/>
              </a:ext>
            </a:extLst>
          </p:cNvPr>
          <p:cNvSpPr txBox="1"/>
          <p:nvPr/>
        </p:nvSpPr>
        <p:spPr>
          <a:xfrm>
            <a:off x="10776926" y="3605780"/>
            <a:ext cx="811440" cy="338554"/>
          </a:xfrm>
          <a:prstGeom prst="rect">
            <a:avLst/>
          </a:prstGeom>
          <a:noFill/>
        </p:spPr>
        <p:txBody>
          <a:bodyPr wrap="none" rtlCol="0">
            <a:spAutoFit/>
          </a:bodyPr>
          <a:lstStyle/>
          <a:p>
            <a:pPr algn="r"/>
            <a:r>
              <a:rPr lang="en-US" sz="1600" b="1">
                <a:solidFill>
                  <a:schemeClr val="accent2"/>
                </a:solidFill>
                <a:latin typeface="Avenir"/>
              </a:rPr>
              <a:t>20,000</a:t>
            </a:r>
          </a:p>
        </p:txBody>
      </p:sp>
      <p:sp>
        <p:nvSpPr>
          <p:cNvPr id="211" name="TextBox 210">
            <a:extLst>
              <a:ext uri="{FF2B5EF4-FFF2-40B4-BE49-F238E27FC236}">
                <a16:creationId xmlns:a16="http://schemas.microsoft.com/office/drawing/2014/main" id="{262F1506-867F-B34F-883F-A3CA5507189A}"/>
              </a:ext>
            </a:extLst>
          </p:cNvPr>
          <p:cNvSpPr txBox="1"/>
          <p:nvPr/>
        </p:nvSpPr>
        <p:spPr>
          <a:xfrm>
            <a:off x="10732895" y="1448255"/>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5,000</a:t>
            </a:r>
          </a:p>
        </p:txBody>
      </p:sp>
      <p:sp>
        <p:nvSpPr>
          <p:cNvPr id="212" name="Down Arrow 211">
            <a:extLst>
              <a:ext uri="{FF2B5EF4-FFF2-40B4-BE49-F238E27FC236}">
                <a16:creationId xmlns:a16="http://schemas.microsoft.com/office/drawing/2014/main" id="{7A914D3F-C49C-F74C-A0B0-F81C07779BDF}"/>
              </a:ext>
            </a:extLst>
          </p:cNvPr>
          <p:cNvSpPr/>
          <p:nvPr/>
        </p:nvSpPr>
        <p:spPr>
          <a:xfrm>
            <a:off x="10548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13" name="TextBox 212">
            <a:extLst>
              <a:ext uri="{FF2B5EF4-FFF2-40B4-BE49-F238E27FC236}">
                <a16:creationId xmlns:a16="http://schemas.microsoft.com/office/drawing/2014/main" id="{C1E848E5-21E0-0A46-976F-5F74E418DBAD}"/>
              </a:ext>
            </a:extLst>
          </p:cNvPr>
          <p:cNvSpPr txBox="1"/>
          <p:nvPr/>
        </p:nvSpPr>
        <p:spPr>
          <a:xfrm>
            <a:off x="4984560" y="3610092"/>
            <a:ext cx="811440" cy="338554"/>
          </a:xfrm>
          <a:prstGeom prst="rect">
            <a:avLst/>
          </a:prstGeom>
          <a:noFill/>
        </p:spPr>
        <p:txBody>
          <a:bodyPr wrap="none" rtlCol="0">
            <a:spAutoFit/>
          </a:bodyPr>
          <a:lstStyle/>
          <a:p>
            <a:pPr algn="r"/>
            <a:r>
              <a:rPr lang="en-US" sz="1600" b="1">
                <a:solidFill>
                  <a:schemeClr val="accent6">
                    <a:lumMod val="75000"/>
                  </a:schemeClr>
                </a:solidFill>
                <a:latin typeface="Avenir"/>
              </a:rPr>
              <a:t>10,000</a:t>
            </a:r>
          </a:p>
        </p:txBody>
      </p:sp>
      <p:sp>
        <p:nvSpPr>
          <p:cNvPr id="220" name="TextBox 219">
            <a:extLst>
              <a:ext uri="{FF2B5EF4-FFF2-40B4-BE49-F238E27FC236}">
                <a16:creationId xmlns:a16="http://schemas.microsoft.com/office/drawing/2014/main" id="{D59EDECC-B1D1-B040-BBB3-304302444F36}"/>
              </a:ext>
            </a:extLst>
          </p:cNvPr>
          <p:cNvSpPr txBox="1"/>
          <p:nvPr/>
        </p:nvSpPr>
        <p:spPr>
          <a:xfrm>
            <a:off x="3469894" y="199470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100</a:t>
            </a:r>
          </a:p>
        </p:txBody>
      </p:sp>
      <p:sp>
        <p:nvSpPr>
          <p:cNvPr id="221" name="Down Arrow 220">
            <a:extLst>
              <a:ext uri="{FF2B5EF4-FFF2-40B4-BE49-F238E27FC236}">
                <a16:creationId xmlns:a16="http://schemas.microsoft.com/office/drawing/2014/main" id="{123666BC-850F-5440-BFCE-47B8E5B5429B}"/>
              </a:ext>
            </a:extLst>
          </p:cNvPr>
          <p:cNvSpPr/>
          <p:nvPr/>
        </p:nvSpPr>
        <p:spPr>
          <a:xfrm rot="10800000">
            <a:off x="3007666" y="204993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TextBox 221">
            <a:extLst>
              <a:ext uri="{FF2B5EF4-FFF2-40B4-BE49-F238E27FC236}">
                <a16:creationId xmlns:a16="http://schemas.microsoft.com/office/drawing/2014/main" id="{4E8E55AB-8646-4444-AA0F-27111F6035C3}"/>
              </a:ext>
            </a:extLst>
          </p:cNvPr>
          <p:cNvSpPr txBox="1"/>
          <p:nvPr/>
        </p:nvSpPr>
        <p:spPr>
          <a:xfrm>
            <a:off x="7315968" y="1713373"/>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23" name="Down Arrow 222">
            <a:extLst>
              <a:ext uri="{FF2B5EF4-FFF2-40B4-BE49-F238E27FC236}">
                <a16:creationId xmlns:a16="http://schemas.microsoft.com/office/drawing/2014/main" id="{0348B326-3934-544A-9863-1DBB73605FFD}"/>
              </a:ext>
            </a:extLst>
          </p:cNvPr>
          <p:cNvSpPr/>
          <p:nvPr/>
        </p:nvSpPr>
        <p:spPr>
          <a:xfrm rot="10800000">
            <a:off x="6984000" y="174904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24" name="TextBox 223">
            <a:extLst>
              <a:ext uri="{FF2B5EF4-FFF2-40B4-BE49-F238E27FC236}">
                <a16:creationId xmlns:a16="http://schemas.microsoft.com/office/drawing/2014/main" id="{9FB519A9-7A2E-DD4C-80EF-2E9F055E7B71}"/>
              </a:ext>
            </a:extLst>
          </p:cNvPr>
          <p:cNvSpPr txBox="1"/>
          <p:nvPr/>
        </p:nvSpPr>
        <p:spPr>
          <a:xfrm>
            <a:off x="1501235" y="3588336"/>
            <a:ext cx="697627" cy="338554"/>
          </a:xfrm>
          <a:prstGeom prst="rect">
            <a:avLst/>
          </a:prstGeom>
          <a:noFill/>
        </p:spPr>
        <p:txBody>
          <a:bodyPr wrap="none" rtlCol="0">
            <a:spAutoFit/>
          </a:bodyPr>
          <a:lstStyle/>
          <a:p>
            <a:pPr algn="r"/>
            <a:r>
              <a:rPr lang="en-US" sz="1600" b="1">
                <a:solidFill>
                  <a:schemeClr val="accent6">
                    <a:lumMod val="75000"/>
                  </a:schemeClr>
                </a:solidFill>
                <a:latin typeface="Avenir"/>
              </a:rPr>
              <a:t>6,000</a:t>
            </a:r>
          </a:p>
        </p:txBody>
      </p:sp>
      <p:sp>
        <p:nvSpPr>
          <p:cNvPr id="225" name="Down Arrow 224">
            <a:extLst>
              <a:ext uri="{FF2B5EF4-FFF2-40B4-BE49-F238E27FC236}">
                <a16:creationId xmlns:a16="http://schemas.microsoft.com/office/drawing/2014/main" id="{498F1F2D-AFF0-0447-A7AF-833EA4923B30}"/>
              </a:ext>
            </a:extLst>
          </p:cNvPr>
          <p:cNvSpPr/>
          <p:nvPr/>
        </p:nvSpPr>
        <p:spPr>
          <a:xfrm rot="10800000">
            <a:off x="1249425" y="363766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TextBox 225">
            <a:extLst>
              <a:ext uri="{FF2B5EF4-FFF2-40B4-BE49-F238E27FC236}">
                <a16:creationId xmlns:a16="http://schemas.microsoft.com/office/drawing/2014/main" id="{6A2130B0-8D0D-7E48-9878-BAF1C7148D0E}"/>
              </a:ext>
            </a:extLst>
          </p:cNvPr>
          <p:cNvSpPr txBox="1"/>
          <p:nvPr/>
        </p:nvSpPr>
        <p:spPr>
          <a:xfrm>
            <a:off x="5269894" y="336508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27" name="Down Arrow 226">
            <a:extLst>
              <a:ext uri="{FF2B5EF4-FFF2-40B4-BE49-F238E27FC236}">
                <a16:creationId xmlns:a16="http://schemas.microsoft.com/office/drawing/2014/main" id="{99B9ED82-E5B8-C646-AC01-C0366CC8F221}"/>
              </a:ext>
            </a:extLst>
          </p:cNvPr>
          <p:cNvSpPr/>
          <p:nvPr/>
        </p:nvSpPr>
        <p:spPr>
          <a:xfrm>
            <a:off x="4824000" y="342934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Down Arrow 227">
            <a:extLst>
              <a:ext uri="{FF2B5EF4-FFF2-40B4-BE49-F238E27FC236}">
                <a16:creationId xmlns:a16="http://schemas.microsoft.com/office/drawing/2014/main" id="{2152DDC7-2D10-5346-9C23-BE254FCB2885}"/>
              </a:ext>
            </a:extLst>
          </p:cNvPr>
          <p:cNvSpPr/>
          <p:nvPr/>
        </p:nvSpPr>
        <p:spPr>
          <a:xfrm rot="10800000">
            <a:off x="4824000" y="366250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TextBox 232">
            <a:extLst>
              <a:ext uri="{FF2B5EF4-FFF2-40B4-BE49-F238E27FC236}">
                <a16:creationId xmlns:a16="http://schemas.microsoft.com/office/drawing/2014/main" id="{DA2E6378-B98F-344B-92C0-802413B38803}"/>
              </a:ext>
            </a:extLst>
          </p:cNvPr>
          <p:cNvSpPr txBox="1"/>
          <p:nvPr/>
        </p:nvSpPr>
        <p:spPr>
          <a:xfrm>
            <a:off x="5269894" y="122206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600</a:t>
            </a:r>
          </a:p>
        </p:txBody>
      </p:sp>
      <p:sp>
        <p:nvSpPr>
          <p:cNvPr id="234" name="Down Arrow 233">
            <a:extLst>
              <a:ext uri="{FF2B5EF4-FFF2-40B4-BE49-F238E27FC236}">
                <a16:creationId xmlns:a16="http://schemas.microsoft.com/office/drawing/2014/main" id="{4876771A-E466-B444-9521-BC39F491E76C}"/>
              </a:ext>
            </a:extLst>
          </p:cNvPr>
          <p:cNvSpPr/>
          <p:nvPr/>
        </p:nvSpPr>
        <p:spPr>
          <a:xfrm rot="10800000">
            <a:off x="4824771" y="126334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TextBox 234">
            <a:extLst>
              <a:ext uri="{FF2B5EF4-FFF2-40B4-BE49-F238E27FC236}">
                <a16:creationId xmlns:a16="http://schemas.microsoft.com/office/drawing/2014/main" id="{BFCD53AC-87EC-304E-8466-777A66168B3E}"/>
              </a:ext>
            </a:extLst>
          </p:cNvPr>
          <p:cNvSpPr txBox="1"/>
          <p:nvPr/>
        </p:nvSpPr>
        <p:spPr>
          <a:xfrm>
            <a:off x="5269894" y="3118060"/>
            <a:ext cx="526106" cy="338554"/>
          </a:xfrm>
          <a:prstGeom prst="rect">
            <a:avLst/>
          </a:prstGeom>
          <a:noFill/>
        </p:spPr>
        <p:txBody>
          <a:bodyPr wrap="none" rtlCol="0">
            <a:spAutoFit/>
          </a:bodyPr>
          <a:lstStyle/>
          <a:p>
            <a:pPr algn="r"/>
            <a:r>
              <a:rPr lang="en-US" sz="1600" b="1">
                <a:solidFill>
                  <a:schemeClr val="accent2"/>
                </a:solidFill>
                <a:latin typeface="Avenir"/>
              </a:rPr>
              <a:t>300</a:t>
            </a:r>
          </a:p>
        </p:txBody>
      </p:sp>
      <p:sp>
        <p:nvSpPr>
          <p:cNvPr id="236" name="Down Arrow 235">
            <a:extLst>
              <a:ext uri="{FF2B5EF4-FFF2-40B4-BE49-F238E27FC236}">
                <a16:creationId xmlns:a16="http://schemas.microsoft.com/office/drawing/2014/main" id="{1351EA2C-0F69-5B4E-AC1B-79354EC211BC}"/>
              </a:ext>
            </a:extLst>
          </p:cNvPr>
          <p:cNvSpPr/>
          <p:nvPr/>
        </p:nvSpPr>
        <p:spPr>
          <a:xfrm>
            <a:off x="4824000" y="3182321"/>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TextBox 240">
            <a:extLst>
              <a:ext uri="{FF2B5EF4-FFF2-40B4-BE49-F238E27FC236}">
                <a16:creationId xmlns:a16="http://schemas.microsoft.com/office/drawing/2014/main" id="{88F3874F-A130-C843-9E72-AFB2DD902123}"/>
              </a:ext>
            </a:extLst>
          </p:cNvPr>
          <p:cNvSpPr txBox="1"/>
          <p:nvPr/>
        </p:nvSpPr>
        <p:spPr>
          <a:xfrm>
            <a:off x="7487489" y="1462635"/>
            <a:ext cx="526106" cy="338554"/>
          </a:xfrm>
          <a:prstGeom prst="rect">
            <a:avLst/>
          </a:prstGeom>
          <a:noFill/>
        </p:spPr>
        <p:txBody>
          <a:bodyPr wrap="none" rtlCol="0">
            <a:spAutoFit/>
          </a:bodyPr>
          <a:lstStyle/>
          <a:p>
            <a:pPr algn="r"/>
            <a:r>
              <a:rPr lang="en-US" sz="1600" b="1">
                <a:solidFill>
                  <a:schemeClr val="accent2"/>
                </a:solidFill>
                <a:latin typeface="Avenir"/>
              </a:rPr>
              <a:t>250</a:t>
            </a:r>
          </a:p>
        </p:txBody>
      </p:sp>
      <p:sp>
        <p:nvSpPr>
          <p:cNvPr id="242" name="Down Arrow 241">
            <a:extLst>
              <a:ext uri="{FF2B5EF4-FFF2-40B4-BE49-F238E27FC236}">
                <a16:creationId xmlns:a16="http://schemas.microsoft.com/office/drawing/2014/main" id="{84AF3014-B3DD-BD46-8650-EE907DDD90EA}"/>
              </a:ext>
            </a:extLst>
          </p:cNvPr>
          <p:cNvSpPr/>
          <p:nvPr/>
        </p:nvSpPr>
        <p:spPr>
          <a:xfrm rot="10800000">
            <a:off x="6984000" y="149830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3" name="TextBox 242">
            <a:extLst>
              <a:ext uri="{FF2B5EF4-FFF2-40B4-BE49-F238E27FC236}">
                <a16:creationId xmlns:a16="http://schemas.microsoft.com/office/drawing/2014/main" id="{5B2E3768-A879-AE44-BA1D-3F82ECAC6E48}"/>
              </a:ext>
            </a:extLst>
          </p:cNvPr>
          <p:cNvSpPr txBox="1"/>
          <p:nvPr/>
        </p:nvSpPr>
        <p:spPr>
          <a:xfrm>
            <a:off x="9285817" y="1715500"/>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244" name="Down Arrow 243">
            <a:extLst>
              <a:ext uri="{FF2B5EF4-FFF2-40B4-BE49-F238E27FC236}">
                <a16:creationId xmlns:a16="http://schemas.microsoft.com/office/drawing/2014/main" id="{4574C5E5-4218-674B-8FB2-AB88F7FB3FDD}"/>
              </a:ext>
            </a:extLst>
          </p:cNvPr>
          <p:cNvSpPr/>
          <p:nvPr/>
        </p:nvSpPr>
        <p:spPr>
          <a:xfrm rot="10800000">
            <a:off x="8784000" y="1751173"/>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45" name="TextBox 244">
            <a:extLst>
              <a:ext uri="{FF2B5EF4-FFF2-40B4-BE49-F238E27FC236}">
                <a16:creationId xmlns:a16="http://schemas.microsoft.com/office/drawing/2014/main" id="{30F9F41D-65FA-3E4A-B645-18A9F04A48C7}"/>
              </a:ext>
            </a:extLst>
          </p:cNvPr>
          <p:cNvSpPr txBox="1"/>
          <p:nvPr/>
        </p:nvSpPr>
        <p:spPr>
          <a:xfrm>
            <a:off x="5269894" y="965882"/>
            <a:ext cx="526106" cy="338554"/>
          </a:xfrm>
          <a:prstGeom prst="rect">
            <a:avLst/>
          </a:prstGeom>
          <a:noFill/>
        </p:spPr>
        <p:txBody>
          <a:bodyPr wrap="none" rtlCol="0">
            <a:spAutoFit/>
          </a:bodyPr>
          <a:lstStyle/>
          <a:p>
            <a:pPr algn="r"/>
            <a:r>
              <a:rPr lang="en-US" sz="1600" b="1">
                <a:solidFill>
                  <a:schemeClr val="accent2"/>
                </a:solidFill>
                <a:latin typeface="Avenir"/>
              </a:rPr>
              <a:t>600</a:t>
            </a:r>
          </a:p>
        </p:txBody>
      </p:sp>
      <p:sp>
        <p:nvSpPr>
          <p:cNvPr id="246" name="Down Arrow 245">
            <a:extLst>
              <a:ext uri="{FF2B5EF4-FFF2-40B4-BE49-F238E27FC236}">
                <a16:creationId xmlns:a16="http://schemas.microsoft.com/office/drawing/2014/main" id="{810B7F9B-FFF6-7646-B180-66C5E6B1ADE6}"/>
              </a:ext>
            </a:extLst>
          </p:cNvPr>
          <p:cNvSpPr/>
          <p:nvPr/>
        </p:nvSpPr>
        <p:spPr>
          <a:xfrm>
            <a:off x="4825605" y="10220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TextBox 248">
            <a:extLst>
              <a:ext uri="{FF2B5EF4-FFF2-40B4-BE49-F238E27FC236}">
                <a16:creationId xmlns:a16="http://schemas.microsoft.com/office/drawing/2014/main" id="{A2C44290-0620-2943-8A42-C52EE722BCBB}"/>
              </a:ext>
            </a:extLst>
          </p:cNvPr>
          <p:cNvSpPr txBox="1"/>
          <p:nvPr/>
        </p:nvSpPr>
        <p:spPr>
          <a:xfrm>
            <a:off x="8947923" y="1452209"/>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90</a:t>
            </a:r>
          </a:p>
        </p:txBody>
      </p:sp>
      <p:sp>
        <p:nvSpPr>
          <p:cNvPr id="250" name="Down Arrow 249">
            <a:extLst>
              <a:ext uri="{FF2B5EF4-FFF2-40B4-BE49-F238E27FC236}">
                <a16:creationId xmlns:a16="http://schemas.microsoft.com/office/drawing/2014/main" id="{99FBA779-2143-0245-85BB-6BF02CC500E6}"/>
              </a:ext>
            </a:extLst>
          </p:cNvPr>
          <p:cNvSpPr/>
          <p:nvPr/>
        </p:nvSpPr>
        <p:spPr>
          <a:xfrm>
            <a:off x="8784000" y="1505882"/>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51" name="TextBox 250">
            <a:extLst>
              <a:ext uri="{FF2B5EF4-FFF2-40B4-BE49-F238E27FC236}">
                <a16:creationId xmlns:a16="http://schemas.microsoft.com/office/drawing/2014/main" id="{42AF0AB4-8D2B-0143-996A-B4981D471025}"/>
              </a:ext>
            </a:extLst>
          </p:cNvPr>
          <p:cNvSpPr txBox="1"/>
          <p:nvPr/>
        </p:nvSpPr>
        <p:spPr>
          <a:xfrm>
            <a:off x="5383708" y="2869537"/>
            <a:ext cx="412292" cy="338554"/>
          </a:xfrm>
          <a:prstGeom prst="rect">
            <a:avLst/>
          </a:prstGeom>
          <a:noFill/>
        </p:spPr>
        <p:txBody>
          <a:bodyPr wrap="none" rtlCol="0">
            <a:spAutoFit/>
          </a:bodyPr>
          <a:lstStyle/>
          <a:p>
            <a:pPr algn="r"/>
            <a:r>
              <a:rPr lang="en-US" sz="1600" b="1">
                <a:solidFill>
                  <a:schemeClr val="accent2"/>
                </a:solidFill>
                <a:latin typeface="Avenir"/>
              </a:rPr>
              <a:t>30</a:t>
            </a:r>
          </a:p>
        </p:txBody>
      </p:sp>
      <p:sp>
        <p:nvSpPr>
          <p:cNvPr id="252" name="Down Arrow 251">
            <a:extLst>
              <a:ext uri="{FF2B5EF4-FFF2-40B4-BE49-F238E27FC236}">
                <a16:creationId xmlns:a16="http://schemas.microsoft.com/office/drawing/2014/main" id="{A7123581-9911-2E40-8E28-9FC2BB675D83}"/>
              </a:ext>
            </a:extLst>
          </p:cNvPr>
          <p:cNvSpPr/>
          <p:nvPr/>
        </p:nvSpPr>
        <p:spPr>
          <a:xfrm>
            <a:off x="4824000" y="2933798"/>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TextBox 254">
            <a:extLst>
              <a:ext uri="{FF2B5EF4-FFF2-40B4-BE49-F238E27FC236}">
                <a16:creationId xmlns:a16="http://schemas.microsoft.com/office/drawing/2014/main" id="{05B1A396-D0F4-AF4A-BCBC-DE574C091153}"/>
              </a:ext>
            </a:extLst>
          </p:cNvPr>
          <p:cNvSpPr txBox="1"/>
          <p:nvPr/>
        </p:nvSpPr>
        <p:spPr>
          <a:xfrm>
            <a:off x="5269894" y="2157099"/>
            <a:ext cx="526106" cy="338554"/>
          </a:xfrm>
          <a:prstGeom prst="rect">
            <a:avLst/>
          </a:prstGeom>
          <a:noFill/>
        </p:spPr>
        <p:txBody>
          <a:bodyPr wrap="none" rtlCol="0">
            <a:spAutoFit/>
          </a:bodyPr>
          <a:lstStyle/>
          <a:p>
            <a:pPr algn="r"/>
            <a:r>
              <a:rPr lang="en-US" sz="1600" b="1">
                <a:solidFill>
                  <a:schemeClr val="accent6">
                    <a:lumMod val="75000"/>
                  </a:schemeClr>
                </a:solidFill>
                <a:latin typeface="Avenir"/>
              </a:rPr>
              <a:t>800</a:t>
            </a:r>
          </a:p>
        </p:txBody>
      </p:sp>
      <p:sp>
        <p:nvSpPr>
          <p:cNvPr id="256" name="Down Arrow 255">
            <a:extLst>
              <a:ext uri="{FF2B5EF4-FFF2-40B4-BE49-F238E27FC236}">
                <a16:creationId xmlns:a16="http://schemas.microsoft.com/office/drawing/2014/main" id="{38C36F68-D429-D34F-9A05-65CE9CE1A050}"/>
              </a:ext>
            </a:extLst>
          </p:cNvPr>
          <p:cNvSpPr/>
          <p:nvPr/>
        </p:nvSpPr>
        <p:spPr>
          <a:xfrm rot="10800000">
            <a:off x="4824000" y="2198378"/>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TextBox 262">
            <a:extLst>
              <a:ext uri="{FF2B5EF4-FFF2-40B4-BE49-F238E27FC236}">
                <a16:creationId xmlns:a16="http://schemas.microsoft.com/office/drawing/2014/main" id="{42B80C80-A341-6940-8E9A-AB568387E8CE}"/>
              </a:ext>
            </a:extLst>
          </p:cNvPr>
          <p:cNvSpPr txBox="1"/>
          <p:nvPr/>
        </p:nvSpPr>
        <p:spPr>
          <a:xfrm>
            <a:off x="5269894" y="1906095"/>
            <a:ext cx="526106" cy="338554"/>
          </a:xfrm>
          <a:prstGeom prst="rect">
            <a:avLst/>
          </a:prstGeom>
          <a:noFill/>
        </p:spPr>
        <p:txBody>
          <a:bodyPr wrap="none" rtlCol="0">
            <a:spAutoFit/>
          </a:bodyPr>
          <a:lstStyle/>
          <a:p>
            <a:pPr algn="r"/>
            <a:r>
              <a:rPr lang="en-US" sz="1600" b="1">
                <a:solidFill>
                  <a:schemeClr val="accent2"/>
                </a:solidFill>
                <a:latin typeface="Avenir"/>
              </a:rPr>
              <a:t>200</a:t>
            </a:r>
          </a:p>
        </p:txBody>
      </p:sp>
      <p:sp>
        <p:nvSpPr>
          <p:cNvPr id="264" name="Down Arrow 263">
            <a:extLst>
              <a:ext uri="{FF2B5EF4-FFF2-40B4-BE49-F238E27FC236}">
                <a16:creationId xmlns:a16="http://schemas.microsoft.com/office/drawing/2014/main" id="{F638D17A-434B-E849-8978-BF635C049B7D}"/>
              </a:ext>
            </a:extLst>
          </p:cNvPr>
          <p:cNvSpPr/>
          <p:nvPr/>
        </p:nvSpPr>
        <p:spPr>
          <a:xfrm>
            <a:off x="4824000" y="195394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TextBox 264">
            <a:extLst>
              <a:ext uri="{FF2B5EF4-FFF2-40B4-BE49-F238E27FC236}">
                <a16:creationId xmlns:a16="http://schemas.microsoft.com/office/drawing/2014/main" id="{0A9AA592-378D-DB46-AFB6-C4E4B89A229F}"/>
              </a:ext>
            </a:extLst>
          </p:cNvPr>
          <p:cNvSpPr txBox="1"/>
          <p:nvPr/>
        </p:nvSpPr>
        <p:spPr>
          <a:xfrm>
            <a:off x="3298373" y="1194957"/>
            <a:ext cx="697627" cy="338554"/>
          </a:xfrm>
          <a:prstGeom prst="rect">
            <a:avLst/>
          </a:prstGeom>
          <a:noFill/>
        </p:spPr>
        <p:txBody>
          <a:bodyPr wrap="none" rtlCol="0">
            <a:spAutoFit/>
          </a:bodyPr>
          <a:lstStyle/>
          <a:p>
            <a:pPr algn="r"/>
            <a:r>
              <a:rPr lang="en-US" sz="1600" b="1">
                <a:solidFill>
                  <a:schemeClr val="accent2"/>
                </a:solidFill>
                <a:latin typeface="Avenir"/>
              </a:rPr>
              <a:t>6,000</a:t>
            </a:r>
          </a:p>
        </p:txBody>
      </p:sp>
      <p:sp>
        <p:nvSpPr>
          <p:cNvPr id="266" name="Down Arrow 265">
            <a:extLst>
              <a:ext uri="{FF2B5EF4-FFF2-40B4-BE49-F238E27FC236}">
                <a16:creationId xmlns:a16="http://schemas.microsoft.com/office/drawing/2014/main" id="{C115F163-5607-5C45-BF49-687B9B9638B1}"/>
              </a:ext>
            </a:extLst>
          </p:cNvPr>
          <p:cNvSpPr/>
          <p:nvPr/>
        </p:nvSpPr>
        <p:spPr>
          <a:xfrm>
            <a:off x="3015226" y="1266956"/>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TextBox 266">
            <a:extLst>
              <a:ext uri="{FF2B5EF4-FFF2-40B4-BE49-F238E27FC236}">
                <a16:creationId xmlns:a16="http://schemas.microsoft.com/office/drawing/2014/main" id="{BC8BEB4B-0DF8-CA44-9D66-6F57B899FDB6}"/>
              </a:ext>
            </a:extLst>
          </p:cNvPr>
          <p:cNvSpPr txBox="1"/>
          <p:nvPr/>
        </p:nvSpPr>
        <p:spPr>
          <a:xfrm>
            <a:off x="7149595" y="1205847"/>
            <a:ext cx="864000" cy="338554"/>
          </a:xfrm>
          <a:prstGeom prst="rect">
            <a:avLst/>
          </a:prstGeom>
          <a:noFill/>
        </p:spPr>
        <p:txBody>
          <a:bodyPr wrap="square" rtlCol="0">
            <a:spAutoFit/>
          </a:bodyPr>
          <a:lstStyle/>
          <a:p>
            <a:pPr algn="r"/>
            <a:r>
              <a:rPr lang="en-US" sz="1600" b="1">
                <a:solidFill>
                  <a:schemeClr val="accent6">
                    <a:lumMod val="75000"/>
                  </a:schemeClr>
                </a:solidFill>
                <a:latin typeface="Avenir"/>
              </a:rPr>
              <a:t>6,000</a:t>
            </a:r>
          </a:p>
        </p:txBody>
      </p:sp>
      <p:sp>
        <p:nvSpPr>
          <p:cNvPr id="268" name="Down Arrow 267">
            <a:extLst>
              <a:ext uri="{FF2B5EF4-FFF2-40B4-BE49-F238E27FC236}">
                <a16:creationId xmlns:a16="http://schemas.microsoft.com/office/drawing/2014/main" id="{C70A7B13-A154-5842-8A9A-70077FF85159}"/>
              </a:ext>
            </a:extLst>
          </p:cNvPr>
          <p:cNvSpPr/>
          <p:nvPr/>
        </p:nvSpPr>
        <p:spPr>
          <a:xfrm>
            <a:off x="6984000" y="1259520"/>
            <a:ext cx="108000" cy="180000"/>
          </a:xfrm>
          <a:prstGeom prst="downArrow">
            <a:avLst>
              <a:gd name="adj1" fmla="val 100000"/>
              <a:gd name="adj2" fmla="val 47930"/>
            </a:avLst>
          </a:prstGeom>
          <a:solidFill>
            <a:schemeClr val="accent6">
              <a:lumMod val="75000"/>
            </a:schemeClr>
          </a:solidFill>
          <a:ln w="952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75000"/>
                </a:schemeClr>
              </a:solidFill>
            </a:endParaRPr>
          </a:p>
        </p:txBody>
      </p:sp>
      <p:sp>
        <p:nvSpPr>
          <p:cNvPr id="270" name="Oval 269">
            <a:extLst>
              <a:ext uri="{FF2B5EF4-FFF2-40B4-BE49-F238E27FC236}">
                <a16:creationId xmlns:a16="http://schemas.microsoft.com/office/drawing/2014/main" id="{8E851303-A1C5-BC4F-8675-7840A21729A1}"/>
              </a:ext>
            </a:extLst>
          </p:cNvPr>
          <p:cNvSpPr>
            <a:spLocks noChangeAspect="1"/>
          </p:cNvSpPr>
          <p:nvPr/>
        </p:nvSpPr>
        <p:spPr>
          <a:xfrm>
            <a:off x="2580882" y="1230249"/>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71" name="Rectangle 270">
            <a:extLst>
              <a:ext uri="{FF2B5EF4-FFF2-40B4-BE49-F238E27FC236}">
                <a16:creationId xmlns:a16="http://schemas.microsoft.com/office/drawing/2014/main" id="{5242765C-A60B-3B46-9AF8-3C01244D4398}"/>
              </a:ext>
            </a:extLst>
          </p:cNvPr>
          <p:cNvSpPr/>
          <p:nvPr/>
        </p:nvSpPr>
        <p:spPr>
          <a:xfrm>
            <a:off x="2528693" y="123872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16</a:t>
            </a:r>
          </a:p>
        </p:txBody>
      </p:sp>
      <p:sp>
        <p:nvSpPr>
          <p:cNvPr id="276" name="Oval 275">
            <a:extLst>
              <a:ext uri="{FF2B5EF4-FFF2-40B4-BE49-F238E27FC236}">
                <a16:creationId xmlns:a16="http://schemas.microsoft.com/office/drawing/2014/main" id="{774D601C-555F-6541-9D58-035F53E13D4B}"/>
              </a:ext>
            </a:extLst>
          </p:cNvPr>
          <p:cNvSpPr>
            <a:spLocks noChangeAspect="1"/>
          </p:cNvSpPr>
          <p:nvPr/>
        </p:nvSpPr>
        <p:spPr>
          <a:xfrm>
            <a:off x="2580882" y="1497835"/>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77" name="Rectangle 276">
            <a:extLst>
              <a:ext uri="{FF2B5EF4-FFF2-40B4-BE49-F238E27FC236}">
                <a16:creationId xmlns:a16="http://schemas.microsoft.com/office/drawing/2014/main" id="{BA257676-24B8-1342-B932-23DDEB005B47}"/>
              </a:ext>
            </a:extLst>
          </p:cNvPr>
          <p:cNvSpPr/>
          <p:nvPr/>
        </p:nvSpPr>
        <p:spPr>
          <a:xfrm>
            <a:off x="2528692" y="1506308"/>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13</a:t>
            </a:r>
          </a:p>
        </p:txBody>
      </p:sp>
      <p:sp>
        <p:nvSpPr>
          <p:cNvPr id="279" name="Oval 278">
            <a:extLst>
              <a:ext uri="{FF2B5EF4-FFF2-40B4-BE49-F238E27FC236}">
                <a16:creationId xmlns:a16="http://schemas.microsoft.com/office/drawing/2014/main" id="{E14654BD-BDE4-0748-912C-22432B5DD3D8}"/>
              </a:ext>
            </a:extLst>
          </p:cNvPr>
          <p:cNvSpPr>
            <a:spLocks noChangeAspect="1"/>
          </p:cNvSpPr>
          <p:nvPr/>
        </p:nvSpPr>
        <p:spPr>
          <a:xfrm>
            <a:off x="2580882" y="1763613"/>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0" name="Rectangle 279">
            <a:extLst>
              <a:ext uri="{FF2B5EF4-FFF2-40B4-BE49-F238E27FC236}">
                <a16:creationId xmlns:a16="http://schemas.microsoft.com/office/drawing/2014/main" id="{6A79CA8D-AC8C-2649-8D3F-6C8279757C83}"/>
              </a:ext>
            </a:extLst>
          </p:cNvPr>
          <p:cNvSpPr/>
          <p:nvPr/>
        </p:nvSpPr>
        <p:spPr>
          <a:xfrm>
            <a:off x="2528692" y="1772085"/>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sp>
        <p:nvSpPr>
          <p:cNvPr id="282" name="Oval 281">
            <a:extLst>
              <a:ext uri="{FF2B5EF4-FFF2-40B4-BE49-F238E27FC236}">
                <a16:creationId xmlns:a16="http://schemas.microsoft.com/office/drawing/2014/main" id="{D97D5EE0-8446-1244-A657-E9DBF68238D5}"/>
              </a:ext>
            </a:extLst>
          </p:cNvPr>
          <p:cNvSpPr>
            <a:spLocks noChangeAspect="1"/>
          </p:cNvSpPr>
          <p:nvPr/>
        </p:nvSpPr>
        <p:spPr>
          <a:xfrm>
            <a:off x="2580882" y="2037443"/>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3" name="Rectangle 282">
            <a:extLst>
              <a:ext uri="{FF2B5EF4-FFF2-40B4-BE49-F238E27FC236}">
                <a16:creationId xmlns:a16="http://schemas.microsoft.com/office/drawing/2014/main" id="{56AA7E7C-0592-B744-AFA9-D3A064F8B33C}"/>
              </a:ext>
            </a:extLst>
          </p:cNvPr>
          <p:cNvSpPr/>
          <p:nvPr/>
        </p:nvSpPr>
        <p:spPr>
          <a:xfrm>
            <a:off x="2528692" y="2045915"/>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sp>
        <p:nvSpPr>
          <p:cNvPr id="285" name="Oval 284">
            <a:extLst>
              <a:ext uri="{FF2B5EF4-FFF2-40B4-BE49-F238E27FC236}">
                <a16:creationId xmlns:a16="http://schemas.microsoft.com/office/drawing/2014/main" id="{A9473252-919C-714D-94C1-4DB022093053}"/>
              </a:ext>
            </a:extLst>
          </p:cNvPr>
          <p:cNvSpPr>
            <a:spLocks noChangeAspect="1"/>
          </p:cNvSpPr>
          <p:nvPr/>
        </p:nvSpPr>
        <p:spPr>
          <a:xfrm>
            <a:off x="2581709" y="2307279"/>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6" name="Rectangle 285">
            <a:extLst>
              <a:ext uri="{FF2B5EF4-FFF2-40B4-BE49-F238E27FC236}">
                <a16:creationId xmlns:a16="http://schemas.microsoft.com/office/drawing/2014/main" id="{FEF879C7-2ACE-1041-BB08-7AFBD04A6C03}"/>
              </a:ext>
            </a:extLst>
          </p:cNvPr>
          <p:cNvSpPr/>
          <p:nvPr/>
        </p:nvSpPr>
        <p:spPr>
          <a:xfrm>
            <a:off x="2568712" y="2315751"/>
            <a:ext cx="247184" cy="215444"/>
          </a:xfrm>
          <a:prstGeom prst="rect">
            <a:avLst/>
          </a:prstGeom>
        </p:spPr>
        <p:txBody>
          <a:bodyPr wrap="none">
            <a:spAutoFit/>
          </a:bodyPr>
          <a:lstStyle/>
          <a:p>
            <a:pPr algn="ctr"/>
            <a:r>
              <a:rPr lang="en-US" sz="800" b="1">
                <a:solidFill>
                  <a:schemeClr val="tx1">
                    <a:lumMod val="50000"/>
                    <a:lumOff val="50000"/>
                  </a:schemeClr>
                </a:solidFill>
                <a:latin typeface="Avenir"/>
              </a:rPr>
              <a:t>7</a:t>
            </a:r>
          </a:p>
        </p:txBody>
      </p:sp>
      <p:sp>
        <p:nvSpPr>
          <p:cNvPr id="288" name="Oval 287">
            <a:extLst>
              <a:ext uri="{FF2B5EF4-FFF2-40B4-BE49-F238E27FC236}">
                <a16:creationId xmlns:a16="http://schemas.microsoft.com/office/drawing/2014/main" id="{6C9AD204-992D-7340-9007-FB781F35F3D4}"/>
              </a:ext>
            </a:extLst>
          </p:cNvPr>
          <p:cNvSpPr>
            <a:spLocks noChangeAspect="1"/>
          </p:cNvSpPr>
          <p:nvPr/>
        </p:nvSpPr>
        <p:spPr>
          <a:xfrm>
            <a:off x="2577794" y="2567407"/>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89" name="Rectangle 288">
            <a:extLst>
              <a:ext uri="{FF2B5EF4-FFF2-40B4-BE49-F238E27FC236}">
                <a16:creationId xmlns:a16="http://schemas.microsoft.com/office/drawing/2014/main" id="{B802E40B-4561-B544-B398-60B28F4017E1}"/>
              </a:ext>
            </a:extLst>
          </p:cNvPr>
          <p:cNvSpPr/>
          <p:nvPr/>
        </p:nvSpPr>
        <p:spPr>
          <a:xfrm>
            <a:off x="2530413" y="2575880"/>
            <a:ext cx="300083" cy="215444"/>
          </a:xfrm>
          <a:prstGeom prst="rect">
            <a:avLst/>
          </a:prstGeom>
        </p:spPr>
        <p:txBody>
          <a:bodyPr wrap="none">
            <a:spAutoFit/>
          </a:bodyPr>
          <a:lstStyle/>
          <a:p>
            <a:pPr algn="ctr"/>
            <a:r>
              <a:rPr lang="en-US" sz="800" b="1">
                <a:solidFill>
                  <a:schemeClr val="tx1">
                    <a:lumMod val="50000"/>
                    <a:lumOff val="50000"/>
                  </a:schemeClr>
                </a:solidFill>
                <a:latin typeface="Avenir"/>
              </a:rPr>
              <a:t>6a</a:t>
            </a:r>
          </a:p>
        </p:txBody>
      </p:sp>
      <p:sp>
        <p:nvSpPr>
          <p:cNvPr id="291" name="Oval 290">
            <a:extLst>
              <a:ext uri="{FF2B5EF4-FFF2-40B4-BE49-F238E27FC236}">
                <a16:creationId xmlns:a16="http://schemas.microsoft.com/office/drawing/2014/main" id="{6F479D06-F682-8D44-B53B-0D87422A018C}"/>
              </a:ext>
            </a:extLst>
          </p:cNvPr>
          <p:cNvSpPr>
            <a:spLocks noChangeAspect="1"/>
          </p:cNvSpPr>
          <p:nvPr/>
        </p:nvSpPr>
        <p:spPr>
          <a:xfrm>
            <a:off x="2582003" y="284190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2" name="Rectangle 291">
            <a:extLst>
              <a:ext uri="{FF2B5EF4-FFF2-40B4-BE49-F238E27FC236}">
                <a16:creationId xmlns:a16="http://schemas.microsoft.com/office/drawing/2014/main" id="{A225A6FB-DD05-924A-B22F-55802B796828}"/>
              </a:ext>
            </a:extLst>
          </p:cNvPr>
          <p:cNvSpPr/>
          <p:nvPr/>
        </p:nvSpPr>
        <p:spPr>
          <a:xfrm>
            <a:off x="2574025" y="2850694"/>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sp>
        <p:nvSpPr>
          <p:cNvPr id="294" name="Oval 293">
            <a:extLst>
              <a:ext uri="{FF2B5EF4-FFF2-40B4-BE49-F238E27FC236}">
                <a16:creationId xmlns:a16="http://schemas.microsoft.com/office/drawing/2014/main" id="{9D60FA63-7E57-514B-B70F-35F1B62DC485}"/>
              </a:ext>
            </a:extLst>
          </p:cNvPr>
          <p:cNvSpPr/>
          <p:nvPr/>
        </p:nvSpPr>
        <p:spPr>
          <a:xfrm>
            <a:off x="2582003" y="3121887"/>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5" name="Rectangle 294">
            <a:extLst>
              <a:ext uri="{FF2B5EF4-FFF2-40B4-BE49-F238E27FC236}">
                <a16:creationId xmlns:a16="http://schemas.microsoft.com/office/drawing/2014/main" id="{BC466BB6-2DDD-2B44-A7A0-C1F9FDE7EFFE}"/>
              </a:ext>
            </a:extLst>
          </p:cNvPr>
          <p:cNvSpPr/>
          <p:nvPr/>
        </p:nvSpPr>
        <p:spPr>
          <a:xfrm>
            <a:off x="2574025" y="3130681"/>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sp>
        <p:nvSpPr>
          <p:cNvPr id="297" name="Oval 296">
            <a:extLst>
              <a:ext uri="{FF2B5EF4-FFF2-40B4-BE49-F238E27FC236}">
                <a16:creationId xmlns:a16="http://schemas.microsoft.com/office/drawing/2014/main" id="{782A7A6F-7C88-A64A-BBBA-21033EE9301B}"/>
              </a:ext>
            </a:extLst>
          </p:cNvPr>
          <p:cNvSpPr/>
          <p:nvPr/>
        </p:nvSpPr>
        <p:spPr>
          <a:xfrm>
            <a:off x="2582003" y="3385828"/>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298" name="Rectangle 297">
            <a:extLst>
              <a:ext uri="{FF2B5EF4-FFF2-40B4-BE49-F238E27FC236}">
                <a16:creationId xmlns:a16="http://schemas.microsoft.com/office/drawing/2014/main" id="{DA43ACE3-A9BE-1749-B78B-EBAC46A85790}"/>
              </a:ext>
            </a:extLst>
          </p:cNvPr>
          <p:cNvSpPr/>
          <p:nvPr/>
        </p:nvSpPr>
        <p:spPr>
          <a:xfrm>
            <a:off x="2574025" y="3394622"/>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sp>
        <p:nvSpPr>
          <p:cNvPr id="300" name="Oval 299">
            <a:extLst>
              <a:ext uri="{FF2B5EF4-FFF2-40B4-BE49-F238E27FC236}">
                <a16:creationId xmlns:a16="http://schemas.microsoft.com/office/drawing/2014/main" id="{F7EA4154-958E-F04F-AE3B-F6F38D3B0CF7}"/>
              </a:ext>
            </a:extLst>
          </p:cNvPr>
          <p:cNvSpPr/>
          <p:nvPr/>
        </p:nvSpPr>
        <p:spPr>
          <a:xfrm>
            <a:off x="2582003" y="3649299"/>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1" name="Rectangle 300">
            <a:extLst>
              <a:ext uri="{FF2B5EF4-FFF2-40B4-BE49-F238E27FC236}">
                <a16:creationId xmlns:a16="http://schemas.microsoft.com/office/drawing/2014/main" id="{C1AB0AF5-F3E5-6243-B2D2-B5B640E1AB29}"/>
              </a:ext>
            </a:extLst>
          </p:cNvPr>
          <p:cNvSpPr/>
          <p:nvPr/>
        </p:nvSpPr>
        <p:spPr>
          <a:xfrm>
            <a:off x="2574025" y="3658093"/>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sp>
        <p:nvSpPr>
          <p:cNvPr id="303" name="Oval 302">
            <a:extLst>
              <a:ext uri="{FF2B5EF4-FFF2-40B4-BE49-F238E27FC236}">
                <a16:creationId xmlns:a16="http://schemas.microsoft.com/office/drawing/2014/main" id="{99D93E88-A37F-6340-9178-872858ADD56C}"/>
              </a:ext>
            </a:extLst>
          </p:cNvPr>
          <p:cNvSpPr/>
          <p:nvPr/>
        </p:nvSpPr>
        <p:spPr>
          <a:xfrm>
            <a:off x="10125537" y="1755851"/>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4" name="Rectangle 303">
            <a:extLst>
              <a:ext uri="{FF2B5EF4-FFF2-40B4-BE49-F238E27FC236}">
                <a16:creationId xmlns:a16="http://schemas.microsoft.com/office/drawing/2014/main" id="{B9FDC708-E4C4-3E40-9111-1C2324351BBD}"/>
              </a:ext>
            </a:extLst>
          </p:cNvPr>
          <p:cNvSpPr/>
          <p:nvPr/>
        </p:nvSpPr>
        <p:spPr>
          <a:xfrm>
            <a:off x="10117559" y="1764645"/>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1</a:t>
            </a:r>
          </a:p>
        </p:txBody>
      </p:sp>
      <p:sp>
        <p:nvSpPr>
          <p:cNvPr id="306" name="Oval 305">
            <a:extLst>
              <a:ext uri="{FF2B5EF4-FFF2-40B4-BE49-F238E27FC236}">
                <a16:creationId xmlns:a16="http://schemas.microsoft.com/office/drawing/2014/main" id="{B5B11F87-FF18-FA41-B3A7-F478BDA13F98}"/>
              </a:ext>
            </a:extLst>
          </p:cNvPr>
          <p:cNvSpPr/>
          <p:nvPr/>
        </p:nvSpPr>
        <p:spPr>
          <a:xfrm>
            <a:off x="10123978" y="365040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07" name="Rectangle 306">
            <a:extLst>
              <a:ext uri="{FF2B5EF4-FFF2-40B4-BE49-F238E27FC236}">
                <a16:creationId xmlns:a16="http://schemas.microsoft.com/office/drawing/2014/main" id="{92185CF5-72CD-6D45-A2D2-04FE2E48A2FF}"/>
              </a:ext>
            </a:extLst>
          </p:cNvPr>
          <p:cNvSpPr/>
          <p:nvPr/>
        </p:nvSpPr>
        <p:spPr>
          <a:xfrm>
            <a:off x="10116000" y="3659194"/>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2</a:t>
            </a:r>
          </a:p>
        </p:txBody>
      </p:sp>
      <p:sp>
        <p:nvSpPr>
          <p:cNvPr id="309" name="Oval 308">
            <a:extLst>
              <a:ext uri="{FF2B5EF4-FFF2-40B4-BE49-F238E27FC236}">
                <a16:creationId xmlns:a16="http://schemas.microsoft.com/office/drawing/2014/main" id="{34C499B5-5C08-3940-8365-A8491CC03E78}"/>
              </a:ext>
            </a:extLst>
          </p:cNvPr>
          <p:cNvSpPr/>
          <p:nvPr/>
        </p:nvSpPr>
        <p:spPr>
          <a:xfrm>
            <a:off x="10125815" y="1489299"/>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0" name="Rectangle 309">
            <a:extLst>
              <a:ext uri="{FF2B5EF4-FFF2-40B4-BE49-F238E27FC236}">
                <a16:creationId xmlns:a16="http://schemas.microsoft.com/office/drawing/2014/main" id="{0C9FD9E7-DBFE-D34B-AB0D-9C0103BD50A5}"/>
              </a:ext>
            </a:extLst>
          </p:cNvPr>
          <p:cNvSpPr/>
          <p:nvPr/>
        </p:nvSpPr>
        <p:spPr>
          <a:xfrm>
            <a:off x="10117837" y="1498093"/>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3</a:t>
            </a:r>
          </a:p>
        </p:txBody>
      </p:sp>
      <p:sp>
        <p:nvSpPr>
          <p:cNvPr id="312" name="Oval 311">
            <a:extLst>
              <a:ext uri="{FF2B5EF4-FFF2-40B4-BE49-F238E27FC236}">
                <a16:creationId xmlns:a16="http://schemas.microsoft.com/office/drawing/2014/main" id="{8982AEFD-B198-C44C-804D-A50629792334}"/>
              </a:ext>
            </a:extLst>
          </p:cNvPr>
          <p:cNvSpPr/>
          <p:nvPr/>
        </p:nvSpPr>
        <p:spPr>
          <a:xfrm>
            <a:off x="6561065" y="1741845"/>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3" name="Rectangle 312">
            <a:extLst>
              <a:ext uri="{FF2B5EF4-FFF2-40B4-BE49-F238E27FC236}">
                <a16:creationId xmlns:a16="http://schemas.microsoft.com/office/drawing/2014/main" id="{4A4DD9D3-74A8-794D-AAED-EA0F7AC36F98}"/>
              </a:ext>
            </a:extLst>
          </p:cNvPr>
          <p:cNvSpPr/>
          <p:nvPr/>
        </p:nvSpPr>
        <p:spPr>
          <a:xfrm>
            <a:off x="6553087" y="1750639"/>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sp>
        <p:nvSpPr>
          <p:cNvPr id="315" name="Oval 314">
            <a:extLst>
              <a:ext uri="{FF2B5EF4-FFF2-40B4-BE49-F238E27FC236}">
                <a16:creationId xmlns:a16="http://schemas.microsoft.com/office/drawing/2014/main" id="{C69056FF-AC70-2E48-A272-306CC1A4981B}"/>
              </a:ext>
            </a:extLst>
          </p:cNvPr>
          <p:cNvSpPr/>
          <p:nvPr/>
        </p:nvSpPr>
        <p:spPr>
          <a:xfrm>
            <a:off x="792583" y="3629276"/>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6" name="Rectangle 315">
            <a:extLst>
              <a:ext uri="{FF2B5EF4-FFF2-40B4-BE49-F238E27FC236}">
                <a16:creationId xmlns:a16="http://schemas.microsoft.com/office/drawing/2014/main" id="{8104E660-B2A6-914E-B1A2-7E070D9D045D}"/>
              </a:ext>
            </a:extLst>
          </p:cNvPr>
          <p:cNvSpPr/>
          <p:nvPr/>
        </p:nvSpPr>
        <p:spPr>
          <a:xfrm>
            <a:off x="784605" y="3638070"/>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4</a:t>
            </a:r>
          </a:p>
        </p:txBody>
      </p:sp>
      <p:sp>
        <p:nvSpPr>
          <p:cNvPr id="318" name="Oval 317">
            <a:extLst>
              <a:ext uri="{FF2B5EF4-FFF2-40B4-BE49-F238E27FC236}">
                <a16:creationId xmlns:a16="http://schemas.microsoft.com/office/drawing/2014/main" id="{569692DC-9844-0D42-9853-133F95FB4AB7}"/>
              </a:ext>
            </a:extLst>
          </p:cNvPr>
          <p:cNvSpPr/>
          <p:nvPr/>
        </p:nvSpPr>
        <p:spPr>
          <a:xfrm>
            <a:off x="4367055" y="3641899"/>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19" name="Rectangle 318">
            <a:extLst>
              <a:ext uri="{FF2B5EF4-FFF2-40B4-BE49-F238E27FC236}">
                <a16:creationId xmlns:a16="http://schemas.microsoft.com/office/drawing/2014/main" id="{58904CDB-8CBE-D54A-9F00-7E6AE8177639}"/>
              </a:ext>
            </a:extLst>
          </p:cNvPr>
          <p:cNvSpPr/>
          <p:nvPr/>
        </p:nvSpPr>
        <p:spPr>
          <a:xfrm>
            <a:off x="4359077" y="3650693"/>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5</a:t>
            </a:r>
          </a:p>
        </p:txBody>
      </p:sp>
      <p:sp>
        <p:nvSpPr>
          <p:cNvPr id="324" name="Oval 323">
            <a:extLst>
              <a:ext uri="{FF2B5EF4-FFF2-40B4-BE49-F238E27FC236}">
                <a16:creationId xmlns:a16="http://schemas.microsoft.com/office/drawing/2014/main" id="{9BD5CC4F-FE4D-7943-A1CC-DFDF51B6191E}"/>
              </a:ext>
            </a:extLst>
          </p:cNvPr>
          <p:cNvSpPr/>
          <p:nvPr/>
        </p:nvSpPr>
        <p:spPr>
          <a:xfrm>
            <a:off x="4365599" y="3388584"/>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25" name="Rectangle 324">
            <a:extLst>
              <a:ext uri="{FF2B5EF4-FFF2-40B4-BE49-F238E27FC236}">
                <a16:creationId xmlns:a16="http://schemas.microsoft.com/office/drawing/2014/main" id="{9C5F0E67-4F79-D140-84DF-45D9BEBCE79E}"/>
              </a:ext>
            </a:extLst>
          </p:cNvPr>
          <p:cNvSpPr/>
          <p:nvPr/>
        </p:nvSpPr>
        <p:spPr>
          <a:xfrm>
            <a:off x="4325561" y="3397378"/>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6b</a:t>
            </a:r>
          </a:p>
        </p:txBody>
      </p:sp>
      <p:sp>
        <p:nvSpPr>
          <p:cNvPr id="330" name="Oval 329">
            <a:extLst>
              <a:ext uri="{FF2B5EF4-FFF2-40B4-BE49-F238E27FC236}">
                <a16:creationId xmlns:a16="http://schemas.microsoft.com/office/drawing/2014/main" id="{920E5E24-BE4B-BC48-AFD2-943FE12CD729}"/>
              </a:ext>
            </a:extLst>
          </p:cNvPr>
          <p:cNvSpPr/>
          <p:nvPr/>
        </p:nvSpPr>
        <p:spPr>
          <a:xfrm>
            <a:off x="4370083" y="313688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1" name="Rectangle 330">
            <a:extLst>
              <a:ext uri="{FF2B5EF4-FFF2-40B4-BE49-F238E27FC236}">
                <a16:creationId xmlns:a16="http://schemas.microsoft.com/office/drawing/2014/main" id="{548F5F8D-CBA7-D146-8B4B-FDC4D035CB1E}"/>
              </a:ext>
            </a:extLst>
          </p:cNvPr>
          <p:cNvSpPr/>
          <p:nvPr/>
        </p:nvSpPr>
        <p:spPr>
          <a:xfrm>
            <a:off x="4330045" y="3145674"/>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8b</a:t>
            </a:r>
          </a:p>
        </p:txBody>
      </p:sp>
      <p:sp>
        <p:nvSpPr>
          <p:cNvPr id="336" name="Oval 335">
            <a:extLst>
              <a:ext uri="{FF2B5EF4-FFF2-40B4-BE49-F238E27FC236}">
                <a16:creationId xmlns:a16="http://schemas.microsoft.com/office/drawing/2014/main" id="{C60F2B82-C705-134A-AEE1-E87F808B3E33}"/>
              </a:ext>
            </a:extLst>
          </p:cNvPr>
          <p:cNvSpPr/>
          <p:nvPr/>
        </p:nvSpPr>
        <p:spPr>
          <a:xfrm>
            <a:off x="4368545" y="2880000"/>
            <a:ext cx="215000" cy="215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37" name="Rectangle 336">
            <a:extLst>
              <a:ext uri="{FF2B5EF4-FFF2-40B4-BE49-F238E27FC236}">
                <a16:creationId xmlns:a16="http://schemas.microsoft.com/office/drawing/2014/main" id="{1C1DF2F7-5ABA-1546-94EF-20C60AF814A3}"/>
              </a:ext>
            </a:extLst>
          </p:cNvPr>
          <p:cNvSpPr/>
          <p:nvPr/>
        </p:nvSpPr>
        <p:spPr>
          <a:xfrm>
            <a:off x="4298376" y="2888753"/>
            <a:ext cx="368899" cy="214447"/>
          </a:xfrm>
          <a:prstGeom prst="rect">
            <a:avLst/>
          </a:prstGeom>
        </p:spPr>
        <p:txBody>
          <a:bodyPr wrap="none">
            <a:spAutoFit/>
          </a:bodyPr>
          <a:lstStyle/>
          <a:p>
            <a:pPr algn="ctr"/>
            <a:r>
              <a:rPr lang="en-US" sz="800" b="1">
                <a:solidFill>
                  <a:schemeClr val="tx1">
                    <a:lumMod val="50000"/>
                    <a:lumOff val="50000"/>
                  </a:schemeClr>
                </a:solidFill>
                <a:latin typeface="Avenir"/>
              </a:rPr>
              <a:t>12b</a:t>
            </a:r>
          </a:p>
        </p:txBody>
      </p:sp>
      <p:sp>
        <p:nvSpPr>
          <p:cNvPr id="354" name="Oval 353">
            <a:extLst>
              <a:ext uri="{FF2B5EF4-FFF2-40B4-BE49-F238E27FC236}">
                <a16:creationId xmlns:a16="http://schemas.microsoft.com/office/drawing/2014/main" id="{1F8A312F-C689-FF42-84E9-02ECA6602256}"/>
              </a:ext>
            </a:extLst>
          </p:cNvPr>
          <p:cNvSpPr/>
          <p:nvPr/>
        </p:nvSpPr>
        <p:spPr>
          <a:xfrm>
            <a:off x="6558900" y="148148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5" name="Rectangle 354">
            <a:extLst>
              <a:ext uri="{FF2B5EF4-FFF2-40B4-BE49-F238E27FC236}">
                <a16:creationId xmlns:a16="http://schemas.microsoft.com/office/drawing/2014/main" id="{50CBD88D-DC4A-3849-90CE-641B000548E3}"/>
              </a:ext>
            </a:extLst>
          </p:cNvPr>
          <p:cNvSpPr/>
          <p:nvPr/>
        </p:nvSpPr>
        <p:spPr>
          <a:xfrm>
            <a:off x="6550922" y="1490274"/>
            <a:ext cx="245580" cy="215444"/>
          </a:xfrm>
          <a:prstGeom prst="rect">
            <a:avLst/>
          </a:prstGeom>
        </p:spPr>
        <p:txBody>
          <a:bodyPr wrap="none">
            <a:spAutoFit/>
          </a:bodyPr>
          <a:lstStyle/>
          <a:p>
            <a:pPr algn="ctr"/>
            <a:r>
              <a:rPr lang="en-US" sz="800" b="1">
                <a:solidFill>
                  <a:schemeClr val="tx1">
                    <a:lumMod val="50000"/>
                    <a:lumOff val="50000"/>
                  </a:schemeClr>
                </a:solidFill>
                <a:latin typeface="Avenir"/>
              </a:rPr>
              <a:t>9</a:t>
            </a:r>
          </a:p>
        </p:txBody>
      </p:sp>
      <p:sp>
        <p:nvSpPr>
          <p:cNvPr id="357" name="Oval 356">
            <a:extLst>
              <a:ext uri="{FF2B5EF4-FFF2-40B4-BE49-F238E27FC236}">
                <a16:creationId xmlns:a16="http://schemas.microsoft.com/office/drawing/2014/main" id="{6A31460D-137B-A74E-B6FC-B55DFB2AE333}"/>
              </a:ext>
            </a:extLst>
          </p:cNvPr>
          <p:cNvSpPr/>
          <p:nvPr/>
        </p:nvSpPr>
        <p:spPr>
          <a:xfrm>
            <a:off x="8352005" y="1742779"/>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58" name="Rectangle 357">
            <a:extLst>
              <a:ext uri="{FF2B5EF4-FFF2-40B4-BE49-F238E27FC236}">
                <a16:creationId xmlns:a16="http://schemas.microsoft.com/office/drawing/2014/main" id="{CFFD1864-8612-0941-9E7F-4F8D6CCCC5CA}"/>
              </a:ext>
            </a:extLst>
          </p:cNvPr>
          <p:cNvSpPr/>
          <p:nvPr/>
        </p:nvSpPr>
        <p:spPr>
          <a:xfrm>
            <a:off x="8311967" y="1751573"/>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10</a:t>
            </a:r>
          </a:p>
        </p:txBody>
      </p:sp>
      <p:sp>
        <p:nvSpPr>
          <p:cNvPr id="360" name="Oval 359">
            <a:extLst>
              <a:ext uri="{FF2B5EF4-FFF2-40B4-BE49-F238E27FC236}">
                <a16:creationId xmlns:a16="http://schemas.microsoft.com/office/drawing/2014/main" id="{B19CA466-0BF9-9243-882A-C5EC199C6CE6}"/>
              </a:ext>
            </a:extLst>
          </p:cNvPr>
          <p:cNvSpPr/>
          <p:nvPr/>
        </p:nvSpPr>
        <p:spPr>
          <a:xfrm>
            <a:off x="4357601" y="1240114"/>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1" name="Rectangle 360">
            <a:extLst>
              <a:ext uri="{FF2B5EF4-FFF2-40B4-BE49-F238E27FC236}">
                <a16:creationId xmlns:a16="http://schemas.microsoft.com/office/drawing/2014/main" id="{38D05C81-64B1-4048-A25F-7DF135E165A0}"/>
              </a:ext>
            </a:extLst>
          </p:cNvPr>
          <p:cNvSpPr/>
          <p:nvPr/>
        </p:nvSpPr>
        <p:spPr>
          <a:xfrm>
            <a:off x="4322372" y="1248908"/>
            <a:ext cx="300082" cy="215444"/>
          </a:xfrm>
          <a:prstGeom prst="rect">
            <a:avLst/>
          </a:prstGeom>
        </p:spPr>
        <p:txBody>
          <a:bodyPr wrap="none">
            <a:spAutoFit/>
          </a:bodyPr>
          <a:lstStyle/>
          <a:p>
            <a:pPr algn="ctr"/>
            <a:r>
              <a:rPr lang="en-US" sz="800" b="1">
                <a:solidFill>
                  <a:schemeClr val="tx1">
                    <a:lumMod val="50000"/>
                    <a:lumOff val="50000"/>
                  </a:schemeClr>
                </a:solidFill>
                <a:latin typeface="Avenir"/>
              </a:rPr>
              <a:t>8a</a:t>
            </a:r>
          </a:p>
        </p:txBody>
      </p:sp>
      <p:sp>
        <p:nvSpPr>
          <p:cNvPr id="363" name="Oval 362">
            <a:extLst>
              <a:ext uri="{FF2B5EF4-FFF2-40B4-BE49-F238E27FC236}">
                <a16:creationId xmlns:a16="http://schemas.microsoft.com/office/drawing/2014/main" id="{0C24FACA-1CFE-B346-89AB-EB0E90F543B3}"/>
              </a:ext>
            </a:extLst>
          </p:cNvPr>
          <p:cNvSpPr/>
          <p:nvPr/>
        </p:nvSpPr>
        <p:spPr>
          <a:xfrm>
            <a:off x="4359965" y="983503"/>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4" name="Rectangle 363">
            <a:extLst>
              <a:ext uri="{FF2B5EF4-FFF2-40B4-BE49-F238E27FC236}">
                <a16:creationId xmlns:a16="http://schemas.microsoft.com/office/drawing/2014/main" id="{64C22221-FE7F-7946-B113-969909E0FA5E}"/>
              </a:ext>
            </a:extLst>
          </p:cNvPr>
          <p:cNvSpPr/>
          <p:nvPr/>
        </p:nvSpPr>
        <p:spPr>
          <a:xfrm>
            <a:off x="4319927" y="992297"/>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11</a:t>
            </a:r>
          </a:p>
        </p:txBody>
      </p:sp>
      <p:sp>
        <p:nvSpPr>
          <p:cNvPr id="366" name="Oval 365">
            <a:extLst>
              <a:ext uri="{FF2B5EF4-FFF2-40B4-BE49-F238E27FC236}">
                <a16:creationId xmlns:a16="http://schemas.microsoft.com/office/drawing/2014/main" id="{65A20A3F-C204-4E4F-8867-1B299AF2D0C6}"/>
              </a:ext>
            </a:extLst>
          </p:cNvPr>
          <p:cNvSpPr/>
          <p:nvPr/>
        </p:nvSpPr>
        <p:spPr>
          <a:xfrm>
            <a:off x="8354611" y="1478795"/>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67" name="Rectangle 366">
            <a:extLst>
              <a:ext uri="{FF2B5EF4-FFF2-40B4-BE49-F238E27FC236}">
                <a16:creationId xmlns:a16="http://schemas.microsoft.com/office/drawing/2014/main" id="{23FEEFD6-358C-A543-9BF3-275D2038378C}"/>
              </a:ext>
            </a:extLst>
          </p:cNvPr>
          <p:cNvSpPr/>
          <p:nvPr/>
        </p:nvSpPr>
        <p:spPr>
          <a:xfrm>
            <a:off x="8280687" y="1487589"/>
            <a:ext cx="360996" cy="215444"/>
          </a:xfrm>
          <a:prstGeom prst="rect">
            <a:avLst/>
          </a:prstGeom>
        </p:spPr>
        <p:txBody>
          <a:bodyPr wrap="none">
            <a:spAutoFit/>
          </a:bodyPr>
          <a:lstStyle/>
          <a:p>
            <a:pPr algn="ctr"/>
            <a:r>
              <a:rPr lang="en-US" sz="800" b="1">
                <a:solidFill>
                  <a:schemeClr val="tx1">
                    <a:lumMod val="50000"/>
                    <a:lumOff val="50000"/>
                  </a:schemeClr>
                </a:solidFill>
                <a:latin typeface="Avenir"/>
              </a:rPr>
              <a:t>12a</a:t>
            </a:r>
          </a:p>
        </p:txBody>
      </p:sp>
      <p:sp>
        <p:nvSpPr>
          <p:cNvPr id="369" name="Oval 368">
            <a:extLst>
              <a:ext uri="{FF2B5EF4-FFF2-40B4-BE49-F238E27FC236}">
                <a16:creationId xmlns:a16="http://schemas.microsoft.com/office/drawing/2014/main" id="{EB5E2F46-B118-1045-AF33-FBEB9E67DC0D}"/>
              </a:ext>
            </a:extLst>
          </p:cNvPr>
          <p:cNvSpPr/>
          <p:nvPr/>
        </p:nvSpPr>
        <p:spPr>
          <a:xfrm>
            <a:off x="4365417" y="218721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70" name="Rectangle 369">
            <a:extLst>
              <a:ext uri="{FF2B5EF4-FFF2-40B4-BE49-F238E27FC236}">
                <a16:creationId xmlns:a16="http://schemas.microsoft.com/office/drawing/2014/main" id="{BEF5AC8E-3F33-C44D-B0DD-469F2AFB0FFB}"/>
              </a:ext>
            </a:extLst>
          </p:cNvPr>
          <p:cNvSpPr/>
          <p:nvPr/>
        </p:nvSpPr>
        <p:spPr>
          <a:xfrm>
            <a:off x="4317141" y="2196004"/>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13</a:t>
            </a:r>
          </a:p>
        </p:txBody>
      </p:sp>
      <p:sp>
        <p:nvSpPr>
          <p:cNvPr id="378" name="Oval 377">
            <a:extLst>
              <a:ext uri="{FF2B5EF4-FFF2-40B4-BE49-F238E27FC236}">
                <a16:creationId xmlns:a16="http://schemas.microsoft.com/office/drawing/2014/main" id="{B310EC8B-7606-CF46-949E-FC3A48253F7A}"/>
              </a:ext>
            </a:extLst>
          </p:cNvPr>
          <p:cNvSpPr/>
          <p:nvPr/>
        </p:nvSpPr>
        <p:spPr>
          <a:xfrm>
            <a:off x="4365932" y="1931502"/>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79" name="Rectangle 378">
            <a:extLst>
              <a:ext uri="{FF2B5EF4-FFF2-40B4-BE49-F238E27FC236}">
                <a16:creationId xmlns:a16="http://schemas.microsoft.com/office/drawing/2014/main" id="{B5598E6B-8A94-8F44-A402-08032494757E}"/>
              </a:ext>
            </a:extLst>
          </p:cNvPr>
          <p:cNvSpPr/>
          <p:nvPr/>
        </p:nvSpPr>
        <p:spPr>
          <a:xfrm>
            <a:off x="4325894" y="1940296"/>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15</a:t>
            </a:r>
          </a:p>
        </p:txBody>
      </p:sp>
      <p:sp>
        <p:nvSpPr>
          <p:cNvPr id="384" name="Oval 383">
            <a:extLst>
              <a:ext uri="{FF2B5EF4-FFF2-40B4-BE49-F238E27FC236}">
                <a16:creationId xmlns:a16="http://schemas.microsoft.com/office/drawing/2014/main" id="{B8B42149-F3FC-B34A-B0EB-1E3A5F71A724}"/>
              </a:ext>
            </a:extLst>
          </p:cNvPr>
          <p:cNvSpPr/>
          <p:nvPr/>
        </p:nvSpPr>
        <p:spPr>
          <a:xfrm>
            <a:off x="6560912" y="1220768"/>
            <a:ext cx="216000" cy="216000"/>
          </a:xfrm>
          <a:prstGeom prst="ellipse">
            <a:avLst/>
          </a:prstGeom>
          <a:solidFill>
            <a:srgbClr val="FFFF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385" name="Rectangle 384">
            <a:extLst>
              <a:ext uri="{FF2B5EF4-FFF2-40B4-BE49-F238E27FC236}">
                <a16:creationId xmlns:a16="http://schemas.microsoft.com/office/drawing/2014/main" id="{4EEAA97A-F205-424E-8787-1C3230C0036A}"/>
              </a:ext>
            </a:extLst>
          </p:cNvPr>
          <p:cNvSpPr/>
          <p:nvPr/>
        </p:nvSpPr>
        <p:spPr>
          <a:xfrm>
            <a:off x="6512636" y="1229562"/>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16</a:t>
            </a:r>
          </a:p>
        </p:txBody>
      </p:sp>
      <p:sp>
        <p:nvSpPr>
          <p:cNvPr id="395" name="TextBox 394">
            <a:extLst>
              <a:ext uri="{FF2B5EF4-FFF2-40B4-BE49-F238E27FC236}">
                <a16:creationId xmlns:a16="http://schemas.microsoft.com/office/drawing/2014/main" id="{B5B0ED4A-8496-444C-8214-674C43218B51}"/>
              </a:ext>
            </a:extLst>
          </p:cNvPr>
          <p:cNvSpPr txBox="1"/>
          <p:nvPr/>
        </p:nvSpPr>
        <p:spPr>
          <a:xfrm>
            <a:off x="4033926" y="1538024"/>
            <a:ext cx="2015578" cy="338554"/>
          </a:xfrm>
          <a:prstGeom prst="rect">
            <a:avLst/>
          </a:prstGeom>
          <a:noFill/>
        </p:spPr>
        <p:txBody>
          <a:bodyPr wrap="square" rtlCol="0">
            <a:spAutoFit/>
          </a:bodyPr>
          <a:lstStyle/>
          <a:p>
            <a:pPr algn="ctr"/>
            <a:r>
              <a:rPr lang="en-US" sz="1600">
                <a:latin typeface="Avenir"/>
              </a:rPr>
              <a:t>Accounts receivable</a:t>
            </a:r>
          </a:p>
        </p:txBody>
      </p:sp>
      <p:sp>
        <p:nvSpPr>
          <p:cNvPr id="396" name="TextBox 395">
            <a:extLst>
              <a:ext uri="{FF2B5EF4-FFF2-40B4-BE49-F238E27FC236}">
                <a16:creationId xmlns:a16="http://schemas.microsoft.com/office/drawing/2014/main" id="{7D8AA6A5-BEC0-3E43-B5D1-E1C703AA9057}"/>
              </a:ext>
            </a:extLst>
          </p:cNvPr>
          <p:cNvSpPr txBox="1"/>
          <p:nvPr/>
        </p:nvSpPr>
        <p:spPr>
          <a:xfrm>
            <a:off x="6252890" y="2028286"/>
            <a:ext cx="1987133" cy="338554"/>
          </a:xfrm>
          <a:prstGeom prst="rect">
            <a:avLst/>
          </a:prstGeom>
          <a:noFill/>
        </p:spPr>
        <p:txBody>
          <a:bodyPr wrap="square" rtlCol="0">
            <a:spAutoFit/>
          </a:bodyPr>
          <a:lstStyle/>
          <a:p>
            <a:pPr algn="ctr"/>
            <a:r>
              <a:rPr lang="en-US" sz="1600">
                <a:latin typeface="Avenir"/>
              </a:rPr>
              <a:t>Accounts payable</a:t>
            </a:r>
          </a:p>
        </p:txBody>
      </p:sp>
      <p:sp>
        <p:nvSpPr>
          <p:cNvPr id="273" name="L-Shape 272">
            <a:extLst>
              <a:ext uri="{FF2B5EF4-FFF2-40B4-BE49-F238E27FC236}">
                <a16:creationId xmlns:a16="http://schemas.microsoft.com/office/drawing/2014/main" id="{DF7D733A-4FFE-744F-B214-78B04041F690}"/>
              </a:ext>
            </a:extLst>
          </p:cNvPr>
          <p:cNvSpPr/>
          <p:nvPr/>
        </p:nvSpPr>
        <p:spPr>
          <a:xfrm flipH="1">
            <a:off x="1484882" y="2236958"/>
            <a:ext cx="810000" cy="613673"/>
          </a:xfrm>
          <a:prstGeom prst="corner">
            <a:avLst>
              <a:gd name="adj1" fmla="val 9817"/>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274" name="L-Shape 273">
            <a:extLst>
              <a:ext uri="{FF2B5EF4-FFF2-40B4-BE49-F238E27FC236}">
                <a16:creationId xmlns:a16="http://schemas.microsoft.com/office/drawing/2014/main" id="{15DAAC84-AD00-F244-9996-0E67F278AF0C}"/>
              </a:ext>
            </a:extLst>
          </p:cNvPr>
          <p:cNvSpPr/>
          <p:nvPr/>
        </p:nvSpPr>
        <p:spPr>
          <a:xfrm>
            <a:off x="674882" y="2236958"/>
            <a:ext cx="810000" cy="613673"/>
          </a:xfrm>
          <a:prstGeom prst="corner">
            <a:avLst>
              <a:gd name="adj1" fmla="val 9817"/>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390" name="TextBox 389">
            <a:extLst>
              <a:ext uri="{FF2B5EF4-FFF2-40B4-BE49-F238E27FC236}">
                <a16:creationId xmlns:a16="http://schemas.microsoft.com/office/drawing/2014/main" id="{9DA43E6F-DA2D-6D47-9527-3D4C06A2AADE}"/>
              </a:ext>
            </a:extLst>
          </p:cNvPr>
          <p:cNvSpPr txBox="1"/>
          <p:nvPr/>
        </p:nvSpPr>
        <p:spPr>
          <a:xfrm>
            <a:off x="667920" y="2817445"/>
            <a:ext cx="1647322" cy="584775"/>
          </a:xfrm>
          <a:prstGeom prst="rect">
            <a:avLst/>
          </a:prstGeom>
          <a:noFill/>
        </p:spPr>
        <p:txBody>
          <a:bodyPr wrap="square" rtlCol="0">
            <a:spAutoFit/>
          </a:bodyPr>
          <a:lstStyle/>
          <a:p>
            <a:pPr algn="ctr"/>
            <a:r>
              <a:rPr lang="en-US" sz="1600">
                <a:latin typeface="Avenir"/>
              </a:rPr>
              <a:t>Accumulated depreciation</a:t>
            </a:r>
          </a:p>
        </p:txBody>
      </p:sp>
      <p:sp>
        <p:nvSpPr>
          <p:cNvPr id="393" name="TextBox 392">
            <a:extLst>
              <a:ext uri="{FF2B5EF4-FFF2-40B4-BE49-F238E27FC236}">
                <a16:creationId xmlns:a16="http://schemas.microsoft.com/office/drawing/2014/main" id="{390520E5-A3C2-894D-85E5-0E4333EB6E08}"/>
              </a:ext>
            </a:extLst>
          </p:cNvPr>
          <p:cNvSpPr txBox="1"/>
          <p:nvPr/>
        </p:nvSpPr>
        <p:spPr>
          <a:xfrm>
            <a:off x="1679276" y="2502766"/>
            <a:ext cx="526106" cy="338554"/>
          </a:xfrm>
          <a:prstGeom prst="rect">
            <a:avLst/>
          </a:prstGeom>
          <a:noFill/>
        </p:spPr>
        <p:txBody>
          <a:bodyPr wrap="none" rtlCol="0">
            <a:spAutoFit/>
          </a:bodyPr>
          <a:lstStyle/>
          <a:p>
            <a:pPr algn="r"/>
            <a:r>
              <a:rPr lang="en-US" sz="1600" b="1">
                <a:solidFill>
                  <a:schemeClr val="accent2"/>
                </a:solidFill>
                <a:latin typeface="Avenir"/>
              </a:rPr>
              <a:t>100</a:t>
            </a:r>
          </a:p>
        </p:txBody>
      </p:sp>
      <p:sp>
        <p:nvSpPr>
          <p:cNvPr id="394" name="Down Arrow 393">
            <a:extLst>
              <a:ext uri="{FF2B5EF4-FFF2-40B4-BE49-F238E27FC236}">
                <a16:creationId xmlns:a16="http://schemas.microsoft.com/office/drawing/2014/main" id="{B0F8BD20-9927-4341-B34D-0F3411EA8E55}"/>
              </a:ext>
            </a:extLst>
          </p:cNvPr>
          <p:cNvSpPr/>
          <p:nvPr/>
        </p:nvSpPr>
        <p:spPr>
          <a:xfrm>
            <a:off x="1256101" y="2550772"/>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Oval 402">
            <a:extLst>
              <a:ext uri="{FF2B5EF4-FFF2-40B4-BE49-F238E27FC236}">
                <a16:creationId xmlns:a16="http://schemas.microsoft.com/office/drawing/2014/main" id="{FE70CBEC-117D-0044-B4ED-7B3D135EE713}"/>
              </a:ext>
            </a:extLst>
          </p:cNvPr>
          <p:cNvSpPr/>
          <p:nvPr/>
        </p:nvSpPr>
        <p:spPr>
          <a:xfrm>
            <a:off x="793014" y="2511750"/>
            <a:ext cx="216000" cy="216000"/>
          </a:xfrm>
          <a:prstGeom prst="ellipse">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b="1">
              <a:solidFill>
                <a:schemeClr val="tx1">
                  <a:lumMod val="50000"/>
                  <a:lumOff val="50000"/>
                </a:schemeClr>
              </a:solidFill>
              <a:latin typeface="Avenir"/>
            </a:endParaRPr>
          </a:p>
        </p:txBody>
      </p:sp>
      <p:sp>
        <p:nvSpPr>
          <p:cNvPr id="404" name="Rectangle 403">
            <a:extLst>
              <a:ext uri="{FF2B5EF4-FFF2-40B4-BE49-F238E27FC236}">
                <a16:creationId xmlns:a16="http://schemas.microsoft.com/office/drawing/2014/main" id="{A4CE54F9-C870-974D-B405-FB6285BA0682}"/>
              </a:ext>
            </a:extLst>
          </p:cNvPr>
          <p:cNvSpPr/>
          <p:nvPr/>
        </p:nvSpPr>
        <p:spPr>
          <a:xfrm>
            <a:off x="752976" y="2520544"/>
            <a:ext cx="309700" cy="215444"/>
          </a:xfrm>
          <a:prstGeom prst="rect">
            <a:avLst/>
          </a:prstGeom>
        </p:spPr>
        <p:txBody>
          <a:bodyPr wrap="none">
            <a:spAutoFit/>
          </a:bodyPr>
          <a:lstStyle/>
          <a:p>
            <a:pPr algn="ctr"/>
            <a:r>
              <a:rPr lang="en-US" sz="800" b="1">
                <a:solidFill>
                  <a:schemeClr val="tx1">
                    <a:lumMod val="50000"/>
                    <a:lumOff val="50000"/>
                  </a:schemeClr>
                </a:solidFill>
                <a:latin typeface="Avenir"/>
              </a:rPr>
              <a:t>14</a:t>
            </a:r>
          </a:p>
        </p:txBody>
      </p:sp>
      <p:sp>
        <p:nvSpPr>
          <p:cNvPr id="406" name="L-Shape 405">
            <a:extLst>
              <a:ext uri="{FF2B5EF4-FFF2-40B4-BE49-F238E27FC236}">
                <a16:creationId xmlns:a16="http://schemas.microsoft.com/office/drawing/2014/main" id="{422C7669-2B67-E844-8AD6-CD39F32EE693}"/>
              </a:ext>
            </a:extLst>
          </p:cNvPr>
          <p:cNvSpPr/>
          <p:nvPr/>
        </p:nvSpPr>
        <p:spPr>
          <a:xfrm flipH="1">
            <a:off x="5057500" y="957969"/>
            <a:ext cx="810000" cy="613673"/>
          </a:xfrm>
          <a:prstGeom prst="corner">
            <a:avLst>
              <a:gd name="adj1" fmla="val 9817"/>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7" name="L-Shape 406">
            <a:extLst>
              <a:ext uri="{FF2B5EF4-FFF2-40B4-BE49-F238E27FC236}">
                <a16:creationId xmlns:a16="http://schemas.microsoft.com/office/drawing/2014/main" id="{1D4A84B6-5035-BE44-AF14-E2B2AA9F4A81}"/>
              </a:ext>
            </a:extLst>
          </p:cNvPr>
          <p:cNvSpPr/>
          <p:nvPr/>
        </p:nvSpPr>
        <p:spPr>
          <a:xfrm>
            <a:off x="4247500" y="957969"/>
            <a:ext cx="810000" cy="613673"/>
          </a:xfrm>
          <a:prstGeom prst="corner">
            <a:avLst>
              <a:gd name="adj1" fmla="val 9817"/>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9" name="L-Shape 408">
            <a:extLst>
              <a:ext uri="{FF2B5EF4-FFF2-40B4-BE49-F238E27FC236}">
                <a16:creationId xmlns:a16="http://schemas.microsoft.com/office/drawing/2014/main" id="{949DD22A-6C28-4A42-838D-57C0B3AFBA2E}"/>
              </a:ext>
            </a:extLst>
          </p:cNvPr>
          <p:cNvSpPr/>
          <p:nvPr/>
        </p:nvSpPr>
        <p:spPr>
          <a:xfrm flipH="1">
            <a:off x="5057500" y="1892397"/>
            <a:ext cx="810000" cy="613673"/>
          </a:xfrm>
          <a:prstGeom prst="corner">
            <a:avLst>
              <a:gd name="adj1" fmla="val 9300"/>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10" name="L-Shape 409">
            <a:extLst>
              <a:ext uri="{FF2B5EF4-FFF2-40B4-BE49-F238E27FC236}">
                <a16:creationId xmlns:a16="http://schemas.microsoft.com/office/drawing/2014/main" id="{33CD775B-2A0C-DE47-A9A3-022685FE94F6}"/>
              </a:ext>
            </a:extLst>
          </p:cNvPr>
          <p:cNvSpPr/>
          <p:nvPr/>
        </p:nvSpPr>
        <p:spPr>
          <a:xfrm>
            <a:off x="4247500" y="1892397"/>
            <a:ext cx="810000" cy="613673"/>
          </a:xfrm>
          <a:prstGeom prst="corner">
            <a:avLst>
              <a:gd name="adj1" fmla="val 9300"/>
              <a:gd name="adj2" fmla="val 8904"/>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0" name="L-Shape 429">
            <a:extLst>
              <a:ext uri="{FF2B5EF4-FFF2-40B4-BE49-F238E27FC236}">
                <a16:creationId xmlns:a16="http://schemas.microsoft.com/office/drawing/2014/main" id="{68D6734C-0027-194F-BF8A-040486A2DB35}"/>
              </a:ext>
            </a:extLst>
          </p:cNvPr>
          <p:cNvSpPr/>
          <p:nvPr/>
        </p:nvSpPr>
        <p:spPr>
          <a:xfrm flipH="1">
            <a:off x="10793452" y="3159101"/>
            <a:ext cx="810000" cy="796274"/>
          </a:xfrm>
          <a:prstGeom prst="corner">
            <a:avLst>
              <a:gd name="adj1" fmla="val 7267"/>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1" name="L-Shape 430">
            <a:extLst>
              <a:ext uri="{FF2B5EF4-FFF2-40B4-BE49-F238E27FC236}">
                <a16:creationId xmlns:a16="http://schemas.microsoft.com/office/drawing/2014/main" id="{ECB17562-DB46-F243-A724-9E5A07981267}"/>
              </a:ext>
            </a:extLst>
          </p:cNvPr>
          <p:cNvSpPr/>
          <p:nvPr/>
        </p:nvSpPr>
        <p:spPr>
          <a:xfrm>
            <a:off x="9983452" y="3159099"/>
            <a:ext cx="810000" cy="796275"/>
          </a:xfrm>
          <a:prstGeom prst="corner">
            <a:avLst>
              <a:gd name="adj1" fmla="val 7268"/>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3" name="L-Shape 432">
            <a:extLst>
              <a:ext uri="{FF2B5EF4-FFF2-40B4-BE49-F238E27FC236}">
                <a16:creationId xmlns:a16="http://schemas.microsoft.com/office/drawing/2014/main" id="{ABB06B6F-0697-9948-91DD-97E59BB658BB}"/>
              </a:ext>
            </a:extLst>
          </p:cNvPr>
          <p:cNvSpPr/>
          <p:nvPr/>
        </p:nvSpPr>
        <p:spPr>
          <a:xfrm flipH="1">
            <a:off x="9024558" y="1260020"/>
            <a:ext cx="810000" cy="796274"/>
          </a:xfrm>
          <a:prstGeom prst="corner">
            <a:avLst>
              <a:gd name="adj1" fmla="val 7267"/>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4" name="L-Shape 433">
            <a:extLst>
              <a:ext uri="{FF2B5EF4-FFF2-40B4-BE49-F238E27FC236}">
                <a16:creationId xmlns:a16="http://schemas.microsoft.com/office/drawing/2014/main" id="{6F827A64-8AAF-EF46-AB91-B3C3D179257E}"/>
              </a:ext>
            </a:extLst>
          </p:cNvPr>
          <p:cNvSpPr/>
          <p:nvPr/>
        </p:nvSpPr>
        <p:spPr>
          <a:xfrm>
            <a:off x="8214558" y="1260018"/>
            <a:ext cx="810000" cy="796275"/>
          </a:xfrm>
          <a:prstGeom prst="corner">
            <a:avLst>
              <a:gd name="adj1" fmla="val 7268"/>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6" name="L-Shape 435">
            <a:extLst>
              <a:ext uri="{FF2B5EF4-FFF2-40B4-BE49-F238E27FC236}">
                <a16:creationId xmlns:a16="http://schemas.microsoft.com/office/drawing/2014/main" id="{15CC524B-0762-3D4A-B259-A2EBD694AAC2}"/>
              </a:ext>
            </a:extLst>
          </p:cNvPr>
          <p:cNvSpPr/>
          <p:nvPr/>
        </p:nvSpPr>
        <p:spPr>
          <a:xfrm flipH="1">
            <a:off x="10816085" y="1263490"/>
            <a:ext cx="810000" cy="796274"/>
          </a:xfrm>
          <a:prstGeom prst="corner">
            <a:avLst>
              <a:gd name="adj1" fmla="val 7267"/>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7" name="L-Shape 436">
            <a:extLst>
              <a:ext uri="{FF2B5EF4-FFF2-40B4-BE49-F238E27FC236}">
                <a16:creationId xmlns:a16="http://schemas.microsoft.com/office/drawing/2014/main" id="{A6B576E7-715E-EB4C-B7ED-9090BB358111}"/>
              </a:ext>
            </a:extLst>
          </p:cNvPr>
          <p:cNvSpPr/>
          <p:nvPr/>
        </p:nvSpPr>
        <p:spPr>
          <a:xfrm>
            <a:off x="10006085" y="1263488"/>
            <a:ext cx="810000" cy="796275"/>
          </a:xfrm>
          <a:prstGeom prst="corner">
            <a:avLst>
              <a:gd name="adj1" fmla="val 7268"/>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39" name="L-Shape 438">
            <a:extLst>
              <a:ext uri="{FF2B5EF4-FFF2-40B4-BE49-F238E27FC236}">
                <a16:creationId xmlns:a16="http://schemas.microsoft.com/office/drawing/2014/main" id="{DB03DE00-D9CE-3F4A-AF56-BAEEDF41F6F2}"/>
              </a:ext>
            </a:extLst>
          </p:cNvPr>
          <p:cNvSpPr/>
          <p:nvPr/>
        </p:nvSpPr>
        <p:spPr>
          <a:xfrm flipH="1">
            <a:off x="7238511" y="1266565"/>
            <a:ext cx="810000" cy="796274"/>
          </a:xfrm>
          <a:prstGeom prst="corner">
            <a:avLst>
              <a:gd name="adj1" fmla="val 7267"/>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40" name="L-Shape 439">
            <a:extLst>
              <a:ext uri="{FF2B5EF4-FFF2-40B4-BE49-F238E27FC236}">
                <a16:creationId xmlns:a16="http://schemas.microsoft.com/office/drawing/2014/main" id="{68A3E70B-7329-C048-9959-8DA377890966}"/>
              </a:ext>
            </a:extLst>
          </p:cNvPr>
          <p:cNvSpPr/>
          <p:nvPr/>
        </p:nvSpPr>
        <p:spPr>
          <a:xfrm>
            <a:off x="6428511" y="1266563"/>
            <a:ext cx="810000" cy="796275"/>
          </a:xfrm>
          <a:prstGeom prst="corner">
            <a:avLst>
              <a:gd name="adj1" fmla="val 7268"/>
              <a:gd name="adj2" fmla="val 788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Helvetica" pitchFamily="2" charset="0"/>
            </a:endParaRPr>
          </a:p>
        </p:txBody>
      </p:sp>
      <p:sp>
        <p:nvSpPr>
          <p:cNvPr id="400" name="Down Arrow 399">
            <a:extLst>
              <a:ext uri="{FF2B5EF4-FFF2-40B4-BE49-F238E27FC236}">
                <a16:creationId xmlns:a16="http://schemas.microsoft.com/office/drawing/2014/main" id="{37E7F575-6794-1144-AF7A-A8108FEBA4FE}"/>
              </a:ext>
            </a:extLst>
          </p:cNvPr>
          <p:cNvSpPr/>
          <p:nvPr/>
        </p:nvSpPr>
        <p:spPr>
          <a:xfrm rot="10800000">
            <a:off x="10548000" y="3653367"/>
            <a:ext cx="108000" cy="180000"/>
          </a:xfrm>
          <a:prstGeom prst="downArrow">
            <a:avLst>
              <a:gd name="adj1" fmla="val 100000"/>
              <a:gd name="adj2" fmla="val 47930"/>
            </a:avLst>
          </a:prstGeom>
          <a:solidFill>
            <a:schemeClr val="accent2"/>
          </a:solidFill>
          <a:ln w="952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91" name="Rectangle 390">
            <a:extLst>
              <a:ext uri="{FF2B5EF4-FFF2-40B4-BE49-F238E27FC236}">
                <a16:creationId xmlns:a16="http://schemas.microsoft.com/office/drawing/2014/main" id="{AC757584-71F6-DC42-AE40-AADD343F7FE9}"/>
              </a:ext>
            </a:extLst>
          </p:cNvPr>
          <p:cNvSpPr/>
          <p:nvPr/>
        </p:nvSpPr>
        <p:spPr>
          <a:xfrm>
            <a:off x="1888200" y="4385902"/>
            <a:ext cx="10045767" cy="1312708"/>
          </a:xfrm>
          <a:prstGeom prst="rect">
            <a:avLst/>
          </a:prstGeom>
          <a:solidFill>
            <a:schemeClr val="bg1">
              <a:lumMod val="9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2" name="Group 391">
            <a:extLst>
              <a:ext uri="{FF2B5EF4-FFF2-40B4-BE49-F238E27FC236}">
                <a16:creationId xmlns:a16="http://schemas.microsoft.com/office/drawing/2014/main" id="{2930E1A4-E26B-B64D-974C-2333B3BBD6EA}"/>
              </a:ext>
            </a:extLst>
          </p:cNvPr>
          <p:cNvGrpSpPr/>
          <p:nvPr/>
        </p:nvGrpSpPr>
        <p:grpSpPr>
          <a:xfrm>
            <a:off x="2179463" y="4641956"/>
            <a:ext cx="9543495" cy="756003"/>
            <a:chOff x="719091" y="1719857"/>
            <a:chExt cx="9543495" cy="756003"/>
          </a:xfrm>
          <a:effectLst>
            <a:outerShdw blurRad="50800" dist="38100" dir="2700000" algn="tl" rotWithShape="0">
              <a:prstClr val="black">
                <a:alpha val="40000"/>
              </a:prstClr>
            </a:outerShdw>
          </a:effectLst>
        </p:grpSpPr>
        <p:sp>
          <p:nvSpPr>
            <p:cNvPr id="399" name="TextBox 398">
              <a:extLst>
                <a:ext uri="{FF2B5EF4-FFF2-40B4-BE49-F238E27FC236}">
                  <a16:creationId xmlns:a16="http://schemas.microsoft.com/office/drawing/2014/main" id="{DF20B7FF-F8BA-8A47-B5DE-3217EF995BE5}"/>
                </a:ext>
              </a:extLst>
            </p:cNvPr>
            <p:cNvSpPr txBox="1"/>
            <p:nvPr/>
          </p:nvSpPr>
          <p:spPr>
            <a:xfrm>
              <a:off x="1420427" y="1719860"/>
              <a:ext cx="5476017" cy="756000"/>
            </a:xfrm>
            <a:prstGeom prst="rect">
              <a:avLst/>
            </a:prstGeom>
            <a:solidFill>
              <a:schemeClr val="bg1"/>
            </a:solidFill>
            <a:ln>
              <a:solidFill>
                <a:schemeClr val="bg1">
                  <a:lumMod val="75000"/>
                </a:schemeClr>
              </a:solidFill>
            </a:ln>
            <a:effectLst/>
          </p:spPr>
          <p:txBody>
            <a:bodyPr wrap="square" rtlCol="0" anchor="ctr">
              <a:noAutofit/>
            </a:bodyPr>
            <a:lstStyle/>
            <a:p>
              <a:pPr marL="139700" lvl="0"/>
              <a:r>
                <a:rPr lang="en-US" altLang="ko-KR" sz="2000" dirty="0">
                  <a:solidFill>
                    <a:schemeClr val="dk1"/>
                  </a:solidFill>
                  <a:latin typeface="Calibri"/>
                  <a:ea typeface="Calibri"/>
                  <a:cs typeface="Calibri"/>
                  <a:sym typeface="Calibri"/>
                </a:rPr>
                <a:t>ZZZ </a:t>
              </a:r>
              <a:r>
                <a:rPr lang="ko-KR" altLang="en-US" sz="2000" dirty="0">
                  <a:solidFill>
                    <a:schemeClr val="dk1"/>
                  </a:solidFill>
                  <a:latin typeface="Calibri"/>
                  <a:ea typeface="Calibri"/>
                  <a:cs typeface="Calibri"/>
                  <a:sym typeface="Calibri"/>
                </a:rPr>
                <a:t>공급업체에게 전액 지급함</a:t>
              </a:r>
              <a:r>
                <a:rPr lang="en-US" altLang="ko-KR" sz="2000" dirty="0">
                  <a:solidFill>
                    <a:schemeClr val="dk1"/>
                  </a:solidFill>
                  <a:latin typeface="Calibri"/>
                  <a:ea typeface="Calibri"/>
                  <a:cs typeface="Calibri"/>
                  <a:sym typeface="Calibri"/>
                </a:rPr>
                <a:t>.</a:t>
              </a:r>
              <a:endParaRPr lang="ko-KR" altLang="en-US" sz="2000" dirty="0">
                <a:solidFill>
                  <a:schemeClr val="dk1"/>
                </a:solidFill>
                <a:latin typeface="Avenir"/>
                <a:ea typeface="Avenir"/>
                <a:cs typeface="Avenir"/>
                <a:sym typeface="Avenir"/>
              </a:endParaRPr>
            </a:p>
          </p:txBody>
        </p:sp>
        <p:sp>
          <p:nvSpPr>
            <p:cNvPr id="401" name="TextBox 400">
              <a:extLst>
                <a:ext uri="{FF2B5EF4-FFF2-40B4-BE49-F238E27FC236}">
                  <a16:creationId xmlns:a16="http://schemas.microsoft.com/office/drawing/2014/main" id="{7948AB8B-0B52-E245-8B21-2CA7C49896BA}"/>
                </a:ext>
              </a:extLst>
            </p:cNvPr>
            <p:cNvSpPr txBox="1"/>
            <p:nvPr/>
          </p:nvSpPr>
          <p:spPr>
            <a:xfrm>
              <a:off x="6896444" y="1719857"/>
              <a:ext cx="1683072" cy="756000"/>
            </a:xfrm>
            <a:prstGeom prst="rect">
              <a:avLst/>
            </a:prstGeom>
            <a:solidFill>
              <a:schemeClr val="accent6">
                <a:lumMod val="20000"/>
                <a:lumOff val="80000"/>
              </a:schemeClr>
            </a:solidFill>
            <a:ln>
              <a:solidFill>
                <a:schemeClr val="bg1">
                  <a:lumMod val="75000"/>
                </a:schemeClr>
              </a:solidFill>
              <a:prstDash val="sysDot"/>
            </a:ln>
            <a:effectLst/>
          </p:spPr>
          <p:txBody>
            <a:bodyPr wrap="square" rtlCol="0" anchor="ctr">
              <a:noAutofit/>
            </a:bodyPr>
            <a:lstStyle/>
            <a:p>
              <a:pPr algn="ctr"/>
              <a:r>
                <a:rPr lang="en-GB" sz="1400" b="1">
                  <a:solidFill>
                    <a:schemeClr val="bg1">
                      <a:lumMod val="75000"/>
                    </a:schemeClr>
                  </a:solidFill>
                  <a:latin typeface="Avenir"/>
                  <a:ea typeface="Helvetica" charset="0"/>
                  <a:cs typeface="Helvetica" charset="0"/>
                </a:rPr>
                <a:t>Accounts payable</a:t>
              </a:r>
            </a:p>
            <a:p>
              <a:pPr algn="ctr"/>
              <a:r>
                <a:rPr lang="en-GB" b="1">
                  <a:solidFill>
                    <a:schemeClr val="bg1">
                      <a:lumMod val="75000"/>
                    </a:schemeClr>
                  </a:solidFill>
                  <a:latin typeface="Avenir"/>
                  <a:ea typeface="Helvetica" charset="0"/>
                  <a:cs typeface="Helvetica" charset="0"/>
                </a:rPr>
                <a:t>6,000</a:t>
              </a:r>
            </a:p>
          </p:txBody>
        </p:sp>
        <p:sp>
          <p:nvSpPr>
            <p:cNvPr id="441" name="TextBox 440">
              <a:extLst>
                <a:ext uri="{FF2B5EF4-FFF2-40B4-BE49-F238E27FC236}">
                  <a16:creationId xmlns:a16="http://schemas.microsoft.com/office/drawing/2014/main" id="{C4EA0702-DC2F-1F4F-AD63-3A7BED244CB0}"/>
                </a:ext>
              </a:extLst>
            </p:cNvPr>
            <p:cNvSpPr txBox="1"/>
            <p:nvPr/>
          </p:nvSpPr>
          <p:spPr>
            <a:xfrm>
              <a:off x="8579514" y="1719857"/>
              <a:ext cx="1683072" cy="756000"/>
            </a:xfrm>
            <a:prstGeom prst="rect">
              <a:avLst/>
            </a:prstGeom>
            <a:solidFill>
              <a:schemeClr val="accent2">
                <a:lumMod val="20000"/>
                <a:lumOff val="80000"/>
              </a:schemeClr>
            </a:solidFill>
            <a:ln>
              <a:solidFill>
                <a:schemeClr val="bg1">
                  <a:lumMod val="75000"/>
                </a:schemeClr>
              </a:solidFill>
              <a:prstDash val="sysDot"/>
            </a:ln>
            <a:effectLst/>
          </p:spPr>
          <p:txBody>
            <a:bodyPr wrap="square" rtlCol="0" anchor="ctr">
              <a:noAutofit/>
            </a:bodyPr>
            <a:lstStyle/>
            <a:p>
              <a:pPr algn="ctr"/>
              <a:r>
                <a:rPr lang="en-GB" sz="1400" b="1">
                  <a:solidFill>
                    <a:schemeClr val="bg1">
                      <a:lumMod val="75000"/>
                    </a:schemeClr>
                  </a:solidFill>
                  <a:latin typeface="Avenir"/>
                  <a:ea typeface="Helvetica" charset="0"/>
                  <a:cs typeface="Helvetica" charset="0"/>
                </a:rPr>
                <a:t>Cash</a:t>
              </a:r>
              <a:endParaRPr lang="en-GB" sz="1600" b="1">
                <a:solidFill>
                  <a:schemeClr val="bg1">
                    <a:lumMod val="75000"/>
                  </a:schemeClr>
                </a:solidFill>
                <a:latin typeface="Avenir"/>
                <a:ea typeface="Helvetica" charset="0"/>
                <a:cs typeface="Helvetica" charset="0"/>
              </a:endParaRPr>
            </a:p>
            <a:p>
              <a:pPr algn="ctr"/>
              <a:r>
                <a:rPr lang="en-GB" b="1">
                  <a:solidFill>
                    <a:schemeClr val="bg1">
                      <a:lumMod val="75000"/>
                    </a:schemeClr>
                  </a:solidFill>
                  <a:latin typeface="Avenir"/>
                  <a:ea typeface="Helvetica" charset="0"/>
                  <a:cs typeface="Helvetica" charset="0"/>
                </a:rPr>
                <a:t>6,000</a:t>
              </a:r>
            </a:p>
          </p:txBody>
        </p:sp>
        <p:sp>
          <p:nvSpPr>
            <p:cNvPr id="442" name="TextBox 441">
              <a:extLst>
                <a:ext uri="{FF2B5EF4-FFF2-40B4-BE49-F238E27FC236}">
                  <a16:creationId xmlns:a16="http://schemas.microsoft.com/office/drawing/2014/main" id="{EBFED104-05CA-DD47-ADF8-F6DCB9940292}"/>
                </a:ext>
              </a:extLst>
            </p:cNvPr>
            <p:cNvSpPr txBox="1"/>
            <p:nvPr/>
          </p:nvSpPr>
          <p:spPr>
            <a:xfrm>
              <a:off x="719091" y="1719857"/>
              <a:ext cx="701336" cy="756000"/>
            </a:xfrm>
            <a:prstGeom prst="rect">
              <a:avLst/>
            </a:prstGeom>
            <a:solidFill>
              <a:schemeClr val="bg1"/>
            </a:solidFill>
            <a:ln>
              <a:solidFill>
                <a:schemeClr val="bg1">
                  <a:lumMod val="75000"/>
                </a:schemeClr>
              </a:solidFill>
              <a:prstDash val="solid"/>
            </a:ln>
            <a:effectLst/>
          </p:spPr>
          <p:txBody>
            <a:bodyPr wrap="square" rtlCol="0" anchor="ctr">
              <a:noAutofit/>
            </a:bodyPr>
            <a:lstStyle/>
            <a:p>
              <a:pPr algn="ctr"/>
              <a:r>
                <a:rPr lang="en-GB" sz="2400" b="1">
                  <a:latin typeface="Avenir"/>
                </a:rPr>
                <a:t>16</a:t>
              </a:r>
            </a:p>
          </p:txBody>
        </p:sp>
      </p:grpSp>
      <p:sp>
        <p:nvSpPr>
          <p:cNvPr id="443" name="TextBox 442">
            <a:extLst>
              <a:ext uri="{FF2B5EF4-FFF2-40B4-BE49-F238E27FC236}">
                <a16:creationId xmlns:a16="http://schemas.microsoft.com/office/drawing/2014/main" id="{91C7A03E-09EC-E244-BD1A-0C1A6EAF6C99}"/>
              </a:ext>
            </a:extLst>
          </p:cNvPr>
          <p:cNvSpPr txBox="1"/>
          <p:nvPr/>
        </p:nvSpPr>
        <p:spPr>
          <a:xfrm>
            <a:off x="8352066" y="4639930"/>
            <a:ext cx="1683070" cy="756000"/>
          </a:xfrm>
          <a:prstGeom prst="rect">
            <a:avLst/>
          </a:prstGeom>
          <a:solidFill>
            <a:schemeClr val="accent6">
              <a:lumMod val="75000"/>
            </a:schemeClr>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6,000</a:t>
            </a:r>
          </a:p>
        </p:txBody>
      </p:sp>
      <p:sp>
        <p:nvSpPr>
          <p:cNvPr id="444" name="TextBox 443">
            <a:extLst>
              <a:ext uri="{FF2B5EF4-FFF2-40B4-BE49-F238E27FC236}">
                <a16:creationId xmlns:a16="http://schemas.microsoft.com/office/drawing/2014/main" id="{42890F57-AD10-7742-8729-B833ECC90ACB}"/>
              </a:ext>
            </a:extLst>
          </p:cNvPr>
          <p:cNvSpPr txBox="1"/>
          <p:nvPr/>
        </p:nvSpPr>
        <p:spPr>
          <a:xfrm>
            <a:off x="10035136" y="4638533"/>
            <a:ext cx="1683070" cy="756000"/>
          </a:xfrm>
          <a:prstGeom prst="rect">
            <a:avLst/>
          </a:prstGeom>
          <a:solidFill>
            <a:schemeClr val="accent2"/>
          </a:solidFill>
          <a:ln>
            <a:solidFill>
              <a:schemeClr val="bg1">
                <a:lumMod val="75000"/>
              </a:schemeClr>
            </a:solidFill>
          </a:ln>
          <a:effectLst/>
        </p:spPr>
        <p:txBody>
          <a:bodyPr wrap="square" rtlCol="0" anchor="ctr">
            <a:noAutofit/>
          </a:bodyPr>
          <a:lstStyle/>
          <a:p>
            <a:pPr algn="ctr"/>
            <a:r>
              <a:rPr lang="en-GB" sz="2400" b="1">
                <a:solidFill>
                  <a:schemeClr val="bg1"/>
                </a:solidFill>
                <a:latin typeface="Avenir"/>
                <a:ea typeface="Helvetica" charset="0"/>
                <a:cs typeface="Helvetica" charset="0"/>
              </a:rPr>
              <a:t>6,000</a:t>
            </a:r>
          </a:p>
        </p:txBody>
      </p:sp>
      <p:sp>
        <p:nvSpPr>
          <p:cNvPr id="445" name="Down Arrow 444">
            <a:extLst>
              <a:ext uri="{FF2B5EF4-FFF2-40B4-BE49-F238E27FC236}">
                <a16:creationId xmlns:a16="http://schemas.microsoft.com/office/drawing/2014/main" id="{11BAEA70-B73C-C24F-B4C9-9ED3E91B4AD9}"/>
              </a:ext>
            </a:extLst>
          </p:cNvPr>
          <p:cNvSpPr/>
          <p:nvPr/>
        </p:nvSpPr>
        <p:spPr>
          <a:xfrm>
            <a:off x="11175384" y="824059"/>
            <a:ext cx="950259" cy="1037381"/>
          </a:xfrm>
          <a:prstGeom prst="downArrow">
            <a:avLst/>
          </a:prstGeom>
          <a:solidFill>
            <a:schemeClr val="accent6">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6" name="Down Arrow 445">
            <a:extLst>
              <a:ext uri="{FF2B5EF4-FFF2-40B4-BE49-F238E27FC236}">
                <a16:creationId xmlns:a16="http://schemas.microsoft.com/office/drawing/2014/main" id="{23E70D8E-E201-5443-822B-07097F835D0F}"/>
              </a:ext>
            </a:extLst>
          </p:cNvPr>
          <p:cNvSpPr/>
          <p:nvPr/>
        </p:nvSpPr>
        <p:spPr>
          <a:xfrm>
            <a:off x="117100" y="826738"/>
            <a:ext cx="950259" cy="1037381"/>
          </a:xfrm>
          <a:prstGeom prst="downArrow">
            <a:avLst/>
          </a:prstGeom>
          <a:solidFill>
            <a:schemeClr val="accent2">
              <a:alpha val="78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7" name="TextBox 256">
            <a:extLst>
              <a:ext uri="{FF2B5EF4-FFF2-40B4-BE49-F238E27FC236}">
                <a16:creationId xmlns:a16="http://schemas.microsoft.com/office/drawing/2014/main" id="{0BF54961-E508-EC42-AE6A-BFBE9D6DEBEC}"/>
              </a:ext>
            </a:extLst>
          </p:cNvPr>
          <p:cNvSpPr txBox="1"/>
          <p:nvPr/>
        </p:nvSpPr>
        <p:spPr>
          <a:xfrm>
            <a:off x="6403129" y="3421071"/>
            <a:ext cx="1548343" cy="566133"/>
          </a:xfrm>
          <a:prstGeom prst="rect">
            <a:avLst/>
          </a:prstGeom>
          <a:noFill/>
        </p:spPr>
        <p:txBody>
          <a:bodyPr wrap="square" rtlCol="0" anchor="ctr">
            <a:noAutofit/>
          </a:bodyPr>
          <a:lstStyle/>
          <a:p>
            <a:pPr algn="ctr"/>
            <a:r>
              <a:rPr lang="en-US" sz="2400" b="1">
                <a:latin typeface="Avenir"/>
              </a:rPr>
              <a:t>160</a:t>
            </a:r>
            <a:endParaRPr lang="en-GB" sz="2400"/>
          </a:p>
        </p:txBody>
      </p:sp>
    </p:spTree>
    <p:extLst>
      <p:ext uri="{BB962C8B-B14F-4D97-AF65-F5344CB8AC3E}">
        <p14:creationId xmlns:p14="http://schemas.microsoft.com/office/powerpoint/2010/main" val="4069445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70833E-6 -1.48148E-6 L -0.60313 -0.58796 " pathEditMode="relative" rAng="0" ptsTypes="AA">
                                      <p:cBhvr>
                                        <p:cTn id="6" dur="5000" fill="hold"/>
                                        <p:tgtEl>
                                          <p:spTgt spid="444"/>
                                        </p:tgtEl>
                                        <p:attrNameLst>
                                          <p:attrName>ppt_x</p:attrName>
                                          <p:attrName>ppt_y</p:attrName>
                                        </p:attrNameLst>
                                      </p:cBhvr>
                                      <p:rCtr x="-30156" y="-29398"/>
                                    </p:animMotion>
                                  </p:childTnLst>
                                </p:cTn>
                              </p:par>
                            </p:childTnLst>
                          </p:cTn>
                        </p:par>
                        <p:par>
                          <p:cTn id="7" fill="hold">
                            <p:stCondLst>
                              <p:cond delay="5000"/>
                            </p:stCondLst>
                            <p:childTnLst>
                              <p:par>
                                <p:cTn id="8" presetID="31" presetClass="exit" presetSubtype="0" fill="hold" grpId="1" nodeType="afterEffect">
                                  <p:stCondLst>
                                    <p:cond delay="0"/>
                                  </p:stCondLst>
                                  <p:childTnLst>
                                    <p:anim calcmode="lin" valueType="num">
                                      <p:cBhvr>
                                        <p:cTn id="9" dur="1000"/>
                                        <p:tgtEl>
                                          <p:spTgt spid="444"/>
                                        </p:tgtEl>
                                        <p:attrNameLst>
                                          <p:attrName>ppt_w</p:attrName>
                                        </p:attrNameLst>
                                      </p:cBhvr>
                                      <p:tavLst>
                                        <p:tav tm="0">
                                          <p:val>
                                            <p:strVal val="ppt_w"/>
                                          </p:val>
                                        </p:tav>
                                        <p:tav tm="100000">
                                          <p:val>
                                            <p:fltVal val="0"/>
                                          </p:val>
                                        </p:tav>
                                      </p:tavLst>
                                    </p:anim>
                                    <p:anim calcmode="lin" valueType="num">
                                      <p:cBhvr>
                                        <p:cTn id="10" dur="1000"/>
                                        <p:tgtEl>
                                          <p:spTgt spid="444"/>
                                        </p:tgtEl>
                                        <p:attrNameLst>
                                          <p:attrName>ppt_h</p:attrName>
                                        </p:attrNameLst>
                                      </p:cBhvr>
                                      <p:tavLst>
                                        <p:tav tm="0">
                                          <p:val>
                                            <p:strVal val="ppt_h"/>
                                          </p:val>
                                        </p:tav>
                                        <p:tav tm="100000">
                                          <p:val>
                                            <p:fltVal val="0"/>
                                          </p:val>
                                        </p:tav>
                                      </p:tavLst>
                                    </p:anim>
                                    <p:anim calcmode="lin" valueType="num">
                                      <p:cBhvr>
                                        <p:cTn id="11" dur="1000"/>
                                        <p:tgtEl>
                                          <p:spTgt spid="444"/>
                                        </p:tgtEl>
                                        <p:attrNameLst>
                                          <p:attrName>style.rotation</p:attrName>
                                        </p:attrNameLst>
                                      </p:cBhvr>
                                      <p:tavLst>
                                        <p:tav tm="0">
                                          <p:val>
                                            <p:fltVal val="0"/>
                                          </p:val>
                                        </p:tav>
                                        <p:tav tm="100000">
                                          <p:val>
                                            <p:fltVal val="90"/>
                                          </p:val>
                                        </p:tav>
                                      </p:tavLst>
                                    </p:anim>
                                    <p:animEffect transition="out" filter="fade">
                                      <p:cBhvr>
                                        <p:cTn id="12" dur="1000"/>
                                        <p:tgtEl>
                                          <p:spTgt spid="444"/>
                                        </p:tgtEl>
                                      </p:cBhvr>
                                    </p:animEffect>
                                    <p:set>
                                      <p:cBhvr>
                                        <p:cTn id="13" dur="1" fill="hold">
                                          <p:stCondLst>
                                            <p:cond delay="999"/>
                                          </p:stCondLst>
                                        </p:cTn>
                                        <p:tgtEl>
                                          <p:spTgt spid="444"/>
                                        </p:tgtEl>
                                        <p:attrNameLst>
                                          <p:attrName>style.visibility</p:attrName>
                                        </p:attrNameLst>
                                      </p:cBhvr>
                                      <p:to>
                                        <p:strVal val="hidden"/>
                                      </p:to>
                                    </p:set>
                                  </p:childTnLst>
                                </p:cTn>
                              </p:par>
                              <p:par>
                                <p:cTn id="14" presetID="47" presetClass="entr" presetSubtype="0" fill="hold" grpId="0" nodeType="withEffect">
                                  <p:stCondLst>
                                    <p:cond delay="0"/>
                                  </p:stCondLst>
                                  <p:childTnLst>
                                    <p:set>
                                      <p:cBhvr>
                                        <p:cTn id="15" dur="1" fill="hold">
                                          <p:stCondLst>
                                            <p:cond delay="0"/>
                                          </p:stCondLst>
                                        </p:cTn>
                                        <p:tgtEl>
                                          <p:spTgt spid="265"/>
                                        </p:tgtEl>
                                        <p:attrNameLst>
                                          <p:attrName>style.visibility</p:attrName>
                                        </p:attrNameLst>
                                      </p:cBhvr>
                                      <p:to>
                                        <p:strVal val="visible"/>
                                      </p:to>
                                    </p:set>
                                    <p:animEffect transition="in" filter="fade">
                                      <p:cBhvr>
                                        <p:cTn id="16" dur="1000"/>
                                        <p:tgtEl>
                                          <p:spTgt spid="265"/>
                                        </p:tgtEl>
                                      </p:cBhvr>
                                    </p:animEffect>
                                    <p:anim calcmode="lin" valueType="num">
                                      <p:cBhvr>
                                        <p:cTn id="17" dur="1000" fill="hold"/>
                                        <p:tgtEl>
                                          <p:spTgt spid="265"/>
                                        </p:tgtEl>
                                        <p:attrNameLst>
                                          <p:attrName>ppt_x</p:attrName>
                                        </p:attrNameLst>
                                      </p:cBhvr>
                                      <p:tavLst>
                                        <p:tav tm="0">
                                          <p:val>
                                            <p:strVal val="#ppt_x"/>
                                          </p:val>
                                        </p:tav>
                                        <p:tav tm="100000">
                                          <p:val>
                                            <p:strVal val="#ppt_x"/>
                                          </p:val>
                                        </p:tav>
                                      </p:tavLst>
                                    </p:anim>
                                    <p:anim calcmode="lin" valueType="num">
                                      <p:cBhvr>
                                        <p:cTn id="18" dur="1000" fill="hold"/>
                                        <p:tgtEl>
                                          <p:spTgt spid="265"/>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266"/>
                                        </p:tgtEl>
                                        <p:attrNameLst>
                                          <p:attrName>style.visibility</p:attrName>
                                        </p:attrNameLst>
                                      </p:cBhvr>
                                      <p:to>
                                        <p:strVal val="visible"/>
                                      </p:to>
                                    </p:set>
                                    <p:animEffect transition="in" filter="fade">
                                      <p:cBhvr>
                                        <p:cTn id="21" dur="1000"/>
                                        <p:tgtEl>
                                          <p:spTgt spid="266"/>
                                        </p:tgtEl>
                                      </p:cBhvr>
                                    </p:animEffect>
                                    <p:anim calcmode="lin" valueType="num">
                                      <p:cBhvr>
                                        <p:cTn id="22" dur="1000" fill="hold"/>
                                        <p:tgtEl>
                                          <p:spTgt spid="266"/>
                                        </p:tgtEl>
                                        <p:attrNameLst>
                                          <p:attrName>ppt_x</p:attrName>
                                        </p:attrNameLst>
                                      </p:cBhvr>
                                      <p:tavLst>
                                        <p:tav tm="0">
                                          <p:val>
                                            <p:strVal val="#ppt_x"/>
                                          </p:val>
                                        </p:tav>
                                        <p:tav tm="100000">
                                          <p:val>
                                            <p:strVal val="#ppt_x"/>
                                          </p:val>
                                        </p:tav>
                                      </p:tavLst>
                                    </p:anim>
                                    <p:anim calcmode="lin" valueType="num">
                                      <p:cBhvr>
                                        <p:cTn id="23" dur="1000" fill="hold"/>
                                        <p:tgtEl>
                                          <p:spTgt spid="266"/>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270"/>
                                        </p:tgtEl>
                                        <p:attrNameLst>
                                          <p:attrName>style.visibility</p:attrName>
                                        </p:attrNameLst>
                                      </p:cBhvr>
                                      <p:to>
                                        <p:strVal val="visible"/>
                                      </p:to>
                                    </p:set>
                                    <p:animEffect transition="in" filter="fade">
                                      <p:cBhvr>
                                        <p:cTn id="26" dur="1000"/>
                                        <p:tgtEl>
                                          <p:spTgt spid="270"/>
                                        </p:tgtEl>
                                      </p:cBhvr>
                                    </p:animEffect>
                                    <p:anim calcmode="lin" valueType="num">
                                      <p:cBhvr>
                                        <p:cTn id="27" dur="1000" fill="hold"/>
                                        <p:tgtEl>
                                          <p:spTgt spid="270"/>
                                        </p:tgtEl>
                                        <p:attrNameLst>
                                          <p:attrName>ppt_x</p:attrName>
                                        </p:attrNameLst>
                                      </p:cBhvr>
                                      <p:tavLst>
                                        <p:tav tm="0">
                                          <p:val>
                                            <p:strVal val="#ppt_x"/>
                                          </p:val>
                                        </p:tav>
                                        <p:tav tm="100000">
                                          <p:val>
                                            <p:strVal val="#ppt_x"/>
                                          </p:val>
                                        </p:tav>
                                      </p:tavLst>
                                    </p:anim>
                                    <p:anim calcmode="lin" valueType="num">
                                      <p:cBhvr>
                                        <p:cTn id="28" dur="1000" fill="hold"/>
                                        <p:tgtEl>
                                          <p:spTgt spid="270"/>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271"/>
                                        </p:tgtEl>
                                        <p:attrNameLst>
                                          <p:attrName>style.visibility</p:attrName>
                                        </p:attrNameLst>
                                      </p:cBhvr>
                                      <p:to>
                                        <p:strVal val="visible"/>
                                      </p:to>
                                    </p:set>
                                    <p:animEffect transition="in" filter="fade">
                                      <p:cBhvr>
                                        <p:cTn id="31" dur="1000"/>
                                        <p:tgtEl>
                                          <p:spTgt spid="271"/>
                                        </p:tgtEl>
                                      </p:cBhvr>
                                    </p:animEffect>
                                    <p:anim calcmode="lin" valueType="num">
                                      <p:cBhvr>
                                        <p:cTn id="32" dur="1000" fill="hold"/>
                                        <p:tgtEl>
                                          <p:spTgt spid="271"/>
                                        </p:tgtEl>
                                        <p:attrNameLst>
                                          <p:attrName>ppt_x</p:attrName>
                                        </p:attrNameLst>
                                      </p:cBhvr>
                                      <p:tavLst>
                                        <p:tav tm="0">
                                          <p:val>
                                            <p:strVal val="#ppt_x"/>
                                          </p:val>
                                        </p:tav>
                                        <p:tav tm="100000">
                                          <p:val>
                                            <p:strVal val="#ppt_x"/>
                                          </p:val>
                                        </p:tav>
                                      </p:tavLst>
                                    </p:anim>
                                    <p:anim calcmode="lin" valueType="num">
                                      <p:cBhvr>
                                        <p:cTn id="33" dur="1000" fill="hold"/>
                                        <p:tgtEl>
                                          <p:spTgt spid="27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path" presetSubtype="0" accel="50000" decel="50000" fill="hold" grpId="0" nodeType="clickEffect">
                                  <p:stCondLst>
                                    <p:cond delay="0"/>
                                  </p:stCondLst>
                                  <p:childTnLst>
                                    <p:animMotion origin="layout" path="M 3.54167E-6 -2.96296E-6 L -0.17904 -0.57268 " pathEditMode="relative" rAng="0" ptsTypes="AA">
                                      <p:cBhvr>
                                        <p:cTn id="37" dur="3000" fill="hold"/>
                                        <p:tgtEl>
                                          <p:spTgt spid="443"/>
                                        </p:tgtEl>
                                        <p:attrNameLst>
                                          <p:attrName>ppt_x</p:attrName>
                                          <p:attrName>ppt_y</p:attrName>
                                        </p:attrNameLst>
                                      </p:cBhvr>
                                      <p:rCtr x="-8958" y="-28634"/>
                                    </p:animMotion>
                                  </p:childTnLst>
                                </p:cTn>
                              </p:par>
                            </p:childTnLst>
                          </p:cTn>
                        </p:par>
                        <p:par>
                          <p:cTn id="38" fill="hold">
                            <p:stCondLst>
                              <p:cond delay="3000"/>
                            </p:stCondLst>
                            <p:childTnLst>
                              <p:par>
                                <p:cTn id="39" presetID="31" presetClass="exit" presetSubtype="0" fill="hold" grpId="1" nodeType="afterEffect">
                                  <p:stCondLst>
                                    <p:cond delay="0"/>
                                  </p:stCondLst>
                                  <p:childTnLst>
                                    <p:anim calcmode="lin" valueType="num">
                                      <p:cBhvr>
                                        <p:cTn id="40" dur="1000"/>
                                        <p:tgtEl>
                                          <p:spTgt spid="443"/>
                                        </p:tgtEl>
                                        <p:attrNameLst>
                                          <p:attrName>ppt_w</p:attrName>
                                        </p:attrNameLst>
                                      </p:cBhvr>
                                      <p:tavLst>
                                        <p:tav tm="0">
                                          <p:val>
                                            <p:strVal val="ppt_w"/>
                                          </p:val>
                                        </p:tav>
                                        <p:tav tm="100000">
                                          <p:val>
                                            <p:fltVal val="0"/>
                                          </p:val>
                                        </p:tav>
                                      </p:tavLst>
                                    </p:anim>
                                    <p:anim calcmode="lin" valueType="num">
                                      <p:cBhvr>
                                        <p:cTn id="41" dur="1000"/>
                                        <p:tgtEl>
                                          <p:spTgt spid="443"/>
                                        </p:tgtEl>
                                        <p:attrNameLst>
                                          <p:attrName>ppt_h</p:attrName>
                                        </p:attrNameLst>
                                      </p:cBhvr>
                                      <p:tavLst>
                                        <p:tav tm="0">
                                          <p:val>
                                            <p:strVal val="ppt_h"/>
                                          </p:val>
                                        </p:tav>
                                        <p:tav tm="100000">
                                          <p:val>
                                            <p:fltVal val="0"/>
                                          </p:val>
                                        </p:tav>
                                      </p:tavLst>
                                    </p:anim>
                                    <p:anim calcmode="lin" valueType="num">
                                      <p:cBhvr>
                                        <p:cTn id="42" dur="1000"/>
                                        <p:tgtEl>
                                          <p:spTgt spid="443"/>
                                        </p:tgtEl>
                                        <p:attrNameLst>
                                          <p:attrName>style.rotation</p:attrName>
                                        </p:attrNameLst>
                                      </p:cBhvr>
                                      <p:tavLst>
                                        <p:tav tm="0">
                                          <p:val>
                                            <p:fltVal val="0"/>
                                          </p:val>
                                        </p:tav>
                                        <p:tav tm="100000">
                                          <p:val>
                                            <p:fltVal val="90"/>
                                          </p:val>
                                        </p:tav>
                                      </p:tavLst>
                                    </p:anim>
                                    <p:animEffect transition="out" filter="fade">
                                      <p:cBhvr>
                                        <p:cTn id="43" dur="1000"/>
                                        <p:tgtEl>
                                          <p:spTgt spid="443"/>
                                        </p:tgtEl>
                                      </p:cBhvr>
                                    </p:animEffect>
                                    <p:set>
                                      <p:cBhvr>
                                        <p:cTn id="44" dur="1" fill="hold">
                                          <p:stCondLst>
                                            <p:cond delay="999"/>
                                          </p:stCondLst>
                                        </p:cTn>
                                        <p:tgtEl>
                                          <p:spTgt spid="443"/>
                                        </p:tgtEl>
                                        <p:attrNameLst>
                                          <p:attrName>style.visibility</p:attrName>
                                        </p:attrNameLst>
                                      </p:cBhvr>
                                      <p:to>
                                        <p:strVal val="hidden"/>
                                      </p:to>
                                    </p:set>
                                  </p:childTnLst>
                                </p:cTn>
                              </p:par>
                              <p:par>
                                <p:cTn id="45" presetID="47" presetClass="entr" presetSubtype="0" fill="hold" grpId="0" nodeType="withEffect">
                                  <p:stCondLst>
                                    <p:cond delay="0"/>
                                  </p:stCondLst>
                                  <p:childTnLst>
                                    <p:set>
                                      <p:cBhvr>
                                        <p:cTn id="46" dur="1" fill="hold">
                                          <p:stCondLst>
                                            <p:cond delay="0"/>
                                          </p:stCondLst>
                                        </p:cTn>
                                        <p:tgtEl>
                                          <p:spTgt spid="268"/>
                                        </p:tgtEl>
                                        <p:attrNameLst>
                                          <p:attrName>style.visibility</p:attrName>
                                        </p:attrNameLst>
                                      </p:cBhvr>
                                      <p:to>
                                        <p:strVal val="visible"/>
                                      </p:to>
                                    </p:set>
                                    <p:animEffect transition="in" filter="fade">
                                      <p:cBhvr>
                                        <p:cTn id="47" dur="1000"/>
                                        <p:tgtEl>
                                          <p:spTgt spid="268"/>
                                        </p:tgtEl>
                                      </p:cBhvr>
                                    </p:animEffect>
                                    <p:anim calcmode="lin" valueType="num">
                                      <p:cBhvr>
                                        <p:cTn id="48" dur="1000" fill="hold"/>
                                        <p:tgtEl>
                                          <p:spTgt spid="268"/>
                                        </p:tgtEl>
                                        <p:attrNameLst>
                                          <p:attrName>ppt_x</p:attrName>
                                        </p:attrNameLst>
                                      </p:cBhvr>
                                      <p:tavLst>
                                        <p:tav tm="0">
                                          <p:val>
                                            <p:strVal val="#ppt_x"/>
                                          </p:val>
                                        </p:tav>
                                        <p:tav tm="100000">
                                          <p:val>
                                            <p:strVal val="#ppt_x"/>
                                          </p:val>
                                        </p:tav>
                                      </p:tavLst>
                                    </p:anim>
                                    <p:anim calcmode="lin" valueType="num">
                                      <p:cBhvr>
                                        <p:cTn id="49" dur="1000" fill="hold"/>
                                        <p:tgtEl>
                                          <p:spTgt spid="268"/>
                                        </p:tgtEl>
                                        <p:attrNameLst>
                                          <p:attrName>ppt_y</p:attrName>
                                        </p:attrNameLst>
                                      </p:cBhvr>
                                      <p:tavLst>
                                        <p:tav tm="0">
                                          <p:val>
                                            <p:strVal val="#ppt_y-.1"/>
                                          </p:val>
                                        </p:tav>
                                        <p:tav tm="100000">
                                          <p:val>
                                            <p:strVal val="#ppt_y"/>
                                          </p:val>
                                        </p:tav>
                                      </p:tavLst>
                                    </p:anim>
                                  </p:childTnLst>
                                </p:cTn>
                              </p:par>
                              <p:par>
                                <p:cTn id="50" presetID="47" presetClass="entr" presetSubtype="0" fill="hold" grpId="0" nodeType="withEffect">
                                  <p:stCondLst>
                                    <p:cond delay="0"/>
                                  </p:stCondLst>
                                  <p:childTnLst>
                                    <p:set>
                                      <p:cBhvr>
                                        <p:cTn id="51" dur="1" fill="hold">
                                          <p:stCondLst>
                                            <p:cond delay="0"/>
                                          </p:stCondLst>
                                        </p:cTn>
                                        <p:tgtEl>
                                          <p:spTgt spid="384"/>
                                        </p:tgtEl>
                                        <p:attrNameLst>
                                          <p:attrName>style.visibility</p:attrName>
                                        </p:attrNameLst>
                                      </p:cBhvr>
                                      <p:to>
                                        <p:strVal val="visible"/>
                                      </p:to>
                                    </p:set>
                                    <p:animEffect transition="in" filter="fade">
                                      <p:cBhvr>
                                        <p:cTn id="52" dur="1000"/>
                                        <p:tgtEl>
                                          <p:spTgt spid="384"/>
                                        </p:tgtEl>
                                      </p:cBhvr>
                                    </p:animEffect>
                                    <p:anim calcmode="lin" valueType="num">
                                      <p:cBhvr>
                                        <p:cTn id="53" dur="1000" fill="hold"/>
                                        <p:tgtEl>
                                          <p:spTgt spid="384"/>
                                        </p:tgtEl>
                                        <p:attrNameLst>
                                          <p:attrName>ppt_x</p:attrName>
                                        </p:attrNameLst>
                                      </p:cBhvr>
                                      <p:tavLst>
                                        <p:tav tm="0">
                                          <p:val>
                                            <p:strVal val="#ppt_x"/>
                                          </p:val>
                                        </p:tav>
                                        <p:tav tm="100000">
                                          <p:val>
                                            <p:strVal val="#ppt_x"/>
                                          </p:val>
                                        </p:tav>
                                      </p:tavLst>
                                    </p:anim>
                                    <p:anim calcmode="lin" valueType="num">
                                      <p:cBhvr>
                                        <p:cTn id="54" dur="1000" fill="hold"/>
                                        <p:tgtEl>
                                          <p:spTgt spid="384"/>
                                        </p:tgtEl>
                                        <p:attrNameLst>
                                          <p:attrName>ppt_y</p:attrName>
                                        </p:attrNameLst>
                                      </p:cBhvr>
                                      <p:tavLst>
                                        <p:tav tm="0">
                                          <p:val>
                                            <p:strVal val="#ppt_y-.1"/>
                                          </p:val>
                                        </p:tav>
                                        <p:tav tm="100000">
                                          <p:val>
                                            <p:strVal val="#ppt_y"/>
                                          </p:val>
                                        </p:tav>
                                      </p:tavLst>
                                    </p:anim>
                                  </p:childTnLst>
                                </p:cTn>
                              </p:par>
                              <p:par>
                                <p:cTn id="55" presetID="47" presetClass="entr" presetSubtype="0" fill="hold" grpId="0" nodeType="withEffect">
                                  <p:stCondLst>
                                    <p:cond delay="0"/>
                                  </p:stCondLst>
                                  <p:childTnLst>
                                    <p:set>
                                      <p:cBhvr>
                                        <p:cTn id="56" dur="1" fill="hold">
                                          <p:stCondLst>
                                            <p:cond delay="0"/>
                                          </p:stCondLst>
                                        </p:cTn>
                                        <p:tgtEl>
                                          <p:spTgt spid="385"/>
                                        </p:tgtEl>
                                        <p:attrNameLst>
                                          <p:attrName>style.visibility</p:attrName>
                                        </p:attrNameLst>
                                      </p:cBhvr>
                                      <p:to>
                                        <p:strVal val="visible"/>
                                      </p:to>
                                    </p:set>
                                    <p:animEffect transition="in" filter="fade">
                                      <p:cBhvr>
                                        <p:cTn id="57" dur="1000"/>
                                        <p:tgtEl>
                                          <p:spTgt spid="385"/>
                                        </p:tgtEl>
                                      </p:cBhvr>
                                    </p:animEffect>
                                    <p:anim calcmode="lin" valueType="num">
                                      <p:cBhvr>
                                        <p:cTn id="58" dur="1000" fill="hold"/>
                                        <p:tgtEl>
                                          <p:spTgt spid="385"/>
                                        </p:tgtEl>
                                        <p:attrNameLst>
                                          <p:attrName>ppt_x</p:attrName>
                                        </p:attrNameLst>
                                      </p:cBhvr>
                                      <p:tavLst>
                                        <p:tav tm="0">
                                          <p:val>
                                            <p:strVal val="#ppt_x"/>
                                          </p:val>
                                        </p:tav>
                                        <p:tav tm="100000">
                                          <p:val>
                                            <p:strVal val="#ppt_x"/>
                                          </p:val>
                                        </p:tav>
                                      </p:tavLst>
                                    </p:anim>
                                    <p:anim calcmode="lin" valueType="num">
                                      <p:cBhvr>
                                        <p:cTn id="59" dur="1000" fill="hold"/>
                                        <p:tgtEl>
                                          <p:spTgt spid="385"/>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267"/>
                                        </p:tgtEl>
                                        <p:attrNameLst>
                                          <p:attrName>style.visibility</p:attrName>
                                        </p:attrNameLst>
                                      </p:cBhvr>
                                      <p:to>
                                        <p:strVal val="visible"/>
                                      </p:to>
                                    </p:set>
                                    <p:animEffect transition="in" filter="fade">
                                      <p:cBhvr>
                                        <p:cTn id="62" dur="1000"/>
                                        <p:tgtEl>
                                          <p:spTgt spid="267"/>
                                        </p:tgtEl>
                                      </p:cBhvr>
                                    </p:animEffect>
                                    <p:anim calcmode="lin" valueType="num">
                                      <p:cBhvr>
                                        <p:cTn id="63" dur="1000" fill="hold"/>
                                        <p:tgtEl>
                                          <p:spTgt spid="267"/>
                                        </p:tgtEl>
                                        <p:attrNameLst>
                                          <p:attrName>ppt_x</p:attrName>
                                        </p:attrNameLst>
                                      </p:cBhvr>
                                      <p:tavLst>
                                        <p:tav tm="0">
                                          <p:val>
                                            <p:strVal val="#ppt_x"/>
                                          </p:val>
                                        </p:tav>
                                        <p:tav tm="100000">
                                          <p:val>
                                            <p:strVal val="#ppt_x"/>
                                          </p:val>
                                        </p:tav>
                                      </p:tavLst>
                                    </p:anim>
                                    <p:anim calcmode="lin" valueType="num">
                                      <p:cBhvr>
                                        <p:cTn id="64" dur="1000" fill="hold"/>
                                        <p:tgtEl>
                                          <p:spTgt spid="267"/>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7" presetClass="entr" presetSubtype="0" fill="hold" grpId="0" nodeType="clickEffect">
                                  <p:stCondLst>
                                    <p:cond delay="0"/>
                                  </p:stCondLst>
                                  <p:childTnLst>
                                    <p:set>
                                      <p:cBhvr>
                                        <p:cTn id="68" dur="1" fill="hold">
                                          <p:stCondLst>
                                            <p:cond delay="0"/>
                                          </p:stCondLst>
                                        </p:cTn>
                                        <p:tgtEl>
                                          <p:spTgt spid="445"/>
                                        </p:tgtEl>
                                        <p:attrNameLst>
                                          <p:attrName>style.visibility</p:attrName>
                                        </p:attrNameLst>
                                      </p:cBhvr>
                                      <p:to>
                                        <p:strVal val="visible"/>
                                      </p:to>
                                    </p:set>
                                    <p:animEffect transition="in" filter="fade">
                                      <p:cBhvr>
                                        <p:cTn id="69" dur="1000"/>
                                        <p:tgtEl>
                                          <p:spTgt spid="445"/>
                                        </p:tgtEl>
                                      </p:cBhvr>
                                    </p:animEffect>
                                    <p:anim calcmode="lin" valueType="num">
                                      <p:cBhvr>
                                        <p:cTn id="70" dur="1000" fill="hold"/>
                                        <p:tgtEl>
                                          <p:spTgt spid="445"/>
                                        </p:tgtEl>
                                        <p:attrNameLst>
                                          <p:attrName>ppt_x</p:attrName>
                                        </p:attrNameLst>
                                      </p:cBhvr>
                                      <p:tavLst>
                                        <p:tav tm="0">
                                          <p:val>
                                            <p:strVal val="#ppt_x"/>
                                          </p:val>
                                        </p:tav>
                                        <p:tav tm="100000">
                                          <p:val>
                                            <p:strVal val="#ppt_x"/>
                                          </p:val>
                                        </p:tav>
                                      </p:tavLst>
                                    </p:anim>
                                    <p:anim calcmode="lin" valueType="num">
                                      <p:cBhvr>
                                        <p:cTn id="71" dur="1000" fill="hold"/>
                                        <p:tgtEl>
                                          <p:spTgt spid="445"/>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446"/>
                                        </p:tgtEl>
                                        <p:attrNameLst>
                                          <p:attrName>style.visibility</p:attrName>
                                        </p:attrNameLst>
                                      </p:cBhvr>
                                      <p:to>
                                        <p:strVal val="visible"/>
                                      </p:to>
                                    </p:set>
                                    <p:animEffect transition="in" filter="fade">
                                      <p:cBhvr>
                                        <p:cTn id="74" dur="1000"/>
                                        <p:tgtEl>
                                          <p:spTgt spid="446"/>
                                        </p:tgtEl>
                                      </p:cBhvr>
                                    </p:animEffect>
                                    <p:anim calcmode="lin" valueType="num">
                                      <p:cBhvr>
                                        <p:cTn id="75" dur="1000" fill="hold"/>
                                        <p:tgtEl>
                                          <p:spTgt spid="446"/>
                                        </p:tgtEl>
                                        <p:attrNameLst>
                                          <p:attrName>ppt_x</p:attrName>
                                        </p:attrNameLst>
                                      </p:cBhvr>
                                      <p:tavLst>
                                        <p:tav tm="0">
                                          <p:val>
                                            <p:strVal val="#ppt_x"/>
                                          </p:val>
                                        </p:tav>
                                        <p:tav tm="100000">
                                          <p:val>
                                            <p:strVal val="#ppt_x"/>
                                          </p:val>
                                        </p:tav>
                                      </p:tavLst>
                                    </p:anim>
                                    <p:anim calcmode="lin" valueType="num">
                                      <p:cBhvr>
                                        <p:cTn id="76" dur="1000" fill="hold"/>
                                        <p:tgtEl>
                                          <p:spTgt spid="4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 grpId="0"/>
      <p:bldP spid="266" grpId="0" animBg="1"/>
      <p:bldP spid="267" grpId="0"/>
      <p:bldP spid="268" grpId="0" animBg="1"/>
      <p:bldP spid="270" grpId="0" animBg="1"/>
      <p:bldP spid="271" grpId="0"/>
      <p:bldP spid="384" grpId="0" animBg="1"/>
      <p:bldP spid="385" grpId="0"/>
      <p:bldP spid="443" grpId="0" animBg="1"/>
      <p:bldP spid="443" grpId="1" animBg="1"/>
      <p:bldP spid="444" grpId="0" animBg="1"/>
      <p:bldP spid="444" grpId="1" animBg="1"/>
      <p:bldP spid="445" grpId="0" animBg="1"/>
      <p:bldP spid="44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401"/>
        <p:cNvGrpSpPr/>
        <p:nvPr/>
      </p:nvGrpSpPr>
      <p:grpSpPr>
        <a:xfrm>
          <a:off x="0" y="0"/>
          <a:ext cx="0" cy="0"/>
          <a:chOff x="0" y="0"/>
          <a:chExt cx="0" cy="0"/>
        </a:xfrm>
      </p:grpSpPr>
      <p:sp>
        <p:nvSpPr>
          <p:cNvPr id="4402" name="Google Shape;4402;p85"/>
          <p:cNvSpPr txBox="1"/>
          <p:nvPr/>
        </p:nvSpPr>
        <p:spPr>
          <a:xfrm>
            <a:off x="4187006" y="133386"/>
            <a:ext cx="362952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accent1"/>
                </a:solidFill>
                <a:latin typeface="Avenir"/>
                <a:ea typeface="Avenir"/>
                <a:cs typeface="Avenir"/>
                <a:sym typeface="Avenir"/>
              </a:rPr>
              <a:t>Global Books Limited</a:t>
            </a:r>
            <a:endParaRPr/>
          </a:p>
        </p:txBody>
      </p:sp>
      <p:cxnSp>
        <p:nvCxnSpPr>
          <p:cNvPr id="4403" name="Google Shape;4403;p85"/>
          <p:cNvCxnSpPr/>
          <p:nvPr/>
        </p:nvCxnSpPr>
        <p:spPr>
          <a:xfrm>
            <a:off x="4316098" y="566860"/>
            <a:ext cx="3375212" cy="0"/>
          </a:xfrm>
          <a:prstGeom prst="straightConnector1">
            <a:avLst/>
          </a:prstGeom>
          <a:noFill/>
          <a:ln w="28575" cap="flat" cmpd="sng">
            <a:solidFill>
              <a:schemeClr val="accent1"/>
            </a:solidFill>
            <a:prstDash val="dot"/>
            <a:miter lim="800000"/>
            <a:headEnd type="none" w="sm" len="sm"/>
            <a:tailEnd type="none" w="sm" len="sm"/>
          </a:ln>
        </p:spPr>
      </p:cxnSp>
      <p:sp>
        <p:nvSpPr>
          <p:cNvPr id="4404" name="Google Shape;4404;p85"/>
          <p:cNvSpPr txBox="1"/>
          <p:nvPr/>
        </p:nvSpPr>
        <p:spPr>
          <a:xfrm>
            <a:off x="9504213" y="373659"/>
            <a:ext cx="2279791"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chemeClr val="accent2"/>
                </a:solidFill>
                <a:latin typeface="Avenir"/>
                <a:ea typeface="Avenir"/>
                <a:cs typeface="Avenir"/>
                <a:sym typeface="Avenir"/>
              </a:rPr>
              <a:t>Sources of funds</a:t>
            </a:r>
            <a:endParaRPr/>
          </a:p>
        </p:txBody>
      </p:sp>
      <p:sp>
        <p:nvSpPr>
          <p:cNvPr id="4405" name="Google Shape;4405;p85"/>
          <p:cNvSpPr txBox="1"/>
          <p:nvPr/>
        </p:nvSpPr>
        <p:spPr>
          <a:xfrm>
            <a:off x="492858" y="373659"/>
            <a:ext cx="18806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accent6"/>
                </a:solidFill>
                <a:latin typeface="Avenir"/>
                <a:ea typeface="Avenir"/>
                <a:cs typeface="Avenir"/>
                <a:sym typeface="Avenir"/>
              </a:rPr>
              <a:t>Uses of funds</a:t>
            </a:r>
            <a:endParaRPr/>
          </a:p>
        </p:txBody>
      </p:sp>
      <p:sp>
        <p:nvSpPr>
          <p:cNvPr id="4406" name="Google Shape;4406;p85"/>
          <p:cNvSpPr txBox="1"/>
          <p:nvPr/>
        </p:nvSpPr>
        <p:spPr>
          <a:xfrm>
            <a:off x="6227788" y="2623662"/>
            <a:ext cx="5556216" cy="1692844"/>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Equity</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4407" name="Google Shape;4407;p85"/>
          <p:cNvSpPr txBox="1"/>
          <p:nvPr/>
        </p:nvSpPr>
        <p:spPr>
          <a:xfrm>
            <a:off x="6410845" y="3135649"/>
            <a:ext cx="1544844" cy="770509"/>
          </a:xfrm>
          <a:prstGeom prst="rect">
            <a:avLst/>
          </a:prstGeom>
          <a:noFill/>
          <a:ln w="5715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20000"/>
              </a:lnSpc>
              <a:spcBef>
                <a:spcPts val="0"/>
              </a:spcBef>
              <a:spcAft>
                <a:spcPts val="0"/>
              </a:spcAft>
              <a:buNone/>
            </a:pPr>
            <a:r>
              <a:rPr lang="en-US" sz="2200" b="1">
                <a:solidFill>
                  <a:srgbClr val="942093"/>
                </a:solidFill>
                <a:latin typeface="Avenir"/>
                <a:ea typeface="Avenir"/>
                <a:cs typeface="Avenir"/>
                <a:sym typeface="Avenir"/>
              </a:rPr>
              <a:t>Profit</a:t>
            </a:r>
            <a:endParaRPr/>
          </a:p>
        </p:txBody>
      </p:sp>
      <p:sp>
        <p:nvSpPr>
          <p:cNvPr id="4408" name="Google Shape;4408;p85"/>
          <p:cNvSpPr txBox="1"/>
          <p:nvPr/>
        </p:nvSpPr>
        <p:spPr>
          <a:xfrm>
            <a:off x="6227788" y="773769"/>
            <a:ext cx="5556216" cy="1702674"/>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Liabilities</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grpSp>
        <p:nvGrpSpPr>
          <p:cNvPr id="4409" name="Google Shape;4409;p85"/>
          <p:cNvGrpSpPr/>
          <p:nvPr/>
        </p:nvGrpSpPr>
        <p:grpSpPr>
          <a:xfrm>
            <a:off x="492858" y="3906158"/>
            <a:ext cx="11291146" cy="2763574"/>
            <a:chOff x="492858" y="3906158"/>
            <a:chExt cx="11291146" cy="2763574"/>
          </a:xfrm>
        </p:grpSpPr>
        <p:sp>
          <p:nvSpPr>
            <p:cNvPr id="4410" name="Google Shape;4410;p85"/>
            <p:cNvSpPr txBox="1"/>
            <p:nvPr/>
          </p:nvSpPr>
          <p:spPr>
            <a:xfrm>
              <a:off x="492858" y="4444544"/>
              <a:ext cx="11291146" cy="2225188"/>
            </a:xfrm>
            <a:prstGeom prst="rect">
              <a:avLst/>
            </a:prstGeom>
            <a:solidFill>
              <a:srgbClr val="FCECFB"/>
            </a:solidFill>
            <a:ln w="7620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120000"/>
                </a:lnSpc>
                <a:spcBef>
                  <a:spcPts val="0"/>
                </a:spcBef>
                <a:spcAft>
                  <a:spcPts val="0"/>
                </a:spcAft>
                <a:buNone/>
              </a:pPr>
              <a:r>
                <a:rPr lang="en-US" sz="2800" b="1">
                  <a:solidFill>
                    <a:schemeClr val="dk1"/>
                  </a:solidFill>
                  <a:latin typeface="Avenir"/>
                  <a:ea typeface="Avenir"/>
                  <a:cs typeface="Avenir"/>
                  <a:sym typeface="Avenir"/>
                </a:rPr>
                <a:t> </a:t>
              </a:r>
              <a:endParaRPr/>
            </a:p>
          </p:txBody>
        </p:sp>
        <p:sp>
          <p:nvSpPr>
            <p:cNvPr id="4411" name="Google Shape;4411;p85"/>
            <p:cNvSpPr txBox="1"/>
            <p:nvPr/>
          </p:nvSpPr>
          <p:spPr>
            <a:xfrm>
              <a:off x="6220907" y="4585078"/>
              <a:ext cx="5410918" cy="1947518"/>
            </a:xfrm>
            <a:prstGeom prst="rect">
              <a:avLst/>
            </a:prstGeom>
            <a:solidFill>
              <a:srgbClr val="FFF2CC"/>
            </a:solidFill>
            <a:ln w="76200" cap="flat" cmpd="sng">
              <a:solidFill>
                <a:srgbClr val="F4B08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r" rtl="0">
                <a:lnSpc>
                  <a:spcPct val="80000"/>
                </a:lnSpc>
                <a:spcBef>
                  <a:spcPts val="0"/>
                </a:spcBef>
                <a:spcAft>
                  <a:spcPts val="0"/>
                </a:spcAft>
                <a:buNone/>
              </a:pPr>
              <a:r>
                <a:rPr lang="en-US" sz="2000" b="1">
                  <a:solidFill>
                    <a:schemeClr val="dk1"/>
                  </a:solidFill>
                  <a:latin typeface="Avenir"/>
                  <a:ea typeface="Avenir"/>
                  <a:cs typeface="Avenir"/>
                  <a:sym typeface="Avenir"/>
                </a:rPr>
                <a:t>Income</a:t>
              </a:r>
              <a:r>
                <a:rPr lang="en-US" sz="2800" b="1">
                  <a:solidFill>
                    <a:srgbClr val="FFF2CC"/>
                  </a:solidFill>
                  <a:latin typeface="Avenir"/>
                  <a:ea typeface="Avenir"/>
                  <a:cs typeface="Avenir"/>
                  <a:sym typeface="Avenir"/>
                </a:rPr>
                <a:t>_</a:t>
              </a:r>
              <a:r>
                <a:rPr lang="en-US" sz="2800" b="1">
                  <a:solidFill>
                    <a:schemeClr val="dk1"/>
                  </a:solidFill>
                  <a:latin typeface="Avenir"/>
                  <a:ea typeface="Avenir"/>
                  <a:cs typeface="Avenir"/>
                  <a:sym typeface="Avenir"/>
                </a:rPr>
                <a:t> </a:t>
              </a:r>
              <a:endParaRPr/>
            </a:p>
          </p:txBody>
        </p:sp>
        <p:sp>
          <p:nvSpPr>
            <p:cNvPr id="4412" name="Google Shape;4412;p85"/>
            <p:cNvSpPr txBox="1"/>
            <p:nvPr/>
          </p:nvSpPr>
          <p:spPr>
            <a:xfrm>
              <a:off x="642552" y="4585078"/>
              <a:ext cx="5382028" cy="1947518"/>
            </a:xfrm>
            <a:prstGeom prst="rect">
              <a:avLst/>
            </a:prstGeom>
            <a:solidFill>
              <a:srgbClr val="E1EFD8"/>
            </a:solid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2800" b="1">
                  <a:solidFill>
                    <a:srgbClr val="E1EFD8"/>
                  </a:solidFill>
                  <a:latin typeface="Avenir"/>
                  <a:ea typeface="Avenir"/>
                  <a:cs typeface="Avenir"/>
                  <a:sym typeface="Avenir"/>
                </a:rPr>
                <a:t>_</a:t>
              </a:r>
              <a:r>
                <a:rPr lang="en-US" sz="2000" b="1">
                  <a:solidFill>
                    <a:schemeClr val="dk1"/>
                  </a:solidFill>
                  <a:latin typeface="Avenir"/>
                  <a:ea typeface="Avenir"/>
                  <a:cs typeface="Avenir"/>
                  <a:sym typeface="Avenir"/>
                </a:rPr>
                <a:t>Expenses</a:t>
              </a:r>
              <a:endParaRPr sz="2800" b="1">
                <a:solidFill>
                  <a:schemeClr val="dk1"/>
                </a:solidFill>
                <a:latin typeface="Avenir"/>
                <a:ea typeface="Avenir"/>
                <a:cs typeface="Avenir"/>
                <a:sym typeface="Avenir"/>
              </a:endParaRPr>
            </a:p>
          </p:txBody>
        </p:sp>
        <p:sp>
          <p:nvSpPr>
            <p:cNvPr id="4413" name="Google Shape;4413;p85"/>
            <p:cNvSpPr txBox="1"/>
            <p:nvPr/>
          </p:nvSpPr>
          <p:spPr>
            <a:xfrm>
              <a:off x="2570770" y="6192000"/>
              <a:ext cx="158566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Advertising</a:t>
              </a:r>
              <a:endParaRPr/>
            </a:p>
          </p:txBody>
        </p:sp>
        <p:sp>
          <p:nvSpPr>
            <p:cNvPr id="4414" name="Google Shape;4414;p85"/>
            <p:cNvSpPr txBox="1"/>
            <p:nvPr/>
          </p:nvSpPr>
          <p:spPr>
            <a:xfrm>
              <a:off x="2596439" y="5339671"/>
              <a:ext cx="159056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Cleaning</a:t>
              </a:r>
              <a:endParaRPr/>
            </a:p>
          </p:txBody>
        </p:sp>
        <p:sp>
          <p:nvSpPr>
            <p:cNvPr id="4415" name="Google Shape;4415;p85"/>
            <p:cNvSpPr txBox="1"/>
            <p:nvPr/>
          </p:nvSpPr>
          <p:spPr>
            <a:xfrm>
              <a:off x="4306077" y="6192000"/>
              <a:ext cx="160641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Cost of sales</a:t>
              </a:r>
              <a:endParaRPr/>
            </a:p>
          </p:txBody>
        </p:sp>
        <p:sp>
          <p:nvSpPr>
            <p:cNvPr id="4416" name="Google Shape;4416;p85"/>
            <p:cNvSpPr txBox="1"/>
            <p:nvPr/>
          </p:nvSpPr>
          <p:spPr>
            <a:xfrm>
              <a:off x="796515" y="6192000"/>
              <a:ext cx="1603683"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Depreciation</a:t>
              </a:r>
              <a:endParaRPr/>
            </a:p>
          </p:txBody>
        </p:sp>
        <p:sp>
          <p:nvSpPr>
            <p:cNvPr id="4417" name="Google Shape;4417;p85"/>
            <p:cNvSpPr txBox="1"/>
            <p:nvPr/>
          </p:nvSpPr>
          <p:spPr>
            <a:xfrm>
              <a:off x="6295758" y="6192000"/>
              <a:ext cx="184278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Revenue (sales)</a:t>
              </a:r>
              <a:endParaRPr/>
            </a:p>
          </p:txBody>
        </p:sp>
        <p:sp>
          <p:nvSpPr>
            <p:cNvPr id="4418" name="Google Shape;4418;p85"/>
            <p:cNvSpPr txBox="1"/>
            <p:nvPr/>
          </p:nvSpPr>
          <p:spPr>
            <a:xfrm>
              <a:off x="3713366" y="5031445"/>
              <a:ext cx="412292"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50</a:t>
              </a:r>
              <a:endParaRPr/>
            </a:p>
          </p:txBody>
        </p:sp>
        <p:sp>
          <p:nvSpPr>
            <p:cNvPr id="4419" name="Google Shape;4419;p85"/>
            <p:cNvSpPr txBox="1"/>
            <p:nvPr/>
          </p:nvSpPr>
          <p:spPr>
            <a:xfrm>
              <a:off x="7429894" y="5905082"/>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700</a:t>
              </a:r>
              <a:endParaRPr/>
            </a:p>
          </p:txBody>
        </p:sp>
        <p:sp>
          <p:nvSpPr>
            <p:cNvPr id="4420" name="Google Shape;4420;p85"/>
            <p:cNvSpPr/>
            <p:nvPr/>
          </p:nvSpPr>
          <p:spPr>
            <a:xfrm rot="10800000">
              <a:off x="6984000" y="5943076"/>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4421" name="Google Shape;4421;p85"/>
            <p:cNvSpPr/>
            <p:nvPr/>
          </p:nvSpPr>
          <p:spPr>
            <a:xfrm rot="10800000">
              <a:off x="3096000" y="5082325"/>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22" name="Google Shape;4422;p85"/>
            <p:cNvSpPr txBox="1"/>
            <p:nvPr/>
          </p:nvSpPr>
          <p:spPr>
            <a:xfrm>
              <a:off x="5305894" y="5893862"/>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300</a:t>
              </a:r>
              <a:endParaRPr/>
            </a:p>
          </p:txBody>
        </p:sp>
        <p:sp>
          <p:nvSpPr>
            <p:cNvPr id="4423" name="Google Shape;4423;p85"/>
            <p:cNvSpPr/>
            <p:nvPr/>
          </p:nvSpPr>
          <p:spPr>
            <a:xfrm rot="10800000">
              <a:off x="4860000" y="5944742"/>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24" name="Google Shape;4424;p85"/>
            <p:cNvSpPr txBox="1"/>
            <p:nvPr/>
          </p:nvSpPr>
          <p:spPr>
            <a:xfrm>
              <a:off x="7429894" y="5645244"/>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600</a:t>
              </a:r>
              <a:endParaRPr/>
            </a:p>
          </p:txBody>
        </p:sp>
        <p:sp>
          <p:nvSpPr>
            <p:cNvPr id="4425" name="Google Shape;4425;p85"/>
            <p:cNvSpPr/>
            <p:nvPr/>
          </p:nvSpPr>
          <p:spPr>
            <a:xfrm rot="10800000">
              <a:off x="6984000" y="5695376"/>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4426" name="Google Shape;4426;p85"/>
            <p:cNvSpPr txBox="1"/>
            <p:nvPr/>
          </p:nvSpPr>
          <p:spPr>
            <a:xfrm>
              <a:off x="5305894" y="5646024"/>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300</a:t>
              </a:r>
              <a:endParaRPr/>
            </a:p>
          </p:txBody>
        </p:sp>
        <p:sp>
          <p:nvSpPr>
            <p:cNvPr id="4427" name="Google Shape;4427;p85"/>
            <p:cNvSpPr/>
            <p:nvPr/>
          </p:nvSpPr>
          <p:spPr>
            <a:xfrm rot="10800000">
              <a:off x="4860000" y="5696904"/>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28" name="Google Shape;4428;p85"/>
            <p:cNvSpPr txBox="1"/>
            <p:nvPr/>
          </p:nvSpPr>
          <p:spPr>
            <a:xfrm>
              <a:off x="3599552" y="4796571"/>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250</a:t>
              </a:r>
              <a:endParaRPr/>
            </a:p>
          </p:txBody>
        </p:sp>
        <p:sp>
          <p:nvSpPr>
            <p:cNvPr id="4429" name="Google Shape;4429;p85"/>
            <p:cNvSpPr/>
            <p:nvPr/>
          </p:nvSpPr>
          <p:spPr>
            <a:xfrm rot="10800000">
              <a:off x="3096000" y="4847451"/>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0" name="Google Shape;4430;p85"/>
            <p:cNvSpPr txBox="1"/>
            <p:nvPr/>
          </p:nvSpPr>
          <p:spPr>
            <a:xfrm>
              <a:off x="7543708" y="5375143"/>
              <a:ext cx="412292"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90</a:t>
              </a:r>
              <a:endParaRPr/>
            </a:p>
          </p:txBody>
        </p:sp>
        <p:sp>
          <p:nvSpPr>
            <p:cNvPr id="4431" name="Google Shape;4431;p85"/>
            <p:cNvSpPr/>
            <p:nvPr/>
          </p:nvSpPr>
          <p:spPr>
            <a:xfrm rot="10800000">
              <a:off x="6984000" y="5425275"/>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4432" name="Google Shape;4432;p85"/>
            <p:cNvSpPr txBox="1"/>
            <p:nvPr/>
          </p:nvSpPr>
          <p:spPr>
            <a:xfrm>
              <a:off x="5419708" y="5397501"/>
              <a:ext cx="412292"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30</a:t>
              </a:r>
              <a:endParaRPr/>
            </a:p>
          </p:txBody>
        </p:sp>
        <p:sp>
          <p:nvSpPr>
            <p:cNvPr id="4433" name="Google Shape;4433;p85"/>
            <p:cNvSpPr/>
            <p:nvPr/>
          </p:nvSpPr>
          <p:spPr>
            <a:xfrm rot="10800000">
              <a:off x="4860000" y="5448381"/>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4" name="Google Shape;4434;p85"/>
            <p:cNvSpPr txBox="1"/>
            <p:nvPr/>
          </p:nvSpPr>
          <p:spPr>
            <a:xfrm>
              <a:off x="1816755" y="5897226"/>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100</a:t>
              </a:r>
              <a:endParaRPr/>
            </a:p>
          </p:txBody>
        </p:sp>
        <p:sp>
          <p:nvSpPr>
            <p:cNvPr id="4435" name="Google Shape;4435;p85"/>
            <p:cNvSpPr/>
            <p:nvPr/>
          </p:nvSpPr>
          <p:spPr>
            <a:xfrm rot="10800000">
              <a:off x="1296000" y="5947200"/>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6" name="Google Shape;4436;p85"/>
            <p:cNvSpPr txBox="1"/>
            <p:nvPr/>
          </p:nvSpPr>
          <p:spPr>
            <a:xfrm>
              <a:off x="3577894" y="5912376"/>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200</a:t>
              </a:r>
              <a:endParaRPr/>
            </a:p>
          </p:txBody>
        </p:sp>
        <p:sp>
          <p:nvSpPr>
            <p:cNvPr id="4437" name="Google Shape;4437;p85"/>
            <p:cNvSpPr/>
            <p:nvPr/>
          </p:nvSpPr>
          <p:spPr>
            <a:xfrm rot="10800000">
              <a:off x="3096000" y="5963256"/>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8" name="Google Shape;4438;p85"/>
            <p:cNvSpPr/>
            <p:nvPr/>
          </p:nvSpPr>
          <p:spPr>
            <a:xfrm>
              <a:off x="6520209" y="593108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39" name="Google Shape;4439;p85"/>
            <p:cNvSpPr/>
            <p:nvPr/>
          </p:nvSpPr>
          <p:spPr>
            <a:xfrm>
              <a:off x="6484980" y="5939874"/>
              <a:ext cx="300082"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6a</a:t>
              </a:r>
              <a:endParaRPr/>
            </a:p>
          </p:txBody>
        </p:sp>
        <p:sp>
          <p:nvSpPr>
            <p:cNvPr id="4440" name="Google Shape;4440;p85"/>
            <p:cNvSpPr/>
            <p:nvPr/>
          </p:nvSpPr>
          <p:spPr>
            <a:xfrm>
              <a:off x="4412950" y="594000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41" name="Google Shape;4441;p85"/>
            <p:cNvSpPr/>
            <p:nvPr/>
          </p:nvSpPr>
          <p:spPr>
            <a:xfrm>
              <a:off x="4372912" y="5948794"/>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6b</a:t>
              </a:r>
              <a:endParaRPr/>
            </a:p>
          </p:txBody>
        </p:sp>
        <p:sp>
          <p:nvSpPr>
            <p:cNvPr id="4442" name="Google Shape;4442;p85"/>
            <p:cNvSpPr/>
            <p:nvPr/>
          </p:nvSpPr>
          <p:spPr>
            <a:xfrm>
              <a:off x="4417434" y="5681195"/>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43" name="Google Shape;4443;p85"/>
            <p:cNvSpPr/>
            <p:nvPr/>
          </p:nvSpPr>
          <p:spPr>
            <a:xfrm>
              <a:off x="4377396" y="5689989"/>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8b</a:t>
              </a:r>
              <a:endParaRPr/>
            </a:p>
          </p:txBody>
        </p:sp>
        <p:sp>
          <p:nvSpPr>
            <p:cNvPr id="4444" name="Google Shape;4444;p85"/>
            <p:cNvSpPr/>
            <p:nvPr/>
          </p:nvSpPr>
          <p:spPr>
            <a:xfrm>
              <a:off x="4416222" y="5432633"/>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45" name="Google Shape;4445;p85"/>
            <p:cNvSpPr/>
            <p:nvPr/>
          </p:nvSpPr>
          <p:spPr>
            <a:xfrm>
              <a:off x="4345727" y="5441427"/>
              <a:ext cx="370614" cy="33855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12b</a:t>
              </a:r>
              <a:endParaRPr/>
            </a:p>
            <a:p>
              <a:pPr marL="0" marR="0" lvl="0" indent="0" algn="ctr" rtl="0">
                <a:spcBef>
                  <a:spcPts val="0"/>
                </a:spcBef>
                <a:spcAft>
                  <a:spcPts val="0"/>
                </a:spcAft>
                <a:buNone/>
              </a:pPr>
              <a:endParaRPr sz="800" b="1">
                <a:solidFill>
                  <a:srgbClr val="7F7F7F"/>
                </a:solidFill>
                <a:latin typeface="Avenir"/>
                <a:ea typeface="Avenir"/>
                <a:cs typeface="Avenir"/>
                <a:sym typeface="Avenir"/>
              </a:endParaRPr>
            </a:p>
          </p:txBody>
        </p:sp>
        <p:sp>
          <p:nvSpPr>
            <p:cNvPr id="4446" name="Google Shape;4446;p85"/>
            <p:cNvSpPr/>
            <p:nvPr/>
          </p:nvSpPr>
          <p:spPr>
            <a:xfrm>
              <a:off x="6520209" y="5676798"/>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47" name="Google Shape;4447;p85"/>
            <p:cNvSpPr/>
            <p:nvPr/>
          </p:nvSpPr>
          <p:spPr>
            <a:xfrm>
              <a:off x="6484980" y="5685592"/>
              <a:ext cx="300082"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8a</a:t>
              </a:r>
              <a:endParaRPr/>
            </a:p>
          </p:txBody>
        </p:sp>
        <p:sp>
          <p:nvSpPr>
            <p:cNvPr id="4448" name="Google Shape;4448;p85"/>
            <p:cNvSpPr/>
            <p:nvPr/>
          </p:nvSpPr>
          <p:spPr>
            <a:xfrm>
              <a:off x="6522731" y="5416132"/>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49" name="Google Shape;4449;p85"/>
            <p:cNvSpPr/>
            <p:nvPr/>
          </p:nvSpPr>
          <p:spPr>
            <a:xfrm>
              <a:off x="6448807" y="5424926"/>
              <a:ext cx="36099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12a</a:t>
              </a:r>
              <a:endParaRPr/>
            </a:p>
          </p:txBody>
        </p:sp>
        <p:sp>
          <p:nvSpPr>
            <p:cNvPr id="4450" name="Google Shape;4450;p85"/>
            <p:cNvSpPr/>
            <p:nvPr/>
          </p:nvSpPr>
          <p:spPr>
            <a:xfrm>
              <a:off x="2689441" y="5057611"/>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51" name="Google Shape;4451;p85"/>
            <p:cNvSpPr/>
            <p:nvPr/>
          </p:nvSpPr>
          <p:spPr>
            <a:xfrm>
              <a:off x="2681463" y="5066405"/>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7</a:t>
              </a:r>
              <a:endParaRPr/>
            </a:p>
          </p:txBody>
        </p:sp>
        <p:sp>
          <p:nvSpPr>
            <p:cNvPr id="4452" name="Google Shape;4452;p85"/>
            <p:cNvSpPr/>
            <p:nvPr/>
          </p:nvSpPr>
          <p:spPr>
            <a:xfrm>
              <a:off x="2688608" y="4808856"/>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53" name="Google Shape;4453;p85"/>
            <p:cNvSpPr/>
            <p:nvPr/>
          </p:nvSpPr>
          <p:spPr>
            <a:xfrm>
              <a:off x="2680630" y="4817650"/>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9</a:t>
              </a:r>
              <a:endParaRPr/>
            </a:p>
          </p:txBody>
        </p:sp>
        <p:sp>
          <p:nvSpPr>
            <p:cNvPr id="4454" name="Google Shape;4454;p85"/>
            <p:cNvSpPr/>
            <p:nvPr/>
          </p:nvSpPr>
          <p:spPr>
            <a:xfrm>
              <a:off x="892445" y="594000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55" name="Google Shape;4455;p85"/>
            <p:cNvSpPr/>
            <p:nvPr/>
          </p:nvSpPr>
          <p:spPr>
            <a:xfrm>
              <a:off x="852407" y="5948794"/>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14</a:t>
              </a:r>
              <a:endParaRPr/>
            </a:p>
          </p:txBody>
        </p:sp>
        <p:sp>
          <p:nvSpPr>
            <p:cNvPr id="4456" name="Google Shape;4456;p85"/>
            <p:cNvSpPr/>
            <p:nvPr/>
          </p:nvSpPr>
          <p:spPr>
            <a:xfrm>
              <a:off x="2660434" y="594000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457" name="Google Shape;4457;p85"/>
            <p:cNvSpPr/>
            <p:nvPr/>
          </p:nvSpPr>
          <p:spPr>
            <a:xfrm>
              <a:off x="2620396" y="5948794"/>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15</a:t>
              </a:r>
              <a:endParaRPr/>
            </a:p>
          </p:txBody>
        </p:sp>
        <p:sp>
          <p:nvSpPr>
            <p:cNvPr id="4458" name="Google Shape;4458;p85"/>
            <p:cNvSpPr/>
            <p:nvPr/>
          </p:nvSpPr>
          <p:spPr>
            <a:xfrm flipH="1">
              <a:off x="3366000" y="4767598"/>
              <a:ext cx="810000" cy="613673"/>
            </a:xfrm>
            <a:prstGeom prst="corner">
              <a:avLst>
                <a:gd name="adj1" fmla="val 9300"/>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59" name="Google Shape;4459;p85"/>
            <p:cNvSpPr/>
            <p:nvPr/>
          </p:nvSpPr>
          <p:spPr>
            <a:xfrm>
              <a:off x="2556000" y="4767598"/>
              <a:ext cx="810000" cy="613673"/>
            </a:xfrm>
            <a:prstGeom prst="corner">
              <a:avLst>
                <a:gd name="adj1" fmla="val 9300"/>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60" name="Google Shape;4460;p85"/>
            <p:cNvSpPr/>
            <p:nvPr/>
          </p:nvSpPr>
          <p:spPr>
            <a:xfrm flipH="1">
              <a:off x="3366000" y="5633028"/>
              <a:ext cx="810000" cy="613673"/>
            </a:xfrm>
            <a:prstGeom prst="corner">
              <a:avLst>
                <a:gd name="adj1" fmla="val 9300"/>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61" name="Google Shape;4461;p85"/>
            <p:cNvSpPr/>
            <p:nvPr/>
          </p:nvSpPr>
          <p:spPr>
            <a:xfrm>
              <a:off x="2556000" y="5633028"/>
              <a:ext cx="810000" cy="613673"/>
            </a:xfrm>
            <a:prstGeom prst="corner">
              <a:avLst>
                <a:gd name="adj1" fmla="val 9300"/>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62" name="Google Shape;4462;p85"/>
            <p:cNvSpPr/>
            <p:nvPr/>
          </p:nvSpPr>
          <p:spPr>
            <a:xfrm flipH="1">
              <a:off x="1598356" y="5618680"/>
              <a:ext cx="810000" cy="613673"/>
            </a:xfrm>
            <a:prstGeom prst="corner">
              <a:avLst>
                <a:gd name="adj1" fmla="val 9300"/>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63" name="Google Shape;4463;p85"/>
            <p:cNvSpPr/>
            <p:nvPr/>
          </p:nvSpPr>
          <p:spPr>
            <a:xfrm>
              <a:off x="788356" y="5618680"/>
              <a:ext cx="810000" cy="613673"/>
            </a:xfrm>
            <a:prstGeom prst="corner">
              <a:avLst>
                <a:gd name="adj1" fmla="val 9300"/>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64" name="Google Shape;4464;p85"/>
            <p:cNvSpPr/>
            <p:nvPr/>
          </p:nvSpPr>
          <p:spPr>
            <a:xfrm flipH="1">
              <a:off x="5102494" y="5448383"/>
              <a:ext cx="810000" cy="796274"/>
            </a:xfrm>
            <a:prstGeom prst="corner">
              <a:avLst>
                <a:gd name="adj1" fmla="val 7267"/>
                <a:gd name="adj2" fmla="val 7888"/>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65" name="Google Shape;4465;p85"/>
            <p:cNvSpPr/>
            <p:nvPr/>
          </p:nvSpPr>
          <p:spPr>
            <a:xfrm>
              <a:off x="4292494" y="5448381"/>
              <a:ext cx="810000" cy="796275"/>
            </a:xfrm>
            <a:prstGeom prst="corner">
              <a:avLst>
                <a:gd name="adj1" fmla="val 7268"/>
                <a:gd name="adj2" fmla="val 7888"/>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66" name="Google Shape;4466;p85"/>
            <p:cNvSpPr/>
            <p:nvPr/>
          </p:nvSpPr>
          <p:spPr>
            <a:xfrm flipH="1">
              <a:off x="7192456" y="5448383"/>
              <a:ext cx="810000" cy="796274"/>
            </a:xfrm>
            <a:prstGeom prst="corner">
              <a:avLst>
                <a:gd name="adj1" fmla="val 7267"/>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67" name="Google Shape;4467;p85"/>
            <p:cNvSpPr/>
            <p:nvPr/>
          </p:nvSpPr>
          <p:spPr>
            <a:xfrm>
              <a:off x="6382456" y="5448381"/>
              <a:ext cx="810000" cy="796275"/>
            </a:xfrm>
            <a:prstGeom prst="corner">
              <a:avLst>
                <a:gd name="adj1" fmla="val 7268"/>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cxnSp>
          <p:nvCxnSpPr>
            <p:cNvPr id="4468" name="Google Shape;4468;p85"/>
            <p:cNvCxnSpPr>
              <a:stCxn id="4407" idx="2"/>
            </p:cNvCxnSpPr>
            <p:nvPr/>
          </p:nvCxnSpPr>
          <p:spPr>
            <a:xfrm>
              <a:off x="7183267" y="3906158"/>
              <a:ext cx="8700" cy="566100"/>
            </a:xfrm>
            <a:prstGeom prst="straightConnector1">
              <a:avLst/>
            </a:prstGeom>
            <a:noFill/>
            <a:ln w="76200" cap="flat" cmpd="sng">
              <a:solidFill>
                <a:srgbClr val="942093"/>
              </a:solidFill>
              <a:prstDash val="solid"/>
              <a:miter lim="800000"/>
              <a:headEnd type="none" w="sm" len="sm"/>
              <a:tailEnd type="none" w="sm" len="sm"/>
            </a:ln>
          </p:spPr>
        </p:cxnSp>
      </p:grpSp>
      <p:sp>
        <p:nvSpPr>
          <p:cNvPr id="4469" name="Google Shape;4469;p85"/>
          <p:cNvSpPr txBox="1"/>
          <p:nvPr/>
        </p:nvSpPr>
        <p:spPr>
          <a:xfrm>
            <a:off x="492858" y="773769"/>
            <a:ext cx="5544457" cy="3542737"/>
          </a:xfrm>
          <a:prstGeom prst="rect">
            <a:avLst/>
          </a:prstGeom>
          <a:solidFill>
            <a:srgbClr val="E1EFD8"/>
          </a:solidFill>
          <a:ln w="76200" cap="flat" cmpd="sng">
            <a:solidFill>
              <a:srgbClr val="A8D08C"/>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2800" b="1">
                <a:solidFill>
                  <a:srgbClr val="E1EFD8"/>
                </a:solidFill>
                <a:latin typeface="Avenir"/>
                <a:ea typeface="Avenir"/>
                <a:cs typeface="Avenir"/>
                <a:sym typeface="Avenir"/>
              </a:rPr>
              <a:t>_</a:t>
            </a:r>
            <a:r>
              <a:rPr lang="en-US" sz="2000" b="1">
                <a:solidFill>
                  <a:schemeClr val="dk1"/>
                </a:solidFill>
                <a:latin typeface="Avenir"/>
                <a:ea typeface="Avenir"/>
                <a:cs typeface="Avenir"/>
                <a:sym typeface="Avenir"/>
              </a:rPr>
              <a:t>Assets</a:t>
            </a:r>
            <a:endParaRPr sz="2800" b="1">
              <a:solidFill>
                <a:schemeClr val="dk1"/>
              </a:solidFill>
              <a:latin typeface="Avenir"/>
              <a:ea typeface="Avenir"/>
              <a:cs typeface="Avenir"/>
              <a:sym typeface="Avenir"/>
            </a:endParaRPr>
          </a:p>
        </p:txBody>
      </p:sp>
      <p:sp>
        <p:nvSpPr>
          <p:cNvPr id="4470" name="Google Shape;4470;p85"/>
          <p:cNvSpPr/>
          <p:nvPr/>
        </p:nvSpPr>
        <p:spPr>
          <a:xfrm flipH="1">
            <a:off x="5058000" y="2850495"/>
            <a:ext cx="810000" cy="1116000"/>
          </a:xfrm>
          <a:prstGeom prst="corner">
            <a:avLst>
              <a:gd name="adj1" fmla="val 7073"/>
              <a:gd name="adj2" fmla="val 694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71" name="Google Shape;4471;p85"/>
          <p:cNvSpPr/>
          <p:nvPr/>
        </p:nvSpPr>
        <p:spPr>
          <a:xfrm>
            <a:off x="4248000" y="2850495"/>
            <a:ext cx="810000" cy="1116000"/>
          </a:xfrm>
          <a:prstGeom prst="corner">
            <a:avLst>
              <a:gd name="adj1" fmla="val 7073"/>
              <a:gd name="adj2" fmla="val 694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72" name="Google Shape;4472;p85"/>
          <p:cNvSpPr/>
          <p:nvPr/>
        </p:nvSpPr>
        <p:spPr>
          <a:xfrm flipH="1">
            <a:off x="3268800" y="957790"/>
            <a:ext cx="810000" cy="3000908"/>
          </a:xfrm>
          <a:prstGeom prst="corner">
            <a:avLst>
              <a:gd name="adj1" fmla="val 6497"/>
              <a:gd name="adj2" fmla="val 694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venir"/>
              <a:ea typeface="Avenir"/>
              <a:cs typeface="Avenir"/>
              <a:sym typeface="Avenir"/>
            </a:endParaRPr>
          </a:p>
        </p:txBody>
      </p:sp>
      <p:sp>
        <p:nvSpPr>
          <p:cNvPr id="4473" name="Google Shape;4473;p85"/>
          <p:cNvSpPr/>
          <p:nvPr/>
        </p:nvSpPr>
        <p:spPr>
          <a:xfrm>
            <a:off x="2458800" y="957790"/>
            <a:ext cx="810000" cy="3000908"/>
          </a:xfrm>
          <a:prstGeom prst="corner">
            <a:avLst>
              <a:gd name="adj1" fmla="val 6497"/>
              <a:gd name="adj2" fmla="val 7336"/>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venir"/>
              <a:ea typeface="Avenir"/>
              <a:cs typeface="Avenir"/>
              <a:sym typeface="Avenir"/>
            </a:endParaRPr>
          </a:p>
        </p:txBody>
      </p:sp>
      <p:sp>
        <p:nvSpPr>
          <p:cNvPr id="4474" name="Google Shape;4474;p85"/>
          <p:cNvSpPr/>
          <p:nvPr/>
        </p:nvSpPr>
        <p:spPr>
          <a:xfrm flipH="1">
            <a:off x="1483200" y="3340800"/>
            <a:ext cx="810000" cy="613673"/>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75" name="Google Shape;4475;p85"/>
          <p:cNvSpPr/>
          <p:nvPr/>
        </p:nvSpPr>
        <p:spPr>
          <a:xfrm>
            <a:off x="673200" y="3340800"/>
            <a:ext cx="810000" cy="613673"/>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476" name="Google Shape;4476;p85"/>
          <p:cNvSpPr txBox="1"/>
          <p:nvPr/>
        </p:nvSpPr>
        <p:spPr>
          <a:xfrm>
            <a:off x="2551146" y="3924000"/>
            <a:ext cx="139333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Cash at bank</a:t>
            </a:r>
            <a:endParaRPr/>
          </a:p>
        </p:txBody>
      </p:sp>
      <p:sp>
        <p:nvSpPr>
          <p:cNvPr id="4477" name="Google Shape;4477;p85"/>
          <p:cNvSpPr txBox="1"/>
          <p:nvPr/>
        </p:nvSpPr>
        <p:spPr>
          <a:xfrm>
            <a:off x="4292494" y="3924000"/>
            <a:ext cx="153177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Inventory</a:t>
            </a:r>
            <a:endParaRPr/>
          </a:p>
        </p:txBody>
      </p:sp>
      <p:sp>
        <p:nvSpPr>
          <p:cNvPr id="4478" name="Google Shape;4478;p85"/>
          <p:cNvSpPr txBox="1"/>
          <p:nvPr/>
        </p:nvSpPr>
        <p:spPr>
          <a:xfrm>
            <a:off x="4101806" y="2478490"/>
            <a:ext cx="191138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Deferred expenses</a:t>
            </a:r>
            <a:endParaRPr/>
          </a:p>
        </p:txBody>
      </p:sp>
      <p:sp>
        <p:nvSpPr>
          <p:cNvPr id="4479" name="Google Shape;4479;p85"/>
          <p:cNvSpPr txBox="1"/>
          <p:nvPr/>
        </p:nvSpPr>
        <p:spPr>
          <a:xfrm>
            <a:off x="661400" y="3924000"/>
            <a:ext cx="1647322"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Equipment</a:t>
            </a:r>
            <a:endParaRPr/>
          </a:p>
        </p:txBody>
      </p:sp>
      <p:sp>
        <p:nvSpPr>
          <p:cNvPr id="4480" name="Google Shape;4480;p85"/>
          <p:cNvSpPr txBox="1"/>
          <p:nvPr/>
        </p:nvSpPr>
        <p:spPr>
          <a:xfrm>
            <a:off x="10028967" y="2029411"/>
            <a:ext cx="159368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Bank loan</a:t>
            </a:r>
            <a:endParaRPr/>
          </a:p>
        </p:txBody>
      </p:sp>
      <p:sp>
        <p:nvSpPr>
          <p:cNvPr id="4481" name="Google Shape;4481;p85"/>
          <p:cNvSpPr txBox="1"/>
          <p:nvPr/>
        </p:nvSpPr>
        <p:spPr>
          <a:xfrm>
            <a:off x="8114313" y="2028286"/>
            <a:ext cx="1864201"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Deferred income</a:t>
            </a:r>
            <a:endParaRPr/>
          </a:p>
        </p:txBody>
      </p:sp>
      <p:sp>
        <p:nvSpPr>
          <p:cNvPr id="4482" name="Google Shape;4482;p85"/>
          <p:cNvSpPr txBox="1"/>
          <p:nvPr/>
        </p:nvSpPr>
        <p:spPr>
          <a:xfrm>
            <a:off x="3184560" y="3614709"/>
            <a:ext cx="81144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30,000</a:t>
            </a:r>
            <a:endParaRPr/>
          </a:p>
        </p:txBody>
      </p:sp>
      <p:sp>
        <p:nvSpPr>
          <p:cNvPr id="4483" name="Google Shape;4483;p85"/>
          <p:cNvSpPr txBox="1"/>
          <p:nvPr/>
        </p:nvSpPr>
        <p:spPr>
          <a:xfrm>
            <a:off x="3184560" y="3344709"/>
            <a:ext cx="81144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20,000</a:t>
            </a:r>
            <a:endParaRPr/>
          </a:p>
        </p:txBody>
      </p:sp>
      <p:sp>
        <p:nvSpPr>
          <p:cNvPr id="4484" name="Google Shape;4484;p85"/>
          <p:cNvSpPr txBox="1"/>
          <p:nvPr/>
        </p:nvSpPr>
        <p:spPr>
          <a:xfrm>
            <a:off x="3298373" y="3074709"/>
            <a:ext cx="697627"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5,000</a:t>
            </a:r>
            <a:endParaRPr/>
          </a:p>
        </p:txBody>
      </p:sp>
      <p:sp>
        <p:nvSpPr>
          <p:cNvPr id="4485" name="Google Shape;4485;p85"/>
          <p:cNvSpPr txBox="1"/>
          <p:nvPr/>
        </p:nvSpPr>
        <p:spPr>
          <a:xfrm>
            <a:off x="3469894" y="2534709"/>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700</a:t>
            </a:r>
            <a:endParaRPr/>
          </a:p>
        </p:txBody>
      </p:sp>
      <p:sp>
        <p:nvSpPr>
          <p:cNvPr id="4486" name="Google Shape;4486;p85"/>
          <p:cNvSpPr txBox="1"/>
          <p:nvPr/>
        </p:nvSpPr>
        <p:spPr>
          <a:xfrm>
            <a:off x="3583708" y="2264709"/>
            <a:ext cx="412292"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50</a:t>
            </a:r>
            <a:endParaRPr/>
          </a:p>
        </p:txBody>
      </p:sp>
      <p:sp>
        <p:nvSpPr>
          <p:cNvPr id="4487" name="Google Shape;4487;p85"/>
          <p:cNvSpPr txBox="1"/>
          <p:nvPr/>
        </p:nvSpPr>
        <p:spPr>
          <a:xfrm>
            <a:off x="3469894" y="1724709"/>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600</a:t>
            </a:r>
            <a:endParaRPr/>
          </a:p>
        </p:txBody>
      </p:sp>
      <p:sp>
        <p:nvSpPr>
          <p:cNvPr id="4488" name="Google Shape;4488;p85"/>
          <p:cNvSpPr txBox="1"/>
          <p:nvPr/>
        </p:nvSpPr>
        <p:spPr>
          <a:xfrm>
            <a:off x="3469894" y="1454709"/>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800</a:t>
            </a:r>
            <a:endParaRPr/>
          </a:p>
        </p:txBody>
      </p:sp>
      <p:sp>
        <p:nvSpPr>
          <p:cNvPr id="4489" name="Google Shape;4489;p85"/>
          <p:cNvSpPr txBox="1"/>
          <p:nvPr/>
        </p:nvSpPr>
        <p:spPr>
          <a:xfrm>
            <a:off x="3184560" y="2804709"/>
            <a:ext cx="81144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10,000</a:t>
            </a:r>
            <a:endParaRPr/>
          </a:p>
        </p:txBody>
      </p:sp>
      <p:sp>
        <p:nvSpPr>
          <p:cNvPr id="4490" name="Google Shape;4490;p85"/>
          <p:cNvSpPr txBox="1"/>
          <p:nvPr/>
        </p:nvSpPr>
        <p:spPr>
          <a:xfrm>
            <a:off x="10026435" y="3924000"/>
            <a:ext cx="16200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contributed capital</a:t>
            </a:r>
            <a:endParaRPr/>
          </a:p>
        </p:txBody>
      </p:sp>
      <p:sp>
        <p:nvSpPr>
          <p:cNvPr id="4491" name="Google Shape;4491;p85"/>
          <p:cNvSpPr/>
          <p:nvPr/>
        </p:nvSpPr>
        <p:spPr>
          <a:xfrm>
            <a:off x="3011371" y="1526708"/>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2" name="Google Shape;4492;p85"/>
          <p:cNvSpPr/>
          <p:nvPr/>
        </p:nvSpPr>
        <p:spPr>
          <a:xfrm rot="10800000">
            <a:off x="3011371" y="1774033"/>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3" name="Google Shape;4493;p85"/>
          <p:cNvSpPr/>
          <p:nvPr/>
        </p:nvSpPr>
        <p:spPr>
          <a:xfrm>
            <a:off x="3011371" y="2336708"/>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4" name="Google Shape;4494;p85"/>
          <p:cNvSpPr/>
          <p:nvPr/>
        </p:nvSpPr>
        <p:spPr>
          <a:xfrm rot="10800000">
            <a:off x="3011371" y="2584033"/>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5" name="Google Shape;4495;p85"/>
          <p:cNvSpPr/>
          <p:nvPr/>
        </p:nvSpPr>
        <p:spPr>
          <a:xfrm>
            <a:off x="3011371" y="2876708"/>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6" name="Google Shape;4496;p85"/>
          <p:cNvSpPr/>
          <p:nvPr/>
        </p:nvSpPr>
        <p:spPr>
          <a:xfrm>
            <a:off x="3011371" y="3146708"/>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7" name="Google Shape;4497;p85"/>
          <p:cNvSpPr/>
          <p:nvPr/>
        </p:nvSpPr>
        <p:spPr>
          <a:xfrm rot="10800000">
            <a:off x="3011371" y="3394033"/>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8" name="Google Shape;4498;p85"/>
          <p:cNvSpPr/>
          <p:nvPr/>
        </p:nvSpPr>
        <p:spPr>
          <a:xfrm rot="10800000">
            <a:off x="3011371" y="3664033"/>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99" name="Google Shape;4499;p85"/>
          <p:cNvSpPr txBox="1"/>
          <p:nvPr/>
        </p:nvSpPr>
        <p:spPr>
          <a:xfrm>
            <a:off x="10785455" y="1718255"/>
            <a:ext cx="81144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30,000</a:t>
            </a:r>
            <a:endParaRPr/>
          </a:p>
        </p:txBody>
      </p:sp>
      <p:sp>
        <p:nvSpPr>
          <p:cNvPr id="4500" name="Google Shape;4500;p85"/>
          <p:cNvSpPr/>
          <p:nvPr/>
        </p:nvSpPr>
        <p:spPr>
          <a:xfrm rot="10800000">
            <a:off x="10548000" y="1757882"/>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4501" name="Google Shape;4501;p85"/>
          <p:cNvSpPr txBox="1"/>
          <p:nvPr/>
        </p:nvSpPr>
        <p:spPr>
          <a:xfrm>
            <a:off x="10776926" y="3605780"/>
            <a:ext cx="81144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20,000</a:t>
            </a:r>
            <a:endParaRPr/>
          </a:p>
        </p:txBody>
      </p:sp>
      <p:sp>
        <p:nvSpPr>
          <p:cNvPr id="4502" name="Google Shape;4502;p85"/>
          <p:cNvSpPr txBox="1"/>
          <p:nvPr/>
        </p:nvSpPr>
        <p:spPr>
          <a:xfrm>
            <a:off x="10732895" y="1448255"/>
            <a:ext cx="86400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5,000</a:t>
            </a:r>
            <a:endParaRPr/>
          </a:p>
        </p:txBody>
      </p:sp>
      <p:sp>
        <p:nvSpPr>
          <p:cNvPr id="4503" name="Google Shape;4503;p85"/>
          <p:cNvSpPr/>
          <p:nvPr/>
        </p:nvSpPr>
        <p:spPr>
          <a:xfrm>
            <a:off x="10548000" y="1505882"/>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48135"/>
              </a:solidFill>
              <a:latin typeface="Calibri"/>
              <a:ea typeface="Calibri"/>
              <a:cs typeface="Calibri"/>
              <a:sym typeface="Calibri"/>
            </a:endParaRPr>
          </a:p>
        </p:txBody>
      </p:sp>
      <p:sp>
        <p:nvSpPr>
          <p:cNvPr id="4504" name="Google Shape;4504;p85"/>
          <p:cNvSpPr txBox="1"/>
          <p:nvPr/>
        </p:nvSpPr>
        <p:spPr>
          <a:xfrm>
            <a:off x="4984560" y="3610092"/>
            <a:ext cx="81144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10,000</a:t>
            </a:r>
            <a:endParaRPr/>
          </a:p>
        </p:txBody>
      </p:sp>
      <p:sp>
        <p:nvSpPr>
          <p:cNvPr id="4505" name="Google Shape;4505;p85"/>
          <p:cNvSpPr txBox="1"/>
          <p:nvPr/>
        </p:nvSpPr>
        <p:spPr>
          <a:xfrm>
            <a:off x="3469894" y="1994709"/>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100</a:t>
            </a:r>
            <a:endParaRPr/>
          </a:p>
        </p:txBody>
      </p:sp>
      <p:sp>
        <p:nvSpPr>
          <p:cNvPr id="4506" name="Google Shape;4506;p85"/>
          <p:cNvSpPr/>
          <p:nvPr/>
        </p:nvSpPr>
        <p:spPr>
          <a:xfrm rot="10800000">
            <a:off x="3007666" y="2049930"/>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07" name="Google Shape;4507;p85"/>
          <p:cNvSpPr txBox="1"/>
          <p:nvPr/>
        </p:nvSpPr>
        <p:spPr>
          <a:xfrm>
            <a:off x="7315968" y="1713373"/>
            <a:ext cx="697627"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6,000</a:t>
            </a:r>
            <a:endParaRPr/>
          </a:p>
        </p:txBody>
      </p:sp>
      <p:sp>
        <p:nvSpPr>
          <p:cNvPr id="4508" name="Google Shape;4508;p85"/>
          <p:cNvSpPr/>
          <p:nvPr/>
        </p:nvSpPr>
        <p:spPr>
          <a:xfrm rot="10800000">
            <a:off x="6984000" y="1749046"/>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4509" name="Google Shape;4509;p85"/>
          <p:cNvSpPr txBox="1"/>
          <p:nvPr/>
        </p:nvSpPr>
        <p:spPr>
          <a:xfrm>
            <a:off x="1501235" y="3588336"/>
            <a:ext cx="697627"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6,000</a:t>
            </a:r>
            <a:endParaRPr/>
          </a:p>
        </p:txBody>
      </p:sp>
      <p:sp>
        <p:nvSpPr>
          <p:cNvPr id="4510" name="Google Shape;4510;p85"/>
          <p:cNvSpPr/>
          <p:nvPr/>
        </p:nvSpPr>
        <p:spPr>
          <a:xfrm rot="10800000">
            <a:off x="1249425" y="3637660"/>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1" name="Google Shape;4511;p85"/>
          <p:cNvSpPr txBox="1"/>
          <p:nvPr/>
        </p:nvSpPr>
        <p:spPr>
          <a:xfrm>
            <a:off x="5269894" y="3365080"/>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300</a:t>
            </a:r>
            <a:endParaRPr/>
          </a:p>
        </p:txBody>
      </p:sp>
      <p:sp>
        <p:nvSpPr>
          <p:cNvPr id="4512" name="Google Shape;4512;p85"/>
          <p:cNvSpPr/>
          <p:nvPr/>
        </p:nvSpPr>
        <p:spPr>
          <a:xfrm>
            <a:off x="4824000" y="3429341"/>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3" name="Google Shape;4513;p85"/>
          <p:cNvSpPr/>
          <p:nvPr/>
        </p:nvSpPr>
        <p:spPr>
          <a:xfrm rot="10800000">
            <a:off x="4824000" y="3662508"/>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4" name="Google Shape;4514;p85"/>
          <p:cNvSpPr txBox="1"/>
          <p:nvPr/>
        </p:nvSpPr>
        <p:spPr>
          <a:xfrm>
            <a:off x="5269894" y="1222069"/>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600</a:t>
            </a:r>
            <a:endParaRPr/>
          </a:p>
        </p:txBody>
      </p:sp>
      <p:sp>
        <p:nvSpPr>
          <p:cNvPr id="4515" name="Google Shape;4515;p85"/>
          <p:cNvSpPr/>
          <p:nvPr/>
        </p:nvSpPr>
        <p:spPr>
          <a:xfrm rot="10800000">
            <a:off x="4824771" y="1263348"/>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6" name="Google Shape;4516;p85"/>
          <p:cNvSpPr txBox="1"/>
          <p:nvPr/>
        </p:nvSpPr>
        <p:spPr>
          <a:xfrm>
            <a:off x="5269894" y="3118060"/>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300</a:t>
            </a:r>
            <a:endParaRPr/>
          </a:p>
        </p:txBody>
      </p:sp>
      <p:sp>
        <p:nvSpPr>
          <p:cNvPr id="4517" name="Google Shape;4517;p85"/>
          <p:cNvSpPr/>
          <p:nvPr/>
        </p:nvSpPr>
        <p:spPr>
          <a:xfrm>
            <a:off x="4824000" y="3182321"/>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8" name="Google Shape;4518;p85"/>
          <p:cNvSpPr txBox="1"/>
          <p:nvPr/>
        </p:nvSpPr>
        <p:spPr>
          <a:xfrm>
            <a:off x="7487489" y="1462635"/>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250</a:t>
            </a:r>
            <a:endParaRPr/>
          </a:p>
        </p:txBody>
      </p:sp>
      <p:sp>
        <p:nvSpPr>
          <p:cNvPr id="4519" name="Google Shape;4519;p85"/>
          <p:cNvSpPr/>
          <p:nvPr/>
        </p:nvSpPr>
        <p:spPr>
          <a:xfrm rot="10800000">
            <a:off x="6984000" y="1498308"/>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4520" name="Google Shape;4520;p85"/>
          <p:cNvSpPr txBox="1"/>
          <p:nvPr/>
        </p:nvSpPr>
        <p:spPr>
          <a:xfrm>
            <a:off x="9285817" y="1715500"/>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100</a:t>
            </a:r>
            <a:endParaRPr/>
          </a:p>
        </p:txBody>
      </p:sp>
      <p:sp>
        <p:nvSpPr>
          <p:cNvPr id="4521" name="Google Shape;4521;p85"/>
          <p:cNvSpPr/>
          <p:nvPr/>
        </p:nvSpPr>
        <p:spPr>
          <a:xfrm rot="10800000">
            <a:off x="8784000" y="1751173"/>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4522" name="Google Shape;4522;p85"/>
          <p:cNvSpPr txBox="1"/>
          <p:nvPr/>
        </p:nvSpPr>
        <p:spPr>
          <a:xfrm>
            <a:off x="5269894" y="965882"/>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600</a:t>
            </a:r>
            <a:endParaRPr/>
          </a:p>
        </p:txBody>
      </p:sp>
      <p:sp>
        <p:nvSpPr>
          <p:cNvPr id="4523" name="Google Shape;4523;p85"/>
          <p:cNvSpPr/>
          <p:nvPr/>
        </p:nvSpPr>
        <p:spPr>
          <a:xfrm>
            <a:off x="4825605" y="1022098"/>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4" name="Google Shape;4524;p85"/>
          <p:cNvSpPr txBox="1"/>
          <p:nvPr/>
        </p:nvSpPr>
        <p:spPr>
          <a:xfrm>
            <a:off x="8947923" y="1452209"/>
            <a:ext cx="86400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90</a:t>
            </a:r>
            <a:endParaRPr/>
          </a:p>
        </p:txBody>
      </p:sp>
      <p:sp>
        <p:nvSpPr>
          <p:cNvPr id="4525" name="Google Shape;4525;p85"/>
          <p:cNvSpPr/>
          <p:nvPr/>
        </p:nvSpPr>
        <p:spPr>
          <a:xfrm>
            <a:off x="8784000" y="1505882"/>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48135"/>
              </a:solidFill>
              <a:latin typeface="Calibri"/>
              <a:ea typeface="Calibri"/>
              <a:cs typeface="Calibri"/>
              <a:sym typeface="Calibri"/>
            </a:endParaRPr>
          </a:p>
        </p:txBody>
      </p:sp>
      <p:sp>
        <p:nvSpPr>
          <p:cNvPr id="4526" name="Google Shape;4526;p85"/>
          <p:cNvSpPr txBox="1"/>
          <p:nvPr/>
        </p:nvSpPr>
        <p:spPr>
          <a:xfrm>
            <a:off x="5383708" y="2869537"/>
            <a:ext cx="412292"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30</a:t>
            </a:r>
            <a:endParaRPr/>
          </a:p>
        </p:txBody>
      </p:sp>
      <p:sp>
        <p:nvSpPr>
          <p:cNvPr id="4527" name="Google Shape;4527;p85"/>
          <p:cNvSpPr/>
          <p:nvPr/>
        </p:nvSpPr>
        <p:spPr>
          <a:xfrm>
            <a:off x="4824000" y="2933798"/>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8" name="Google Shape;4528;p85"/>
          <p:cNvSpPr txBox="1"/>
          <p:nvPr/>
        </p:nvSpPr>
        <p:spPr>
          <a:xfrm>
            <a:off x="5269894" y="2157099"/>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800</a:t>
            </a:r>
            <a:endParaRPr/>
          </a:p>
        </p:txBody>
      </p:sp>
      <p:sp>
        <p:nvSpPr>
          <p:cNvPr id="4529" name="Google Shape;4529;p85"/>
          <p:cNvSpPr/>
          <p:nvPr/>
        </p:nvSpPr>
        <p:spPr>
          <a:xfrm rot="10800000">
            <a:off x="4824000" y="2198378"/>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30" name="Google Shape;4530;p85"/>
          <p:cNvSpPr txBox="1"/>
          <p:nvPr/>
        </p:nvSpPr>
        <p:spPr>
          <a:xfrm>
            <a:off x="5269894" y="1906095"/>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200</a:t>
            </a:r>
            <a:endParaRPr/>
          </a:p>
        </p:txBody>
      </p:sp>
      <p:sp>
        <p:nvSpPr>
          <p:cNvPr id="4531" name="Google Shape;4531;p85"/>
          <p:cNvSpPr/>
          <p:nvPr/>
        </p:nvSpPr>
        <p:spPr>
          <a:xfrm>
            <a:off x="4824000" y="1953942"/>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32" name="Google Shape;4532;p85"/>
          <p:cNvSpPr txBox="1"/>
          <p:nvPr/>
        </p:nvSpPr>
        <p:spPr>
          <a:xfrm>
            <a:off x="3298373" y="1194957"/>
            <a:ext cx="697627"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6,000</a:t>
            </a:r>
            <a:endParaRPr/>
          </a:p>
        </p:txBody>
      </p:sp>
      <p:sp>
        <p:nvSpPr>
          <p:cNvPr id="4533" name="Google Shape;4533;p85"/>
          <p:cNvSpPr/>
          <p:nvPr/>
        </p:nvSpPr>
        <p:spPr>
          <a:xfrm>
            <a:off x="3015226" y="1266956"/>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34" name="Google Shape;4534;p85"/>
          <p:cNvSpPr txBox="1"/>
          <p:nvPr/>
        </p:nvSpPr>
        <p:spPr>
          <a:xfrm>
            <a:off x="7149595" y="1205847"/>
            <a:ext cx="864000"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rgbClr val="548135"/>
                </a:solidFill>
                <a:latin typeface="Avenir"/>
                <a:ea typeface="Avenir"/>
                <a:cs typeface="Avenir"/>
                <a:sym typeface="Avenir"/>
              </a:rPr>
              <a:t>6,000</a:t>
            </a:r>
            <a:endParaRPr/>
          </a:p>
        </p:txBody>
      </p:sp>
      <p:sp>
        <p:nvSpPr>
          <p:cNvPr id="4535" name="Google Shape;4535;p85"/>
          <p:cNvSpPr/>
          <p:nvPr/>
        </p:nvSpPr>
        <p:spPr>
          <a:xfrm>
            <a:off x="6984000" y="1259520"/>
            <a:ext cx="108000" cy="180000"/>
          </a:xfrm>
          <a:prstGeom prst="downArrow">
            <a:avLst>
              <a:gd name="adj1" fmla="val 100000"/>
              <a:gd name="adj2" fmla="val 47930"/>
            </a:avLst>
          </a:prstGeom>
          <a:solidFill>
            <a:srgbClr val="548135"/>
          </a:solidFill>
          <a:ln w="9525" cap="flat" cmpd="sng">
            <a:solidFill>
              <a:srgbClr val="3856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48135"/>
              </a:solidFill>
              <a:latin typeface="Calibri"/>
              <a:ea typeface="Calibri"/>
              <a:cs typeface="Calibri"/>
              <a:sym typeface="Calibri"/>
            </a:endParaRPr>
          </a:p>
        </p:txBody>
      </p:sp>
      <p:sp>
        <p:nvSpPr>
          <p:cNvPr id="4536" name="Google Shape;4536;p85"/>
          <p:cNvSpPr/>
          <p:nvPr/>
        </p:nvSpPr>
        <p:spPr>
          <a:xfrm>
            <a:off x="2580882" y="1497835"/>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37" name="Google Shape;4537;p85"/>
          <p:cNvSpPr/>
          <p:nvPr/>
        </p:nvSpPr>
        <p:spPr>
          <a:xfrm>
            <a:off x="2528692" y="1506308"/>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13</a:t>
            </a:r>
            <a:endParaRPr/>
          </a:p>
        </p:txBody>
      </p:sp>
      <p:sp>
        <p:nvSpPr>
          <p:cNvPr id="4538" name="Google Shape;4538;p85"/>
          <p:cNvSpPr/>
          <p:nvPr/>
        </p:nvSpPr>
        <p:spPr>
          <a:xfrm>
            <a:off x="2580882" y="1763613"/>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39" name="Google Shape;4539;p85"/>
          <p:cNvSpPr/>
          <p:nvPr/>
        </p:nvSpPr>
        <p:spPr>
          <a:xfrm>
            <a:off x="2528692" y="1772085"/>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11</a:t>
            </a:r>
            <a:endParaRPr/>
          </a:p>
        </p:txBody>
      </p:sp>
      <p:sp>
        <p:nvSpPr>
          <p:cNvPr id="4540" name="Google Shape;4540;p85"/>
          <p:cNvSpPr/>
          <p:nvPr/>
        </p:nvSpPr>
        <p:spPr>
          <a:xfrm>
            <a:off x="2580882" y="2037443"/>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41" name="Google Shape;4541;p85"/>
          <p:cNvSpPr/>
          <p:nvPr/>
        </p:nvSpPr>
        <p:spPr>
          <a:xfrm>
            <a:off x="2528692" y="2045915"/>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10</a:t>
            </a:r>
            <a:endParaRPr/>
          </a:p>
        </p:txBody>
      </p:sp>
      <p:sp>
        <p:nvSpPr>
          <p:cNvPr id="4542" name="Google Shape;4542;p85"/>
          <p:cNvSpPr/>
          <p:nvPr/>
        </p:nvSpPr>
        <p:spPr>
          <a:xfrm>
            <a:off x="2581709" y="2307279"/>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43" name="Google Shape;4543;p85"/>
          <p:cNvSpPr/>
          <p:nvPr/>
        </p:nvSpPr>
        <p:spPr>
          <a:xfrm>
            <a:off x="2568712" y="2315751"/>
            <a:ext cx="247184"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7</a:t>
            </a:r>
            <a:endParaRPr/>
          </a:p>
        </p:txBody>
      </p:sp>
      <p:sp>
        <p:nvSpPr>
          <p:cNvPr id="4544" name="Google Shape;4544;p85"/>
          <p:cNvSpPr/>
          <p:nvPr/>
        </p:nvSpPr>
        <p:spPr>
          <a:xfrm>
            <a:off x="2577794" y="2567407"/>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45" name="Google Shape;4545;p85"/>
          <p:cNvSpPr/>
          <p:nvPr/>
        </p:nvSpPr>
        <p:spPr>
          <a:xfrm>
            <a:off x="2530413" y="2575880"/>
            <a:ext cx="300083"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6a</a:t>
            </a:r>
            <a:endParaRPr/>
          </a:p>
        </p:txBody>
      </p:sp>
      <p:sp>
        <p:nvSpPr>
          <p:cNvPr id="4546" name="Google Shape;4546;p85"/>
          <p:cNvSpPr/>
          <p:nvPr/>
        </p:nvSpPr>
        <p:spPr>
          <a:xfrm>
            <a:off x="2582003" y="284190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47" name="Google Shape;4547;p85"/>
          <p:cNvSpPr/>
          <p:nvPr/>
        </p:nvSpPr>
        <p:spPr>
          <a:xfrm>
            <a:off x="2574025" y="2850694"/>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5</a:t>
            </a:r>
            <a:endParaRPr/>
          </a:p>
        </p:txBody>
      </p:sp>
      <p:sp>
        <p:nvSpPr>
          <p:cNvPr id="4548" name="Google Shape;4548;p85"/>
          <p:cNvSpPr/>
          <p:nvPr/>
        </p:nvSpPr>
        <p:spPr>
          <a:xfrm>
            <a:off x="2582003" y="3121887"/>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49" name="Google Shape;4549;p85"/>
          <p:cNvSpPr/>
          <p:nvPr/>
        </p:nvSpPr>
        <p:spPr>
          <a:xfrm>
            <a:off x="2574025" y="3130681"/>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3</a:t>
            </a:r>
            <a:endParaRPr/>
          </a:p>
        </p:txBody>
      </p:sp>
      <p:sp>
        <p:nvSpPr>
          <p:cNvPr id="4550" name="Google Shape;4550;p85"/>
          <p:cNvSpPr/>
          <p:nvPr/>
        </p:nvSpPr>
        <p:spPr>
          <a:xfrm>
            <a:off x="2582003" y="3385828"/>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51" name="Google Shape;4551;p85"/>
          <p:cNvSpPr/>
          <p:nvPr/>
        </p:nvSpPr>
        <p:spPr>
          <a:xfrm>
            <a:off x="2574025" y="3394622"/>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2</a:t>
            </a:r>
            <a:endParaRPr/>
          </a:p>
        </p:txBody>
      </p:sp>
      <p:sp>
        <p:nvSpPr>
          <p:cNvPr id="4552" name="Google Shape;4552;p85"/>
          <p:cNvSpPr/>
          <p:nvPr/>
        </p:nvSpPr>
        <p:spPr>
          <a:xfrm>
            <a:off x="2582003" y="3649299"/>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53" name="Google Shape;4553;p85"/>
          <p:cNvSpPr/>
          <p:nvPr/>
        </p:nvSpPr>
        <p:spPr>
          <a:xfrm>
            <a:off x="2574025" y="3658093"/>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a:t>
            </a:r>
            <a:endParaRPr/>
          </a:p>
        </p:txBody>
      </p:sp>
      <p:sp>
        <p:nvSpPr>
          <p:cNvPr id="4554" name="Google Shape;4554;p85"/>
          <p:cNvSpPr/>
          <p:nvPr/>
        </p:nvSpPr>
        <p:spPr>
          <a:xfrm>
            <a:off x="10125537" y="1755851"/>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55" name="Google Shape;4555;p85"/>
          <p:cNvSpPr/>
          <p:nvPr/>
        </p:nvSpPr>
        <p:spPr>
          <a:xfrm>
            <a:off x="10117559" y="1764645"/>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a:t>
            </a:r>
            <a:endParaRPr/>
          </a:p>
        </p:txBody>
      </p:sp>
      <p:sp>
        <p:nvSpPr>
          <p:cNvPr id="4556" name="Google Shape;4556;p85"/>
          <p:cNvSpPr/>
          <p:nvPr/>
        </p:nvSpPr>
        <p:spPr>
          <a:xfrm>
            <a:off x="10123978" y="365040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57" name="Google Shape;4557;p85"/>
          <p:cNvSpPr/>
          <p:nvPr/>
        </p:nvSpPr>
        <p:spPr>
          <a:xfrm>
            <a:off x="10116000" y="3659194"/>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2</a:t>
            </a:r>
            <a:endParaRPr/>
          </a:p>
        </p:txBody>
      </p:sp>
      <p:sp>
        <p:nvSpPr>
          <p:cNvPr id="4558" name="Google Shape;4558;p85"/>
          <p:cNvSpPr/>
          <p:nvPr/>
        </p:nvSpPr>
        <p:spPr>
          <a:xfrm>
            <a:off x="10125815" y="1489299"/>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59" name="Google Shape;4559;p85"/>
          <p:cNvSpPr/>
          <p:nvPr/>
        </p:nvSpPr>
        <p:spPr>
          <a:xfrm>
            <a:off x="10117837" y="1498093"/>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3</a:t>
            </a:r>
            <a:endParaRPr/>
          </a:p>
        </p:txBody>
      </p:sp>
      <p:sp>
        <p:nvSpPr>
          <p:cNvPr id="4560" name="Google Shape;4560;p85"/>
          <p:cNvSpPr/>
          <p:nvPr/>
        </p:nvSpPr>
        <p:spPr>
          <a:xfrm>
            <a:off x="6561065" y="1741845"/>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61" name="Google Shape;4561;p85"/>
          <p:cNvSpPr/>
          <p:nvPr/>
        </p:nvSpPr>
        <p:spPr>
          <a:xfrm>
            <a:off x="6553087" y="1750639"/>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4</a:t>
            </a:r>
            <a:endParaRPr/>
          </a:p>
        </p:txBody>
      </p:sp>
      <p:sp>
        <p:nvSpPr>
          <p:cNvPr id="4562" name="Google Shape;4562;p85"/>
          <p:cNvSpPr/>
          <p:nvPr/>
        </p:nvSpPr>
        <p:spPr>
          <a:xfrm>
            <a:off x="792583" y="3629276"/>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63" name="Google Shape;4563;p85"/>
          <p:cNvSpPr/>
          <p:nvPr/>
        </p:nvSpPr>
        <p:spPr>
          <a:xfrm>
            <a:off x="784605" y="3638070"/>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4</a:t>
            </a:r>
            <a:endParaRPr/>
          </a:p>
        </p:txBody>
      </p:sp>
      <p:sp>
        <p:nvSpPr>
          <p:cNvPr id="4564" name="Google Shape;4564;p85"/>
          <p:cNvSpPr/>
          <p:nvPr/>
        </p:nvSpPr>
        <p:spPr>
          <a:xfrm>
            <a:off x="4367055" y="3641899"/>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65" name="Google Shape;4565;p85"/>
          <p:cNvSpPr/>
          <p:nvPr/>
        </p:nvSpPr>
        <p:spPr>
          <a:xfrm>
            <a:off x="4359077" y="3650693"/>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5</a:t>
            </a:r>
            <a:endParaRPr/>
          </a:p>
        </p:txBody>
      </p:sp>
      <p:sp>
        <p:nvSpPr>
          <p:cNvPr id="4566" name="Google Shape;4566;p85"/>
          <p:cNvSpPr/>
          <p:nvPr/>
        </p:nvSpPr>
        <p:spPr>
          <a:xfrm>
            <a:off x="4365599" y="3388584"/>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67" name="Google Shape;4567;p85"/>
          <p:cNvSpPr/>
          <p:nvPr/>
        </p:nvSpPr>
        <p:spPr>
          <a:xfrm>
            <a:off x="4325561" y="3397378"/>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6b</a:t>
            </a:r>
            <a:endParaRPr/>
          </a:p>
        </p:txBody>
      </p:sp>
      <p:sp>
        <p:nvSpPr>
          <p:cNvPr id="4568" name="Google Shape;4568;p85"/>
          <p:cNvSpPr/>
          <p:nvPr/>
        </p:nvSpPr>
        <p:spPr>
          <a:xfrm>
            <a:off x="4370083" y="313688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69" name="Google Shape;4569;p85"/>
          <p:cNvSpPr/>
          <p:nvPr/>
        </p:nvSpPr>
        <p:spPr>
          <a:xfrm>
            <a:off x="4330045" y="3145674"/>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8b</a:t>
            </a:r>
            <a:endParaRPr/>
          </a:p>
        </p:txBody>
      </p:sp>
      <p:sp>
        <p:nvSpPr>
          <p:cNvPr id="4570" name="Google Shape;4570;p85"/>
          <p:cNvSpPr/>
          <p:nvPr/>
        </p:nvSpPr>
        <p:spPr>
          <a:xfrm>
            <a:off x="4368545" y="2880000"/>
            <a:ext cx="215000" cy="215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71" name="Google Shape;4571;p85"/>
          <p:cNvSpPr/>
          <p:nvPr/>
        </p:nvSpPr>
        <p:spPr>
          <a:xfrm>
            <a:off x="4298376" y="2888753"/>
            <a:ext cx="368899" cy="21444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12b</a:t>
            </a:r>
            <a:endParaRPr/>
          </a:p>
        </p:txBody>
      </p:sp>
      <p:sp>
        <p:nvSpPr>
          <p:cNvPr id="4572" name="Google Shape;4572;p85"/>
          <p:cNvSpPr/>
          <p:nvPr/>
        </p:nvSpPr>
        <p:spPr>
          <a:xfrm>
            <a:off x="6558900" y="148148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73" name="Google Shape;4573;p85"/>
          <p:cNvSpPr/>
          <p:nvPr/>
        </p:nvSpPr>
        <p:spPr>
          <a:xfrm>
            <a:off x="6550922" y="1490274"/>
            <a:ext cx="24558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9</a:t>
            </a:r>
            <a:endParaRPr/>
          </a:p>
        </p:txBody>
      </p:sp>
      <p:sp>
        <p:nvSpPr>
          <p:cNvPr id="4574" name="Google Shape;4574;p85"/>
          <p:cNvSpPr/>
          <p:nvPr/>
        </p:nvSpPr>
        <p:spPr>
          <a:xfrm>
            <a:off x="8352005" y="1742779"/>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75" name="Google Shape;4575;p85"/>
          <p:cNvSpPr/>
          <p:nvPr/>
        </p:nvSpPr>
        <p:spPr>
          <a:xfrm>
            <a:off x="8311967" y="1751573"/>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10</a:t>
            </a:r>
            <a:endParaRPr/>
          </a:p>
        </p:txBody>
      </p:sp>
      <p:sp>
        <p:nvSpPr>
          <p:cNvPr id="4576" name="Google Shape;4576;p85"/>
          <p:cNvSpPr/>
          <p:nvPr/>
        </p:nvSpPr>
        <p:spPr>
          <a:xfrm>
            <a:off x="4357601" y="1240114"/>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77" name="Google Shape;4577;p85"/>
          <p:cNvSpPr/>
          <p:nvPr/>
        </p:nvSpPr>
        <p:spPr>
          <a:xfrm>
            <a:off x="4322372" y="1248908"/>
            <a:ext cx="300082"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8a</a:t>
            </a:r>
            <a:endParaRPr/>
          </a:p>
        </p:txBody>
      </p:sp>
      <p:sp>
        <p:nvSpPr>
          <p:cNvPr id="4578" name="Google Shape;4578;p85"/>
          <p:cNvSpPr/>
          <p:nvPr/>
        </p:nvSpPr>
        <p:spPr>
          <a:xfrm>
            <a:off x="4359965" y="983503"/>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79" name="Google Shape;4579;p85"/>
          <p:cNvSpPr/>
          <p:nvPr/>
        </p:nvSpPr>
        <p:spPr>
          <a:xfrm>
            <a:off x="4319927" y="992297"/>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11</a:t>
            </a:r>
            <a:endParaRPr/>
          </a:p>
        </p:txBody>
      </p:sp>
      <p:sp>
        <p:nvSpPr>
          <p:cNvPr id="4580" name="Google Shape;4580;p85"/>
          <p:cNvSpPr/>
          <p:nvPr/>
        </p:nvSpPr>
        <p:spPr>
          <a:xfrm>
            <a:off x="8354611" y="1478795"/>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81" name="Google Shape;4581;p85"/>
          <p:cNvSpPr/>
          <p:nvPr/>
        </p:nvSpPr>
        <p:spPr>
          <a:xfrm>
            <a:off x="8280687" y="1487589"/>
            <a:ext cx="360996"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12a</a:t>
            </a:r>
            <a:endParaRPr/>
          </a:p>
        </p:txBody>
      </p:sp>
      <p:sp>
        <p:nvSpPr>
          <p:cNvPr id="4582" name="Google Shape;4582;p85"/>
          <p:cNvSpPr/>
          <p:nvPr/>
        </p:nvSpPr>
        <p:spPr>
          <a:xfrm>
            <a:off x="4365417" y="218721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83" name="Google Shape;4583;p85"/>
          <p:cNvSpPr/>
          <p:nvPr/>
        </p:nvSpPr>
        <p:spPr>
          <a:xfrm>
            <a:off x="4317141" y="2196004"/>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13</a:t>
            </a:r>
            <a:endParaRPr/>
          </a:p>
        </p:txBody>
      </p:sp>
      <p:sp>
        <p:nvSpPr>
          <p:cNvPr id="4584" name="Google Shape;4584;p85"/>
          <p:cNvSpPr/>
          <p:nvPr/>
        </p:nvSpPr>
        <p:spPr>
          <a:xfrm>
            <a:off x="4365932" y="1931502"/>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85" name="Google Shape;4585;p85"/>
          <p:cNvSpPr/>
          <p:nvPr/>
        </p:nvSpPr>
        <p:spPr>
          <a:xfrm>
            <a:off x="4325894" y="1940296"/>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15</a:t>
            </a:r>
            <a:endParaRPr/>
          </a:p>
        </p:txBody>
      </p:sp>
      <p:sp>
        <p:nvSpPr>
          <p:cNvPr id="4586" name="Google Shape;4586;p85"/>
          <p:cNvSpPr txBox="1"/>
          <p:nvPr/>
        </p:nvSpPr>
        <p:spPr>
          <a:xfrm>
            <a:off x="4033926" y="1538024"/>
            <a:ext cx="201557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Accounts receivable</a:t>
            </a:r>
            <a:endParaRPr/>
          </a:p>
        </p:txBody>
      </p:sp>
      <p:sp>
        <p:nvSpPr>
          <p:cNvPr id="4587" name="Google Shape;4587;p85"/>
          <p:cNvSpPr txBox="1"/>
          <p:nvPr/>
        </p:nvSpPr>
        <p:spPr>
          <a:xfrm>
            <a:off x="6252890" y="2028286"/>
            <a:ext cx="1987133"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Accounts payable</a:t>
            </a:r>
            <a:endParaRPr/>
          </a:p>
        </p:txBody>
      </p:sp>
      <p:sp>
        <p:nvSpPr>
          <p:cNvPr id="4588" name="Google Shape;4588;p85"/>
          <p:cNvSpPr/>
          <p:nvPr/>
        </p:nvSpPr>
        <p:spPr>
          <a:xfrm flipH="1">
            <a:off x="1484882" y="2236958"/>
            <a:ext cx="810000" cy="613673"/>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589" name="Google Shape;4589;p85"/>
          <p:cNvSpPr/>
          <p:nvPr/>
        </p:nvSpPr>
        <p:spPr>
          <a:xfrm>
            <a:off x="674882" y="2236958"/>
            <a:ext cx="810000" cy="613673"/>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590" name="Google Shape;4590;p85"/>
          <p:cNvSpPr txBox="1"/>
          <p:nvPr/>
        </p:nvSpPr>
        <p:spPr>
          <a:xfrm>
            <a:off x="667920" y="2817445"/>
            <a:ext cx="1647322"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venir"/>
                <a:ea typeface="Avenir"/>
                <a:cs typeface="Avenir"/>
                <a:sym typeface="Avenir"/>
              </a:rPr>
              <a:t>Accumulated depreciation</a:t>
            </a:r>
            <a:endParaRPr/>
          </a:p>
        </p:txBody>
      </p:sp>
      <p:sp>
        <p:nvSpPr>
          <p:cNvPr id="4591" name="Google Shape;4591;p85"/>
          <p:cNvSpPr txBox="1"/>
          <p:nvPr/>
        </p:nvSpPr>
        <p:spPr>
          <a:xfrm>
            <a:off x="1679276" y="2502766"/>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100</a:t>
            </a:r>
            <a:endParaRPr/>
          </a:p>
        </p:txBody>
      </p:sp>
      <p:sp>
        <p:nvSpPr>
          <p:cNvPr id="4592" name="Google Shape;4592;p85"/>
          <p:cNvSpPr/>
          <p:nvPr/>
        </p:nvSpPr>
        <p:spPr>
          <a:xfrm>
            <a:off x="1256101" y="2550772"/>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93" name="Google Shape;4593;p85"/>
          <p:cNvSpPr/>
          <p:nvPr/>
        </p:nvSpPr>
        <p:spPr>
          <a:xfrm>
            <a:off x="793014" y="2511750"/>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594" name="Google Shape;4594;p85"/>
          <p:cNvSpPr/>
          <p:nvPr/>
        </p:nvSpPr>
        <p:spPr>
          <a:xfrm>
            <a:off x="752976" y="2520544"/>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14</a:t>
            </a:r>
            <a:endParaRPr/>
          </a:p>
        </p:txBody>
      </p:sp>
      <p:sp>
        <p:nvSpPr>
          <p:cNvPr id="4595" name="Google Shape;4595;p85"/>
          <p:cNvSpPr/>
          <p:nvPr/>
        </p:nvSpPr>
        <p:spPr>
          <a:xfrm flipH="1">
            <a:off x="5057500" y="957969"/>
            <a:ext cx="810000" cy="613673"/>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596" name="Google Shape;4596;p85"/>
          <p:cNvSpPr/>
          <p:nvPr/>
        </p:nvSpPr>
        <p:spPr>
          <a:xfrm>
            <a:off x="4247500" y="957969"/>
            <a:ext cx="810000" cy="613673"/>
          </a:xfrm>
          <a:prstGeom prst="corner">
            <a:avLst>
              <a:gd name="adj1" fmla="val 9817"/>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597" name="Google Shape;4597;p85"/>
          <p:cNvSpPr/>
          <p:nvPr/>
        </p:nvSpPr>
        <p:spPr>
          <a:xfrm flipH="1">
            <a:off x="5057500" y="1892397"/>
            <a:ext cx="810000" cy="613673"/>
          </a:xfrm>
          <a:prstGeom prst="corner">
            <a:avLst>
              <a:gd name="adj1" fmla="val 9300"/>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598" name="Google Shape;4598;p85"/>
          <p:cNvSpPr/>
          <p:nvPr/>
        </p:nvSpPr>
        <p:spPr>
          <a:xfrm>
            <a:off x="4247500" y="1892397"/>
            <a:ext cx="810000" cy="613673"/>
          </a:xfrm>
          <a:prstGeom prst="corner">
            <a:avLst>
              <a:gd name="adj1" fmla="val 9300"/>
              <a:gd name="adj2" fmla="val 8904"/>
            </a:avLst>
          </a:prstGeom>
          <a:solidFill>
            <a:srgbClr val="54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599" name="Google Shape;4599;p85"/>
          <p:cNvSpPr/>
          <p:nvPr/>
        </p:nvSpPr>
        <p:spPr>
          <a:xfrm flipH="1">
            <a:off x="10793452" y="3159101"/>
            <a:ext cx="810000" cy="796274"/>
          </a:xfrm>
          <a:prstGeom prst="corner">
            <a:avLst>
              <a:gd name="adj1" fmla="val 7267"/>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600" name="Google Shape;4600;p85"/>
          <p:cNvSpPr/>
          <p:nvPr/>
        </p:nvSpPr>
        <p:spPr>
          <a:xfrm>
            <a:off x="9983452" y="3159099"/>
            <a:ext cx="810000" cy="796275"/>
          </a:xfrm>
          <a:prstGeom prst="corner">
            <a:avLst>
              <a:gd name="adj1" fmla="val 7268"/>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601" name="Google Shape;4601;p85"/>
          <p:cNvSpPr/>
          <p:nvPr/>
        </p:nvSpPr>
        <p:spPr>
          <a:xfrm flipH="1">
            <a:off x="9024558" y="1260020"/>
            <a:ext cx="810000" cy="796274"/>
          </a:xfrm>
          <a:prstGeom prst="corner">
            <a:avLst>
              <a:gd name="adj1" fmla="val 7267"/>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602" name="Google Shape;4602;p85"/>
          <p:cNvSpPr/>
          <p:nvPr/>
        </p:nvSpPr>
        <p:spPr>
          <a:xfrm>
            <a:off x="8214558" y="1260018"/>
            <a:ext cx="810000" cy="796275"/>
          </a:xfrm>
          <a:prstGeom prst="corner">
            <a:avLst>
              <a:gd name="adj1" fmla="val 7268"/>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603" name="Google Shape;4603;p85"/>
          <p:cNvSpPr/>
          <p:nvPr/>
        </p:nvSpPr>
        <p:spPr>
          <a:xfrm flipH="1">
            <a:off x="10816085" y="1263490"/>
            <a:ext cx="810000" cy="796274"/>
          </a:xfrm>
          <a:prstGeom prst="corner">
            <a:avLst>
              <a:gd name="adj1" fmla="val 7267"/>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604" name="Google Shape;4604;p85"/>
          <p:cNvSpPr/>
          <p:nvPr/>
        </p:nvSpPr>
        <p:spPr>
          <a:xfrm>
            <a:off x="10006085" y="1263488"/>
            <a:ext cx="810000" cy="796275"/>
          </a:xfrm>
          <a:prstGeom prst="corner">
            <a:avLst>
              <a:gd name="adj1" fmla="val 7268"/>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605" name="Google Shape;4605;p85"/>
          <p:cNvSpPr/>
          <p:nvPr/>
        </p:nvSpPr>
        <p:spPr>
          <a:xfrm flipH="1">
            <a:off x="7238511" y="1266565"/>
            <a:ext cx="810000" cy="796274"/>
          </a:xfrm>
          <a:prstGeom prst="corner">
            <a:avLst>
              <a:gd name="adj1" fmla="val 7267"/>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606" name="Google Shape;4606;p85"/>
          <p:cNvSpPr/>
          <p:nvPr/>
        </p:nvSpPr>
        <p:spPr>
          <a:xfrm>
            <a:off x="6428511" y="1266563"/>
            <a:ext cx="810000" cy="796275"/>
          </a:xfrm>
          <a:prstGeom prst="corner">
            <a:avLst>
              <a:gd name="adj1" fmla="val 7268"/>
              <a:gd name="adj2" fmla="val 7888"/>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Helvetica Neue"/>
              <a:ea typeface="Helvetica Neue"/>
              <a:cs typeface="Helvetica Neue"/>
              <a:sym typeface="Helvetica Neue"/>
            </a:endParaRPr>
          </a:p>
        </p:txBody>
      </p:sp>
      <p:sp>
        <p:nvSpPr>
          <p:cNvPr id="4607" name="Google Shape;4607;p85"/>
          <p:cNvSpPr/>
          <p:nvPr/>
        </p:nvSpPr>
        <p:spPr>
          <a:xfrm rot="10800000">
            <a:off x="10548000" y="3653367"/>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sp>
        <p:nvSpPr>
          <p:cNvPr id="4608" name="Google Shape;4608;p85"/>
          <p:cNvSpPr txBox="1"/>
          <p:nvPr/>
        </p:nvSpPr>
        <p:spPr>
          <a:xfrm>
            <a:off x="6413550" y="3135648"/>
            <a:ext cx="1544844" cy="770509"/>
          </a:xfrm>
          <a:prstGeom prst="rect">
            <a:avLst/>
          </a:prstGeom>
          <a:noFill/>
          <a:ln w="57150" cap="flat" cmpd="sng">
            <a:solidFill>
              <a:srgbClr val="942093"/>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1600" b="1">
                <a:solidFill>
                  <a:srgbClr val="942093"/>
                </a:solidFill>
                <a:latin typeface="Avenir"/>
                <a:ea typeface="Avenir"/>
                <a:cs typeface="Avenir"/>
                <a:sym typeface="Avenir"/>
              </a:rPr>
              <a:t>Profit</a:t>
            </a:r>
            <a:endParaRPr/>
          </a:p>
        </p:txBody>
      </p:sp>
      <p:sp>
        <p:nvSpPr>
          <p:cNvPr id="4609" name="Google Shape;4609;p85"/>
          <p:cNvSpPr txBox="1"/>
          <p:nvPr/>
        </p:nvSpPr>
        <p:spPr>
          <a:xfrm>
            <a:off x="7369027" y="3590108"/>
            <a:ext cx="526106"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600" b="1">
                <a:solidFill>
                  <a:schemeClr val="accent2"/>
                </a:solidFill>
                <a:latin typeface="Avenir"/>
                <a:ea typeface="Avenir"/>
                <a:cs typeface="Avenir"/>
                <a:sym typeface="Avenir"/>
              </a:rPr>
              <a:t>160</a:t>
            </a:r>
            <a:endParaRPr/>
          </a:p>
        </p:txBody>
      </p:sp>
      <p:sp>
        <p:nvSpPr>
          <p:cNvPr id="4610" name="Google Shape;4610;p85"/>
          <p:cNvSpPr/>
          <p:nvPr/>
        </p:nvSpPr>
        <p:spPr>
          <a:xfrm rot="10800000">
            <a:off x="6984000" y="3662508"/>
            <a:ext cx="108000" cy="180000"/>
          </a:xfrm>
          <a:prstGeom prst="downArrow">
            <a:avLst>
              <a:gd name="adj1" fmla="val 100000"/>
              <a:gd name="adj2" fmla="val 47930"/>
            </a:avLst>
          </a:prstGeom>
          <a:solidFill>
            <a:schemeClr val="accent2"/>
          </a:solidFill>
          <a:ln w="9525"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grpSp>
        <p:nvGrpSpPr>
          <p:cNvPr id="4611" name="Google Shape;4611;p85"/>
          <p:cNvGrpSpPr/>
          <p:nvPr/>
        </p:nvGrpSpPr>
        <p:grpSpPr>
          <a:xfrm>
            <a:off x="2528692" y="1230247"/>
            <a:ext cx="309700" cy="223917"/>
            <a:chOff x="756600" y="3715226"/>
            <a:chExt cx="321511" cy="232457"/>
          </a:xfrm>
        </p:grpSpPr>
        <p:sp>
          <p:nvSpPr>
            <p:cNvPr id="4612" name="Google Shape;4612;p85"/>
            <p:cNvSpPr/>
            <p:nvPr/>
          </p:nvSpPr>
          <p:spPr>
            <a:xfrm>
              <a:off x="810779" y="3715226"/>
              <a:ext cx="224237" cy="224238"/>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613" name="Google Shape;4613;p85"/>
            <p:cNvSpPr/>
            <p:nvPr/>
          </p:nvSpPr>
          <p:spPr>
            <a:xfrm>
              <a:off x="756600" y="3724022"/>
              <a:ext cx="321511" cy="22366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16</a:t>
              </a:r>
              <a:endParaRPr/>
            </a:p>
          </p:txBody>
        </p:sp>
      </p:grpSp>
      <p:grpSp>
        <p:nvGrpSpPr>
          <p:cNvPr id="4614" name="Google Shape;4614;p85"/>
          <p:cNvGrpSpPr/>
          <p:nvPr/>
        </p:nvGrpSpPr>
        <p:grpSpPr>
          <a:xfrm>
            <a:off x="6512636" y="1220768"/>
            <a:ext cx="309700" cy="224238"/>
            <a:chOff x="762505" y="3715228"/>
            <a:chExt cx="309700" cy="224238"/>
          </a:xfrm>
        </p:grpSpPr>
        <p:sp>
          <p:nvSpPr>
            <p:cNvPr id="4615" name="Google Shape;4615;p85"/>
            <p:cNvSpPr/>
            <p:nvPr/>
          </p:nvSpPr>
          <p:spPr>
            <a:xfrm>
              <a:off x="810781" y="3715228"/>
              <a:ext cx="216000" cy="216000"/>
            </a:xfrm>
            <a:prstGeom prst="ellipse">
              <a:avLst/>
            </a:prstGeom>
            <a:solidFill>
              <a:srgbClr val="F2F2F2"/>
            </a:solid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500" b="1">
                <a:solidFill>
                  <a:srgbClr val="7F7F7F"/>
                </a:solidFill>
                <a:latin typeface="Avenir"/>
                <a:ea typeface="Avenir"/>
                <a:cs typeface="Avenir"/>
                <a:sym typeface="Avenir"/>
              </a:endParaRPr>
            </a:p>
          </p:txBody>
        </p:sp>
        <p:sp>
          <p:nvSpPr>
            <p:cNvPr id="4616" name="Google Shape;4616;p85"/>
            <p:cNvSpPr/>
            <p:nvPr/>
          </p:nvSpPr>
          <p:spPr>
            <a:xfrm>
              <a:off x="762505" y="3724022"/>
              <a:ext cx="309700" cy="21544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800" b="1">
                  <a:solidFill>
                    <a:srgbClr val="7F7F7F"/>
                  </a:solidFill>
                  <a:latin typeface="Avenir"/>
                  <a:ea typeface="Avenir"/>
                  <a:cs typeface="Avenir"/>
                  <a:sym typeface="Avenir"/>
                </a:rPr>
                <a:t>16</a:t>
              </a:r>
              <a:endParaRPr/>
            </a:p>
          </p:txBody>
        </p:sp>
      </p:grpSp>
      <p:sp>
        <p:nvSpPr>
          <p:cNvPr id="4617" name="Google Shape;4617;p85"/>
          <p:cNvSpPr txBox="1"/>
          <p:nvPr/>
        </p:nvSpPr>
        <p:spPr>
          <a:xfrm>
            <a:off x="6403129" y="3421071"/>
            <a:ext cx="1548343" cy="56613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venir"/>
                <a:ea typeface="Avenir"/>
                <a:cs typeface="Avenir"/>
                <a:sym typeface="Avenir"/>
              </a:rPr>
              <a:t>160</a:t>
            </a:r>
            <a:endParaRPr sz="24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2000"/>
                                        <p:tgtEl>
                                          <p:spTgt spid="4407"/>
                                        </p:tgtEl>
                                      </p:cBhvr>
                                    </p:animEffect>
                                    <p:set>
                                      <p:cBhvr>
                                        <p:cTn id="7" dur="1" fill="hold">
                                          <p:stCondLst>
                                            <p:cond delay="2000"/>
                                          </p:stCondLst>
                                        </p:cTn>
                                        <p:tgtEl>
                                          <p:spTgt spid="440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2000"/>
                                        <p:tgtEl>
                                          <p:spTgt spid="4409"/>
                                        </p:tgtEl>
                                      </p:cBhvr>
                                    </p:animEffect>
                                    <p:set>
                                      <p:cBhvr>
                                        <p:cTn id="10" dur="1" fill="hold">
                                          <p:stCondLst>
                                            <p:cond delay="2000"/>
                                          </p:stCondLst>
                                        </p:cTn>
                                        <p:tgtEl>
                                          <p:spTgt spid="4409"/>
                                        </p:tgtEl>
                                        <p:attrNameLst>
                                          <p:attrName>style.visibility</p:attrName>
                                        </p:attrNameLst>
                                      </p:cBhvr>
                                      <p:to>
                                        <p:strVal val="hidden"/>
                                      </p:to>
                                    </p:set>
                                  </p:childTnLst>
                                </p:cTn>
                              </p:par>
                              <p:par>
                                <p:cTn id="11" presetID="10" presetClass="entr" presetSubtype="0" fill="hold" nodeType="withEffect">
                                  <p:stCondLst>
                                    <p:cond delay="0"/>
                                  </p:stCondLst>
                                  <p:childTnLst>
                                    <p:set>
                                      <p:cBhvr>
                                        <p:cTn id="12" dur="1" fill="hold">
                                          <p:stCondLst>
                                            <p:cond delay="0"/>
                                          </p:stCondLst>
                                        </p:cTn>
                                        <p:tgtEl>
                                          <p:spTgt spid="4608"/>
                                        </p:tgtEl>
                                        <p:attrNameLst>
                                          <p:attrName>style.visibility</p:attrName>
                                        </p:attrNameLst>
                                      </p:cBhvr>
                                      <p:to>
                                        <p:strVal val="visible"/>
                                      </p:to>
                                    </p:set>
                                    <p:animEffect transition="in" filter="fade">
                                      <p:cBhvr>
                                        <p:cTn id="13" dur="2000"/>
                                        <p:tgtEl>
                                          <p:spTgt spid="4608"/>
                                        </p:tgtEl>
                                      </p:cBhvr>
                                    </p:animEffect>
                                  </p:childTnLst>
                                </p:cTn>
                              </p:par>
                              <p:par>
                                <p:cTn id="14" presetID="10" presetClass="entr" presetSubtype="0" fill="hold" nodeType="withEffect">
                                  <p:stCondLst>
                                    <p:cond delay="0"/>
                                  </p:stCondLst>
                                  <p:childTnLst>
                                    <p:set>
                                      <p:cBhvr>
                                        <p:cTn id="15" dur="1" fill="hold">
                                          <p:stCondLst>
                                            <p:cond delay="0"/>
                                          </p:stCondLst>
                                        </p:cTn>
                                        <p:tgtEl>
                                          <p:spTgt spid="4609"/>
                                        </p:tgtEl>
                                        <p:attrNameLst>
                                          <p:attrName>style.visibility</p:attrName>
                                        </p:attrNameLst>
                                      </p:cBhvr>
                                      <p:to>
                                        <p:strVal val="visible"/>
                                      </p:to>
                                    </p:set>
                                    <p:animEffect transition="in" filter="fade">
                                      <p:cBhvr>
                                        <p:cTn id="16" dur="2000"/>
                                        <p:tgtEl>
                                          <p:spTgt spid="4609"/>
                                        </p:tgtEl>
                                      </p:cBhvr>
                                    </p:animEffect>
                                  </p:childTnLst>
                                </p:cTn>
                              </p:par>
                              <p:par>
                                <p:cTn id="17" presetID="10" presetClass="exit" presetSubtype="0" fill="hold" nodeType="withEffect">
                                  <p:stCondLst>
                                    <p:cond delay="0"/>
                                  </p:stCondLst>
                                  <p:childTnLst>
                                    <p:animEffect transition="out" filter="fade">
                                      <p:cBhvr>
                                        <p:cTn id="18" dur="500"/>
                                        <p:tgtEl>
                                          <p:spTgt spid="4617"/>
                                        </p:tgtEl>
                                      </p:cBhvr>
                                    </p:animEffect>
                                    <p:set>
                                      <p:cBhvr>
                                        <p:cTn id="19" dur="1" fill="hold">
                                          <p:stCondLst>
                                            <p:cond delay="500"/>
                                          </p:stCondLst>
                                        </p:cTn>
                                        <p:tgtEl>
                                          <p:spTgt spid="4617"/>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4610"/>
                                        </p:tgtEl>
                                        <p:attrNameLst>
                                          <p:attrName>style.visibility</p:attrName>
                                        </p:attrNameLst>
                                      </p:cBhvr>
                                      <p:to>
                                        <p:strVal val="visible"/>
                                      </p:to>
                                    </p:set>
                                    <p:animEffect transition="in" filter="fade">
                                      <p:cBhvr>
                                        <p:cTn id="22" dur="2000"/>
                                        <p:tgtEl>
                                          <p:spTgt spid="4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4622"/>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627"/>
        <p:cNvGrpSpPr/>
        <p:nvPr/>
      </p:nvGrpSpPr>
      <p:grpSpPr>
        <a:xfrm>
          <a:off x="0" y="0"/>
          <a:ext cx="0" cy="0"/>
          <a:chOff x="0" y="0"/>
          <a:chExt cx="0" cy="0"/>
        </a:xfrm>
      </p:grpSpPr>
      <p:pic>
        <p:nvPicPr>
          <p:cNvPr id="4628" name="Google Shape;4628;p87"/>
          <p:cNvPicPr preferRelativeResize="0"/>
          <p:nvPr/>
        </p:nvPicPr>
        <p:blipFill rotWithShape="1">
          <a:blip r:embed="rId3">
            <a:alphaModFix/>
          </a:blip>
          <a:srcRect/>
          <a:stretch/>
        </p:blipFill>
        <p:spPr>
          <a:xfrm>
            <a:off x="7206781" y="2908288"/>
            <a:ext cx="3246172" cy="885123"/>
          </a:xfrm>
          <a:prstGeom prst="rect">
            <a:avLst/>
          </a:prstGeom>
          <a:noFill/>
          <a:ln>
            <a:noFill/>
          </a:ln>
        </p:spPr>
      </p:pic>
      <p:pic>
        <p:nvPicPr>
          <p:cNvPr id="4629" name="Google Shape;4629;p87"/>
          <p:cNvPicPr preferRelativeResize="0"/>
          <p:nvPr/>
        </p:nvPicPr>
        <p:blipFill rotWithShape="1">
          <a:blip r:embed="rId4">
            <a:alphaModFix/>
          </a:blip>
          <a:srcRect/>
          <a:stretch/>
        </p:blipFill>
        <p:spPr>
          <a:xfrm>
            <a:off x="2111453" y="2642788"/>
            <a:ext cx="3909840" cy="151907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7238</Words>
  <Application>Microsoft Office PowerPoint</Application>
  <PresentationFormat>Widescreen</PresentationFormat>
  <Paragraphs>2729</Paragraphs>
  <Slides>75</Slides>
  <Notes>75</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75</vt:i4>
      </vt:variant>
    </vt:vector>
  </HeadingPairs>
  <TitlesOfParts>
    <vt:vector size="84" baseType="lpstr">
      <vt:lpstr>Calibri</vt:lpstr>
      <vt:lpstr>Avenir</vt:lpstr>
      <vt:lpstr>ＭＳ Ｐゴシック</vt:lpstr>
      <vt:lpstr>Gulim</vt:lpstr>
      <vt:lpstr>Helvetica Regular</vt:lpstr>
      <vt:lpstr>Arial</vt:lpstr>
      <vt:lpstr>Helvetica Neue</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Hong, Philip Keejae</cp:lastModifiedBy>
  <cp:revision>1</cp:revision>
  <dcterms:modified xsi:type="dcterms:W3CDTF">2026-07-29T22:06:10Z</dcterms:modified>
</cp:coreProperties>
</file>