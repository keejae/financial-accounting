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67.xml"/>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68.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73.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69.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61.xml"/>
  <Override ContentType="application/vnd.openxmlformats-officedocument.presentationml.notesSlide+xml" PartName="/ppt/notesSlides/notesSlide74.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75.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62.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70.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72.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60.xml"/>
  <Override ContentType="application/vnd.openxmlformats-officedocument.presentationml.notesSlide+xml" PartName="/ppt/notesSlides/notesSlide38.xml"/>
  <Override ContentType="application/vnd.openxmlformats-officedocument.presentationml.notesSlide+xml" PartName="/ppt/notesSlides/notesSlide64.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6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71.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66.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69.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6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71.xml"/>
  <Override ContentType="application/vnd.openxmlformats-officedocument.presentationml.slide+xml" PartName="/ppt/slides/slide41.xml"/>
  <Override ContentType="application/vnd.openxmlformats-officedocument.presentationml.slide+xml" PartName="/ppt/slides/slide67.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6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7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73.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65.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72.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64.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75.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63.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61.xml"/>
  <Override ContentType="application/vnd.openxmlformats-officedocument.presentationml.slide+xml" PartName="/ppt/slides/slide31.xml"/>
  <Override ContentType="application/vnd.openxmlformats-officedocument.presentationml.slide+xml" PartName="/ppt/slides/slide74.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Lst>
  <p:sldSz cy="6858000" cx="12192000"/>
  <p:notesSz cx="6858000" cy="9144000"/>
  <p:embeddedFontLst>
    <p:embeddedFont>
      <p:font typeface="Helvetica Neue"/>
      <p:regular r:id="rId82"/>
      <p:bold r:id="rId83"/>
      <p:italic r:id="rId84"/>
      <p:boldItalic r:id="rId8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2D200454-40CA-4A62-9FC3-DE9A4176ACB9}">
      <p15:notesGuideLst>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EC3B7C02-C20F-42C7-878E-1E52F1C29615}">
  <a:tblStyle styleId="{EC3B7C02-C20F-42C7-878E-1E52F1C29615}" styleName="Table_0">
    <a:wholeTbl>
      <a:tcTxStyle b="off" i="off">
        <a:font>
          <a:latin typeface="Calibri"/>
          <a:ea typeface="Calibri"/>
          <a:cs typeface="Calibri"/>
        </a:font>
        <a:schemeClr val="dk1"/>
      </a:tcTxStyle>
      <a:tcStyle>
        <a:tcBdr>
          <a:left>
            <a:ln cap="flat" cmpd="sng" w="12700">
              <a:solidFill>
                <a:schemeClr val="dk1"/>
              </a:solidFill>
              <a:prstDash val="solid"/>
              <a:round/>
              <a:headEnd len="sm" w="sm" type="none"/>
              <a:tailEnd len="sm" w="sm" type="none"/>
            </a:ln>
          </a:left>
          <a:right>
            <a:ln cap="flat" cmpd="sng" w="12700">
              <a:solidFill>
                <a:schemeClr val="dk1"/>
              </a:solidFill>
              <a:prstDash val="solid"/>
              <a:round/>
              <a:headEnd len="sm" w="sm" type="none"/>
              <a:tailEnd len="sm" w="sm" type="none"/>
            </a:ln>
          </a:right>
          <a:top>
            <a:ln cap="flat" cmpd="sng" w="12700">
              <a:solidFill>
                <a:schemeClr val="dk1"/>
              </a:solidFill>
              <a:prstDash val="solid"/>
              <a:round/>
              <a:headEnd len="sm" w="sm" type="none"/>
              <a:tailEnd len="sm" w="sm" type="none"/>
            </a:ln>
          </a:top>
          <a:bottom>
            <a:ln cap="flat" cmpd="sng" w="12700">
              <a:solidFill>
                <a:schemeClr val="dk1"/>
              </a:solidFill>
              <a:prstDash val="solid"/>
              <a:round/>
              <a:headEnd len="sm" w="sm" type="none"/>
              <a:tailEnd len="sm" w="sm" type="none"/>
            </a:ln>
          </a:bottom>
          <a:insideH>
            <a:ln cap="flat" cmpd="sng" w="12700">
              <a:solidFill>
                <a:schemeClr val="dk1"/>
              </a:solidFill>
              <a:prstDash val="solid"/>
              <a:round/>
              <a:headEnd len="sm" w="sm" type="none"/>
              <a:tailEnd len="sm" w="sm" type="none"/>
            </a:ln>
          </a:insideH>
          <a:insideV>
            <a:ln cap="flat" cmpd="sng" w="12700">
              <a:solidFill>
                <a:schemeClr val="dk1"/>
              </a:solidFill>
              <a:prstDash val="solid"/>
              <a:round/>
              <a:headEnd len="sm" w="sm" type="none"/>
              <a:tailEnd len="sm" w="sm" type="none"/>
            </a:ln>
          </a:insideV>
        </a:tcBdr>
        <a:fill>
          <a:solidFill>
            <a:srgbClr val="FFFFFF">
              <a:alpha val="0"/>
            </a:srgbClr>
          </a:solidFill>
        </a:fill>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notesViewPr>
    <p:cSldViewPr snapToGrid="0">
      <p:cViewPr varScale="1">
        <p:scale>
          <a:sx n="100" d="100"/>
          <a:sy n="100" d="100"/>
        </p:scale>
        <p:origin x="0" y="0"/>
      </p:cViewPr>
      <p:guideLst>
        <p:guide pos="2880" orient="horz"/>
        <p:guide pos="2160"/>
      </p:guideLst>
    </p:cSldViewPr>
  </p:notesViewPr>
</p:viewP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84" Type="http://schemas.openxmlformats.org/officeDocument/2006/relationships/font" Target="fonts/HelveticaNeue-italic.fntdata"/><Relationship Id="rId83" Type="http://schemas.openxmlformats.org/officeDocument/2006/relationships/font" Target="fonts/HelveticaNeue-bold.fntdata"/><Relationship Id="rId42" Type="http://schemas.openxmlformats.org/officeDocument/2006/relationships/slide" Target="slides/slide36.xml"/><Relationship Id="rId41" Type="http://schemas.openxmlformats.org/officeDocument/2006/relationships/slide" Target="slides/slide35.xml"/><Relationship Id="rId85" Type="http://schemas.openxmlformats.org/officeDocument/2006/relationships/font" Target="fonts/HelveticaNeue-boldItalic.fntdata"/><Relationship Id="rId44" Type="http://schemas.openxmlformats.org/officeDocument/2006/relationships/slide" Target="slides/slide38.xml"/><Relationship Id="rId43" Type="http://schemas.openxmlformats.org/officeDocument/2006/relationships/slide" Target="slides/slide37.xml"/><Relationship Id="rId46" Type="http://schemas.openxmlformats.org/officeDocument/2006/relationships/slide" Target="slides/slide40.xml"/><Relationship Id="rId45" Type="http://schemas.openxmlformats.org/officeDocument/2006/relationships/slide" Target="slides/slide39.xml"/><Relationship Id="rId80" Type="http://schemas.openxmlformats.org/officeDocument/2006/relationships/slide" Target="slides/slide74.xml"/><Relationship Id="rId82" Type="http://schemas.openxmlformats.org/officeDocument/2006/relationships/font" Target="fonts/HelveticaNeue-regular.fntdata"/><Relationship Id="rId81" Type="http://schemas.openxmlformats.org/officeDocument/2006/relationships/slide" Target="slides/slide75.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48" Type="http://schemas.openxmlformats.org/officeDocument/2006/relationships/slide" Target="slides/slide42.xml"/><Relationship Id="rId47" Type="http://schemas.openxmlformats.org/officeDocument/2006/relationships/slide" Target="slides/slide41.xml"/><Relationship Id="rId49" Type="http://schemas.openxmlformats.org/officeDocument/2006/relationships/slide" Target="slides/slide43.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73" Type="http://schemas.openxmlformats.org/officeDocument/2006/relationships/slide" Target="slides/slide67.xml"/><Relationship Id="rId72" Type="http://schemas.openxmlformats.org/officeDocument/2006/relationships/slide" Target="slides/slide66.xml"/><Relationship Id="rId31" Type="http://schemas.openxmlformats.org/officeDocument/2006/relationships/slide" Target="slides/slide25.xml"/><Relationship Id="rId75" Type="http://schemas.openxmlformats.org/officeDocument/2006/relationships/slide" Target="slides/slide69.xml"/><Relationship Id="rId30" Type="http://schemas.openxmlformats.org/officeDocument/2006/relationships/slide" Target="slides/slide24.xml"/><Relationship Id="rId74" Type="http://schemas.openxmlformats.org/officeDocument/2006/relationships/slide" Target="slides/slide68.xml"/><Relationship Id="rId33" Type="http://schemas.openxmlformats.org/officeDocument/2006/relationships/slide" Target="slides/slide27.xml"/><Relationship Id="rId77" Type="http://schemas.openxmlformats.org/officeDocument/2006/relationships/slide" Target="slides/slide71.xml"/><Relationship Id="rId32" Type="http://schemas.openxmlformats.org/officeDocument/2006/relationships/slide" Target="slides/slide26.xml"/><Relationship Id="rId76" Type="http://schemas.openxmlformats.org/officeDocument/2006/relationships/slide" Target="slides/slide70.xml"/><Relationship Id="rId35" Type="http://schemas.openxmlformats.org/officeDocument/2006/relationships/slide" Target="slides/slide29.xml"/><Relationship Id="rId79" Type="http://schemas.openxmlformats.org/officeDocument/2006/relationships/slide" Target="slides/slide73.xml"/><Relationship Id="rId34" Type="http://schemas.openxmlformats.org/officeDocument/2006/relationships/slide" Target="slides/slide28.xml"/><Relationship Id="rId78" Type="http://schemas.openxmlformats.org/officeDocument/2006/relationships/slide" Target="slides/slide72.xml"/><Relationship Id="rId71" Type="http://schemas.openxmlformats.org/officeDocument/2006/relationships/slide" Target="slides/slide65.xml"/><Relationship Id="rId70" Type="http://schemas.openxmlformats.org/officeDocument/2006/relationships/slide" Target="slides/slide64.xml"/><Relationship Id="rId37" Type="http://schemas.openxmlformats.org/officeDocument/2006/relationships/slide" Target="slides/slide31.xml"/><Relationship Id="rId36" Type="http://schemas.openxmlformats.org/officeDocument/2006/relationships/slide" Target="slides/slide30.xml"/><Relationship Id="rId39" Type="http://schemas.openxmlformats.org/officeDocument/2006/relationships/slide" Target="slides/slide33.xml"/><Relationship Id="rId38" Type="http://schemas.openxmlformats.org/officeDocument/2006/relationships/slide" Target="slides/slide32.xml"/><Relationship Id="rId62" Type="http://schemas.openxmlformats.org/officeDocument/2006/relationships/slide" Target="slides/slide56.xml"/><Relationship Id="rId61" Type="http://schemas.openxmlformats.org/officeDocument/2006/relationships/slide" Target="slides/slide55.xml"/><Relationship Id="rId20" Type="http://schemas.openxmlformats.org/officeDocument/2006/relationships/slide" Target="slides/slide14.xml"/><Relationship Id="rId64" Type="http://schemas.openxmlformats.org/officeDocument/2006/relationships/slide" Target="slides/slide58.xml"/><Relationship Id="rId63" Type="http://schemas.openxmlformats.org/officeDocument/2006/relationships/slide" Target="slides/slide57.xml"/><Relationship Id="rId22" Type="http://schemas.openxmlformats.org/officeDocument/2006/relationships/slide" Target="slides/slide16.xml"/><Relationship Id="rId66" Type="http://schemas.openxmlformats.org/officeDocument/2006/relationships/slide" Target="slides/slide60.xml"/><Relationship Id="rId21" Type="http://schemas.openxmlformats.org/officeDocument/2006/relationships/slide" Target="slides/slide15.xml"/><Relationship Id="rId65" Type="http://schemas.openxmlformats.org/officeDocument/2006/relationships/slide" Target="slides/slide59.xml"/><Relationship Id="rId24" Type="http://schemas.openxmlformats.org/officeDocument/2006/relationships/slide" Target="slides/slide18.xml"/><Relationship Id="rId68" Type="http://schemas.openxmlformats.org/officeDocument/2006/relationships/slide" Target="slides/slide62.xml"/><Relationship Id="rId23" Type="http://schemas.openxmlformats.org/officeDocument/2006/relationships/slide" Target="slides/slide17.xml"/><Relationship Id="rId67" Type="http://schemas.openxmlformats.org/officeDocument/2006/relationships/slide" Target="slides/slide61.xml"/><Relationship Id="rId60" Type="http://schemas.openxmlformats.org/officeDocument/2006/relationships/slide" Target="slides/slide54.xml"/><Relationship Id="rId26" Type="http://schemas.openxmlformats.org/officeDocument/2006/relationships/slide" Target="slides/slide20.xml"/><Relationship Id="rId25" Type="http://schemas.openxmlformats.org/officeDocument/2006/relationships/slide" Target="slides/slide19.xml"/><Relationship Id="rId69" Type="http://schemas.openxmlformats.org/officeDocument/2006/relationships/slide" Target="slides/slide63.xml"/><Relationship Id="rId28" Type="http://schemas.openxmlformats.org/officeDocument/2006/relationships/slide" Target="slides/slide22.xml"/><Relationship Id="rId27" Type="http://schemas.openxmlformats.org/officeDocument/2006/relationships/slide" Target="slides/slide21.xml"/><Relationship Id="rId29" Type="http://schemas.openxmlformats.org/officeDocument/2006/relationships/slide" Target="slides/slide23.xml"/><Relationship Id="rId51" Type="http://schemas.openxmlformats.org/officeDocument/2006/relationships/slide" Target="slides/slide45.xml"/><Relationship Id="rId50" Type="http://schemas.openxmlformats.org/officeDocument/2006/relationships/slide" Target="slides/slide44.xml"/><Relationship Id="rId53" Type="http://schemas.openxmlformats.org/officeDocument/2006/relationships/slide" Target="slides/slide47.xml"/><Relationship Id="rId52" Type="http://schemas.openxmlformats.org/officeDocument/2006/relationships/slide" Target="slides/slide46.xml"/><Relationship Id="rId11" Type="http://schemas.openxmlformats.org/officeDocument/2006/relationships/slide" Target="slides/slide5.xml"/><Relationship Id="rId55" Type="http://schemas.openxmlformats.org/officeDocument/2006/relationships/slide" Target="slides/slide49.xml"/><Relationship Id="rId10" Type="http://schemas.openxmlformats.org/officeDocument/2006/relationships/slide" Target="slides/slide4.xml"/><Relationship Id="rId54" Type="http://schemas.openxmlformats.org/officeDocument/2006/relationships/slide" Target="slides/slide48.xml"/><Relationship Id="rId13" Type="http://schemas.openxmlformats.org/officeDocument/2006/relationships/slide" Target="slides/slide7.xml"/><Relationship Id="rId57" Type="http://schemas.openxmlformats.org/officeDocument/2006/relationships/slide" Target="slides/slide51.xml"/><Relationship Id="rId12" Type="http://schemas.openxmlformats.org/officeDocument/2006/relationships/slide" Target="slides/slide6.xml"/><Relationship Id="rId56" Type="http://schemas.openxmlformats.org/officeDocument/2006/relationships/slide" Target="slides/slide50.xml"/><Relationship Id="rId15" Type="http://schemas.openxmlformats.org/officeDocument/2006/relationships/slide" Target="slides/slide9.xml"/><Relationship Id="rId59" Type="http://schemas.openxmlformats.org/officeDocument/2006/relationships/slide" Target="slides/slide53.xml"/><Relationship Id="rId14" Type="http://schemas.openxmlformats.org/officeDocument/2006/relationships/slide" Target="slides/slide8.xml"/><Relationship Id="rId58" Type="http://schemas.openxmlformats.org/officeDocument/2006/relationships/slide" Target="slides/slide52.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Avenir"/>
                <a:ea typeface="Avenir"/>
                <a:cs typeface="Avenir"/>
                <a:sym typeface="Avenir"/>
              </a:defRPr>
            </a:lvl1pPr>
            <a:lvl2pPr indent="-228600" lvl="1" marL="914400" marR="0" rtl="0" algn="l">
              <a:spcBef>
                <a:spcPts val="0"/>
              </a:spcBef>
              <a:spcAft>
                <a:spcPts val="0"/>
              </a:spcAft>
              <a:buSzPts val="1400"/>
              <a:buNone/>
              <a:defRPr b="0" i="0" sz="1200" u="none" cap="none" strike="noStrike">
                <a:solidFill>
                  <a:schemeClr val="dk1"/>
                </a:solidFill>
                <a:latin typeface="Avenir"/>
                <a:ea typeface="Avenir"/>
                <a:cs typeface="Avenir"/>
                <a:sym typeface="Avenir"/>
              </a:defRPr>
            </a:lvl2pPr>
            <a:lvl3pPr indent="-228600" lvl="2" marL="1371600" marR="0" rtl="0" algn="l">
              <a:spcBef>
                <a:spcPts val="0"/>
              </a:spcBef>
              <a:spcAft>
                <a:spcPts val="0"/>
              </a:spcAft>
              <a:buSzPts val="1400"/>
              <a:buNone/>
              <a:defRPr b="0" i="0" sz="1200" u="none" cap="none" strike="noStrike">
                <a:solidFill>
                  <a:schemeClr val="dk1"/>
                </a:solidFill>
                <a:latin typeface="Avenir"/>
                <a:ea typeface="Avenir"/>
                <a:cs typeface="Avenir"/>
                <a:sym typeface="Avenir"/>
              </a:defRPr>
            </a:lvl3pPr>
            <a:lvl4pPr indent="-228600" lvl="3" marL="1828800" marR="0" rtl="0" algn="l">
              <a:spcBef>
                <a:spcPts val="0"/>
              </a:spcBef>
              <a:spcAft>
                <a:spcPts val="0"/>
              </a:spcAft>
              <a:buSzPts val="1400"/>
              <a:buNone/>
              <a:defRPr b="0" i="0" sz="1200" u="none" cap="none" strike="noStrike">
                <a:solidFill>
                  <a:schemeClr val="dk1"/>
                </a:solidFill>
                <a:latin typeface="Avenir"/>
                <a:ea typeface="Avenir"/>
                <a:cs typeface="Avenir"/>
                <a:sym typeface="Avenir"/>
              </a:defRPr>
            </a:lvl4pPr>
            <a:lvl5pPr indent="-228600" lvl="4" marL="2286000" marR="0" rtl="0" algn="l">
              <a:spcBef>
                <a:spcPts val="0"/>
              </a:spcBef>
              <a:spcAft>
                <a:spcPts val="0"/>
              </a:spcAft>
              <a:buSzPts val="1400"/>
              <a:buNone/>
              <a:defRPr b="0" i="0" sz="1200" u="none" cap="none" strike="noStrike">
                <a:solidFill>
                  <a:schemeClr val="dk1"/>
                </a:solidFill>
                <a:latin typeface="Avenir"/>
                <a:ea typeface="Avenir"/>
                <a:cs typeface="Avenir"/>
                <a:sym typeface="Avenir"/>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4" name="Google Shape;4;n"/>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
        <p:nvSpPr>
          <p:cNvPr id="5" name="Google Shape;5;n"/>
          <p:cNvSpPr/>
          <p:nvPr>
            <p:ph idx="2" type="sldImg"/>
          </p:nvPr>
        </p:nvSpPr>
        <p:spPr>
          <a:xfrm>
            <a:off x="4336473" y="458788"/>
            <a:ext cx="2157057" cy="121334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p1:notes"/>
          <p:cNvSpPr/>
          <p:nvPr>
            <p:ph idx="2" type="sldImg"/>
          </p:nvPr>
        </p:nvSpPr>
        <p:spPr>
          <a:xfrm>
            <a:off x="4065588" y="458788"/>
            <a:ext cx="2417762" cy="13604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 name="Google Shape;83;p1: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200"/>
              <a:buFont typeface="Avenir"/>
              <a:buNone/>
            </a:pPr>
            <a:r>
              <a:rPr lang="en-US"/>
              <a:t>Welcome to Middlesex University</a:t>
            </a:r>
            <a:endParaRPr/>
          </a:p>
          <a:p>
            <a:pPr indent="0" lvl="0" marL="0" rtl="0" algn="l">
              <a:spcBef>
                <a:spcPts val="0"/>
              </a:spcBef>
              <a:spcAft>
                <a:spcPts val="0"/>
              </a:spcAft>
              <a:buNone/>
            </a:pPr>
            <a:r>
              <a:t/>
            </a:r>
            <a:endParaRPr/>
          </a:p>
        </p:txBody>
      </p:sp>
      <p:sp>
        <p:nvSpPr>
          <p:cNvPr id="84" name="Google Shape;84;p1: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p2: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Today is about doing….</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 board set-up is important so take your time with this. It can take around 10 minutes for the participants to get everything straight.</a:t>
            </a:r>
            <a:endParaRPr/>
          </a:p>
          <a:p>
            <a:pPr indent="0" lvl="0" marL="0" rtl="0" algn="l">
              <a:spcBef>
                <a:spcPts val="0"/>
              </a:spcBef>
              <a:spcAft>
                <a:spcPts val="0"/>
              </a:spcAft>
              <a:buNone/>
            </a:pPr>
            <a:r>
              <a:t/>
            </a:r>
            <a:endParaRPr/>
          </a:p>
          <a:p>
            <a:pPr indent="0" lvl="0" marL="0" marR="0" rtl="0" algn="l">
              <a:lnSpc>
                <a:spcPct val="100000"/>
              </a:lnSpc>
              <a:spcBef>
                <a:spcPts val="0"/>
              </a:spcBef>
              <a:spcAft>
                <a:spcPts val="0"/>
              </a:spcAft>
              <a:buClr>
                <a:schemeClr val="dk1"/>
              </a:buClr>
              <a:buSzPts val="1200"/>
              <a:buFont typeface="Avenir"/>
              <a:buNone/>
            </a:pPr>
            <a:r>
              <a:rPr b="1" lang="en-US" sz="1200">
                <a:solidFill>
                  <a:schemeClr val="dk1"/>
                </a:solidFill>
              </a:rPr>
              <a:t>Tips, tricks and pitfalls</a:t>
            </a:r>
            <a:endParaRPr sz="1200">
              <a:solidFill>
                <a:schemeClr val="dk1"/>
              </a:solidFill>
            </a:endParaRPr>
          </a:p>
          <a:p>
            <a:pPr indent="0" lvl="0" marL="0" rtl="0" algn="l">
              <a:spcBef>
                <a:spcPts val="0"/>
              </a:spcBef>
              <a:spcAft>
                <a:spcPts val="0"/>
              </a:spcAft>
              <a:buNone/>
            </a:pPr>
            <a:r>
              <a:t/>
            </a:r>
            <a:endParaRPr sz="1200">
              <a:solidFill>
                <a:schemeClr val="dk1"/>
              </a:solidFill>
            </a:endParaRPr>
          </a:p>
          <a:p>
            <a:pPr indent="-171450" lvl="0" marL="171450" rtl="0" algn="l">
              <a:spcBef>
                <a:spcPts val="0"/>
              </a:spcBef>
              <a:spcAft>
                <a:spcPts val="0"/>
              </a:spcAft>
              <a:buClr>
                <a:schemeClr val="dk1"/>
              </a:buClr>
              <a:buSzPts val="1200"/>
              <a:buFont typeface="Arial"/>
              <a:buChar char="•"/>
            </a:pPr>
            <a:r>
              <a:rPr lang="en-US" sz="1200">
                <a:solidFill>
                  <a:schemeClr val="dk1"/>
                </a:solidFill>
              </a:rPr>
              <a:t>We have done definitions of assets, liabilities and equity in the butterfly. </a:t>
            </a:r>
            <a:endParaRPr/>
          </a:p>
          <a:p>
            <a:pPr indent="-82550" lvl="0" marL="171450" rtl="0" algn="l">
              <a:spcBef>
                <a:spcPts val="0"/>
              </a:spcBef>
              <a:spcAft>
                <a:spcPts val="0"/>
              </a:spcAft>
              <a:buClr>
                <a:schemeClr val="dk1"/>
              </a:buClr>
              <a:buSzPts val="1400"/>
              <a:buFont typeface="Arial"/>
              <a:buNone/>
            </a:pPr>
            <a:r>
              <a:t/>
            </a:r>
            <a:endParaRPr sz="1400">
              <a:solidFill>
                <a:schemeClr val="dk1"/>
              </a:solidFill>
            </a:endParaRPr>
          </a:p>
          <a:p>
            <a:pPr indent="-171450" lvl="0" marL="171450" rtl="0" algn="l">
              <a:spcBef>
                <a:spcPts val="0"/>
              </a:spcBef>
              <a:spcAft>
                <a:spcPts val="0"/>
              </a:spcAft>
              <a:buClr>
                <a:schemeClr val="dk1"/>
              </a:buClr>
              <a:buSzPts val="1200"/>
              <a:buFont typeface="Arial"/>
              <a:buChar char="•"/>
            </a:pPr>
            <a:r>
              <a:rPr lang="en-US" sz="1200">
                <a:solidFill>
                  <a:schemeClr val="dk1"/>
                </a:solidFill>
              </a:rPr>
              <a:t>This section does them again and introduces the all-important definitions of VGA (value generating activity) </a:t>
            </a:r>
            <a:r>
              <a:rPr b="1" lang="en-US" sz="1200" u="sng">
                <a:solidFill>
                  <a:schemeClr val="dk1"/>
                </a:solidFill>
              </a:rPr>
              <a:t>income</a:t>
            </a:r>
            <a:r>
              <a:rPr lang="en-US" sz="1200">
                <a:solidFill>
                  <a:schemeClr val="dk1"/>
                </a:solidFill>
              </a:rPr>
              <a:t> and VSA (value sacrificing activity) </a:t>
            </a:r>
            <a:r>
              <a:rPr b="1" lang="en-US" sz="1200" u="sng">
                <a:solidFill>
                  <a:schemeClr val="dk1"/>
                </a:solidFill>
              </a:rPr>
              <a:t>expense</a:t>
            </a:r>
            <a:r>
              <a:rPr lang="en-US" sz="1200">
                <a:solidFill>
                  <a:schemeClr val="dk1"/>
                </a:solidFill>
              </a:rPr>
              <a:t>.</a:t>
            </a:r>
            <a:endParaRPr/>
          </a:p>
          <a:p>
            <a:pPr indent="-82550" lvl="0" marL="171450" rtl="0" algn="l">
              <a:spcBef>
                <a:spcPts val="0"/>
              </a:spcBef>
              <a:spcAft>
                <a:spcPts val="0"/>
              </a:spcAft>
              <a:buClr>
                <a:schemeClr val="dk1"/>
              </a:buClr>
              <a:buSzPts val="1400"/>
              <a:buFont typeface="Arial"/>
              <a:buNone/>
            </a:pPr>
            <a:r>
              <a:t/>
            </a:r>
            <a:endParaRPr sz="1400">
              <a:solidFill>
                <a:schemeClr val="dk1"/>
              </a:solidFill>
            </a:endParaRPr>
          </a:p>
          <a:p>
            <a:pPr indent="-171450" lvl="0" marL="171450" rtl="0" algn="l">
              <a:spcBef>
                <a:spcPts val="0"/>
              </a:spcBef>
              <a:spcAft>
                <a:spcPts val="0"/>
              </a:spcAft>
              <a:buClr>
                <a:schemeClr val="dk1"/>
              </a:buClr>
              <a:buSzPts val="1200"/>
              <a:buFont typeface="Arial"/>
              <a:buChar char="•"/>
            </a:pPr>
            <a:r>
              <a:rPr lang="en-US" sz="1200">
                <a:solidFill>
                  <a:schemeClr val="dk1"/>
                </a:solidFill>
              </a:rPr>
              <a:t>These are “educational definitions”, not official definitions. They’ve proved to work really well in overcoming classic errors, like thinking that income is money. </a:t>
            </a:r>
            <a:endParaRPr/>
          </a:p>
          <a:p>
            <a:pPr indent="-82550" lvl="0" marL="171450" rtl="0" algn="l">
              <a:spcBef>
                <a:spcPts val="0"/>
              </a:spcBef>
              <a:spcAft>
                <a:spcPts val="0"/>
              </a:spcAft>
              <a:buClr>
                <a:schemeClr val="dk1"/>
              </a:buClr>
              <a:buSzPts val="1400"/>
              <a:buFont typeface="Arial"/>
              <a:buNone/>
            </a:pPr>
            <a:r>
              <a:t/>
            </a:r>
            <a:endParaRPr sz="1400">
              <a:solidFill>
                <a:schemeClr val="dk1"/>
              </a:solidFill>
            </a:endParaRPr>
          </a:p>
          <a:p>
            <a:pPr indent="-171450" lvl="0" marL="171450" rtl="0" algn="l">
              <a:spcBef>
                <a:spcPts val="0"/>
              </a:spcBef>
              <a:spcAft>
                <a:spcPts val="0"/>
              </a:spcAft>
              <a:buClr>
                <a:schemeClr val="dk1"/>
              </a:buClr>
              <a:buSzPts val="1200"/>
              <a:buFont typeface="Arial"/>
              <a:buChar char="•"/>
            </a:pPr>
            <a:r>
              <a:rPr lang="en-US" sz="1200">
                <a:solidFill>
                  <a:schemeClr val="dk1"/>
                </a:solidFill>
              </a:rPr>
              <a:t>To derive the income part of the framework you’ll do some of the Classic Transactions [ 1; 2; 6a and 6b ], but with different numbers: </a:t>
            </a:r>
            <a:endParaRPr/>
          </a:p>
          <a:p>
            <a:pPr indent="-82550" lvl="0" marL="171450" rtl="0" algn="l">
              <a:spcBef>
                <a:spcPts val="0"/>
              </a:spcBef>
              <a:spcAft>
                <a:spcPts val="0"/>
              </a:spcAft>
              <a:buClr>
                <a:schemeClr val="dk1"/>
              </a:buClr>
              <a:buSzPts val="1400"/>
              <a:buFont typeface="Arial"/>
              <a:buNone/>
            </a:pPr>
            <a:r>
              <a:t/>
            </a:r>
            <a:endParaRPr sz="1400">
              <a:solidFill>
                <a:schemeClr val="dk1"/>
              </a:solidFill>
            </a:endParaRPr>
          </a:p>
          <a:p>
            <a:pPr indent="-171450" lvl="1" marL="628650" rtl="0" algn="l">
              <a:spcBef>
                <a:spcPts val="0"/>
              </a:spcBef>
              <a:spcAft>
                <a:spcPts val="0"/>
              </a:spcAft>
              <a:buClr>
                <a:schemeClr val="dk1"/>
              </a:buClr>
              <a:buSzPts val="1200"/>
              <a:buFont typeface="Arial"/>
              <a:buChar char="•"/>
            </a:pPr>
            <a:r>
              <a:rPr lang="en-US" sz="1200">
                <a:solidFill>
                  <a:schemeClr val="dk1"/>
                </a:solidFill>
              </a:rPr>
              <a:t>Borrow money from lender £30,000</a:t>
            </a:r>
            <a:endParaRPr sz="1400">
              <a:solidFill>
                <a:schemeClr val="dk1"/>
              </a:solidFill>
            </a:endParaRPr>
          </a:p>
          <a:p>
            <a:pPr indent="-95250" lvl="1" marL="628650" rtl="0" algn="l">
              <a:spcBef>
                <a:spcPts val="0"/>
              </a:spcBef>
              <a:spcAft>
                <a:spcPts val="0"/>
              </a:spcAft>
              <a:buClr>
                <a:schemeClr val="dk1"/>
              </a:buClr>
              <a:buSzPts val="1200"/>
              <a:buFont typeface="Arial"/>
              <a:buNone/>
            </a:pPr>
            <a:r>
              <a:t/>
            </a:r>
            <a:endParaRPr sz="1200">
              <a:solidFill>
                <a:schemeClr val="dk1"/>
              </a:solidFill>
            </a:endParaRPr>
          </a:p>
          <a:p>
            <a:pPr indent="-171450" lvl="1" marL="628650" rtl="0" algn="l">
              <a:spcBef>
                <a:spcPts val="0"/>
              </a:spcBef>
              <a:spcAft>
                <a:spcPts val="0"/>
              </a:spcAft>
              <a:buClr>
                <a:schemeClr val="dk1"/>
              </a:buClr>
              <a:buSzPts val="1200"/>
              <a:buFont typeface="Arial"/>
              <a:buChar char="•"/>
            </a:pPr>
            <a:r>
              <a:rPr lang="en-US" sz="1200">
                <a:solidFill>
                  <a:schemeClr val="dk1"/>
                </a:solidFill>
              </a:rPr>
              <a:t>Owner invests money as equity £20,000</a:t>
            </a:r>
            <a:endParaRPr sz="1400">
              <a:solidFill>
                <a:schemeClr val="dk1"/>
              </a:solidFill>
            </a:endParaRPr>
          </a:p>
          <a:p>
            <a:pPr indent="-95250" lvl="1" marL="628650" rtl="0" algn="l">
              <a:spcBef>
                <a:spcPts val="0"/>
              </a:spcBef>
              <a:spcAft>
                <a:spcPts val="0"/>
              </a:spcAft>
              <a:buClr>
                <a:schemeClr val="dk1"/>
              </a:buClr>
              <a:buSzPts val="1200"/>
              <a:buFont typeface="Arial"/>
              <a:buNone/>
            </a:pPr>
            <a:r>
              <a:t/>
            </a:r>
            <a:endParaRPr sz="1200">
              <a:solidFill>
                <a:schemeClr val="dk1"/>
              </a:solidFill>
            </a:endParaRPr>
          </a:p>
          <a:p>
            <a:pPr indent="-171450" lvl="1" marL="628650" rtl="0" algn="l">
              <a:spcBef>
                <a:spcPts val="0"/>
              </a:spcBef>
              <a:spcAft>
                <a:spcPts val="0"/>
              </a:spcAft>
              <a:buClr>
                <a:schemeClr val="dk1"/>
              </a:buClr>
              <a:buSzPts val="1200"/>
              <a:buFont typeface="Arial"/>
              <a:buChar char="•"/>
            </a:pPr>
            <a:r>
              <a:rPr lang="en-US" sz="1200">
                <a:solidFill>
                  <a:schemeClr val="dk1"/>
                </a:solidFill>
              </a:rPr>
              <a:t>Make a sale £700</a:t>
            </a:r>
            <a:endParaRPr sz="1400">
              <a:solidFill>
                <a:schemeClr val="dk1"/>
              </a:solidFill>
            </a:endParaRPr>
          </a:p>
          <a:p>
            <a:pPr indent="-95250" lvl="1" marL="628650" rtl="0" algn="l">
              <a:spcBef>
                <a:spcPts val="0"/>
              </a:spcBef>
              <a:spcAft>
                <a:spcPts val="0"/>
              </a:spcAft>
              <a:buClr>
                <a:schemeClr val="dk1"/>
              </a:buClr>
              <a:buSzPts val="1200"/>
              <a:buFont typeface="Arial"/>
              <a:buNone/>
            </a:pPr>
            <a:r>
              <a:t/>
            </a:r>
            <a:endParaRPr sz="1200">
              <a:solidFill>
                <a:schemeClr val="dk1"/>
              </a:solidFill>
            </a:endParaRPr>
          </a:p>
          <a:p>
            <a:pPr indent="-171450" lvl="1" marL="628650" rtl="0" algn="l">
              <a:spcBef>
                <a:spcPts val="0"/>
              </a:spcBef>
              <a:spcAft>
                <a:spcPts val="0"/>
              </a:spcAft>
              <a:buClr>
                <a:schemeClr val="dk1"/>
              </a:buClr>
              <a:buSzPts val="1200"/>
              <a:buFont typeface="Arial"/>
              <a:buChar char="•"/>
            </a:pPr>
            <a:r>
              <a:rPr lang="en-US" sz="1200">
                <a:solidFill>
                  <a:schemeClr val="dk1"/>
                </a:solidFill>
              </a:rPr>
              <a:t>Cost associated with that sale £300</a:t>
            </a:r>
            <a:endParaRPr sz="1400">
              <a:solidFill>
                <a:schemeClr val="dk1"/>
              </a:solidFill>
            </a:endParaRPr>
          </a:p>
          <a:p>
            <a:pPr indent="-95250" lvl="0" marL="171450" rtl="0" algn="l">
              <a:spcBef>
                <a:spcPts val="0"/>
              </a:spcBef>
              <a:spcAft>
                <a:spcPts val="0"/>
              </a:spcAft>
              <a:buClr>
                <a:schemeClr val="dk1"/>
              </a:buClr>
              <a:buSzPts val="1200"/>
              <a:buFont typeface="Arial"/>
              <a:buNone/>
            </a:pPr>
            <a:r>
              <a:t/>
            </a:r>
            <a:endParaRPr sz="1200">
              <a:solidFill>
                <a:schemeClr val="dk1"/>
              </a:solidFill>
            </a:endParaRPr>
          </a:p>
          <a:p>
            <a:pPr indent="-171450" lvl="0" marL="171450" rtl="0" algn="l">
              <a:spcBef>
                <a:spcPts val="0"/>
              </a:spcBef>
              <a:spcAft>
                <a:spcPts val="0"/>
              </a:spcAft>
              <a:buClr>
                <a:schemeClr val="dk1"/>
              </a:buClr>
              <a:buSzPts val="1200"/>
              <a:buFont typeface="Arial"/>
              <a:buChar char="•"/>
            </a:pPr>
            <a:r>
              <a:rPr lang="en-US" sz="1200">
                <a:solidFill>
                  <a:schemeClr val="dk1"/>
                </a:solidFill>
              </a:rPr>
              <a:t>We use the last two transactions to introduce the concept of profit as generated equity.</a:t>
            </a:r>
            <a:endParaRPr/>
          </a:p>
          <a:p>
            <a:pPr indent="0" lvl="0" marL="0" rtl="0" algn="l">
              <a:spcBef>
                <a:spcPts val="0"/>
              </a:spcBef>
              <a:spcAft>
                <a:spcPts val="0"/>
              </a:spcAft>
              <a:buNone/>
            </a:pPr>
            <a:r>
              <a:t/>
            </a:r>
            <a:endParaRPr/>
          </a:p>
        </p:txBody>
      </p:sp>
      <p:sp>
        <p:nvSpPr>
          <p:cNvPr id="89" name="Google Shape;89;p2:notes"/>
          <p:cNvSpPr/>
          <p:nvPr>
            <p:ph idx="2" type="sldImg"/>
          </p:nvPr>
        </p:nvSpPr>
        <p:spPr>
          <a:xfrm>
            <a:off x="4194175" y="458788"/>
            <a:ext cx="2289175" cy="128905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90" name="Google Shape;90;p2: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Helvetica Neue"/>
                <a:ea typeface="Helvetica Neue"/>
                <a:cs typeface="Helvetica Neue"/>
                <a:sym typeface="Helvetica Neue"/>
              </a:rPr>
              <a:t>‹#›</a:t>
            </a:fld>
            <a:endParaRPr b="0" i="0" sz="1200" u="none" cap="none" strike="noStrike">
              <a:solidFill>
                <a:schemeClr val="dk1"/>
              </a:solidFill>
              <a:latin typeface="Helvetica Neue"/>
              <a:ea typeface="Helvetica Neue"/>
              <a:cs typeface="Helvetica Neue"/>
              <a:sym typeface="Helvetica Neue"/>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3: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b="0" lang="en-US" sz="1600">
                <a:solidFill>
                  <a:srgbClr val="7030A0"/>
                </a:solidFill>
                <a:highlight>
                  <a:srgbClr val="FFFF00"/>
                </a:highlight>
              </a:rPr>
              <a:t>Do a super-quick re-cap of the butterfly conversation</a:t>
            </a:r>
            <a:endParaRPr/>
          </a:p>
          <a:p>
            <a:pPr indent="0" lvl="0" marL="0" rtl="0" algn="l">
              <a:spcBef>
                <a:spcPts val="0"/>
              </a:spcBef>
              <a:spcAft>
                <a:spcPts val="0"/>
              </a:spcAft>
              <a:buNone/>
            </a:pPr>
            <a:r>
              <a:t/>
            </a:r>
            <a:endParaRPr b="0" sz="1600">
              <a:solidFill>
                <a:srgbClr val="7030A0"/>
              </a:solidFill>
              <a:highlight>
                <a:srgbClr val="FFFF00"/>
              </a:highlight>
            </a:endParaRPr>
          </a:p>
          <a:p>
            <a:pPr indent="0" lvl="0" marL="0" rtl="0" algn="l">
              <a:spcBef>
                <a:spcPts val="0"/>
              </a:spcBef>
              <a:spcAft>
                <a:spcPts val="0"/>
              </a:spcAft>
              <a:buNone/>
            </a:pPr>
            <a:r>
              <a:rPr b="0" lang="en-US" sz="1600">
                <a:solidFill>
                  <a:srgbClr val="7030A0"/>
                </a:solidFill>
                <a:highlight>
                  <a:srgbClr val="FFFF00"/>
                </a:highlight>
              </a:rPr>
              <a:t>Point students to re-run of induction session at 3pm on Tuesday, or recordings if that session has passed.</a:t>
            </a:r>
            <a:endParaRPr b="0"/>
          </a:p>
        </p:txBody>
      </p:sp>
      <p:sp>
        <p:nvSpPr>
          <p:cNvPr id="98" name="Google Shape;98;p3:notes"/>
          <p:cNvSpPr/>
          <p:nvPr>
            <p:ph idx="2" type="sldImg"/>
          </p:nvPr>
        </p:nvSpPr>
        <p:spPr>
          <a:xfrm>
            <a:off x="4256088" y="458788"/>
            <a:ext cx="2227262" cy="12541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99" name="Google Shape;99;p3: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Helvetica Neue"/>
                <a:ea typeface="Helvetica Neue"/>
                <a:cs typeface="Helvetica Neue"/>
                <a:sym typeface="Helvetica Neue"/>
              </a:rPr>
              <a:t>‹#›</a:t>
            </a:fld>
            <a:endParaRPr b="0" i="0" sz="1200" u="none" cap="none" strike="noStrike">
              <a:solidFill>
                <a:schemeClr val="dk1"/>
              </a:solidFill>
              <a:latin typeface="Helvetica Neue"/>
              <a:ea typeface="Helvetica Neue"/>
              <a:cs typeface="Helvetica Neue"/>
              <a:sym typeface="Helvetica Neue"/>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4: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b="1" lang="en-US"/>
              <a:t>Headlines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Build the story with numbers:</a:t>
            </a:r>
            <a:endParaRPr/>
          </a:p>
          <a:p>
            <a:pPr indent="0" lvl="1" marL="457200" rtl="0" algn="l">
              <a:spcBef>
                <a:spcPts val="0"/>
              </a:spcBef>
              <a:spcAft>
                <a:spcPts val="0"/>
              </a:spcAft>
              <a:buNone/>
            </a:pPr>
            <a:r>
              <a:rPr b="1" lang="en-US">
                <a:solidFill>
                  <a:schemeClr val="accent1"/>
                </a:solidFill>
              </a:rPr>
              <a:t>A = 50,000</a:t>
            </a:r>
            <a:endParaRPr>
              <a:solidFill>
                <a:schemeClr val="accent1"/>
              </a:solidFill>
            </a:endParaRPr>
          </a:p>
          <a:p>
            <a:pPr indent="0" lvl="1" marL="457200" rtl="0" algn="l">
              <a:spcBef>
                <a:spcPts val="0"/>
              </a:spcBef>
              <a:spcAft>
                <a:spcPts val="0"/>
              </a:spcAft>
              <a:buNone/>
            </a:pPr>
            <a:r>
              <a:rPr b="1" lang="en-US">
                <a:solidFill>
                  <a:schemeClr val="accent1"/>
                </a:solidFill>
              </a:rPr>
              <a:t>L = 30,000</a:t>
            </a:r>
            <a:endParaRPr>
              <a:solidFill>
                <a:schemeClr val="accent1"/>
              </a:solidFill>
            </a:endParaRPr>
          </a:p>
          <a:p>
            <a:pPr indent="0" lvl="1" marL="457200" rtl="0" algn="l">
              <a:spcBef>
                <a:spcPts val="0"/>
              </a:spcBef>
              <a:spcAft>
                <a:spcPts val="0"/>
              </a:spcAft>
              <a:buNone/>
            </a:pPr>
            <a:r>
              <a:rPr b="1" lang="en-US">
                <a:solidFill>
                  <a:schemeClr val="accent1"/>
                </a:solidFill>
              </a:rPr>
              <a:t>E = 20,000</a:t>
            </a:r>
            <a:endParaRPr>
              <a:solidFill>
                <a:schemeClr val="accent1"/>
              </a:solidFill>
            </a:endParaRPr>
          </a:p>
          <a:p>
            <a:pPr indent="0" lvl="0" marL="0" rtl="0" algn="l">
              <a:spcBef>
                <a:spcPts val="0"/>
              </a:spcBef>
              <a:spcAft>
                <a:spcPts val="0"/>
              </a:spcAft>
              <a:buNone/>
            </a:pPr>
            <a:r>
              <a:t/>
            </a:r>
            <a:endParaRPr/>
          </a:p>
          <a:p>
            <a:pPr indent="0" lvl="0" marL="0" rtl="0" algn="l">
              <a:spcBef>
                <a:spcPts val="0"/>
              </a:spcBef>
              <a:spcAft>
                <a:spcPts val="0"/>
              </a:spcAft>
              <a:buNone/>
            </a:pPr>
            <a:r>
              <a:t/>
            </a:r>
            <a:endParaRPr b="1"/>
          </a:p>
          <a:p>
            <a:pPr indent="0" lvl="0" marL="0" rtl="0" algn="l">
              <a:spcBef>
                <a:spcPts val="0"/>
              </a:spcBef>
              <a:spcAft>
                <a:spcPts val="0"/>
              </a:spcAft>
              <a:buNone/>
            </a:pPr>
            <a:r>
              <a:t/>
            </a:r>
            <a:endParaRPr b="1"/>
          </a:p>
          <a:p>
            <a:pPr indent="0" lvl="0" marL="0" rtl="0" algn="l">
              <a:spcBef>
                <a:spcPts val="0"/>
              </a:spcBef>
              <a:spcAft>
                <a:spcPts val="0"/>
              </a:spcAft>
              <a:buNone/>
            </a:pPr>
            <a:r>
              <a:rPr b="1" lang="en-US"/>
              <a:t>Sequence Steps</a:t>
            </a:r>
            <a:endParaRPr/>
          </a:p>
          <a:p>
            <a:pPr indent="0" lvl="0" marL="0" rtl="0" algn="l">
              <a:spcBef>
                <a:spcPts val="0"/>
              </a:spcBef>
              <a:spcAft>
                <a:spcPts val="0"/>
              </a:spcAft>
              <a:buNone/>
            </a:pPr>
            <a:r>
              <a:t/>
            </a:r>
            <a:endParaRPr b="1"/>
          </a:p>
          <a:p>
            <a:pPr indent="-171450" lvl="0" marL="171450" rtl="0" algn="l">
              <a:spcBef>
                <a:spcPts val="0"/>
              </a:spcBef>
              <a:spcAft>
                <a:spcPts val="0"/>
              </a:spcAft>
              <a:buClr>
                <a:schemeClr val="dk1"/>
              </a:buClr>
              <a:buSzPts val="1200"/>
              <a:buFont typeface="Arial"/>
              <a:buChar char="•"/>
            </a:pPr>
            <a:r>
              <a:rPr lang="en-US"/>
              <a:t>Say: let’s assume this is a start-up business and we need all these assets we’ve identified. Let’s say we need </a:t>
            </a:r>
            <a:r>
              <a:rPr b="1" lang="en-US">
                <a:solidFill>
                  <a:schemeClr val="accent1"/>
                </a:solidFill>
              </a:rPr>
              <a:t>£50,000 </a:t>
            </a:r>
            <a:r>
              <a:rPr lang="en-US"/>
              <a:t>worth of assets. </a:t>
            </a:r>
            <a:r>
              <a:rPr b="1" lang="en-US">
                <a:solidFill>
                  <a:srgbClr val="C00000"/>
                </a:solidFill>
              </a:rPr>
              <a:t>[ CLICK ]</a:t>
            </a:r>
            <a:r>
              <a:rPr lang="en-US"/>
              <a:t> to reveal </a:t>
            </a:r>
            <a:r>
              <a:rPr b="1" lang="en-US">
                <a:solidFill>
                  <a:schemeClr val="accent1"/>
                </a:solidFill>
              </a:rPr>
              <a:t>50,000</a:t>
            </a:r>
            <a:r>
              <a:rPr lang="en-US"/>
              <a:t> in assets wing.</a:t>
            </a:r>
            <a:endParaRPr/>
          </a:p>
          <a:p>
            <a:pPr indent="-95250" lvl="0" marL="171450" rtl="0" algn="l">
              <a:spcBef>
                <a:spcPts val="0"/>
              </a:spcBef>
              <a:spcAft>
                <a:spcPts val="0"/>
              </a:spcAft>
              <a:buClr>
                <a:schemeClr val="dk1"/>
              </a:buClr>
              <a:buSzPts val="1200"/>
              <a:buFont typeface="Arial"/>
              <a:buNone/>
            </a:pPr>
            <a:r>
              <a:t/>
            </a:r>
            <a:endParaRPr/>
          </a:p>
          <a:p>
            <a:pPr indent="-171450" lvl="0" marL="171450" rtl="0" algn="l">
              <a:spcBef>
                <a:spcPts val="0"/>
              </a:spcBef>
              <a:spcAft>
                <a:spcPts val="0"/>
              </a:spcAft>
              <a:buClr>
                <a:schemeClr val="dk1"/>
              </a:buClr>
              <a:buSzPts val="1200"/>
              <a:buFont typeface="Arial"/>
              <a:buChar char="•"/>
            </a:pPr>
            <a:r>
              <a:rPr lang="en-US"/>
              <a:t>Ask: where will we get the 50,000 from for the assets? </a:t>
            </a:r>
            <a:endParaRPr/>
          </a:p>
          <a:p>
            <a:pPr indent="-95250" lvl="0" marL="171450" rtl="0" algn="l">
              <a:spcBef>
                <a:spcPts val="0"/>
              </a:spcBef>
              <a:spcAft>
                <a:spcPts val="0"/>
              </a:spcAft>
              <a:buClr>
                <a:schemeClr val="dk1"/>
              </a:buClr>
              <a:buSzPts val="1200"/>
              <a:buFont typeface="Arial"/>
              <a:buNone/>
            </a:pPr>
            <a:r>
              <a:t/>
            </a:r>
            <a:endParaRPr/>
          </a:p>
          <a:p>
            <a:pPr indent="-171450" lvl="0" marL="171450" rtl="0" algn="l">
              <a:spcBef>
                <a:spcPts val="0"/>
              </a:spcBef>
              <a:spcAft>
                <a:spcPts val="0"/>
              </a:spcAft>
              <a:buClr>
                <a:schemeClr val="dk1"/>
              </a:buClr>
              <a:buSzPts val="1200"/>
              <a:buFont typeface="Arial"/>
              <a:buChar char="•"/>
            </a:pPr>
            <a:r>
              <a:rPr lang="en-US"/>
              <a:t>Start with debt. Ask them what accountants call this element of the story – Liabilities and get them to write it in the wing like your example </a:t>
            </a:r>
            <a:r>
              <a:rPr b="1" lang="en-US">
                <a:solidFill>
                  <a:srgbClr val="C00000"/>
                </a:solidFill>
              </a:rPr>
              <a:t>[ CLICK ]</a:t>
            </a:r>
            <a:r>
              <a:rPr lang="en-US"/>
              <a:t>. State that we can borrow the funds from the lenders (creditors) and then we are contractually obligated to return those assets later. Say: let’s assume we have borrowed £30,000 – </a:t>
            </a:r>
            <a:r>
              <a:rPr b="1" lang="en-US">
                <a:solidFill>
                  <a:srgbClr val="C00000"/>
                </a:solidFill>
              </a:rPr>
              <a:t>[ CLICK ]</a:t>
            </a:r>
            <a:r>
              <a:rPr lang="en-US"/>
              <a:t> to reveal </a:t>
            </a:r>
            <a:r>
              <a:rPr b="1" lang="en-US"/>
              <a:t>30,000</a:t>
            </a:r>
            <a:r>
              <a:rPr lang="en-US"/>
              <a:t> in blue.</a:t>
            </a:r>
            <a:endParaRPr/>
          </a:p>
          <a:p>
            <a:pPr indent="-95250" lvl="0" marL="171450" rtl="0" algn="l">
              <a:spcBef>
                <a:spcPts val="0"/>
              </a:spcBef>
              <a:spcAft>
                <a:spcPts val="0"/>
              </a:spcAft>
              <a:buClr>
                <a:schemeClr val="dk1"/>
              </a:buClr>
              <a:buSzPts val="1200"/>
              <a:buFont typeface="Arial"/>
              <a:buNone/>
            </a:pPr>
            <a:r>
              <a:t/>
            </a:r>
            <a:endParaRPr/>
          </a:p>
          <a:p>
            <a:pPr indent="-171450" lvl="0" marL="171450" rtl="0" algn="l">
              <a:spcBef>
                <a:spcPts val="0"/>
              </a:spcBef>
              <a:spcAft>
                <a:spcPts val="0"/>
              </a:spcAft>
              <a:buClr>
                <a:schemeClr val="dk1"/>
              </a:buClr>
              <a:buSzPts val="1200"/>
              <a:buFont typeface="Arial"/>
              <a:buChar char="•"/>
            </a:pPr>
            <a:r>
              <a:rPr lang="en-US"/>
              <a:t>Ask: where else can we get funds for the assets we need? </a:t>
            </a:r>
            <a:endParaRPr/>
          </a:p>
          <a:p>
            <a:pPr indent="-95250" lvl="0" marL="171450" rtl="0" algn="l">
              <a:spcBef>
                <a:spcPts val="0"/>
              </a:spcBef>
              <a:spcAft>
                <a:spcPts val="0"/>
              </a:spcAft>
              <a:buClr>
                <a:schemeClr val="dk1"/>
              </a:buClr>
              <a:buSzPts val="1200"/>
              <a:buFont typeface="Arial"/>
              <a:buNone/>
            </a:pPr>
            <a:r>
              <a:t/>
            </a:r>
            <a:endParaRPr/>
          </a:p>
          <a:p>
            <a:pPr indent="-171450" lvl="0" marL="171450" rtl="0" algn="l">
              <a:spcBef>
                <a:spcPts val="0"/>
              </a:spcBef>
              <a:spcAft>
                <a:spcPts val="0"/>
              </a:spcAft>
              <a:buClr>
                <a:schemeClr val="dk1"/>
              </a:buClr>
              <a:buSzPts val="1200"/>
              <a:buFont typeface="Arial"/>
              <a:buChar char="•"/>
            </a:pPr>
            <a:r>
              <a:rPr lang="en-US"/>
              <a:t>From the owners. Accountants call this element of the story? Equity. </a:t>
            </a:r>
            <a:r>
              <a:rPr b="1" lang="en-US">
                <a:solidFill>
                  <a:srgbClr val="C00000"/>
                </a:solidFill>
              </a:rPr>
              <a:t>[ CLICK ]</a:t>
            </a:r>
            <a:r>
              <a:rPr lang="en-US"/>
              <a:t>  to reveal Equity in the wing. State that if we source the funds from the owners (shareholders) then we are “morally” obliged to return those assets later (should also be a growth in net assets from profits). </a:t>
            </a:r>
            <a:endParaRPr/>
          </a:p>
          <a:p>
            <a:pPr indent="-95250" lvl="0" marL="171450" rtl="0" algn="l">
              <a:spcBef>
                <a:spcPts val="0"/>
              </a:spcBef>
              <a:spcAft>
                <a:spcPts val="0"/>
              </a:spcAft>
              <a:buClr>
                <a:schemeClr val="dk1"/>
              </a:buClr>
              <a:buSzPts val="1200"/>
              <a:buFont typeface="Arial"/>
              <a:buNone/>
            </a:pPr>
            <a:r>
              <a:t/>
            </a:r>
            <a:endParaRPr/>
          </a:p>
          <a:p>
            <a:pPr indent="-171450" lvl="0" marL="171450" rtl="0" algn="l">
              <a:spcBef>
                <a:spcPts val="0"/>
              </a:spcBef>
              <a:spcAft>
                <a:spcPts val="0"/>
              </a:spcAft>
              <a:buClr>
                <a:schemeClr val="dk1"/>
              </a:buClr>
              <a:buSzPts val="1200"/>
              <a:buFont typeface="Arial"/>
              <a:buChar char="•"/>
            </a:pPr>
            <a:r>
              <a:rPr lang="en-US"/>
              <a:t>How much do the owners? £20,000 – </a:t>
            </a:r>
            <a:r>
              <a:rPr b="1" lang="en-US">
                <a:solidFill>
                  <a:srgbClr val="C00000"/>
                </a:solidFill>
              </a:rPr>
              <a:t>[ CLICK ]</a:t>
            </a:r>
            <a:r>
              <a:rPr lang="en-US"/>
              <a:t> to reveal </a:t>
            </a:r>
            <a:r>
              <a:rPr b="1" lang="en-US"/>
              <a:t>20,000</a:t>
            </a:r>
            <a:r>
              <a:rPr lang="en-US"/>
              <a:t> in blue.</a:t>
            </a:r>
            <a:endParaRPr/>
          </a:p>
          <a:p>
            <a:pPr indent="-95250" lvl="0" marL="171450" rtl="0" algn="l">
              <a:spcBef>
                <a:spcPts val="0"/>
              </a:spcBef>
              <a:spcAft>
                <a:spcPts val="0"/>
              </a:spcAft>
              <a:buClr>
                <a:schemeClr val="dk1"/>
              </a:buClr>
              <a:buSzPts val="1200"/>
              <a:buFont typeface="Arial"/>
              <a:buNone/>
            </a:pPr>
            <a:r>
              <a:t/>
            </a:r>
            <a:endParaRPr/>
          </a:p>
          <a:p>
            <a:pPr indent="-171450" lvl="0" marL="171450" rtl="0" algn="l">
              <a:spcBef>
                <a:spcPts val="0"/>
              </a:spcBef>
              <a:spcAft>
                <a:spcPts val="0"/>
              </a:spcAft>
              <a:buClr>
                <a:srgbClr val="C00000"/>
              </a:buClr>
              <a:buSzPts val="1200"/>
              <a:buFont typeface="Arial"/>
              <a:buChar char="•"/>
            </a:pPr>
            <a:r>
              <a:rPr i="1" lang="en-US">
                <a:solidFill>
                  <a:srgbClr val="C00000"/>
                </a:solidFill>
              </a:rPr>
              <a:t>Note the POV distinction with owners – students may say ‘investment’ or ‘savings’ which are only correct if you are using the owners’ POV, which we are not. These examples can only be Assets from the entity’s POV.</a:t>
            </a:r>
            <a:endParaRPr/>
          </a:p>
          <a:p>
            <a:pPr indent="-95250" lvl="0" marL="171450" rtl="0" algn="l">
              <a:spcBef>
                <a:spcPts val="0"/>
              </a:spcBef>
              <a:spcAft>
                <a:spcPts val="0"/>
              </a:spcAft>
              <a:buClr>
                <a:schemeClr val="dk1"/>
              </a:buClr>
              <a:buSzPts val="1200"/>
              <a:buFont typeface="Arial"/>
              <a:buNone/>
            </a:pPr>
            <a:r>
              <a:t/>
            </a:r>
            <a:endParaRPr/>
          </a:p>
          <a:p>
            <a:pPr indent="-171450" lvl="0" marL="171450" rtl="0" algn="l">
              <a:spcBef>
                <a:spcPts val="0"/>
              </a:spcBef>
              <a:spcAft>
                <a:spcPts val="0"/>
              </a:spcAft>
              <a:buClr>
                <a:schemeClr val="dk1"/>
              </a:buClr>
              <a:buSzPts val="1200"/>
              <a:buFont typeface="Arial"/>
              <a:buChar char="•"/>
            </a:pPr>
            <a:r>
              <a:rPr lang="en-US"/>
              <a:t>If necessary, refer to “Point of view” discussion “A rabble of butterflies” on page 10. Also consider using ‘pineapple’ example if not done already.</a:t>
            </a:r>
            <a:endParaRPr/>
          </a:p>
          <a:p>
            <a:pPr indent="-95250" lvl="0" marL="171450" rtl="0" algn="l">
              <a:spcBef>
                <a:spcPts val="0"/>
              </a:spcBef>
              <a:spcAft>
                <a:spcPts val="0"/>
              </a:spcAft>
              <a:buClr>
                <a:schemeClr val="dk1"/>
              </a:buClr>
              <a:buSzPts val="1200"/>
              <a:buFont typeface="Arial"/>
              <a:buNone/>
            </a:pPr>
            <a:r>
              <a:t/>
            </a:r>
            <a:endParaRPr/>
          </a:p>
          <a:p>
            <a:pPr indent="-171450" lvl="0" marL="171450" rtl="0" algn="l">
              <a:spcBef>
                <a:spcPts val="0"/>
              </a:spcBef>
              <a:spcAft>
                <a:spcPts val="0"/>
              </a:spcAft>
              <a:buClr>
                <a:schemeClr val="dk1"/>
              </a:buClr>
              <a:buSzPts val="1200"/>
              <a:buFont typeface="Arial"/>
              <a:buChar char="•"/>
            </a:pPr>
            <a:r>
              <a:rPr lang="en-US"/>
              <a:t>Write ‘</a:t>
            </a:r>
            <a:r>
              <a:rPr b="1" lang="en-US"/>
              <a:t>sources</a:t>
            </a:r>
            <a:r>
              <a:rPr lang="en-US"/>
              <a:t>’ and ‘</a:t>
            </a:r>
            <a:r>
              <a:rPr b="1" lang="en-US"/>
              <a:t>uses</a:t>
            </a:r>
            <a:r>
              <a:rPr lang="en-US"/>
              <a:t>’ names to head each side and highlight ‘sources’ wing in yellow and ‘uses’ wing in green – they should replicate in their workbook. </a:t>
            </a:r>
            <a:r>
              <a:rPr i="1" lang="en-US">
                <a:solidFill>
                  <a:srgbClr val="C00000"/>
                </a:solidFill>
              </a:rPr>
              <a:t>From here on, only refer to the sides by their colour or title – don’t use ‘right hand’ or ‘left hand’ as this can be very confusing for some people who mix up directions. </a:t>
            </a:r>
            <a:endParaRPr sz="1200">
              <a:solidFill>
                <a:srgbClr val="C00000"/>
              </a:solidFill>
            </a:endParaRPr>
          </a:p>
        </p:txBody>
      </p:sp>
      <p:sp>
        <p:nvSpPr>
          <p:cNvPr id="107" name="Google Shape;107;p4:notes"/>
          <p:cNvSpPr/>
          <p:nvPr>
            <p:ph idx="2" type="sldImg"/>
          </p:nvPr>
        </p:nvSpPr>
        <p:spPr>
          <a:xfrm>
            <a:off x="4246563" y="458788"/>
            <a:ext cx="2236787" cy="1258887"/>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108" name="Google Shape;108;p4: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p5: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b="1" lang="en-US"/>
              <a:t>Headlines</a:t>
            </a:r>
            <a:endParaRPr/>
          </a:p>
          <a:p>
            <a:pPr indent="0" lvl="0" marL="0" rtl="0" algn="l">
              <a:spcBef>
                <a:spcPts val="0"/>
              </a:spcBef>
              <a:spcAft>
                <a:spcPts val="0"/>
              </a:spcAft>
              <a:buNone/>
            </a:pPr>
            <a:r>
              <a:t/>
            </a:r>
            <a:endParaRPr/>
          </a:p>
          <a:p>
            <a:pPr indent="-171450" lvl="0" marL="171450" rtl="0" algn="l">
              <a:spcBef>
                <a:spcPts val="0"/>
              </a:spcBef>
              <a:spcAft>
                <a:spcPts val="0"/>
              </a:spcAft>
              <a:buClr>
                <a:schemeClr val="dk1"/>
              </a:buClr>
              <a:buSzPts val="1200"/>
              <a:buFont typeface="Arial"/>
              <a:buChar char="•"/>
            </a:pPr>
            <a:r>
              <a:rPr lang="en-US" sz="1200">
                <a:solidFill>
                  <a:schemeClr val="dk1"/>
                </a:solidFill>
              </a:rPr>
              <a:t>The green side defines assets as VALUABLE THINGS – the only place you will find anything of value, and the yellow side defines liabilities and equity as OBLIGATIONS of the entity – assets come with obligations – the duality. </a:t>
            </a:r>
            <a:endParaRPr/>
          </a:p>
          <a:p>
            <a:pPr indent="-95250" lvl="0" marL="171450" rtl="0" algn="l">
              <a:spcBef>
                <a:spcPts val="0"/>
              </a:spcBef>
              <a:spcAft>
                <a:spcPts val="0"/>
              </a:spcAft>
              <a:buClr>
                <a:schemeClr val="dk1"/>
              </a:buClr>
              <a:buSzPts val="1200"/>
              <a:buFont typeface="Arial"/>
              <a:buNone/>
            </a:pPr>
            <a:r>
              <a:t/>
            </a:r>
            <a:endParaRPr sz="1200">
              <a:solidFill>
                <a:schemeClr val="dk1"/>
              </a:solidFill>
            </a:endParaRPr>
          </a:p>
          <a:p>
            <a:pPr indent="-171450" lvl="0" marL="171450" rtl="0" algn="l">
              <a:spcBef>
                <a:spcPts val="0"/>
              </a:spcBef>
              <a:spcAft>
                <a:spcPts val="0"/>
              </a:spcAft>
              <a:buClr>
                <a:schemeClr val="dk1"/>
              </a:buClr>
              <a:buSzPts val="1200"/>
              <a:buFont typeface="Arial"/>
              <a:buChar char="•"/>
            </a:pPr>
            <a:r>
              <a:rPr lang="en-US" sz="1200">
                <a:solidFill>
                  <a:schemeClr val="dk1"/>
                </a:solidFill>
              </a:rPr>
              <a:t>And also CLAIM per the accounting standards. Obligation is cleaner from entity POV.</a:t>
            </a:r>
            <a:endParaRPr/>
          </a:p>
          <a:p>
            <a:pPr indent="-95250" lvl="0" marL="171450" rtl="0" algn="l">
              <a:spcBef>
                <a:spcPts val="0"/>
              </a:spcBef>
              <a:spcAft>
                <a:spcPts val="0"/>
              </a:spcAft>
              <a:buClr>
                <a:schemeClr val="dk1"/>
              </a:buClr>
              <a:buSzPts val="1200"/>
              <a:buFont typeface="Arial"/>
              <a:buNone/>
            </a:pPr>
            <a:r>
              <a:t/>
            </a:r>
            <a:endParaRPr sz="1200">
              <a:solidFill>
                <a:schemeClr val="dk1"/>
              </a:solidFill>
            </a:endParaRPr>
          </a:p>
          <a:p>
            <a:pPr indent="-171450" lvl="0" marL="171450" rtl="0" algn="l">
              <a:spcBef>
                <a:spcPts val="0"/>
              </a:spcBef>
              <a:spcAft>
                <a:spcPts val="0"/>
              </a:spcAft>
              <a:buClr>
                <a:schemeClr val="dk1"/>
              </a:buClr>
              <a:buSzPts val="1200"/>
              <a:buFont typeface="Arial"/>
              <a:buChar char="•"/>
            </a:pPr>
            <a:r>
              <a:rPr lang="en-US" sz="1200">
                <a:solidFill>
                  <a:schemeClr val="dk1"/>
                </a:solidFill>
              </a:rPr>
              <a:t>They have created a balance sheet: Assets, Liabilities &amp; Equity.</a:t>
            </a:r>
            <a:r>
              <a:rPr lang="en-US"/>
              <a:t> </a:t>
            </a:r>
            <a:endParaRPr sz="1200">
              <a:solidFill>
                <a:schemeClr val="dk1"/>
              </a:solidFill>
            </a:endParaRPr>
          </a:p>
          <a:p>
            <a:pPr indent="-95250" lvl="0" marL="171450" rtl="0" algn="l">
              <a:spcBef>
                <a:spcPts val="0"/>
              </a:spcBef>
              <a:spcAft>
                <a:spcPts val="0"/>
              </a:spcAft>
              <a:buClr>
                <a:schemeClr val="dk1"/>
              </a:buClr>
              <a:buSzPts val="1200"/>
              <a:buFont typeface="Arial"/>
              <a:buNone/>
            </a:pPr>
            <a:r>
              <a:t/>
            </a:r>
            <a:endParaRPr sz="1200">
              <a:solidFill>
                <a:srgbClr val="C00000"/>
              </a:solidFill>
            </a:endParaRPr>
          </a:p>
        </p:txBody>
      </p:sp>
      <p:sp>
        <p:nvSpPr>
          <p:cNvPr id="128" name="Google Shape;128;p5:notes"/>
          <p:cNvSpPr/>
          <p:nvPr>
            <p:ph idx="2" type="sldImg"/>
          </p:nvPr>
        </p:nvSpPr>
        <p:spPr>
          <a:xfrm>
            <a:off x="4246563" y="458788"/>
            <a:ext cx="2236787" cy="1258887"/>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129" name="Google Shape;129;p5: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p6: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b="1" lang="en-US"/>
              <a:t>Headlines</a:t>
            </a:r>
            <a:endParaRPr/>
          </a:p>
          <a:p>
            <a:pPr indent="-95250" lvl="0" marL="171450" rtl="0" algn="l">
              <a:spcBef>
                <a:spcPts val="0"/>
              </a:spcBef>
              <a:spcAft>
                <a:spcPts val="0"/>
              </a:spcAft>
              <a:buClr>
                <a:schemeClr val="dk1"/>
              </a:buClr>
              <a:buSzPts val="1200"/>
              <a:buFont typeface="Arial"/>
              <a:buNone/>
            </a:pPr>
            <a:r>
              <a:t/>
            </a:r>
            <a:endParaRPr sz="1200">
              <a:solidFill>
                <a:schemeClr val="dk1"/>
              </a:solidFill>
            </a:endParaRPr>
          </a:p>
          <a:p>
            <a:pPr indent="-171450" lvl="0" marL="171450" rtl="0" algn="l">
              <a:spcBef>
                <a:spcPts val="0"/>
              </a:spcBef>
              <a:spcAft>
                <a:spcPts val="0"/>
              </a:spcAft>
              <a:buClr>
                <a:schemeClr val="dk1"/>
              </a:buClr>
              <a:buSzPts val="1200"/>
              <a:buFont typeface="Arial"/>
              <a:buChar char="•"/>
            </a:pPr>
            <a:r>
              <a:rPr lang="en-US" sz="1200">
                <a:solidFill>
                  <a:schemeClr val="dk1"/>
                </a:solidFill>
              </a:rPr>
              <a:t>Address meaning of the equals sign: Equivalence of amount, but not of nature.</a:t>
            </a:r>
            <a:endParaRPr/>
          </a:p>
          <a:p>
            <a:pPr indent="0" lvl="0" marL="0" rtl="0" algn="l">
              <a:spcBef>
                <a:spcPts val="0"/>
              </a:spcBef>
              <a:spcAft>
                <a:spcPts val="0"/>
              </a:spcAft>
              <a:buNone/>
            </a:pPr>
            <a:r>
              <a:t/>
            </a:r>
            <a:endParaRPr sz="1200">
              <a:solidFill>
                <a:schemeClr val="dk1"/>
              </a:solidFill>
            </a:endParaRPr>
          </a:p>
          <a:p>
            <a:pPr indent="-171450" lvl="0" marL="171450" rtl="0" algn="l">
              <a:spcBef>
                <a:spcPts val="0"/>
              </a:spcBef>
              <a:spcAft>
                <a:spcPts val="0"/>
              </a:spcAft>
              <a:buClr>
                <a:schemeClr val="dk1"/>
              </a:buClr>
              <a:buSzPts val="1200"/>
              <a:buFont typeface="Arial"/>
              <a:buChar char="•"/>
            </a:pPr>
            <a:r>
              <a:rPr lang="en-US" sz="1200">
                <a:solidFill>
                  <a:schemeClr val="dk1"/>
                </a:solidFill>
              </a:rPr>
              <a:t>Facilitate the Accounting Equation underneath and the expression of the accounting equation in its other form: </a:t>
            </a:r>
            <a:endParaRPr/>
          </a:p>
          <a:p>
            <a:pPr indent="-95250" lvl="0" marL="171450" rtl="0" algn="l">
              <a:spcBef>
                <a:spcPts val="0"/>
              </a:spcBef>
              <a:spcAft>
                <a:spcPts val="0"/>
              </a:spcAft>
              <a:buClr>
                <a:schemeClr val="dk1"/>
              </a:buClr>
              <a:buSzPts val="1200"/>
              <a:buFont typeface="Arial"/>
              <a:buNone/>
            </a:pPr>
            <a:r>
              <a:t/>
            </a:r>
            <a:endParaRPr sz="1200">
              <a:solidFill>
                <a:schemeClr val="dk1"/>
              </a:solidFill>
            </a:endParaRPr>
          </a:p>
          <a:p>
            <a:pPr indent="0" lvl="0" marL="0" rtl="0" algn="l">
              <a:spcBef>
                <a:spcPts val="0"/>
              </a:spcBef>
              <a:spcAft>
                <a:spcPts val="0"/>
              </a:spcAft>
              <a:buNone/>
            </a:pPr>
            <a:r>
              <a:rPr b="1" lang="en-US" sz="1200">
                <a:solidFill>
                  <a:schemeClr val="dk1"/>
                </a:solidFill>
              </a:rPr>
              <a:t>			A  –  L  =  Net assets</a:t>
            </a:r>
            <a:endParaRPr sz="1200">
              <a:solidFill>
                <a:schemeClr val="dk1"/>
              </a:solidFill>
            </a:endParaRPr>
          </a:p>
          <a:p>
            <a:pPr indent="0" lvl="0" marL="0" rtl="0" algn="l">
              <a:spcBef>
                <a:spcPts val="0"/>
              </a:spcBef>
              <a:spcAft>
                <a:spcPts val="0"/>
              </a:spcAft>
              <a:buNone/>
            </a:pPr>
            <a:r>
              <a:t/>
            </a:r>
            <a:endParaRPr sz="1200">
              <a:solidFill>
                <a:schemeClr val="dk1"/>
              </a:solidFill>
            </a:endParaRPr>
          </a:p>
          <a:p>
            <a:pPr indent="-171450" lvl="0" marL="171450" rtl="0" algn="l">
              <a:spcBef>
                <a:spcPts val="0"/>
              </a:spcBef>
              <a:spcAft>
                <a:spcPts val="0"/>
              </a:spcAft>
              <a:buClr>
                <a:schemeClr val="dk1"/>
              </a:buClr>
              <a:buSzPts val="1200"/>
              <a:buFont typeface="Arial"/>
              <a:buChar char="•"/>
            </a:pPr>
            <a:r>
              <a:rPr lang="en-US" sz="1200">
                <a:solidFill>
                  <a:schemeClr val="dk1"/>
                </a:solidFill>
              </a:rPr>
              <a:t>Discuss intention of business, which is to grow net assets (more so than just growing assets).</a:t>
            </a:r>
            <a:endParaRPr/>
          </a:p>
          <a:p>
            <a:pPr indent="-95250" lvl="0" marL="171450" rtl="0" algn="l">
              <a:spcBef>
                <a:spcPts val="0"/>
              </a:spcBef>
              <a:spcAft>
                <a:spcPts val="0"/>
              </a:spcAft>
              <a:buClr>
                <a:schemeClr val="dk1"/>
              </a:buClr>
              <a:buSzPts val="1200"/>
              <a:buFont typeface="Arial"/>
              <a:buNone/>
            </a:pPr>
            <a:r>
              <a:t/>
            </a:r>
            <a:endParaRPr sz="1200">
              <a:solidFill>
                <a:schemeClr val="dk1"/>
              </a:solidFill>
            </a:endParaRPr>
          </a:p>
          <a:p>
            <a:pPr indent="-171450" lvl="0" marL="171450" rtl="0" algn="l">
              <a:spcBef>
                <a:spcPts val="0"/>
              </a:spcBef>
              <a:spcAft>
                <a:spcPts val="0"/>
              </a:spcAft>
              <a:buClr>
                <a:schemeClr val="dk1"/>
              </a:buClr>
              <a:buSzPts val="1200"/>
              <a:buFont typeface="Arial"/>
              <a:buChar char="•"/>
            </a:pPr>
            <a:r>
              <a:rPr lang="en-US" sz="1200">
                <a:solidFill>
                  <a:schemeClr val="dk1"/>
                </a:solidFill>
              </a:rPr>
              <a:t>Address source of confusion: monetisation (both sides) versus money (green asset side only). Expressing values in currency, versus actual money. Add currency symbols.</a:t>
            </a:r>
            <a:endParaRPr sz="1200">
              <a:solidFill>
                <a:srgbClr val="C00000"/>
              </a:solidFill>
            </a:endParaRPr>
          </a:p>
        </p:txBody>
      </p:sp>
      <p:sp>
        <p:nvSpPr>
          <p:cNvPr id="152" name="Google Shape;152;p6:notes"/>
          <p:cNvSpPr/>
          <p:nvPr>
            <p:ph idx="2" type="sldImg"/>
          </p:nvPr>
        </p:nvSpPr>
        <p:spPr>
          <a:xfrm>
            <a:off x="4246563" y="458788"/>
            <a:ext cx="2236787" cy="1258887"/>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153" name="Google Shape;153;p6: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p7: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b="1" lang="en-US"/>
              <a:t>Headlines</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b="1"/>
          </a:p>
          <a:p>
            <a:pPr indent="-171450" lvl="0" marL="171450" rtl="0" algn="l">
              <a:spcBef>
                <a:spcPts val="0"/>
              </a:spcBef>
              <a:spcAft>
                <a:spcPts val="0"/>
              </a:spcAft>
              <a:buClr>
                <a:schemeClr val="dk1"/>
              </a:buClr>
              <a:buSzPts val="1200"/>
              <a:buFont typeface="Arial"/>
              <a:buChar char="•"/>
            </a:pPr>
            <a:r>
              <a:rPr lang="en-US" sz="1200">
                <a:solidFill>
                  <a:schemeClr val="dk1"/>
                </a:solidFill>
              </a:rPr>
              <a:t>Address source of confusion: monetisation (both sides) versus money (green asset side only). Expressing values in currency, versus actual money. </a:t>
            </a:r>
            <a:endParaRPr/>
          </a:p>
          <a:p>
            <a:pPr indent="-95250" lvl="0" marL="171450" rtl="0" algn="l">
              <a:spcBef>
                <a:spcPts val="0"/>
              </a:spcBef>
              <a:spcAft>
                <a:spcPts val="0"/>
              </a:spcAft>
              <a:buClr>
                <a:schemeClr val="dk1"/>
              </a:buClr>
              <a:buSzPts val="1200"/>
              <a:buFont typeface="Arial"/>
              <a:buNone/>
            </a:pPr>
            <a:r>
              <a:t/>
            </a:r>
            <a:endParaRPr sz="1200">
              <a:solidFill>
                <a:schemeClr val="dk1"/>
              </a:solidFill>
            </a:endParaRPr>
          </a:p>
          <a:p>
            <a:pPr indent="-171450" lvl="0" marL="171450" rtl="0" algn="l">
              <a:spcBef>
                <a:spcPts val="0"/>
              </a:spcBef>
              <a:spcAft>
                <a:spcPts val="0"/>
              </a:spcAft>
              <a:buClr>
                <a:schemeClr val="dk1"/>
              </a:buClr>
              <a:buSzPts val="1200"/>
              <a:buFont typeface="Arial"/>
              <a:buChar char="•"/>
            </a:pPr>
            <a:r>
              <a:rPr lang="en-US" sz="1200">
                <a:solidFill>
                  <a:schemeClr val="dk1"/>
                </a:solidFill>
              </a:rPr>
              <a:t>Add currency symbols. </a:t>
            </a:r>
            <a:endParaRPr/>
          </a:p>
          <a:p>
            <a:pPr indent="-95250" lvl="0" marL="171450" rtl="0" algn="l">
              <a:spcBef>
                <a:spcPts val="0"/>
              </a:spcBef>
              <a:spcAft>
                <a:spcPts val="0"/>
              </a:spcAft>
              <a:buClr>
                <a:schemeClr val="dk1"/>
              </a:buClr>
              <a:buSzPts val="1200"/>
              <a:buFont typeface="Arial"/>
              <a:buNone/>
            </a:pPr>
            <a:r>
              <a:t/>
            </a:r>
            <a:endParaRPr sz="1200">
              <a:solidFill>
                <a:srgbClr val="C00000"/>
              </a:solidFill>
            </a:endParaRPr>
          </a:p>
        </p:txBody>
      </p:sp>
      <p:sp>
        <p:nvSpPr>
          <p:cNvPr id="186" name="Google Shape;186;p7:notes"/>
          <p:cNvSpPr/>
          <p:nvPr>
            <p:ph idx="2" type="sldImg"/>
          </p:nvPr>
        </p:nvSpPr>
        <p:spPr>
          <a:xfrm>
            <a:off x="4246563" y="458788"/>
            <a:ext cx="2236787" cy="1258887"/>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187" name="Google Shape;187;p7: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p8: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b="1" lang="en-US" sz="1200">
                <a:solidFill>
                  <a:schemeClr val="dk1"/>
                </a:solidFill>
              </a:rPr>
              <a:t>Headlines</a:t>
            </a:r>
            <a:endParaRPr/>
          </a:p>
          <a:p>
            <a:pPr indent="0" lvl="0" marL="0" rtl="0" algn="l">
              <a:spcBef>
                <a:spcPts val="0"/>
              </a:spcBef>
              <a:spcAft>
                <a:spcPts val="0"/>
              </a:spcAft>
              <a:buNone/>
            </a:pPr>
            <a:r>
              <a:t/>
            </a:r>
            <a:endParaRPr sz="1200">
              <a:solidFill>
                <a:schemeClr val="dk1"/>
              </a:solidFill>
            </a:endParaRPr>
          </a:p>
          <a:p>
            <a:pPr indent="-171450" lvl="0" marL="171450" rtl="0" algn="l">
              <a:spcBef>
                <a:spcPts val="0"/>
              </a:spcBef>
              <a:spcAft>
                <a:spcPts val="0"/>
              </a:spcAft>
              <a:buClr>
                <a:schemeClr val="dk1"/>
              </a:buClr>
              <a:buSzPts val="1200"/>
              <a:buFont typeface="Arial"/>
              <a:buChar char="•"/>
            </a:pPr>
            <a:r>
              <a:rPr lang="en-US" sz="1200">
                <a:solidFill>
                  <a:schemeClr val="dk1"/>
                </a:solidFill>
              </a:rPr>
              <a:t>Point of view</a:t>
            </a:r>
            <a:endParaRPr/>
          </a:p>
          <a:p>
            <a:pPr indent="-95250" lvl="0" marL="171450" rtl="0" algn="l">
              <a:spcBef>
                <a:spcPts val="0"/>
              </a:spcBef>
              <a:spcAft>
                <a:spcPts val="0"/>
              </a:spcAft>
              <a:buClr>
                <a:schemeClr val="dk1"/>
              </a:buClr>
              <a:buSzPts val="1200"/>
              <a:buFont typeface="Arial"/>
              <a:buNone/>
            </a:pPr>
            <a:r>
              <a:t/>
            </a:r>
            <a:endParaRPr sz="1200">
              <a:solidFill>
                <a:schemeClr val="dk1"/>
              </a:solidFill>
            </a:endParaRPr>
          </a:p>
          <a:p>
            <a:pPr indent="-171450" lvl="0" marL="171450" rtl="0" algn="l">
              <a:spcBef>
                <a:spcPts val="0"/>
              </a:spcBef>
              <a:spcAft>
                <a:spcPts val="0"/>
              </a:spcAft>
              <a:buClr>
                <a:schemeClr val="dk1"/>
              </a:buClr>
              <a:buSzPts val="1200"/>
              <a:buFont typeface="Arial"/>
              <a:buChar char="•"/>
            </a:pPr>
            <a:r>
              <a:rPr lang="en-US" sz="1200">
                <a:solidFill>
                  <a:schemeClr val="dk1"/>
                </a:solidFill>
              </a:rPr>
              <a:t>Equity is never an asset.  EQUITY IS NEVER VALUABLE</a:t>
            </a:r>
            <a:endParaRPr b="1" sz="1200">
              <a:solidFill>
                <a:schemeClr val="dk1"/>
              </a:solidFill>
            </a:endParaRPr>
          </a:p>
          <a:p>
            <a:pPr indent="0" lvl="0" marL="0" rtl="0" algn="l">
              <a:spcBef>
                <a:spcPts val="0"/>
              </a:spcBef>
              <a:spcAft>
                <a:spcPts val="0"/>
              </a:spcAft>
              <a:buNone/>
            </a:pPr>
            <a:r>
              <a:t/>
            </a:r>
            <a:endParaRPr b="1" sz="1200">
              <a:solidFill>
                <a:schemeClr val="dk1"/>
              </a:solidFill>
            </a:endParaRPr>
          </a:p>
          <a:p>
            <a:pPr indent="0" lvl="0" marL="0" rtl="0" algn="l">
              <a:spcBef>
                <a:spcPts val="0"/>
              </a:spcBef>
              <a:spcAft>
                <a:spcPts val="0"/>
              </a:spcAft>
              <a:buClr>
                <a:schemeClr val="dk1"/>
              </a:buClr>
              <a:buSzPts val="1200"/>
              <a:buFont typeface="Arial"/>
              <a:buNone/>
            </a:pPr>
            <a:r>
              <a:t/>
            </a:r>
            <a:endParaRPr/>
          </a:p>
          <a:p>
            <a:pPr indent="0" lvl="0" marL="0" rtl="0" algn="l">
              <a:spcBef>
                <a:spcPts val="0"/>
              </a:spcBef>
              <a:spcAft>
                <a:spcPts val="0"/>
              </a:spcAft>
              <a:buNone/>
            </a:pPr>
            <a:r>
              <a:rPr b="1" lang="en-US"/>
              <a:t>Detailed notes</a:t>
            </a:r>
            <a:endParaRPr/>
          </a:p>
          <a:p>
            <a:pPr indent="0" lvl="0" marL="0" rtl="0" algn="l">
              <a:spcBef>
                <a:spcPts val="0"/>
              </a:spcBef>
              <a:spcAft>
                <a:spcPts val="0"/>
              </a:spcAft>
              <a:buNone/>
            </a:pPr>
            <a:r>
              <a:t/>
            </a:r>
            <a:endParaRPr/>
          </a:p>
          <a:p>
            <a:pPr indent="-171450" lvl="0" marL="171450" rtl="0" algn="l">
              <a:spcBef>
                <a:spcPts val="0"/>
              </a:spcBef>
              <a:spcAft>
                <a:spcPts val="0"/>
              </a:spcAft>
              <a:buClr>
                <a:schemeClr val="dk1"/>
              </a:buClr>
              <a:buSzPts val="1200"/>
              <a:buFont typeface="Arial"/>
              <a:buChar char="•"/>
            </a:pPr>
            <a:r>
              <a:rPr lang="en-US" sz="1200">
                <a:solidFill>
                  <a:schemeClr val="dk1"/>
                </a:solidFill>
              </a:rPr>
              <a:t>Point of view is such a common cause for erroneous thinking. For example, people think equity is valuable/an asset because they are standing in the owners’ position but talking from the entity’s position.</a:t>
            </a:r>
            <a:endParaRPr/>
          </a:p>
          <a:p>
            <a:pPr indent="-95250" lvl="0" marL="171450" rtl="0" algn="l">
              <a:spcBef>
                <a:spcPts val="0"/>
              </a:spcBef>
              <a:spcAft>
                <a:spcPts val="0"/>
              </a:spcAft>
              <a:buClr>
                <a:schemeClr val="dk1"/>
              </a:buClr>
              <a:buSzPts val="1200"/>
              <a:buFont typeface="Arial"/>
              <a:buNone/>
            </a:pPr>
            <a:r>
              <a:t/>
            </a:r>
            <a:endParaRPr sz="1200">
              <a:solidFill>
                <a:schemeClr val="dk1"/>
              </a:solidFill>
            </a:endParaRPr>
          </a:p>
          <a:p>
            <a:pPr indent="-171450" lvl="0" marL="171450" rtl="0" algn="l">
              <a:spcBef>
                <a:spcPts val="0"/>
              </a:spcBef>
              <a:spcAft>
                <a:spcPts val="0"/>
              </a:spcAft>
              <a:buClr>
                <a:schemeClr val="dk1"/>
              </a:buClr>
              <a:buSzPts val="1200"/>
              <a:buFont typeface="Arial"/>
              <a:buChar char="•"/>
            </a:pPr>
            <a:r>
              <a:rPr lang="en-US" sz="1200">
                <a:solidFill>
                  <a:schemeClr val="dk1"/>
                </a:solidFill>
              </a:rPr>
              <a:t>Talking of equity: whenever we can, it’s impactful and usefully dramatic in a Colour Accounting session to make big, absolute statements such as: </a:t>
            </a:r>
            <a:endParaRPr/>
          </a:p>
          <a:p>
            <a:pPr indent="0" lvl="0" marL="0" rtl="0" algn="l">
              <a:spcBef>
                <a:spcPts val="0"/>
              </a:spcBef>
              <a:spcAft>
                <a:spcPts val="0"/>
              </a:spcAft>
              <a:buClr>
                <a:schemeClr val="dk1"/>
              </a:buClr>
              <a:buSzPts val="1200"/>
              <a:buFont typeface="Arial"/>
              <a:buNone/>
            </a:pPr>
            <a:r>
              <a:t/>
            </a:r>
            <a:endParaRPr sz="1200">
              <a:solidFill>
                <a:schemeClr val="dk1"/>
              </a:solidFill>
            </a:endParaRPr>
          </a:p>
          <a:p>
            <a:pPr indent="0" lvl="0" marL="0" rtl="0" algn="l">
              <a:spcBef>
                <a:spcPts val="0"/>
              </a:spcBef>
              <a:spcAft>
                <a:spcPts val="0"/>
              </a:spcAft>
              <a:buClr>
                <a:schemeClr val="dk1"/>
              </a:buClr>
              <a:buSzPts val="1200"/>
              <a:buFont typeface="Arial"/>
              <a:buNone/>
            </a:pPr>
            <a:r>
              <a:rPr lang="en-US" sz="1200">
                <a:solidFill>
                  <a:schemeClr val="dk1"/>
                </a:solidFill>
              </a:rPr>
              <a:t>		“Equity is never an asset!” </a:t>
            </a:r>
            <a:endParaRPr/>
          </a:p>
          <a:p>
            <a:pPr indent="-95250" lvl="0" marL="171450" rtl="0" algn="l">
              <a:spcBef>
                <a:spcPts val="0"/>
              </a:spcBef>
              <a:spcAft>
                <a:spcPts val="0"/>
              </a:spcAft>
              <a:buClr>
                <a:schemeClr val="dk1"/>
              </a:buClr>
              <a:buSzPts val="1200"/>
              <a:buFont typeface="Arial"/>
              <a:buNone/>
            </a:pPr>
            <a:r>
              <a:t/>
            </a:r>
            <a:endParaRPr sz="1200">
              <a:solidFill>
                <a:schemeClr val="dk1"/>
              </a:solidFill>
            </a:endParaRPr>
          </a:p>
          <a:p>
            <a:pPr indent="-171450" lvl="0" marL="171450" rtl="0" algn="l">
              <a:spcBef>
                <a:spcPts val="0"/>
              </a:spcBef>
              <a:spcAft>
                <a:spcPts val="0"/>
              </a:spcAft>
              <a:buClr>
                <a:schemeClr val="dk1"/>
              </a:buClr>
              <a:buSzPts val="1200"/>
              <a:buFont typeface="Arial"/>
              <a:buChar char="•"/>
            </a:pPr>
            <a:r>
              <a:rPr lang="en-US" sz="1200">
                <a:solidFill>
                  <a:schemeClr val="dk1"/>
                </a:solidFill>
              </a:rPr>
              <a:t>People love absolutes. Hopefully a learner will challenge you and you can stand your ground: From the entity’s own point of view, equity’s never an asset. It’s an obligation. (It’s only an asset from the owner’s perspective and then it’s not called equity, but more likely investment).</a:t>
            </a:r>
            <a:endParaRPr/>
          </a:p>
          <a:p>
            <a:pPr indent="-95250" lvl="0" marL="171450" rtl="0" algn="l">
              <a:spcBef>
                <a:spcPts val="0"/>
              </a:spcBef>
              <a:spcAft>
                <a:spcPts val="0"/>
              </a:spcAft>
              <a:buClr>
                <a:schemeClr val="dk1"/>
              </a:buClr>
              <a:buSzPts val="1200"/>
              <a:buFont typeface="Arial"/>
              <a:buNone/>
            </a:pPr>
            <a:r>
              <a:t/>
            </a:r>
            <a:endParaRPr sz="1200">
              <a:solidFill>
                <a:schemeClr val="dk1"/>
              </a:solidFill>
            </a:endParaRPr>
          </a:p>
          <a:p>
            <a:pPr indent="-171450" lvl="0" marL="171450" rtl="0" algn="l">
              <a:spcBef>
                <a:spcPts val="0"/>
              </a:spcBef>
              <a:spcAft>
                <a:spcPts val="0"/>
              </a:spcAft>
              <a:buClr>
                <a:schemeClr val="dk1"/>
              </a:buClr>
              <a:buSzPts val="1200"/>
              <a:buFont typeface="Arial"/>
              <a:buChar char="•"/>
            </a:pPr>
            <a:r>
              <a:rPr lang="en-US" sz="1200">
                <a:solidFill>
                  <a:schemeClr val="dk1"/>
                </a:solidFill>
              </a:rPr>
              <a:t>This page supports the discussion why a heading identifying the entity on the butterfly diagram is so important… to lock down the point of view. </a:t>
            </a:r>
            <a:endParaRPr/>
          </a:p>
          <a:p>
            <a:pPr indent="-95250" lvl="0" marL="171450" rtl="0" algn="l">
              <a:spcBef>
                <a:spcPts val="0"/>
              </a:spcBef>
              <a:spcAft>
                <a:spcPts val="0"/>
              </a:spcAft>
              <a:buClr>
                <a:schemeClr val="dk1"/>
              </a:buClr>
              <a:buSzPts val="1200"/>
              <a:buFont typeface="Arial"/>
              <a:buNone/>
            </a:pPr>
            <a:r>
              <a:t/>
            </a:r>
            <a:endParaRPr sz="1200">
              <a:solidFill>
                <a:schemeClr val="dk1"/>
              </a:solidFill>
            </a:endParaRPr>
          </a:p>
          <a:p>
            <a:pPr indent="-171450" lvl="0" marL="171450" rtl="0" algn="l">
              <a:spcBef>
                <a:spcPts val="0"/>
              </a:spcBef>
              <a:spcAft>
                <a:spcPts val="0"/>
              </a:spcAft>
              <a:buClr>
                <a:schemeClr val="dk1"/>
              </a:buClr>
              <a:buSzPts val="1200"/>
              <a:buFont typeface="Arial"/>
              <a:buChar char="•"/>
            </a:pPr>
            <a:r>
              <a:rPr i="1" lang="en-US" sz="1200">
                <a:solidFill>
                  <a:schemeClr val="dk1"/>
                </a:solidFill>
              </a:rPr>
              <a:t>‘Rabble’ is one of the collective nouns for a group of butterflies.</a:t>
            </a:r>
            <a:r>
              <a:rPr lang="en-US" sz="1200">
                <a:solidFill>
                  <a:schemeClr val="dk1"/>
                </a:solidFill>
              </a:rPr>
              <a:t> </a:t>
            </a:r>
            <a:endParaRPr/>
          </a:p>
          <a:p>
            <a:pPr indent="0" lvl="0" marL="0" rtl="0" algn="l">
              <a:spcBef>
                <a:spcPts val="0"/>
              </a:spcBef>
              <a:spcAft>
                <a:spcPts val="0"/>
              </a:spcAft>
              <a:buNone/>
            </a:pPr>
            <a:r>
              <a:t/>
            </a:r>
            <a:endParaRPr sz="1200">
              <a:solidFill>
                <a:schemeClr val="dk1"/>
              </a:solidFill>
            </a:endParaRPr>
          </a:p>
        </p:txBody>
      </p:sp>
      <p:sp>
        <p:nvSpPr>
          <p:cNvPr id="220" name="Google Shape;220;p8:notes"/>
          <p:cNvSpPr/>
          <p:nvPr>
            <p:ph idx="2" type="sldImg"/>
          </p:nvPr>
        </p:nvSpPr>
        <p:spPr>
          <a:xfrm>
            <a:off x="4252913" y="458788"/>
            <a:ext cx="2230437" cy="1255712"/>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221" name="Google Shape;221;p8: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p9: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b="1" lang="en-US" sz="1600">
                <a:solidFill>
                  <a:srgbClr val="7030A0"/>
                </a:solidFill>
                <a:highlight>
                  <a:srgbClr val="FFFF00"/>
                </a:highlight>
              </a:rPr>
              <a:t>Conversation 3</a:t>
            </a:r>
            <a:endParaRPr/>
          </a:p>
          <a:p>
            <a:pPr indent="0" lvl="0" marL="0" rtl="0" algn="l">
              <a:spcBef>
                <a:spcPts val="0"/>
              </a:spcBef>
              <a:spcAft>
                <a:spcPts val="0"/>
              </a:spcAft>
              <a:buNone/>
            </a:pPr>
            <a:r>
              <a:t/>
            </a:r>
            <a:endParaRPr sz="1200">
              <a:solidFill>
                <a:schemeClr val="dk1"/>
              </a:solidFill>
            </a:endParaRPr>
          </a:p>
          <a:p>
            <a:pPr indent="-171450" lvl="0" marL="171450" rtl="0" algn="l">
              <a:spcBef>
                <a:spcPts val="0"/>
              </a:spcBef>
              <a:spcAft>
                <a:spcPts val="0"/>
              </a:spcAft>
              <a:buClr>
                <a:schemeClr val="dk1"/>
              </a:buClr>
              <a:buSzPts val="1200"/>
              <a:buFont typeface="Arial"/>
              <a:buChar char="•"/>
            </a:pPr>
            <a:r>
              <a:rPr lang="en-US" sz="1200">
                <a:solidFill>
                  <a:schemeClr val="dk1"/>
                </a:solidFill>
              </a:rPr>
              <a:t>The Accounting Framework</a:t>
            </a:r>
            <a:endParaRPr/>
          </a:p>
          <a:p>
            <a:pPr indent="-95250" lvl="0" marL="171450" rtl="0" algn="l">
              <a:spcBef>
                <a:spcPts val="0"/>
              </a:spcBef>
              <a:spcAft>
                <a:spcPts val="0"/>
              </a:spcAft>
              <a:buClr>
                <a:schemeClr val="dk1"/>
              </a:buClr>
              <a:buSzPts val="1200"/>
              <a:buFont typeface="Arial"/>
              <a:buNone/>
            </a:pPr>
            <a:r>
              <a:t/>
            </a:r>
            <a:endParaRPr sz="1200">
              <a:solidFill>
                <a:schemeClr val="dk1"/>
              </a:solidFill>
            </a:endParaRPr>
          </a:p>
          <a:p>
            <a:pPr indent="-171450" lvl="0" marL="171450" rtl="0" algn="l">
              <a:spcBef>
                <a:spcPts val="0"/>
              </a:spcBef>
              <a:spcAft>
                <a:spcPts val="0"/>
              </a:spcAft>
              <a:buClr>
                <a:schemeClr val="dk1"/>
              </a:buClr>
              <a:buSzPts val="1200"/>
              <a:buFont typeface="Arial"/>
              <a:buChar char="•"/>
            </a:pPr>
            <a:r>
              <a:rPr lang="en-US" sz="1200">
                <a:solidFill>
                  <a:schemeClr val="dk1"/>
                </a:solidFill>
              </a:rPr>
              <a:t>The value cycle</a:t>
            </a:r>
            <a:endParaRPr/>
          </a:p>
          <a:p>
            <a:pPr indent="-95250" lvl="0" marL="171450" rtl="0" algn="l">
              <a:spcBef>
                <a:spcPts val="0"/>
              </a:spcBef>
              <a:spcAft>
                <a:spcPts val="0"/>
              </a:spcAft>
              <a:buClr>
                <a:schemeClr val="dk1"/>
              </a:buClr>
              <a:buSzPts val="1200"/>
              <a:buFont typeface="Arial"/>
              <a:buNone/>
            </a:pPr>
            <a:r>
              <a:t/>
            </a:r>
            <a:endParaRPr sz="1200">
              <a:solidFill>
                <a:schemeClr val="dk1"/>
              </a:solidFill>
            </a:endParaRPr>
          </a:p>
          <a:p>
            <a:pPr indent="-171450" lvl="0" marL="171450" rtl="0" algn="l">
              <a:spcBef>
                <a:spcPts val="0"/>
              </a:spcBef>
              <a:spcAft>
                <a:spcPts val="0"/>
              </a:spcAft>
              <a:buClr>
                <a:schemeClr val="dk1"/>
              </a:buClr>
              <a:buSzPts val="1200"/>
              <a:buFont typeface="Arial"/>
              <a:buChar char="•"/>
            </a:pPr>
            <a:r>
              <a:rPr lang="en-US" sz="1200">
                <a:solidFill>
                  <a:schemeClr val="dk1"/>
                </a:solidFill>
              </a:rPr>
              <a:t>Accrual accounting</a:t>
            </a:r>
            <a:endParaRPr/>
          </a:p>
          <a:p>
            <a:pPr indent="-95250" lvl="0" marL="171450" rtl="0" algn="l">
              <a:spcBef>
                <a:spcPts val="0"/>
              </a:spcBef>
              <a:spcAft>
                <a:spcPts val="0"/>
              </a:spcAft>
              <a:buClr>
                <a:schemeClr val="dk1"/>
              </a:buClr>
              <a:buSzPts val="1200"/>
              <a:buFont typeface="Arial"/>
              <a:buNone/>
            </a:pPr>
            <a:r>
              <a:t/>
            </a:r>
            <a:endParaRPr sz="1200">
              <a:solidFill>
                <a:schemeClr val="dk1"/>
              </a:solidFill>
            </a:endParaRPr>
          </a:p>
          <a:p>
            <a:pPr indent="-95250" lvl="0" marL="171450" rtl="0" algn="l">
              <a:spcBef>
                <a:spcPts val="0"/>
              </a:spcBef>
              <a:spcAft>
                <a:spcPts val="0"/>
              </a:spcAft>
              <a:buClr>
                <a:schemeClr val="dk1"/>
              </a:buClr>
              <a:buSzPts val="1200"/>
              <a:buFont typeface="Arial"/>
              <a:buNone/>
            </a:pPr>
            <a:r>
              <a:t/>
            </a:r>
            <a:endParaRPr sz="1200">
              <a:solidFill>
                <a:schemeClr val="dk1"/>
              </a:solidFill>
            </a:endParaRPr>
          </a:p>
          <a:p>
            <a:pPr indent="0" lvl="0" marL="0" marR="0" rtl="0" algn="l">
              <a:lnSpc>
                <a:spcPct val="100000"/>
              </a:lnSpc>
              <a:spcBef>
                <a:spcPts val="0"/>
              </a:spcBef>
              <a:spcAft>
                <a:spcPts val="0"/>
              </a:spcAft>
              <a:buClr>
                <a:schemeClr val="dk1"/>
              </a:buClr>
              <a:buSzPts val="1200"/>
              <a:buFont typeface="Avenir"/>
              <a:buNone/>
            </a:pPr>
            <a:r>
              <a:rPr b="1" lang="en-US" sz="1200">
                <a:solidFill>
                  <a:schemeClr val="dk1"/>
                </a:solidFill>
              </a:rPr>
              <a:t>Tips, tricks and pitfalls</a:t>
            </a:r>
            <a:endParaRPr sz="1200">
              <a:solidFill>
                <a:schemeClr val="dk1"/>
              </a:solidFill>
            </a:endParaRPr>
          </a:p>
          <a:p>
            <a:pPr indent="0" lvl="0" marL="0" rtl="0" algn="l">
              <a:spcBef>
                <a:spcPts val="0"/>
              </a:spcBef>
              <a:spcAft>
                <a:spcPts val="0"/>
              </a:spcAft>
              <a:buNone/>
            </a:pPr>
            <a:r>
              <a:t/>
            </a:r>
            <a:endParaRPr sz="1200">
              <a:solidFill>
                <a:schemeClr val="dk1"/>
              </a:solidFill>
            </a:endParaRPr>
          </a:p>
          <a:p>
            <a:pPr indent="-171450" lvl="0" marL="171450" rtl="0" algn="l">
              <a:spcBef>
                <a:spcPts val="0"/>
              </a:spcBef>
              <a:spcAft>
                <a:spcPts val="0"/>
              </a:spcAft>
              <a:buClr>
                <a:schemeClr val="dk1"/>
              </a:buClr>
              <a:buSzPts val="1200"/>
              <a:buFont typeface="Arial"/>
              <a:buChar char="•"/>
            </a:pPr>
            <a:r>
              <a:rPr lang="en-US" sz="1200">
                <a:solidFill>
                  <a:schemeClr val="dk1"/>
                </a:solidFill>
              </a:rPr>
              <a:t>You will have done definitions of assets, liabilities and equity in the butterfly. </a:t>
            </a:r>
            <a:endParaRPr/>
          </a:p>
          <a:p>
            <a:pPr indent="-82550" lvl="0" marL="171450" rtl="0" algn="l">
              <a:spcBef>
                <a:spcPts val="0"/>
              </a:spcBef>
              <a:spcAft>
                <a:spcPts val="0"/>
              </a:spcAft>
              <a:buClr>
                <a:schemeClr val="dk1"/>
              </a:buClr>
              <a:buSzPts val="1400"/>
              <a:buFont typeface="Arial"/>
              <a:buNone/>
            </a:pPr>
            <a:r>
              <a:t/>
            </a:r>
            <a:endParaRPr sz="1400">
              <a:solidFill>
                <a:schemeClr val="dk1"/>
              </a:solidFill>
            </a:endParaRPr>
          </a:p>
          <a:p>
            <a:pPr indent="-171450" lvl="0" marL="171450" rtl="0" algn="l">
              <a:spcBef>
                <a:spcPts val="0"/>
              </a:spcBef>
              <a:spcAft>
                <a:spcPts val="0"/>
              </a:spcAft>
              <a:buClr>
                <a:schemeClr val="dk1"/>
              </a:buClr>
              <a:buSzPts val="1200"/>
              <a:buFont typeface="Arial"/>
              <a:buChar char="•"/>
            </a:pPr>
            <a:r>
              <a:rPr lang="en-US" sz="1200">
                <a:solidFill>
                  <a:schemeClr val="dk1"/>
                </a:solidFill>
              </a:rPr>
              <a:t>This section does them again and introduces the all-important definitions of VGA (value generating activity) </a:t>
            </a:r>
            <a:r>
              <a:rPr b="1" lang="en-US" sz="1200" u="sng">
                <a:solidFill>
                  <a:schemeClr val="dk1"/>
                </a:solidFill>
              </a:rPr>
              <a:t>income</a:t>
            </a:r>
            <a:r>
              <a:rPr lang="en-US" sz="1200">
                <a:solidFill>
                  <a:schemeClr val="dk1"/>
                </a:solidFill>
              </a:rPr>
              <a:t> and VSA (value sacrificing activity) </a:t>
            </a:r>
            <a:r>
              <a:rPr b="1" lang="en-US" sz="1200" u="sng">
                <a:solidFill>
                  <a:schemeClr val="dk1"/>
                </a:solidFill>
              </a:rPr>
              <a:t>expense</a:t>
            </a:r>
            <a:r>
              <a:rPr lang="en-US" sz="1200">
                <a:solidFill>
                  <a:schemeClr val="dk1"/>
                </a:solidFill>
              </a:rPr>
              <a:t>.</a:t>
            </a:r>
            <a:endParaRPr/>
          </a:p>
          <a:p>
            <a:pPr indent="-82550" lvl="0" marL="171450" rtl="0" algn="l">
              <a:spcBef>
                <a:spcPts val="0"/>
              </a:spcBef>
              <a:spcAft>
                <a:spcPts val="0"/>
              </a:spcAft>
              <a:buClr>
                <a:schemeClr val="dk1"/>
              </a:buClr>
              <a:buSzPts val="1400"/>
              <a:buFont typeface="Arial"/>
              <a:buNone/>
            </a:pPr>
            <a:r>
              <a:t/>
            </a:r>
            <a:endParaRPr sz="1400">
              <a:solidFill>
                <a:schemeClr val="dk1"/>
              </a:solidFill>
            </a:endParaRPr>
          </a:p>
          <a:p>
            <a:pPr indent="-171450" lvl="0" marL="171450" rtl="0" algn="l">
              <a:spcBef>
                <a:spcPts val="0"/>
              </a:spcBef>
              <a:spcAft>
                <a:spcPts val="0"/>
              </a:spcAft>
              <a:buClr>
                <a:schemeClr val="dk1"/>
              </a:buClr>
              <a:buSzPts val="1200"/>
              <a:buFont typeface="Arial"/>
              <a:buChar char="•"/>
            </a:pPr>
            <a:r>
              <a:rPr lang="en-US" sz="1200">
                <a:solidFill>
                  <a:schemeClr val="dk1"/>
                </a:solidFill>
              </a:rPr>
              <a:t>These are “educational definitions”, not official definitions. They’ve proved to work really well in overcoming classic errors, like thinking that income is money. </a:t>
            </a:r>
            <a:endParaRPr/>
          </a:p>
          <a:p>
            <a:pPr indent="-82550" lvl="0" marL="171450" rtl="0" algn="l">
              <a:spcBef>
                <a:spcPts val="0"/>
              </a:spcBef>
              <a:spcAft>
                <a:spcPts val="0"/>
              </a:spcAft>
              <a:buClr>
                <a:schemeClr val="dk1"/>
              </a:buClr>
              <a:buSzPts val="1400"/>
              <a:buFont typeface="Arial"/>
              <a:buNone/>
            </a:pPr>
            <a:r>
              <a:t/>
            </a:r>
            <a:endParaRPr sz="1400">
              <a:solidFill>
                <a:schemeClr val="dk1"/>
              </a:solidFill>
            </a:endParaRPr>
          </a:p>
          <a:p>
            <a:pPr indent="-171450" lvl="0" marL="171450" rtl="0" algn="l">
              <a:spcBef>
                <a:spcPts val="0"/>
              </a:spcBef>
              <a:spcAft>
                <a:spcPts val="0"/>
              </a:spcAft>
              <a:buClr>
                <a:schemeClr val="dk1"/>
              </a:buClr>
              <a:buSzPts val="1200"/>
              <a:buFont typeface="Arial"/>
              <a:buChar char="•"/>
            </a:pPr>
            <a:r>
              <a:rPr lang="en-US" sz="1200">
                <a:solidFill>
                  <a:schemeClr val="dk1"/>
                </a:solidFill>
              </a:rPr>
              <a:t>To derive the income part of the framework you’ll do some of the Classic Transactions [ 1; 2; 6a and 6b ], but with different numbers: </a:t>
            </a:r>
            <a:endParaRPr/>
          </a:p>
          <a:p>
            <a:pPr indent="-82550" lvl="0" marL="171450" rtl="0" algn="l">
              <a:spcBef>
                <a:spcPts val="0"/>
              </a:spcBef>
              <a:spcAft>
                <a:spcPts val="0"/>
              </a:spcAft>
              <a:buClr>
                <a:schemeClr val="dk1"/>
              </a:buClr>
              <a:buSzPts val="1400"/>
              <a:buFont typeface="Arial"/>
              <a:buNone/>
            </a:pPr>
            <a:r>
              <a:t/>
            </a:r>
            <a:endParaRPr sz="1400">
              <a:solidFill>
                <a:schemeClr val="dk1"/>
              </a:solidFill>
            </a:endParaRPr>
          </a:p>
          <a:p>
            <a:pPr indent="-171450" lvl="1" marL="628650" rtl="0" algn="l">
              <a:spcBef>
                <a:spcPts val="0"/>
              </a:spcBef>
              <a:spcAft>
                <a:spcPts val="0"/>
              </a:spcAft>
              <a:buClr>
                <a:schemeClr val="dk1"/>
              </a:buClr>
              <a:buSzPts val="1200"/>
              <a:buFont typeface="Arial"/>
              <a:buChar char="•"/>
            </a:pPr>
            <a:r>
              <a:rPr lang="en-US" sz="1200">
                <a:solidFill>
                  <a:schemeClr val="dk1"/>
                </a:solidFill>
              </a:rPr>
              <a:t>Borrow money from lender £30,000</a:t>
            </a:r>
            <a:endParaRPr sz="1400">
              <a:solidFill>
                <a:schemeClr val="dk1"/>
              </a:solidFill>
            </a:endParaRPr>
          </a:p>
          <a:p>
            <a:pPr indent="-95250" lvl="1" marL="628650" rtl="0" algn="l">
              <a:spcBef>
                <a:spcPts val="0"/>
              </a:spcBef>
              <a:spcAft>
                <a:spcPts val="0"/>
              </a:spcAft>
              <a:buClr>
                <a:schemeClr val="dk1"/>
              </a:buClr>
              <a:buSzPts val="1200"/>
              <a:buFont typeface="Arial"/>
              <a:buNone/>
            </a:pPr>
            <a:r>
              <a:t/>
            </a:r>
            <a:endParaRPr sz="1200">
              <a:solidFill>
                <a:schemeClr val="dk1"/>
              </a:solidFill>
            </a:endParaRPr>
          </a:p>
          <a:p>
            <a:pPr indent="-171450" lvl="1" marL="628650" rtl="0" algn="l">
              <a:spcBef>
                <a:spcPts val="0"/>
              </a:spcBef>
              <a:spcAft>
                <a:spcPts val="0"/>
              </a:spcAft>
              <a:buClr>
                <a:schemeClr val="dk1"/>
              </a:buClr>
              <a:buSzPts val="1200"/>
              <a:buFont typeface="Arial"/>
              <a:buChar char="•"/>
            </a:pPr>
            <a:r>
              <a:rPr lang="en-US" sz="1200">
                <a:solidFill>
                  <a:schemeClr val="dk1"/>
                </a:solidFill>
              </a:rPr>
              <a:t>Owner invests money as equity £20,000</a:t>
            </a:r>
            <a:endParaRPr sz="1400">
              <a:solidFill>
                <a:schemeClr val="dk1"/>
              </a:solidFill>
            </a:endParaRPr>
          </a:p>
          <a:p>
            <a:pPr indent="-95250" lvl="1" marL="628650" rtl="0" algn="l">
              <a:spcBef>
                <a:spcPts val="0"/>
              </a:spcBef>
              <a:spcAft>
                <a:spcPts val="0"/>
              </a:spcAft>
              <a:buClr>
                <a:schemeClr val="dk1"/>
              </a:buClr>
              <a:buSzPts val="1200"/>
              <a:buFont typeface="Arial"/>
              <a:buNone/>
            </a:pPr>
            <a:r>
              <a:t/>
            </a:r>
            <a:endParaRPr sz="1200">
              <a:solidFill>
                <a:schemeClr val="dk1"/>
              </a:solidFill>
            </a:endParaRPr>
          </a:p>
          <a:p>
            <a:pPr indent="-171450" lvl="1" marL="628650" rtl="0" algn="l">
              <a:spcBef>
                <a:spcPts val="0"/>
              </a:spcBef>
              <a:spcAft>
                <a:spcPts val="0"/>
              </a:spcAft>
              <a:buClr>
                <a:schemeClr val="dk1"/>
              </a:buClr>
              <a:buSzPts val="1200"/>
              <a:buFont typeface="Arial"/>
              <a:buChar char="•"/>
            </a:pPr>
            <a:r>
              <a:rPr lang="en-US" sz="1200">
                <a:solidFill>
                  <a:schemeClr val="dk1"/>
                </a:solidFill>
              </a:rPr>
              <a:t>Make a sale £700</a:t>
            </a:r>
            <a:endParaRPr sz="1400">
              <a:solidFill>
                <a:schemeClr val="dk1"/>
              </a:solidFill>
            </a:endParaRPr>
          </a:p>
          <a:p>
            <a:pPr indent="-95250" lvl="1" marL="628650" rtl="0" algn="l">
              <a:spcBef>
                <a:spcPts val="0"/>
              </a:spcBef>
              <a:spcAft>
                <a:spcPts val="0"/>
              </a:spcAft>
              <a:buClr>
                <a:schemeClr val="dk1"/>
              </a:buClr>
              <a:buSzPts val="1200"/>
              <a:buFont typeface="Arial"/>
              <a:buNone/>
            </a:pPr>
            <a:r>
              <a:t/>
            </a:r>
            <a:endParaRPr sz="1200">
              <a:solidFill>
                <a:schemeClr val="dk1"/>
              </a:solidFill>
            </a:endParaRPr>
          </a:p>
          <a:p>
            <a:pPr indent="-171450" lvl="1" marL="628650" rtl="0" algn="l">
              <a:spcBef>
                <a:spcPts val="0"/>
              </a:spcBef>
              <a:spcAft>
                <a:spcPts val="0"/>
              </a:spcAft>
              <a:buClr>
                <a:schemeClr val="dk1"/>
              </a:buClr>
              <a:buSzPts val="1200"/>
              <a:buFont typeface="Arial"/>
              <a:buChar char="•"/>
            </a:pPr>
            <a:r>
              <a:rPr lang="en-US" sz="1200">
                <a:solidFill>
                  <a:schemeClr val="dk1"/>
                </a:solidFill>
              </a:rPr>
              <a:t>Cost associated with that sale £300</a:t>
            </a:r>
            <a:endParaRPr sz="1400">
              <a:solidFill>
                <a:schemeClr val="dk1"/>
              </a:solidFill>
            </a:endParaRPr>
          </a:p>
          <a:p>
            <a:pPr indent="-95250" lvl="0" marL="171450" rtl="0" algn="l">
              <a:spcBef>
                <a:spcPts val="0"/>
              </a:spcBef>
              <a:spcAft>
                <a:spcPts val="0"/>
              </a:spcAft>
              <a:buClr>
                <a:schemeClr val="dk1"/>
              </a:buClr>
              <a:buSzPts val="1200"/>
              <a:buFont typeface="Arial"/>
              <a:buNone/>
            </a:pPr>
            <a:r>
              <a:t/>
            </a:r>
            <a:endParaRPr sz="1200">
              <a:solidFill>
                <a:schemeClr val="dk1"/>
              </a:solidFill>
            </a:endParaRPr>
          </a:p>
          <a:p>
            <a:pPr indent="-171450" lvl="0" marL="171450" rtl="0" algn="l">
              <a:spcBef>
                <a:spcPts val="0"/>
              </a:spcBef>
              <a:spcAft>
                <a:spcPts val="0"/>
              </a:spcAft>
              <a:buClr>
                <a:schemeClr val="dk1"/>
              </a:buClr>
              <a:buSzPts val="1200"/>
              <a:buFont typeface="Arial"/>
              <a:buChar char="•"/>
            </a:pPr>
            <a:r>
              <a:rPr lang="en-US" sz="1200">
                <a:solidFill>
                  <a:schemeClr val="dk1"/>
                </a:solidFill>
              </a:rPr>
              <a:t>We use the last two transactions to introduce the concept of profit as generated equity.</a:t>
            </a:r>
            <a:endParaRPr/>
          </a:p>
        </p:txBody>
      </p:sp>
      <p:sp>
        <p:nvSpPr>
          <p:cNvPr id="264" name="Google Shape;264;p9:notes"/>
          <p:cNvSpPr/>
          <p:nvPr>
            <p:ph idx="2" type="sldImg"/>
          </p:nvPr>
        </p:nvSpPr>
        <p:spPr>
          <a:xfrm>
            <a:off x="4256088" y="458788"/>
            <a:ext cx="2227262" cy="12541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265" name="Google Shape;265;p9: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p10: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b="1" lang="en-US"/>
              <a:t>Headlines</a:t>
            </a:r>
            <a:endParaRPr/>
          </a:p>
          <a:p>
            <a:pPr indent="0" lvl="0" marL="0" rtl="0" algn="l">
              <a:spcBef>
                <a:spcPts val="0"/>
              </a:spcBef>
              <a:spcAft>
                <a:spcPts val="0"/>
              </a:spcAft>
              <a:buNone/>
            </a:pPr>
            <a:r>
              <a:t/>
            </a:r>
            <a:endParaRPr b="1"/>
          </a:p>
          <a:p>
            <a:pPr indent="-171450" lvl="0" marL="171450" rtl="0" algn="l">
              <a:spcBef>
                <a:spcPts val="0"/>
              </a:spcBef>
              <a:spcAft>
                <a:spcPts val="0"/>
              </a:spcAft>
              <a:buClr>
                <a:schemeClr val="dk1"/>
              </a:buClr>
              <a:buSzPts val="1200"/>
              <a:buFont typeface="Arial"/>
              <a:buChar char="•"/>
            </a:pPr>
            <a:r>
              <a:rPr lang="en-US"/>
              <a:t>Relate “butterfly” to Accounting Framework</a:t>
            </a:r>
            <a:endParaRPr/>
          </a:p>
          <a:p>
            <a:pPr indent="-95250" lvl="0" marL="171450" rtl="0" algn="l">
              <a:spcBef>
                <a:spcPts val="0"/>
              </a:spcBef>
              <a:spcAft>
                <a:spcPts val="0"/>
              </a:spcAft>
              <a:buClr>
                <a:schemeClr val="dk1"/>
              </a:buClr>
              <a:buSzPts val="1200"/>
              <a:buFont typeface="Arial"/>
              <a:buNone/>
            </a:pPr>
            <a:r>
              <a:t/>
            </a:r>
            <a:endParaRPr/>
          </a:p>
          <a:p>
            <a:pPr indent="-171450" lvl="0" marL="171450" rtl="0" algn="l">
              <a:spcBef>
                <a:spcPts val="0"/>
              </a:spcBef>
              <a:spcAft>
                <a:spcPts val="0"/>
              </a:spcAft>
              <a:buClr>
                <a:schemeClr val="dk1"/>
              </a:buClr>
              <a:buSzPts val="1200"/>
              <a:buFont typeface="Arial"/>
              <a:buChar char="•"/>
            </a:pPr>
            <a:r>
              <a:rPr lang="en-US"/>
              <a:t>There’s another source of funds – income</a:t>
            </a:r>
            <a:endParaRPr/>
          </a:p>
          <a:p>
            <a:pPr indent="-95250" lvl="0" marL="171450" rtl="0" algn="l">
              <a:spcBef>
                <a:spcPts val="0"/>
              </a:spcBef>
              <a:spcAft>
                <a:spcPts val="0"/>
              </a:spcAft>
              <a:buClr>
                <a:schemeClr val="dk1"/>
              </a:buClr>
              <a:buSzPts val="1200"/>
              <a:buFont typeface="Arial"/>
              <a:buNone/>
            </a:pPr>
            <a:r>
              <a:t/>
            </a:r>
            <a:endParaRPr/>
          </a:p>
          <a:p>
            <a:pPr indent="-171450" lvl="0" marL="171450" rtl="0" algn="l">
              <a:spcBef>
                <a:spcPts val="0"/>
              </a:spcBef>
              <a:spcAft>
                <a:spcPts val="0"/>
              </a:spcAft>
              <a:buClr>
                <a:schemeClr val="dk1"/>
              </a:buClr>
              <a:buSzPts val="1200"/>
              <a:buFont typeface="Arial"/>
              <a:buChar char="•"/>
            </a:pPr>
            <a:r>
              <a:rPr lang="en-US"/>
              <a:t>Students should do what you do, in their workbooks, </a:t>
            </a:r>
            <a:br>
              <a:rPr lang="en-US"/>
            </a:br>
            <a:r>
              <a:rPr lang="en-US"/>
              <a:t>pages 12 – 13.</a:t>
            </a:r>
            <a:endParaRPr/>
          </a:p>
          <a:p>
            <a:pPr indent="0" lvl="0" marL="0" rtl="0" algn="l">
              <a:spcBef>
                <a:spcPts val="0"/>
              </a:spcBef>
              <a:spcAft>
                <a:spcPts val="0"/>
              </a:spcAft>
              <a:buNone/>
            </a:pPr>
            <a:r>
              <a:t/>
            </a:r>
            <a:endParaRPr b="1"/>
          </a:p>
          <a:p>
            <a:pPr indent="0" lvl="0" marL="0" rtl="0" algn="l">
              <a:spcBef>
                <a:spcPts val="0"/>
              </a:spcBef>
              <a:spcAft>
                <a:spcPts val="0"/>
              </a:spcAft>
              <a:buNone/>
            </a:pPr>
            <a:r>
              <a:t/>
            </a:r>
            <a:endParaRPr b="1"/>
          </a:p>
          <a:p>
            <a:pPr indent="0" lvl="0" marL="0" rtl="0" algn="l">
              <a:spcBef>
                <a:spcPts val="0"/>
              </a:spcBef>
              <a:spcAft>
                <a:spcPts val="0"/>
              </a:spcAft>
              <a:buNone/>
            </a:pPr>
            <a:r>
              <a:rPr b="1" lang="en-US"/>
              <a:t>Sequence Steps</a:t>
            </a:r>
            <a:endParaRPr/>
          </a:p>
          <a:p>
            <a:pPr indent="0" lvl="0" marL="0" rtl="0" algn="l">
              <a:spcBef>
                <a:spcPts val="0"/>
              </a:spcBef>
              <a:spcAft>
                <a:spcPts val="0"/>
              </a:spcAft>
              <a:buNone/>
            </a:pPr>
            <a:r>
              <a:t/>
            </a:r>
            <a:endParaRPr/>
          </a:p>
          <a:p>
            <a:pPr indent="-171450" lvl="0" marL="171450" rtl="0" algn="l">
              <a:spcBef>
                <a:spcPts val="0"/>
              </a:spcBef>
              <a:spcAft>
                <a:spcPts val="0"/>
              </a:spcAft>
              <a:buClr>
                <a:schemeClr val="dk1"/>
              </a:buClr>
              <a:buSzPts val="1200"/>
              <a:buFont typeface="Arial"/>
              <a:buChar char="•"/>
            </a:pPr>
            <a:r>
              <a:rPr lang="en-US"/>
              <a:t>Point out that the Funding Butterfly is now shown as the top 3 boxes in the Framework – the balance sheet and they can ignore the bottom section for now.</a:t>
            </a:r>
            <a:endParaRPr/>
          </a:p>
          <a:p>
            <a:pPr indent="-95250" lvl="0" marL="171450" rtl="0" algn="l">
              <a:spcBef>
                <a:spcPts val="0"/>
              </a:spcBef>
              <a:spcAft>
                <a:spcPts val="0"/>
              </a:spcAft>
              <a:buClr>
                <a:schemeClr val="dk1"/>
              </a:buClr>
              <a:buSzPts val="1200"/>
              <a:buFont typeface="Arial"/>
              <a:buNone/>
            </a:pPr>
            <a:r>
              <a:t/>
            </a:r>
            <a:endParaRPr/>
          </a:p>
          <a:p>
            <a:pPr indent="-171450" lvl="0" marL="171450" rtl="0" algn="l">
              <a:spcBef>
                <a:spcPts val="0"/>
              </a:spcBef>
              <a:spcAft>
                <a:spcPts val="0"/>
              </a:spcAft>
              <a:buClr>
                <a:schemeClr val="dk1"/>
              </a:buClr>
              <a:buSzPts val="1200"/>
              <a:buFont typeface="Arial"/>
              <a:buChar char="•"/>
            </a:pPr>
            <a:r>
              <a:rPr lang="en-US"/>
              <a:t>Explain that we are now going to use some transactions to explore the third source of funds – that received from the customers. To do so we will start an imaginary consulting business.</a:t>
            </a:r>
            <a:endParaRPr/>
          </a:p>
          <a:p>
            <a:pPr indent="-95250" lvl="0" marL="171450" rtl="0" algn="l">
              <a:spcBef>
                <a:spcPts val="0"/>
              </a:spcBef>
              <a:spcAft>
                <a:spcPts val="0"/>
              </a:spcAft>
              <a:buClr>
                <a:schemeClr val="dk1"/>
              </a:buClr>
              <a:buSzPts val="1200"/>
              <a:buFont typeface="Arial"/>
              <a:buNone/>
            </a:pPr>
            <a:r>
              <a:t/>
            </a:r>
            <a:endParaRPr/>
          </a:p>
          <a:p>
            <a:pPr indent="-171450" lvl="0" marL="171450" rtl="0" algn="l">
              <a:spcBef>
                <a:spcPts val="0"/>
              </a:spcBef>
              <a:spcAft>
                <a:spcPts val="0"/>
              </a:spcAft>
              <a:buClr>
                <a:schemeClr val="dk1"/>
              </a:buClr>
              <a:buSzPts val="1200"/>
              <a:buFont typeface="Arial"/>
              <a:buChar char="•"/>
            </a:pPr>
            <a:r>
              <a:rPr lang="en-US"/>
              <a:t>Whose story? Reveal an entity name at top </a:t>
            </a:r>
            <a:r>
              <a:rPr b="1" lang="en-US">
                <a:solidFill>
                  <a:srgbClr val="C00000"/>
                </a:solidFill>
              </a:rPr>
              <a:t>[ CLICK ]</a:t>
            </a:r>
            <a:r>
              <a:rPr lang="en-US"/>
              <a:t>. Point of view!</a:t>
            </a:r>
            <a:endParaRPr/>
          </a:p>
          <a:p>
            <a:pPr indent="-95250" lvl="0" marL="171450" rtl="0" algn="l">
              <a:spcBef>
                <a:spcPts val="0"/>
              </a:spcBef>
              <a:spcAft>
                <a:spcPts val="0"/>
              </a:spcAft>
              <a:buClr>
                <a:schemeClr val="dk1"/>
              </a:buClr>
              <a:buSzPts val="1200"/>
              <a:buFont typeface="Arial"/>
              <a:buNone/>
            </a:pPr>
            <a:r>
              <a:t/>
            </a:r>
            <a:endParaRPr/>
          </a:p>
          <a:p>
            <a:pPr indent="-171450" lvl="0" marL="171450" rtl="0" algn="l">
              <a:spcBef>
                <a:spcPts val="0"/>
              </a:spcBef>
              <a:spcAft>
                <a:spcPts val="0"/>
              </a:spcAft>
              <a:buClr>
                <a:schemeClr val="dk1"/>
              </a:buClr>
              <a:buSzPts val="1200"/>
              <a:buFont typeface="Arial"/>
              <a:buChar char="•"/>
            </a:pPr>
            <a:r>
              <a:rPr lang="en-US"/>
              <a:t>Say: this story is a funding story. </a:t>
            </a:r>
            <a:endParaRPr/>
          </a:p>
          <a:p>
            <a:pPr indent="-95250" lvl="0" marL="171450" rtl="0" algn="l">
              <a:spcBef>
                <a:spcPts val="0"/>
              </a:spcBef>
              <a:spcAft>
                <a:spcPts val="0"/>
              </a:spcAft>
              <a:buClr>
                <a:schemeClr val="dk1"/>
              </a:buClr>
              <a:buSzPts val="1200"/>
              <a:buFont typeface="Arial"/>
              <a:buNone/>
            </a:pPr>
            <a:r>
              <a:t/>
            </a:r>
            <a:endParaRPr/>
          </a:p>
          <a:p>
            <a:pPr indent="-171450" lvl="0" marL="171450" rtl="0" algn="l">
              <a:spcBef>
                <a:spcPts val="0"/>
              </a:spcBef>
              <a:spcAft>
                <a:spcPts val="0"/>
              </a:spcAft>
              <a:buClr>
                <a:schemeClr val="dk1"/>
              </a:buClr>
              <a:buSzPts val="1200"/>
              <a:buFont typeface="Arial"/>
              <a:buChar char="•"/>
            </a:pPr>
            <a:r>
              <a:rPr lang="en-US"/>
              <a:t>Tell students to highlight the </a:t>
            </a:r>
            <a:r>
              <a:rPr b="1" lang="en-US"/>
              <a:t>Uses of funds</a:t>
            </a:r>
            <a:r>
              <a:rPr lang="en-US"/>
              <a:t> heading box in green and also the border of the </a:t>
            </a:r>
            <a:r>
              <a:rPr b="1" lang="en-US"/>
              <a:t>assets</a:t>
            </a:r>
            <a:r>
              <a:rPr lang="en-US"/>
              <a:t> box.</a:t>
            </a:r>
            <a:endParaRPr/>
          </a:p>
          <a:p>
            <a:pPr indent="-95250" lvl="0" marL="171450" rtl="0" algn="l">
              <a:spcBef>
                <a:spcPts val="0"/>
              </a:spcBef>
              <a:spcAft>
                <a:spcPts val="0"/>
              </a:spcAft>
              <a:buClr>
                <a:schemeClr val="dk1"/>
              </a:buClr>
              <a:buSzPts val="1200"/>
              <a:buFont typeface="Arial"/>
              <a:buNone/>
            </a:pPr>
            <a:r>
              <a:t/>
            </a:r>
            <a:endParaRPr/>
          </a:p>
          <a:p>
            <a:pPr indent="-171450" lvl="0" marL="171450" rtl="0" algn="l">
              <a:spcBef>
                <a:spcPts val="0"/>
              </a:spcBef>
              <a:spcAft>
                <a:spcPts val="0"/>
              </a:spcAft>
              <a:buClr>
                <a:schemeClr val="dk1"/>
              </a:buClr>
              <a:buSzPts val="1200"/>
              <a:buFont typeface="Arial"/>
              <a:buChar char="•"/>
            </a:pPr>
            <a:r>
              <a:rPr lang="en-US"/>
              <a:t>Tell students to highlight the </a:t>
            </a:r>
            <a:r>
              <a:rPr b="1" lang="en-US"/>
              <a:t>Sources of funds</a:t>
            </a:r>
            <a:r>
              <a:rPr lang="en-US"/>
              <a:t> heading box in yellow and also the border of </a:t>
            </a:r>
            <a:r>
              <a:rPr b="1" lang="en-US"/>
              <a:t>liabilities </a:t>
            </a:r>
            <a:r>
              <a:rPr lang="en-US"/>
              <a:t>and </a:t>
            </a:r>
            <a:r>
              <a:rPr b="1" lang="en-US"/>
              <a:t>equity</a:t>
            </a:r>
            <a:r>
              <a:rPr lang="en-US"/>
              <a:t> boxes and the dividing line.</a:t>
            </a:r>
            <a:endParaRPr/>
          </a:p>
          <a:p>
            <a:pPr indent="0" lvl="0" marL="0" rtl="0" algn="l">
              <a:spcBef>
                <a:spcPts val="0"/>
              </a:spcBef>
              <a:spcAft>
                <a:spcPts val="0"/>
              </a:spcAft>
              <a:buNone/>
            </a:pPr>
            <a:r>
              <a:t/>
            </a:r>
            <a:endParaRPr/>
          </a:p>
        </p:txBody>
      </p:sp>
      <p:sp>
        <p:nvSpPr>
          <p:cNvPr id="275" name="Google Shape;275;p10:notes"/>
          <p:cNvSpPr/>
          <p:nvPr>
            <p:ph idx="2" type="sldImg"/>
          </p:nvPr>
        </p:nvSpPr>
        <p:spPr>
          <a:xfrm>
            <a:off x="4246563" y="458788"/>
            <a:ext cx="2236787" cy="1258887"/>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276" name="Google Shape;276;p10: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 name="Shape 285"/>
        <p:cNvGrpSpPr/>
        <p:nvPr/>
      </p:nvGrpSpPr>
      <p:grpSpPr>
        <a:xfrm>
          <a:off x="0" y="0"/>
          <a:ext cx="0" cy="0"/>
          <a:chOff x="0" y="0"/>
          <a:chExt cx="0" cy="0"/>
        </a:xfrm>
      </p:grpSpPr>
      <p:sp>
        <p:nvSpPr>
          <p:cNvPr id="286" name="Google Shape;286;p11:notes"/>
          <p:cNvSpPr/>
          <p:nvPr>
            <p:ph idx="2" type="sldImg"/>
          </p:nvPr>
        </p:nvSpPr>
        <p:spPr>
          <a:xfrm>
            <a:off x="4246563" y="458788"/>
            <a:ext cx="2236787" cy="1258887"/>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287" name="Google Shape;287;p11: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
        <p:nvSpPr>
          <p:cNvPr id="288" name="Google Shape;288;p11: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3" name="Shape 303"/>
        <p:cNvGrpSpPr/>
        <p:nvPr/>
      </p:nvGrpSpPr>
      <p:grpSpPr>
        <a:xfrm>
          <a:off x="0" y="0"/>
          <a:ext cx="0" cy="0"/>
          <a:chOff x="0" y="0"/>
          <a:chExt cx="0" cy="0"/>
        </a:xfrm>
      </p:grpSpPr>
      <p:sp>
        <p:nvSpPr>
          <p:cNvPr id="304" name="Google Shape;304;p12:notes"/>
          <p:cNvSpPr/>
          <p:nvPr>
            <p:ph idx="2" type="sldImg"/>
          </p:nvPr>
        </p:nvSpPr>
        <p:spPr>
          <a:xfrm>
            <a:off x="4252913" y="458788"/>
            <a:ext cx="2230437" cy="1255712"/>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305" name="Google Shape;305;p12: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
        <p:nvSpPr>
          <p:cNvPr id="306" name="Google Shape;306;p12: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9" name="Shape 329"/>
        <p:cNvGrpSpPr/>
        <p:nvPr/>
      </p:nvGrpSpPr>
      <p:grpSpPr>
        <a:xfrm>
          <a:off x="0" y="0"/>
          <a:ext cx="0" cy="0"/>
          <a:chOff x="0" y="0"/>
          <a:chExt cx="0" cy="0"/>
        </a:xfrm>
      </p:grpSpPr>
      <p:sp>
        <p:nvSpPr>
          <p:cNvPr id="330" name="Google Shape;330;p13:notes"/>
          <p:cNvSpPr/>
          <p:nvPr>
            <p:ph idx="2" type="sldImg"/>
          </p:nvPr>
        </p:nvSpPr>
        <p:spPr>
          <a:xfrm>
            <a:off x="4252913" y="458788"/>
            <a:ext cx="2230437" cy="1255712"/>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331" name="Google Shape;331;p13: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
        <p:nvSpPr>
          <p:cNvPr id="332" name="Google Shape;332;p13: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1" name="Shape 361"/>
        <p:cNvGrpSpPr/>
        <p:nvPr/>
      </p:nvGrpSpPr>
      <p:grpSpPr>
        <a:xfrm>
          <a:off x="0" y="0"/>
          <a:ext cx="0" cy="0"/>
          <a:chOff x="0" y="0"/>
          <a:chExt cx="0" cy="0"/>
        </a:xfrm>
      </p:grpSpPr>
      <p:sp>
        <p:nvSpPr>
          <p:cNvPr id="362" name="Google Shape;362;p14:notes"/>
          <p:cNvSpPr/>
          <p:nvPr>
            <p:ph idx="2" type="sldImg"/>
          </p:nvPr>
        </p:nvSpPr>
        <p:spPr>
          <a:xfrm>
            <a:off x="4252913" y="458788"/>
            <a:ext cx="2230437" cy="1255712"/>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363" name="Google Shape;363;p14: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
        <p:nvSpPr>
          <p:cNvPr id="364" name="Google Shape;364;p14: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6" name="Shape 396"/>
        <p:cNvGrpSpPr/>
        <p:nvPr/>
      </p:nvGrpSpPr>
      <p:grpSpPr>
        <a:xfrm>
          <a:off x="0" y="0"/>
          <a:ext cx="0" cy="0"/>
          <a:chOff x="0" y="0"/>
          <a:chExt cx="0" cy="0"/>
        </a:xfrm>
      </p:grpSpPr>
      <p:sp>
        <p:nvSpPr>
          <p:cNvPr id="397" name="Google Shape;397;p15:notes"/>
          <p:cNvSpPr/>
          <p:nvPr>
            <p:ph idx="2" type="sldImg"/>
          </p:nvPr>
        </p:nvSpPr>
        <p:spPr>
          <a:xfrm>
            <a:off x="4252913" y="458788"/>
            <a:ext cx="2230437" cy="1255712"/>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398" name="Google Shape;398;p15: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
        <p:nvSpPr>
          <p:cNvPr id="399" name="Google Shape;399;p15: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6" name="Shape 436"/>
        <p:cNvGrpSpPr/>
        <p:nvPr/>
      </p:nvGrpSpPr>
      <p:grpSpPr>
        <a:xfrm>
          <a:off x="0" y="0"/>
          <a:ext cx="0" cy="0"/>
          <a:chOff x="0" y="0"/>
          <a:chExt cx="0" cy="0"/>
        </a:xfrm>
      </p:grpSpPr>
      <p:sp>
        <p:nvSpPr>
          <p:cNvPr id="437" name="Google Shape;437;p16:notes"/>
          <p:cNvSpPr/>
          <p:nvPr>
            <p:ph idx="2" type="sldImg"/>
          </p:nvPr>
        </p:nvSpPr>
        <p:spPr>
          <a:xfrm>
            <a:off x="4246563" y="458788"/>
            <a:ext cx="2236787" cy="1258887"/>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438" name="Google Shape;438;p16: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
        <p:nvSpPr>
          <p:cNvPr id="439" name="Google Shape;439;p16: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p17:notes"/>
          <p:cNvSpPr/>
          <p:nvPr>
            <p:ph idx="2" type="sldImg"/>
          </p:nvPr>
        </p:nvSpPr>
        <p:spPr>
          <a:xfrm>
            <a:off x="4324350" y="458788"/>
            <a:ext cx="2159000" cy="12160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446" name="Google Shape;446;p17: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
        <p:nvSpPr>
          <p:cNvPr id="447" name="Google Shape;447;p17: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p18: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b="1" lang="en-US"/>
              <a:t>Headlines</a:t>
            </a:r>
            <a:endParaRPr/>
          </a:p>
          <a:p>
            <a:pPr indent="0" lvl="0" marL="0" rtl="0" algn="l">
              <a:spcBef>
                <a:spcPts val="0"/>
              </a:spcBef>
              <a:spcAft>
                <a:spcPts val="0"/>
              </a:spcAft>
              <a:buNone/>
            </a:pPr>
            <a:r>
              <a:t/>
            </a:r>
            <a:endParaRPr b="1"/>
          </a:p>
          <a:p>
            <a:pPr indent="-171450" lvl="0" marL="171450" rtl="0" algn="l">
              <a:spcBef>
                <a:spcPts val="0"/>
              </a:spcBef>
              <a:spcAft>
                <a:spcPts val="0"/>
              </a:spcAft>
              <a:buClr>
                <a:schemeClr val="dk1"/>
              </a:buClr>
              <a:buSzPts val="1200"/>
              <a:buFont typeface="Arial"/>
              <a:buChar char="•"/>
            </a:pPr>
            <a:r>
              <a:rPr lang="en-US"/>
              <a:t>Determine which is income and which is expense.</a:t>
            </a:r>
            <a:endParaRPr/>
          </a:p>
          <a:p>
            <a:pPr indent="-95250" lvl="0" marL="171450" rtl="0" algn="l">
              <a:spcBef>
                <a:spcPts val="0"/>
              </a:spcBef>
              <a:spcAft>
                <a:spcPts val="0"/>
              </a:spcAft>
              <a:buClr>
                <a:schemeClr val="dk1"/>
              </a:buClr>
              <a:buSzPts val="1200"/>
              <a:buFont typeface="Arial"/>
              <a:buNone/>
            </a:pPr>
            <a:r>
              <a:t/>
            </a:r>
            <a:endParaRPr/>
          </a:p>
          <a:p>
            <a:pPr indent="-171450" lvl="0" marL="171450" rtl="0" algn="l">
              <a:spcBef>
                <a:spcPts val="0"/>
              </a:spcBef>
              <a:spcAft>
                <a:spcPts val="0"/>
              </a:spcAft>
              <a:buClr>
                <a:schemeClr val="dk1"/>
              </a:buClr>
              <a:buSzPts val="1200"/>
              <a:buFont typeface="Arial"/>
              <a:buChar char="•"/>
            </a:pPr>
            <a:r>
              <a:rPr lang="en-US"/>
              <a:t>Let them try to work this out.</a:t>
            </a:r>
            <a:endParaRPr/>
          </a:p>
          <a:p>
            <a:pPr indent="0" lvl="0" marL="0" rtl="0" algn="l">
              <a:spcBef>
                <a:spcPts val="0"/>
              </a:spcBef>
              <a:spcAft>
                <a:spcPts val="0"/>
              </a:spcAft>
              <a:buNone/>
            </a:pPr>
            <a:r>
              <a:t/>
            </a:r>
            <a:endParaRPr b="1"/>
          </a:p>
          <a:p>
            <a:pPr indent="0" lvl="0" marL="0" rtl="0" algn="l">
              <a:spcBef>
                <a:spcPts val="0"/>
              </a:spcBef>
              <a:spcAft>
                <a:spcPts val="0"/>
              </a:spcAft>
              <a:buNone/>
            </a:pPr>
            <a:r>
              <a:t/>
            </a:r>
            <a:endParaRPr b="1"/>
          </a:p>
          <a:p>
            <a:pPr indent="0" lvl="0" marL="0" rtl="0" algn="l">
              <a:spcBef>
                <a:spcPts val="0"/>
              </a:spcBef>
              <a:spcAft>
                <a:spcPts val="0"/>
              </a:spcAft>
              <a:buNone/>
            </a:pPr>
            <a:r>
              <a:rPr b="1" lang="en-US"/>
              <a:t>Sequence Steps</a:t>
            </a:r>
            <a:endParaRPr/>
          </a:p>
          <a:p>
            <a:pPr indent="0" lvl="0" marL="0" rtl="0" algn="l">
              <a:spcBef>
                <a:spcPts val="0"/>
              </a:spcBef>
              <a:spcAft>
                <a:spcPts val="0"/>
              </a:spcAft>
              <a:buNone/>
            </a:pPr>
            <a:r>
              <a:t/>
            </a:r>
            <a:endParaRPr/>
          </a:p>
          <a:p>
            <a:pPr indent="-171450" lvl="0" marL="171450" rtl="0" algn="l">
              <a:spcBef>
                <a:spcPts val="0"/>
              </a:spcBef>
              <a:spcAft>
                <a:spcPts val="0"/>
              </a:spcAft>
              <a:buClr>
                <a:schemeClr val="dk1"/>
              </a:buClr>
              <a:buSzPts val="1200"/>
              <a:buFont typeface="Arial"/>
              <a:buChar char="•"/>
            </a:pPr>
            <a:r>
              <a:rPr lang="en-US" sz="1200">
                <a:solidFill>
                  <a:schemeClr val="dk1"/>
                </a:solidFill>
              </a:rPr>
              <a:t>Give the following instructions very clearly and precisely – they should copy what you are doing on the whiteboard into their workbooks.</a:t>
            </a:r>
            <a:endParaRPr/>
          </a:p>
          <a:p>
            <a:pPr indent="-82550" lvl="0" marL="171450" rtl="0" algn="l">
              <a:spcBef>
                <a:spcPts val="0"/>
              </a:spcBef>
              <a:spcAft>
                <a:spcPts val="0"/>
              </a:spcAft>
              <a:buClr>
                <a:schemeClr val="dk1"/>
              </a:buClr>
              <a:buSzPts val="1400"/>
              <a:buFont typeface="Arial"/>
              <a:buNone/>
            </a:pPr>
            <a:r>
              <a:t/>
            </a:r>
            <a:endParaRPr sz="1400">
              <a:solidFill>
                <a:schemeClr val="dk1"/>
              </a:solidFill>
            </a:endParaRPr>
          </a:p>
          <a:p>
            <a:pPr indent="-171450" lvl="1" marL="628650" rtl="0" algn="l">
              <a:spcBef>
                <a:spcPts val="0"/>
              </a:spcBef>
              <a:spcAft>
                <a:spcPts val="0"/>
              </a:spcAft>
              <a:buClr>
                <a:schemeClr val="dk1"/>
              </a:buClr>
              <a:buSzPts val="1200"/>
              <a:buFont typeface="Arial"/>
              <a:buChar char="•"/>
            </a:pPr>
            <a:r>
              <a:rPr lang="en-US" sz="1200">
                <a:solidFill>
                  <a:schemeClr val="dk1"/>
                </a:solidFill>
              </a:rPr>
              <a:t>They can now continue the colour of each side down the page to the two smaller boxes in the Income Statement section. Green on the Uses of Funds Side and yellow on the Sources of Funds side.</a:t>
            </a:r>
            <a:r>
              <a:rPr b="1" lang="en-US" sz="1200">
                <a:solidFill>
                  <a:srgbClr val="C00000"/>
                </a:solidFill>
              </a:rPr>
              <a:t> [ CLICK ]</a:t>
            </a:r>
            <a:endParaRPr/>
          </a:p>
          <a:p>
            <a:pPr indent="-95250" lvl="1" marL="628650" rtl="0" algn="l">
              <a:spcBef>
                <a:spcPts val="0"/>
              </a:spcBef>
              <a:spcAft>
                <a:spcPts val="0"/>
              </a:spcAft>
              <a:buClr>
                <a:schemeClr val="dk1"/>
              </a:buClr>
              <a:buSzPts val="1200"/>
              <a:buFont typeface="Arial"/>
              <a:buNone/>
            </a:pPr>
            <a:r>
              <a:t/>
            </a:r>
            <a:endParaRPr sz="1200">
              <a:solidFill>
                <a:schemeClr val="dk1"/>
              </a:solidFill>
            </a:endParaRPr>
          </a:p>
          <a:p>
            <a:pPr indent="-171450" lvl="1" marL="628650" rtl="0" algn="l">
              <a:spcBef>
                <a:spcPts val="0"/>
              </a:spcBef>
              <a:spcAft>
                <a:spcPts val="0"/>
              </a:spcAft>
              <a:buClr>
                <a:schemeClr val="dk1"/>
              </a:buClr>
              <a:buSzPts val="1200"/>
              <a:buFont typeface="Arial"/>
              <a:buChar char="•"/>
            </a:pPr>
            <a:r>
              <a:rPr b="1" lang="en-US" sz="1200">
                <a:solidFill>
                  <a:schemeClr val="dk1"/>
                </a:solidFill>
              </a:rPr>
              <a:t>Don’t write Income and Expense headings in yet or tell which is which.</a:t>
            </a:r>
            <a:endParaRPr b="1" sz="1400">
              <a:solidFill>
                <a:schemeClr val="dk1"/>
              </a:solidFill>
            </a:endParaRPr>
          </a:p>
          <a:p>
            <a:pPr indent="-95250" lvl="1" marL="628650" rtl="0" algn="l">
              <a:spcBef>
                <a:spcPts val="0"/>
              </a:spcBef>
              <a:spcAft>
                <a:spcPts val="0"/>
              </a:spcAft>
              <a:buClr>
                <a:schemeClr val="dk1"/>
              </a:buClr>
              <a:buSzPts val="1200"/>
              <a:buFont typeface="Arial"/>
              <a:buNone/>
            </a:pPr>
            <a:r>
              <a:t/>
            </a:r>
            <a:endParaRPr sz="1200">
              <a:solidFill>
                <a:schemeClr val="dk1"/>
              </a:solidFill>
            </a:endParaRPr>
          </a:p>
          <a:p>
            <a:pPr indent="-171450" lvl="1" marL="628650" rtl="0" algn="l">
              <a:spcBef>
                <a:spcPts val="0"/>
              </a:spcBef>
              <a:spcAft>
                <a:spcPts val="0"/>
              </a:spcAft>
              <a:buClr>
                <a:schemeClr val="dk1"/>
              </a:buClr>
              <a:buSzPts val="1200"/>
              <a:buFont typeface="Arial"/>
              <a:buChar char="•"/>
            </a:pPr>
            <a:r>
              <a:rPr lang="en-US" sz="1200">
                <a:solidFill>
                  <a:schemeClr val="dk1"/>
                </a:solidFill>
              </a:rPr>
              <a:t>Explain the double-click computer analogy where a folder opens and reveals sub-folders (more detailed info). This is how the Income Statement works – we ‘double-click’ the single Profit number in Equity, and the Income Statement explains how it was calculated.</a:t>
            </a:r>
            <a:endParaRPr/>
          </a:p>
          <a:p>
            <a:pPr indent="-95250" lvl="0" marL="171450" marR="0" rtl="0" algn="l">
              <a:lnSpc>
                <a:spcPct val="100000"/>
              </a:lnSpc>
              <a:spcBef>
                <a:spcPts val="0"/>
              </a:spcBef>
              <a:spcAft>
                <a:spcPts val="0"/>
              </a:spcAft>
              <a:buClr>
                <a:schemeClr val="dk1"/>
              </a:buClr>
              <a:buSzPts val="1200"/>
              <a:buFont typeface="Arial"/>
              <a:buNone/>
            </a:pPr>
            <a:r>
              <a:t/>
            </a:r>
            <a:endParaRPr sz="1200">
              <a:solidFill>
                <a:schemeClr val="dk1"/>
              </a:solidFill>
            </a:endParaRPr>
          </a:p>
        </p:txBody>
      </p:sp>
      <p:sp>
        <p:nvSpPr>
          <p:cNvPr id="491" name="Google Shape;491;p18:notes"/>
          <p:cNvSpPr/>
          <p:nvPr>
            <p:ph idx="2" type="sldImg"/>
          </p:nvPr>
        </p:nvSpPr>
        <p:spPr>
          <a:xfrm>
            <a:off x="4359275" y="458788"/>
            <a:ext cx="2159000" cy="12160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492" name="Google Shape;492;p18: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p19:notes"/>
          <p:cNvSpPr/>
          <p:nvPr>
            <p:ph idx="2" type="sldImg"/>
          </p:nvPr>
        </p:nvSpPr>
        <p:spPr>
          <a:xfrm>
            <a:off x="4324350" y="458788"/>
            <a:ext cx="2159000" cy="12160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536" name="Google Shape;536;p19: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
        <p:nvSpPr>
          <p:cNvPr id="537" name="Google Shape;537;p19: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p20:notes"/>
          <p:cNvSpPr/>
          <p:nvPr>
            <p:ph idx="2" type="sldImg"/>
          </p:nvPr>
        </p:nvSpPr>
        <p:spPr>
          <a:xfrm>
            <a:off x="4324350" y="458788"/>
            <a:ext cx="2159000" cy="12160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587" name="Google Shape;587;p20: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
        <p:nvSpPr>
          <p:cNvPr id="588" name="Google Shape;588;p20: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6" name="Shape 636"/>
        <p:cNvGrpSpPr/>
        <p:nvPr/>
      </p:nvGrpSpPr>
      <p:grpSpPr>
        <a:xfrm>
          <a:off x="0" y="0"/>
          <a:ext cx="0" cy="0"/>
          <a:chOff x="0" y="0"/>
          <a:chExt cx="0" cy="0"/>
        </a:xfrm>
      </p:grpSpPr>
      <p:sp>
        <p:nvSpPr>
          <p:cNvPr id="637" name="Google Shape;637;p21:notes"/>
          <p:cNvSpPr/>
          <p:nvPr>
            <p:ph idx="2" type="sldImg"/>
          </p:nvPr>
        </p:nvSpPr>
        <p:spPr>
          <a:xfrm>
            <a:off x="4324350" y="458788"/>
            <a:ext cx="2159000" cy="12160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638" name="Google Shape;638;p21: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
        <p:nvSpPr>
          <p:cNvPr id="639" name="Google Shape;639;p21: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p22:notes"/>
          <p:cNvSpPr/>
          <p:nvPr>
            <p:ph idx="2" type="sldImg"/>
          </p:nvPr>
        </p:nvSpPr>
        <p:spPr>
          <a:xfrm>
            <a:off x="4324350" y="458788"/>
            <a:ext cx="2159000" cy="12160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694" name="Google Shape;694;p22: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
        <p:nvSpPr>
          <p:cNvPr id="695" name="Google Shape;695;p22: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9" name="Shape 749"/>
        <p:cNvGrpSpPr/>
        <p:nvPr/>
      </p:nvGrpSpPr>
      <p:grpSpPr>
        <a:xfrm>
          <a:off x="0" y="0"/>
          <a:ext cx="0" cy="0"/>
          <a:chOff x="0" y="0"/>
          <a:chExt cx="0" cy="0"/>
        </a:xfrm>
      </p:grpSpPr>
      <p:sp>
        <p:nvSpPr>
          <p:cNvPr id="750" name="Google Shape;750;p23:notes"/>
          <p:cNvSpPr/>
          <p:nvPr>
            <p:ph idx="2" type="sldImg"/>
          </p:nvPr>
        </p:nvSpPr>
        <p:spPr>
          <a:xfrm>
            <a:off x="4324350" y="458788"/>
            <a:ext cx="2159000" cy="12160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751" name="Google Shape;751;p23: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
        <p:nvSpPr>
          <p:cNvPr id="752" name="Google Shape;752;p23: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2" name="Shape 772"/>
        <p:cNvGrpSpPr/>
        <p:nvPr/>
      </p:nvGrpSpPr>
      <p:grpSpPr>
        <a:xfrm>
          <a:off x="0" y="0"/>
          <a:ext cx="0" cy="0"/>
          <a:chOff x="0" y="0"/>
          <a:chExt cx="0" cy="0"/>
        </a:xfrm>
      </p:grpSpPr>
      <p:sp>
        <p:nvSpPr>
          <p:cNvPr id="773" name="Google Shape;773;p24:notes"/>
          <p:cNvSpPr/>
          <p:nvPr>
            <p:ph idx="2" type="sldImg"/>
          </p:nvPr>
        </p:nvSpPr>
        <p:spPr>
          <a:xfrm>
            <a:off x="4337050" y="458788"/>
            <a:ext cx="2155825" cy="12128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4" name="Google Shape;774;p24: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75" name="Google Shape;775;p24: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7" name="Shape 777"/>
        <p:cNvGrpSpPr/>
        <p:nvPr/>
      </p:nvGrpSpPr>
      <p:grpSpPr>
        <a:xfrm>
          <a:off x="0" y="0"/>
          <a:ext cx="0" cy="0"/>
          <a:chOff x="0" y="0"/>
          <a:chExt cx="0" cy="0"/>
        </a:xfrm>
      </p:grpSpPr>
      <p:sp>
        <p:nvSpPr>
          <p:cNvPr id="778" name="Google Shape;778;p25:notes"/>
          <p:cNvSpPr/>
          <p:nvPr>
            <p:ph idx="2" type="sldImg"/>
          </p:nvPr>
        </p:nvSpPr>
        <p:spPr>
          <a:xfrm>
            <a:off x="4256088" y="458788"/>
            <a:ext cx="2227262" cy="12541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779" name="Google Shape;779;p25: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
        <p:nvSpPr>
          <p:cNvPr id="780" name="Google Shape;780;p25: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7" name="Shape 787"/>
        <p:cNvGrpSpPr/>
        <p:nvPr/>
      </p:nvGrpSpPr>
      <p:grpSpPr>
        <a:xfrm>
          <a:off x="0" y="0"/>
          <a:ext cx="0" cy="0"/>
          <a:chOff x="0" y="0"/>
          <a:chExt cx="0" cy="0"/>
        </a:xfrm>
      </p:grpSpPr>
      <p:sp>
        <p:nvSpPr>
          <p:cNvPr id="788" name="Google Shape;788;p26:notes"/>
          <p:cNvSpPr/>
          <p:nvPr>
            <p:ph idx="2" type="sldImg"/>
          </p:nvPr>
        </p:nvSpPr>
        <p:spPr>
          <a:xfrm>
            <a:off x="4324350" y="458788"/>
            <a:ext cx="2159000" cy="12160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789" name="Google Shape;789;p26: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
        <p:nvSpPr>
          <p:cNvPr id="790" name="Google Shape;790;p26: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6" name="Shape 806"/>
        <p:cNvGrpSpPr/>
        <p:nvPr/>
      </p:nvGrpSpPr>
      <p:grpSpPr>
        <a:xfrm>
          <a:off x="0" y="0"/>
          <a:ext cx="0" cy="0"/>
          <a:chOff x="0" y="0"/>
          <a:chExt cx="0" cy="0"/>
        </a:xfrm>
      </p:grpSpPr>
      <p:sp>
        <p:nvSpPr>
          <p:cNvPr id="807" name="Google Shape;807;p27:notes"/>
          <p:cNvSpPr/>
          <p:nvPr>
            <p:ph idx="2" type="sldImg"/>
          </p:nvPr>
        </p:nvSpPr>
        <p:spPr>
          <a:xfrm>
            <a:off x="4324350" y="458788"/>
            <a:ext cx="2159000" cy="12160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808" name="Google Shape;808;p27: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
        <p:nvSpPr>
          <p:cNvPr id="809" name="Google Shape;809;p27: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2" name="Shape 822"/>
        <p:cNvGrpSpPr/>
        <p:nvPr/>
      </p:nvGrpSpPr>
      <p:grpSpPr>
        <a:xfrm>
          <a:off x="0" y="0"/>
          <a:ext cx="0" cy="0"/>
          <a:chOff x="0" y="0"/>
          <a:chExt cx="0" cy="0"/>
        </a:xfrm>
      </p:grpSpPr>
      <p:sp>
        <p:nvSpPr>
          <p:cNvPr id="823" name="Google Shape;823;p28:notes"/>
          <p:cNvSpPr/>
          <p:nvPr>
            <p:ph idx="2" type="sldImg"/>
          </p:nvPr>
        </p:nvSpPr>
        <p:spPr>
          <a:xfrm>
            <a:off x="4324350" y="458788"/>
            <a:ext cx="2159000" cy="12160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824" name="Google Shape;824;p28: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
        <p:nvSpPr>
          <p:cNvPr id="825" name="Google Shape;825;p28: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9" name="Shape 869"/>
        <p:cNvGrpSpPr/>
        <p:nvPr/>
      </p:nvGrpSpPr>
      <p:grpSpPr>
        <a:xfrm>
          <a:off x="0" y="0"/>
          <a:ext cx="0" cy="0"/>
          <a:chOff x="0" y="0"/>
          <a:chExt cx="0" cy="0"/>
        </a:xfrm>
      </p:grpSpPr>
      <p:sp>
        <p:nvSpPr>
          <p:cNvPr id="870" name="Google Shape;870;p29:notes"/>
          <p:cNvSpPr/>
          <p:nvPr>
            <p:ph idx="2" type="sldImg"/>
          </p:nvPr>
        </p:nvSpPr>
        <p:spPr>
          <a:xfrm>
            <a:off x="4324350" y="458788"/>
            <a:ext cx="2159000" cy="12160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871" name="Google Shape;871;p29: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
        <p:nvSpPr>
          <p:cNvPr id="872" name="Google Shape;872;p29: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5" name="Shape 885"/>
        <p:cNvGrpSpPr/>
        <p:nvPr/>
      </p:nvGrpSpPr>
      <p:grpSpPr>
        <a:xfrm>
          <a:off x="0" y="0"/>
          <a:ext cx="0" cy="0"/>
          <a:chOff x="0" y="0"/>
          <a:chExt cx="0" cy="0"/>
        </a:xfrm>
      </p:grpSpPr>
      <p:sp>
        <p:nvSpPr>
          <p:cNvPr id="886" name="Google Shape;886;p30:notes"/>
          <p:cNvSpPr/>
          <p:nvPr>
            <p:ph idx="2" type="sldImg"/>
          </p:nvPr>
        </p:nvSpPr>
        <p:spPr>
          <a:xfrm>
            <a:off x="4324350" y="458788"/>
            <a:ext cx="2159000" cy="12160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887" name="Google Shape;887;p30: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
        <p:nvSpPr>
          <p:cNvPr id="888" name="Google Shape;888;p30: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6" name="Shape 946"/>
        <p:cNvGrpSpPr/>
        <p:nvPr/>
      </p:nvGrpSpPr>
      <p:grpSpPr>
        <a:xfrm>
          <a:off x="0" y="0"/>
          <a:ext cx="0" cy="0"/>
          <a:chOff x="0" y="0"/>
          <a:chExt cx="0" cy="0"/>
        </a:xfrm>
      </p:grpSpPr>
      <p:sp>
        <p:nvSpPr>
          <p:cNvPr id="947" name="Google Shape;947;p31:notes"/>
          <p:cNvSpPr/>
          <p:nvPr>
            <p:ph idx="2" type="sldImg"/>
          </p:nvPr>
        </p:nvSpPr>
        <p:spPr>
          <a:xfrm>
            <a:off x="4324350" y="458788"/>
            <a:ext cx="2159000" cy="12160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948" name="Google Shape;948;p31: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
        <p:nvSpPr>
          <p:cNvPr id="949" name="Google Shape;949;p31: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1" name="Shape 961"/>
        <p:cNvGrpSpPr/>
        <p:nvPr/>
      </p:nvGrpSpPr>
      <p:grpSpPr>
        <a:xfrm>
          <a:off x="0" y="0"/>
          <a:ext cx="0" cy="0"/>
          <a:chOff x="0" y="0"/>
          <a:chExt cx="0" cy="0"/>
        </a:xfrm>
      </p:grpSpPr>
      <p:sp>
        <p:nvSpPr>
          <p:cNvPr id="962" name="Google Shape;962;p32:notes"/>
          <p:cNvSpPr/>
          <p:nvPr>
            <p:ph idx="2" type="sldImg"/>
          </p:nvPr>
        </p:nvSpPr>
        <p:spPr>
          <a:xfrm>
            <a:off x="4324350" y="458788"/>
            <a:ext cx="2159000" cy="12160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963" name="Google Shape;963;p32: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
        <p:nvSpPr>
          <p:cNvPr id="964" name="Google Shape;964;p32: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2" name="Shape 1032"/>
        <p:cNvGrpSpPr/>
        <p:nvPr/>
      </p:nvGrpSpPr>
      <p:grpSpPr>
        <a:xfrm>
          <a:off x="0" y="0"/>
          <a:ext cx="0" cy="0"/>
          <a:chOff x="0" y="0"/>
          <a:chExt cx="0" cy="0"/>
        </a:xfrm>
      </p:grpSpPr>
      <p:sp>
        <p:nvSpPr>
          <p:cNvPr id="1033" name="Google Shape;1033;p33:notes"/>
          <p:cNvSpPr/>
          <p:nvPr>
            <p:ph idx="2" type="sldImg"/>
          </p:nvPr>
        </p:nvSpPr>
        <p:spPr>
          <a:xfrm>
            <a:off x="4256088" y="458788"/>
            <a:ext cx="2227262" cy="12541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1034" name="Google Shape;1034;p33: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
        <p:nvSpPr>
          <p:cNvPr id="1035" name="Google Shape;1035;p33: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3" name="Shape 1073"/>
        <p:cNvGrpSpPr/>
        <p:nvPr/>
      </p:nvGrpSpPr>
      <p:grpSpPr>
        <a:xfrm>
          <a:off x="0" y="0"/>
          <a:ext cx="0" cy="0"/>
          <a:chOff x="0" y="0"/>
          <a:chExt cx="0" cy="0"/>
        </a:xfrm>
      </p:grpSpPr>
      <p:sp>
        <p:nvSpPr>
          <p:cNvPr id="1074" name="Google Shape;1074;p34:notes"/>
          <p:cNvSpPr/>
          <p:nvPr>
            <p:ph idx="2" type="sldImg"/>
          </p:nvPr>
        </p:nvSpPr>
        <p:spPr>
          <a:xfrm>
            <a:off x="4256088" y="458788"/>
            <a:ext cx="2227262" cy="12541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1075" name="Google Shape;1075;p34: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
        <p:nvSpPr>
          <p:cNvPr id="1076" name="Google Shape;1076;p34: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4" name="Shape 1084"/>
        <p:cNvGrpSpPr/>
        <p:nvPr/>
      </p:nvGrpSpPr>
      <p:grpSpPr>
        <a:xfrm>
          <a:off x="0" y="0"/>
          <a:ext cx="0" cy="0"/>
          <a:chOff x="0" y="0"/>
          <a:chExt cx="0" cy="0"/>
        </a:xfrm>
      </p:grpSpPr>
      <p:sp>
        <p:nvSpPr>
          <p:cNvPr id="1085" name="Google Shape;1085;p35:notes"/>
          <p:cNvSpPr/>
          <p:nvPr>
            <p:ph idx="2" type="sldImg"/>
          </p:nvPr>
        </p:nvSpPr>
        <p:spPr>
          <a:xfrm>
            <a:off x="4324350" y="458788"/>
            <a:ext cx="2159000" cy="12160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1086" name="Google Shape;1086;p35: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
        <p:nvSpPr>
          <p:cNvPr id="1087" name="Google Shape;1087;p35: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9" name="Shape 1099"/>
        <p:cNvGrpSpPr/>
        <p:nvPr/>
      </p:nvGrpSpPr>
      <p:grpSpPr>
        <a:xfrm>
          <a:off x="0" y="0"/>
          <a:ext cx="0" cy="0"/>
          <a:chOff x="0" y="0"/>
          <a:chExt cx="0" cy="0"/>
        </a:xfrm>
      </p:grpSpPr>
      <p:sp>
        <p:nvSpPr>
          <p:cNvPr id="1100" name="Google Shape;1100;p36:notes"/>
          <p:cNvSpPr/>
          <p:nvPr>
            <p:ph idx="2" type="sldImg"/>
          </p:nvPr>
        </p:nvSpPr>
        <p:spPr>
          <a:xfrm>
            <a:off x="4324350" y="458788"/>
            <a:ext cx="2159000" cy="12160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1101" name="Google Shape;1101;p36: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
        <p:nvSpPr>
          <p:cNvPr id="1102" name="Google Shape;1102;p36: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8" name="Shape 1188"/>
        <p:cNvGrpSpPr/>
        <p:nvPr/>
      </p:nvGrpSpPr>
      <p:grpSpPr>
        <a:xfrm>
          <a:off x="0" y="0"/>
          <a:ext cx="0" cy="0"/>
          <a:chOff x="0" y="0"/>
          <a:chExt cx="0" cy="0"/>
        </a:xfrm>
      </p:grpSpPr>
      <p:sp>
        <p:nvSpPr>
          <p:cNvPr id="1189" name="Google Shape;1189;p37: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First Tx with both effects on the same side. </a:t>
            </a:r>
            <a:endParaRPr/>
          </a:p>
          <a:p>
            <a:pPr indent="0" lvl="0" marL="0" rtl="0" algn="l">
              <a:spcBef>
                <a:spcPts val="0"/>
              </a:spcBef>
              <a:spcAft>
                <a:spcPts val="0"/>
              </a:spcAft>
              <a:buNone/>
            </a:pPr>
            <a:r>
              <a:t/>
            </a:r>
            <a:endParaRPr/>
          </a:p>
        </p:txBody>
      </p:sp>
      <p:sp>
        <p:nvSpPr>
          <p:cNvPr id="1190" name="Google Shape;1190;p37:notes"/>
          <p:cNvSpPr/>
          <p:nvPr>
            <p:ph idx="2" type="sldImg"/>
          </p:nvPr>
        </p:nvSpPr>
        <p:spPr>
          <a:xfrm>
            <a:off x="4324350" y="458788"/>
            <a:ext cx="2159000" cy="12160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1191" name="Google Shape;1191;p37: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3" name="Shape 1203"/>
        <p:cNvGrpSpPr/>
        <p:nvPr/>
      </p:nvGrpSpPr>
      <p:grpSpPr>
        <a:xfrm>
          <a:off x="0" y="0"/>
          <a:ext cx="0" cy="0"/>
          <a:chOff x="0" y="0"/>
          <a:chExt cx="0" cy="0"/>
        </a:xfrm>
      </p:grpSpPr>
      <p:sp>
        <p:nvSpPr>
          <p:cNvPr id="1204" name="Google Shape;1204;p38:notes"/>
          <p:cNvSpPr/>
          <p:nvPr>
            <p:ph idx="2" type="sldImg"/>
          </p:nvPr>
        </p:nvSpPr>
        <p:spPr>
          <a:xfrm>
            <a:off x="4324350" y="458788"/>
            <a:ext cx="2159000" cy="12160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1205" name="Google Shape;1205;p38: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
        <p:nvSpPr>
          <p:cNvPr id="1206" name="Google Shape;1206;p38: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6" name="Shape 1306"/>
        <p:cNvGrpSpPr/>
        <p:nvPr/>
      </p:nvGrpSpPr>
      <p:grpSpPr>
        <a:xfrm>
          <a:off x="0" y="0"/>
          <a:ext cx="0" cy="0"/>
          <a:chOff x="0" y="0"/>
          <a:chExt cx="0" cy="0"/>
        </a:xfrm>
      </p:grpSpPr>
      <p:sp>
        <p:nvSpPr>
          <p:cNvPr id="1307" name="Google Shape;1307;p39: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8" name="Google Shape;1308;p39:notes"/>
          <p:cNvSpPr/>
          <p:nvPr>
            <p:ph idx="2" type="sldImg"/>
          </p:nvPr>
        </p:nvSpPr>
        <p:spPr>
          <a:xfrm>
            <a:off x="4256088" y="458788"/>
            <a:ext cx="2227262" cy="12541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1309" name="Google Shape;1309;p39: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5" name="Shape 1315"/>
        <p:cNvGrpSpPr/>
        <p:nvPr/>
      </p:nvGrpSpPr>
      <p:grpSpPr>
        <a:xfrm>
          <a:off x="0" y="0"/>
          <a:ext cx="0" cy="0"/>
          <a:chOff x="0" y="0"/>
          <a:chExt cx="0" cy="0"/>
        </a:xfrm>
      </p:grpSpPr>
      <p:sp>
        <p:nvSpPr>
          <p:cNvPr id="1316" name="Google Shape;1316;p40: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17" name="Google Shape;1317;p40:notes"/>
          <p:cNvSpPr/>
          <p:nvPr>
            <p:ph idx="2" type="sldImg"/>
          </p:nvPr>
        </p:nvSpPr>
        <p:spPr>
          <a:xfrm>
            <a:off x="4256088" y="458788"/>
            <a:ext cx="2227262" cy="12541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1318" name="Google Shape;1318;p40: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4" name="Shape 1324"/>
        <p:cNvGrpSpPr/>
        <p:nvPr/>
      </p:nvGrpSpPr>
      <p:grpSpPr>
        <a:xfrm>
          <a:off x="0" y="0"/>
          <a:ext cx="0" cy="0"/>
          <a:chOff x="0" y="0"/>
          <a:chExt cx="0" cy="0"/>
        </a:xfrm>
      </p:grpSpPr>
      <p:sp>
        <p:nvSpPr>
          <p:cNvPr id="1325" name="Google Shape;1325;p41: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26" name="Google Shape;1326;p41:notes"/>
          <p:cNvSpPr/>
          <p:nvPr>
            <p:ph idx="2" type="sldImg"/>
          </p:nvPr>
        </p:nvSpPr>
        <p:spPr>
          <a:xfrm>
            <a:off x="4256088" y="458788"/>
            <a:ext cx="2227262" cy="12541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1327" name="Google Shape;1327;p41: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3" name="Shape 1333"/>
        <p:cNvGrpSpPr/>
        <p:nvPr/>
      </p:nvGrpSpPr>
      <p:grpSpPr>
        <a:xfrm>
          <a:off x="0" y="0"/>
          <a:ext cx="0" cy="0"/>
          <a:chOff x="0" y="0"/>
          <a:chExt cx="0" cy="0"/>
        </a:xfrm>
      </p:grpSpPr>
      <p:sp>
        <p:nvSpPr>
          <p:cNvPr id="1334" name="Google Shape;1334;p42: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35" name="Google Shape;1335;p42:notes"/>
          <p:cNvSpPr/>
          <p:nvPr>
            <p:ph idx="2" type="sldImg"/>
          </p:nvPr>
        </p:nvSpPr>
        <p:spPr>
          <a:xfrm>
            <a:off x="4256088" y="458788"/>
            <a:ext cx="2227262" cy="12541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1336" name="Google Shape;1336;p42: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2" name="Shape 1342"/>
        <p:cNvGrpSpPr/>
        <p:nvPr/>
      </p:nvGrpSpPr>
      <p:grpSpPr>
        <a:xfrm>
          <a:off x="0" y="0"/>
          <a:ext cx="0" cy="0"/>
          <a:chOff x="0" y="0"/>
          <a:chExt cx="0" cy="0"/>
        </a:xfrm>
      </p:grpSpPr>
      <p:sp>
        <p:nvSpPr>
          <p:cNvPr id="1343" name="Google Shape;1343;p43:notes"/>
          <p:cNvSpPr/>
          <p:nvPr>
            <p:ph idx="2" type="sldImg"/>
          </p:nvPr>
        </p:nvSpPr>
        <p:spPr>
          <a:xfrm>
            <a:off x="4324350" y="458788"/>
            <a:ext cx="2159000" cy="12160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1344" name="Google Shape;1344;p43: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
        <p:nvSpPr>
          <p:cNvPr id="1345" name="Google Shape;1345;p43: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7" name="Shape 1357"/>
        <p:cNvGrpSpPr/>
        <p:nvPr/>
      </p:nvGrpSpPr>
      <p:grpSpPr>
        <a:xfrm>
          <a:off x="0" y="0"/>
          <a:ext cx="0" cy="0"/>
          <a:chOff x="0" y="0"/>
          <a:chExt cx="0" cy="0"/>
        </a:xfrm>
      </p:grpSpPr>
      <p:sp>
        <p:nvSpPr>
          <p:cNvPr id="1358" name="Google Shape;1358;p44:notes"/>
          <p:cNvSpPr/>
          <p:nvPr>
            <p:ph idx="2" type="sldImg"/>
          </p:nvPr>
        </p:nvSpPr>
        <p:spPr>
          <a:xfrm>
            <a:off x="4324350" y="458788"/>
            <a:ext cx="2159000" cy="12160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1359" name="Google Shape;1359;p44: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
        <p:nvSpPr>
          <p:cNvPr id="1360" name="Google Shape;1360;p44: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5" name="Shape 1475"/>
        <p:cNvGrpSpPr/>
        <p:nvPr/>
      </p:nvGrpSpPr>
      <p:grpSpPr>
        <a:xfrm>
          <a:off x="0" y="0"/>
          <a:ext cx="0" cy="0"/>
          <a:chOff x="0" y="0"/>
          <a:chExt cx="0" cy="0"/>
        </a:xfrm>
      </p:grpSpPr>
      <p:sp>
        <p:nvSpPr>
          <p:cNvPr id="1476" name="Google Shape;1476;p45:notes"/>
          <p:cNvSpPr/>
          <p:nvPr>
            <p:ph idx="2" type="sldImg"/>
          </p:nvPr>
        </p:nvSpPr>
        <p:spPr>
          <a:xfrm>
            <a:off x="4324350" y="458788"/>
            <a:ext cx="2159000" cy="12160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1477" name="Google Shape;1477;p45: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
        <p:nvSpPr>
          <p:cNvPr id="1478" name="Google Shape;1478;p45: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0" name="Shape 1490"/>
        <p:cNvGrpSpPr/>
        <p:nvPr/>
      </p:nvGrpSpPr>
      <p:grpSpPr>
        <a:xfrm>
          <a:off x="0" y="0"/>
          <a:ext cx="0" cy="0"/>
          <a:chOff x="0" y="0"/>
          <a:chExt cx="0" cy="0"/>
        </a:xfrm>
      </p:grpSpPr>
      <p:sp>
        <p:nvSpPr>
          <p:cNvPr id="1491" name="Google Shape;1491;p46:notes"/>
          <p:cNvSpPr/>
          <p:nvPr>
            <p:ph idx="2" type="sldImg"/>
          </p:nvPr>
        </p:nvSpPr>
        <p:spPr>
          <a:xfrm>
            <a:off x="4324350" y="458788"/>
            <a:ext cx="2159000" cy="12160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1492" name="Google Shape;1492;p46: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
        <p:nvSpPr>
          <p:cNvPr id="1493" name="Google Shape;1493;p46: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3" name="Shape 1623"/>
        <p:cNvGrpSpPr/>
        <p:nvPr/>
      </p:nvGrpSpPr>
      <p:grpSpPr>
        <a:xfrm>
          <a:off x="0" y="0"/>
          <a:ext cx="0" cy="0"/>
          <a:chOff x="0" y="0"/>
          <a:chExt cx="0" cy="0"/>
        </a:xfrm>
      </p:grpSpPr>
      <p:sp>
        <p:nvSpPr>
          <p:cNvPr id="1624" name="Google Shape;1624;p47:notes"/>
          <p:cNvSpPr/>
          <p:nvPr>
            <p:ph idx="2" type="sldImg"/>
          </p:nvPr>
        </p:nvSpPr>
        <p:spPr>
          <a:xfrm>
            <a:off x="4324350" y="458788"/>
            <a:ext cx="2159000" cy="12160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1625" name="Google Shape;1625;p47: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
        <p:nvSpPr>
          <p:cNvPr id="1626" name="Google Shape;1626;p47: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8" name="Shape 1638"/>
        <p:cNvGrpSpPr/>
        <p:nvPr/>
      </p:nvGrpSpPr>
      <p:grpSpPr>
        <a:xfrm>
          <a:off x="0" y="0"/>
          <a:ext cx="0" cy="0"/>
          <a:chOff x="0" y="0"/>
          <a:chExt cx="0" cy="0"/>
        </a:xfrm>
      </p:grpSpPr>
      <p:sp>
        <p:nvSpPr>
          <p:cNvPr id="1639" name="Google Shape;1639;p48: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Profit effect? Cash impact?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Did this affect the gross profit?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No – not a direct expense.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It is an expense of doing business, so comes between the gross profit and the net profit.</a:t>
            </a:r>
            <a:br>
              <a:rPr lang="en-US"/>
            </a:br>
            <a:endParaRPr/>
          </a:p>
          <a:p>
            <a:pPr indent="0" lvl="0" marL="0" rtl="0" algn="l">
              <a:spcBef>
                <a:spcPts val="0"/>
              </a:spcBef>
              <a:spcAft>
                <a:spcPts val="0"/>
              </a:spcAft>
              <a:buNone/>
            </a:pPr>
            <a:r>
              <a:t/>
            </a:r>
            <a:endParaRPr/>
          </a:p>
        </p:txBody>
      </p:sp>
      <p:sp>
        <p:nvSpPr>
          <p:cNvPr id="1640" name="Google Shape;1640;p48:notes"/>
          <p:cNvSpPr/>
          <p:nvPr>
            <p:ph idx="2" type="sldImg"/>
          </p:nvPr>
        </p:nvSpPr>
        <p:spPr>
          <a:xfrm>
            <a:off x="4324350" y="458788"/>
            <a:ext cx="2159000" cy="12160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1641" name="Google Shape;1641;p48: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5" name="Shape 1785"/>
        <p:cNvGrpSpPr/>
        <p:nvPr/>
      </p:nvGrpSpPr>
      <p:grpSpPr>
        <a:xfrm>
          <a:off x="0" y="0"/>
          <a:ext cx="0" cy="0"/>
          <a:chOff x="0" y="0"/>
          <a:chExt cx="0" cy="0"/>
        </a:xfrm>
      </p:grpSpPr>
      <p:sp>
        <p:nvSpPr>
          <p:cNvPr id="1786" name="Google Shape;1786;p49:notes"/>
          <p:cNvSpPr/>
          <p:nvPr>
            <p:ph idx="2" type="sldImg"/>
          </p:nvPr>
        </p:nvSpPr>
        <p:spPr>
          <a:xfrm>
            <a:off x="4324350" y="458788"/>
            <a:ext cx="2159000" cy="12160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1787" name="Google Shape;1787;p49: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
        <p:nvSpPr>
          <p:cNvPr id="1788" name="Google Shape;1788;p49: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0" name="Shape 1800"/>
        <p:cNvGrpSpPr/>
        <p:nvPr/>
      </p:nvGrpSpPr>
      <p:grpSpPr>
        <a:xfrm>
          <a:off x="0" y="0"/>
          <a:ext cx="0" cy="0"/>
          <a:chOff x="0" y="0"/>
          <a:chExt cx="0" cy="0"/>
        </a:xfrm>
      </p:grpSpPr>
      <p:sp>
        <p:nvSpPr>
          <p:cNvPr id="1801" name="Google Shape;1801;p50:notes"/>
          <p:cNvSpPr/>
          <p:nvPr>
            <p:ph idx="2" type="sldImg"/>
          </p:nvPr>
        </p:nvSpPr>
        <p:spPr>
          <a:xfrm>
            <a:off x="4324350" y="458788"/>
            <a:ext cx="2159000" cy="12160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1802" name="Google Shape;1802;p50: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
        <p:nvSpPr>
          <p:cNvPr id="1803" name="Google Shape;1803;p50: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1" name="Shape 1961"/>
        <p:cNvGrpSpPr/>
        <p:nvPr/>
      </p:nvGrpSpPr>
      <p:grpSpPr>
        <a:xfrm>
          <a:off x="0" y="0"/>
          <a:ext cx="0" cy="0"/>
          <a:chOff x="0" y="0"/>
          <a:chExt cx="0" cy="0"/>
        </a:xfrm>
      </p:grpSpPr>
      <p:sp>
        <p:nvSpPr>
          <p:cNvPr id="1962" name="Google Shape;1962;p51:notes"/>
          <p:cNvSpPr/>
          <p:nvPr>
            <p:ph idx="2" type="sldImg"/>
          </p:nvPr>
        </p:nvSpPr>
        <p:spPr>
          <a:xfrm>
            <a:off x="4324350" y="458788"/>
            <a:ext cx="2159000" cy="12160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1963" name="Google Shape;1963;p51: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
        <p:nvSpPr>
          <p:cNvPr id="1964" name="Google Shape;1964;p51: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6" name="Shape 1976"/>
        <p:cNvGrpSpPr/>
        <p:nvPr/>
      </p:nvGrpSpPr>
      <p:grpSpPr>
        <a:xfrm>
          <a:off x="0" y="0"/>
          <a:ext cx="0" cy="0"/>
          <a:chOff x="0" y="0"/>
          <a:chExt cx="0" cy="0"/>
        </a:xfrm>
      </p:grpSpPr>
      <p:sp>
        <p:nvSpPr>
          <p:cNvPr id="1977" name="Google Shape;1977;p52:notes"/>
          <p:cNvSpPr/>
          <p:nvPr>
            <p:ph idx="2" type="sldImg"/>
          </p:nvPr>
        </p:nvSpPr>
        <p:spPr>
          <a:xfrm>
            <a:off x="4324350" y="458788"/>
            <a:ext cx="2159000" cy="12160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1978" name="Google Shape;1978;p52: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
        <p:nvSpPr>
          <p:cNvPr id="1979" name="Google Shape;1979;p52: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7" name="Shape 2147"/>
        <p:cNvGrpSpPr/>
        <p:nvPr/>
      </p:nvGrpSpPr>
      <p:grpSpPr>
        <a:xfrm>
          <a:off x="0" y="0"/>
          <a:ext cx="0" cy="0"/>
          <a:chOff x="0" y="0"/>
          <a:chExt cx="0" cy="0"/>
        </a:xfrm>
      </p:grpSpPr>
      <p:sp>
        <p:nvSpPr>
          <p:cNvPr id="2148" name="Google Shape;2148;p53:notes"/>
          <p:cNvSpPr/>
          <p:nvPr>
            <p:ph idx="2" type="sldImg"/>
          </p:nvPr>
        </p:nvSpPr>
        <p:spPr>
          <a:xfrm>
            <a:off x="4324350" y="458788"/>
            <a:ext cx="2159000" cy="12160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2149" name="Google Shape;2149;p53: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
        <p:nvSpPr>
          <p:cNvPr id="2150" name="Google Shape;2150;p53: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2" name="Shape 2162"/>
        <p:cNvGrpSpPr/>
        <p:nvPr/>
      </p:nvGrpSpPr>
      <p:grpSpPr>
        <a:xfrm>
          <a:off x="0" y="0"/>
          <a:ext cx="0" cy="0"/>
          <a:chOff x="0" y="0"/>
          <a:chExt cx="0" cy="0"/>
        </a:xfrm>
      </p:grpSpPr>
      <p:sp>
        <p:nvSpPr>
          <p:cNvPr id="2163" name="Google Shape;2163;p54:notes"/>
          <p:cNvSpPr/>
          <p:nvPr>
            <p:ph idx="2" type="sldImg"/>
          </p:nvPr>
        </p:nvSpPr>
        <p:spPr>
          <a:xfrm>
            <a:off x="4324350" y="458788"/>
            <a:ext cx="2159000" cy="12160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2164" name="Google Shape;2164;p54: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
        <p:nvSpPr>
          <p:cNvPr id="2165" name="Google Shape;2165;p54: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3" name="Shape 2343"/>
        <p:cNvGrpSpPr/>
        <p:nvPr/>
      </p:nvGrpSpPr>
      <p:grpSpPr>
        <a:xfrm>
          <a:off x="0" y="0"/>
          <a:ext cx="0" cy="0"/>
          <a:chOff x="0" y="0"/>
          <a:chExt cx="0" cy="0"/>
        </a:xfrm>
      </p:grpSpPr>
      <p:sp>
        <p:nvSpPr>
          <p:cNvPr id="2344" name="Google Shape;2344;p55:notes"/>
          <p:cNvSpPr/>
          <p:nvPr>
            <p:ph idx="2" type="sldImg"/>
          </p:nvPr>
        </p:nvSpPr>
        <p:spPr>
          <a:xfrm>
            <a:off x="4324350" y="458788"/>
            <a:ext cx="2159000" cy="12160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2345" name="Google Shape;2345;p55: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
        <p:nvSpPr>
          <p:cNvPr id="2346" name="Google Shape;2346;p55: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8" name="Shape 2358"/>
        <p:cNvGrpSpPr/>
        <p:nvPr/>
      </p:nvGrpSpPr>
      <p:grpSpPr>
        <a:xfrm>
          <a:off x="0" y="0"/>
          <a:ext cx="0" cy="0"/>
          <a:chOff x="0" y="0"/>
          <a:chExt cx="0" cy="0"/>
        </a:xfrm>
      </p:grpSpPr>
      <p:sp>
        <p:nvSpPr>
          <p:cNvPr id="2359" name="Google Shape;2359;p56:notes"/>
          <p:cNvSpPr/>
          <p:nvPr>
            <p:ph idx="2" type="sldImg"/>
          </p:nvPr>
        </p:nvSpPr>
        <p:spPr>
          <a:xfrm>
            <a:off x="4324350" y="458788"/>
            <a:ext cx="2159000" cy="12160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2360" name="Google Shape;2360;p56: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
        <p:nvSpPr>
          <p:cNvPr id="2361" name="Google Shape;2361;p56: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2" name="Shape 2552"/>
        <p:cNvGrpSpPr/>
        <p:nvPr/>
      </p:nvGrpSpPr>
      <p:grpSpPr>
        <a:xfrm>
          <a:off x="0" y="0"/>
          <a:ext cx="0" cy="0"/>
          <a:chOff x="0" y="0"/>
          <a:chExt cx="0" cy="0"/>
        </a:xfrm>
      </p:grpSpPr>
      <p:sp>
        <p:nvSpPr>
          <p:cNvPr id="2553" name="Google Shape;2553;p57:notes"/>
          <p:cNvSpPr/>
          <p:nvPr>
            <p:ph idx="2" type="sldImg"/>
          </p:nvPr>
        </p:nvSpPr>
        <p:spPr>
          <a:xfrm>
            <a:off x="4324350" y="458788"/>
            <a:ext cx="2159000" cy="12160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2554" name="Google Shape;2554;p57: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
        <p:nvSpPr>
          <p:cNvPr id="2555" name="Google Shape;2555;p57: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7" name="Shape 2567"/>
        <p:cNvGrpSpPr/>
        <p:nvPr/>
      </p:nvGrpSpPr>
      <p:grpSpPr>
        <a:xfrm>
          <a:off x="0" y="0"/>
          <a:ext cx="0" cy="0"/>
          <a:chOff x="0" y="0"/>
          <a:chExt cx="0" cy="0"/>
        </a:xfrm>
      </p:grpSpPr>
      <p:sp>
        <p:nvSpPr>
          <p:cNvPr id="2568" name="Google Shape;2568;p58:notes"/>
          <p:cNvSpPr/>
          <p:nvPr>
            <p:ph idx="2" type="sldImg"/>
          </p:nvPr>
        </p:nvSpPr>
        <p:spPr>
          <a:xfrm>
            <a:off x="4324350" y="458788"/>
            <a:ext cx="2159000" cy="12160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2569" name="Google Shape;2569;p58: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
        <p:nvSpPr>
          <p:cNvPr id="2570" name="Google Shape;2570;p58: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71" name="Shape 2771"/>
        <p:cNvGrpSpPr/>
        <p:nvPr/>
      </p:nvGrpSpPr>
      <p:grpSpPr>
        <a:xfrm>
          <a:off x="0" y="0"/>
          <a:ext cx="0" cy="0"/>
          <a:chOff x="0" y="0"/>
          <a:chExt cx="0" cy="0"/>
        </a:xfrm>
      </p:grpSpPr>
      <p:sp>
        <p:nvSpPr>
          <p:cNvPr id="2772" name="Google Shape;2772;p59:notes"/>
          <p:cNvSpPr/>
          <p:nvPr>
            <p:ph idx="2" type="sldImg"/>
          </p:nvPr>
        </p:nvSpPr>
        <p:spPr>
          <a:xfrm>
            <a:off x="4324350" y="458788"/>
            <a:ext cx="2159000" cy="12160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2773" name="Google Shape;2773;p59: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
        <p:nvSpPr>
          <p:cNvPr id="2774" name="Google Shape;2774;p59: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6" name="Shape 2786"/>
        <p:cNvGrpSpPr/>
        <p:nvPr/>
      </p:nvGrpSpPr>
      <p:grpSpPr>
        <a:xfrm>
          <a:off x="0" y="0"/>
          <a:ext cx="0" cy="0"/>
          <a:chOff x="0" y="0"/>
          <a:chExt cx="0" cy="0"/>
        </a:xfrm>
      </p:grpSpPr>
      <p:sp>
        <p:nvSpPr>
          <p:cNvPr id="2787" name="Google Shape;2787;p60:notes"/>
          <p:cNvSpPr/>
          <p:nvPr>
            <p:ph idx="2" type="sldImg"/>
          </p:nvPr>
        </p:nvSpPr>
        <p:spPr>
          <a:xfrm>
            <a:off x="4324350" y="458788"/>
            <a:ext cx="2159000" cy="12160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2788" name="Google Shape;2788;p60: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
        <p:nvSpPr>
          <p:cNvPr id="2789" name="Google Shape;2789;p60: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1" name="Shape 3001"/>
        <p:cNvGrpSpPr/>
        <p:nvPr/>
      </p:nvGrpSpPr>
      <p:grpSpPr>
        <a:xfrm>
          <a:off x="0" y="0"/>
          <a:ext cx="0" cy="0"/>
          <a:chOff x="0" y="0"/>
          <a:chExt cx="0" cy="0"/>
        </a:xfrm>
      </p:grpSpPr>
      <p:sp>
        <p:nvSpPr>
          <p:cNvPr id="3002" name="Google Shape;3002;p61:notes"/>
          <p:cNvSpPr/>
          <p:nvPr>
            <p:ph idx="2" type="sldImg"/>
          </p:nvPr>
        </p:nvSpPr>
        <p:spPr>
          <a:xfrm>
            <a:off x="4359275" y="458788"/>
            <a:ext cx="2159000" cy="12160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3003" name="Google Shape;3003;p61: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
        <p:nvSpPr>
          <p:cNvPr id="3004" name="Google Shape;3004;p61: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16" name="Shape 3016"/>
        <p:cNvGrpSpPr/>
        <p:nvPr/>
      </p:nvGrpSpPr>
      <p:grpSpPr>
        <a:xfrm>
          <a:off x="0" y="0"/>
          <a:ext cx="0" cy="0"/>
          <a:chOff x="0" y="0"/>
          <a:chExt cx="0" cy="0"/>
        </a:xfrm>
      </p:grpSpPr>
      <p:sp>
        <p:nvSpPr>
          <p:cNvPr id="3017" name="Google Shape;3017;p62:notes"/>
          <p:cNvSpPr/>
          <p:nvPr>
            <p:ph idx="2" type="sldImg"/>
          </p:nvPr>
        </p:nvSpPr>
        <p:spPr>
          <a:xfrm>
            <a:off x="4324350" y="458788"/>
            <a:ext cx="2159000" cy="12160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3018" name="Google Shape;3018;p62: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
        <p:nvSpPr>
          <p:cNvPr id="3019" name="Google Shape;3019;p62:notes"/>
          <p:cNvSpPr txBox="1"/>
          <p:nvPr>
            <p:ph idx="1" type="body"/>
          </p:nvPr>
        </p:nvSpPr>
        <p:spPr>
          <a:xfrm>
            <a:off x="339435" y="458788"/>
            <a:ext cx="6144492" cy="8061757"/>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41" name="Shape 3241"/>
        <p:cNvGrpSpPr/>
        <p:nvPr/>
      </p:nvGrpSpPr>
      <p:grpSpPr>
        <a:xfrm>
          <a:off x="0" y="0"/>
          <a:ext cx="0" cy="0"/>
          <a:chOff x="0" y="0"/>
          <a:chExt cx="0" cy="0"/>
        </a:xfrm>
      </p:grpSpPr>
      <p:sp>
        <p:nvSpPr>
          <p:cNvPr id="3242" name="Google Shape;3242;p63:notes"/>
          <p:cNvSpPr/>
          <p:nvPr>
            <p:ph idx="2" type="sldImg"/>
          </p:nvPr>
        </p:nvSpPr>
        <p:spPr>
          <a:xfrm>
            <a:off x="4324350" y="458788"/>
            <a:ext cx="2159000" cy="12160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3243" name="Google Shape;3243;p63: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
        <p:nvSpPr>
          <p:cNvPr id="3244" name="Google Shape;3244;p63: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6" name="Shape 3256"/>
        <p:cNvGrpSpPr/>
        <p:nvPr/>
      </p:nvGrpSpPr>
      <p:grpSpPr>
        <a:xfrm>
          <a:off x="0" y="0"/>
          <a:ext cx="0" cy="0"/>
          <a:chOff x="0" y="0"/>
          <a:chExt cx="0" cy="0"/>
        </a:xfrm>
      </p:grpSpPr>
      <p:sp>
        <p:nvSpPr>
          <p:cNvPr id="3257" name="Google Shape;3257;p64:notes"/>
          <p:cNvSpPr/>
          <p:nvPr>
            <p:ph idx="2" type="sldImg"/>
          </p:nvPr>
        </p:nvSpPr>
        <p:spPr>
          <a:xfrm>
            <a:off x="4324350" y="458788"/>
            <a:ext cx="2159000" cy="12160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3258" name="Google Shape;3258;p64: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
        <p:nvSpPr>
          <p:cNvPr id="3259" name="Google Shape;3259;p64: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4" name="Shape 3494"/>
        <p:cNvGrpSpPr/>
        <p:nvPr/>
      </p:nvGrpSpPr>
      <p:grpSpPr>
        <a:xfrm>
          <a:off x="0" y="0"/>
          <a:ext cx="0" cy="0"/>
          <a:chOff x="0" y="0"/>
          <a:chExt cx="0" cy="0"/>
        </a:xfrm>
      </p:grpSpPr>
      <p:sp>
        <p:nvSpPr>
          <p:cNvPr id="3495" name="Google Shape;3495;p65:notes"/>
          <p:cNvSpPr/>
          <p:nvPr>
            <p:ph idx="2" type="sldImg"/>
          </p:nvPr>
        </p:nvSpPr>
        <p:spPr>
          <a:xfrm>
            <a:off x="4324350" y="458788"/>
            <a:ext cx="2159000" cy="12160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3496" name="Google Shape;3496;p65: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
        <p:nvSpPr>
          <p:cNvPr id="3497" name="Google Shape;3497;p65: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9" name="Shape 3509"/>
        <p:cNvGrpSpPr/>
        <p:nvPr/>
      </p:nvGrpSpPr>
      <p:grpSpPr>
        <a:xfrm>
          <a:off x="0" y="0"/>
          <a:ext cx="0" cy="0"/>
          <a:chOff x="0" y="0"/>
          <a:chExt cx="0" cy="0"/>
        </a:xfrm>
      </p:grpSpPr>
      <p:sp>
        <p:nvSpPr>
          <p:cNvPr id="3510" name="Google Shape;3510;p66:notes"/>
          <p:cNvSpPr/>
          <p:nvPr>
            <p:ph idx="2" type="sldImg"/>
          </p:nvPr>
        </p:nvSpPr>
        <p:spPr>
          <a:xfrm>
            <a:off x="4324350" y="458788"/>
            <a:ext cx="2159000" cy="12160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3511" name="Google Shape;3511;p66: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
        <p:nvSpPr>
          <p:cNvPr id="3512" name="Google Shape;3512;p66: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4" name="Shape 3574"/>
        <p:cNvGrpSpPr/>
        <p:nvPr/>
      </p:nvGrpSpPr>
      <p:grpSpPr>
        <a:xfrm>
          <a:off x="0" y="0"/>
          <a:ext cx="0" cy="0"/>
          <a:chOff x="0" y="0"/>
          <a:chExt cx="0" cy="0"/>
        </a:xfrm>
      </p:grpSpPr>
      <p:sp>
        <p:nvSpPr>
          <p:cNvPr id="3575" name="Google Shape;3575;p67:notes"/>
          <p:cNvSpPr/>
          <p:nvPr>
            <p:ph idx="2" type="sldImg"/>
          </p:nvPr>
        </p:nvSpPr>
        <p:spPr>
          <a:xfrm>
            <a:off x="4324350" y="458788"/>
            <a:ext cx="2159000" cy="12160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3576" name="Google Shape;3576;p67: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
        <p:nvSpPr>
          <p:cNvPr id="3577" name="Google Shape;3577;p67: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11" name="Shape 3611"/>
        <p:cNvGrpSpPr/>
        <p:nvPr/>
      </p:nvGrpSpPr>
      <p:grpSpPr>
        <a:xfrm>
          <a:off x="0" y="0"/>
          <a:ext cx="0" cy="0"/>
          <a:chOff x="0" y="0"/>
          <a:chExt cx="0" cy="0"/>
        </a:xfrm>
      </p:grpSpPr>
      <p:sp>
        <p:nvSpPr>
          <p:cNvPr id="3612" name="Google Shape;3612;p68:notes"/>
          <p:cNvSpPr/>
          <p:nvPr>
            <p:ph idx="2" type="sldImg"/>
          </p:nvPr>
        </p:nvSpPr>
        <p:spPr>
          <a:xfrm>
            <a:off x="4324350" y="458788"/>
            <a:ext cx="2159000" cy="12160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3613" name="Google Shape;3613;p68: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
        <p:nvSpPr>
          <p:cNvPr id="3614" name="Google Shape;3614;p68: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9" name="Shape 3869"/>
        <p:cNvGrpSpPr/>
        <p:nvPr/>
      </p:nvGrpSpPr>
      <p:grpSpPr>
        <a:xfrm>
          <a:off x="0" y="0"/>
          <a:ext cx="0" cy="0"/>
          <a:chOff x="0" y="0"/>
          <a:chExt cx="0" cy="0"/>
        </a:xfrm>
      </p:grpSpPr>
      <p:sp>
        <p:nvSpPr>
          <p:cNvPr id="3870" name="Google Shape;3870;p69: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Let the students attempt the calculation.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marR="0" rtl="0" algn="l">
              <a:lnSpc>
                <a:spcPct val="100000"/>
              </a:lnSpc>
              <a:spcBef>
                <a:spcPts val="0"/>
              </a:spcBef>
              <a:spcAft>
                <a:spcPts val="0"/>
              </a:spcAft>
              <a:buClr>
                <a:schemeClr val="dk1"/>
              </a:buClr>
              <a:buSzPts val="1200"/>
              <a:buFont typeface="Avenir"/>
              <a:buNone/>
            </a:pPr>
            <a:r>
              <a:rPr lang="en-US" sz="1200">
                <a:latin typeface="Avenir"/>
                <a:ea typeface="Avenir"/>
                <a:cs typeface="Avenir"/>
                <a:sym typeface="Avenir"/>
              </a:rPr>
              <a:t>Account for deferred advertising used up in the month to 31 March.</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871" name="Google Shape;3871;p69:notes"/>
          <p:cNvSpPr/>
          <p:nvPr>
            <p:ph idx="2" type="sldImg"/>
          </p:nvPr>
        </p:nvSpPr>
        <p:spPr>
          <a:xfrm>
            <a:off x="4324350" y="458788"/>
            <a:ext cx="2159000" cy="12160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3872" name="Google Shape;3872;p69: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84" name="Shape 3884"/>
        <p:cNvGrpSpPr/>
        <p:nvPr/>
      </p:nvGrpSpPr>
      <p:grpSpPr>
        <a:xfrm>
          <a:off x="0" y="0"/>
          <a:ext cx="0" cy="0"/>
          <a:chOff x="0" y="0"/>
          <a:chExt cx="0" cy="0"/>
        </a:xfrm>
      </p:grpSpPr>
      <p:sp>
        <p:nvSpPr>
          <p:cNvPr id="3885" name="Google Shape;3885;p70:notes"/>
          <p:cNvSpPr/>
          <p:nvPr>
            <p:ph idx="2" type="sldImg"/>
          </p:nvPr>
        </p:nvSpPr>
        <p:spPr>
          <a:xfrm>
            <a:off x="4324350" y="458788"/>
            <a:ext cx="2159000" cy="12160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3886" name="Google Shape;3886;p70: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
        <p:nvSpPr>
          <p:cNvPr id="3887" name="Google Shape;3887;p70: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55" name="Shape 4155"/>
        <p:cNvGrpSpPr/>
        <p:nvPr/>
      </p:nvGrpSpPr>
      <p:grpSpPr>
        <a:xfrm>
          <a:off x="0" y="0"/>
          <a:ext cx="0" cy="0"/>
          <a:chOff x="0" y="0"/>
          <a:chExt cx="0" cy="0"/>
        </a:xfrm>
      </p:grpSpPr>
      <p:sp>
        <p:nvSpPr>
          <p:cNvPr id="4156" name="Google Shape;4156;p71:notes"/>
          <p:cNvSpPr/>
          <p:nvPr>
            <p:ph idx="2" type="sldImg"/>
          </p:nvPr>
        </p:nvSpPr>
        <p:spPr>
          <a:xfrm>
            <a:off x="4324350" y="458788"/>
            <a:ext cx="2159000" cy="12160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4157" name="Google Shape;4157;p71: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
        <p:nvSpPr>
          <p:cNvPr id="4158" name="Google Shape;4158;p71: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71" name="Shape 4171"/>
        <p:cNvGrpSpPr/>
        <p:nvPr/>
      </p:nvGrpSpPr>
      <p:grpSpPr>
        <a:xfrm>
          <a:off x="0" y="0"/>
          <a:ext cx="0" cy="0"/>
          <a:chOff x="0" y="0"/>
          <a:chExt cx="0" cy="0"/>
        </a:xfrm>
      </p:grpSpPr>
      <p:sp>
        <p:nvSpPr>
          <p:cNvPr id="4172" name="Google Shape;4172;p72:notes"/>
          <p:cNvSpPr/>
          <p:nvPr>
            <p:ph idx="2" type="sldImg"/>
          </p:nvPr>
        </p:nvSpPr>
        <p:spPr>
          <a:xfrm>
            <a:off x="4324350" y="458788"/>
            <a:ext cx="2159000" cy="12160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4173" name="Google Shape;4173;p72: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
        <p:nvSpPr>
          <p:cNvPr id="4174" name="Google Shape;4174;p72:notes"/>
          <p:cNvSpPr txBox="1"/>
          <p:nvPr>
            <p:ph idx="1" type="body"/>
          </p:nvPr>
        </p:nvSpPr>
        <p:spPr>
          <a:xfrm>
            <a:off x="339435" y="458788"/>
            <a:ext cx="6144492" cy="8061757"/>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7" name="Shape 4397"/>
        <p:cNvGrpSpPr/>
        <p:nvPr/>
      </p:nvGrpSpPr>
      <p:grpSpPr>
        <a:xfrm>
          <a:off x="0" y="0"/>
          <a:ext cx="0" cy="0"/>
          <a:chOff x="0" y="0"/>
          <a:chExt cx="0" cy="0"/>
        </a:xfrm>
      </p:grpSpPr>
      <p:sp>
        <p:nvSpPr>
          <p:cNvPr id="4398" name="Google Shape;4398;p73:notes"/>
          <p:cNvSpPr/>
          <p:nvPr>
            <p:ph idx="2" type="sldImg"/>
          </p:nvPr>
        </p:nvSpPr>
        <p:spPr>
          <a:xfrm>
            <a:off x="4324350" y="458788"/>
            <a:ext cx="2159000" cy="12160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4399" name="Google Shape;4399;p73: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en-US" sz="1200">
                <a:solidFill>
                  <a:schemeClr val="dk1"/>
                </a:solidFill>
                <a:latin typeface="Helvetica Neue"/>
                <a:ea typeface="Helvetica Neue"/>
                <a:cs typeface="Helvetica Neue"/>
                <a:sym typeface="Helvetica Neue"/>
              </a:rPr>
              <a:t>‹#›</a:t>
            </a:fld>
            <a:endParaRPr sz="1200">
              <a:solidFill>
                <a:schemeClr val="dk1"/>
              </a:solidFill>
              <a:latin typeface="Helvetica Neue"/>
              <a:ea typeface="Helvetica Neue"/>
              <a:cs typeface="Helvetica Neue"/>
              <a:sym typeface="Helvetica Neue"/>
            </a:endParaRPr>
          </a:p>
        </p:txBody>
      </p:sp>
      <p:sp>
        <p:nvSpPr>
          <p:cNvPr id="4400" name="Google Shape;4400;p73: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8" name="Shape 4618"/>
        <p:cNvGrpSpPr/>
        <p:nvPr/>
      </p:nvGrpSpPr>
      <p:grpSpPr>
        <a:xfrm>
          <a:off x="0" y="0"/>
          <a:ext cx="0" cy="0"/>
          <a:chOff x="0" y="0"/>
          <a:chExt cx="0" cy="0"/>
        </a:xfrm>
      </p:grpSpPr>
      <p:sp>
        <p:nvSpPr>
          <p:cNvPr id="4619" name="Google Shape;4619;p74:notes"/>
          <p:cNvSpPr/>
          <p:nvPr>
            <p:ph idx="2" type="sldImg"/>
          </p:nvPr>
        </p:nvSpPr>
        <p:spPr>
          <a:xfrm>
            <a:off x="4337050" y="458788"/>
            <a:ext cx="2155825" cy="12128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20" name="Google Shape;4620;p74: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621" name="Google Shape;4621;p74: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23" name="Shape 4623"/>
        <p:cNvGrpSpPr/>
        <p:nvPr/>
      </p:nvGrpSpPr>
      <p:grpSpPr>
        <a:xfrm>
          <a:off x="0" y="0"/>
          <a:ext cx="0" cy="0"/>
          <a:chOff x="0" y="0"/>
          <a:chExt cx="0" cy="0"/>
        </a:xfrm>
      </p:grpSpPr>
      <p:sp>
        <p:nvSpPr>
          <p:cNvPr id="4624" name="Google Shape;4624;p75:notes"/>
          <p:cNvSpPr/>
          <p:nvPr>
            <p:ph idx="2" type="sldImg"/>
          </p:nvPr>
        </p:nvSpPr>
        <p:spPr>
          <a:xfrm>
            <a:off x="4065588" y="458788"/>
            <a:ext cx="2417762" cy="13604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25" name="Google Shape;4625;p75:notes"/>
          <p:cNvSpPr txBox="1"/>
          <p:nvPr>
            <p:ph idx="12" type="sldNum"/>
          </p:nvPr>
        </p:nvSpPr>
        <p:spPr>
          <a:xfrm>
            <a:off x="4642859" y="8683625"/>
            <a:ext cx="1841068"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4626" name="Google Shape;4626;p75:notes"/>
          <p:cNvSpPr txBox="1"/>
          <p:nvPr>
            <p:ph idx="1" type="body"/>
          </p:nvPr>
        </p:nvSpPr>
        <p:spPr>
          <a:xfrm>
            <a:off x="339435" y="458788"/>
            <a:ext cx="6144492" cy="806175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2" name="Shape 12"/>
        <p:cNvGrpSpPr/>
        <p:nvPr/>
      </p:nvGrpSpPr>
      <p:grpSpPr>
        <a:xfrm>
          <a:off x="0" y="0"/>
          <a:ext cx="0" cy="0"/>
          <a:chOff x="0" y="0"/>
          <a:chExt cx="0" cy="0"/>
        </a:xfrm>
      </p:grpSpPr>
      <p:sp>
        <p:nvSpPr>
          <p:cNvPr id="13" name="Google Shape;13;p2"/>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Avenir"/>
              <a:buNone/>
              <a:defRPr b="0" i="0" sz="6000">
                <a:latin typeface="Avenir"/>
                <a:ea typeface="Avenir"/>
                <a:cs typeface="Avenir"/>
                <a:sym typeface="Avenir"/>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
          <p:cNvSpPr txBox="1"/>
          <p:nvPr>
            <p:ph idx="1" type="subTitle"/>
          </p:nvPr>
        </p:nvSpPr>
        <p:spPr>
          <a:xfrm>
            <a:off x="1524000" y="3602038"/>
            <a:ext cx="9144000" cy="1655762"/>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dk1"/>
              </a:buClr>
              <a:buSzPts val="2400"/>
              <a:buNone/>
              <a:defRPr b="0" i="0" sz="2400">
                <a:latin typeface="Avenir"/>
                <a:ea typeface="Avenir"/>
                <a:cs typeface="Avenir"/>
                <a:sym typeface="Avenir"/>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5" name="Google Shape;15;p2"/>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6" name="Google Shape;16;p2"/>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7" name="Google Shape;17;p2"/>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 name="Shape 18"/>
        <p:cNvGrpSpPr/>
        <p:nvPr/>
      </p:nvGrpSpPr>
      <p:grpSpPr>
        <a:xfrm>
          <a:off x="0" y="0"/>
          <a:ext cx="0" cy="0"/>
          <a:chOff x="0" y="0"/>
          <a:chExt cx="0" cy="0"/>
        </a:xfrm>
      </p:grpSpPr>
      <p:sp>
        <p:nvSpPr>
          <p:cNvPr id="19" name="Google Shape;19;p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4400"/>
              <a:buFont typeface="Avenir"/>
              <a:buNone/>
              <a:defRPr b="0" i="0">
                <a:latin typeface="Avenir"/>
                <a:ea typeface="Avenir"/>
                <a:cs typeface="Avenir"/>
                <a:sym typeface="Avenir"/>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0" name="Google Shape;20;p3"/>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algn="l">
              <a:lnSpc>
                <a:spcPct val="90000"/>
              </a:lnSpc>
              <a:spcBef>
                <a:spcPts val="1000"/>
              </a:spcBef>
              <a:spcAft>
                <a:spcPts val="0"/>
              </a:spcAft>
              <a:buClr>
                <a:schemeClr val="dk1"/>
              </a:buClr>
              <a:buSzPts val="2800"/>
              <a:buChar char="•"/>
              <a:defRPr b="0" i="0">
                <a:latin typeface="Avenir"/>
                <a:ea typeface="Avenir"/>
                <a:cs typeface="Avenir"/>
                <a:sym typeface="Avenir"/>
              </a:defRPr>
            </a:lvl1pPr>
            <a:lvl2pPr indent="-381000" lvl="1" marL="914400" algn="l">
              <a:lnSpc>
                <a:spcPct val="90000"/>
              </a:lnSpc>
              <a:spcBef>
                <a:spcPts val="500"/>
              </a:spcBef>
              <a:spcAft>
                <a:spcPts val="0"/>
              </a:spcAft>
              <a:buClr>
                <a:schemeClr val="dk1"/>
              </a:buClr>
              <a:buSzPts val="2400"/>
              <a:buChar char="•"/>
              <a:defRPr b="0" i="0">
                <a:latin typeface="Avenir"/>
                <a:ea typeface="Avenir"/>
                <a:cs typeface="Avenir"/>
                <a:sym typeface="Avenir"/>
              </a:defRPr>
            </a:lvl2pPr>
            <a:lvl3pPr indent="-355600" lvl="2" marL="1371600" algn="l">
              <a:lnSpc>
                <a:spcPct val="90000"/>
              </a:lnSpc>
              <a:spcBef>
                <a:spcPts val="500"/>
              </a:spcBef>
              <a:spcAft>
                <a:spcPts val="0"/>
              </a:spcAft>
              <a:buClr>
                <a:schemeClr val="dk1"/>
              </a:buClr>
              <a:buSzPts val="2000"/>
              <a:buChar char="•"/>
              <a:defRPr b="0" i="0">
                <a:latin typeface="Avenir"/>
                <a:ea typeface="Avenir"/>
                <a:cs typeface="Avenir"/>
                <a:sym typeface="Avenir"/>
              </a:defRPr>
            </a:lvl3pPr>
            <a:lvl4pPr indent="-342900" lvl="3" marL="1828800" algn="l">
              <a:lnSpc>
                <a:spcPct val="90000"/>
              </a:lnSpc>
              <a:spcBef>
                <a:spcPts val="500"/>
              </a:spcBef>
              <a:spcAft>
                <a:spcPts val="0"/>
              </a:spcAft>
              <a:buClr>
                <a:schemeClr val="dk1"/>
              </a:buClr>
              <a:buSzPts val="1800"/>
              <a:buChar char="•"/>
              <a:defRPr b="0" i="0">
                <a:latin typeface="Avenir"/>
                <a:ea typeface="Avenir"/>
                <a:cs typeface="Avenir"/>
                <a:sym typeface="Avenir"/>
              </a:defRPr>
            </a:lvl4pPr>
            <a:lvl5pPr indent="-342900" lvl="4" marL="2286000" algn="l">
              <a:lnSpc>
                <a:spcPct val="90000"/>
              </a:lnSpc>
              <a:spcBef>
                <a:spcPts val="500"/>
              </a:spcBef>
              <a:spcAft>
                <a:spcPts val="0"/>
              </a:spcAft>
              <a:buClr>
                <a:schemeClr val="dk1"/>
              </a:buClr>
              <a:buSzPts val="1800"/>
              <a:buChar char="•"/>
              <a:defRPr b="0" i="0">
                <a:latin typeface="Avenir"/>
                <a:ea typeface="Avenir"/>
                <a:cs typeface="Avenir"/>
                <a:sym typeface="Aveni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1" name="Google Shape;21;p3"/>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2" name="Google Shape;22;p3"/>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3" name="Google Shape;23;p3"/>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4" name="Shape 24"/>
        <p:cNvGrpSpPr/>
        <p:nvPr/>
      </p:nvGrpSpPr>
      <p:grpSpPr>
        <a:xfrm>
          <a:off x="0" y="0"/>
          <a:ext cx="0" cy="0"/>
          <a:chOff x="0" y="0"/>
          <a:chExt cx="0" cy="0"/>
        </a:xfrm>
      </p:grpSpPr>
      <p:sp>
        <p:nvSpPr>
          <p:cNvPr id="25" name="Google Shape;25;p4"/>
          <p:cNvSpPr txBox="1"/>
          <p:nvPr>
            <p:ph type="title"/>
          </p:nvPr>
        </p:nvSpPr>
        <p:spPr>
          <a:xfrm>
            <a:off x="831850" y="1709738"/>
            <a:ext cx="10515600" cy="2852737"/>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Avenir"/>
              <a:buNone/>
              <a:defRPr b="0" i="0" sz="6000">
                <a:latin typeface="Avenir"/>
                <a:ea typeface="Avenir"/>
                <a:cs typeface="Avenir"/>
                <a:sym typeface="Avenir"/>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4"/>
          <p:cNvSpPr txBox="1"/>
          <p:nvPr>
            <p:ph idx="1" type="body"/>
          </p:nvPr>
        </p:nvSpPr>
        <p:spPr>
          <a:xfrm>
            <a:off x="831850" y="4589463"/>
            <a:ext cx="10515600"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888888"/>
              </a:buClr>
              <a:buSzPts val="2400"/>
              <a:buNone/>
              <a:defRPr b="0" i="0" sz="2400">
                <a:solidFill>
                  <a:srgbClr val="888888"/>
                </a:solidFill>
                <a:latin typeface="Avenir"/>
                <a:ea typeface="Avenir"/>
                <a:cs typeface="Avenir"/>
                <a:sym typeface="Avenir"/>
              </a:defRPr>
            </a:lvl1pPr>
            <a:lvl2pPr indent="-228600" lvl="1" marL="914400" algn="l">
              <a:lnSpc>
                <a:spcPct val="90000"/>
              </a:lnSpc>
              <a:spcBef>
                <a:spcPts val="500"/>
              </a:spcBef>
              <a:spcAft>
                <a:spcPts val="0"/>
              </a:spcAft>
              <a:buClr>
                <a:srgbClr val="888888"/>
              </a:buClr>
              <a:buSzPts val="2000"/>
              <a:buNone/>
              <a:defRPr sz="2000">
                <a:solidFill>
                  <a:srgbClr val="888888"/>
                </a:solidFill>
              </a:defRPr>
            </a:lvl2pPr>
            <a:lvl3pPr indent="-228600" lvl="2" marL="1371600" algn="l">
              <a:lnSpc>
                <a:spcPct val="90000"/>
              </a:lnSpc>
              <a:spcBef>
                <a:spcPts val="500"/>
              </a:spcBef>
              <a:spcAft>
                <a:spcPts val="0"/>
              </a:spcAft>
              <a:buClr>
                <a:srgbClr val="888888"/>
              </a:buClr>
              <a:buSzPts val="1800"/>
              <a:buNone/>
              <a:defRPr sz="1800">
                <a:solidFill>
                  <a:srgbClr val="888888"/>
                </a:solidFill>
              </a:defRPr>
            </a:lvl3pPr>
            <a:lvl4pPr indent="-228600" lvl="3" marL="1828800" algn="l">
              <a:lnSpc>
                <a:spcPct val="90000"/>
              </a:lnSpc>
              <a:spcBef>
                <a:spcPts val="500"/>
              </a:spcBef>
              <a:spcAft>
                <a:spcPts val="0"/>
              </a:spcAft>
              <a:buClr>
                <a:srgbClr val="888888"/>
              </a:buClr>
              <a:buSzPts val="1600"/>
              <a:buNone/>
              <a:defRPr sz="1600">
                <a:solidFill>
                  <a:srgbClr val="888888"/>
                </a:solidFill>
              </a:defRPr>
            </a:lvl4pPr>
            <a:lvl5pPr indent="-228600" lvl="4" marL="2286000" algn="l">
              <a:lnSpc>
                <a:spcPct val="90000"/>
              </a:lnSpc>
              <a:spcBef>
                <a:spcPts val="500"/>
              </a:spcBef>
              <a:spcAft>
                <a:spcPts val="0"/>
              </a:spcAft>
              <a:buClr>
                <a:srgbClr val="888888"/>
              </a:buClr>
              <a:buSzPts val="1600"/>
              <a:buNone/>
              <a:defRPr sz="1600">
                <a:solidFill>
                  <a:srgbClr val="888888"/>
                </a:solidFill>
              </a:defRPr>
            </a:lvl5pPr>
            <a:lvl6pPr indent="-228600" lvl="5" marL="2743200" algn="l">
              <a:lnSpc>
                <a:spcPct val="90000"/>
              </a:lnSpc>
              <a:spcBef>
                <a:spcPts val="500"/>
              </a:spcBef>
              <a:spcAft>
                <a:spcPts val="0"/>
              </a:spcAft>
              <a:buClr>
                <a:srgbClr val="888888"/>
              </a:buClr>
              <a:buSzPts val="1600"/>
              <a:buNone/>
              <a:defRPr sz="1600">
                <a:solidFill>
                  <a:srgbClr val="888888"/>
                </a:solidFill>
              </a:defRPr>
            </a:lvl6pPr>
            <a:lvl7pPr indent="-228600" lvl="6" marL="3200400" algn="l">
              <a:lnSpc>
                <a:spcPct val="90000"/>
              </a:lnSpc>
              <a:spcBef>
                <a:spcPts val="500"/>
              </a:spcBef>
              <a:spcAft>
                <a:spcPts val="0"/>
              </a:spcAft>
              <a:buClr>
                <a:srgbClr val="888888"/>
              </a:buClr>
              <a:buSzPts val="1600"/>
              <a:buNone/>
              <a:defRPr sz="1600">
                <a:solidFill>
                  <a:srgbClr val="888888"/>
                </a:solidFill>
              </a:defRPr>
            </a:lvl7pPr>
            <a:lvl8pPr indent="-228600" lvl="7" marL="3657600" algn="l">
              <a:lnSpc>
                <a:spcPct val="90000"/>
              </a:lnSpc>
              <a:spcBef>
                <a:spcPts val="500"/>
              </a:spcBef>
              <a:spcAft>
                <a:spcPts val="0"/>
              </a:spcAft>
              <a:buClr>
                <a:srgbClr val="888888"/>
              </a:buClr>
              <a:buSzPts val="1600"/>
              <a:buNone/>
              <a:defRPr sz="1600">
                <a:solidFill>
                  <a:srgbClr val="888888"/>
                </a:solidFill>
              </a:defRPr>
            </a:lvl8pPr>
            <a:lvl9pPr indent="-228600" lvl="8" marL="4114800" algn="l">
              <a:lnSpc>
                <a:spcPct val="90000"/>
              </a:lnSpc>
              <a:spcBef>
                <a:spcPts val="500"/>
              </a:spcBef>
              <a:spcAft>
                <a:spcPts val="0"/>
              </a:spcAft>
              <a:buClr>
                <a:srgbClr val="888888"/>
              </a:buClr>
              <a:buSzPts val="1600"/>
              <a:buNone/>
              <a:defRPr sz="1600">
                <a:solidFill>
                  <a:srgbClr val="888888"/>
                </a:solidFill>
              </a:defRPr>
            </a:lvl9pPr>
          </a:lstStyle>
          <a:p/>
        </p:txBody>
      </p:sp>
      <p:sp>
        <p:nvSpPr>
          <p:cNvPr id="27" name="Google Shape;27;p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0" name="Shape 30"/>
        <p:cNvGrpSpPr/>
        <p:nvPr/>
      </p:nvGrpSpPr>
      <p:grpSpPr>
        <a:xfrm>
          <a:off x="0" y="0"/>
          <a:ext cx="0" cy="0"/>
          <a:chOff x="0" y="0"/>
          <a:chExt cx="0" cy="0"/>
        </a:xfrm>
      </p:grpSpPr>
      <p:sp>
        <p:nvSpPr>
          <p:cNvPr id="31" name="Google Shape;31;p5"/>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4400"/>
              <a:buFont typeface="Avenir"/>
              <a:buNone/>
              <a:defRPr b="0" i="0">
                <a:latin typeface="Avenir"/>
                <a:ea typeface="Avenir"/>
                <a:cs typeface="Avenir"/>
                <a:sym typeface="Avenir"/>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5"/>
          <p:cNvSpPr txBox="1"/>
          <p:nvPr>
            <p:ph idx="1" type="body"/>
          </p:nvPr>
        </p:nvSpPr>
        <p:spPr>
          <a:xfrm>
            <a:off x="838200" y="1825625"/>
            <a:ext cx="5181600" cy="4351338"/>
          </a:xfrm>
          <a:prstGeom prst="rect">
            <a:avLst/>
          </a:prstGeom>
          <a:noFill/>
          <a:ln>
            <a:noFill/>
          </a:ln>
        </p:spPr>
        <p:txBody>
          <a:bodyPr anchorCtr="0" anchor="t" bIns="45700" lIns="91425" spcFirstLastPara="1" rIns="91425" wrap="square" tIns="45700">
            <a:normAutofit/>
          </a:bodyPr>
          <a:lstStyle>
            <a:lvl1pPr indent="-406400" lvl="0" marL="457200" algn="l">
              <a:lnSpc>
                <a:spcPct val="90000"/>
              </a:lnSpc>
              <a:spcBef>
                <a:spcPts val="1000"/>
              </a:spcBef>
              <a:spcAft>
                <a:spcPts val="0"/>
              </a:spcAft>
              <a:buClr>
                <a:schemeClr val="dk1"/>
              </a:buClr>
              <a:buSzPts val="2800"/>
              <a:buChar char="•"/>
              <a:defRPr b="0" i="0">
                <a:latin typeface="Avenir"/>
                <a:ea typeface="Avenir"/>
                <a:cs typeface="Avenir"/>
                <a:sym typeface="Avenir"/>
              </a:defRPr>
            </a:lvl1pPr>
            <a:lvl2pPr indent="-381000" lvl="1" marL="914400" algn="l">
              <a:lnSpc>
                <a:spcPct val="90000"/>
              </a:lnSpc>
              <a:spcBef>
                <a:spcPts val="500"/>
              </a:spcBef>
              <a:spcAft>
                <a:spcPts val="0"/>
              </a:spcAft>
              <a:buClr>
                <a:schemeClr val="dk1"/>
              </a:buClr>
              <a:buSzPts val="2400"/>
              <a:buChar char="•"/>
              <a:defRPr b="0" i="0">
                <a:latin typeface="Avenir"/>
                <a:ea typeface="Avenir"/>
                <a:cs typeface="Avenir"/>
                <a:sym typeface="Avenir"/>
              </a:defRPr>
            </a:lvl2pPr>
            <a:lvl3pPr indent="-355600" lvl="2" marL="1371600" algn="l">
              <a:lnSpc>
                <a:spcPct val="90000"/>
              </a:lnSpc>
              <a:spcBef>
                <a:spcPts val="500"/>
              </a:spcBef>
              <a:spcAft>
                <a:spcPts val="0"/>
              </a:spcAft>
              <a:buClr>
                <a:schemeClr val="dk1"/>
              </a:buClr>
              <a:buSzPts val="2000"/>
              <a:buChar char="•"/>
              <a:defRPr b="0" i="0">
                <a:latin typeface="Avenir"/>
                <a:ea typeface="Avenir"/>
                <a:cs typeface="Avenir"/>
                <a:sym typeface="Avenir"/>
              </a:defRPr>
            </a:lvl3pPr>
            <a:lvl4pPr indent="-342900" lvl="3" marL="1828800" algn="l">
              <a:lnSpc>
                <a:spcPct val="90000"/>
              </a:lnSpc>
              <a:spcBef>
                <a:spcPts val="500"/>
              </a:spcBef>
              <a:spcAft>
                <a:spcPts val="0"/>
              </a:spcAft>
              <a:buClr>
                <a:schemeClr val="dk1"/>
              </a:buClr>
              <a:buSzPts val="1800"/>
              <a:buChar char="•"/>
              <a:defRPr b="0" i="0">
                <a:latin typeface="Avenir"/>
                <a:ea typeface="Avenir"/>
                <a:cs typeface="Avenir"/>
                <a:sym typeface="Avenir"/>
              </a:defRPr>
            </a:lvl4pPr>
            <a:lvl5pPr indent="-342900" lvl="4" marL="2286000" algn="l">
              <a:lnSpc>
                <a:spcPct val="90000"/>
              </a:lnSpc>
              <a:spcBef>
                <a:spcPts val="500"/>
              </a:spcBef>
              <a:spcAft>
                <a:spcPts val="0"/>
              </a:spcAft>
              <a:buClr>
                <a:schemeClr val="dk1"/>
              </a:buClr>
              <a:buSzPts val="1800"/>
              <a:buChar char="•"/>
              <a:defRPr b="0" i="0">
                <a:latin typeface="Avenir"/>
                <a:ea typeface="Avenir"/>
                <a:cs typeface="Avenir"/>
                <a:sym typeface="Aveni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3" name="Google Shape;33;p5"/>
          <p:cNvSpPr txBox="1"/>
          <p:nvPr>
            <p:ph idx="2" type="body"/>
          </p:nvPr>
        </p:nvSpPr>
        <p:spPr>
          <a:xfrm>
            <a:off x="6172200" y="1825625"/>
            <a:ext cx="5181600" cy="4351338"/>
          </a:xfrm>
          <a:prstGeom prst="rect">
            <a:avLst/>
          </a:prstGeom>
          <a:noFill/>
          <a:ln>
            <a:noFill/>
          </a:ln>
        </p:spPr>
        <p:txBody>
          <a:bodyPr anchorCtr="0" anchor="t" bIns="45700" lIns="91425" spcFirstLastPara="1" rIns="91425" wrap="square" tIns="45700">
            <a:normAutofit/>
          </a:bodyPr>
          <a:lstStyle>
            <a:lvl1pPr indent="-406400" lvl="0" marL="457200" algn="l">
              <a:lnSpc>
                <a:spcPct val="90000"/>
              </a:lnSpc>
              <a:spcBef>
                <a:spcPts val="1000"/>
              </a:spcBef>
              <a:spcAft>
                <a:spcPts val="0"/>
              </a:spcAft>
              <a:buClr>
                <a:schemeClr val="dk1"/>
              </a:buClr>
              <a:buSzPts val="2800"/>
              <a:buChar char="•"/>
              <a:defRPr b="0" i="0">
                <a:latin typeface="Avenir"/>
                <a:ea typeface="Avenir"/>
                <a:cs typeface="Avenir"/>
                <a:sym typeface="Avenir"/>
              </a:defRPr>
            </a:lvl1pPr>
            <a:lvl2pPr indent="-381000" lvl="1" marL="914400" algn="l">
              <a:lnSpc>
                <a:spcPct val="90000"/>
              </a:lnSpc>
              <a:spcBef>
                <a:spcPts val="500"/>
              </a:spcBef>
              <a:spcAft>
                <a:spcPts val="0"/>
              </a:spcAft>
              <a:buClr>
                <a:schemeClr val="dk1"/>
              </a:buClr>
              <a:buSzPts val="2400"/>
              <a:buChar char="•"/>
              <a:defRPr b="0" i="0">
                <a:latin typeface="Avenir"/>
                <a:ea typeface="Avenir"/>
                <a:cs typeface="Avenir"/>
                <a:sym typeface="Avenir"/>
              </a:defRPr>
            </a:lvl2pPr>
            <a:lvl3pPr indent="-355600" lvl="2" marL="1371600" algn="l">
              <a:lnSpc>
                <a:spcPct val="90000"/>
              </a:lnSpc>
              <a:spcBef>
                <a:spcPts val="500"/>
              </a:spcBef>
              <a:spcAft>
                <a:spcPts val="0"/>
              </a:spcAft>
              <a:buClr>
                <a:schemeClr val="dk1"/>
              </a:buClr>
              <a:buSzPts val="2000"/>
              <a:buChar char="•"/>
              <a:defRPr b="0" i="0">
                <a:latin typeface="Avenir"/>
                <a:ea typeface="Avenir"/>
                <a:cs typeface="Avenir"/>
                <a:sym typeface="Avenir"/>
              </a:defRPr>
            </a:lvl3pPr>
            <a:lvl4pPr indent="-342900" lvl="3" marL="1828800" algn="l">
              <a:lnSpc>
                <a:spcPct val="90000"/>
              </a:lnSpc>
              <a:spcBef>
                <a:spcPts val="500"/>
              </a:spcBef>
              <a:spcAft>
                <a:spcPts val="0"/>
              </a:spcAft>
              <a:buClr>
                <a:schemeClr val="dk1"/>
              </a:buClr>
              <a:buSzPts val="1800"/>
              <a:buChar char="•"/>
              <a:defRPr b="0" i="0">
                <a:latin typeface="Avenir"/>
                <a:ea typeface="Avenir"/>
                <a:cs typeface="Avenir"/>
                <a:sym typeface="Avenir"/>
              </a:defRPr>
            </a:lvl4pPr>
            <a:lvl5pPr indent="-342900" lvl="4" marL="2286000" algn="l">
              <a:lnSpc>
                <a:spcPct val="90000"/>
              </a:lnSpc>
              <a:spcBef>
                <a:spcPts val="500"/>
              </a:spcBef>
              <a:spcAft>
                <a:spcPts val="0"/>
              </a:spcAft>
              <a:buClr>
                <a:schemeClr val="dk1"/>
              </a:buClr>
              <a:buSzPts val="1800"/>
              <a:buChar char="•"/>
              <a:defRPr b="0" i="0">
                <a:latin typeface="Avenir"/>
                <a:ea typeface="Avenir"/>
                <a:cs typeface="Avenir"/>
                <a:sym typeface="Aveni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4" name="Google Shape;34;p5"/>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6" name="Google Shape;36;p5"/>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37" name="Shape 37"/>
        <p:cNvGrpSpPr/>
        <p:nvPr/>
      </p:nvGrpSpPr>
      <p:grpSpPr>
        <a:xfrm>
          <a:off x="0" y="0"/>
          <a:ext cx="0" cy="0"/>
          <a:chOff x="0" y="0"/>
          <a:chExt cx="0" cy="0"/>
        </a:xfrm>
      </p:grpSpPr>
      <p:sp>
        <p:nvSpPr>
          <p:cNvPr id="38" name="Google Shape;38;p6"/>
          <p:cNvSpPr txBox="1"/>
          <p:nvPr>
            <p:ph type="title"/>
          </p:nvPr>
        </p:nvSpPr>
        <p:spPr>
          <a:xfrm>
            <a:off x="839788"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4400"/>
              <a:buFont typeface="Avenir"/>
              <a:buNone/>
              <a:defRPr b="0" i="0">
                <a:latin typeface="Avenir"/>
                <a:ea typeface="Avenir"/>
                <a:cs typeface="Avenir"/>
                <a:sym typeface="Avenir"/>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9" name="Google Shape;39;p6"/>
          <p:cNvSpPr txBox="1"/>
          <p:nvPr>
            <p:ph idx="1" type="body"/>
          </p:nvPr>
        </p:nvSpPr>
        <p:spPr>
          <a:xfrm>
            <a:off x="839788" y="1681163"/>
            <a:ext cx="5157787"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0" i="0" sz="2400">
                <a:latin typeface="Avenir"/>
                <a:ea typeface="Avenir"/>
                <a:cs typeface="Avenir"/>
                <a:sym typeface="Avenir"/>
              </a:defRPr>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40" name="Google Shape;40;p6"/>
          <p:cNvSpPr txBox="1"/>
          <p:nvPr>
            <p:ph idx="2" type="body"/>
          </p:nvPr>
        </p:nvSpPr>
        <p:spPr>
          <a:xfrm>
            <a:off x="839788" y="2505075"/>
            <a:ext cx="5157787" cy="3684588"/>
          </a:xfrm>
          <a:prstGeom prst="rect">
            <a:avLst/>
          </a:prstGeom>
          <a:noFill/>
          <a:ln>
            <a:noFill/>
          </a:ln>
        </p:spPr>
        <p:txBody>
          <a:bodyPr anchorCtr="0" anchor="t" bIns="45700" lIns="91425" spcFirstLastPara="1" rIns="91425" wrap="square" tIns="45700">
            <a:normAutofit/>
          </a:bodyPr>
          <a:lstStyle>
            <a:lvl1pPr indent="-406400" lvl="0" marL="457200" algn="l">
              <a:lnSpc>
                <a:spcPct val="90000"/>
              </a:lnSpc>
              <a:spcBef>
                <a:spcPts val="1000"/>
              </a:spcBef>
              <a:spcAft>
                <a:spcPts val="0"/>
              </a:spcAft>
              <a:buClr>
                <a:schemeClr val="dk1"/>
              </a:buClr>
              <a:buSzPts val="2800"/>
              <a:buChar char="•"/>
              <a:defRPr b="0" i="0">
                <a:latin typeface="Avenir"/>
                <a:ea typeface="Avenir"/>
                <a:cs typeface="Avenir"/>
                <a:sym typeface="Avenir"/>
              </a:defRPr>
            </a:lvl1pPr>
            <a:lvl2pPr indent="-381000" lvl="1" marL="914400" algn="l">
              <a:lnSpc>
                <a:spcPct val="90000"/>
              </a:lnSpc>
              <a:spcBef>
                <a:spcPts val="500"/>
              </a:spcBef>
              <a:spcAft>
                <a:spcPts val="0"/>
              </a:spcAft>
              <a:buClr>
                <a:schemeClr val="dk1"/>
              </a:buClr>
              <a:buSzPts val="2400"/>
              <a:buChar char="•"/>
              <a:defRPr b="0" i="0">
                <a:latin typeface="Avenir"/>
                <a:ea typeface="Avenir"/>
                <a:cs typeface="Avenir"/>
                <a:sym typeface="Avenir"/>
              </a:defRPr>
            </a:lvl2pPr>
            <a:lvl3pPr indent="-355600" lvl="2" marL="1371600" algn="l">
              <a:lnSpc>
                <a:spcPct val="90000"/>
              </a:lnSpc>
              <a:spcBef>
                <a:spcPts val="500"/>
              </a:spcBef>
              <a:spcAft>
                <a:spcPts val="0"/>
              </a:spcAft>
              <a:buClr>
                <a:schemeClr val="dk1"/>
              </a:buClr>
              <a:buSzPts val="2000"/>
              <a:buChar char="•"/>
              <a:defRPr b="0" i="0">
                <a:latin typeface="Avenir"/>
                <a:ea typeface="Avenir"/>
                <a:cs typeface="Avenir"/>
                <a:sym typeface="Avenir"/>
              </a:defRPr>
            </a:lvl3pPr>
            <a:lvl4pPr indent="-342900" lvl="3" marL="1828800" algn="l">
              <a:lnSpc>
                <a:spcPct val="90000"/>
              </a:lnSpc>
              <a:spcBef>
                <a:spcPts val="500"/>
              </a:spcBef>
              <a:spcAft>
                <a:spcPts val="0"/>
              </a:spcAft>
              <a:buClr>
                <a:schemeClr val="dk1"/>
              </a:buClr>
              <a:buSzPts val="1800"/>
              <a:buChar char="•"/>
              <a:defRPr b="0" i="0">
                <a:latin typeface="Avenir"/>
                <a:ea typeface="Avenir"/>
                <a:cs typeface="Avenir"/>
                <a:sym typeface="Avenir"/>
              </a:defRPr>
            </a:lvl4pPr>
            <a:lvl5pPr indent="-342900" lvl="4" marL="2286000" algn="l">
              <a:lnSpc>
                <a:spcPct val="90000"/>
              </a:lnSpc>
              <a:spcBef>
                <a:spcPts val="500"/>
              </a:spcBef>
              <a:spcAft>
                <a:spcPts val="0"/>
              </a:spcAft>
              <a:buClr>
                <a:schemeClr val="dk1"/>
              </a:buClr>
              <a:buSzPts val="1800"/>
              <a:buChar char="•"/>
              <a:defRPr b="0" i="0">
                <a:latin typeface="Avenir"/>
                <a:ea typeface="Avenir"/>
                <a:cs typeface="Avenir"/>
                <a:sym typeface="Aveni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1" name="Google Shape;41;p6"/>
          <p:cNvSpPr txBox="1"/>
          <p:nvPr>
            <p:ph idx="3" type="body"/>
          </p:nvPr>
        </p:nvSpPr>
        <p:spPr>
          <a:xfrm>
            <a:off x="6172200" y="1681163"/>
            <a:ext cx="5183188"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0" i="0" sz="2400">
                <a:latin typeface="Avenir"/>
                <a:ea typeface="Avenir"/>
                <a:cs typeface="Avenir"/>
                <a:sym typeface="Avenir"/>
              </a:defRPr>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42" name="Google Shape;42;p6"/>
          <p:cNvSpPr txBox="1"/>
          <p:nvPr>
            <p:ph idx="4" type="body"/>
          </p:nvPr>
        </p:nvSpPr>
        <p:spPr>
          <a:xfrm>
            <a:off x="6172200" y="2505075"/>
            <a:ext cx="5183188" cy="3684588"/>
          </a:xfrm>
          <a:prstGeom prst="rect">
            <a:avLst/>
          </a:prstGeom>
          <a:noFill/>
          <a:ln>
            <a:noFill/>
          </a:ln>
        </p:spPr>
        <p:txBody>
          <a:bodyPr anchorCtr="0" anchor="t" bIns="45700" lIns="91425" spcFirstLastPara="1" rIns="91425" wrap="square" tIns="45700">
            <a:normAutofit/>
          </a:bodyPr>
          <a:lstStyle>
            <a:lvl1pPr indent="-406400" lvl="0" marL="457200" algn="l">
              <a:lnSpc>
                <a:spcPct val="90000"/>
              </a:lnSpc>
              <a:spcBef>
                <a:spcPts val="1000"/>
              </a:spcBef>
              <a:spcAft>
                <a:spcPts val="0"/>
              </a:spcAft>
              <a:buClr>
                <a:schemeClr val="dk1"/>
              </a:buClr>
              <a:buSzPts val="2800"/>
              <a:buChar char="•"/>
              <a:defRPr b="0" i="0">
                <a:latin typeface="Avenir"/>
                <a:ea typeface="Avenir"/>
                <a:cs typeface="Avenir"/>
                <a:sym typeface="Avenir"/>
              </a:defRPr>
            </a:lvl1pPr>
            <a:lvl2pPr indent="-381000" lvl="1" marL="914400" algn="l">
              <a:lnSpc>
                <a:spcPct val="90000"/>
              </a:lnSpc>
              <a:spcBef>
                <a:spcPts val="500"/>
              </a:spcBef>
              <a:spcAft>
                <a:spcPts val="0"/>
              </a:spcAft>
              <a:buClr>
                <a:schemeClr val="dk1"/>
              </a:buClr>
              <a:buSzPts val="2400"/>
              <a:buChar char="•"/>
              <a:defRPr b="0" i="0">
                <a:latin typeface="Avenir"/>
                <a:ea typeface="Avenir"/>
                <a:cs typeface="Avenir"/>
                <a:sym typeface="Avenir"/>
              </a:defRPr>
            </a:lvl2pPr>
            <a:lvl3pPr indent="-355600" lvl="2" marL="1371600" algn="l">
              <a:lnSpc>
                <a:spcPct val="90000"/>
              </a:lnSpc>
              <a:spcBef>
                <a:spcPts val="500"/>
              </a:spcBef>
              <a:spcAft>
                <a:spcPts val="0"/>
              </a:spcAft>
              <a:buClr>
                <a:schemeClr val="dk1"/>
              </a:buClr>
              <a:buSzPts val="2000"/>
              <a:buChar char="•"/>
              <a:defRPr b="0" i="0">
                <a:latin typeface="Avenir"/>
                <a:ea typeface="Avenir"/>
                <a:cs typeface="Avenir"/>
                <a:sym typeface="Avenir"/>
              </a:defRPr>
            </a:lvl3pPr>
            <a:lvl4pPr indent="-342900" lvl="3" marL="1828800" algn="l">
              <a:lnSpc>
                <a:spcPct val="90000"/>
              </a:lnSpc>
              <a:spcBef>
                <a:spcPts val="500"/>
              </a:spcBef>
              <a:spcAft>
                <a:spcPts val="0"/>
              </a:spcAft>
              <a:buClr>
                <a:schemeClr val="dk1"/>
              </a:buClr>
              <a:buSzPts val="1800"/>
              <a:buChar char="•"/>
              <a:defRPr b="0" i="0">
                <a:latin typeface="Avenir"/>
                <a:ea typeface="Avenir"/>
                <a:cs typeface="Avenir"/>
                <a:sym typeface="Avenir"/>
              </a:defRPr>
            </a:lvl4pPr>
            <a:lvl5pPr indent="-342900" lvl="4" marL="2286000" algn="l">
              <a:lnSpc>
                <a:spcPct val="90000"/>
              </a:lnSpc>
              <a:spcBef>
                <a:spcPts val="500"/>
              </a:spcBef>
              <a:spcAft>
                <a:spcPts val="0"/>
              </a:spcAft>
              <a:buClr>
                <a:schemeClr val="dk1"/>
              </a:buClr>
              <a:buSzPts val="1800"/>
              <a:buChar char="•"/>
              <a:defRPr b="0" i="0">
                <a:latin typeface="Avenir"/>
                <a:ea typeface="Avenir"/>
                <a:cs typeface="Avenir"/>
                <a:sym typeface="Aveni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3" name="Google Shape;43;p6"/>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6"/>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5" name="Google Shape;45;p6"/>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6" name="Shape 46"/>
        <p:cNvGrpSpPr/>
        <p:nvPr/>
      </p:nvGrpSpPr>
      <p:grpSpPr>
        <a:xfrm>
          <a:off x="0" y="0"/>
          <a:ext cx="0" cy="0"/>
          <a:chOff x="0" y="0"/>
          <a:chExt cx="0" cy="0"/>
        </a:xfrm>
      </p:grpSpPr>
      <p:sp>
        <p:nvSpPr>
          <p:cNvPr id="47" name="Google Shape;47;p7"/>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4400"/>
              <a:buFont typeface="Avenir"/>
              <a:buNone/>
              <a:defRPr b="0" i="0">
                <a:latin typeface="Avenir"/>
                <a:ea typeface="Avenir"/>
                <a:cs typeface="Avenir"/>
                <a:sym typeface="Avenir"/>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8" name="Google Shape;48;p7"/>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9" name="Google Shape;49;p7"/>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0" name="Google Shape;50;p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1" name="Shape 51"/>
        <p:cNvGrpSpPr/>
        <p:nvPr/>
      </p:nvGrpSpPr>
      <p:grpSpPr>
        <a:xfrm>
          <a:off x="0" y="0"/>
          <a:ext cx="0" cy="0"/>
          <a:chOff x="0" y="0"/>
          <a:chExt cx="0" cy="0"/>
        </a:xfrm>
      </p:grpSpPr>
      <p:sp>
        <p:nvSpPr>
          <p:cNvPr id="52" name="Google Shape;52;p8"/>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4" name="Google Shape;54;p8"/>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5" name="Shape 55"/>
        <p:cNvGrpSpPr/>
        <p:nvPr/>
      </p:nvGrpSpPr>
      <p:grpSpPr>
        <a:xfrm>
          <a:off x="0" y="0"/>
          <a:ext cx="0" cy="0"/>
          <a:chOff x="0" y="0"/>
          <a:chExt cx="0" cy="0"/>
        </a:xfrm>
      </p:grpSpPr>
      <p:sp>
        <p:nvSpPr>
          <p:cNvPr id="56" name="Google Shape;56;p9"/>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Avenir"/>
              <a:buNone/>
              <a:defRPr b="0" i="0" sz="3200">
                <a:latin typeface="Avenir"/>
                <a:ea typeface="Avenir"/>
                <a:cs typeface="Avenir"/>
                <a:sym typeface="Avenir"/>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7" name="Google Shape;57;p9"/>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b="0" i="0" sz="3200">
                <a:latin typeface="Avenir"/>
                <a:ea typeface="Avenir"/>
                <a:cs typeface="Avenir"/>
                <a:sym typeface="Avenir"/>
              </a:defRPr>
            </a:lvl1pPr>
            <a:lvl2pPr indent="-406400" lvl="1" marL="914400" algn="l">
              <a:lnSpc>
                <a:spcPct val="90000"/>
              </a:lnSpc>
              <a:spcBef>
                <a:spcPts val="500"/>
              </a:spcBef>
              <a:spcAft>
                <a:spcPts val="0"/>
              </a:spcAft>
              <a:buClr>
                <a:schemeClr val="dk1"/>
              </a:buClr>
              <a:buSzPts val="2800"/>
              <a:buChar char="•"/>
              <a:defRPr b="0" i="0" sz="2800">
                <a:latin typeface="Avenir"/>
                <a:ea typeface="Avenir"/>
                <a:cs typeface="Avenir"/>
                <a:sym typeface="Avenir"/>
              </a:defRPr>
            </a:lvl2pPr>
            <a:lvl3pPr indent="-381000" lvl="2" marL="1371600" algn="l">
              <a:lnSpc>
                <a:spcPct val="90000"/>
              </a:lnSpc>
              <a:spcBef>
                <a:spcPts val="500"/>
              </a:spcBef>
              <a:spcAft>
                <a:spcPts val="0"/>
              </a:spcAft>
              <a:buClr>
                <a:schemeClr val="dk1"/>
              </a:buClr>
              <a:buSzPts val="2400"/>
              <a:buChar char="•"/>
              <a:defRPr b="0" i="0" sz="2400">
                <a:latin typeface="Avenir"/>
                <a:ea typeface="Avenir"/>
                <a:cs typeface="Avenir"/>
                <a:sym typeface="Avenir"/>
              </a:defRPr>
            </a:lvl3pPr>
            <a:lvl4pPr indent="-355600" lvl="3" marL="1828800" algn="l">
              <a:lnSpc>
                <a:spcPct val="90000"/>
              </a:lnSpc>
              <a:spcBef>
                <a:spcPts val="500"/>
              </a:spcBef>
              <a:spcAft>
                <a:spcPts val="0"/>
              </a:spcAft>
              <a:buClr>
                <a:schemeClr val="dk1"/>
              </a:buClr>
              <a:buSzPts val="2000"/>
              <a:buChar char="•"/>
              <a:defRPr b="0" i="0" sz="2000">
                <a:latin typeface="Avenir"/>
                <a:ea typeface="Avenir"/>
                <a:cs typeface="Avenir"/>
                <a:sym typeface="Avenir"/>
              </a:defRPr>
            </a:lvl4pPr>
            <a:lvl5pPr indent="-355600" lvl="4" marL="2286000" algn="l">
              <a:lnSpc>
                <a:spcPct val="90000"/>
              </a:lnSpc>
              <a:spcBef>
                <a:spcPts val="500"/>
              </a:spcBef>
              <a:spcAft>
                <a:spcPts val="0"/>
              </a:spcAft>
              <a:buClr>
                <a:schemeClr val="dk1"/>
              </a:buClr>
              <a:buSzPts val="2000"/>
              <a:buChar char="•"/>
              <a:defRPr b="0" i="0" sz="2000">
                <a:latin typeface="Avenir"/>
                <a:ea typeface="Avenir"/>
                <a:cs typeface="Avenir"/>
                <a:sym typeface="Avenir"/>
              </a:defRPr>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58" name="Google Shape;58;p9"/>
          <p:cNvSpPr txBox="1"/>
          <p:nvPr>
            <p:ph idx="2"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b="0" i="0" sz="1600">
                <a:latin typeface="Avenir"/>
                <a:ea typeface="Avenir"/>
                <a:cs typeface="Avenir"/>
                <a:sym typeface="Avenir"/>
              </a:defRPr>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59" name="Google Shape;59;p9"/>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9"/>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2" name="Shape 62"/>
        <p:cNvGrpSpPr/>
        <p:nvPr/>
      </p:nvGrpSpPr>
      <p:grpSpPr>
        <a:xfrm>
          <a:off x="0" y="0"/>
          <a:ext cx="0" cy="0"/>
          <a:chOff x="0" y="0"/>
          <a:chExt cx="0" cy="0"/>
        </a:xfrm>
      </p:grpSpPr>
      <p:sp>
        <p:nvSpPr>
          <p:cNvPr id="63" name="Google Shape;63;p10"/>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Avenir"/>
              <a:buNone/>
              <a:defRPr b="0" i="0" sz="3200">
                <a:latin typeface="Avenir"/>
                <a:ea typeface="Avenir"/>
                <a:cs typeface="Avenir"/>
                <a:sym typeface="Avenir"/>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10"/>
          <p:cNvSpPr/>
          <p:nvPr>
            <p:ph idx="2" type="pic"/>
          </p:nvPr>
        </p:nvSpPr>
        <p:spPr>
          <a:xfrm>
            <a:off x="5183188" y="987425"/>
            <a:ext cx="6172200" cy="4873625"/>
          </a:xfrm>
          <a:prstGeom prst="rect">
            <a:avLst/>
          </a:prstGeom>
          <a:noFill/>
          <a:ln>
            <a:noFill/>
          </a:ln>
        </p:spPr>
      </p:sp>
      <p:sp>
        <p:nvSpPr>
          <p:cNvPr id="65" name="Google Shape;65;p10"/>
          <p:cNvSpPr txBox="1"/>
          <p:nvPr>
            <p:ph idx="1"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b="0" i="0" sz="1600">
                <a:latin typeface="Avenir"/>
                <a:ea typeface="Avenir"/>
                <a:cs typeface="Avenir"/>
                <a:sym typeface="Avenir"/>
              </a:defRPr>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66" name="Google Shape;66;p10"/>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10"/>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9" name="Shape 69"/>
        <p:cNvGrpSpPr/>
        <p:nvPr/>
      </p:nvGrpSpPr>
      <p:grpSpPr>
        <a:xfrm>
          <a:off x="0" y="0"/>
          <a:ext cx="0" cy="0"/>
          <a:chOff x="0" y="0"/>
          <a:chExt cx="0" cy="0"/>
        </a:xfrm>
      </p:grpSpPr>
      <p:sp>
        <p:nvSpPr>
          <p:cNvPr id="70" name="Google Shape;70;p1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4400"/>
              <a:buFont typeface="Avenir"/>
              <a:buNone/>
              <a:defRPr b="0" i="0">
                <a:latin typeface="Avenir"/>
                <a:ea typeface="Avenir"/>
                <a:cs typeface="Avenir"/>
                <a:sym typeface="Avenir"/>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1" name="Google Shape;71;p11"/>
          <p:cNvSpPr txBox="1"/>
          <p:nvPr>
            <p:ph idx="1" type="body"/>
          </p:nvPr>
        </p:nvSpPr>
        <p:spPr>
          <a:xfrm rot="5400000">
            <a:off x="3920331" y="-1256506"/>
            <a:ext cx="4351338" cy="10515600"/>
          </a:xfrm>
          <a:prstGeom prst="rect">
            <a:avLst/>
          </a:prstGeom>
          <a:noFill/>
          <a:ln>
            <a:noFill/>
          </a:ln>
        </p:spPr>
        <p:txBody>
          <a:bodyPr anchorCtr="0" anchor="t" bIns="45700" lIns="91425" spcFirstLastPara="1" rIns="91425" wrap="square" tIns="45700">
            <a:normAutofit/>
          </a:bodyPr>
          <a:lstStyle>
            <a:lvl1pPr indent="-406400" lvl="0" marL="457200" algn="l">
              <a:lnSpc>
                <a:spcPct val="90000"/>
              </a:lnSpc>
              <a:spcBef>
                <a:spcPts val="1000"/>
              </a:spcBef>
              <a:spcAft>
                <a:spcPts val="0"/>
              </a:spcAft>
              <a:buClr>
                <a:schemeClr val="dk1"/>
              </a:buClr>
              <a:buSzPts val="2800"/>
              <a:buChar char="•"/>
              <a:defRPr b="0" i="0">
                <a:latin typeface="Avenir"/>
                <a:ea typeface="Avenir"/>
                <a:cs typeface="Avenir"/>
                <a:sym typeface="Avenir"/>
              </a:defRPr>
            </a:lvl1pPr>
            <a:lvl2pPr indent="-381000" lvl="1" marL="914400" algn="l">
              <a:lnSpc>
                <a:spcPct val="90000"/>
              </a:lnSpc>
              <a:spcBef>
                <a:spcPts val="500"/>
              </a:spcBef>
              <a:spcAft>
                <a:spcPts val="0"/>
              </a:spcAft>
              <a:buClr>
                <a:schemeClr val="dk1"/>
              </a:buClr>
              <a:buSzPts val="2400"/>
              <a:buChar char="•"/>
              <a:defRPr b="0" i="0">
                <a:latin typeface="Avenir"/>
                <a:ea typeface="Avenir"/>
                <a:cs typeface="Avenir"/>
                <a:sym typeface="Avenir"/>
              </a:defRPr>
            </a:lvl2pPr>
            <a:lvl3pPr indent="-355600" lvl="2" marL="1371600" algn="l">
              <a:lnSpc>
                <a:spcPct val="90000"/>
              </a:lnSpc>
              <a:spcBef>
                <a:spcPts val="500"/>
              </a:spcBef>
              <a:spcAft>
                <a:spcPts val="0"/>
              </a:spcAft>
              <a:buClr>
                <a:schemeClr val="dk1"/>
              </a:buClr>
              <a:buSzPts val="2000"/>
              <a:buChar char="•"/>
              <a:defRPr b="0" i="0">
                <a:latin typeface="Avenir"/>
                <a:ea typeface="Avenir"/>
                <a:cs typeface="Avenir"/>
                <a:sym typeface="Avenir"/>
              </a:defRPr>
            </a:lvl3pPr>
            <a:lvl4pPr indent="-342900" lvl="3" marL="1828800" algn="l">
              <a:lnSpc>
                <a:spcPct val="90000"/>
              </a:lnSpc>
              <a:spcBef>
                <a:spcPts val="500"/>
              </a:spcBef>
              <a:spcAft>
                <a:spcPts val="0"/>
              </a:spcAft>
              <a:buClr>
                <a:schemeClr val="dk1"/>
              </a:buClr>
              <a:buSzPts val="1800"/>
              <a:buChar char="•"/>
              <a:defRPr b="0" i="0">
                <a:latin typeface="Avenir"/>
                <a:ea typeface="Avenir"/>
                <a:cs typeface="Avenir"/>
                <a:sym typeface="Avenir"/>
              </a:defRPr>
            </a:lvl4pPr>
            <a:lvl5pPr indent="-342900" lvl="4" marL="2286000" algn="l">
              <a:lnSpc>
                <a:spcPct val="90000"/>
              </a:lnSpc>
              <a:spcBef>
                <a:spcPts val="500"/>
              </a:spcBef>
              <a:spcAft>
                <a:spcPts val="0"/>
              </a:spcAft>
              <a:buClr>
                <a:schemeClr val="dk1"/>
              </a:buClr>
              <a:buSzPts val="1800"/>
              <a:buChar char="•"/>
              <a:defRPr b="0" i="0">
                <a:latin typeface="Avenir"/>
                <a:ea typeface="Avenir"/>
                <a:cs typeface="Avenir"/>
                <a:sym typeface="Aveni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2" name="Google Shape;72;p11"/>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4" name="Google Shape;74;p11"/>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5" name="Shape 75"/>
        <p:cNvGrpSpPr/>
        <p:nvPr/>
      </p:nvGrpSpPr>
      <p:grpSpPr>
        <a:xfrm>
          <a:off x="0" y="0"/>
          <a:ext cx="0" cy="0"/>
          <a:chOff x="0" y="0"/>
          <a:chExt cx="0" cy="0"/>
        </a:xfrm>
      </p:grpSpPr>
      <p:sp>
        <p:nvSpPr>
          <p:cNvPr id="76" name="Google Shape;76;p12"/>
          <p:cNvSpPr txBox="1"/>
          <p:nvPr>
            <p:ph type="title"/>
          </p:nvPr>
        </p:nvSpPr>
        <p:spPr>
          <a:xfrm rot="5400000">
            <a:off x="7133431" y="1956594"/>
            <a:ext cx="5811838" cy="26289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4400"/>
              <a:buFont typeface="Avenir"/>
              <a:buNone/>
              <a:defRPr b="0" i="0">
                <a:latin typeface="Avenir"/>
                <a:ea typeface="Avenir"/>
                <a:cs typeface="Avenir"/>
                <a:sym typeface="Avenir"/>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7" name="Google Shape;77;p12"/>
          <p:cNvSpPr txBox="1"/>
          <p:nvPr>
            <p:ph idx="1" type="body"/>
          </p:nvPr>
        </p:nvSpPr>
        <p:spPr>
          <a:xfrm rot="5400000">
            <a:off x="1799431" y="-596106"/>
            <a:ext cx="5811838" cy="7734300"/>
          </a:xfrm>
          <a:prstGeom prst="rect">
            <a:avLst/>
          </a:prstGeom>
          <a:noFill/>
          <a:ln>
            <a:noFill/>
          </a:ln>
        </p:spPr>
        <p:txBody>
          <a:bodyPr anchorCtr="0" anchor="t" bIns="45700" lIns="91425" spcFirstLastPara="1" rIns="91425" wrap="square" tIns="45700">
            <a:normAutofit/>
          </a:bodyPr>
          <a:lstStyle>
            <a:lvl1pPr indent="-406400" lvl="0" marL="457200" algn="l">
              <a:lnSpc>
                <a:spcPct val="90000"/>
              </a:lnSpc>
              <a:spcBef>
                <a:spcPts val="1000"/>
              </a:spcBef>
              <a:spcAft>
                <a:spcPts val="0"/>
              </a:spcAft>
              <a:buClr>
                <a:schemeClr val="dk1"/>
              </a:buClr>
              <a:buSzPts val="2800"/>
              <a:buChar char="•"/>
              <a:defRPr b="0" i="0">
                <a:latin typeface="Avenir"/>
                <a:ea typeface="Avenir"/>
                <a:cs typeface="Avenir"/>
                <a:sym typeface="Avenir"/>
              </a:defRPr>
            </a:lvl1pPr>
            <a:lvl2pPr indent="-381000" lvl="1" marL="914400" algn="l">
              <a:lnSpc>
                <a:spcPct val="90000"/>
              </a:lnSpc>
              <a:spcBef>
                <a:spcPts val="500"/>
              </a:spcBef>
              <a:spcAft>
                <a:spcPts val="0"/>
              </a:spcAft>
              <a:buClr>
                <a:schemeClr val="dk1"/>
              </a:buClr>
              <a:buSzPts val="2400"/>
              <a:buChar char="•"/>
              <a:defRPr b="0" i="0">
                <a:latin typeface="Avenir"/>
                <a:ea typeface="Avenir"/>
                <a:cs typeface="Avenir"/>
                <a:sym typeface="Avenir"/>
              </a:defRPr>
            </a:lvl2pPr>
            <a:lvl3pPr indent="-355600" lvl="2" marL="1371600" algn="l">
              <a:lnSpc>
                <a:spcPct val="90000"/>
              </a:lnSpc>
              <a:spcBef>
                <a:spcPts val="500"/>
              </a:spcBef>
              <a:spcAft>
                <a:spcPts val="0"/>
              </a:spcAft>
              <a:buClr>
                <a:schemeClr val="dk1"/>
              </a:buClr>
              <a:buSzPts val="2000"/>
              <a:buChar char="•"/>
              <a:defRPr b="0" i="0">
                <a:latin typeface="Avenir"/>
                <a:ea typeface="Avenir"/>
                <a:cs typeface="Avenir"/>
                <a:sym typeface="Avenir"/>
              </a:defRPr>
            </a:lvl3pPr>
            <a:lvl4pPr indent="-342900" lvl="3" marL="1828800" algn="l">
              <a:lnSpc>
                <a:spcPct val="90000"/>
              </a:lnSpc>
              <a:spcBef>
                <a:spcPts val="500"/>
              </a:spcBef>
              <a:spcAft>
                <a:spcPts val="0"/>
              </a:spcAft>
              <a:buClr>
                <a:schemeClr val="dk1"/>
              </a:buClr>
              <a:buSzPts val="1800"/>
              <a:buChar char="•"/>
              <a:defRPr b="0" i="0">
                <a:latin typeface="Avenir"/>
                <a:ea typeface="Avenir"/>
                <a:cs typeface="Avenir"/>
                <a:sym typeface="Avenir"/>
              </a:defRPr>
            </a:lvl4pPr>
            <a:lvl5pPr indent="-342900" lvl="4" marL="2286000" algn="l">
              <a:lnSpc>
                <a:spcPct val="90000"/>
              </a:lnSpc>
              <a:spcBef>
                <a:spcPts val="500"/>
              </a:spcBef>
              <a:spcAft>
                <a:spcPts val="0"/>
              </a:spcAft>
              <a:buClr>
                <a:schemeClr val="dk1"/>
              </a:buClr>
              <a:buSzPts val="1800"/>
              <a:buChar char="•"/>
              <a:defRPr b="0" i="0">
                <a:latin typeface="Avenir"/>
                <a:ea typeface="Avenir"/>
                <a:cs typeface="Avenir"/>
                <a:sym typeface="Aveni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8" name="Google Shape;78;p12"/>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0" name="Google Shape;80;p12"/>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6" name="Shape 6"/>
        <p:cNvGrpSpPr/>
        <p:nvPr/>
      </p:nvGrpSpPr>
      <p:grpSpPr>
        <a:xfrm>
          <a:off x="0" y="0"/>
          <a:ext cx="0" cy="0"/>
          <a:chOff x="0" y="0"/>
          <a:chExt cx="0" cy="0"/>
        </a:xfrm>
      </p:grpSpPr>
      <p:sp>
        <p:nvSpPr>
          <p:cNvPr id="7" name="Google Shape;7;p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Avenir"/>
              <a:buNone/>
              <a:defRPr b="0" i="0" sz="4400" u="none" cap="none" strike="noStrike">
                <a:solidFill>
                  <a:schemeClr val="dk1"/>
                </a:solidFill>
                <a:latin typeface="Avenir"/>
                <a:ea typeface="Avenir"/>
                <a:cs typeface="Avenir"/>
                <a:sym typeface="Avenir"/>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8" name="Google Shape;8;p1"/>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Avenir"/>
                <a:ea typeface="Avenir"/>
                <a:cs typeface="Avenir"/>
                <a:sym typeface="Avenir"/>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Avenir"/>
                <a:ea typeface="Avenir"/>
                <a:cs typeface="Avenir"/>
                <a:sym typeface="Avenir"/>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Avenir"/>
                <a:ea typeface="Avenir"/>
                <a:cs typeface="Avenir"/>
                <a:sym typeface="Avenir"/>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venir"/>
                <a:ea typeface="Avenir"/>
                <a:cs typeface="Avenir"/>
                <a:sym typeface="Avenir"/>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venir"/>
                <a:ea typeface="Avenir"/>
                <a:cs typeface="Avenir"/>
                <a:sym typeface="Avenir"/>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1" name="Google Shape;11;p1"/>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4.png"/><Relationship Id="rId4"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7.png"/><Relationship Id="rId4" Type="http://schemas.openxmlformats.org/officeDocument/2006/relationships/image" Target="../media/image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1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 Id="rId3" Type="http://schemas.openxmlformats.org/officeDocument/2006/relationships/image" Target="../media/image10.jpg"/><Relationship Id="rId4"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D8D8D8"/>
        </a:solidFill>
      </p:bgPr>
    </p:bg>
    <p:spTree>
      <p:nvGrpSpPr>
        <p:cNvPr id="85" name="Shape 85"/>
        <p:cNvGrpSpPr/>
        <p:nvPr/>
      </p:nvGrpSpPr>
      <p:grpSpPr>
        <a:xfrm>
          <a:off x="0" y="0"/>
          <a:ext cx="0" cy="0"/>
          <a:chOff x="0" y="0"/>
          <a:chExt cx="0" cy="0"/>
        </a:xfrm>
      </p:grpSpPr>
      <p:sp>
        <p:nvSpPr>
          <p:cNvPr id="86" name="Google Shape;86;p13"/>
          <p:cNvSpPr txBox="1"/>
          <p:nvPr/>
        </p:nvSpPr>
        <p:spPr>
          <a:xfrm>
            <a:off x="2589945" y="2828835"/>
            <a:ext cx="7012110" cy="1200329"/>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800" u="none" cap="none" strike="noStrike">
                <a:solidFill>
                  <a:schemeClr val="dk1"/>
                </a:solidFill>
                <a:latin typeface="Calibri"/>
                <a:ea typeface="Calibri"/>
                <a:cs typeface="Calibri"/>
                <a:sym typeface="Calibri"/>
              </a:rPr>
              <a:t>The slides contain copyright material that belongs to Color Accounting International, Toby York and Middlesex University.</a:t>
            </a:r>
            <a:endParaRPr/>
          </a:p>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a:p>
            <a:pPr indent="0" lvl="0" marL="0" marR="0" rtl="0" algn="ctr">
              <a:spcBef>
                <a:spcPts val="0"/>
              </a:spcBef>
              <a:spcAft>
                <a:spcPts val="0"/>
              </a:spcAft>
              <a:buNone/>
            </a:pPr>
            <a:r>
              <a:rPr b="0" i="0" lang="en-US" sz="1800" u="none" cap="none" strike="noStrike">
                <a:solidFill>
                  <a:schemeClr val="dk1"/>
                </a:solidFill>
                <a:latin typeface="Calibri"/>
                <a:ea typeface="Calibri"/>
                <a:cs typeface="Calibri"/>
                <a:sym typeface="Calibri"/>
              </a:rPr>
              <a:t>Use is subject to fair usage.</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D966"/>
        </a:solidFill>
      </p:bgPr>
    </p:bg>
    <p:spTree>
      <p:nvGrpSpPr>
        <p:cNvPr id="91" name="Shape 91"/>
        <p:cNvGrpSpPr/>
        <p:nvPr/>
      </p:nvGrpSpPr>
      <p:grpSpPr>
        <a:xfrm>
          <a:off x="0" y="0"/>
          <a:ext cx="0" cy="0"/>
          <a:chOff x="0" y="0"/>
          <a:chExt cx="0" cy="0"/>
        </a:xfrm>
      </p:grpSpPr>
      <p:sp>
        <p:nvSpPr>
          <p:cNvPr id="92" name="Google Shape;92;p14"/>
          <p:cNvSpPr txBox="1"/>
          <p:nvPr/>
        </p:nvSpPr>
        <p:spPr>
          <a:xfrm>
            <a:off x="0" y="-2"/>
            <a:ext cx="12192000" cy="1080000"/>
          </a:xfrm>
          <a:prstGeom prst="rect">
            <a:avLst/>
          </a:prstGeom>
          <a:solidFill>
            <a:srgbClr val="521B93"/>
          </a:solidFill>
          <a:ln>
            <a:noFill/>
          </a:ln>
        </p:spPr>
        <p:txBody>
          <a:bodyPr anchorCtr="0" anchor="ctr" bIns="45700" lIns="91425" spcFirstLastPara="1" rIns="91425" wrap="square" tIns="45700">
            <a:noAutofit/>
          </a:bodyPr>
          <a:lstStyle/>
          <a:p>
            <a:pPr indent="0" lvl="0" marL="363538" marR="0" rtl="0" algn="l">
              <a:lnSpc>
                <a:spcPct val="120000"/>
              </a:lnSpc>
              <a:spcBef>
                <a:spcPts val="0"/>
              </a:spcBef>
              <a:spcAft>
                <a:spcPts val="0"/>
              </a:spcAft>
              <a:buNone/>
            </a:pPr>
            <a:r>
              <a:rPr b="0" i="0" lang="en-US" sz="4000" u="none" cap="none" strike="noStrike">
                <a:solidFill>
                  <a:schemeClr val="accent4"/>
                </a:solidFill>
                <a:latin typeface="Avenir"/>
                <a:ea typeface="Avenir"/>
                <a:cs typeface="Avenir"/>
                <a:sym typeface="Avenir"/>
              </a:rPr>
              <a:t>Today’s structure</a:t>
            </a:r>
            <a:endParaRPr/>
          </a:p>
        </p:txBody>
      </p:sp>
      <p:sp>
        <p:nvSpPr>
          <p:cNvPr id="93" name="Google Shape;93;p14"/>
          <p:cNvSpPr txBox="1"/>
          <p:nvPr/>
        </p:nvSpPr>
        <p:spPr>
          <a:xfrm>
            <a:off x="515341" y="1653484"/>
            <a:ext cx="5687397" cy="1710013"/>
          </a:xfrm>
          <a:prstGeom prst="rect">
            <a:avLst/>
          </a:prstGeom>
          <a:solidFill>
            <a:srgbClr val="FEE599"/>
          </a:solidFill>
          <a:ln>
            <a:noFill/>
          </a:ln>
        </p:spPr>
        <p:txBody>
          <a:bodyPr anchorCtr="0" anchor="ctr" bIns="45700" lIns="91425" spcFirstLastPara="1" rIns="91425" wrap="square" tIns="45700">
            <a:noAutofit/>
          </a:bodyPr>
          <a:lstStyle/>
          <a:p>
            <a:pPr indent="0" lvl="0" marL="233363" marR="0" rtl="0" algn="l">
              <a:spcBef>
                <a:spcPts val="0"/>
              </a:spcBef>
              <a:spcAft>
                <a:spcPts val="0"/>
              </a:spcAft>
              <a:buNone/>
            </a:pPr>
            <a:r>
              <a:rPr b="1" i="0" lang="en-US" sz="3600" u="none" cap="none" strike="noStrike">
                <a:solidFill>
                  <a:srgbClr val="521B93"/>
                </a:solidFill>
                <a:latin typeface="Avenir"/>
                <a:ea typeface="Avenir"/>
                <a:cs typeface="Avenir"/>
                <a:sym typeface="Avenir"/>
              </a:rPr>
              <a:t>Conversation 1:</a:t>
            </a:r>
            <a:endParaRPr/>
          </a:p>
          <a:p>
            <a:pPr indent="0" lvl="0" marL="233363" marR="0" rtl="0" algn="l">
              <a:spcBef>
                <a:spcPts val="0"/>
              </a:spcBef>
              <a:spcAft>
                <a:spcPts val="0"/>
              </a:spcAft>
              <a:buNone/>
            </a:pPr>
            <a:r>
              <a:rPr b="0" i="0" lang="en-US" sz="3600" u="none" cap="none" strike="noStrike">
                <a:solidFill>
                  <a:srgbClr val="521B93"/>
                </a:solidFill>
                <a:latin typeface="Avenir"/>
                <a:ea typeface="Avenir"/>
                <a:cs typeface="Avenir"/>
                <a:sym typeface="Avenir"/>
              </a:rPr>
              <a:t>A butterfly recap</a:t>
            </a:r>
            <a:endParaRPr/>
          </a:p>
        </p:txBody>
      </p:sp>
      <p:sp>
        <p:nvSpPr>
          <p:cNvPr id="94" name="Google Shape;94;p14"/>
          <p:cNvSpPr txBox="1"/>
          <p:nvPr/>
        </p:nvSpPr>
        <p:spPr>
          <a:xfrm>
            <a:off x="3252301" y="3176668"/>
            <a:ext cx="5687397" cy="1710013"/>
          </a:xfrm>
          <a:prstGeom prst="rect">
            <a:avLst/>
          </a:prstGeom>
          <a:solidFill>
            <a:srgbClr val="FEE599"/>
          </a:solidFill>
          <a:ln>
            <a:noFill/>
          </a:ln>
        </p:spPr>
        <p:txBody>
          <a:bodyPr anchorCtr="0" anchor="ctr" bIns="45700" lIns="91425" spcFirstLastPara="1" rIns="91425" wrap="square" tIns="45700">
            <a:noAutofit/>
          </a:bodyPr>
          <a:lstStyle/>
          <a:p>
            <a:pPr indent="0" lvl="0" marL="233363" marR="0" rtl="0" algn="l">
              <a:spcBef>
                <a:spcPts val="0"/>
              </a:spcBef>
              <a:spcAft>
                <a:spcPts val="0"/>
              </a:spcAft>
              <a:buNone/>
            </a:pPr>
            <a:r>
              <a:rPr b="1" i="0" lang="en-US" sz="3600" u="none" cap="none" strike="noStrike">
                <a:solidFill>
                  <a:srgbClr val="521B93"/>
                </a:solidFill>
                <a:latin typeface="Avenir"/>
                <a:ea typeface="Avenir"/>
                <a:cs typeface="Avenir"/>
                <a:sym typeface="Avenir"/>
              </a:rPr>
              <a:t>Conversation 2:</a:t>
            </a:r>
            <a:endParaRPr/>
          </a:p>
          <a:p>
            <a:pPr indent="0" lvl="0" marL="233363" marR="0" rtl="0" algn="l">
              <a:spcBef>
                <a:spcPts val="0"/>
              </a:spcBef>
              <a:spcAft>
                <a:spcPts val="0"/>
              </a:spcAft>
              <a:buNone/>
            </a:pPr>
            <a:r>
              <a:rPr b="0" i="0" lang="en-US" sz="3600" u="none" cap="none" strike="noStrike">
                <a:solidFill>
                  <a:srgbClr val="521B93"/>
                </a:solidFill>
                <a:latin typeface="Avenir"/>
                <a:ea typeface="Avenir"/>
                <a:cs typeface="Avenir"/>
                <a:sym typeface="Avenir"/>
              </a:rPr>
              <a:t>Deriving profit</a:t>
            </a:r>
            <a:endParaRPr/>
          </a:p>
        </p:txBody>
      </p:sp>
      <p:sp>
        <p:nvSpPr>
          <p:cNvPr id="95" name="Google Shape;95;p14"/>
          <p:cNvSpPr txBox="1"/>
          <p:nvPr/>
        </p:nvSpPr>
        <p:spPr>
          <a:xfrm>
            <a:off x="6095999" y="4699852"/>
            <a:ext cx="5687397" cy="1710013"/>
          </a:xfrm>
          <a:prstGeom prst="rect">
            <a:avLst/>
          </a:prstGeom>
          <a:solidFill>
            <a:srgbClr val="FEE599"/>
          </a:solidFill>
          <a:ln>
            <a:noFill/>
          </a:ln>
        </p:spPr>
        <p:txBody>
          <a:bodyPr anchorCtr="0" anchor="ctr" bIns="45700" lIns="91425" spcFirstLastPara="1" rIns="91425" wrap="square" tIns="45700">
            <a:noAutofit/>
          </a:bodyPr>
          <a:lstStyle/>
          <a:p>
            <a:pPr indent="0" lvl="0" marL="233363" marR="0" rtl="0" algn="l">
              <a:spcBef>
                <a:spcPts val="0"/>
              </a:spcBef>
              <a:spcAft>
                <a:spcPts val="0"/>
              </a:spcAft>
              <a:buNone/>
            </a:pPr>
            <a:r>
              <a:rPr b="1" i="0" lang="en-US" sz="3600" u="none" cap="none" strike="noStrike">
                <a:solidFill>
                  <a:srgbClr val="521B93"/>
                </a:solidFill>
                <a:latin typeface="Avenir"/>
                <a:ea typeface="Avenir"/>
                <a:cs typeface="Avenir"/>
                <a:sym typeface="Avenir"/>
              </a:rPr>
              <a:t>Conversation 3:</a:t>
            </a:r>
            <a:endParaRPr/>
          </a:p>
          <a:p>
            <a:pPr indent="0" lvl="0" marL="233363" marR="0" rtl="0" algn="l">
              <a:spcBef>
                <a:spcPts val="0"/>
              </a:spcBef>
              <a:spcAft>
                <a:spcPts val="0"/>
              </a:spcAft>
              <a:buNone/>
            </a:pPr>
            <a:r>
              <a:rPr b="0" i="0" lang="en-US" sz="3600" u="none" cap="none" strike="noStrike">
                <a:solidFill>
                  <a:srgbClr val="521B93"/>
                </a:solidFill>
                <a:latin typeface="Avenir"/>
                <a:ea typeface="Avenir"/>
                <a:cs typeface="Avenir"/>
                <a:sym typeface="Avenir"/>
              </a:rPr>
              <a:t>Classic Transactions</a:t>
            </a:r>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5"/>
          <p:cNvSpPr txBox="1"/>
          <p:nvPr/>
        </p:nvSpPr>
        <p:spPr>
          <a:xfrm>
            <a:off x="0" y="-2"/>
            <a:ext cx="12192000" cy="1080000"/>
          </a:xfrm>
          <a:prstGeom prst="rect">
            <a:avLst/>
          </a:prstGeom>
          <a:solidFill>
            <a:srgbClr val="521B93"/>
          </a:solidFill>
          <a:ln>
            <a:noFill/>
          </a:ln>
        </p:spPr>
        <p:txBody>
          <a:bodyPr anchorCtr="0" anchor="ctr" bIns="45700" lIns="91425" spcFirstLastPara="1" rIns="91425" wrap="square" tIns="45700">
            <a:noAutofit/>
          </a:bodyPr>
          <a:lstStyle/>
          <a:p>
            <a:pPr indent="0" lvl="0" marL="363538" marR="0" rtl="0" algn="l">
              <a:lnSpc>
                <a:spcPct val="120000"/>
              </a:lnSpc>
              <a:spcBef>
                <a:spcPts val="0"/>
              </a:spcBef>
              <a:spcAft>
                <a:spcPts val="0"/>
              </a:spcAft>
              <a:buNone/>
            </a:pPr>
            <a:r>
              <a:rPr b="1" i="0" lang="en-US" sz="4000" u="none" cap="none" strike="noStrike">
                <a:solidFill>
                  <a:schemeClr val="accent4"/>
                </a:solidFill>
                <a:latin typeface="Avenir"/>
                <a:ea typeface="Avenir"/>
                <a:cs typeface="Avenir"/>
                <a:sym typeface="Avenir"/>
              </a:rPr>
              <a:t>2.  A butterfly flutter by (quick recap)</a:t>
            </a:r>
            <a:endParaRPr/>
          </a:p>
        </p:txBody>
      </p:sp>
      <p:pic>
        <p:nvPicPr>
          <p:cNvPr id="102" name="Google Shape;102;p15"/>
          <p:cNvPicPr preferRelativeResize="0"/>
          <p:nvPr/>
        </p:nvPicPr>
        <p:blipFill rotWithShape="1">
          <a:blip r:embed="rId3">
            <a:alphaModFix/>
          </a:blip>
          <a:srcRect b="0" l="0" r="48538" t="0"/>
          <a:stretch/>
        </p:blipFill>
        <p:spPr>
          <a:xfrm>
            <a:off x="3599709" y="1806455"/>
            <a:ext cx="2400038" cy="4509677"/>
          </a:xfrm>
          <a:prstGeom prst="rect">
            <a:avLst/>
          </a:prstGeom>
          <a:noFill/>
          <a:ln>
            <a:noFill/>
          </a:ln>
        </p:spPr>
      </p:pic>
      <p:pic>
        <p:nvPicPr>
          <p:cNvPr id="103" name="Google Shape;103;p15"/>
          <p:cNvPicPr preferRelativeResize="0"/>
          <p:nvPr/>
        </p:nvPicPr>
        <p:blipFill rotWithShape="1">
          <a:blip r:embed="rId4">
            <a:alphaModFix/>
          </a:blip>
          <a:srcRect b="0" l="50773" r="0" t="0"/>
          <a:stretch/>
        </p:blipFill>
        <p:spPr>
          <a:xfrm>
            <a:off x="5967663" y="1806455"/>
            <a:ext cx="2295804" cy="4509677"/>
          </a:xfrm>
          <a:prstGeom prst="rect">
            <a:avLst/>
          </a:prstGeom>
          <a:noFill/>
          <a:ln>
            <a:noFill/>
          </a:ln>
        </p:spPr>
      </p:pic>
      <p:sp>
        <p:nvSpPr>
          <p:cNvPr id="104" name="Google Shape;104;p15"/>
          <p:cNvSpPr txBox="1"/>
          <p:nvPr/>
        </p:nvSpPr>
        <p:spPr>
          <a:xfrm>
            <a:off x="9790637" y="6550223"/>
            <a:ext cx="2401363" cy="307777"/>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400" u="none" cap="none" strike="noStrike">
                <a:solidFill>
                  <a:srgbClr val="7F7F7F"/>
                </a:solidFill>
                <a:latin typeface="Arial"/>
                <a:ea typeface="Arial"/>
                <a:cs typeface="Arial"/>
                <a:sym typeface="Arial"/>
              </a:rPr>
              <a:t>https://en.butterflycorner.net</a:t>
            </a:r>
            <a:endParaRPr sz="1400">
              <a:solidFill>
                <a:srgbClr val="7F7F7F"/>
              </a:solidFill>
              <a:latin typeface="Arial"/>
              <a:ea typeface="Arial"/>
              <a:cs typeface="Arial"/>
              <a:sym typeface="Arial"/>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grpSp>
        <p:nvGrpSpPr>
          <p:cNvPr id="110" name="Google Shape;110;p16"/>
          <p:cNvGrpSpPr/>
          <p:nvPr/>
        </p:nvGrpSpPr>
        <p:grpSpPr>
          <a:xfrm>
            <a:off x="945931" y="930167"/>
            <a:ext cx="10326414" cy="5249916"/>
            <a:chOff x="700429" y="1360414"/>
            <a:chExt cx="10693606" cy="4977323"/>
          </a:xfrm>
        </p:grpSpPr>
        <p:pic>
          <p:nvPicPr>
            <p:cNvPr descr="VG3_Charts06.jpg" id="111" name="Google Shape;111;p16"/>
            <p:cNvPicPr preferRelativeResize="0"/>
            <p:nvPr/>
          </p:nvPicPr>
          <p:blipFill rotWithShape="1">
            <a:blip r:embed="rId3">
              <a:alphaModFix/>
            </a:blip>
            <a:srcRect b="0" l="0" r="0" t="0"/>
            <a:stretch/>
          </p:blipFill>
          <p:spPr>
            <a:xfrm>
              <a:off x="700429" y="1360414"/>
              <a:ext cx="10693606" cy="4977323"/>
            </a:xfrm>
            <a:prstGeom prst="rect">
              <a:avLst/>
            </a:prstGeom>
            <a:noFill/>
            <a:ln>
              <a:noFill/>
            </a:ln>
          </p:spPr>
        </p:pic>
        <p:sp>
          <p:nvSpPr>
            <p:cNvPr id="112" name="Google Shape;112;p16"/>
            <p:cNvSpPr txBox="1"/>
            <p:nvPr/>
          </p:nvSpPr>
          <p:spPr>
            <a:xfrm>
              <a:off x="5511204" y="5927833"/>
              <a:ext cx="1346796" cy="409904"/>
            </a:xfrm>
            <a:prstGeom prst="rect">
              <a:avLst/>
            </a:prstGeom>
            <a:solidFill>
              <a:schemeClr val="lt1"/>
            </a:solidFill>
            <a:ln>
              <a:noFill/>
            </a:ln>
          </p:spPr>
          <p:txBody>
            <a:bodyPr anchorCtr="0" anchor="t" bIns="45700" lIns="91425" spcFirstLastPara="1" rIns="91425" wrap="square" tIns="45700">
              <a:sp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grpSp>
      <p:sp>
        <p:nvSpPr>
          <p:cNvPr id="113" name="Google Shape;113;p16"/>
          <p:cNvSpPr txBox="1"/>
          <p:nvPr/>
        </p:nvSpPr>
        <p:spPr>
          <a:xfrm>
            <a:off x="1278173" y="1655611"/>
            <a:ext cx="2127177" cy="584775"/>
          </a:xfrm>
          <a:prstGeom prst="rect">
            <a:avLst/>
          </a:prstGeom>
          <a:solidFill>
            <a:schemeClr val="lt1">
              <a:alpha val="85882"/>
            </a:schemeClr>
          </a:solidFill>
          <a:ln cap="flat" cmpd="sng" w="25400">
            <a:solidFill>
              <a:schemeClr val="accent6"/>
            </a:solidFill>
            <a:prstDash val="solid"/>
            <a:round/>
            <a:headEnd len="sm" w="sm" type="none"/>
            <a:tailEnd len="sm" w="sm" type="none"/>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3200">
                <a:solidFill>
                  <a:schemeClr val="accent6"/>
                </a:solidFill>
                <a:latin typeface="Arial"/>
                <a:ea typeface="Arial"/>
                <a:cs typeface="Arial"/>
                <a:sym typeface="Arial"/>
              </a:rPr>
              <a:t>Assets</a:t>
            </a:r>
            <a:endParaRPr b="1" sz="2400">
              <a:solidFill>
                <a:schemeClr val="accent6"/>
              </a:solidFill>
              <a:latin typeface="Arial"/>
              <a:ea typeface="Arial"/>
              <a:cs typeface="Arial"/>
              <a:sym typeface="Arial"/>
            </a:endParaRPr>
          </a:p>
        </p:txBody>
      </p:sp>
      <p:cxnSp>
        <p:nvCxnSpPr>
          <p:cNvPr id="114" name="Google Shape;114;p16"/>
          <p:cNvCxnSpPr/>
          <p:nvPr/>
        </p:nvCxnSpPr>
        <p:spPr>
          <a:xfrm>
            <a:off x="3695012" y="1023977"/>
            <a:ext cx="5247163" cy="0"/>
          </a:xfrm>
          <a:prstGeom prst="straightConnector1">
            <a:avLst/>
          </a:prstGeom>
          <a:noFill/>
          <a:ln cap="flat" cmpd="sng" w="28575">
            <a:solidFill>
              <a:schemeClr val="accent1"/>
            </a:solidFill>
            <a:prstDash val="dot"/>
            <a:miter lim="800000"/>
            <a:headEnd len="sm" w="sm" type="none"/>
            <a:tailEnd len="sm" w="sm" type="none"/>
          </a:ln>
        </p:spPr>
      </p:cxnSp>
      <p:sp>
        <p:nvSpPr>
          <p:cNvPr id="115" name="Google Shape;115;p16"/>
          <p:cNvSpPr txBox="1"/>
          <p:nvPr/>
        </p:nvSpPr>
        <p:spPr>
          <a:xfrm rot="736373">
            <a:off x="1146795" y="895182"/>
            <a:ext cx="2218877"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400">
                <a:solidFill>
                  <a:schemeClr val="accent6"/>
                </a:solidFill>
                <a:latin typeface="Avenir"/>
                <a:ea typeface="Avenir"/>
                <a:cs typeface="Avenir"/>
                <a:sym typeface="Avenir"/>
              </a:rPr>
              <a:t>Uses of funds</a:t>
            </a:r>
            <a:endParaRPr/>
          </a:p>
        </p:txBody>
      </p:sp>
      <p:sp>
        <p:nvSpPr>
          <p:cNvPr id="116" name="Google Shape;116;p16"/>
          <p:cNvSpPr txBox="1"/>
          <p:nvPr/>
        </p:nvSpPr>
        <p:spPr>
          <a:xfrm rot="-658158">
            <a:off x="8584450" y="914395"/>
            <a:ext cx="2696572"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400">
                <a:solidFill>
                  <a:schemeClr val="accent2"/>
                </a:solidFill>
                <a:latin typeface="Avenir"/>
                <a:ea typeface="Avenir"/>
                <a:cs typeface="Avenir"/>
                <a:sym typeface="Avenir"/>
              </a:rPr>
              <a:t>Sources of funds</a:t>
            </a:r>
            <a:endParaRPr/>
          </a:p>
        </p:txBody>
      </p:sp>
      <p:sp>
        <p:nvSpPr>
          <p:cNvPr id="117" name="Google Shape;117;p16"/>
          <p:cNvSpPr txBox="1"/>
          <p:nvPr/>
        </p:nvSpPr>
        <p:spPr>
          <a:xfrm>
            <a:off x="8869147" y="1654890"/>
            <a:ext cx="2127177" cy="584775"/>
          </a:xfrm>
          <a:prstGeom prst="rect">
            <a:avLst/>
          </a:prstGeom>
          <a:solidFill>
            <a:schemeClr val="lt1">
              <a:alpha val="74901"/>
            </a:schemeClr>
          </a:solidFill>
          <a:ln cap="flat" cmpd="sng" w="25400">
            <a:solidFill>
              <a:schemeClr val="accent2"/>
            </a:solidFill>
            <a:prstDash val="solid"/>
            <a:round/>
            <a:headEnd len="sm" w="sm" type="none"/>
            <a:tailEnd len="sm" w="sm" type="none"/>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3200">
                <a:solidFill>
                  <a:schemeClr val="accent2"/>
                </a:solidFill>
                <a:latin typeface="Arial"/>
                <a:ea typeface="Arial"/>
                <a:cs typeface="Arial"/>
                <a:sym typeface="Arial"/>
              </a:rPr>
              <a:t>Liabilities</a:t>
            </a:r>
            <a:endParaRPr b="1" sz="2400">
              <a:solidFill>
                <a:schemeClr val="accent2"/>
              </a:solidFill>
              <a:latin typeface="Arial"/>
              <a:ea typeface="Arial"/>
              <a:cs typeface="Arial"/>
              <a:sym typeface="Arial"/>
            </a:endParaRPr>
          </a:p>
        </p:txBody>
      </p:sp>
      <p:sp>
        <p:nvSpPr>
          <p:cNvPr id="118" name="Google Shape;118;p16"/>
          <p:cNvSpPr txBox="1"/>
          <p:nvPr/>
        </p:nvSpPr>
        <p:spPr>
          <a:xfrm>
            <a:off x="8869146" y="3578985"/>
            <a:ext cx="2127177" cy="584775"/>
          </a:xfrm>
          <a:prstGeom prst="rect">
            <a:avLst/>
          </a:prstGeom>
          <a:solidFill>
            <a:schemeClr val="lt1">
              <a:alpha val="74901"/>
            </a:schemeClr>
          </a:solidFill>
          <a:ln cap="flat" cmpd="sng" w="25400">
            <a:solidFill>
              <a:schemeClr val="accent2"/>
            </a:solidFill>
            <a:prstDash val="solid"/>
            <a:round/>
            <a:headEnd len="sm" w="sm" type="none"/>
            <a:tailEnd len="sm" w="sm" type="none"/>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3200">
                <a:solidFill>
                  <a:schemeClr val="accent2"/>
                </a:solidFill>
                <a:latin typeface="Arial"/>
                <a:ea typeface="Arial"/>
                <a:cs typeface="Arial"/>
                <a:sym typeface="Arial"/>
              </a:rPr>
              <a:t>Equity</a:t>
            </a:r>
            <a:endParaRPr b="1" sz="2400">
              <a:solidFill>
                <a:schemeClr val="accent2"/>
              </a:solidFill>
              <a:latin typeface="Arial"/>
              <a:ea typeface="Arial"/>
              <a:cs typeface="Arial"/>
              <a:sym typeface="Arial"/>
            </a:endParaRPr>
          </a:p>
        </p:txBody>
      </p:sp>
      <p:cxnSp>
        <p:nvCxnSpPr>
          <p:cNvPr id="119" name="Google Shape;119;p16"/>
          <p:cNvCxnSpPr/>
          <p:nvPr/>
        </p:nvCxnSpPr>
        <p:spPr>
          <a:xfrm flipH="1" rot="10800000">
            <a:off x="6206385" y="3353435"/>
            <a:ext cx="4828038" cy="295401"/>
          </a:xfrm>
          <a:prstGeom prst="straightConnector1">
            <a:avLst/>
          </a:prstGeom>
          <a:noFill/>
          <a:ln cap="flat" cmpd="sng" w="73025">
            <a:solidFill>
              <a:schemeClr val="accent2"/>
            </a:solidFill>
            <a:prstDash val="solid"/>
            <a:miter lim="800000"/>
            <a:headEnd len="sm" w="sm" type="none"/>
            <a:tailEnd len="sm" w="sm" type="none"/>
          </a:ln>
        </p:spPr>
      </p:cxnSp>
      <p:sp>
        <p:nvSpPr>
          <p:cNvPr id="120" name="Google Shape;120;p16"/>
          <p:cNvSpPr txBox="1"/>
          <p:nvPr/>
        </p:nvSpPr>
        <p:spPr>
          <a:xfrm>
            <a:off x="2298970" y="2810199"/>
            <a:ext cx="2712234" cy="1002797"/>
          </a:xfrm>
          <a:prstGeom prst="rect">
            <a:avLst/>
          </a:prstGeom>
          <a:solidFill>
            <a:srgbClr val="DDEAF6">
              <a:alpha val="60784"/>
            </a:srgbClr>
          </a:solidFill>
          <a:ln cap="flat" cmpd="sng" w="76200">
            <a:solidFill>
              <a:schemeClr val="accent1"/>
            </a:solidFill>
            <a:prstDash val="solid"/>
            <a:round/>
            <a:headEnd len="sm" w="sm" type="none"/>
            <a:tailEnd len="sm" w="sm" type="none"/>
          </a:ln>
        </p:spPr>
        <p:txBody>
          <a:bodyPr anchorCtr="0" anchor="b" bIns="45700" lIns="91425" spcFirstLastPara="1" rIns="91425" wrap="square" tIns="45700">
            <a:noAutofit/>
          </a:bodyPr>
          <a:lstStyle/>
          <a:p>
            <a:pPr indent="0" lvl="0" marL="0" marR="0" rtl="0" algn="ctr">
              <a:spcBef>
                <a:spcPts val="0"/>
              </a:spcBef>
              <a:spcAft>
                <a:spcPts val="0"/>
              </a:spcAft>
              <a:buNone/>
            </a:pPr>
            <a:r>
              <a:rPr b="1" lang="en-US" sz="5400">
                <a:solidFill>
                  <a:schemeClr val="accent1"/>
                </a:solidFill>
                <a:latin typeface="Avenir"/>
                <a:ea typeface="Avenir"/>
                <a:cs typeface="Avenir"/>
                <a:sym typeface="Avenir"/>
              </a:rPr>
              <a:t>50,000</a:t>
            </a:r>
            <a:endParaRPr/>
          </a:p>
        </p:txBody>
      </p:sp>
      <p:sp>
        <p:nvSpPr>
          <p:cNvPr id="121" name="Google Shape;121;p16"/>
          <p:cNvSpPr txBox="1"/>
          <p:nvPr/>
        </p:nvSpPr>
        <p:spPr>
          <a:xfrm>
            <a:off x="6892066" y="2317184"/>
            <a:ext cx="2712234" cy="1002797"/>
          </a:xfrm>
          <a:prstGeom prst="rect">
            <a:avLst/>
          </a:prstGeom>
          <a:solidFill>
            <a:srgbClr val="DDEAF6">
              <a:alpha val="60784"/>
            </a:srgbClr>
          </a:solidFill>
          <a:ln cap="flat" cmpd="sng" w="76200">
            <a:solidFill>
              <a:schemeClr val="accent1"/>
            </a:solidFill>
            <a:prstDash val="solid"/>
            <a:round/>
            <a:headEnd len="sm" w="sm" type="none"/>
            <a:tailEnd len="sm" w="sm" type="none"/>
          </a:ln>
        </p:spPr>
        <p:txBody>
          <a:bodyPr anchorCtr="0" anchor="b" bIns="45700" lIns="91425" spcFirstLastPara="1" rIns="91425" wrap="square" tIns="45700">
            <a:noAutofit/>
          </a:bodyPr>
          <a:lstStyle/>
          <a:p>
            <a:pPr indent="0" lvl="0" marL="0" marR="0" rtl="0" algn="ctr">
              <a:spcBef>
                <a:spcPts val="0"/>
              </a:spcBef>
              <a:spcAft>
                <a:spcPts val="0"/>
              </a:spcAft>
              <a:buNone/>
            </a:pPr>
            <a:r>
              <a:rPr b="1" lang="en-US" sz="5400">
                <a:solidFill>
                  <a:schemeClr val="accent1"/>
                </a:solidFill>
                <a:latin typeface="Avenir"/>
                <a:ea typeface="Avenir"/>
                <a:cs typeface="Avenir"/>
                <a:sym typeface="Avenir"/>
              </a:rPr>
              <a:t>30,000</a:t>
            </a:r>
            <a:endParaRPr/>
          </a:p>
        </p:txBody>
      </p:sp>
      <p:sp>
        <p:nvSpPr>
          <p:cNvPr id="122" name="Google Shape;122;p16"/>
          <p:cNvSpPr txBox="1"/>
          <p:nvPr/>
        </p:nvSpPr>
        <p:spPr>
          <a:xfrm>
            <a:off x="7838952" y="4245641"/>
            <a:ext cx="2712234" cy="1002797"/>
          </a:xfrm>
          <a:prstGeom prst="rect">
            <a:avLst/>
          </a:prstGeom>
          <a:solidFill>
            <a:srgbClr val="DDEAF6">
              <a:alpha val="60784"/>
            </a:srgbClr>
          </a:solidFill>
          <a:ln cap="flat" cmpd="sng" w="76200">
            <a:solidFill>
              <a:schemeClr val="accent1"/>
            </a:solidFill>
            <a:prstDash val="solid"/>
            <a:round/>
            <a:headEnd len="sm" w="sm" type="none"/>
            <a:tailEnd len="sm" w="sm" type="none"/>
          </a:ln>
        </p:spPr>
        <p:txBody>
          <a:bodyPr anchorCtr="0" anchor="b" bIns="45700" lIns="91425" spcFirstLastPara="1" rIns="91425" wrap="square" tIns="45700">
            <a:noAutofit/>
          </a:bodyPr>
          <a:lstStyle/>
          <a:p>
            <a:pPr indent="0" lvl="0" marL="0" marR="0" rtl="0" algn="ctr">
              <a:spcBef>
                <a:spcPts val="0"/>
              </a:spcBef>
              <a:spcAft>
                <a:spcPts val="0"/>
              </a:spcAft>
              <a:buNone/>
            </a:pPr>
            <a:r>
              <a:rPr b="1" lang="en-US" sz="5400">
                <a:solidFill>
                  <a:schemeClr val="accent1"/>
                </a:solidFill>
                <a:latin typeface="Avenir"/>
                <a:ea typeface="Avenir"/>
                <a:cs typeface="Avenir"/>
                <a:sym typeface="Avenir"/>
              </a:rPr>
              <a:t>20,000</a:t>
            </a:r>
            <a:endParaRPr/>
          </a:p>
        </p:txBody>
      </p:sp>
      <p:sp>
        <p:nvSpPr>
          <p:cNvPr id="123" name="Google Shape;123;p16"/>
          <p:cNvSpPr txBox="1"/>
          <p:nvPr/>
        </p:nvSpPr>
        <p:spPr>
          <a:xfrm>
            <a:off x="6892066" y="3336520"/>
            <a:ext cx="1185222" cy="1002797"/>
          </a:xfrm>
          <a:prstGeom prst="rect">
            <a:avLst/>
          </a:prstGeom>
          <a:solidFill>
            <a:srgbClr val="DDEAF6">
              <a:alpha val="0"/>
            </a:srgbClr>
          </a:solidFill>
          <a:ln>
            <a:noFill/>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11500">
                <a:solidFill>
                  <a:schemeClr val="accent1"/>
                </a:solidFill>
                <a:latin typeface="Avenir"/>
                <a:ea typeface="Avenir"/>
                <a:cs typeface="Avenir"/>
                <a:sym typeface="Avenir"/>
              </a:rPr>
              <a:t>+</a:t>
            </a:r>
            <a:endParaRPr/>
          </a:p>
        </p:txBody>
      </p:sp>
      <p:sp>
        <p:nvSpPr>
          <p:cNvPr id="124" name="Google Shape;124;p16"/>
          <p:cNvSpPr txBox="1"/>
          <p:nvPr/>
        </p:nvSpPr>
        <p:spPr>
          <a:xfrm>
            <a:off x="5575674" y="3127510"/>
            <a:ext cx="1185222" cy="1002797"/>
          </a:xfrm>
          <a:prstGeom prst="rect">
            <a:avLst/>
          </a:prstGeom>
          <a:solidFill>
            <a:srgbClr val="DDEAF6">
              <a:alpha val="0"/>
            </a:srgbClr>
          </a:solidFill>
          <a:ln>
            <a:noFill/>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11500">
                <a:solidFill>
                  <a:schemeClr val="accent1"/>
                </a:solidFill>
                <a:latin typeface="Avenir"/>
                <a:ea typeface="Avenir"/>
                <a:cs typeface="Avenir"/>
                <a:sym typeface="Avenir"/>
              </a:rPr>
              <a:t>=</a:t>
            </a:r>
            <a:endParaRPr/>
          </a:p>
        </p:txBody>
      </p:sp>
      <p:sp>
        <p:nvSpPr>
          <p:cNvPr id="125" name="Google Shape;125;p16"/>
          <p:cNvSpPr txBox="1"/>
          <p:nvPr/>
        </p:nvSpPr>
        <p:spPr>
          <a:xfrm>
            <a:off x="3655087" y="500757"/>
            <a:ext cx="5247162" cy="5232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2800">
                <a:solidFill>
                  <a:schemeClr val="accent1"/>
                </a:solidFill>
                <a:latin typeface="Avenir"/>
                <a:ea typeface="Avenir"/>
                <a:cs typeface="Avenir"/>
                <a:sym typeface="Avenir"/>
              </a:rPr>
              <a:t>My Supermarket Limited</a:t>
            </a:r>
            <a:endParaRPr/>
          </a:p>
        </p:txBody>
      </p:sp>
    </p:spTree>
  </p:cSld>
  <p:clrMapOvr>
    <a:masterClrMapping/>
  </p:clrMapOvr>
  <mc:AlternateContent>
    <mc:Choice Requires="p14">
      <p:transition spd="slow" p14:dur="700">
        <p:fade/>
      </p:transition>
    </mc:Choice>
    <mc:Fallback>
      <p:transition spd="slow">
        <p:fade/>
      </p:transition>
    </mc:Fallback>
  </mc:AlternateContent>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20"/>
                                        </p:tgtEl>
                                        <p:attrNameLst>
                                          <p:attrName>style.visibility</p:attrName>
                                        </p:attrNameLst>
                                      </p:cBhvr>
                                      <p:to>
                                        <p:strVal val="visible"/>
                                      </p:to>
                                    </p:set>
                                    <p:animEffect filter="fade" transition="in">
                                      <p:cBhvr>
                                        <p:cTn dur="500"/>
                                        <p:tgtEl>
                                          <p:spTgt spid="12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21"/>
                                        </p:tgtEl>
                                        <p:attrNameLst>
                                          <p:attrName>style.visibility</p:attrName>
                                        </p:attrNameLst>
                                      </p:cBhvr>
                                      <p:to>
                                        <p:strVal val="visible"/>
                                      </p:to>
                                    </p:set>
                                    <p:animEffect filter="fade" transition="in">
                                      <p:cBhvr>
                                        <p:cTn dur="500"/>
                                        <p:tgtEl>
                                          <p:spTgt spid="121"/>
                                        </p:tgtEl>
                                      </p:cBhvr>
                                    </p:animEffect>
                                  </p:childTnLst>
                                </p:cTn>
                              </p:par>
                            </p:childTnLst>
                          </p:cTn>
                        </p:par>
                        <p:par>
                          <p:cTn fill="hold">
                            <p:stCondLst>
                              <p:cond delay="500"/>
                            </p:stCondLst>
                            <p:childTnLst>
                              <p:par>
                                <p:cTn fill="hold" nodeType="afterEffect" presetClass="entr" presetID="10" presetSubtype="0">
                                  <p:stCondLst>
                                    <p:cond delay="1500"/>
                                  </p:stCondLst>
                                  <p:childTnLst>
                                    <p:set>
                                      <p:cBhvr>
                                        <p:cTn dur="1" fill="hold">
                                          <p:stCondLst>
                                            <p:cond delay="0"/>
                                          </p:stCondLst>
                                        </p:cTn>
                                        <p:tgtEl>
                                          <p:spTgt spid="117"/>
                                        </p:tgtEl>
                                        <p:attrNameLst>
                                          <p:attrName>style.visibility</p:attrName>
                                        </p:attrNameLst>
                                      </p:cBhvr>
                                      <p:to>
                                        <p:strVal val="visible"/>
                                      </p:to>
                                    </p:set>
                                    <p:animEffect filter="fade" transition="in">
                                      <p:cBhvr>
                                        <p:cTn dur="500"/>
                                        <p:tgtEl>
                                          <p:spTgt spid="117"/>
                                        </p:tgtEl>
                                      </p:cBhvr>
                                    </p:animEffect>
                                  </p:childTnLst>
                                </p:cTn>
                              </p:par>
                              <p:par>
                                <p:cTn fill="hold" nodeType="withEffect" presetClass="entr" presetID="10" presetSubtype="0">
                                  <p:stCondLst>
                                    <p:cond delay="0"/>
                                  </p:stCondLst>
                                  <p:childTnLst>
                                    <p:set>
                                      <p:cBhvr>
                                        <p:cTn dur="1" fill="hold">
                                          <p:stCondLst>
                                            <p:cond delay="0"/>
                                          </p:stCondLst>
                                        </p:cTn>
                                        <p:tgtEl>
                                          <p:spTgt spid="119"/>
                                        </p:tgtEl>
                                        <p:attrNameLst>
                                          <p:attrName>style.visibility</p:attrName>
                                        </p:attrNameLst>
                                      </p:cBhvr>
                                      <p:to>
                                        <p:strVal val="visible"/>
                                      </p:to>
                                    </p:set>
                                    <p:animEffect filter="fade" transition="in">
                                      <p:cBhvr>
                                        <p:cTn dur="500"/>
                                        <p:tgtEl>
                                          <p:spTgt spid="11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22"/>
                                        </p:tgtEl>
                                        <p:attrNameLst>
                                          <p:attrName>style.visibility</p:attrName>
                                        </p:attrNameLst>
                                      </p:cBhvr>
                                      <p:to>
                                        <p:strVal val="visible"/>
                                      </p:to>
                                    </p:set>
                                    <p:animEffect filter="fade" transition="in">
                                      <p:cBhvr>
                                        <p:cTn dur="500"/>
                                        <p:tgtEl>
                                          <p:spTgt spid="122"/>
                                        </p:tgtEl>
                                      </p:cBhvr>
                                    </p:animEffect>
                                  </p:childTnLst>
                                </p:cTn>
                              </p:par>
                            </p:childTnLst>
                          </p:cTn>
                        </p:par>
                        <p:par>
                          <p:cTn fill="hold">
                            <p:stCondLst>
                              <p:cond delay="500"/>
                            </p:stCondLst>
                            <p:childTnLst>
                              <p:par>
                                <p:cTn fill="hold" nodeType="afterEffect" presetClass="entr" presetID="10" presetSubtype="0">
                                  <p:stCondLst>
                                    <p:cond delay="1500"/>
                                  </p:stCondLst>
                                  <p:childTnLst>
                                    <p:set>
                                      <p:cBhvr>
                                        <p:cTn dur="1" fill="hold">
                                          <p:stCondLst>
                                            <p:cond delay="0"/>
                                          </p:stCondLst>
                                        </p:cTn>
                                        <p:tgtEl>
                                          <p:spTgt spid="118"/>
                                        </p:tgtEl>
                                        <p:attrNameLst>
                                          <p:attrName>style.visibility</p:attrName>
                                        </p:attrNameLst>
                                      </p:cBhvr>
                                      <p:to>
                                        <p:strVal val="visible"/>
                                      </p:to>
                                    </p:set>
                                    <p:animEffect filter="fade" transition="in">
                                      <p:cBhvr>
                                        <p:cTn dur="500"/>
                                        <p:tgtEl>
                                          <p:spTgt spid="11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5"/>
                                        </p:tgtEl>
                                        <p:attrNameLst>
                                          <p:attrName>style.visibility</p:attrName>
                                        </p:attrNameLst>
                                      </p:cBhvr>
                                      <p:to>
                                        <p:strVal val="visible"/>
                                      </p:to>
                                    </p:set>
                                    <p:animEffect filter="fade" transition="in">
                                      <p:cBhvr>
                                        <p:cTn dur="500"/>
                                        <p:tgtEl>
                                          <p:spTgt spid="115"/>
                                        </p:tgtEl>
                                      </p:cBhvr>
                                    </p:animEffect>
                                  </p:childTnLst>
                                </p:cTn>
                              </p:par>
                              <p:par>
                                <p:cTn fill="hold" nodeType="withEffect" presetClass="entr" presetID="10" presetSubtype="0">
                                  <p:stCondLst>
                                    <p:cond delay="0"/>
                                  </p:stCondLst>
                                  <p:childTnLst>
                                    <p:set>
                                      <p:cBhvr>
                                        <p:cTn dur="1" fill="hold">
                                          <p:stCondLst>
                                            <p:cond delay="0"/>
                                          </p:stCondLst>
                                        </p:cTn>
                                        <p:tgtEl>
                                          <p:spTgt spid="116"/>
                                        </p:tgtEl>
                                        <p:attrNameLst>
                                          <p:attrName>style.visibility</p:attrName>
                                        </p:attrNameLst>
                                      </p:cBhvr>
                                      <p:to>
                                        <p:strVal val="visible"/>
                                      </p:to>
                                    </p:set>
                                    <p:animEffect filter="fade" transition="in">
                                      <p:cBhvr>
                                        <p:cTn dur="500"/>
                                        <p:tgtEl>
                                          <p:spTgt spid="116"/>
                                        </p:tgtEl>
                                      </p:cBhvr>
                                    </p:animEffect>
                                  </p:childTnLst>
                                </p:cTn>
                              </p:par>
                            </p:childTnLst>
                          </p:cTn>
                        </p:par>
                        <p:par>
                          <p:cTn fill="hold">
                            <p:stCondLst>
                              <p:cond delay="500"/>
                            </p:stCondLst>
                            <p:childTnLst>
                              <p:par>
                                <p:cTn fill="hold" nodeType="afterEffect" presetClass="entr" presetID="10" presetSubtype="0">
                                  <p:stCondLst>
                                    <p:cond delay="1000"/>
                                  </p:stCondLst>
                                  <p:childTnLst>
                                    <p:set>
                                      <p:cBhvr>
                                        <p:cTn dur="1" fill="hold">
                                          <p:stCondLst>
                                            <p:cond delay="0"/>
                                          </p:stCondLst>
                                        </p:cTn>
                                        <p:tgtEl>
                                          <p:spTgt spid="123"/>
                                        </p:tgtEl>
                                        <p:attrNameLst>
                                          <p:attrName>style.visibility</p:attrName>
                                        </p:attrNameLst>
                                      </p:cBhvr>
                                      <p:to>
                                        <p:strVal val="visible"/>
                                      </p:to>
                                    </p:set>
                                    <p:animEffect filter="fade" transition="in">
                                      <p:cBhvr>
                                        <p:cTn dur="500"/>
                                        <p:tgtEl>
                                          <p:spTgt spid="123"/>
                                        </p:tgtEl>
                                      </p:cBhvr>
                                    </p:animEffect>
                                  </p:childTnLst>
                                </p:cTn>
                              </p:par>
                              <p:par>
                                <p:cTn fill="hold" nodeType="withEffect" presetClass="entr" presetID="10" presetSubtype="0">
                                  <p:stCondLst>
                                    <p:cond delay="0"/>
                                  </p:stCondLst>
                                  <p:childTnLst>
                                    <p:set>
                                      <p:cBhvr>
                                        <p:cTn dur="1" fill="hold">
                                          <p:stCondLst>
                                            <p:cond delay="0"/>
                                          </p:stCondLst>
                                        </p:cTn>
                                        <p:tgtEl>
                                          <p:spTgt spid="124"/>
                                        </p:tgtEl>
                                        <p:attrNameLst>
                                          <p:attrName>style.visibility</p:attrName>
                                        </p:attrNameLst>
                                      </p:cBhvr>
                                      <p:to>
                                        <p:strVal val="visible"/>
                                      </p:to>
                                    </p:set>
                                    <p:animEffect filter="fade" transition="in">
                                      <p:cBhvr>
                                        <p:cTn dur="500"/>
                                        <p:tgtEl>
                                          <p:spTgt spid="12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 name="Shape 130"/>
        <p:cNvGrpSpPr/>
        <p:nvPr/>
      </p:nvGrpSpPr>
      <p:grpSpPr>
        <a:xfrm>
          <a:off x="0" y="0"/>
          <a:ext cx="0" cy="0"/>
          <a:chOff x="0" y="0"/>
          <a:chExt cx="0" cy="0"/>
        </a:xfrm>
      </p:grpSpPr>
      <p:sp>
        <p:nvSpPr>
          <p:cNvPr id="131" name="Google Shape;131;p17"/>
          <p:cNvSpPr/>
          <p:nvPr/>
        </p:nvSpPr>
        <p:spPr>
          <a:xfrm rot="5400000">
            <a:off x="1850074" y="544177"/>
            <a:ext cx="3294999" cy="5044439"/>
          </a:xfrm>
          <a:prstGeom prst="trapezoid">
            <a:avLst>
              <a:gd fmla="val 8004" name="adj"/>
            </a:avLst>
          </a:prstGeom>
          <a:solidFill>
            <a:srgbClr val="A8D08C"/>
          </a:solidFill>
          <a:ln cap="flat" cmpd="sng" w="76200">
            <a:solidFill>
              <a:srgbClr val="548135"/>
            </a:solidFill>
            <a:prstDash val="solid"/>
            <a:miter lim="80000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p17"/>
          <p:cNvSpPr txBox="1"/>
          <p:nvPr/>
        </p:nvSpPr>
        <p:spPr>
          <a:xfrm>
            <a:off x="975330" y="1594716"/>
            <a:ext cx="4775268" cy="2943357"/>
          </a:xfrm>
          <a:prstGeom prst="rect">
            <a:avLst/>
          </a:prstGeom>
          <a:noFill/>
          <a:ln>
            <a:noFill/>
          </a:ln>
        </p:spPr>
        <p:txBody>
          <a:bodyPr anchorCtr="0" anchor="ctr" bIns="45700" lIns="91425" spcFirstLastPara="1" rIns="91425" wrap="square" tIns="45700">
            <a:noAutofit/>
          </a:bodyPr>
          <a:lstStyle/>
          <a:p>
            <a:pPr indent="0" lvl="0" marL="234950" marR="0" rtl="0" algn="ctr">
              <a:spcBef>
                <a:spcPts val="0"/>
              </a:spcBef>
              <a:spcAft>
                <a:spcPts val="0"/>
              </a:spcAft>
              <a:buNone/>
            </a:pPr>
            <a:r>
              <a:t/>
            </a:r>
            <a:endParaRPr sz="3600">
              <a:solidFill>
                <a:srgbClr val="385623"/>
              </a:solidFill>
              <a:latin typeface="Calibri"/>
              <a:ea typeface="Calibri"/>
              <a:cs typeface="Calibri"/>
              <a:sym typeface="Calibri"/>
            </a:endParaRPr>
          </a:p>
        </p:txBody>
      </p:sp>
      <p:sp>
        <p:nvSpPr>
          <p:cNvPr id="133" name="Google Shape;133;p17"/>
          <p:cNvSpPr/>
          <p:nvPr/>
        </p:nvSpPr>
        <p:spPr>
          <a:xfrm rot="-5400000">
            <a:off x="7153155" y="558774"/>
            <a:ext cx="3294999" cy="5044439"/>
          </a:xfrm>
          <a:prstGeom prst="trapezoid">
            <a:avLst>
              <a:gd fmla="val 8004" name="adj"/>
            </a:avLst>
          </a:prstGeom>
          <a:solidFill>
            <a:srgbClr val="FFD966"/>
          </a:solidFill>
          <a:ln cap="flat" cmpd="sng" w="76200">
            <a:solidFill>
              <a:schemeClr val="accent2"/>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4" name="Google Shape;134;p17"/>
          <p:cNvSpPr txBox="1"/>
          <p:nvPr/>
        </p:nvSpPr>
        <p:spPr>
          <a:xfrm>
            <a:off x="1278173" y="1655611"/>
            <a:ext cx="2127177" cy="584775"/>
          </a:xfrm>
          <a:prstGeom prst="rect">
            <a:avLst/>
          </a:prstGeom>
          <a:solidFill>
            <a:schemeClr val="lt1">
              <a:alpha val="85882"/>
            </a:schemeClr>
          </a:solidFill>
          <a:ln cap="flat" cmpd="sng" w="25400">
            <a:solidFill>
              <a:schemeClr val="accent6"/>
            </a:solidFill>
            <a:prstDash val="solid"/>
            <a:round/>
            <a:headEnd len="sm" w="sm" type="none"/>
            <a:tailEnd len="sm" w="sm" type="none"/>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3200">
                <a:solidFill>
                  <a:schemeClr val="accent6"/>
                </a:solidFill>
                <a:latin typeface="Arial"/>
                <a:ea typeface="Arial"/>
                <a:cs typeface="Arial"/>
                <a:sym typeface="Arial"/>
              </a:rPr>
              <a:t>Assets</a:t>
            </a:r>
            <a:endParaRPr b="1" sz="2400">
              <a:solidFill>
                <a:schemeClr val="accent6"/>
              </a:solidFill>
              <a:latin typeface="Arial"/>
              <a:ea typeface="Arial"/>
              <a:cs typeface="Arial"/>
              <a:sym typeface="Arial"/>
            </a:endParaRPr>
          </a:p>
        </p:txBody>
      </p:sp>
      <p:sp>
        <p:nvSpPr>
          <p:cNvPr id="135" name="Google Shape;135;p17"/>
          <p:cNvSpPr txBox="1"/>
          <p:nvPr/>
        </p:nvSpPr>
        <p:spPr>
          <a:xfrm>
            <a:off x="3655087" y="500757"/>
            <a:ext cx="5247162" cy="5232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2800">
                <a:solidFill>
                  <a:schemeClr val="accent1"/>
                </a:solidFill>
                <a:latin typeface="Avenir"/>
                <a:ea typeface="Avenir"/>
                <a:cs typeface="Avenir"/>
                <a:sym typeface="Avenir"/>
              </a:rPr>
              <a:t>My Supermarket Limited</a:t>
            </a:r>
            <a:endParaRPr/>
          </a:p>
        </p:txBody>
      </p:sp>
      <p:cxnSp>
        <p:nvCxnSpPr>
          <p:cNvPr id="136" name="Google Shape;136;p17"/>
          <p:cNvCxnSpPr/>
          <p:nvPr/>
        </p:nvCxnSpPr>
        <p:spPr>
          <a:xfrm>
            <a:off x="3695012" y="1023977"/>
            <a:ext cx="5247163" cy="0"/>
          </a:xfrm>
          <a:prstGeom prst="straightConnector1">
            <a:avLst/>
          </a:prstGeom>
          <a:noFill/>
          <a:ln cap="flat" cmpd="sng" w="28575">
            <a:solidFill>
              <a:schemeClr val="accent1"/>
            </a:solidFill>
            <a:prstDash val="dot"/>
            <a:miter lim="800000"/>
            <a:headEnd len="sm" w="sm" type="none"/>
            <a:tailEnd len="sm" w="sm" type="none"/>
          </a:ln>
        </p:spPr>
      </p:cxnSp>
      <p:sp>
        <p:nvSpPr>
          <p:cNvPr id="137" name="Google Shape;137;p17"/>
          <p:cNvSpPr txBox="1"/>
          <p:nvPr/>
        </p:nvSpPr>
        <p:spPr>
          <a:xfrm rot="164264">
            <a:off x="882382" y="1017108"/>
            <a:ext cx="2218877"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400">
                <a:solidFill>
                  <a:schemeClr val="accent6"/>
                </a:solidFill>
                <a:latin typeface="Avenir"/>
                <a:ea typeface="Avenir"/>
                <a:cs typeface="Avenir"/>
                <a:sym typeface="Avenir"/>
              </a:rPr>
              <a:t>Uses of funds</a:t>
            </a:r>
            <a:endParaRPr/>
          </a:p>
        </p:txBody>
      </p:sp>
      <p:sp>
        <p:nvSpPr>
          <p:cNvPr id="138" name="Google Shape;138;p17"/>
          <p:cNvSpPr txBox="1"/>
          <p:nvPr/>
        </p:nvSpPr>
        <p:spPr>
          <a:xfrm rot="-173359">
            <a:off x="8755317" y="1056410"/>
            <a:ext cx="2696572"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400">
                <a:solidFill>
                  <a:schemeClr val="accent2"/>
                </a:solidFill>
                <a:latin typeface="Avenir"/>
                <a:ea typeface="Avenir"/>
                <a:cs typeface="Avenir"/>
                <a:sym typeface="Avenir"/>
              </a:rPr>
              <a:t>Sources of funds</a:t>
            </a:r>
            <a:endParaRPr/>
          </a:p>
        </p:txBody>
      </p:sp>
      <p:sp>
        <p:nvSpPr>
          <p:cNvPr id="139" name="Google Shape;139;p17"/>
          <p:cNvSpPr txBox="1"/>
          <p:nvPr/>
        </p:nvSpPr>
        <p:spPr>
          <a:xfrm>
            <a:off x="9040015" y="1664449"/>
            <a:ext cx="2127177" cy="584775"/>
          </a:xfrm>
          <a:prstGeom prst="rect">
            <a:avLst/>
          </a:prstGeom>
          <a:solidFill>
            <a:schemeClr val="lt1">
              <a:alpha val="74901"/>
            </a:schemeClr>
          </a:solidFill>
          <a:ln cap="flat" cmpd="sng" w="25400">
            <a:solidFill>
              <a:schemeClr val="accent2"/>
            </a:solidFill>
            <a:prstDash val="solid"/>
            <a:round/>
            <a:headEnd len="sm" w="sm" type="none"/>
            <a:tailEnd len="sm" w="sm" type="none"/>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3200">
                <a:solidFill>
                  <a:schemeClr val="accent2"/>
                </a:solidFill>
                <a:latin typeface="Arial"/>
                <a:ea typeface="Arial"/>
                <a:cs typeface="Arial"/>
                <a:sym typeface="Arial"/>
              </a:rPr>
              <a:t>Liabilities</a:t>
            </a:r>
            <a:endParaRPr b="1" sz="2400">
              <a:solidFill>
                <a:schemeClr val="accent2"/>
              </a:solidFill>
              <a:latin typeface="Arial"/>
              <a:ea typeface="Arial"/>
              <a:cs typeface="Arial"/>
              <a:sym typeface="Arial"/>
            </a:endParaRPr>
          </a:p>
        </p:txBody>
      </p:sp>
      <p:sp>
        <p:nvSpPr>
          <p:cNvPr id="140" name="Google Shape;140;p17"/>
          <p:cNvSpPr txBox="1"/>
          <p:nvPr/>
        </p:nvSpPr>
        <p:spPr>
          <a:xfrm>
            <a:off x="8925894" y="3223299"/>
            <a:ext cx="2127177" cy="584775"/>
          </a:xfrm>
          <a:prstGeom prst="rect">
            <a:avLst/>
          </a:prstGeom>
          <a:solidFill>
            <a:schemeClr val="lt1">
              <a:alpha val="74901"/>
            </a:schemeClr>
          </a:solidFill>
          <a:ln cap="flat" cmpd="sng" w="25400">
            <a:solidFill>
              <a:schemeClr val="accent2"/>
            </a:solidFill>
            <a:prstDash val="solid"/>
            <a:round/>
            <a:headEnd len="sm" w="sm" type="none"/>
            <a:tailEnd len="sm" w="sm" type="none"/>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3200">
                <a:solidFill>
                  <a:schemeClr val="accent2"/>
                </a:solidFill>
                <a:latin typeface="Arial"/>
                <a:ea typeface="Arial"/>
                <a:cs typeface="Arial"/>
                <a:sym typeface="Arial"/>
              </a:rPr>
              <a:t>Equity</a:t>
            </a:r>
            <a:endParaRPr b="1" sz="2400">
              <a:solidFill>
                <a:schemeClr val="accent2"/>
              </a:solidFill>
              <a:latin typeface="Arial"/>
              <a:ea typeface="Arial"/>
              <a:cs typeface="Arial"/>
              <a:sym typeface="Arial"/>
            </a:endParaRPr>
          </a:p>
        </p:txBody>
      </p:sp>
      <p:cxnSp>
        <p:nvCxnSpPr>
          <p:cNvPr id="141" name="Google Shape;141;p17"/>
          <p:cNvCxnSpPr/>
          <p:nvPr/>
        </p:nvCxnSpPr>
        <p:spPr>
          <a:xfrm flipH="1" rot="10800000">
            <a:off x="6205001" y="3064955"/>
            <a:ext cx="5117873" cy="32078"/>
          </a:xfrm>
          <a:prstGeom prst="straightConnector1">
            <a:avLst/>
          </a:prstGeom>
          <a:noFill/>
          <a:ln cap="flat" cmpd="sng" w="73025">
            <a:solidFill>
              <a:schemeClr val="accent2"/>
            </a:solidFill>
            <a:prstDash val="solid"/>
            <a:miter lim="800000"/>
            <a:headEnd len="sm" w="sm" type="none"/>
            <a:tailEnd len="sm" w="sm" type="none"/>
          </a:ln>
        </p:spPr>
      </p:cxnSp>
      <p:sp>
        <p:nvSpPr>
          <p:cNvPr id="142" name="Google Shape;142;p17"/>
          <p:cNvSpPr txBox="1"/>
          <p:nvPr/>
        </p:nvSpPr>
        <p:spPr>
          <a:xfrm>
            <a:off x="2754417" y="2662885"/>
            <a:ext cx="2187917" cy="726551"/>
          </a:xfrm>
          <a:prstGeom prst="rect">
            <a:avLst/>
          </a:prstGeom>
          <a:solidFill>
            <a:srgbClr val="DDEAF6">
              <a:alpha val="60784"/>
            </a:srgbClr>
          </a:solidFill>
          <a:ln cap="flat" cmpd="sng" w="5080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4000">
                <a:solidFill>
                  <a:schemeClr val="accent1"/>
                </a:solidFill>
                <a:latin typeface="Avenir"/>
                <a:ea typeface="Avenir"/>
                <a:cs typeface="Avenir"/>
                <a:sym typeface="Avenir"/>
              </a:rPr>
              <a:t>50,000</a:t>
            </a:r>
            <a:endParaRPr/>
          </a:p>
        </p:txBody>
      </p:sp>
      <p:sp>
        <p:nvSpPr>
          <p:cNvPr id="143" name="Google Shape;143;p17"/>
          <p:cNvSpPr txBox="1"/>
          <p:nvPr/>
        </p:nvSpPr>
        <p:spPr>
          <a:xfrm>
            <a:off x="6615853" y="2088982"/>
            <a:ext cx="2187917" cy="726551"/>
          </a:xfrm>
          <a:prstGeom prst="rect">
            <a:avLst/>
          </a:prstGeom>
          <a:solidFill>
            <a:srgbClr val="DDEAF6">
              <a:alpha val="60784"/>
            </a:srgbClr>
          </a:solidFill>
          <a:ln cap="flat" cmpd="sng" w="5080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4000">
                <a:solidFill>
                  <a:schemeClr val="accent1"/>
                </a:solidFill>
                <a:latin typeface="Avenir"/>
                <a:ea typeface="Avenir"/>
                <a:cs typeface="Avenir"/>
                <a:sym typeface="Avenir"/>
              </a:rPr>
              <a:t>30,000</a:t>
            </a:r>
            <a:endParaRPr/>
          </a:p>
        </p:txBody>
      </p:sp>
      <p:sp>
        <p:nvSpPr>
          <p:cNvPr id="144" name="Google Shape;144;p17"/>
          <p:cNvSpPr txBox="1"/>
          <p:nvPr/>
        </p:nvSpPr>
        <p:spPr>
          <a:xfrm>
            <a:off x="6764756" y="3650109"/>
            <a:ext cx="2187917" cy="726551"/>
          </a:xfrm>
          <a:prstGeom prst="rect">
            <a:avLst/>
          </a:prstGeom>
          <a:solidFill>
            <a:srgbClr val="DDEAF6">
              <a:alpha val="60784"/>
            </a:srgbClr>
          </a:solidFill>
          <a:ln cap="flat" cmpd="sng" w="5080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4000">
                <a:solidFill>
                  <a:schemeClr val="accent1"/>
                </a:solidFill>
                <a:latin typeface="Avenir"/>
                <a:ea typeface="Avenir"/>
                <a:cs typeface="Avenir"/>
                <a:sym typeface="Avenir"/>
              </a:rPr>
              <a:t>20,000</a:t>
            </a:r>
            <a:endParaRPr/>
          </a:p>
        </p:txBody>
      </p:sp>
      <p:sp>
        <p:nvSpPr>
          <p:cNvPr id="145" name="Google Shape;145;p17"/>
          <p:cNvSpPr txBox="1"/>
          <p:nvPr/>
        </p:nvSpPr>
        <p:spPr>
          <a:xfrm>
            <a:off x="7422931" y="2723649"/>
            <a:ext cx="1185222" cy="1002797"/>
          </a:xfrm>
          <a:prstGeom prst="rect">
            <a:avLst/>
          </a:prstGeom>
          <a:solidFill>
            <a:srgbClr val="DDEAF6">
              <a:alpha val="0"/>
            </a:srgbClr>
          </a:solidFill>
          <a:ln>
            <a:noFill/>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8800">
                <a:solidFill>
                  <a:schemeClr val="accent1"/>
                </a:solidFill>
                <a:latin typeface="Avenir"/>
                <a:ea typeface="Avenir"/>
                <a:cs typeface="Avenir"/>
                <a:sym typeface="Avenir"/>
              </a:rPr>
              <a:t>+</a:t>
            </a:r>
            <a:endParaRPr/>
          </a:p>
        </p:txBody>
      </p:sp>
      <p:sp>
        <p:nvSpPr>
          <p:cNvPr id="146" name="Google Shape;146;p17"/>
          <p:cNvSpPr txBox="1"/>
          <p:nvPr/>
        </p:nvSpPr>
        <p:spPr>
          <a:xfrm>
            <a:off x="5552494" y="2595634"/>
            <a:ext cx="1185222" cy="1002797"/>
          </a:xfrm>
          <a:prstGeom prst="rect">
            <a:avLst/>
          </a:prstGeom>
          <a:solidFill>
            <a:srgbClr val="DDEAF6">
              <a:alpha val="0"/>
            </a:srgbClr>
          </a:solidFill>
          <a:ln>
            <a:noFill/>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11500">
                <a:solidFill>
                  <a:schemeClr val="accent1"/>
                </a:solidFill>
                <a:latin typeface="Avenir"/>
                <a:ea typeface="Avenir"/>
                <a:cs typeface="Avenir"/>
                <a:sym typeface="Avenir"/>
              </a:rPr>
              <a:t>=</a:t>
            </a:r>
            <a:endParaRPr/>
          </a:p>
        </p:txBody>
      </p:sp>
      <p:sp>
        <p:nvSpPr>
          <p:cNvPr id="147" name="Google Shape;147;p17"/>
          <p:cNvSpPr/>
          <p:nvPr/>
        </p:nvSpPr>
        <p:spPr>
          <a:xfrm flipH="1">
            <a:off x="289248" y="5136221"/>
            <a:ext cx="2719036" cy="1462298"/>
          </a:xfrm>
          <a:prstGeom prst="wedgeRectCallout">
            <a:avLst>
              <a:gd fmla="val -38271" name="adj1"/>
              <a:gd fmla="val -145111" name="adj2"/>
            </a:avLst>
          </a:prstGeom>
          <a:solidFill>
            <a:srgbClr val="00B05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US" sz="2400">
                <a:solidFill>
                  <a:schemeClr val="lt1"/>
                </a:solidFill>
                <a:latin typeface="Avenir"/>
                <a:ea typeface="Avenir"/>
                <a:cs typeface="Avenir"/>
                <a:sym typeface="Avenir"/>
              </a:rPr>
              <a:t>The only place you will find anything of value</a:t>
            </a:r>
            <a:endParaRPr sz="2400">
              <a:solidFill>
                <a:schemeClr val="lt1"/>
              </a:solidFill>
              <a:latin typeface="Calibri"/>
              <a:ea typeface="Calibri"/>
              <a:cs typeface="Calibri"/>
              <a:sym typeface="Calibri"/>
            </a:endParaRPr>
          </a:p>
        </p:txBody>
      </p:sp>
      <p:sp>
        <p:nvSpPr>
          <p:cNvPr id="148" name="Google Shape;148;p17"/>
          <p:cNvSpPr/>
          <p:nvPr/>
        </p:nvSpPr>
        <p:spPr>
          <a:xfrm flipH="1">
            <a:off x="9159320" y="5132854"/>
            <a:ext cx="2719036" cy="1462298"/>
          </a:xfrm>
          <a:prstGeom prst="wedgeRectCallout">
            <a:avLst>
              <a:gd fmla="val 304" name="adj1"/>
              <a:gd fmla="val -103730"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US" sz="2400">
                <a:solidFill>
                  <a:schemeClr val="lt1"/>
                </a:solidFill>
                <a:latin typeface="Avenir"/>
                <a:ea typeface="Avenir"/>
                <a:cs typeface="Avenir"/>
                <a:sym typeface="Avenir"/>
              </a:rPr>
              <a:t>Equity and liabilities are </a:t>
            </a:r>
            <a:r>
              <a:rPr lang="en-US" sz="2400" u="sng">
                <a:solidFill>
                  <a:schemeClr val="lt1"/>
                </a:solidFill>
                <a:latin typeface="Avenir"/>
                <a:ea typeface="Avenir"/>
                <a:cs typeface="Avenir"/>
                <a:sym typeface="Avenir"/>
              </a:rPr>
              <a:t>never</a:t>
            </a:r>
            <a:r>
              <a:rPr lang="en-US" sz="2400">
                <a:solidFill>
                  <a:schemeClr val="lt1"/>
                </a:solidFill>
                <a:latin typeface="Avenir"/>
                <a:ea typeface="Avenir"/>
                <a:cs typeface="Avenir"/>
                <a:sym typeface="Avenir"/>
              </a:rPr>
              <a:t> valuable</a:t>
            </a:r>
            <a:endParaRPr sz="2400">
              <a:solidFill>
                <a:schemeClr val="lt1"/>
              </a:solidFill>
              <a:latin typeface="Calibri"/>
              <a:ea typeface="Calibri"/>
              <a:cs typeface="Calibri"/>
              <a:sym typeface="Calibri"/>
            </a:endParaRPr>
          </a:p>
        </p:txBody>
      </p:sp>
      <p:sp>
        <p:nvSpPr>
          <p:cNvPr id="149" name="Google Shape;149;p17"/>
          <p:cNvSpPr/>
          <p:nvPr/>
        </p:nvSpPr>
        <p:spPr>
          <a:xfrm flipH="1">
            <a:off x="9159320" y="5132855"/>
            <a:ext cx="2719036" cy="1462298"/>
          </a:xfrm>
          <a:prstGeom prst="wedgeRectCallout">
            <a:avLst>
              <a:gd fmla="val -17500" name="adj1"/>
              <a:gd fmla="val -221437"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US" sz="2400">
                <a:solidFill>
                  <a:schemeClr val="lt1"/>
                </a:solidFill>
                <a:latin typeface="Avenir"/>
                <a:ea typeface="Avenir"/>
                <a:cs typeface="Avenir"/>
                <a:sym typeface="Avenir"/>
              </a:rPr>
              <a:t>Equity and liabilities are </a:t>
            </a:r>
            <a:r>
              <a:rPr lang="en-US" sz="2400" u="sng">
                <a:solidFill>
                  <a:schemeClr val="lt1"/>
                </a:solidFill>
                <a:latin typeface="Avenir"/>
                <a:ea typeface="Avenir"/>
                <a:cs typeface="Avenir"/>
                <a:sym typeface="Avenir"/>
              </a:rPr>
              <a:t>never</a:t>
            </a:r>
            <a:r>
              <a:rPr lang="en-US" sz="2400">
                <a:solidFill>
                  <a:schemeClr val="lt1"/>
                </a:solidFill>
                <a:latin typeface="Avenir"/>
                <a:ea typeface="Avenir"/>
                <a:cs typeface="Avenir"/>
                <a:sym typeface="Avenir"/>
              </a:rPr>
              <a:t> valuable</a:t>
            </a:r>
            <a:endParaRPr sz="2400">
              <a:solidFill>
                <a:schemeClr val="lt1"/>
              </a:solidFill>
              <a:latin typeface="Calibri"/>
              <a:ea typeface="Calibri"/>
              <a:cs typeface="Calibri"/>
              <a:sym typeface="Calibri"/>
            </a:endParaRPr>
          </a:p>
        </p:txBody>
      </p:sp>
    </p:spTree>
  </p:cSld>
  <p:clrMapOvr>
    <a:masterClrMapping/>
  </p:clrMapOvr>
  <mc:AlternateContent>
    <mc:Choice Requires="p14">
      <p:transition spd="slow" p14:dur="700">
        <p:fade/>
      </p:transition>
    </mc:Choice>
    <mc:Fallback>
      <p:transition spd="slow">
        <p:fade/>
      </p:transition>
    </mc:Fallback>
  </mc:AlternateContent>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47"/>
                                        </p:tgtEl>
                                        <p:attrNameLst>
                                          <p:attrName>style.visibility</p:attrName>
                                        </p:attrNameLst>
                                      </p:cBhvr>
                                      <p:to>
                                        <p:strVal val="visible"/>
                                      </p:to>
                                    </p:set>
                                    <p:animEffect filter="fade" transition="in">
                                      <p:cBhvr>
                                        <p:cTn dur="500"/>
                                        <p:tgtEl>
                                          <p:spTgt spid="14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48"/>
                                        </p:tgtEl>
                                        <p:attrNameLst>
                                          <p:attrName>style.visibility</p:attrName>
                                        </p:attrNameLst>
                                      </p:cBhvr>
                                      <p:to>
                                        <p:strVal val="visible"/>
                                      </p:to>
                                    </p:set>
                                    <p:animEffect filter="fade" transition="in">
                                      <p:cBhvr>
                                        <p:cTn dur="500"/>
                                        <p:tgtEl>
                                          <p:spTgt spid="148"/>
                                        </p:tgtEl>
                                      </p:cBhvr>
                                    </p:animEffect>
                                  </p:childTnLst>
                                </p:cTn>
                              </p:par>
                              <p:par>
                                <p:cTn fill="hold" nodeType="withEffect" presetClass="entr" presetID="10" presetSubtype="0">
                                  <p:stCondLst>
                                    <p:cond delay="0"/>
                                  </p:stCondLst>
                                  <p:childTnLst>
                                    <p:set>
                                      <p:cBhvr>
                                        <p:cTn dur="1" fill="hold">
                                          <p:stCondLst>
                                            <p:cond delay="0"/>
                                          </p:stCondLst>
                                        </p:cTn>
                                        <p:tgtEl>
                                          <p:spTgt spid="149"/>
                                        </p:tgtEl>
                                        <p:attrNameLst>
                                          <p:attrName>style.visibility</p:attrName>
                                        </p:attrNameLst>
                                      </p:cBhvr>
                                      <p:to>
                                        <p:strVal val="visible"/>
                                      </p:to>
                                    </p:set>
                                    <p:animEffect filter="fade" transition="in">
                                      <p:cBhvr>
                                        <p:cTn dur="500"/>
                                        <p:tgtEl>
                                          <p:spTgt spid="14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xit" presetID="10" presetSubtype="0">
                                  <p:stCondLst>
                                    <p:cond delay="0"/>
                                  </p:stCondLst>
                                  <p:childTnLst>
                                    <p:animEffect filter="fade" transition="out">
                                      <p:cBhvr>
                                        <p:cTn dur="500"/>
                                        <p:tgtEl>
                                          <p:spTgt spid="148"/>
                                        </p:tgtEl>
                                      </p:cBhvr>
                                    </p:animEffect>
                                    <p:set>
                                      <p:cBhvr>
                                        <p:cTn dur="1" fill="hold">
                                          <p:stCondLst>
                                            <p:cond delay="500"/>
                                          </p:stCondLst>
                                        </p:cTn>
                                        <p:tgtEl>
                                          <p:spTgt spid="148"/>
                                        </p:tgtEl>
                                        <p:attrNameLst>
                                          <p:attrName>style.visibility</p:attrName>
                                        </p:attrNameLst>
                                      </p:cBhvr>
                                      <p:to>
                                        <p:strVal val="hidden"/>
                                      </p:to>
                                    </p:set>
                                  </p:childTnLst>
                                </p:cTn>
                              </p:par>
                              <p:par>
                                <p:cTn fill="hold" nodeType="withEffect" presetClass="exit" presetID="10" presetSubtype="0">
                                  <p:stCondLst>
                                    <p:cond delay="0"/>
                                  </p:stCondLst>
                                  <p:childTnLst>
                                    <p:animEffect filter="fade" transition="out">
                                      <p:cBhvr>
                                        <p:cTn dur="500"/>
                                        <p:tgtEl>
                                          <p:spTgt spid="149"/>
                                        </p:tgtEl>
                                      </p:cBhvr>
                                    </p:animEffect>
                                    <p:set>
                                      <p:cBhvr>
                                        <p:cTn dur="1" fill="hold">
                                          <p:stCondLst>
                                            <p:cond delay="500"/>
                                          </p:stCondLst>
                                        </p:cTn>
                                        <p:tgtEl>
                                          <p:spTgt spid="149"/>
                                        </p:tgtEl>
                                        <p:attrNameLst>
                                          <p:attrName>style.visibility</p:attrName>
                                        </p:attrNameLst>
                                      </p:cBhvr>
                                      <p:to>
                                        <p:strVal val="hidden"/>
                                      </p:to>
                                    </p:set>
                                  </p:childTnLst>
                                </p:cTn>
                              </p:par>
                              <p:par>
                                <p:cTn fill="hold" nodeType="withEffect" presetClass="exit" presetID="10" presetSubtype="0">
                                  <p:stCondLst>
                                    <p:cond delay="0"/>
                                  </p:stCondLst>
                                  <p:childTnLst>
                                    <p:animEffect filter="fade" transition="out">
                                      <p:cBhvr>
                                        <p:cTn dur="500"/>
                                        <p:tgtEl>
                                          <p:spTgt spid="147"/>
                                        </p:tgtEl>
                                      </p:cBhvr>
                                    </p:animEffect>
                                    <p:set>
                                      <p:cBhvr>
                                        <p:cTn dur="1" fill="hold">
                                          <p:stCondLst>
                                            <p:cond delay="500"/>
                                          </p:stCondLst>
                                        </p:cTn>
                                        <p:tgtEl>
                                          <p:spTgt spid="147"/>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18"/>
          <p:cNvSpPr/>
          <p:nvPr/>
        </p:nvSpPr>
        <p:spPr>
          <a:xfrm rot="5400000">
            <a:off x="1850074" y="544177"/>
            <a:ext cx="3294999" cy="5044439"/>
          </a:xfrm>
          <a:prstGeom prst="trapezoid">
            <a:avLst>
              <a:gd fmla="val 8004" name="adj"/>
            </a:avLst>
          </a:prstGeom>
          <a:solidFill>
            <a:srgbClr val="A8D08C"/>
          </a:solidFill>
          <a:ln cap="flat" cmpd="sng" w="76200">
            <a:solidFill>
              <a:srgbClr val="548135"/>
            </a:solidFill>
            <a:prstDash val="solid"/>
            <a:miter lim="80000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 name="Google Shape;156;p18"/>
          <p:cNvSpPr txBox="1"/>
          <p:nvPr/>
        </p:nvSpPr>
        <p:spPr>
          <a:xfrm>
            <a:off x="975330" y="1594716"/>
            <a:ext cx="4775268" cy="2943357"/>
          </a:xfrm>
          <a:prstGeom prst="rect">
            <a:avLst/>
          </a:prstGeom>
          <a:noFill/>
          <a:ln>
            <a:noFill/>
          </a:ln>
        </p:spPr>
        <p:txBody>
          <a:bodyPr anchorCtr="0" anchor="ctr" bIns="45700" lIns="91425" spcFirstLastPara="1" rIns="91425" wrap="square" tIns="45700">
            <a:noAutofit/>
          </a:bodyPr>
          <a:lstStyle/>
          <a:p>
            <a:pPr indent="0" lvl="0" marL="234950" marR="0" rtl="0" algn="ctr">
              <a:spcBef>
                <a:spcPts val="0"/>
              </a:spcBef>
              <a:spcAft>
                <a:spcPts val="0"/>
              </a:spcAft>
              <a:buNone/>
            </a:pPr>
            <a:r>
              <a:t/>
            </a:r>
            <a:endParaRPr sz="3600">
              <a:solidFill>
                <a:srgbClr val="385623"/>
              </a:solidFill>
              <a:latin typeface="Calibri"/>
              <a:ea typeface="Calibri"/>
              <a:cs typeface="Calibri"/>
              <a:sym typeface="Calibri"/>
            </a:endParaRPr>
          </a:p>
        </p:txBody>
      </p:sp>
      <p:sp>
        <p:nvSpPr>
          <p:cNvPr id="157" name="Google Shape;157;p18"/>
          <p:cNvSpPr/>
          <p:nvPr/>
        </p:nvSpPr>
        <p:spPr>
          <a:xfrm rot="-5400000">
            <a:off x="7153155" y="558774"/>
            <a:ext cx="3294999" cy="5044439"/>
          </a:xfrm>
          <a:prstGeom prst="trapezoid">
            <a:avLst>
              <a:gd fmla="val 8004" name="adj"/>
            </a:avLst>
          </a:prstGeom>
          <a:solidFill>
            <a:srgbClr val="FFD966"/>
          </a:solidFill>
          <a:ln cap="flat" cmpd="sng" w="76200">
            <a:solidFill>
              <a:schemeClr val="accent2"/>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8" name="Google Shape;158;p18"/>
          <p:cNvSpPr txBox="1"/>
          <p:nvPr/>
        </p:nvSpPr>
        <p:spPr>
          <a:xfrm>
            <a:off x="1278173" y="1655611"/>
            <a:ext cx="2127177" cy="584775"/>
          </a:xfrm>
          <a:prstGeom prst="rect">
            <a:avLst/>
          </a:prstGeom>
          <a:solidFill>
            <a:schemeClr val="lt1">
              <a:alpha val="85882"/>
            </a:schemeClr>
          </a:solidFill>
          <a:ln cap="flat" cmpd="sng" w="25400">
            <a:solidFill>
              <a:schemeClr val="accent6"/>
            </a:solidFill>
            <a:prstDash val="solid"/>
            <a:round/>
            <a:headEnd len="sm" w="sm" type="none"/>
            <a:tailEnd len="sm" w="sm" type="none"/>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3200">
                <a:solidFill>
                  <a:schemeClr val="accent6"/>
                </a:solidFill>
                <a:latin typeface="Arial"/>
                <a:ea typeface="Arial"/>
                <a:cs typeface="Arial"/>
                <a:sym typeface="Arial"/>
              </a:rPr>
              <a:t>Assets</a:t>
            </a:r>
            <a:endParaRPr b="1" sz="2400">
              <a:solidFill>
                <a:schemeClr val="accent6"/>
              </a:solidFill>
              <a:latin typeface="Arial"/>
              <a:ea typeface="Arial"/>
              <a:cs typeface="Arial"/>
              <a:sym typeface="Arial"/>
            </a:endParaRPr>
          </a:p>
        </p:txBody>
      </p:sp>
      <p:cxnSp>
        <p:nvCxnSpPr>
          <p:cNvPr id="159" name="Google Shape;159;p18"/>
          <p:cNvCxnSpPr/>
          <p:nvPr/>
        </p:nvCxnSpPr>
        <p:spPr>
          <a:xfrm>
            <a:off x="3695012" y="1023977"/>
            <a:ext cx="5247163" cy="0"/>
          </a:xfrm>
          <a:prstGeom prst="straightConnector1">
            <a:avLst/>
          </a:prstGeom>
          <a:noFill/>
          <a:ln cap="flat" cmpd="sng" w="28575">
            <a:solidFill>
              <a:schemeClr val="accent1"/>
            </a:solidFill>
            <a:prstDash val="dot"/>
            <a:miter lim="800000"/>
            <a:headEnd len="sm" w="sm" type="none"/>
            <a:tailEnd len="sm" w="sm" type="none"/>
          </a:ln>
        </p:spPr>
      </p:cxnSp>
      <p:sp>
        <p:nvSpPr>
          <p:cNvPr id="160" name="Google Shape;160;p18"/>
          <p:cNvSpPr txBox="1"/>
          <p:nvPr/>
        </p:nvSpPr>
        <p:spPr>
          <a:xfrm>
            <a:off x="9040015" y="1664449"/>
            <a:ext cx="2127177" cy="584775"/>
          </a:xfrm>
          <a:prstGeom prst="rect">
            <a:avLst/>
          </a:prstGeom>
          <a:solidFill>
            <a:schemeClr val="lt1">
              <a:alpha val="74901"/>
            </a:schemeClr>
          </a:solidFill>
          <a:ln cap="flat" cmpd="sng" w="25400">
            <a:solidFill>
              <a:schemeClr val="accent2"/>
            </a:solidFill>
            <a:prstDash val="solid"/>
            <a:round/>
            <a:headEnd len="sm" w="sm" type="none"/>
            <a:tailEnd len="sm" w="sm" type="none"/>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3200">
                <a:solidFill>
                  <a:schemeClr val="accent2"/>
                </a:solidFill>
                <a:latin typeface="Arial"/>
                <a:ea typeface="Arial"/>
                <a:cs typeface="Arial"/>
                <a:sym typeface="Arial"/>
              </a:rPr>
              <a:t>Liabilities</a:t>
            </a:r>
            <a:endParaRPr b="1" sz="2400">
              <a:solidFill>
                <a:schemeClr val="accent2"/>
              </a:solidFill>
              <a:latin typeface="Arial"/>
              <a:ea typeface="Arial"/>
              <a:cs typeface="Arial"/>
              <a:sym typeface="Arial"/>
            </a:endParaRPr>
          </a:p>
        </p:txBody>
      </p:sp>
      <p:sp>
        <p:nvSpPr>
          <p:cNvPr id="161" name="Google Shape;161;p18"/>
          <p:cNvSpPr txBox="1"/>
          <p:nvPr/>
        </p:nvSpPr>
        <p:spPr>
          <a:xfrm>
            <a:off x="8925894" y="3223299"/>
            <a:ext cx="2127177" cy="584775"/>
          </a:xfrm>
          <a:prstGeom prst="rect">
            <a:avLst/>
          </a:prstGeom>
          <a:solidFill>
            <a:schemeClr val="lt1">
              <a:alpha val="74901"/>
            </a:schemeClr>
          </a:solidFill>
          <a:ln cap="flat" cmpd="sng" w="25400">
            <a:solidFill>
              <a:schemeClr val="accent2"/>
            </a:solidFill>
            <a:prstDash val="solid"/>
            <a:round/>
            <a:headEnd len="sm" w="sm" type="none"/>
            <a:tailEnd len="sm" w="sm" type="none"/>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3200">
                <a:solidFill>
                  <a:schemeClr val="accent2"/>
                </a:solidFill>
                <a:latin typeface="Arial"/>
                <a:ea typeface="Arial"/>
                <a:cs typeface="Arial"/>
                <a:sym typeface="Arial"/>
              </a:rPr>
              <a:t>Equity</a:t>
            </a:r>
            <a:endParaRPr b="1" sz="2400">
              <a:solidFill>
                <a:schemeClr val="accent2"/>
              </a:solidFill>
              <a:latin typeface="Arial"/>
              <a:ea typeface="Arial"/>
              <a:cs typeface="Arial"/>
              <a:sym typeface="Arial"/>
            </a:endParaRPr>
          </a:p>
        </p:txBody>
      </p:sp>
      <p:cxnSp>
        <p:nvCxnSpPr>
          <p:cNvPr id="162" name="Google Shape;162;p18"/>
          <p:cNvCxnSpPr/>
          <p:nvPr/>
        </p:nvCxnSpPr>
        <p:spPr>
          <a:xfrm flipH="1" rot="10800000">
            <a:off x="6205001" y="3064955"/>
            <a:ext cx="5117873" cy="32078"/>
          </a:xfrm>
          <a:prstGeom prst="straightConnector1">
            <a:avLst/>
          </a:prstGeom>
          <a:noFill/>
          <a:ln cap="flat" cmpd="sng" w="73025">
            <a:solidFill>
              <a:schemeClr val="accent2"/>
            </a:solidFill>
            <a:prstDash val="solid"/>
            <a:miter lim="800000"/>
            <a:headEnd len="sm" w="sm" type="none"/>
            <a:tailEnd len="sm" w="sm" type="none"/>
          </a:ln>
        </p:spPr>
      </p:cxnSp>
      <p:sp>
        <p:nvSpPr>
          <p:cNvPr id="163" name="Google Shape;163;p18"/>
          <p:cNvSpPr txBox="1"/>
          <p:nvPr/>
        </p:nvSpPr>
        <p:spPr>
          <a:xfrm>
            <a:off x="2754417" y="2662885"/>
            <a:ext cx="2187917" cy="726551"/>
          </a:xfrm>
          <a:prstGeom prst="rect">
            <a:avLst/>
          </a:prstGeom>
          <a:solidFill>
            <a:srgbClr val="DDEAF6">
              <a:alpha val="60784"/>
            </a:srgbClr>
          </a:solidFill>
          <a:ln cap="flat" cmpd="sng" w="5080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4000">
                <a:solidFill>
                  <a:schemeClr val="accent1"/>
                </a:solidFill>
                <a:latin typeface="Avenir"/>
                <a:ea typeface="Avenir"/>
                <a:cs typeface="Avenir"/>
                <a:sym typeface="Avenir"/>
              </a:rPr>
              <a:t>50,000</a:t>
            </a:r>
            <a:endParaRPr/>
          </a:p>
        </p:txBody>
      </p:sp>
      <p:sp>
        <p:nvSpPr>
          <p:cNvPr id="164" name="Google Shape;164;p18"/>
          <p:cNvSpPr txBox="1"/>
          <p:nvPr/>
        </p:nvSpPr>
        <p:spPr>
          <a:xfrm>
            <a:off x="6615853" y="2088982"/>
            <a:ext cx="2187917" cy="726551"/>
          </a:xfrm>
          <a:prstGeom prst="rect">
            <a:avLst/>
          </a:prstGeom>
          <a:solidFill>
            <a:srgbClr val="DDEAF6">
              <a:alpha val="60784"/>
            </a:srgbClr>
          </a:solidFill>
          <a:ln cap="flat" cmpd="sng" w="5080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4000">
                <a:solidFill>
                  <a:schemeClr val="accent1"/>
                </a:solidFill>
                <a:latin typeface="Avenir"/>
                <a:ea typeface="Avenir"/>
                <a:cs typeface="Avenir"/>
                <a:sym typeface="Avenir"/>
              </a:rPr>
              <a:t>30,000</a:t>
            </a:r>
            <a:endParaRPr/>
          </a:p>
        </p:txBody>
      </p:sp>
      <p:sp>
        <p:nvSpPr>
          <p:cNvPr id="165" name="Google Shape;165;p18"/>
          <p:cNvSpPr txBox="1"/>
          <p:nvPr/>
        </p:nvSpPr>
        <p:spPr>
          <a:xfrm>
            <a:off x="6764756" y="3650109"/>
            <a:ext cx="2187917" cy="726551"/>
          </a:xfrm>
          <a:prstGeom prst="rect">
            <a:avLst/>
          </a:prstGeom>
          <a:solidFill>
            <a:srgbClr val="DDEAF6">
              <a:alpha val="60784"/>
            </a:srgbClr>
          </a:solidFill>
          <a:ln cap="flat" cmpd="sng" w="5080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4000">
                <a:solidFill>
                  <a:schemeClr val="accent1"/>
                </a:solidFill>
                <a:latin typeface="Avenir"/>
                <a:ea typeface="Avenir"/>
                <a:cs typeface="Avenir"/>
                <a:sym typeface="Avenir"/>
              </a:rPr>
              <a:t>20,000</a:t>
            </a:r>
            <a:endParaRPr/>
          </a:p>
        </p:txBody>
      </p:sp>
      <p:sp>
        <p:nvSpPr>
          <p:cNvPr id="166" name="Google Shape;166;p18"/>
          <p:cNvSpPr txBox="1"/>
          <p:nvPr/>
        </p:nvSpPr>
        <p:spPr>
          <a:xfrm>
            <a:off x="7422931" y="2723649"/>
            <a:ext cx="1185222" cy="1002797"/>
          </a:xfrm>
          <a:prstGeom prst="rect">
            <a:avLst/>
          </a:prstGeom>
          <a:solidFill>
            <a:srgbClr val="DDEAF6">
              <a:alpha val="0"/>
            </a:srgbClr>
          </a:solidFill>
          <a:ln>
            <a:noFill/>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8800">
                <a:solidFill>
                  <a:schemeClr val="accent1"/>
                </a:solidFill>
                <a:latin typeface="Avenir"/>
                <a:ea typeface="Avenir"/>
                <a:cs typeface="Avenir"/>
                <a:sym typeface="Avenir"/>
              </a:rPr>
              <a:t>+</a:t>
            </a:r>
            <a:endParaRPr/>
          </a:p>
        </p:txBody>
      </p:sp>
      <p:sp>
        <p:nvSpPr>
          <p:cNvPr id="167" name="Google Shape;167;p18"/>
          <p:cNvSpPr txBox="1"/>
          <p:nvPr/>
        </p:nvSpPr>
        <p:spPr>
          <a:xfrm>
            <a:off x="5552494" y="2595634"/>
            <a:ext cx="1185222" cy="1002797"/>
          </a:xfrm>
          <a:prstGeom prst="rect">
            <a:avLst/>
          </a:prstGeom>
          <a:solidFill>
            <a:srgbClr val="DDEAF6">
              <a:alpha val="0"/>
            </a:srgbClr>
          </a:solidFill>
          <a:ln>
            <a:noFill/>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11500">
                <a:solidFill>
                  <a:schemeClr val="accent1"/>
                </a:solidFill>
                <a:latin typeface="Avenir"/>
                <a:ea typeface="Avenir"/>
                <a:cs typeface="Avenir"/>
                <a:sym typeface="Avenir"/>
              </a:rPr>
              <a:t>=</a:t>
            </a:r>
            <a:endParaRPr/>
          </a:p>
        </p:txBody>
      </p:sp>
      <p:sp>
        <p:nvSpPr>
          <p:cNvPr id="168" name="Google Shape;168;p18"/>
          <p:cNvSpPr txBox="1"/>
          <p:nvPr/>
        </p:nvSpPr>
        <p:spPr>
          <a:xfrm rot="164264">
            <a:off x="882382" y="1017108"/>
            <a:ext cx="2218877"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400">
                <a:solidFill>
                  <a:schemeClr val="accent6"/>
                </a:solidFill>
                <a:latin typeface="Avenir"/>
                <a:ea typeface="Avenir"/>
                <a:cs typeface="Avenir"/>
                <a:sym typeface="Avenir"/>
              </a:rPr>
              <a:t>Uses of funds</a:t>
            </a:r>
            <a:endParaRPr/>
          </a:p>
        </p:txBody>
      </p:sp>
      <p:sp>
        <p:nvSpPr>
          <p:cNvPr id="169" name="Google Shape;169;p18"/>
          <p:cNvSpPr txBox="1"/>
          <p:nvPr/>
        </p:nvSpPr>
        <p:spPr>
          <a:xfrm rot="-173359">
            <a:off x="8755317" y="1056410"/>
            <a:ext cx="2696572"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400">
                <a:solidFill>
                  <a:schemeClr val="accent2"/>
                </a:solidFill>
                <a:latin typeface="Avenir"/>
                <a:ea typeface="Avenir"/>
                <a:cs typeface="Avenir"/>
                <a:sym typeface="Avenir"/>
              </a:rPr>
              <a:t>Sources of funds</a:t>
            </a:r>
            <a:endParaRPr/>
          </a:p>
        </p:txBody>
      </p:sp>
      <p:grpSp>
        <p:nvGrpSpPr>
          <p:cNvPr id="170" name="Google Shape;170;p18"/>
          <p:cNvGrpSpPr/>
          <p:nvPr/>
        </p:nvGrpSpPr>
        <p:grpSpPr>
          <a:xfrm>
            <a:off x="3876477" y="5101299"/>
            <a:ext cx="7298013" cy="839289"/>
            <a:chOff x="3876477" y="5101299"/>
            <a:chExt cx="7298013" cy="839289"/>
          </a:xfrm>
        </p:grpSpPr>
        <p:sp>
          <p:nvSpPr>
            <p:cNvPr id="171" name="Google Shape;171;p18"/>
            <p:cNvSpPr/>
            <p:nvPr/>
          </p:nvSpPr>
          <p:spPr>
            <a:xfrm>
              <a:off x="3876477" y="5136221"/>
              <a:ext cx="1867819" cy="707886"/>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4000">
                  <a:solidFill>
                    <a:schemeClr val="accent1"/>
                  </a:solidFill>
                  <a:latin typeface="Avenir"/>
                  <a:ea typeface="Avenir"/>
                  <a:cs typeface="Avenir"/>
                  <a:sym typeface="Avenir"/>
                </a:rPr>
                <a:t>Assets</a:t>
              </a:r>
              <a:endParaRPr/>
            </a:p>
          </p:txBody>
        </p:sp>
        <p:sp>
          <p:nvSpPr>
            <p:cNvPr id="172" name="Google Shape;172;p18"/>
            <p:cNvSpPr txBox="1"/>
            <p:nvPr/>
          </p:nvSpPr>
          <p:spPr>
            <a:xfrm>
              <a:off x="5683400" y="5101299"/>
              <a:ext cx="558166" cy="830997"/>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4800">
                  <a:solidFill>
                    <a:schemeClr val="accent1"/>
                  </a:solidFill>
                  <a:latin typeface="Avenir"/>
                  <a:ea typeface="Avenir"/>
                  <a:cs typeface="Avenir"/>
                  <a:sym typeface="Avenir"/>
                </a:rPr>
                <a:t>=</a:t>
              </a:r>
              <a:endParaRPr/>
            </a:p>
          </p:txBody>
        </p:sp>
        <p:sp>
          <p:nvSpPr>
            <p:cNvPr id="173" name="Google Shape;173;p18"/>
            <p:cNvSpPr/>
            <p:nvPr/>
          </p:nvSpPr>
          <p:spPr>
            <a:xfrm>
              <a:off x="6286697" y="5170087"/>
              <a:ext cx="2550698" cy="707886"/>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4000">
                  <a:solidFill>
                    <a:schemeClr val="accent1"/>
                  </a:solidFill>
                  <a:latin typeface="Avenir"/>
                  <a:ea typeface="Avenir"/>
                  <a:cs typeface="Avenir"/>
                  <a:sym typeface="Avenir"/>
                </a:rPr>
                <a:t>Liabilities</a:t>
              </a:r>
              <a:endParaRPr/>
            </a:p>
          </p:txBody>
        </p:sp>
        <p:sp>
          <p:nvSpPr>
            <p:cNvPr id="174" name="Google Shape;174;p18"/>
            <p:cNvSpPr/>
            <p:nvPr/>
          </p:nvSpPr>
          <p:spPr>
            <a:xfrm>
              <a:off x="9423690" y="5197814"/>
              <a:ext cx="1750800" cy="707886"/>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4000">
                  <a:solidFill>
                    <a:schemeClr val="accent1"/>
                  </a:solidFill>
                  <a:latin typeface="Avenir"/>
                  <a:ea typeface="Avenir"/>
                  <a:cs typeface="Avenir"/>
                  <a:sym typeface="Avenir"/>
                </a:rPr>
                <a:t>Equity</a:t>
              </a:r>
              <a:endParaRPr/>
            </a:p>
          </p:txBody>
        </p:sp>
        <p:sp>
          <p:nvSpPr>
            <p:cNvPr id="175" name="Google Shape;175;p18"/>
            <p:cNvSpPr txBox="1"/>
            <p:nvPr/>
          </p:nvSpPr>
          <p:spPr>
            <a:xfrm>
              <a:off x="8803770" y="5109591"/>
              <a:ext cx="558166" cy="830997"/>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4800">
                  <a:solidFill>
                    <a:schemeClr val="accent1"/>
                  </a:solidFill>
                  <a:latin typeface="Avenir"/>
                  <a:ea typeface="Avenir"/>
                  <a:cs typeface="Avenir"/>
                  <a:sym typeface="Avenir"/>
                </a:rPr>
                <a:t>+</a:t>
              </a:r>
              <a:endParaRPr/>
            </a:p>
          </p:txBody>
        </p:sp>
      </p:grpSp>
      <p:grpSp>
        <p:nvGrpSpPr>
          <p:cNvPr id="176" name="Google Shape;176;p18"/>
          <p:cNvGrpSpPr/>
          <p:nvPr/>
        </p:nvGrpSpPr>
        <p:grpSpPr>
          <a:xfrm>
            <a:off x="3855380" y="5747730"/>
            <a:ext cx="7298013" cy="947270"/>
            <a:chOff x="3855380" y="5747730"/>
            <a:chExt cx="7298013" cy="947270"/>
          </a:xfrm>
        </p:grpSpPr>
        <p:sp>
          <p:nvSpPr>
            <p:cNvPr id="177" name="Google Shape;177;p18"/>
            <p:cNvSpPr txBox="1"/>
            <p:nvPr/>
          </p:nvSpPr>
          <p:spPr>
            <a:xfrm>
              <a:off x="5591516" y="5747730"/>
              <a:ext cx="1300550" cy="432353"/>
            </a:xfrm>
            <a:prstGeom prst="rect">
              <a:avLst/>
            </a:prstGeom>
            <a:solidFill>
              <a:schemeClr val="lt1"/>
            </a:solidFill>
            <a:ln>
              <a:noFill/>
            </a:ln>
          </p:spPr>
          <p:txBody>
            <a:bodyPr anchorCtr="0" anchor="t" bIns="45700" lIns="91425" spcFirstLastPara="1" rIns="91425" wrap="square" tIns="45700">
              <a:sp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78" name="Google Shape;178;p18"/>
            <p:cNvSpPr/>
            <p:nvPr/>
          </p:nvSpPr>
          <p:spPr>
            <a:xfrm>
              <a:off x="3855380" y="5890633"/>
              <a:ext cx="1867819" cy="707886"/>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4000">
                  <a:solidFill>
                    <a:schemeClr val="accent1"/>
                  </a:solidFill>
                  <a:latin typeface="Avenir"/>
                  <a:ea typeface="Avenir"/>
                  <a:cs typeface="Avenir"/>
                  <a:sym typeface="Avenir"/>
                </a:rPr>
                <a:t>Assets</a:t>
              </a:r>
              <a:endParaRPr/>
            </a:p>
          </p:txBody>
        </p:sp>
        <p:sp>
          <p:nvSpPr>
            <p:cNvPr id="179" name="Google Shape;179;p18"/>
            <p:cNvSpPr txBox="1"/>
            <p:nvPr/>
          </p:nvSpPr>
          <p:spPr>
            <a:xfrm>
              <a:off x="5741880" y="5802191"/>
              <a:ext cx="542136" cy="830997"/>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4800">
                  <a:solidFill>
                    <a:schemeClr val="accent1"/>
                  </a:solidFill>
                  <a:latin typeface="Avenir"/>
                  <a:ea typeface="Avenir"/>
                  <a:cs typeface="Avenir"/>
                  <a:sym typeface="Avenir"/>
                </a:rPr>
                <a:t>–</a:t>
              </a:r>
              <a:endParaRPr/>
            </a:p>
          </p:txBody>
        </p:sp>
        <p:sp>
          <p:nvSpPr>
            <p:cNvPr id="180" name="Google Shape;180;p18"/>
            <p:cNvSpPr/>
            <p:nvPr/>
          </p:nvSpPr>
          <p:spPr>
            <a:xfrm>
              <a:off x="6265600" y="5924499"/>
              <a:ext cx="2550698" cy="707886"/>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4000">
                  <a:solidFill>
                    <a:schemeClr val="accent1"/>
                  </a:solidFill>
                  <a:latin typeface="Avenir"/>
                  <a:ea typeface="Avenir"/>
                  <a:cs typeface="Avenir"/>
                  <a:sym typeface="Avenir"/>
                </a:rPr>
                <a:t>Liabilities</a:t>
              </a:r>
              <a:endParaRPr/>
            </a:p>
          </p:txBody>
        </p:sp>
        <p:sp>
          <p:nvSpPr>
            <p:cNvPr id="181" name="Google Shape;181;p18"/>
            <p:cNvSpPr/>
            <p:nvPr/>
          </p:nvSpPr>
          <p:spPr>
            <a:xfrm>
              <a:off x="9402593" y="5952226"/>
              <a:ext cx="1750800" cy="707886"/>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4000">
                  <a:solidFill>
                    <a:schemeClr val="accent1"/>
                  </a:solidFill>
                  <a:latin typeface="Avenir"/>
                  <a:ea typeface="Avenir"/>
                  <a:cs typeface="Avenir"/>
                  <a:sym typeface="Avenir"/>
                </a:rPr>
                <a:t>Equity</a:t>
              </a:r>
              <a:endParaRPr/>
            </a:p>
          </p:txBody>
        </p:sp>
        <p:sp>
          <p:nvSpPr>
            <p:cNvPr id="182" name="Google Shape;182;p18"/>
            <p:cNvSpPr txBox="1"/>
            <p:nvPr/>
          </p:nvSpPr>
          <p:spPr>
            <a:xfrm>
              <a:off x="8782673" y="5864003"/>
              <a:ext cx="558166" cy="830997"/>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4800">
                  <a:solidFill>
                    <a:schemeClr val="accent1"/>
                  </a:solidFill>
                  <a:latin typeface="Avenir"/>
                  <a:ea typeface="Avenir"/>
                  <a:cs typeface="Avenir"/>
                  <a:sym typeface="Avenir"/>
                </a:rPr>
                <a:t>=</a:t>
              </a:r>
              <a:endParaRPr/>
            </a:p>
          </p:txBody>
        </p:sp>
      </p:grpSp>
      <p:sp>
        <p:nvSpPr>
          <p:cNvPr id="183" name="Google Shape;183;p18"/>
          <p:cNvSpPr txBox="1"/>
          <p:nvPr/>
        </p:nvSpPr>
        <p:spPr>
          <a:xfrm>
            <a:off x="3655087" y="500757"/>
            <a:ext cx="5247162" cy="5232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2800">
                <a:solidFill>
                  <a:schemeClr val="accent1"/>
                </a:solidFill>
                <a:latin typeface="Avenir"/>
                <a:ea typeface="Avenir"/>
                <a:cs typeface="Avenir"/>
                <a:sym typeface="Avenir"/>
              </a:rPr>
              <a:t>My Supermarket Limited</a:t>
            </a:r>
            <a:endParaRPr/>
          </a:p>
        </p:txBody>
      </p:sp>
    </p:spTree>
  </p:cSld>
  <p:clrMapOvr>
    <a:masterClrMapping/>
  </p:clrMapOvr>
  <mc:AlternateContent>
    <mc:Choice Requires="p14">
      <p:transition spd="slow" p14:dur="700">
        <p:fade/>
      </p:transition>
    </mc:Choice>
    <mc:Fallback>
      <p:transition spd="slow">
        <p:fade/>
      </p:transition>
    </mc:Fallback>
  </mc:AlternateContent>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170"/>
                                        </p:tgtEl>
                                        <p:attrNameLst>
                                          <p:attrName>style.visibility</p:attrName>
                                        </p:attrNameLst>
                                      </p:cBhvr>
                                      <p:to>
                                        <p:strVal val="visible"/>
                                      </p:to>
                                    </p:set>
                                    <p:animEffect filter="fade" transition="in">
                                      <p:cBhvr>
                                        <p:cTn dur="500"/>
                                        <p:tgtEl>
                                          <p:spTgt spid="17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76"/>
                                        </p:tgtEl>
                                        <p:attrNameLst>
                                          <p:attrName>style.visibility</p:attrName>
                                        </p:attrNameLst>
                                      </p:cBhvr>
                                      <p:to>
                                        <p:strVal val="visible"/>
                                      </p:to>
                                    </p:set>
                                    <p:animEffect filter="fade" transition="in">
                                      <p:cBhvr>
                                        <p:cTn dur="500"/>
                                        <p:tgtEl>
                                          <p:spTgt spid="17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19"/>
          <p:cNvSpPr/>
          <p:nvPr/>
        </p:nvSpPr>
        <p:spPr>
          <a:xfrm rot="5400000">
            <a:off x="1850074" y="544177"/>
            <a:ext cx="3294999" cy="5044439"/>
          </a:xfrm>
          <a:prstGeom prst="trapezoid">
            <a:avLst>
              <a:gd fmla="val 8004" name="adj"/>
            </a:avLst>
          </a:prstGeom>
          <a:solidFill>
            <a:srgbClr val="A8D08C"/>
          </a:solidFill>
          <a:ln cap="flat" cmpd="sng" w="76200">
            <a:solidFill>
              <a:srgbClr val="548135"/>
            </a:solidFill>
            <a:prstDash val="solid"/>
            <a:miter lim="80000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19"/>
          <p:cNvSpPr txBox="1"/>
          <p:nvPr/>
        </p:nvSpPr>
        <p:spPr>
          <a:xfrm>
            <a:off x="975330" y="1594716"/>
            <a:ext cx="4775268" cy="2943357"/>
          </a:xfrm>
          <a:prstGeom prst="rect">
            <a:avLst/>
          </a:prstGeom>
          <a:noFill/>
          <a:ln>
            <a:noFill/>
          </a:ln>
        </p:spPr>
        <p:txBody>
          <a:bodyPr anchorCtr="0" anchor="ctr" bIns="45700" lIns="91425" spcFirstLastPara="1" rIns="91425" wrap="square" tIns="45700">
            <a:noAutofit/>
          </a:bodyPr>
          <a:lstStyle/>
          <a:p>
            <a:pPr indent="0" lvl="0" marL="234950" marR="0" rtl="0" algn="ctr">
              <a:spcBef>
                <a:spcPts val="0"/>
              </a:spcBef>
              <a:spcAft>
                <a:spcPts val="0"/>
              </a:spcAft>
              <a:buNone/>
            </a:pPr>
            <a:r>
              <a:t/>
            </a:r>
            <a:endParaRPr sz="3600">
              <a:solidFill>
                <a:srgbClr val="385623"/>
              </a:solidFill>
              <a:latin typeface="Calibri"/>
              <a:ea typeface="Calibri"/>
              <a:cs typeface="Calibri"/>
              <a:sym typeface="Calibri"/>
            </a:endParaRPr>
          </a:p>
        </p:txBody>
      </p:sp>
      <p:sp>
        <p:nvSpPr>
          <p:cNvPr id="191" name="Google Shape;191;p19"/>
          <p:cNvSpPr/>
          <p:nvPr/>
        </p:nvSpPr>
        <p:spPr>
          <a:xfrm rot="-5400000">
            <a:off x="7153155" y="558774"/>
            <a:ext cx="3294999" cy="5044439"/>
          </a:xfrm>
          <a:prstGeom prst="trapezoid">
            <a:avLst>
              <a:gd fmla="val 8004" name="adj"/>
            </a:avLst>
          </a:prstGeom>
          <a:solidFill>
            <a:srgbClr val="FFD966"/>
          </a:solidFill>
          <a:ln cap="flat" cmpd="sng" w="76200">
            <a:solidFill>
              <a:schemeClr val="accent2"/>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92" name="Google Shape;192;p19"/>
          <p:cNvSpPr txBox="1"/>
          <p:nvPr/>
        </p:nvSpPr>
        <p:spPr>
          <a:xfrm>
            <a:off x="1278173" y="1655611"/>
            <a:ext cx="2127177" cy="584775"/>
          </a:xfrm>
          <a:prstGeom prst="rect">
            <a:avLst/>
          </a:prstGeom>
          <a:solidFill>
            <a:schemeClr val="lt1">
              <a:alpha val="85882"/>
            </a:schemeClr>
          </a:solidFill>
          <a:ln cap="flat" cmpd="sng" w="25400">
            <a:solidFill>
              <a:schemeClr val="accent6"/>
            </a:solidFill>
            <a:prstDash val="solid"/>
            <a:round/>
            <a:headEnd len="sm" w="sm" type="none"/>
            <a:tailEnd len="sm" w="sm" type="none"/>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3200">
                <a:solidFill>
                  <a:schemeClr val="accent6"/>
                </a:solidFill>
                <a:latin typeface="Arial"/>
                <a:ea typeface="Arial"/>
                <a:cs typeface="Arial"/>
                <a:sym typeface="Arial"/>
              </a:rPr>
              <a:t>Assets</a:t>
            </a:r>
            <a:endParaRPr b="1" sz="2400">
              <a:solidFill>
                <a:schemeClr val="accent6"/>
              </a:solidFill>
              <a:latin typeface="Arial"/>
              <a:ea typeface="Arial"/>
              <a:cs typeface="Arial"/>
              <a:sym typeface="Arial"/>
            </a:endParaRPr>
          </a:p>
        </p:txBody>
      </p:sp>
      <p:cxnSp>
        <p:nvCxnSpPr>
          <p:cNvPr id="193" name="Google Shape;193;p19"/>
          <p:cNvCxnSpPr/>
          <p:nvPr/>
        </p:nvCxnSpPr>
        <p:spPr>
          <a:xfrm>
            <a:off x="3695012" y="1023977"/>
            <a:ext cx="5247163" cy="0"/>
          </a:xfrm>
          <a:prstGeom prst="straightConnector1">
            <a:avLst/>
          </a:prstGeom>
          <a:noFill/>
          <a:ln cap="flat" cmpd="sng" w="28575">
            <a:solidFill>
              <a:schemeClr val="accent1"/>
            </a:solidFill>
            <a:prstDash val="dot"/>
            <a:miter lim="800000"/>
            <a:headEnd len="sm" w="sm" type="none"/>
            <a:tailEnd len="sm" w="sm" type="none"/>
          </a:ln>
        </p:spPr>
      </p:cxnSp>
      <p:sp>
        <p:nvSpPr>
          <p:cNvPr id="194" name="Google Shape;194;p19"/>
          <p:cNvSpPr txBox="1"/>
          <p:nvPr/>
        </p:nvSpPr>
        <p:spPr>
          <a:xfrm>
            <a:off x="9040015" y="1664449"/>
            <a:ext cx="2127177" cy="584775"/>
          </a:xfrm>
          <a:prstGeom prst="rect">
            <a:avLst/>
          </a:prstGeom>
          <a:solidFill>
            <a:schemeClr val="lt1">
              <a:alpha val="74901"/>
            </a:schemeClr>
          </a:solidFill>
          <a:ln cap="flat" cmpd="sng" w="25400">
            <a:solidFill>
              <a:schemeClr val="accent2"/>
            </a:solidFill>
            <a:prstDash val="solid"/>
            <a:round/>
            <a:headEnd len="sm" w="sm" type="none"/>
            <a:tailEnd len="sm" w="sm" type="none"/>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3200">
                <a:solidFill>
                  <a:schemeClr val="accent2"/>
                </a:solidFill>
                <a:latin typeface="Arial"/>
                <a:ea typeface="Arial"/>
                <a:cs typeface="Arial"/>
                <a:sym typeface="Arial"/>
              </a:rPr>
              <a:t>Liabilities</a:t>
            </a:r>
            <a:endParaRPr b="1" sz="2400">
              <a:solidFill>
                <a:schemeClr val="accent2"/>
              </a:solidFill>
              <a:latin typeface="Arial"/>
              <a:ea typeface="Arial"/>
              <a:cs typeface="Arial"/>
              <a:sym typeface="Arial"/>
            </a:endParaRPr>
          </a:p>
        </p:txBody>
      </p:sp>
      <p:sp>
        <p:nvSpPr>
          <p:cNvPr id="195" name="Google Shape;195;p19"/>
          <p:cNvSpPr txBox="1"/>
          <p:nvPr/>
        </p:nvSpPr>
        <p:spPr>
          <a:xfrm>
            <a:off x="8925894" y="3223299"/>
            <a:ext cx="2127177" cy="584775"/>
          </a:xfrm>
          <a:prstGeom prst="rect">
            <a:avLst/>
          </a:prstGeom>
          <a:solidFill>
            <a:schemeClr val="lt1">
              <a:alpha val="74901"/>
            </a:schemeClr>
          </a:solidFill>
          <a:ln cap="flat" cmpd="sng" w="25400">
            <a:solidFill>
              <a:schemeClr val="accent2"/>
            </a:solidFill>
            <a:prstDash val="solid"/>
            <a:round/>
            <a:headEnd len="sm" w="sm" type="none"/>
            <a:tailEnd len="sm" w="sm" type="none"/>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3200">
                <a:solidFill>
                  <a:schemeClr val="accent2"/>
                </a:solidFill>
                <a:latin typeface="Arial"/>
                <a:ea typeface="Arial"/>
                <a:cs typeface="Arial"/>
                <a:sym typeface="Arial"/>
              </a:rPr>
              <a:t>Equity</a:t>
            </a:r>
            <a:endParaRPr b="1" sz="2400">
              <a:solidFill>
                <a:schemeClr val="accent2"/>
              </a:solidFill>
              <a:latin typeface="Arial"/>
              <a:ea typeface="Arial"/>
              <a:cs typeface="Arial"/>
              <a:sym typeface="Arial"/>
            </a:endParaRPr>
          </a:p>
        </p:txBody>
      </p:sp>
      <p:cxnSp>
        <p:nvCxnSpPr>
          <p:cNvPr id="196" name="Google Shape;196;p19"/>
          <p:cNvCxnSpPr/>
          <p:nvPr/>
        </p:nvCxnSpPr>
        <p:spPr>
          <a:xfrm flipH="1" rot="10800000">
            <a:off x="6205001" y="3064955"/>
            <a:ext cx="5117873" cy="32078"/>
          </a:xfrm>
          <a:prstGeom prst="straightConnector1">
            <a:avLst/>
          </a:prstGeom>
          <a:noFill/>
          <a:ln cap="flat" cmpd="sng" w="73025">
            <a:solidFill>
              <a:schemeClr val="accent2"/>
            </a:solidFill>
            <a:prstDash val="solid"/>
            <a:miter lim="800000"/>
            <a:headEnd len="sm" w="sm" type="none"/>
            <a:tailEnd len="sm" w="sm" type="none"/>
          </a:ln>
        </p:spPr>
      </p:cxnSp>
      <p:sp>
        <p:nvSpPr>
          <p:cNvPr id="197" name="Google Shape;197;p19"/>
          <p:cNvSpPr txBox="1"/>
          <p:nvPr/>
        </p:nvSpPr>
        <p:spPr>
          <a:xfrm>
            <a:off x="2754417" y="2662885"/>
            <a:ext cx="2187917" cy="726551"/>
          </a:xfrm>
          <a:prstGeom prst="rect">
            <a:avLst/>
          </a:prstGeom>
          <a:solidFill>
            <a:srgbClr val="DDEAF6">
              <a:alpha val="60784"/>
            </a:srgbClr>
          </a:solidFill>
          <a:ln cap="flat" cmpd="sng" w="5080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4000">
                <a:solidFill>
                  <a:schemeClr val="accent1"/>
                </a:solidFill>
                <a:latin typeface="Avenir"/>
                <a:ea typeface="Avenir"/>
                <a:cs typeface="Avenir"/>
                <a:sym typeface="Avenir"/>
              </a:rPr>
              <a:t>$50,000</a:t>
            </a:r>
            <a:endParaRPr/>
          </a:p>
        </p:txBody>
      </p:sp>
      <p:sp>
        <p:nvSpPr>
          <p:cNvPr id="198" name="Google Shape;198;p19"/>
          <p:cNvSpPr txBox="1"/>
          <p:nvPr/>
        </p:nvSpPr>
        <p:spPr>
          <a:xfrm>
            <a:off x="6615853" y="2088982"/>
            <a:ext cx="2187917" cy="726551"/>
          </a:xfrm>
          <a:prstGeom prst="rect">
            <a:avLst/>
          </a:prstGeom>
          <a:solidFill>
            <a:srgbClr val="DDEAF6">
              <a:alpha val="60784"/>
            </a:srgbClr>
          </a:solidFill>
          <a:ln cap="flat" cmpd="sng" w="5080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4000">
                <a:solidFill>
                  <a:schemeClr val="accent1"/>
                </a:solidFill>
                <a:latin typeface="Avenir"/>
                <a:ea typeface="Avenir"/>
                <a:cs typeface="Avenir"/>
                <a:sym typeface="Avenir"/>
              </a:rPr>
              <a:t>$30,000</a:t>
            </a:r>
            <a:endParaRPr/>
          </a:p>
        </p:txBody>
      </p:sp>
      <p:sp>
        <p:nvSpPr>
          <p:cNvPr id="199" name="Google Shape;199;p19"/>
          <p:cNvSpPr txBox="1"/>
          <p:nvPr/>
        </p:nvSpPr>
        <p:spPr>
          <a:xfrm>
            <a:off x="6764756" y="3650109"/>
            <a:ext cx="2187917" cy="726551"/>
          </a:xfrm>
          <a:prstGeom prst="rect">
            <a:avLst/>
          </a:prstGeom>
          <a:solidFill>
            <a:srgbClr val="DDEAF6">
              <a:alpha val="60784"/>
            </a:srgbClr>
          </a:solidFill>
          <a:ln cap="flat" cmpd="sng" w="5080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4000">
                <a:solidFill>
                  <a:schemeClr val="accent1"/>
                </a:solidFill>
                <a:latin typeface="Avenir"/>
                <a:ea typeface="Avenir"/>
                <a:cs typeface="Avenir"/>
                <a:sym typeface="Avenir"/>
              </a:rPr>
              <a:t>$20,000</a:t>
            </a:r>
            <a:endParaRPr/>
          </a:p>
        </p:txBody>
      </p:sp>
      <p:sp>
        <p:nvSpPr>
          <p:cNvPr id="200" name="Google Shape;200;p19"/>
          <p:cNvSpPr txBox="1"/>
          <p:nvPr/>
        </p:nvSpPr>
        <p:spPr>
          <a:xfrm>
            <a:off x="7422931" y="2723649"/>
            <a:ext cx="1185222" cy="1002797"/>
          </a:xfrm>
          <a:prstGeom prst="rect">
            <a:avLst/>
          </a:prstGeom>
          <a:solidFill>
            <a:srgbClr val="DDEAF6">
              <a:alpha val="0"/>
            </a:srgbClr>
          </a:solidFill>
          <a:ln>
            <a:noFill/>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8800">
                <a:solidFill>
                  <a:schemeClr val="accent1"/>
                </a:solidFill>
                <a:latin typeface="Avenir"/>
                <a:ea typeface="Avenir"/>
                <a:cs typeface="Avenir"/>
                <a:sym typeface="Avenir"/>
              </a:rPr>
              <a:t>+</a:t>
            </a:r>
            <a:endParaRPr/>
          </a:p>
        </p:txBody>
      </p:sp>
      <p:sp>
        <p:nvSpPr>
          <p:cNvPr id="201" name="Google Shape;201;p19"/>
          <p:cNvSpPr txBox="1"/>
          <p:nvPr/>
        </p:nvSpPr>
        <p:spPr>
          <a:xfrm>
            <a:off x="5552494" y="2595634"/>
            <a:ext cx="1185222" cy="1002797"/>
          </a:xfrm>
          <a:prstGeom prst="rect">
            <a:avLst/>
          </a:prstGeom>
          <a:solidFill>
            <a:srgbClr val="DDEAF6">
              <a:alpha val="0"/>
            </a:srgbClr>
          </a:solidFill>
          <a:ln>
            <a:noFill/>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11500">
                <a:solidFill>
                  <a:schemeClr val="accent1"/>
                </a:solidFill>
                <a:latin typeface="Avenir"/>
                <a:ea typeface="Avenir"/>
                <a:cs typeface="Avenir"/>
                <a:sym typeface="Avenir"/>
              </a:rPr>
              <a:t>=</a:t>
            </a:r>
            <a:endParaRPr/>
          </a:p>
        </p:txBody>
      </p:sp>
      <p:grpSp>
        <p:nvGrpSpPr>
          <p:cNvPr id="202" name="Google Shape;202;p19"/>
          <p:cNvGrpSpPr/>
          <p:nvPr/>
        </p:nvGrpSpPr>
        <p:grpSpPr>
          <a:xfrm>
            <a:off x="3876477" y="5100066"/>
            <a:ext cx="7298013" cy="840522"/>
            <a:chOff x="3876477" y="5100066"/>
            <a:chExt cx="7298013" cy="840522"/>
          </a:xfrm>
        </p:grpSpPr>
        <p:sp>
          <p:nvSpPr>
            <p:cNvPr id="203" name="Google Shape;203;p19"/>
            <p:cNvSpPr/>
            <p:nvPr/>
          </p:nvSpPr>
          <p:spPr>
            <a:xfrm>
              <a:off x="3876477" y="5136221"/>
              <a:ext cx="1867819" cy="707886"/>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4000">
                  <a:solidFill>
                    <a:schemeClr val="accent1"/>
                  </a:solidFill>
                  <a:latin typeface="Avenir"/>
                  <a:ea typeface="Avenir"/>
                  <a:cs typeface="Avenir"/>
                  <a:sym typeface="Avenir"/>
                </a:rPr>
                <a:t>Assets</a:t>
              </a:r>
              <a:endParaRPr/>
            </a:p>
          </p:txBody>
        </p:sp>
        <p:sp>
          <p:nvSpPr>
            <p:cNvPr id="204" name="Google Shape;204;p19"/>
            <p:cNvSpPr txBox="1"/>
            <p:nvPr/>
          </p:nvSpPr>
          <p:spPr>
            <a:xfrm>
              <a:off x="5683400" y="5100066"/>
              <a:ext cx="558166" cy="830997"/>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4800">
                  <a:solidFill>
                    <a:schemeClr val="accent1"/>
                  </a:solidFill>
                  <a:latin typeface="Avenir"/>
                  <a:ea typeface="Avenir"/>
                  <a:cs typeface="Avenir"/>
                  <a:sym typeface="Avenir"/>
                </a:rPr>
                <a:t>=</a:t>
              </a:r>
              <a:endParaRPr/>
            </a:p>
          </p:txBody>
        </p:sp>
        <p:sp>
          <p:nvSpPr>
            <p:cNvPr id="205" name="Google Shape;205;p19"/>
            <p:cNvSpPr/>
            <p:nvPr/>
          </p:nvSpPr>
          <p:spPr>
            <a:xfrm>
              <a:off x="6286697" y="5170087"/>
              <a:ext cx="2550698" cy="707886"/>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4000">
                  <a:solidFill>
                    <a:schemeClr val="accent1"/>
                  </a:solidFill>
                  <a:latin typeface="Avenir"/>
                  <a:ea typeface="Avenir"/>
                  <a:cs typeface="Avenir"/>
                  <a:sym typeface="Avenir"/>
                </a:rPr>
                <a:t>Liabilities</a:t>
              </a:r>
              <a:endParaRPr/>
            </a:p>
          </p:txBody>
        </p:sp>
        <p:sp>
          <p:nvSpPr>
            <p:cNvPr id="206" name="Google Shape;206;p19"/>
            <p:cNvSpPr/>
            <p:nvPr/>
          </p:nvSpPr>
          <p:spPr>
            <a:xfrm>
              <a:off x="9423690" y="5197814"/>
              <a:ext cx="1750800" cy="707886"/>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4000">
                  <a:solidFill>
                    <a:schemeClr val="accent1"/>
                  </a:solidFill>
                  <a:latin typeface="Avenir"/>
                  <a:ea typeface="Avenir"/>
                  <a:cs typeface="Avenir"/>
                  <a:sym typeface="Avenir"/>
                </a:rPr>
                <a:t>Equity</a:t>
              </a:r>
              <a:endParaRPr/>
            </a:p>
          </p:txBody>
        </p:sp>
        <p:sp>
          <p:nvSpPr>
            <p:cNvPr id="207" name="Google Shape;207;p19"/>
            <p:cNvSpPr txBox="1"/>
            <p:nvPr/>
          </p:nvSpPr>
          <p:spPr>
            <a:xfrm>
              <a:off x="8803770" y="5109591"/>
              <a:ext cx="558166" cy="830997"/>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4800">
                  <a:solidFill>
                    <a:schemeClr val="accent1"/>
                  </a:solidFill>
                  <a:latin typeface="Avenir"/>
                  <a:ea typeface="Avenir"/>
                  <a:cs typeface="Avenir"/>
                  <a:sym typeface="Avenir"/>
                </a:rPr>
                <a:t>+</a:t>
              </a:r>
              <a:endParaRPr/>
            </a:p>
          </p:txBody>
        </p:sp>
      </p:grpSp>
      <p:grpSp>
        <p:nvGrpSpPr>
          <p:cNvPr id="208" name="Google Shape;208;p19"/>
          <p:cNvGrpSpPr/>
          <p:nvPr/>
        </p:nvGrpSpPr>
        <p:grpSpPr>
          <a:xfrm>
            <a:off x="3855380" y="5747730"/>
            <a:ext cx="7298013" cy="947270"/>
            <a:chOff x="3855380" y="5747730"/>
            <a:chExt cx="7298013" cy="947270"/>
          </a:xfrm>
        </p:grpSpPr>
        <p:sp>
          <p:nvSpPr>
            <p:cNvPr id="209" name="Google Shape;209;p19"/>
            <p:cNvSpPr txBox="1"/>
            <p:nvPr/>
          </p:nvSpPr>
          <p:spPr>
            <a:xfrm>
              <a:off x="5591516" y="5747730"/>
              <a:ext cx="1300550" cy="432353"/>
            </a:xfrm>
            <a:prstGeom prst="rect">
              <a:avLst/>
            </a:prstGeom>
            <a:solidFill>
              <a:schemeClr val="lt1"/>
            </a:solidFill>
            <a:ln>
              <a:noFill/>
            </a:ln>
          </p:spPr>
          <p:txBody>
            <a:bodyPr anchorCtr="0" anchor="t" bIns="45700" lIns="91425" spcFirstLastPara="1" rIns="91425" wrap="square" tIns="45700">
              <a:sp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0" name="Google Shape;210;p19"/>
            <p:cNvSpPr/>
            <p:nvPr/>
          </p:nvSpPr>
          <p:spPr>
            <a:xfrm>
              <a:off x="3855380" y="5890633"/>
              <a:ext cx="1867819" cy="707886"/>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4000">
                  <a:solidFill>
                    <a:schemeClr val="accent1"/>
                  </a:solidFill>
                  <a:latin typeface="Avenir"/>
                  <a:ea typeface="Avenir"/>
                  <a:cs typeface="Avenir"/>
                  <a:sym typeface="Avenir"/>
                </a:rPr>
                <a:t>Assets</a:t>
              </a:r>
              <a:endParaRPr/>
            </a:p>
          </p:txBody>
        </p:sp>
        <p:sp>
          <p:nvSpPr>
            <p:cNvPr id="211" name="Google Shape;211;p19"/>
            <p:cNvSpPr txBox="1"/>
            <p:nvPr/>
          </p:nvSpPr>
          <p:spPr>
            <a:xfrm>
              <a:off x="5741880" y="5802191"/>
              <a:ext cx="542136" cy="830997"/>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4800">
                  <a:solidFill>
                    <a:schemeClr val="accent1"/>
                  </a:solidFill>
                  <a:latin typeface="Avenir"/>
                  <a:ea typeface="Avenir"/>
                  <a:cs typeface="Avenir"/>
                  <a:sym typeface="Avenir"/>
                </a:rPr>
                <a:t>–</a:t>
              </a:r>
              <a:endParaRPr/>
            </a:p>
          </p:txBody>
        </p:sp>
        <p:sp>
          <p:nvSpPr>
            <p:cNvPr id="212" name="Google Shape;212;p19"/>
            <p:cNvSpPr/>
            <p:nvPr/>
          </p:nvSpPr>
          <p:spPr>
            <a:xfrm>
              <a:off x="6265600" y="5924499"/>
              <a:ext cx="2550698" cy="707886"/>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4000">
                  <a:solidFill>
                    <a:schemeClr val="accent1"/>
                  </a:solidFill>
                  <a:latin typeface="Avenir"/>
                  <a:ea typeface="Avenir"/>
                  <a:cs typeface="Avenir"/>
                  <a:sym typeface="Avenir"/>
                </a:rPr>
                <a:t>Liabilities</a:t>
              </a:r>
              <a:endParaRPr/>
            </a:p>
          </p:txBody>
        </p:sp>
        <p:sp>
          <p:nvSpPr>
            <p:cNvPr id="213" name="Google Shape;213;p19"/>
            <p:cNvSpPr/>
            <p:nvPr/>
          </p:nvSpPr>
          <p:spPr>
            <a:xfrm>
              <a:off x="9402593" y="5952226"/>
              <a:ext cx="1750800" cy="707886"/>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4000">
                  <a:solidFill>
                    <a:schemeClr val="accent1"/>
                  </a:solidFill>
                  <a:latin typeface="Avenir"/>
                  <a:ea typeface="Avenir"/>
                  <a:cs typeface="Avenir"/>
                  <a:sym typeface="Avenir"/>
                </a:rPr>
                <a:t>Equity</a:t>
              </a:r>
              <a:endParaRPr/>
            </a:p>
          </p:txBody>
        </p:sp>
        <p:sp>
          <p:nvSpPr>
            <p:cNvPr id="214" name="Google Shape;214;p19"/>
            <p:cNvSpPr txBox="1"/>
            <p:nvPr/>
          </p:nvSpPr>
          <p:spPr>
            <a:xfrm>
              <a:off x="8782673" y="5864003"/>
              <a:ext cx="558166" cy="830997"/>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4800">
                  <a:solidFill>
                    <a:schemeClr val="accent1"/>
                  </a:solidFill>
                  <a:latin typeface="Avenir"/>
                  <a:ea typeface="Avenir"/>
                  <a:cs typeface="Avenir"/>
                  <a:sym typeface="Avenir"/>
                </a:rPr>
                <a:t>=</a:t>
              </a:r>
              <a:endParaRPr/>
            </a:p>
          </p:txBody>
        </p:sp>
      </p:grpSp>
      <p:sp>
        <p:nvSpPr>
          <p:cNvPr id="215" name="Google Shape;215;p19"/>
          <p:cNvSpPr txBox="1"/>
          <p:nvPr/>
        </p:nvSpPr>
        <p:spPr>
          <a:xfrm rot="164264">
            <a:off x="882382" y="1017108"/>
            <a:ext cx="2218877"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400">
                <a:solidFill>
                  <a:schemeClr val="accent6"/>
                </a:solidFill>
                <a:latin typeface="Avenir"/>
                <a:ea typeface="Avenir"/>
                <a:cs typeface="Avenir"/>
                <a:sym typeface="Avenir"/>
              </a:rPr>
              <a:t>Uses of funds</a:t>
            </a:r>
            <a:endParaRPr/>
          </a:p>
        </p:txBody>
      </p:sp>
      <p:sp>
        <p:nvSpPr>
          <p:cNvPr id="216" name="Google Shape;216;p19"/>
          <p:cNvSpPr txBox="1"/>
          <p:nvPr/>
        </p:nvSpPr>
        <p:spPr>
          <a:xfrm rot="-173359">
            <a:off x="8755317" y="1056410"/>
            <a:ext cx="2696572"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400">
                <a:solidFill>
                  <a:schemeClr val="accent2"/>
                </a:solidFill>
                <a:latin typeface="Avenir"/>
                <a:ea typeface="Avenir"/>
                <a:cs typeface="Avenir"/>
                <a:sym typeface="Avenir"/>
              </a:rPr>
              <a:t>Sources of funds</a:t>
            </a:r>
            <a:endParaRPr/>
          </a:p>
        </p:txBody>
      </p:sp>
      <p:sp>
        <p:nvSpPr>
          <p:cNvPr id="217" name="Google Shape;217;p19"/>
          <p:cNvSpPr txBox="1"/>
          <p:nvPr/>
        </p:nvSpPr>
        <p:spPr>
          <a:xfrm>
            <a:off x="3655087" y="500757"/>
            <a:ext cx="5247162" cy="5232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2800">
                <a:solidFill>
                  <a:schemeClr val="accent1"/>
                </a:solidFill>
                <a:latin typeface="Avenir"/>
                <a:ea typeface="Avenir"/>
                <a:cs typeface="Avenir"/>
                <a:sym typeface="Avenir"/>
              </a:rPr>
              <a:t>My Supermarket Limited</a:t>
            </a:r>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2" name="Shape 222"/>
        <p:cNvGrpSpPr/>
        <p:nvPr/>
      </p:nvGrpSpPr>
      <p:grpSpPr>
        <a:xfrm>
          <a:off x="0" y="0"/>
          <a:ext cx="0" cy="0"/>
          <a:chOff x="0" y="0"/>
          <a:chExt cx="0" cy="0"/>
        </a:xfrm>
      </p:grpSpPr>
      <p:sp>
        <p:nvSpPr>
          <p:cNvPr id="223" name="Google Shape;223;p20"/>
          <p:cNvSpPr txBox="1"/>
          <p:nvPr/>
        </p:nvSpPr>
        <p:spPr>
          <a:xfrm>
            <a:off x="219456" y="280414"/>
            <a:ext cx="11655552" cy="1080000"/>
          </a:xfrm>
          <a:prstGeom prst="rect">
            <a:avLst/>
          </a:prstGeom>
          <a:noFill/>
          <a:ln>
            <a:noFill/>
          </a:ln>
        </p:spPr>
        <p:txBody>
          <a:bodyPr anchorCtr="0" anchor="ctr" bIns="45700" lIns="91425" spcFirstLastPara="1" rIns="91425" wrap="square" tIns="45700">
            <a:noAutofit/>
          </a:bodyPr>
          <a:lstStyle/>
          <a:p>
            <a:pPr indent="0" lvl="0" marL="363538" marR="0" rtl="0" algn="l">
              <a:lnSpc>
                <a:spcPct val="120000"/>
              </a:lnSpc>
              <a:spcBef>
                <a:spcPts val="0"/>
              </a:spcBef>
              <a:spcAft>
                <a:spcPts val="0"/>
              </a:spcAft>
              <a:buNone/>
            </a:pPr>
            <a:r>
              <a:rPr lang="en-US" sz="4400">
                <a:solidFill>
                  <a:srgbClr val="548135"/>
                </a:solidFill>
                <a:latin typeface="Avenir"/>
                <a:ea typeface="Avenir"/>
                <a:cs typeface="Avenir"/>
                <a:sym typeface="Avenir"/>
              </a:rPr>
              <a:t>A rabble of butterflies</a:t>
            </a:r>
            <a:endParaRPr/>
          </a:p>
        </p:txBody>
      </p:sp>
      <p:grpSp>
        <p:nvGrpSpPr>
          <p:cNvPr id="224" name="Google Shape;224;p20"/>
          <p:cNvGrpSpPr/>
          <p:nvPr/>
        </p:nvGrpSpPr>
        <p:grpSpPr>
          <a:xfrm>
            <a:off x="2652378" y="3186953"/>
            <a:ext cx="2459917" cy="969771"/>
            <a:chOff x="4724045" y="2163347"/>
            <a:chExt cx="6420881" cy="2531298"/>
          </a:xfrm>
        </p:grpSpPr>
        <p:grpSp>
          <p:nvGrpSpPr>
            <p:cNvPr id="225" name="Google Shape;225;p20"/>
            <p:cNvGrpSpPr/>
            <p:nvPr/>
          </p:nvGrpSpPr>
          <p:grpSpPr>
            <a:xfrm>
              <a:off x="7964926" y="2163354"/>
              <a:ext cx="3180000" cy="2531291"/>
              <a:chOff x="6910676" y="1592129"/>
              <a:chExt cx="3180000" cy="2531291"/>
            </a:xfrm>
          </p:grpSpPr>
          <p:sp>
            <p:nvSpPr>
              <p:cNvPr id="226" name="Google Shape;226;p20"/>
              <p:cNvSpPr/>
              <p:nvPr/>
            </p:nvSpPr>
            <p:spPr>
              <a:xfrm rot="-5400000">
                <a:off x="7235046" y="1267790"/>
                <a:ext cx="2531291" cy="3179969"/>
              </a:xfrm>
              <a:prstGeom prst="trapezoid">
                <a:avLst>
                  <a:gd fmla="val 10344" name="adj"/>
                </a:avLst>
              </a:prstGeom>
              <a:solidFill>
                <a:schemeClr val="accent4"/>
              </a:solidFill>
              <a:ln cap="flat" cmpd="sng" w="12700">
                <a:solidFill>
                  <a:srgbClr val="BF9000"/>
                </a:solidFill>
                <a:prstDash val="solid"/>
                <a:miter lim="80000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 name="Google Shape;227;p20"/>
              <p:cNvSpPr txBox="1"/>
              <p:nvPr/>
            </p:nvSpPr>
            <p:spPr>
              <a:xfrm>
                <a:off x="7129977" y="1766672"/>
                <a:ext cx="2960678" cy="2182175"/>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t/>
                </a:r>
                <a:endParaRPr sz="1979">
                  <a:solidFill>
                    <a:schemeClr val="dk1"/>
                  </a:solidFill>
                  <a:latin typeface="Avenir"/>
                  <a:ea typeface="Avenir"/>
                  <a:cs typeface="Avenir"/>
                  <a:sym typeface="Avenir"/>
                </a:endParaRPr>
              </a:p>
            </p:txBody>
          </p:sp>
          <p:cxnSp>
            <p:nvCxnSpPr>
              <p:cNvPr id="228" name="Google Shape;228;p20"/>
              <p:cNvCxnSpPr>
                <a:endCxn id="226" idx="2"/>
              </p:cNvCxnSpPr>
              <p:nvPr/>
            </p:nvCxnSpPr>
            <p:spPr>
              <a:xfrm>
                <a:off x="6910676" y="2857775"/>
                <a:ext cx="3180000" cy="0"/>
              </a:xfrm>
              <a:prstGeom prst="straightConnector1">
                <a:avLst/>
              </a:prstGeom>
              <a:noFill/>
              <a:ln cap="flat" cmpd="sng" w="12700">
                <a:solidFill>
                  <a:srgbClr val="BF9000"/>
                </a:solidFill>
                <a:prstDash val="solid"/>
                <a:miter lim="800000"/>
                <a:headEnd len="sm" w="sm" type="none"/>
                <a:tailEnd len="sm" w="sm" type="none"/>
              </a:ln>
            </p:spPr>
          </p:cxnSp>
        </p:grpSp>
        <p:sp>
          <p:nvSpPr>
            <p:cNvPr id="229" name="Google Shape;229;p20"/>
            <p:cNvSpPr/>
            <p:nvPr/>
          </p:nvSpPr>
          <p:spPr>
            <a:xfrm rot="5400000">
              <a:off x="5048379" y="1839017"/>
              <a:ext cx="2531298" cy="3179958"/>
            </a:xfrm>
            <a:prstGeom prst="trapezoid">
              <a:avLst>
                <a:gd fmla="val 10344" name="adj"/>
              </a:avLst>
            </a:prstGeom>
            <a:solidFill>
              <a:schemeClr val="accent6"/>
            </a:solidFill>
            <a:ln cap="flat" cmpd="sng" w="12700">
              <a:solidFill>
                <a:srgbClr val="385623"/>
              </a:solidFill>
              <a:prstDash val="solid"/>
              <a:miter lim="80000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 name="Google Shape;230;p20"/>
            <p:cNvSpPr txBox="1"/>
            <p:nvPr/>
          </p:nvSpPr>
          <p:spPr>
            <a:xfrm rot="10800000">
              <a:off x="4724045" y="2337888"/>
              <a:ext cx="2960668" cy="2182181"/>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t/>
              </a:r>
              <a:endParaRPr sz="1979">
                <a:solidFill>
                  <a:schemeClr val="dk1"/>
                </a:solidFill>
                <a:latin typeface="Avenir"/>
                <a:ea typeface="Avenir"/>
                <a:cs typeface="Avenir"/>
                <a:sym typeface="Avenir"/>
              </a:endParaRPr>
            </a:p>
          </p:txBody>
        </p:sp>
      </p:grpSp>
      <p:sp>
        <p:nvSpPr>
          <p:cNvPr id="231" name="Google Shape;231;p20"/>
          <p:cNvSpPr txBox="1"/>
          <p:nvPr/>
        </p:nvSpPr>
        <p:spPr>
          <a:xfrm>
            <a:off x="3904769" y="3747144"/>
            <a:ext cx="1218281" cy="307777"/>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400">
                <a:solidFill>
                  <a:srgbClr val="7F6000"/>
                </a:solidFill>
                <a:latin typeface="Avenir"/>
                <a:ea typeface="Avenir"/>
                <a:cs typeface="Avenir"/>
                <a:sym typeface="Avenir"/>
              </a:rPr>
              <a:t>Equity</a:t>
            </a:r>
            <a:endParaRPr/>
          </a:p>
        </p:txBody>
      </p:sp>
      <p:cxnSp>
        <p:nvCxnSpPr>
          <p:cNvPr id="232" name="Google Shape;232;p20"/>
          <p:cNvCxnSpPr/>
          <p:nvPr/>
        </p:nvCxnSpPr>
        <p:spPr>
          <a:xfrm>
            <a:off x="3270324" y="3136710"/>
            <a:ext cx="1075765" cy="0"/>
          </a:xfrm>
          <a:prstGeom prst="straightConnector1">
            <a:avLst/>
          </a:prstGeom>
          <a:noFill/>
          <a:ln cap="flat" cmpd="sng" w="9525">
            <a:solidFill>
              <a:schemeClr val="accent1"/>
            </a:solidFill>
            <a:prstDash val="solid"/>
            <a:miter lim="800000"/>
            <a:headEnd len="sm" w="sm" type="none"/>
            <a:tailEnd len="sm" w="sm" type="none"/>
          </a:ln>
        </p:spPr>
      </p:cxnSp>
      <p:sp>
        <p:nvSpPr>
          <p:cNvPr id="233" name="Google Shape;233;p20"/>
          <p:cNvSpPr txBox="1"/>
          <p:nvPr/>
        </p:nvSpPr>
        <p:spPr>
          <a:xfrm>
            <a:off x="2450674" y="2835508"/>
            <a:ext cx="2732441"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accent1"/>
                </a:solidFill>
                <a:latin typeface="Avenir"/>
                <a:ea typeface="Avenir"/>
                <a:cs typeface="Avenir"/>
                <a:sym typeface="Avenir"/>
              </a:rPr>
              <a:t>Entity 1</a:t>
            </a:r>
            <a:endParaRPr/>
          </a:p>
        </p:txBody>
      </p:sp>
      <p:sp>
        <p:nvSpPr>
          <p:cNvPr id="234" name="Google Shape;234;p20"/>
          <p:cNvSpPr txBox="1"/>
          <p:nvPr/>
        </p:nvSpPr>
        <p:spPr>
          <a:xfrm>
            <a:off x="3931611" y="3337564"/>
            <a:ext cx="1218281" cy="307777"/>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400">
                <a:solidFill>
                  <a:srgbClr val="7F6000"/>
                </a:solidFill>
                <a:latin typeface="Avenir"/>
                <a:ea typeface="Avenir"/>
                <a:cs typeface="Avenir"/>
                <a:sym typeface="Avenir"/>
              </a:rPr>
              <a:t>Liabilities</a:t>
            </a:r>
            <a:endParaRPr/>
          </a:p>
        </p:txBody>
      </p:sp>
      <p:sp>
        <p:nvSpPr>
          <p:cNvPr id="235" name="Google Shape;235;p20"/>
          <p:cNvSpPr txBox="1"/>
          <p:nvPr/>
        </p:nvSpPr>
        <p:spPr>
          <a:xfrm>
            <a:off x="2641626" y="3517949"/>
            <a:ext cx="1218281" cy="307777"/>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400">
                <a:solidFill>
                  <a:schemeClr val="lt1"/>
                </a:solidFill>
                <a:latin typeface="Avenir"/>
                <a:ea typeface="Avenir"/>
                <a:cs typeface="Avenir"/>
                <a:sym typeface="Avenir"/>
              </a:rPr>
              <a:t>Assets</a:t>
            </a:r>
            <a:endParaRPr/>
          </a:p>
        </p:txBody>
      </p:sp>
      <p:grpSp>
        <p:nvGrpSpPr>
          <p:cNvPr id="236" name="Google Shape;236;p20"/>
          <p:cNvGrpSpPr/>
          <p:nvPr/>
        </p:nvGrpSpPr>
        <p:grpSpPr>
          <a:xfrm>
            <a:off x="6865789" y="2194582"/>
            <a:ext cx="2459917" cy="969771"/>
            <a:chOff x="4724045" y="2163347"/>
            <a:chExt cx="6420881" cy="2531298"/>
          </a:xfrm>
        </p:grpSpPr>
        <p:grpSp>
          <p:nvGrpSpPr>
            <p:cNvPr id="237" name="Google Shape;237;p20"/>
            <p:cNvGrpSpPr/>
            <p:nvPr/>
          </p:nvGrpSpPr>
          <p:grpSpPr>
            <a:xfrm>
              <a:off x="7964926" y="2163354"/>
              <a:ext cx="3180000" cy="2531291"/>
              <a:chOff x="6910676" y="1592129"/>
              <a:chExt cx="3180000" cy="2531291"/>
            </a:xfrm>
          </p:grpSpPr>
          <p:sp>
            <p:nvSpPr>
              <p:cNvPr id="238" name="Google Shape;238;p20"/>
              <p:cNvSpPr/>
              <p:nvPr/>
            </p:nvSpPr>
            <p:spPr>
              <a:xfrm rot="-5400000">
                <a:off x="7235046" y="1267790"/>
                <a:ext cx="2531291" cy="3179969"/>
              </a:xfrm>
              <a:prstGeom prst="trapezoid">
                <a:avLst>
                  <a:gd fmla="val 10344" name="adj"/>
                </a:avLst>
              </a:prstGeom>
              <a:solidFill>
                <a:schemeClr val="accent4"/>
              </a:solidFill>
              <a:ln cap="flat" cmpd="sng" w="12700">
                <a:solidFill>
                  <a:srgbClr val="BF9000"/>
                </a:solidFill>
                <a:prstDash val="solid"/>
                <a:miter lim="80000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 name="Google Shape;239;p20"/>
              <p:cNvSpPr txBox="1"/>
              <p:nvPr/>
            </p:nvSpPr>
            <p:spPr>
              <a:xfrm>
                <a:off x="7129977" y="1766672"/>
                <a:ext cx="2960678" cy="2182175"/>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t/>
                </a:r>
                <a:endParaRPr sz="1979">
                  <a:solidFill>
                    <a:schemeClr val="dk1"/>
                  </a:solidFill>
                  <a:latin typeface="Avenir"/>
                  <a:ea typeface="Avenir"/>
                  <a:cs typeface="Avenir"/>
                  <a:sym typeface="Avenir"/>
                </a:endParaRPr>
              </a:p>
            </p:txBody>
          </p:sp>
          <p:cxnSp>
            <p:nvCxnSpPr>
              <p:cNvPr id="240" name="Google Shape;240;p20"/>
              <p:cNvCxnSpPr>
                <a:endCxn id="238" idx="2"/>
              </p:cNvCxnSpPr>
              <p:nvPr/>
            </p:nvCxnSpPr>
            <p:spPr>
              <a:xfrm>
                <a:off x="6910676" y="2857775"/>
                <a:ext cx="3180000" cy="0"/>
              </a:xfrm>
              <a:prstGeom prst="straightConnector1">
                <a:avLst/>
              </a:prstGeom>
              <a:noFill/>
              <a:ln cap="flat" cmpd="sng" w="12700">
                <a:solidFill>
                  <a:srgbClr val="BF9000"/>
                </a:solidFill>
                <a:prstDash val="solid"/>
                <a:miter lim="800000"/>
                <a:headEnd len="sm" w="sm" type="none"/>
                <a:tailEnd len="sm" w="sm" type="none"/>
              </a:ln>
            </p:spPr>
          </p:cxnSp>
        </p:grpSp>
        <p:sp>
          <p:nvSpPr>
            <p:cNvPr id="241" name="Google Shape;241;p20"/>
            <p:cNvSpPr/>
            <p:nvPr/>
          </p:nvSpPr>
          <p:spPr>
            <a:xfrm rot="5400000">
              <a:off x="5048379" y="1839017"/>
              <a:ext cx="2531298" cy="3179958"/>
            </a:xfrm>
            <a:prstGeom prst="trapezoid">
              <a:avLst>
                <a:gd fmla="val 10344" name="adj"/>
              </a:avLst>
            </a:prstGeom>
            <a:solidFill>
              <a:schemeClr val="accent6"/>
            </a:solidFill>
            <a:ln cap="flat" cmpd="sng" w="12700">
              <a:solidFill>
                <a:srgbClr val="385623"/>
              </a:solidFill>
              <a:prstDash val="solid"/>
              <a:miter lim="80000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 name="Google Shape;242;p20"/>
            <p:cNvSpPr txBox="1"/>
            <p:nvPr/>
          </p:nvSpPr>
          <p:spPr>
            <a:xfrm rot="10800000">
              <a:off x="4724045" y="2337888"/>
              <a:ext cx="2960668" cy="2182181"/>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t/>
              </a:r>
              <a:endParaRPr sz="1979">
                <a:solidFill>
                  <a:schemeClr val="dk1"/>
                </a:solidFill>
                <a:latin typeface="Avenir"/>
                <a:ea typeface="Avenir"/>
                <a:cs typeface="Avenir"/>
                <a:sym typeface="Avenir"/>
              </a:endParaRPr>
            </a:p>
          </p:txBody>
        </p:sp>
      </p:grpSp>
      <p:sp>
        <p:nvSpPr>
          <p:cNvPr id="243" name="Google Shape;243;p20"/>
          <p:cNvSpPr txBox="1"/>
          <p:nvPr/>
        </p:nvSpPr>
        <p:spPr>
          <a:xfrm>
            <a:off x="8118180" y="2754773"/>
            <a:ext cx="1218281" cy="307777"/>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400">
                <a:solidFill>
                  <a:srgbClr val="7F6000"/>
                </a:solidFill>
                <a:latin typeface="Avenir"/>
                <a:ea typeface="Avenir"/>
                <a:cs typeface="Avenir"/>
                <a:sym typeface="Avenir"/>
              </a:rPr>
              <a:t>Equity</a:t>
            </a:r>
            <a:endParaRPr/>
          </a:p>
        </p:txBody>
      </p:sp>
      <p:cxnSp>
        <p:nvCxnSpPr>
          <p:cNvPr id="244" name="Google Shape;244;p20"/>
          <p:cNvCxnSpPr/>
          <p:nvPr/>
        </p:nvCxnSpPr>
        <p:spPr>
          <a:xfrm>
            <a:off x="7483735" y="2144339"/>
            <a:ext cx="1075765" cy="0"/>
          </a:xfrm>
          <a:prstGeom prst="straightConnector1">
            <a:avLst/>
          </a:prstGeom>
          <a:noFill/>
          <a:ln cap="flat" cmpd="sng" w="9525">
            <a:solidFill>
              <a:schemeClr val="accent1"/>
            </a:solidFill>
            <a:prstDash val="solid"/>
            <a:miter lim="800000"/>
            <a:headEnd len="sm" w="sm" type="none"/>
            <a:tailEnd len="sm" w="sm" type="none"/>
          </a:ln>
        </p:spPr>
      </p:cxnSp>
      <p:sp>
        <p:nvSpPr>
          <p:cNvPr id="245" name="Google Shape;245;p20"/>
          <p:cNvSpPr txBox="1"/>
          <p:nvPr/>
        </p:nvSpPr>
        <p:spPr>
          <a:xfrm>
            <a:off x="6664085" y="1843137"/>
            <a:ext cx="2732441"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accent1"/>
                </a:solidFill>
                <a:latin typeface="Avenir"/>
                <a:ea typeface="Avenir"/>
                <a:cs typeface="Avenir"/>
                <a:sym typeface="Avenir"/>
              </a:rPr>
              <a:t>Entity 2</a:t>
            </a:r>
            <a:endParaRPr/>
          </a:p>
        </p:txBody>
      </p:sp>
      <p:sp>
        <p:nvSpPr>
          <p:cNvPr id="246" name="Google Shape;246;p20"/>
          <p:cNvSpPr txBox="1"/>
          <p:nvPr/>
        </p:nvSpPr>
        <p:spPr>
          <a:xfrm>
            <a:off x="8145022" y="2345193"/>
            <a:ext cx="1218281" cy="307777"/>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400">
                <a:solidFill>
                  <a:srgbClr val="7F6000"/>
                </a:solidFill>
                <a:latin typeface="Avenir"/>
                <a:ea typeface="Avenir"/>
                <a:cs typeface="Avenir"/>
                <a:sym typeface="Avenir"/>
              </a:rPr>
              <a:t>Liabilities</a:t>
            </a:r>
            <a:endParaRPr/>
          </a:p>
        </p:txBody>
      </p:sp>
      <p:sp>
        <p:nvSpPr>
          <p:cNvPr id="247" name="Google Shape;247;p20"/>
          <p:cNvSpPr txBox="1"/>
          <p:nvPr/>
        </p:nvSpPr>
        <p:spPr>
          <a:xfrm>
            <a:off x="6841371" y="2417857"/>
            <a:ext cx="1218281" cy="5232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400">
                <a:solidFill>
                  <a:schemeClr val="lt1"/>
                </a:solidFill>
                <a:latin typeface="Avenir"/>
                <a:ea typeface="Avenir"/>
                <a:cs typeface="Avenir"/>
                <a:sym typeface="Avenir"/>
              </a:rPr>
              <a:t>Loan receivable</a:t>
            </a:r>
            <a:endParaRPr/>
          </a:p>
        </p:txBody>
      </p:sp>
      <p:grpSp>
        <p:nvGrpSpPr>
          <p:cNvPr id="248" name="Google Shape;248;p20"/>
          <p:cNvGrpSpPr/>
          <p:nvPr/>
        </p:nvGrpSpPr>
        <p:grpSpPr>
          <a:xfrm>
            <a:off x="6832566" y="4408859"/>
            <a:ext cx="2459917" cy="969771"/>
            <a:chOff x="4724045" y="2163347"/>
            <a:chExt cx="6420881" cy="2531298"/>
          </a:xfrm>
        </p:grpSpPr>
        <p:grpSp>
          <p:nvGrpSpPr>
            <p:cNvPr id="249" name="Google Shape;249;p20"/>
            <p:cNvGrpSpPr/>
            <p:nvPr/>
          </p:nvGrpSpPr>
          <p:grpSpPr>
            <a:xfrm>
              <a:off x="7964926" y="2163354"/>
              <a:ext cx="3180000" cy="2531291"/>
              <a:chOff x="6910676" y="1592129"/>
              <a:chExt cx="3180000" cy="2531291"/>
            </a:xfrm>
          </p:grpSpPr>
          <p:sp>
            <p:nvSpPr>
              <p:cNvPr id="250" name="Google Shape;250;p20"/>
              <p:cNvSpPr/>
              <p:nvPr/>
            </p:nvSpPr>
            <p:spPr>
              <a:xfrm rot="-5400000">
                <a:off x="7235046" y="1267790"/>
                <a:ext cx="2531291" cy="3179969"/>
              </a:xfrm>
              <a:prstGeom prst="trapezoid">
                <a:avLst>
                  <a:gd fmla="val 10344" name="adj"/>
                </a:avLst>
              </a:prstGeom>
              <a:solidFill>
                <a:schemeClr val="accent4"/>
              </a:solidFill>
              <a:ln cap="flat" cmpd="sng" w="12700">
                <a:solidFill>
                  <a:srgbClr val="BF9000"/>
                </a:solidFill>
                <a:prstDash val="solid"/>
                <a:miter lim="80000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 name="Google Shape;251;p20"/>
              <p:cNvSpPr txBox="1"/>
              <p:nvPr/>
            </p:nvSpPr>
            <p:spPr>
              <a:xfrm>
                <a:off x="7129977" y="1766672"/>
                <a:ext cx="2960678" cy="2182175"/>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t/>
                </a:r>
                <a:endParaRPr sz="1979">
                  <a:solidFill>
                    <a:schemeClr val="dk1"/>
                  </a:solidFill>
                  <a:latin typeface="Avenir"/>
                  <a:ea typeface="Avenir"/>
                  <a:cs typeface="Avenir"/>
                  <a:sym typeface="Avenir"/>
                </a:endParaRPr>
              </a:p>
            </p:txBody>
          </p:sp>
          <p:cxnSp>
            <p:nvCxnSpPr>
              <p:cNvPr id="252" name="Google Shape;252;p20"/>
              <p:cNvCxnSpPr>
                <a:endCxn id="250" idx="2"/>
              </p:cNvCxnSpPr>
              <p:nvPr/>
            </p:nvCxnSpPr>
            <p:spPr>
              <a:xfrm>
                <a:off x="6910676" y="2857775"/>
                <a:ext cx="3180000" cy="0"/>
              </a:xfrm>
              <a:prstGeom prst="straightConnector1">
                <a:avLst/>
              </a:prstGeom>
              <a:noFill/>
              <a:ln cap="flat" cmpd="sng" w="12700">
                <a:solidFill>
                  <a:srgbClr val="BF9000"/>
                </a:solidFill>
                <a:prstDash val="solid"/>
                <a:miter lim="800000"/>
                <a:headEnd len="sm" w="sm" type="none"/>
                <a:tailEnd len="sm" w="sm" type="none"/>
              </a:ln>
            </p:spPr>
          </p:cxnSp>
        </p:grpSp>
        <p:sp>
          <p:nvSpPr>
            <p:cNvPr id="253" name="Google Shape;253;p20"/>
            <p:cNvSpPr/>
            <p:nvPr/>
          </p:nvSpPr>
          <p:spPr>
            <a:xfrm rot="5400000">
              <a:off x="5048379" y="1839017"/>
              <a:ext cx="2531298" cy="3179958"/>
            </a:xfrm>
            <a:prstGeom prst="trapezoid">
              <a:avLst>
                <a:gd fmla="val 10344" name="adj"/>
              </a:avLst>
            </a:prstGeom>
            <a:solidFill>
              <a:schemeClr val="accent6"/>
            </a:solidFill>
            <a:ln cap="flat" cmpd="sng" w="12700">
              <a:solidFill>
                <a:srgbClr val="385623"/>
              </a:solidFill>
              <a:prstDash val="solid"/>
              <a:miter lim="80000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 name="Google Shape;254;p20"/>
            <p:cNvSpPr txBox="1"/>
            <p:nvPr/>
          </p:nvSpPr>
          <p:spPr>
            <a:xfrm rot="10800000">
              <a:off x="4724045" y="2337888"/>
              <a:ext cx="2960668" cy="2182181"/>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t/>
              </a:r>
              <a:endParaRPr sz="1979">
                <a:solidFill>
                  <a:schemeClr val="dk1"/>
                </a:solidFill>
                <a:latin typeface="Avenir"/>
                <a:ea typeface="Avenir"/>
                <a:cs typeface="Avenir"/>
                <a:sym typeface="Avenir"/>
              </a:endParaRPr>
            </a:p>
          </p:txBody>
        </p:sp>
      </p:grpSp>
      <p:sp>
        <p:nvSpPr>
          <p:cNvPr id="255" name="Google Shape;255;p20"/>
          <p:cNvSpPr txBox="1"/>
          <p:nvPr/>
        </p:nvSpPr>
        <p:spPr>
          <a:xfrm>
            <a:off x="8084957" y="4969050"/>
            <a:ext cx="1218281" cy="307777"/>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400">
                <a:solidFill>
                  <a:srgbClr val="7F6000"/>
                </a:solidFill>
                <a:latin typeface="Avenir"/>
                <a:ea typeface="Avenir"/>
                <a:cs typeface="Avenir"/>
                <a:sym typeface="Avenir"/>
              </a:rPr>
              <a:t>Equity</a:t>
            </a:r>
            <a:endParaRPr/>
          </a:p>
        </p:txBody>
      </p:sp>
      <p:cxnSp>
        <p:nvCxnSpPr>
          <p:cNvPr id="256" name="Google Shape;256;p20"/>
          <p:cNvCxnSpPr/>
          <p:nvPr/>
        </p:nvCxnSpPr>
        <p:spPr>
          <a:xfrm>
            <a:off x="7450512" y="4358616"/>
            <a:ext cx="1075765" cy="0"/>
          </a:xfrm>
          <a:prstGeom prst="straightConnector1">
            <a:avLst/>
          </a:prstGeom>
          <a:noFill/>
          <a:ln cap="flat" cmpd="sng" w="9525">
            <a:solidFill>
              <a:schemeClr val="accent1"/>
            </a:solidFill>
            <a:prstDash val="solid"/>
            <a:miter lim="800000"/>
            <a:headEnd len="sm" w="sm" type="none"/>
            <a:tailEnd len="sm" w="sm" type="none"/>
          </a:ln>
        </p:spPr>
      </p:cxnSp>
      <p:sp>
        <p:nvSpPr>
          <p:cNvPr id="257" name="Google Shape;257;p20"/>
          <p:cNvSpPr txBox="1"/>
          <p:nvPr/>
        </p:nvSpPr>
        <p:spPr>
          <a:xfrm>
            <a:off x="6630862" y="4057414"/>
            <a:ext cx="2732441"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accent1"/>
                </a:solidFill>
                <a:latin typeface="Avenir"/>
                <a:ea typeface="Avenir"/>
                <a:cs typeface="Avenir"/>
                <a:sym typeface="Avenir"/>
              </a:rPr>
              <a:t>Entity 3</a:t>
            </a:r>
            <a:endParaRPr/>
          </a:p>
        </p:txBody>
      </p:sp>
      <p:sp>
        <p:nvSpPr>
          <p:cNvPr id="258" name="Google Shape;258;p20"/>
          <p:cNvSpPr txBox="1"/>
          <p:nvPr/>
        </p:nvSpPr>
        <p:spPr>
          <a:xfrm>
            <a:off x="8111799" y="4559470"/>
            <a:ext cx="1218281" cy="307777"/>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400">
                <a:solidFill>
                  <a:srgbClr val="7F6000"/>
                </a:solidFill>
                <a:latin typeface="Avenir"/>
                <a:ea typeface="Avenir"/>
                <a:cs typeface="Avenir"/>
                <a:sym typeface="Avenir"/>
              </a:rPr>
              <a:t>Liabilities</a:t>
            </a:r>
            <a:endParaRPr/>
          </a:p>
        </p:txBody>
      </p:sp>
      <p:sp>
        <p:nvSpPr>
          <p:cNvPr id="259" name="Google Shape;259;p20"/>
          <p:cNvSpPr txBox="1"/>
          <p:nvPr/>
        </p:nvSpPr>
        <p:spPr>
          <a:xfrm>
            <a:off x="6809218" y="4655059"/>
            <a:ext cx="1218281" cy="5232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400">
                <a:solidFill>
                  <a:schemeClr val="lt1"/>
                </a:solidFill>
                <a:latin typeface="Avenir"/>
                <a:ea typeface="Avenir"/>
                <a:cs typeface="Avenir"/>
                <a:sym typeface="Avenir"/>
              </a:rPr>
              <a:t>Investment in equity</a:t>
            </a:r>
            <a:endParaRPr/>
          </a:p>
        </p:txBody>
      </p:sp>
      <p:sp>
        <p:nvSpPr>
          <p:cNvPr id="260" name="Google Shape;260;p20"/>
          <p:cNvSpPr/>
          <p:nvPr/>
        </p:nvSpPr>
        <p:spPr>
          <a:xfrm flipH="1" rot="-6873230">
            <a:off x="4939767" y="2817001"/>
            <a:ext cx="2190627" cy="2184541"/>
          </a:xfrm>
          <a:prstGeom prst="arc">
            <a:avLst>
              <a:gd fmla="val 16200000" name="adj1"/>
              <a:gd fmla="val 0" name="adj2"/>
            </a:avLst>
          </a:prstGeom>
          <a:noFill/>
          <a:ln cap="flat" cmpd="sng" w="114300">
            <a:solidFill>
              <a:srgbClr val="FF2F92"/>
            </a:solidFill>
            <a:prstDash val="solid"/>
            <a:miter lim="800000"/>
            <a:headEnd len="med" w="med" type="triangl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Avenir"/>
              <a:ea typeface="Avenir"/>
              <a:cs typeface="Avenir"/>
              <a:sym typeface="Avenir"/>
            </a:endParaRPr>
          </a:p>
        </p:txBody>
      </p:sp>
      <p:sp>
        <p:nvSpPr>
          <p:cNvPr id="261" name="Google Shape;261;p20"/>
          <p:cNvSpPr/>
          <p:nvPr/>
        </p:nvSpPr>
        <p:spPr>
          <a:xfrm rot="-3420519">
            <a:off x="4998137" y="2462358"/>
            <a:ext cx="2190627" cy="2184541"/>
          </a:xfrm>
          <a:prstGeom prst="arc">
            <a:avLst>
              <a:gd fmla="val 16200000" name="adj1"/>
              <a:gd fmla="val 0" name="adj2"/>
            </a:avLst>
          </a:prstGeom>
          <a:noFill/>
          <a:ln cap="flat" cmpd="sng" w="114300">
            <a:solidFill>
              <a:srgbClr val="FF2F92"/>
            </a:solidFill>
            <a:prstDash val="solid"/>
            <a:miter lim="800000"/>
            <a:headEnd len="med" w="med" type="triangl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Avenir"/>
              <a:ea typeface="Avenir"/>
              <a:cs typeface="Avenir"/>
              <a:sym typeface="Avenir"/>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EE599"/>
        </a:solidFill>
      </p:bgPr>
    </p:bg>
    <p:spTree>
      <p:nvGrpSpPr>
        <p:cNvPr id="266" name="Shape 266"/>
        <p:cNvGrpSpPr/>
        <p:nvPr/>
      </p:nvGrpSpPr>
      <p:grpSpPr>
        <a:xfrm>
          <a:off x="0" y="0"/>
          <a:ext cx="0" cy="0"/>
          <a:chOff x="0" y="0"/>
          <a:chExt cx="0" cy="0"/>
        </a:xfrm>
      </p:grpSpPr>
      <p:sp>
        <p:nvSpPr>
          <p:cNvPr id="267" name="Google Shape;267;p21"/>
          <p:cNvSpPr txBox="1"/>
          <p:nvPr/>
        </p:nvSpPr>
        <p:spPr>
          <a:xfrm>
            <a:off x="0" y="-2"/>
            <a:ext cx="12192000" cy="1080000"/>
          </a:xfrm>
          <a:prstGeom prst="rect">
            <a:avLst/>
          </a:prstGeom>
          <a:solidFill>
            <a:srgbClr val="521B93"/>
          </a:solidFill>
          <a:ln>
            <a:noFill/>
          </a:ln>
        </p:spPr>
        <p:txBody>
          <a:bodyPr anchorCtr="0" anchor="ctr" bIns="45700" lIns="91425" spcFirstLastPara="1" rIns="91425" wrap="square" tIns="45700">
            <a:noAutofit/>
          </a:bodyPr>
          <a:lstStyle/>
          <a:p>
            <a:pPr indent="0" lvl="0" marL="363538" marR="0" rtl="0" algn="l">
              <a:lnSpc>
                <a:spcPct val="120000"/>
              </a:lnSpc>
              <a:spcBef>
                <a:spcPts val="0"/>
              </a:spcBef>
              <a:spcAft>
                <a:spcPts val="0"/>
              </a:spcAft>
              <a:buNone/>
            </a:pPr>
            <a:r>
              <a:rPr b="1" lang="en-US" sz="4000">
                <a:solidFill>
                  <a:schemeClr val="accent4"/>
                </a:solidFill>
                <a:latin typeface="Avenir"/>
                <a:ea typeface="Avenir"/>
                <a:cs typeface="Avenir"/>
                <a:sym typeface="Avenir"/>
              </a:rPr>
              <a:t>3.  Deriving profit</a:t>
            </a:r>
            <a:endParaRPr/>
          </a:p>
        </p:txBody>
      </p:sp>
      <p:sp>
        <p:nvSpPr>
          <p:cNvPr id="268" name="Google Shape;268;p21"/>
          <p:cNvSpPr txBox="1"/>
          <p:nvPr/>
        </p:nvSpPr>
        <p:spPr>
          <a:xfrm>
            <a:off x="6281577" y="4413692"/>
            <a:ext cx="4107600" cy="1170000"/>
          </a:xfrm>
          <a:prstGeom prst="rect">
            <a:avLst/>
          </a:prstGeom>
          <a:solidFill>
            <a:srgbClr val="FFF2CC"/>
          </a:solidFill>
          <a:ln cap="flat" cmpd="sng" w="76200">
            <a:solidFill>
              <a:schemeClr val="accent2"/>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b="1" lang="en-US" sz="2800">
                <a:solidFill>
                  <a:srgbClr val="C55A11"/>
                </a:solidFill>
                <a:latin typeface="Avenir"/>
                <a:ea typeface="Avenir"/>
                <a:cs typeface="Avenir"/>
                <a:sym typeface="Avenir"/>
              </a:rPr>
              <a:t>Equity</a:t>
            </a:r>
            <a:r>
              <a:rPr b="1" lang="en-US" sz="2800">
                <a:solidFill>
                  <a:srgbClr val="FFF2CC"/>
                </a:solidFill>
                <a:latin typeface="Avenir"/>
                <a:ea typeface="Avenir"/>
                <a:cs typeface="Avenir"/>
                <a:sym typeface="Avenir"/>
              </a:rPr>
              <a:t>_ </a:t>
            </a:r>
            <a:endParaRPr/>
          </a:p>
        </p:txBody>
      </p:sp>
      <p:sp>
        <p:nvSpPr>
          <p:cNvPr id="269" name="Google Shape;269;p21"/>
          <p:cNvSpPr txBox="1"/>
          <p:nvPr/>
        </p:nvSpPr>
        <p:spPr>
          <a:xfrm>
            <a:off x="6281577" y="3079513"/>
            <a:ext cx="4107600" cy="1170000"/>
          </a:xfrm>
          <a:prstGeom prst="rect">
            <a:avLst/>
          </a:prstGeom>
          <a:solidFill>
            <a:srgbClr val="FFF2CC"/>
          </a:solidFill>
          <a:ln cap="flat" cmpd="sng" w="76200">
            <a:solidFill>
              <a:schemeClr val="accent2"/>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b="1" lang="en-US" sz="2800">
                <a:solidFill>
                  <a:srgbClr val="C55A11"/>
                </a:solidFill>
                <a:latin typeface="Avenir"/>
                <a:ea typeface="Avenir"/>
                <a:cs typeface="Avenir"/>
                <a:sym typeface="Avenir"/>
              </a:rPr>
              <a:t>Liabilities</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270" name="Google Shape;270;p21"/>
          <p:cNvSpPr txBox="1"/>
          <p:nvPr/>
        </p:nvSpPr>
        <p:spPr>
          <a:xfrm>
            <a:off x="1990165" y="3079513"/>
            <a:ext cx="4100938" cy="2514464"/>
          </a:xfrm>
          <a:prstGeom prst="rect">
            <a:avLst/>
          </a:prstGeom>
          <a:solidFill>
            <a:srgbClr val="C4E0B2"/>
          </a:solidFill>
          <a:ln cap="flat" cmpd="sng" w="76200">
            <a:solidFill>
              <a:srgbClr val="548135"/>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120000"/>
              </a:lnSpc>
              <a:spcBef>
                <a:spcPts val="0"/>
              </a:spcBef>
              <a:spcAft>
                <a:spcPts val="0"/>
              </a:spcAft>
              <a:buNone/>
            </a:pPr>
            <a:r>
              <a:rPr b="1" lang="en-US" sz="2800">
                <a:solidFill>
                  <a:srgbClr val="C4E0B2"/>
                </a:solidFill>
                <a:latin typeface="Avenir"/>
                <a:ea typeface="Avenir"/>
                <a:cs typeface="Avenir"/>
                <a:sym typeface="Avenir"/>
              </a:rPr>
              <a:t>_</a:t>
            </a:r>
            <a:r>
              <a:rPr b="1" lang="en-US" sz="2800">
                <a:solidFill>
                  <a:srgbClr val="385623"/>
                </a:solidFill>
                <a:latin typeface="Avenir"/>
                <a:ea typeface="Avenir"/>
                <a:cs typeface="Avenir"/>
                <a:sym typeface="Avenir"/>
              </a:rPr>
              <a:t>Assets</a:t>
            </a:r>
            <a:endParaRPr/>
          </a:p>
        </p:txBody>
      </p:sp>
      <p:sp>
        <p:nvSpPr>
          <p:cNvPr id="271" name="Google Shape;271;p21"/>
          <p:cNvSpPr txBox="1"/>
          <p:nvPr/>
        </p:nvSpPr>
        <p:spPr>
          <a:xfrm>
            <a:off x="1990165" y="2236047"/>
            <a:ext cx="4100938" cy="645458"/>
          </a:xfrm>
          <a:prstGeom prst="rect">
            <a:avLst/>
          </a:prstGeom>
          <a:solidFill>
            <a:srgbClr val="548135"/>
          </a:solidFill>
          <a:ln cap="flat" cmpd="sng" w="76200">
            <a:solidFill>
              <a:srgbClr val="548135"/>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800">
                <a:solidFill>
                  <a:schemeClr val="lt1"/>
                </a:solidFill>
                <a:latin typeface="Avenir"/>
                <a:ea typeface="Avenir"/>
                <a:cs typeface="Avenir"/>
                <a:sym typeface="Avenir"/>
              </a:rPr>
              <a:t>Uses of funds</a:t>
            </a:r>
            <a:endParaRPr/>
          </a:p>
        </p:txBody>
      </p:sp>
      <p:sp>
        <p:nvSpPr>
          <p:cNvPr id="272" name="Google Shape;272;p21"/>
          <p:cNvSpPr txBox="1"/>
          <p:nvPr/>
        </p:nvSpPr>
        <p:spPr>
          <a:xfrm>
            <a:off x="6281577" y="2236047"/>
            <a:ext cx="4100938" cy="645458"/>
          </a:xfrm>
          <a:prstGeom prst="rect">
            <a:avLst/>
          </a:prstGeom>
          <a:solidFill>
            <a:schemeClr val="accent2"/>
          </a:solidFill>
          <a:ln cap="flat" cmpd="sng" w="76200">
            <a:solidFill>
              <a:schemeClr val="accent2"/>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800">
                <a:solidFill>
                  <a:schemeClr val="lt1"/>
                </a:solidFill>
                <a:latin typeface="Avenir"/>
                <a:ea typeface="Avenir"/>
                <a:cs typeface="Avenir"/>
                <a:sym typeface="Avenir"/>
              </a:rPr>
              <a:t>Sources of funds</a:t>
            </a:r>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22"/>
          <p:cNvSpPr txBox="1"/>
          <p:nvPr/>
        </p:nvSpPr>
        <p:spPr>
          <a:xfrm>
            <a:off x="6227788" y="2623662"/>
            <a:ext cx="4677777" cy="2227378"/>
          </a:xfrm>
          <a:prstGeom prst="rect">
            <a:avLst/>
          </a:prstGeom>
          <a:no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lang="en-US" sz="2800">
                <a:solidFill>
                  <a:schemeClr val="dk1"/>
                </a:solidFill>
                <a:latin typeface="Avenir"/>
                <a:ea typeface="Avenir"/>
                <a:cs typeface="Avenir"/>
                <a:sym typeface="Avenir"/>
              </a:rPr>
              <a:t>Equity</a:t>
            </a:r>
            <a:r>
              <a:rPr b="1" lang="en-US" sz="2800">
                <a:solidFill>
                  <a:schemeClr val="lt1"/>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279" name="Google Shape;279;p22"/>
          <p:cNvSpPr txBox="1"/>
          <p:nvPr/>
        </p:nvSpPr>
        <p:spPr>
          <a:xfrm>
            <a:off x="6227788" y="1325627"/>
            <a:ext cx="4677777" cy="1150816"/>
          </a:xfrm>
          <a:prstGeom prst="rect">
            <a:avLst/>
          </a:prstGeom>
          <a:no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lang="en-US" sz="2800">
                <a:solidFill>
                  <a:schemeClr val="dk1"/>
                </a:solidFill>
                <a:latin typeface="Avenir"/>
                <a:ea typeface="Avenir"/>
                <a:cs typeface="Avenir"/>
                <a:sym typeface="Avenir"/>
              </a:rPr>
              <a:t>Liabilities</a:t>
            </a:r>
            <a:r>
              <a:rPr b="1" lang="en-US" sz="2800">
                <a:solidFill>
                  <a:schemeClr val="lt1"/>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280" name="Google Shape;280;p22"/>
          <p:cNvSpPr txBox="1"/>
          <p:nvPr/>
        </p:nvSpPr>
        <p:spPr>
          <a:xfrm>
            <a:off x="8641975" y="897526"/>
            <a:ext cx="2279791" cy="40011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000">
                <a:solidFill>
                  <a:schemeClr val="accent2"/>
                </a:solidFill>
                <a:latin typeface="Avenir"/>
                <a:ea typeface="Avenir"/>
                <a:cs typeface="Avenir"/>
                <a:sym typeface="Avenir"/>
              </a:rPr>
              <a:t>Sources of funds</a:t>
            </a:r>
            <a:endParaRPr/>
          </a:p>
        </p:txBody>
      </p:sp>
      <p:cxnSp>
        <p:nvCxnSpPr>
          <p:cNvPr id="281" name="Google Shape;281;p22"/>
          <p:cNvCxnSpPr/>
          <p:nvPr/>
        </p:nvCxnSpPr>
        <p:spPr>
          <a:xfrm flipH="1" rot="10800000">
            <a:off x="3613035" y="1065456"/>
            <a:ext cx="4777463" cy="18029"/>
          </a:xfrm>
          <a:prstGeom prst="straightConnector1">
            <a:avLst/>
          </a:prstGeom>
          <a:noFill/>
          <a:ln cap="flat" cmpd="sng" w="28575">
            <a:solidFill>
              <a:schemeClr val="accent1"/>
            </a:solidFill>
            <a:prstDash val="dot"/>
            <a:miter lim="800000"/>
            <a:headEnd len="sm" w="sm" type="none"/>
            <a:tailEnd len="sm" w="sm" type="none"/>
          </a:ln>
        </p:spPr>
      </p:cxnSp>
      <p:sp>
        <p:nvSpPr>
          <p:cNvPr id="282" name="Google Shape;282;p22"/>
          <p:cNvSpPr txBox="1"/>
          <p:nvPr/>
        </p:nvSpPr>
        <p:spPr>
          <a:xfrm>
            <a:off x="1358153" y="1325627"/>
            <a:ext cx="4679162" cy="3525413"/>
          </a:xfrm>
          <a:prstGeom prst="rect">
            <a:avLst/>
          </a:prstGeom>
          <a:no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120000"/>
              </a:lnSpc>
              <a:spcBef>
                <a:spcPts val="0"/>
              </a:spcBef>
              <a:spcAft>
                <a:spcPts val="0"/>
              </a:spcAft>
              <a:buNone/>
            </a:pPr>
            <a:r>
              <a:rPr b="1" lang="en-US" sz="2800">
                <a:solidFill>
                  <a:schemeClr val="lt1"/>
                </a:solidFill>
                <a:latin typeface="Avenir"/>
                <a:ea typeface="Avenir"/>
                <a:cs typeface="Avenir"/>
                <a:sym typeface="Avenir"/>
              </a:rPr>
              <a:t>_</a:t>
            </a:r>
            <a:r>
              <a:rPr lang="en-US" sz="2800">
                <a:solidFill>
                  <a:schemeClr val="dk1"/>
                </a:solidFill>
                <a:latin typeface="Avenir"/>
                <a:ea typeface="Avenir"/>
                <a:cs typeface="Avenir"/>
                <a:sym typeface="Avenir"/>
              </a:rPr>
              <a:t>Assets</a:t>
            </a:r>
            <a:endParaRPr/>
          </a:p>
        </p:txBody>
      </p:sp>
      <p:sp>
        <p:nvSpPr>
          <p:cNvPr id="283" name="Google Shape;283;p22"/>
          <p:cNvSpPr txBox="1"/>
          <p:nvPr/>
        </p:nvSpPr>
        <p:spPr>
          <a:xfrm>
            <a:off x="1341185" y="894976"/>
            <a:ext cx="1880643" cy="40011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000">
                <a:solidFill>
                  <a:schemeClr val="accent6"/>
                </a:solidFill>
                <a:latin typeface="Avenir"/>
                <a:ea typeface="Avenir"/>
                <a:cs typeface="Avenir"/>
                <a:sym typeface="Avenir"/>
              </a:rPr>
              <a:t>Uses of funds</a:t>
            </a:r>
            <a:endParaRPr/>
          </a:p>
        </p:txBody>
      </p:sp>
      <p:sp>
        <p:nvSpPr>
          <p:cNvPr id="284" name="Google Shape;284;p22"/>
          <p:cNvSpPr txBox="1"/>
          <p:nvPr/>
        </p:nvSpPr>
        <p:spPr>
          <a:xfrm>
            <a:off x="3613035" y="500757"/>
            <a:ext cx="4777463" cy="5232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2800">
                <a:solidFill>
                  <a:schemeClr val="accent1"/>
                </a:solidFill>
                <a:latin typeface="Avenir"/>
                <a:ea typeface="Avenir"/>
                <a:cs typeface="Avenir"/>
                <a:sym typeface="Avenir"/>
              </a:rPr>
              <a:t>My Consulting Limited</a:t>
            </a:r>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9" name="Shape 289"/>
        <p:cNvGrpSpPr/>
        <p:nvPr/>
      </p:nvGrpSpPr>
      <p:grpSpPr>
        <a:xfrm>
          <a:off x="0" y="0"/>
          <a:ext cx="0" cy="0"/>
          <a:chOff x="0" y="0"/>
          <a:chExt cx="0" cy="0"/>
        </a:xfrm>
      </p:grpSpPr>
      <p:sp>
        <p:nvSpPr>
          <p:cNvPr id="290" name="Google Shape;290;p23"/>
          <p:cNvSpPr txBox="1"/>
          <p:nvPr/>
        </p:nvSpPr>
        <p:spPr>
          <a:xfrm>
            <a:off x="6227788" y="2623662"/>
            <a:ext cx="4677777" cy="2227378"/>
          </a:xfrm>
          <a:prstGeom prst="rect">
            <a:avLst/>
          </a:prstGeom>
          <a:no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lang="en-US" sz="2800">
                <a:solidFill>
                  <a:schemeClr val="dk1"/>
                </a:solidFill>
                <a:latin typeface="Avenir"/>
                <a:ea typeface="Avenir"/>
                <a:cs typeface="Avenir"/>
                <a:sym typeface="Avenir"/>
              </a:rPr>
              <a:t>Equity</a:t>
            </a:r>
            <a:r>
              <a:rPr b="1" lang="en-US" sz="2800">
                <a:solidFill>
                  <a:schemeClr val="lt1"/>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291" name="Google Shape;291;p23"/>
          <p:cNvSpPr txBox="1"/>
          <p:nvPr/>
        </p:nvSpPr>
        <p:spPr>
          <a:xfrm>
            <a:off x="6227788" y="1325627"/>
            <a:ext cx="4677777" cy="1150816"/>
          </a:xfrm>
          <a:prstGeom prst="rect">
            <a:avLst/>
          </a:prstGeom>
          <a:no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lang="en-US" sz="2800">
                <a:solidFill>
                  <a:schemeClr val="dk1"/>
                </a:solidFill>
                <a:latin typeface="Avenir"/>
                <a:ea typeface="Avenir"/>
                <a:cs typeface="Avenir"/>
                <a:sym typeface="Avenir"/>
              </a:rPr>
              <a:t>Liabilities</a:t>
            </a:r>
            <a:r>
              <a:rPr b="1" lang="en-US" sz="2800">
                <a:solidFill>
                  <a:schemeClr val="lt1"/>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292" name="Google Shape;292;p23"/>
          <p:cNvSpPr txBox="1"/>
          <p:nvPr/>
        </p:nvSpPr>
        <p:spPr>
          <a:xfrm>
            <a:off x="8641975" y="897526"/>
            <a:ext cx="2279791" cy="40011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000">
                <a:solidFill>
                  <a:schemeClr val="accent2"/>
                </a:solidFill>
                <a:latin typeface="Avenir"/>
                <a:ea typeface="Avenir"/>
                <a:cs typeface="Avenir"/>
                <a:sym typeface="Avenir"/>
              </a:rPr>
              <a:t>Sources of funds</a:t>
            </a:r>
            <a:endParaRPr/>
          </a:p>
        </p:txBody>
      </p:sp>
      <p:cxnSp>
        <p:nvCxnSpPr>
          <p:cNvPr id="293" name="Google Shape;293;p23"/>
          <p:cNvCxnSpPr/>
          <p:nvPr/>
        </p:nvCxnSpPr>
        <p:spPr>
          <a:xfrm flipH="1" rot="10800000">
            <a:off x="3613035" y="1065456"/>
            <a:ext cx="4777463" cy="18029"/>
          </a:xfrm>
          <a:prstGeom prst="straightConnector1">
            <a:avLst/>
          </a:prstGeom>
          <a:noFill/>
          <a:ln cap="flat" cmpd="sng" w="28575">
            <a:solidFill>
              <a:schemeClr val="accent1"/>
            </a:solidFill>
            <a:prstDash val="dot"/>
            <a:miter lim="800000"/>
            <a:headEnd len="sm" w="sm" type="none"/>
            <a:tailEnd len="sm" w="sm" type="none"/>
          </a:ln>
        </p:spPr>
      </p:cxnSp>
      <p:sp>
        <p:nvSpPr>
          <p:cNvPr id="294" name="Google Shape;294;p23"/>
          <p:cNvSpPr txBox="1"/>
          <p:nvPr/>
        </p:nvSpPr>
        <p:spPr>
          <a:xfrm>
            <a:off x="1358153" y="1325627"/>
            <a:ext cx="4679162" cy="3525413"/>
          </a:xfrm>
          <a:prstGeom prst="rect">
            <a:avLst/>
          </a:prstGeom>
          <a:no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120000"/>
              </a:lnSpc>
              <a:spcBef>
                <a:spcPts val="0"/>
              </a:spcBef>
              <a:spcAft>
                <a:spcPts val="0"/>
              </a:spcAft>
              <a:buNone/>
            </a:pPr>
            <a:r>
              <a:rPr b="1" lang="en-US" sz="2800">
                <a:solidFill>
                  <a:schemeClr val="lt1"/>
                </a:solidFill>
                <a:latin typeface="Avenir"/>
                <a:ea typeface="Avenir"/>
                <a:cs typeface="Avenir"/>
                <a:sym typeface="Avenir"/>
              </a:rPr>
              <a:t>_</a:t>
            </a:r>
            <a:r>
              <a:rPr lang="en-US" sz="2800">
                <a:solidFill>
                  <a:schemeClr val="dk1"/>
                </a:solidFill>
                <a:latin typeface="Avenir"/>
                <a:ea typeface="Avenir"/>
                <a:cs typeface="Avenir"/>
                <a:sym typeface="Avenir"/>
              </a:rPr>
              <a:t>Assets</a:t>
            </a:r>
            <a:endParaRPr/>
          </a:p>
        </p:txBody>
      </p:sp>
      <p:sp>
        <p:nvSpPr>
          <p:cNvPr id="295" name="Google Shape;295;p23"/>
          <p:cNvSpPr txBox="1"/>
          <p:nvPr/>
        </p:nvSpPr>
        <p:spPr>
          <a:xfrm>
            <a:off x="1341185" y="894976"/>
            <a:ext cx="1880643" cy="40011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000">
                <a:solidFill>
                  <a:schemeClr val="accent6"/>
                </a:solidFill>
                <a:latin typeface="Avenir"/>
                <a:ea typeface="Avenir"/>
                <a:cs typeface="Avenir"/>
                <a:sym typeface="Avenir"/>
              </a:rPr>
              <a:t>Uses of funds</a:t>
            </a:r>
            <a:endParaRPr/>
          </a:p>
        </p:txBody>
      </p:sp>
      <p:sp>
        <p:nvSpPr>
          <p:cNvPr id="296" name="Google Shape;296;p23"/>
          <p:cNvSpPr txBox="1"/>
          <p:nvPr/>
        </p:nvSpPr>
        <p:spPr>
          <a:xfrm>
            <a:off x="6365699" y="1834676"/>
            <a:ext cx="1555234"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Bank loan</a:t>
            </a:r>
            <a:endParaRPr/>
          </a:p>
        </p:txBody>
      </p:sp>
      <p:sp>
        <p:nvSpPr>
          <p:cNvPr id="297" name="Google Shape;297;p23"/>
          <p:cNvSpPr txBox="1"/>
          <p:nvPr/>
        </p:nvSpPr>
        <p:spPr>
          <a:xfrm>
            <a:off x="8116806" y="1712085"/>
            <a:ext cx="389850"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298" name="Google Shape;298;p23"/>
          <p:cNvSpPr txBox="1"/>
          <p:nvPr/>
        </p:nvSpPr>
        <p:spPr>
          <a:xfrm>
            <a:off x="8474269" y="1861724"/>
            <a:ext cx="1127232"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2"/>
                </a:solidFill>
                <a:latin typeface="Avenir"/>
                <a:ea typeface="Avenir"/>
                <a:cs typeface="Avenir"/>
                <a:sym typeface="Avenir"/>
              </a:rPr>
              <a:t>30,000</a:t>
            </a:r>
            <a:endParaRPr/>
          </a:p>
        </p:txBody>
      </p:sp>
      <p:sp>
        <p:nvSpPr>
          <p:cNvPr id="299" name="Google Shape;299;p23"/>
          <p:cNvSpPr txBox="1"/>
          <p:nvPr/>
        </p:nvSpPr>
        <p:spPr>
          <a:xfrm>
            <a:off x="2330580" y="2088341"/>
            <a:ext cx="904415"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300" name="Google Shape;300;p23"/>
          <p:cNvSpPr txBox="1"/>
          <p:nvPr/>
        </p:nvSpPr>
        <p:spPr>
          <a:xfrm>
            <a:off x="3861090" y="1965230"/>
            <a:ext cx="389850"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301" name="Google Shape;301;p23"/>
          <p:cNvSpPr txBox="1"/>
          <p:nvPr/>
        </p:nvSpPr>
        <p:spPr>
          <a:xfrm>
            <a:off x="4235546" y="2088341"/>
            <a:ext cx="1127232"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6"/>
                </a:solidFill>
                <a:latin typeface="Avenir"/>
                <a:ea typeface="Avenir"/>
                <a:cs typeface="Avenir"/>
                <a:sym typeface="Avenir"/>
              </a:rPr>
              <a:t>30,000</a:t>
            </a:r>
            <a:endParaRPr/>
          </a:p>
        </p:txBody>
      </p:sp>
      <p:sp>
        <p:nvSpPr>
          <p:cNvPr id="302" name="Google Shape;302;p23"/>
          <p:cNvSpPr txBox="1"/>
          <p:nvPr/>
        </p:nvSpPr>
        <p:spPr>
          <a:xfrm>
            <a:off x="3613035" y="500757"/>
            <a:ext cx="4777463" cy="5232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2800">
                <a:solidFill>
                  <a:schemeClr val="accent1"/>
                </a:solidFill>
                <a:latin typeface="Avenir"/>
                <a:ea typeface="Avenir"/>
                <a:cs typeface="Avenir"/>
                <a:sym typeface="Avenir"/>
              </a:rPr>
              <a:t>My Consulting Limited</a:t>
            </a:r>
            <a:endParaRPr/>
          </a:p>
        </p:txBody>
      </p:sp>
    </p:spTree>
  </p:cSld>
  <p:clrMapOvr>
    <a:masterClrMapping/>
  </p:clrMapOvr>
  <mc:AlternateContent>
    <mc:Choice Requires="p14">
      <p:transition spd="slow" p14:dur="700">
        <p:fade/>
      </p:transition>
    </mc:Choice>
    <mc:Fallback>
      <p:transition spd="slow">
        <p:fade/>
      </p:transition>
    </mc:Fallback>
  </mc:AlternateContent>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99"/>
                                        </p:tgtEl>
                                        <p:attrNameLst>
                                          <p:attrName>style.visibility</p:attrName>
                                        </p:attrNameLst>
                                      </p:cBhvr>
                                      <p:to>
                                        <p:strVal val="visible"/>
                                      </p:to>
                                    </p:set>
                                    <p:animEffect filter="fade" transition="in">
                                      <p:cBhvr>
                                        <p:cTn dur="500"/>
                                        <p:tgtEl>
                                          <p:spTgt spid="299"/>
                                        </p:tgtEl>
                                      </p:cBhvr>
                                    </p:animEffect>
                                  </p:childTnLst>
                                </p:cTn>
                              </p:par>
                              <p:par>
                                <p:cTn fill="hold" nodeType="withEffect" presetClass="entr" presetID="10" presetSubtype="0">
                                  <p:stCondLst>
                                    <p:cond delay="0"/>
                                  </p:stCondLst>
                                  <p:childTnLst>
                                    <p:set>
                                      <p:cBhvr>
                                        <p:cTn dur="1" fill="hold">
                                          <p:stCondLst>
                                            <p:cond delay="0"/>
                                          </p:stCondLst>
                                        </p:cTn>
                                        <p:tgtEl>
                                          <p:spTgt spid="296"/>
                                        </p:tgtEl>
                                        <p:attrNameLst>
                                          <p:attrName>style.visibility</p:attrName>
                                        </p:attrNameLst>
                                      </p:cBhvr>
                                      <p:to>
                                        <p:strVal val="visible"/>
                                      </p:to>
                                    </p:set>
                                    <p:animEffect filter="fade" transition="in">
                                      <p:cBhvr>
                                        <p:cTn dur="500"/>
                                        <p:tgtEl>
                                          <p:spTgt spid="29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23" presetSubtype="16">
                                  <p:stCondLst>
                                    <p:cond delay="0"/>
                                  </p:stCondLst>
                                  <p:childTnLst>
                                    <p:set>
                                      <p:cBhvr>
                                        <p:cTn dur="1" fill="hold">
                                          <p:stCondLst>
                                            <p:cond delay="0"/>
                                          </p:stCondLst>
                                        </p:cTn>
                                        <p:tgtEl>
                                          <p:spTgt spid="300"/>
                                        </p:tgtEl>
                                        <p:attrNameLst>
                                          <p:attrName>style.visibility</p:attrName>
                                        </p:attrNameLst>
                                      </p:cBhvr>
                                      <p:to>
                                        <p:strVal val="visible"/>
                                      </p:to>
                                    </p:set>
                                    <p:anim calcmode="lin" valueType="num">
                                      <p:cBhvr additive="base">
                                        <p:cTn dur="500"/>
                                        <p:tgtEl>
                                          <p:spTgt spid="300"/>
                                        </p:tgtEl>
                                        <p:attrNameLst>
                                          <p:attrName>ppt_w</p:attrName>
                                        </p:attrNameLst>
                                      </p:cBhvr>
                                      <p:tavLst>
                                        <p:tav fmla="" tm="0">
                                          <p:val>
                                            <p:strVal val="0"/>
                                          </p:val>
                                        </p:tav>
                                        <p:tav fmla="" tm="100000">
                                          <p:val>
                                            <p:strVal val="#ppt_w"/>
                                          </p:val>
                                        </p:tav>
                                      </p:tavLst>
                                    </p:anim>
                                    <p:anim calcmode="lin" valueType="num">
                                      <p:cBhvr additive="base">
                                        <p:cTn dur="500"/>
                                        <p:tgtEl>
                                          <p:spTgt spid="300"/>
                                        </p:tgtEl>
                                        <p:attrNameLst>
                                          <p:attrName>ppt_h</p:attrName>
                                        </p:attrNameLst>
                                      </p:cBhvr>
                                      <p:tavLst>
                                        <p:tav fmla="" tm="0">
                                          <p:val>
                                            <p:strVal val="0"/>
                                          </p:val>
                                        </p:tav>
                                        <p:tav fmla="" tm="100000">
                                          <p:val>
                                            <p:strVal val="#ppt_h"/>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01"/>
                                        </p:tgtEl>
                                        <p:attrNameLst>
                                          <p:attrName>style.visibility</p:attrName>
                                        </p:attrNameLst>
                                      </p:cBhvr>
                                      <p:to>
                                        <p:strVal val="visible"/>
                                      </p:to>
                                    </p:set>
                                    <p:animEffect filter="fade" transition="in">
                                      <p:cBhvr>
                                        <p:cTn dur="500"/>
                                        <p:tgtEl>
                                          <p:spTgt spid="30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23" presetSubtype="16">
                                  <p:stCondLst>
                                    <p:cond delay="0"/>
                                  </p:stCondLst>
                                  <p:childTnLst>
                                    <p:set>
                                      <p:cBhvr>
                                        <p:cTn dur="1" fill="hold">
                                          <p:stCondLst>
                                            <p:cond delay="0"/>
                                          </p:stCondLst>
                                        </p:cTn>
                                        <p:tgtEl>
                                          <p:spTgt spid="297"/>
                                        </p:tgtEl>
                                        <p:attrNameLst>
                                          <p:attrName>style.visibility</p:attrName>
                                        </p:attrNameLst>
                                      </p:cBhvr>
                                      <p:to>
                                        <p:strVal val="visible"/>
                                      </p:to>
                                    </p:set>
                                    <p:anim calcmode="lin" valueType="num">
                                      <p:cBhvr additive="base">
                                        <p:cTn dur="500"/>
                                        <p:tgtEl>
                                          <p:spTgt spid="297"/>
                                        </p:tgtEl>
                                        <p:attrNameLst>
                                          <p:attrName>ppt_w</p:attrName>
                                        </p:attrNameLst>
                                      </p:cBhvr>
                                      <p:tavLst>
                                        <p:tav fmla="" tm="0">
                                          <p:val>
                                            <p:strVal val="0"/>
                                          </p:val>
                                        </p:tav>
                                        <p:tav fmla="" tm="100000">
                                          <p:val>
                                            <p:strVal val="#ppt_w"/>
                                          </p:val>
                                        </p:tav>
                                      </p:tavLst>
                                    </p:anim>
                                    <p:anim calcmode="lin" valueType="num">
                                      <p:cBhvr additive="base">
                                        <p:cTn dur="500"/>
                                        <p:tgtEl>
                                          <p:spTgt spid="297"/>
                                        </p:tgtEl>
                                        <p:attrNameLst>
                                          <p:attrName>ppt_h</p:attrName>
                                        </p:attrNameLst>
                                      </p:cBhvr>
                                      <p:tavLst>
                                        <p:tav fmla="" tm="0">
                                          <p:val>
                                            <p:strVal val="0"/>
                                          </p:val>
                                        </p:tav>
                                        <p:tav fmla="" tm="100000">
                                          <p:val>
                                            <p:strVal val="#ppt_h"/>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98"/>
                                        </p:tgtEl>
                                        <p:attrNameLst>
                                          <p:attrName>style.visibility</p:attrName>
                                        </p:attrNameLst>
                                      </p:cBhvr>
                                      <p:to>
                                        <p:strVal val="visible"/>
                                      </p:to>
                                    </p:set>
                                    <p:animEffect filter="fade" transition="in">
                                      <p:cBhvr>
                                        <p:cTn dur="500"/>
                                        <p:tgtEl>
                                          <p:spTgt spid="29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24"/>
          <p:cNvSpPr txBox="1"/>
          <p:nvPr/>
        </p:nvSpPr>
        <p:spPr>
          <a:xfrm>
            <a:off x="6227788" y="2623662"/>
            <a:ext cx="4677777" cy="2227378"/>
          </a:xfrm>
          <a:prstGeom prst="rect">
            <a:avLst/>
          </a:prstGeom>
          <a:no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lang="en-US" sz="2800">
                <a:solidFill>
                  <a:schemeClr val="dk1"/>
                </a:solidFill>
                <a:latin typeface="Avenir"/>
                <a:ea typeface="Avenir"/>
                <a:cs typeface="Avenir"/>
                <a:sym typeface="Avenir"/>
              </a:rPr>
              <a:t>Equity</a:t>
            </a:r>
            <a:r>
              <a:rPr b="1" lang="en-US" sz="2800">
                <a:solidFill>
                  <a:schemeClr val="lt1"/>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309" name="Google Shape;309;p24"/>
          <p:cNvSpPr txBox="1"/>
          <p:nvPr/>
        </p:nvSpPr>
        <p:spPr>
          <a:xfrm>
            <a:off x="6227788" y="1325627"/>
            <a:ext cx="4677777" cy="1150816"/>
          </a:xfrm>
          <a:prstGeom prst="rect">
            <a:avLst/>
          </a:prstGeom>
          <a:no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lang="en-US" sz="2800">
                <a:solidFill>
                  <a:schemeClr val="dk1"/>
                </a:solidFill>
                <a:latin typeface="Avenir"/>
                <a:ea typeface="Avenir"/>
                <a:cs typeface="Avenir"/>
                <a:sym typeface="Avenir"/>
              </a:rPr>
              <a:t>Liabilities</a:t>
            </a:r>
            <a:r>
              <a:rPr b="1" lang="en-US" sz="2800">
                <a:solidFill>
                  <a:schemeClr val="lt1"/>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grpSp>
        <p:nvGrpSpPr>
          <p:cNvPr id="310" name="Google Shape;310;p24"/>
          <p:cNvGrpSpPr/>
          <p:nvPr/>
        </p:nvGrpSpPr>
        <p:grpSpPr>
          <a:xfrm>
            <a:off x="8116806" y="1712085"/>
            <a:ext cx="1484695" cy="611304"/>
            <a:chOff x="2640082" y="2202430"/>
            <a:chExt cx="1288807" cy="611304"/>
          </a:xfrm>
        </p:grpSpPr>
        <p:sp>
          <p:nvSpPr>
            <p:cNvPr id="311" name="Google Shape;311;p24"/>
            <p:cNvSpPr txBox="1"/>
            <p:nvPr/>
          </p:nvSpPr>
          <p:spPr>
            <a:xfrm>
              <a:off x="2640082" y="2202430"/>
              <a:ext cx="338414"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312" name="Google Shape;312;p24"/>
            <p:cNvSpPr txBox="1"/>
            <p:nvPr/>
          </p:nvSpPr>
          <p:spPr>
            <a:xfrm>
              <a:off x="2950382" y="2352069"/>
              <a:ext cx="978507"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2"/>
                  </a:solidFill>
                  <a:latin typeface="Avenir"/>
                  <a:ea typeface="Avenir"/>
                  <a:cs typeface="Avenir"/>
                  <a:sym typeface="Avenir"/>
                </a:rPr>
                <a:t>30,000</a:t>
              </a:r>
              <a:endParaRPr/>
            </a:p>
          </p:txBody>
        </p:sp>
      </p:grpSp>
      <p:sp>
        <p:nvSpPr>
          <p:cNvPr id="313" name="Google Shape;313;p24"/>
          <p:cNvSpPr txBox="1"/>
          <p:nvPr/>
        </p:nvSpPr>
        <p:spPr>
          <a:xfrm>
            <a:off x="8641975" y="897526"/>
            <a:ext cx="2279791" cy="40011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000">
                <a:solidFill>
                  <a:schemeClr val="accent2"/>
                </a:solidFill>
                <a:latin typeface="Avenir"/>
                <a:ea typeface="Avenir"/>
                <a:cs typeface="Avenir"/>
                <a:sym typeface="Avenir"/>
              </a:rPr>
              <a:t>Sources of funds</a:t>
            </a:r>
            <a:endParaRPr/>
          </a:p>
        </p:txBody>
      </p:sp>
      <p:cxnSp>
        <p:nvCxnSpPr>
          <p:cNvPr id="314" name="Google Shape;314;p24"/>
          <p:cNvCxnSpPr/>
          <p:nvPr/>
        </p:nvCxnSpPr>
        <p:spPr>
          <a:xfrm flipH="1" rot="10800000">
            <a:off x="3613035" y="1065456"/>
            <a:ext cx="4777463" cy="18029"/>
          </a:xfrm>
          <a:prstGeom prst="straightConnector1">
            <a:avLst/>
          </a:prstGeom>
          <a:noFill/>
          <a:ln cap="flat" cmpd="sng" w="28575">
            <a:solidFill>
              <a:schemeClr val="accent1"/>
            </a:solidFill>
            <a:prstDash val="dot"/>
            <a:miter lim="800000"/>
            <a:headEnd len="sm" w="sm" type="none"/>
            <a:tailEnd len="sm" w="sm" type="none"/>
          </a:ln>
        </p:spPr>
      </p:cxnSp>
      <p:sp>
        <p:nvSpPr>
          <p:cNvPr id="315" name="Google Shape;315;p24"/>
          <p:cNvSpPr txBox="1"/>
          <p:nvPr/>
        </p:nvSpPr>
        <p:spPr>
          <a:xfrm>
            <a:off x="1358153" y="1325627"/>
            <a:ext cx="4679162" cy="3525413"/>
          </a:xfrm>
          <a:prstGeom prst="rect">
            <a:avLst/>
          </a:prstGeom>
          <a:no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120000"/>
              </a:lnSpc>
              <a:spcBef>
                <a:spcPts val="0"/>
              </a:spcBef>
              <a:spcAft>
                <a:spcPts val="0"/>
              </a:spcAft>
              <a:buNone/>
            </a:pPr>
            <a:r>
              <a:rPr b="1" lang="en-US" sz="2800">
                <a:solidFill>
                  <a:schemeClr val="lt1"/>
                </a:solidFill>
                <a:latin typeface="Avenir"/>
                <a:ea typeface="Avenir"/>
                <a:cs typeface="Avenir"/>
                <a:sym typeface="Avenir"/>
              </a:rPr>
              <a:t>_</a:t>
            </a:r>
            <a:r>
              <a:rPr lang="en-US" sz="2800">
                <a:solidFill>
                  <a:schemeClr val="dk1"/>
                </a:solidFill>
                <a:latin typeface="Avenir"/>
                <a:ea typeface="Avenir"/>
                <a:cs typeface="Avenir"/>
                <a:sym typeface="Avenir"/>
              </a:rPr>
              <a:t>Assets</a:t>
            </a:r>
            <a:endParaRPr/>
          </a:p>
        </p:txBody>
      </p:sp>
      <p:grpSp>
        <p:nvGrpSpPr>
          <p:cNvPr id="316" name="Google Shape;316;p24"/>
          <p:cNvGrpSpPr/>
          <p:nvPr/>
        </p:nvGrpSpPr>
        <p:grpSpPr>
          <a:xfrm>
            <a:off x="2330580" y="1965230"/>
            <a:ext cx="3032198" cy="584776"/>
            <a:chOff x="1116105" y="2252876"/>
            <a:chExt cx="3032198" cy="584776"/>
          </a:xfrm>
        </p:grpSpPr>
        <p:sp>
          <p:nvSpPr>
            <p:cNvPr id="317" name="Google Shape;317;p24"/>
            <p:cNvSpPr txBox="1"/>
            <p:nvPr/>
          </p:nvSpPr>
          <p:spPr>
            <a:xfrm>
              <a:off x="1116105" y="2375987"/>
              <a:ext cx="904415"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318" name="Google Shape;318;p24"/>
            <p:cNvSpPr txBox="1"/>
            <p:nvPr/>
          </p:nvSpPr>
          <p:spPr>
            <a:xfrm>
              <a:off x="2646615" y="2252876"/>
              <a:ext cx="389850"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319" name="Google Shape;319;p24"/>
            <p:cNvSpPr txBox="1"/>
            <p:nvPr/>
          </p:nvSpPr>
          <p:spPr>
            <a:xfrm>
              <a:off x="3021071" y="2375987"/>
              <a:ext cx="1127232"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6"/>
                  </a:solidFill>
                  <a:latin typeface="Avenir"/>
                  <a:ea typeface="Avenir"/>
                  <a:cs typeface="Avenir"/>
                  <a:sym typeface="Avenir"/>
                </a:rPr>
                <a:t>30,000</a:t>
              </a:r>
              <a:endParaRPr/>
            </a:p>
          </p:txBody>
        </p:sp>
      </p:grpSp>
      <p:sp>
        <p:nvSpPr>
          <p:cNvPr id="320" name="Google Shape;320;p24"/>
          <p:cNvSpPr txBox="1"/>
          <p:nvPr/>
        </p:nvSpPr>
        <p:spPr>
          <a:xfrm>
            <a:off x="1341185" y="894976"/>
            <a:ext cx="1880643" cy="40011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000">
                <a:solidFill>
                  <a:schemeClr val="accent6"/>
                </a:solidFill>
                <a:latin typeface="Avenir"/>
                <a:ea typeface="Avenir"/>
                <a:cs typeface="Avenir"/>
                <a:sym typeface="Avenir"/>
              </a:rPr>
              <a:t>Uses of funds</a:t>
            </a:r>
            <a:endParaRPr/>
          </a:p>
        </p:txBody>
      </p:sp>
      <p:sp>
        <p:nvSpPr>
          <p:cNvPr id="321" name="Google Shape;321;p24"/>
          <p:cNvSpPr txBox="1"/>
          <p:nvPr/>
        </p:nvSpPr>
        <p:spPr>
          <a:xfrm>
            <a:off x="6457623" y="2719983"/>
            <a:ext cx="1863011" cy="830997"/>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Contributed </a:t>
            </a:r>
            <a:br>
              <a:rPr lang="en-US" sz="2400">
                <a:solidFill>
                  <a:schemeClr val="dk1"/>
                </a:solidFill>
                <a:latin typeface="Avenir"/>
                <a:ea typeface="Avenir"/>
                <a:cs typeface="Avenir"/>
                <a:sym typeface="Avenir"/>
              </a:rPr>
            </a:br>
            <a:r>
              <a:rPr lang="en-US" sz="2400">
                <a:solidFill>
                  <a:schemeClr val="dk1"/>
                </a:solidFill>
                <a:latin typeface="Avenir"/>
                <a:ea typeface="Avenir"/>
                <a:cs typeface="Avenir"/>
                <a:sym typeface="Avenir"/>
              </a:rPr>
              <a:t>equity</a:t>
            </a:r>
            <a:endParaRPr/>
          </a:p>
        </p:txBody>
      </p:sp>
      <p:sp>
        <p:nvSpPr>
          <p:cNvPr id="322" name="Google Shape;322;p24"/>
          <p:cNvSpPr txBox="1"/>
          <p:nvPr/>
        </p:nvSpPr>
        <p:spPr>
          <a:xfrm>
            <a:off x="8332907" y="2913146"/>
            <a:ext cx="389849"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323" name="Google Shape;323;p24"/>
          <p:cNvSpPr txBox="1"/>
          <p:nvPr/>
        </p:nvSpPr>
        <p:spPr>
          <a:xfrm>
            <a:off x="8686928" y="3036256"/>
            <a:ext cx="1127232"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2"/>
                </a:solidFill>
                <a:latin typeface="Avenir"/>
                <a:ea typeface="Avenir"/>
                <a:cs typeface="Avenir"/>
                <a:sym typeface="Avenir"/>
              </a:rPr>
              <a:t>20,000</a:t>
            </a:r>
            <a:endParaRPr/>
          </a:p>
        </p:txBody>
      </p:sp>
      <p:sp>
        <p:nvSpPr>
          <p:cNvPr id="324" name="Google Shape;324;p24"/>
          <p:cNvSpPr txBox="1"/>
          <p:nvPr/>
        </p:nvSpPr>
        <p:spPr>
          <a:xfrm>
            <a:off x="2330580" y="2734672"/>
            <a:ext cx="904415"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325" name="Google Shape;325;p24"/>
          <p:cNvSpPr txBox="1"/>
          <p:nvPr/>
        </p:nvSpPr>
        <p:spPr>
          <a:xfrm>
            <a:off x="3861090" y="2586599"/>
            <a:ext cx="389850"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326" name="Google Shape;326;p24"/>
          <p:cNvSpPr txBox="1"/>
          <p:nvPr/>
        </p:nvSpPr>
        <p:spPr>
          <a:xfrm>
            <a:off x="4235546" y="2734672"/>
            <a:ext cx="1127232"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6"/>
                </a:solidFill>
                <a:latin typeface="Avenir"/>
                <a:ea typeface="Avenir"/>
                <a:cs typeface="Avenir"/>
                <a:sym typeface="Avenir"/>
              </a:rPr>
              <a:t>20,000</a:t>
            </a:r>
            <a:endParaRPr/>
          </a:p>
        </p:txBody>
      </p:sp>
      <p:sp>
        <p:nvSpPr>
          <p:cNvPr id="327" name="Google Shape;327;p24"/>
          <p:cNvSpPr txBox="1"/>
          <p:nvPr/>
        </p:nvSpPr>
        <p:spPr>
          <a:xfrm>
            <a:off x="6365699" y="1834676"/>
            <a:ext cx="1555234"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Bank loan</a:t>
            </a:r>
            <a:endParaRPr/>
          </a:p>
        </p:txBody>
      </p:sp>
      <p:sp>
        <p:nvSpPr>
          <p:cNvPr id="328" name="Google Shape;328;p24"/>
          <p:cNvSpPr txBox="1"/>
          <p:nvPr/>
        </p:nvSpPr>
        <p:spPr>
          <a:xfrm>
            <a:off x="3613035" y="500757"/>
            <a:ext cx="4777463" cy="5232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2800">
                <a:solidFill>
                  <a:schemeClr val="accent1"/>
                </a:solidFill>
                <a:latin typeface="Avenir"/>
                <a:ea typeface="Avenir"/>
                <a:cs typeface="Avenir"/>
                <a:sym typeface="Avenir"/>
              </a:rPr>
              <a:t>My Consulting Limited</a:t>
            </a:r>
            <a:endParaRPr/>
          </a:p>
        </p:txBody>
      </p:sp>
    </p:spTree>
  </p:cSld>
  <p:clrMapOvr>
    <a:masterClrMapping/>
  </p:clrMapOvr>
  <mc:AlternateContent>
    <mc:Choice Requires="p14">
      <p:transition spd="slow" p14:dur="700">
        <p:fade/>
      </p:transition>
    </mc:Choice>
    <mc:Fallback>
      <p:transition spd="slow">
        <p:fade/>
      </p:transition>
    </mc:Fallback>
  </mc:AlternateContent>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24"/>
                                        </p:tgtEl>
                                        <p:attrNameLst>
                                          <p:attrName>style.visibility</p:attrName>
                                        </p:attrNameLst>
                                      </p:cBhvr>
                                      <p:to>
                                        <p:strVal val="visible"/>
                                      </p:to>
                                    </p:set>
                                    <p:animEffect filter="fade" transition="in">
                                      <p:cBhvr>
                                        <p:cTn dur="500"/>
                                        <p:tgtEl>
                                          <p:spTgt spid="32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21"/>
                                        </p:tgtEl>
                                        <p:attrNameLst>
                                          <p:attrName>style.visibility</p:attrName>
                                        </p:attrNameLst>
                                      </p:cBhvr>
                                      <p:to>
                                        <p:strVal val="visible"/>
                                      </p:to>
                                    </p:set>
                                    <p:animEffect filter="fade" transition="in">
                                      <p:cBhvr>
                                        <p:cTn dur="500"/>
                                        <p:tgtEl>
                                          <p:spTgt spid="32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23" presetSubtype="16">
                                  <p:stCondLst>
                                    <p:cond delay="0"/>
                                  </p:stCondLst>
                                  <p:childTnLst>
                                    <p:set>
                                      <p:cBhvr>
                                        <p:cTn dur="1" fill="hold">
                                          <p:stCondLst>
                                            <p:cond delay="0"/>
                                          </p:stCondLst>
                                        </p:cTn>
                                        <p:tgtEl>
                                          <p:spTgt spid="325"/>
                                        </p:tgtEl>
                                        <p:attrNameLst>
                                          <p:attrName>style.visibility</p:attrName>
                                        </p:attrNameLst>
                                      </p:cBhvr>
                                      <p:to>
                                        <p:strVal val="visible"/>
                                      </p:to>
                                    </p:set>
                                    <p:anim calcmode="lin" valueType="num">
                                      <p:cBhvr additive="base">
                                        <p:cTn dur="500"/>
                                        <p:tgtEl>
                                          <p:spTgt spid="325"/>
                                        </p:tgtEl>
                                        <p:attrNameLst>
                                          <p:attrName>ppt_w</p:attrName>
                                        </p:attrNameLst>
                                      </p:cBhvr>
                                      <p:tavLst>
                                        <p:tav fmla="" tm="0">
                                          <p:val>
                                            <p:strVal val="0"/>
                                          </p:val>
                                        </p:tav>
                                        <p:tav fmla="" tm="100000">
                                          <p:val>
                                            <p:strVal val="#ppt_w"/>
                                          </p:val>
                                        </p:tav>
                                      </p:tavLst>
                                    </p:anim>
                                    <p:anim calcmode="lin" valueType="num">
                                      <p:cBhvr additive="base">
                                        <p:cTn dur="500"/>
                                        <p:tgtEl>
                                          <p:spTgt spid="325"/>
                                        </p:tgtEl>
                                        <p:attrNameLst>
                                          <p:attrName>ppt_h</p:attrName>
                                        </p:attrNameLst>
                                      </p:cBhvr>
                                      <p:tavLst>
                                        <p:tav fmla="" tm="0">
                                          <p:val>
                                            <p:strVal val="0"/>
                                          </p:val>
                                        </p:tav>
                                        <p:tav fmla="" tm="100000">
                                          <p:val>
                                            <p:strVal val="#ppt_h"/>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26"/>
                                        </p:tgtEl>
                                        <p:attrNameLst>
                                          <p:attrName>style.visibility</p:attrName>
                                        </p:attrNameLst>
                                      </p:cBhvr>
                                      <p:to>
                                        <p:strVal val="visible"/>
                                      </p:to>
                                    </p:set>
                                    <p:animEffect filter="fade" transition="in">
                                      <p:cBhvr>
                                        <p:cTn dur="500"/>
                                        <p:tgtEl>
                                          <p:spTgt spid="32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23" presetSubtype="16">
                                  <p:stCondLst>
                                    <p:cond delay="0"/>
                                  </p:stCondLst>
                                  <p:childTnLst>
                                    <p:set>
                                      <p:cBhvr>
                                        <p:cTn dur="1" fill="hold">
                                          <p:stCondLst>
                                            <p:cond delay="0"/>
                                          </p:stCondLst>
                                        </p:cTn>
                                        <p:tgtEl>
                                          <p:spTgt spid="322"/>
                                        </p:tgtEl>
                                        <p:attrNameLst>
                                          <p:attrName>style.visibility</p:attrName>
                                        </p:attrNameLst>
                                      </p:cBhvr>
                                      <p:to>
                                        <p:strVal val="visible"/>
                                      </p:to>
                                    </p:set>
                                    <p:anim calcmode="lin" valueType="num">
                                      <p:cBhvr additive="base">
                                        <p:cTn dur="500"/>
                                        <p:tgtEl>
                                          <p:spTgt spid="322"/>
                                        </p:tgtEl>
                                        <p:attrNameLst>
                                          <p:attrName>ppt_w</p:attrName>
                                        </p:attrNameLst>
                                      </p:cBhvr>
                                      <p:tavLst>
                                        <p:tav fmla="" tm="0">
                                          <p:val>
                                            <p:strVal val="0"/>
                                          </p:val>
                                        </p:tav>
                                        <p:tav fmla="" tm="100000">
                                          <p:val>
                                            <p:strVal val="#ppt_w"/>
                                          </p:val>
                                        </p:tav>
                                      </p:tavLst>
                                    </p:anim>
                                    <p:anim calcmode="lin" valueType="num">
                                      <p:cBhvr additive="base">
                                        <p:cTn dur="500"/>
                                        <p:tgtEl>
                                          <p:spTgt spid="322"/>
                                        </p:tgtEl>
                                        <p:attrNameLst>
                                          <p:attrName>ppt_h</p:attrName>
                                        </p:attrNameLst>
                                      </p:cBhvr>
                                      <p:tavLst>
                                        <p:tav fmla="" tm="0">
                                          <p:val>
                                            <p:strVal val="0"/>
                                          </p:val>
                                        </p:tav>
                                        <p:tav fmla="" tm="100000">
                                          <p:val>
                                            <p:strVal val="#ppt_h"/>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23"/>
                                        </p:tgtEl>
                                        <p:attrNameLst>
                                          <p:attrName>style.visibility</p:attrName>
                                        </p:attrNameLst>
                                      </p:cBhvr>
                                      <p:to>
                                        <p:strVal val="visible"/>
                                      </p:to>
                                    </p:set>
                                    <p:animEffect filter="fade" transition="in">
                                      <p:cBhvr>
                                        <p:cTn dur="500"/>
                                        <p:tgtEl>
                                          <p:spTgt spid="32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3" name="Shape 333"/>
        <p:cNvGrpSpPr/>
        <p:nvPr/>
      </p:nvGrpSpPr>
      <p:grpSpPr>
        <a:xfrm>
          <a:off x="0" y="0"/>
          <a:ext cx="0" cy="0"/>
          <a:chOff x="0" y="0"/>
          <a:chExt cx="0" cy="0"/>
        </a:xfrm>
      </p:grpSpPr>
      <p:sp>
        <p:nvSpPr>
          <p:cNvPr id="334" name="Google Shape;334;p25"/>
          <p:cNvSpPr txBox="1"/>
          <p:nvPr/>
        </p:nvSpPr>
        <p:spPr>
          <a:xfrm>
            <a:off x="6227788" y="2623662"/>
            <a:ext cx="4677777" cy="2227378"/>
          </a:xfrm>
          <a:prstGeom prst="rect">
            <a:avLst/>
          </a:prstGeom>
          <a:no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lang="en-US" sz="2800">
                <a:solidFill>
                  <a:schemeClr val="dk1"/>
                </a:solidFill>
                <a:latin typeface="Avenir"/>
                <a:ea typeface="Avenir"/>
                <a:cs typeface="Avenir"/>
                <a:sym typeface="Avenir"/>
              </a:rPr>
              <a:t>Equity</a:t>
            </a:r>
            <a:r>
              <a:rPr b="1" lang="en-US" sz="2800">
                <a:solidFill>
                  <a:schemeClr val="lt1"/>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335" name="Google Shape;335;p25"/>
          <p:cNvSpPr txBox="1"/>
          <p:nvPr/>
        </p:nvSpPr>
        <p:spPr>
          <a:xfrm>
            <a:off x="6227788" y="1325627"/>
            <a:ext cx="4677777" cy="1150816"/>
          </a:xfrm>
          <a:prstGeom prst="rect">
            <a:avLst/>
          </a:prstGeom>
          <a:no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lang="en-US" sz="2800">
                <a:solidFill>
                  <a:schemeClr val="dk1"/>
                </a:solidFill>
                <a:latin typeface="Avenir"/>
                <a:ea typeface="Avenir"/>
                <a:cs typeface="Avenir"/>
                <a:sym typeface="Avenir"/>
              </a:rPr>
              <a:t>Liabilities</a:t>
            </a:r>
            <a:r>
              <a:rPr b="1" lang="en-US" sz="2800">
                <a:solidFill>
                  <a:schemeClr val="lt1"/>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grpSp>
        <p:nvGrpSpPr>
          <p:cNvPr id="336" name="Google Shape;336;p25"/>
          <p:cNvGrpSpPr/>
          <p:nvPr/>
        </p:nvGrpSpPr>
        <p:grpSpPr>
          <a:xfrm>
            <a:off x="8116806" y="1712085"/>
            <a:ext cx="1484695" cy="611304"/>
            <a:chOff x="2640082" y="2202430"/>
            <a:chExt cx="1288807" cy="611304"/>
          </a:xfrm>
        </p:grpSpPr>
        <p:sp>
          <p:nvSpPr>
            <p:cNvPr id="337" name="Google Shape;337;p25"/>
            <p:cNvSpPr txBox="1"/>
            <p:nvPr/>
          </p:nvSpPr>
          <p:spPr>
            <a:xfrm>
              <a:off x="2640082" y="2202430"/>
              <a:ext cx="338414"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338" name="Google Shape;338;p25"/>
            <p:cNvSpPr txBox="1"/>
            <p:nvPr/>
          </p:nvSpPr>
          <p:spPr>
            <a:xfrm>
              <a:off x="2950382" y="2352069"/>
              <a:ext cx="978507"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2"/>
                  </a:solidFill>
                  <a:latin typeface="Avenir"/>
                  <a:ea typeface="Avenir"/>
                  <a:cs typeface="Avenir"/>
                  <a:sym typeface="Avenir"/>
                </a:rPr>
                <a:t>30,000</a:t>
              </a:r>
              <a:endParaRPr/>
            </a:p>
          </p:txBody>
        </p:sp>
      </p:grpSp>
      <p:sp>
        <p:nvSpPr>
          <p:cNvPr id="339" name="Google Shape;339;p25"/>
          <p:cNvSpPr txBox="1"/>
          <p:nvPr/>
        </p:nvSpPr>
        <p:spPr>
          <a:xfrm>
            <a:off x="8641975" y="897526"/>
            <a:ext cx="2279791" cy="40011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000">
                <a:solidFill>
                  <a:schemeClr val="accent2"/>
                </a:solidFill>
                <a:latin typeface="Avenir"/>
                <a:ea typeface="Avenir"/>
                <a:cs typeface="Avenir"/>
                <a:sym typeface="Avenir"/>
              </a:rPr>
              <a:t>Sources of funds</a:t>
            </a:r>
            <a:endParaRPr/>
          </a:p>
        </p:txBody>
      </p:sp>
      <p:cxnSp>
        <p:nvCxnSpPr>
          <p:cNvPr id="340" name="Google Shape;340;p25"/>
          <p:cNvCxnSpPr/>
          <p:nvPr/>
        </p:nvCxnSpPr>
        <p:spPr>
          <a:xfrm flipH="1" rot="10800000">
            <a:off x="3613035" y="1065456"/>
            <a:ext cx="4777463" cy="18029"/>
          </a:xfrm>
          <a:prstGeom prst="straightConnector1">
            <a:avLst/>
          </a:prstGeom>
          <a:noFill/>
          <a:ln cap="flat" cmpd="sng" w="28575">
            <a:solidFill>
              <a:schemeClr val="accent1"/>
            </a:solidFill>
            <a:prstDash val="dot"/>
            <a:miter lim="800000"/>
            <a:headEnd len="sm" w="sm" type="none"/>
            <a:tailEnd len="sm" w="sm" type="none"/>
          </a:ln>
        </p:spPr>
      </p:cxnSp>
      <p:sp>
        <p:nvSpPr>
          <p:cNvPr id="341" name="Google Shape;341;p25"/>
          <p:cNvSpPr txBox="1"/>
          <p:nvPr/>
        </p:nvSpPr>
        <p:spPr>
          <a:xfrm>
            <a:off x="1358153" y="1325627"/>
            <a:ext cx="4679162" cy="3525413"/>
          </a:xfrm>
          <a:prstGeom prst="rect">
            <a:avLst/>
          </a:prstGeom>
          <a:no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120000"/>
              </a:lnSpc>
              <a:spcBef>
                <a:spcPts val="0"/>
              </a:spcBef>
              <a:spcAft>
                <a:spcPts val="0"/>
              </a:spcAft>
              <a:buNone/>
            </a:pPr>
            <a:r>
              <a:rPr b="1" lang="en-US" sz="2800">
                <a:solidFill>
                  <a:schemeClr val="lt1"/>
                </a:solidFill>
                <a:latin typeface="Avenir"/>
                <a:ea typeface="Avenir"/>
                <a:cs typeface="Avenir"/>
                <a:sym typeface="Avenir"/>
              </a:rPr>
              <a:t>_</a:t>
            </a:r>
            <a:r>
              <a:rPr lang="en-US" sz="2800">
                <a:solidFill>
                  <a:schemeClr val="dk1"/>
                </a:solidFill>
                <a:latin typeface="Avenir"/>
                <a:ea typeface="Avenir"/>
                <a:cs typeface="Avenir"/>
                <a:sym typeface="Avenir"/>
              </a:rPr>
              <a:t>Assets</a:t>
            </a:r>
            <a:endParaRPr/>
          </a:p>
        </p:txBody>
      </p:sp>
      <p:grpSp>
        <p:nvGrpSpPr>
          <p:cNvPr id="342" name="Google Shape;342;p25"/>
          <p:cNvGrpSpPr/>
          <p:nvPr/>
        </p:nvGrpSpPr>
        <p:grpSpPr>
          <a:xfrm>
            <a:off x="2330580" y="1965230"/>
            <a:ext cx="3032198" cy="584776"/>
            <a:chOff x="1116105" y="2252876"/>
            <a:chExt cx="3032198" cy="584776"/>
          </a:xfrm>
        </p:grpSpPr>
        <p:sp>
          <p:nvSpPr>
            <p:cNvPr id="343" name="Google Shape;343;p25"/>
            <p:cNvSpPr txBox="1"/>
            <p:nvPr/>
          </p:nvSpPr>
          <p:spPr>
            <a:xfrm>
              <a:off x="1116105" y="2375987"/>
              <a:ext cx="904415"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344" name="Google Shape;344;p25"/>
            <p:cNvSpPr txBox="1"/>
            <p:nvPr/>
          </p:nvSpPr>
          <p:spPr>
            <a:xfrm>
              <a:off x="2646615" y="2252876"/>
              <a:ext cx="389850"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345" name="Google Shape;345;p25"/>
            <p:cNvSpPr txBox="1"/>
            <p:nvPr/>
          </p:nvSpPr>
          <p:spPr>
            <a:xfrm>
              <a:off x="3021071" y="2375987"/>
              <a:ext cx="1127232"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6"/>
                  </a:solidFill>
                  <a:latin typeface="Avenir"/>
                  <a:ea typeface="Avenir"/>
                  <a:cs typeface="Avenir"/>
                  <a:sym typeface="Avenir"/>
                </a:rPr>
                <a:t>30,000</a:t>
              </a:r>
              <a:endParaRPr/>
            </a:p>
          </p:txBody>
        </p:sp>
      </p:grpSp>
      <p:sp>
        <p:nvSpPr>
          <p:cNvPr id="346" name="Google Shape;346;p25"/>
          <p:cNvSpPr txBox="1"/>
          <p:nvPr/>
        </p:nvSpPr>
        <p:spPr>
          <a:xfrm>
            <a:off x="1341185" y="894976"/>
            <a:ext cx="1880643" cy="40011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000">
                <a:solidFill>
                  <a:schemeClr val="accent6"/>
                </a:solidFill>
                <a:latin typeface="Avenir"/>
                <a:ea typeface="Avenir"/>
                <a:cs typeface="Avenir"/>
                <a:sym typeface="Avenir"/>
              </a:rPr>
              <a:t>Uses of funds</a:t>
            </a:r>
            <a:endParaRPr/>
          </a:p>
        </p:txBody>
      </p:sp>
      <p:grpSp>
        <p:nvGrpSpPr>
          <p:cNvPr id="347" name="Google Shape;347;p25"/>
          <p:cNvGrpSpPr/>
          <p:nvPr/>
        </p:nvGrpSpPr>
        <p:grpSpPr>
          <a:xfrm>
            <a:off x="6457623" y="2719983"/>
            <a:ext cx="3356537" cy="830997"/>
            <a:chOff x="1160947" y="1923541"/>
            <a:chExt cx="2421059" cy="830997"/>
          </a:xfrm>
        </p:grpSpPr>
        <p:sp>
          <p:nvSpPr>
            <p:cNvPr id="348" name="Google Shape;348;p25"/>
            <p:cNvSpPr txBox="1"/>
            <p:nvPr/>
          </p:nvSpPr>
          <p:spPr>
            <a:xfrm>
              <a:off x="1160947" y="1923541"/>
              <a:ext cx="1343784" cy="830997"/>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Contributed </a:t>
              </a:r>
              <a:br>
                <a:rPr lang="en-US" sz="2400">
                  <a:solidFill>
                    <a:schemeClr val="dk1"/>
                  </a:solidFill>
                  <a:latin typeface="Avenir"/>
                  <a:ea typeface="Avenir"/>
                  <a:cs typeface="Avenir"/>
                  <a:sym typeface="Avenir"/>
                </a:rPr>
              </a:br>
              <a:r>
                <a:rPr lang="en-US" sz="2400">
                  <a:solidFill>
                    <a:schemeClr val="dk1"/>
                  </a:solidFill>
                  <a:latin typeface="Avenir"/>
                  <a:ea typeface="Avenir"/>
                  <a:cs typeface="Avenir"/>
                  <a:sym typeface="Avenir"/>
                </a:rPr>
                <a:t>equity</a:t>
              </a:r>
              <a:endParaRPr/>
            </a:p>
          </p:txBody>
        </p:sp>
        <p:sp>
          <p:nvSpPr>
            <p:cNvPr id="349" name="Google Shape;349;p25"/>
            <p:cNvSpPr txBox="1"/>
            <p:nvPr/>
          </p:nvSpPr>
          <p:spPr>
            <a:xfrm>
              <a:off x="2513583" y="2116704"/>
              <a:ext cx="281197"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350" name="Google Shape;350;p25"/>
            <p:cNvSpPr txBox="1"/>
            <p:nvPr/>
          </p:nvSpPr>
          <p:spPr>
            <a:xfrm>
              <a:off x="2768937" y="2239814"/>
              <a:ext cx="813069"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2"/>
                  </a:solidFill>
                  <a:latin typeface="Avenir"/>
                  <a:ea typeface="Avenir"/>
                  <a:cs typeface="Avenir"/>
                  <a:sym typeface="Avenir"/>
                </a:rPr>
                <a:t>20,000</a:t>
              </a:r>
              <a:endParaRPr/>
            </a:p>
          </p:txBody>
        </p:sp>
      </p:grpSp>
      <p:grpSp>
        <p:nvGrpSpPr>
          <p:cNvPr id="351" name="Google Shape;351;p25"/>
          <p:cNvGrpSpPr/>
          <p:nvPr/>
        </p:nvGrpSpPr>
        <p:grpSpPr>
          <a:xfrm>
            <a:off x="2330580" y="2586599"/>
            <a:ext cx="3032198" cy="609738"/>
            <a:chOff x="1116105" y="2227914"/>
            <a:chExt cx="3032198" cy="609738"/>
          </a:xfrm>
        </p:grpSpPr>
        <p:sp>
          <p:nvSpPr>
            <p:cNvPr id="352" name="Google Shape;352;p25"/>
            <p:cNvSpPr txBox="1"/>
            <p:nvPr/>
          </p:nvSpPr>
          <p:spPr>
            <a:xfrm>
              <a:off x="1116105" y="2375987"/>
              <a:ext cx="904415"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353" name="Google Shape;353;p25"/>
            <p:cNvSpPr txBox="1"/>
            <p:nvPr/>
          </p:nvSpPr>
          <p:spPr>
            <a:xfrm>
              <a:off x="2646615" y="2227914"/>
              <a:ext cx="389850"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354" name="Google Shape;354;p25"/>
            <p:cNvSpPr txBox="1"/>
            <p:nvPr/>
          </p:nvSpPr>
          <p:spPr>
            <a:xfrm>
              <a:off x="3021071" y="2375987"/>
              <a:ext cx="1127232"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6"/>
                  </a:solidFill>
                  <a:latin typeface="Avenir"/>
                  <a:ea typeface="Avenir"/>
                  <a:cs typeface="Avenir"/>
                  <a:sym typeface="Avenir"/>
                </a:rPr>
                <a:t>20,000</a:t>
              </a:r>
              <a:endParaRPr/>
            </a:p>
          </p:txBody>
        </p:sp>
      </p:grpSp>
      <p:grpSp>
        <p:nvGrpSpPr>
          <p:cNvPr id="355" name="Google Shape;355;p25"/>
          <p:cNvGrpSpPr/>
          <p:nvPr/>
        </p:nvGrpSpPr>
        <p:grpSpPr>
          <a:xfrm>
            <a:off x="2330580" y="3236109"/>
            <a:ext cx="3032198" cy="606559"/>
            <a:chOff x="2330580" y="3236109"/>
            <a:chExt cx="3032198" cy="606559"/>
          </a:xfrm>
        </p:grpSpPr>
        <p:sp>
          <p:nvSpPr>
            <p:cNvPr id="356" name="Google Shape;356;p25"/>
            <p:cNvSpPr txBox="1"/>
            <p:nvPr/>
          </p:nvSpPr>
          <p:spPr>
            <a:xfrm>
              <a:off x="2330580" y="3381003"/>
              <a:ext cx="904415"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357" name="Google Shape;357;p25"/>
            <p:cNvSpPr txBox="1"/>
            <p:nvPr/>
          </p:nvSpPr>
          <p:spPr>
            <a:xfrm>
              <a:off x="3850936" y="3236109"/>
              <a:ext cx="389850"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358" name="Google Shape;358;p25"/>
            <p:cNvSpPr txBox="1"/>
            <p:nvPr/>
          </p:nvSpPr>
          <p:spPr>
            <a:xfrm>
              <a:off x="4663549" y="3381003"/>
              <a:ext cx="699229"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6"/>
                  </a:solidFill>
                  <a:latin typeface="Avenir"/>
                  <a:ea typeface="Avenir"/>
                  <a:cs typeface="Avenir"/>
                  <a:sym typeface="Avenir"/>
                </a:rPr>
                <a:t>700</a:t>
              </a:r>
              <a:endParaRPr/>
            </a:p>
          </p:txBody>
        </p:sp>
      </p:grpSp>
      <p:sp>
        <p:nvSpPr>
          <p:cNvPr id="359" name="Google Shape;359;p25"/>
          <p:cNvSpPr txBox="1"/>
          <p:nvPr/>
        </p:nvSpPr>
        <p:spPr>
          <a:xfrm>
            <a:off x="6365699" y="1834676"/>
            <a:ext cx="1555234"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Bank loan</a:t>
            </a:r>
            <a:endParaRPr/>
          </a:p>
        </p:txBody>
      </p:sp>
      <p:sp>
        <p:nvSpPr>
          <p:cNvPr id="360" name="Google Shape;360;p25"/>
          <p:cNvSpPr txBox="1"/>
          <p:nvPr/>
        </p:nvSpPr>
        <p:spPr>
          <a:xfrm>
            <a:off x="3613035" y="500757"/>
            <a:ext cx="4777463" cy="5232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2800">
                <a:solidFill>
                  <a:schemeClr val="accent1"/>
                </a:solidFill>
                <a:latin typeface="Avenir"/>
                <a:ea typeface="Avenir"/>
                <a:cs typeface="Avenir"/>
                <a:sym typeface="Avenir"/>
              </a:rPr>
              <a:t>My Consulting Limited</a:t>
            </a:r>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5" name="Shape 365"/>
        <p:cNvGrpSpPr/>
        <p:nvPr/>
      </p:nvGrpSpPr>
      <p:grpSpPr>
        <a:xfrm>
          <a:off x="0" y="0"/>
          <a:ext cx="0" cy="0"/>
          <a:chOff x="0" y="0"/>
          <a:chExt cx="0" cy="0"/>
        </a:xfrm>
      </p:grpSpPr>
      <p:sp>
        <p:nvSpPr>
          <p:cNvPr id="366" name="Google Shape;366;p26"/>
          <p:cNvSpPr txBox="1"/>
          <p:nvPr/>
        </p:nvSpPr>
        <p:spPr>
          <a:xfrm>
            <a:off x="6227788" y="2623662"/>
            <a:ext cx="4677777" cy="2227378"/>
          </a:xfrm>
          <a:prstGeom prst="rect">
            <a:avLst/>
          </a:prstGeom>
          <a:no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lang="en-US" sz="2800">
                <a:solidFill>
                  <a:schemeClr val="dk1"/>
                </a:solidFill>
                <a:latin typeface="Avenir"/>
                <a:ea typeface="Avenir"/>
                <a:cs typeface="Avenir"/>
                <a:sym typeface="Avenir"/>
              </a:rPr>
              <a:t>Equity</a:t>
            </a:r>
            <a:r>
              <a:rPr b="1" lang="en-US" sz="2800">
                <a:solidFill>
                  <a:schemeClr val="lt1"/>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367" name="Google Shape;367;p26"/>
          <p:cNvSpPr txBox="1"/>
          <p:nvPr/>
        </p:nvSpPr>
        <p:spPr>
          <a:xfrm>
            <a:off x="6227788" y="1325627"/>
            <a:ext cx="4677777" cy="1150816"/>
          </a:xfrm>
          <a:prstGeom prst="rect">
            <a:avLst/>
          </a:prstGeom>
          <a:no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lang="en-US" sz="2800">
                <a:solidFill>
                  <a:schemeClr val="dk1"/>
                </a:solidFill>
                <a:latin typeface="Avenir"/>
                <a:ea typeface="Avenir"/>
                <a:cs typeface="Avenir"/>
                <a:sym typeface="Avenir"/>
              </a:rPr>
              <a:t>Liabilities</a:t>
            </a:r>
            <a:r>
              <a:rPr b="1" lang="en-US" sz="2800">
                <a:solidFill>
                  <a:schemeClr val="lt1"/>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grpSp>
        <p:nvGrpSpPr>
          <p:cNvPr id="368" name="Google Shape;368;p26"/>
          <p:cNvGrpSpPr/>
          <p:nvPr/>
        </p:nvGrpSpPr>
        <p:grpSpPr>
          <a:xfrm>
            <a:off x="8116806" y="1712085"/>
            <a:ext cx="1484695" cy="611304"/>
            <a:chOff x="2640082" y="2202430"/>
            <a:chExt cx="1288807" cy="611304"/>
          </a:xfrm>
        </p:grpSpPr>
        <p:sp>
          <p:nvSpPr>
            <p:cNvPr id="369" name="Google Shape;369;p26"/>
            <p:cNvSpPr txBox="1"/>
            <p:nvPr/>
          </p:nvSpPr>
          <p:spPr>
            <a:xfrm>
              <a:off x="2640082" y="2202430"/>
              <a:ext cx="338414"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370" name="Google Shape;370;p26"/>
            <p:cNvSpPr txBox="1"/>
            <p:nvPr/>
          </p:nvSpPr>
          <p:spPr>
            <a:xfrm>
              <a:off x="2950382" y="2352069"/>
              <a:ext cx="978507"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2"/>
                  </a:solidFill>
                  <a:latin typeface="Avenir"/>
                  <a:ea typeface="Avenir"/>
                  <a:cs typeface="Avenir"/>
                  <a:sym typeface="Avenir"/>
                </a:rPr>
                <a:t>30,000</a:t>
              </a:r>
              <a:endParaRPr/>
            </a:p>
          </p:txBody>
        </p:sp>
      </p:grpSp>
      <p:sp>
        <p:nvSpPr>
          <p:cNvPr id="371" name="Google Shape;371;p26"/>
          <p:cNvSpPr txBox="1"/>
          <p:nvPr/>
        </p:nvSpPr>
        <p:spPr>
          <a:xfrm>
            <a:off x="8641975" y="897526"/>
            <a:ext cx="2279791" cy="40011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000">
                <a:solidFill>
                  <a:schemeClr val="accent2"/>
                </a:solidFill>
                <a:latin typeface="Avenir"/>
                <a:ea typeface="Avenir"/>
                <a:cs typeface="Avenir"/>
                <a:sym typeface="Avenir"/>
              </a:rPr>
              <a:t>Sources of funds</a:t>
            </a:r>
            <a:endParaRPr/>
          </a:p>
        </p:txBody>
      </p:sp>
      <p:cxnSp>
        <p:nvCxnSpPr>
          <p:cNvPr id="372" name="Google Shape;372;p26"/>
          <p:cNvCxnSpPr/>
          <p:nvPr/>
        </p:nvCxnSpPr>
        <p:spPr>
          <a:xfrm flipH="1" rot="10800000">
            <a:off x="3613035" y="1065456"/>
            <a:ext cx="4777463" cy="18029"/>
          </a:xfrm>
          <a:prstGeom prst="straightConnector1">
            <a:avLst/>
          </a:prstGeom>
          <a:noFill/>
          <a:ln cap="flat" cmpd="sng" w="28575">
            <a:solidFill>
              <a:schemeClr val="accent1"/>
            </a:solidFill>
            <a:prstDash val="dot"/>
            <a:miter lim="800000"/>
            <a:headEnd len="sm" w="sm" type="none"/>
            <a:tailEnd len="sm" w="sm" type="none"/>
          </a:ln>
        </p:spPr>
      </p:cxnSp>
      <p:sp>
        <p:nvSpPr>
          <p:cNvPr id="373" name="Google Shape;373;p26"/>
          <p:cNvSpPr txBox="1"/>
          <p:nvPr/>
        </p:nvSpPr>
        <p:spPr>
          <a:xfrm>
            <a:off x="1358153" y="1325627"/>
            <a:ext cx="4679162" cy="3525413"/>
          </a:xfrm>
          <a:prstGeom prst="rect">
            <a:avLst/>
          </a:prstGeom>
          <a:no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120000"/>
              </a:lnSpc>
              <a:spcBef>
                <a:spcPts val="0"/>
              </a:spcBef>
              <a:spcAft>
                <a:spcPts val="0"/>
              </a:spcAft>
              <a:buNone/>
            </a:pPr>
            <a:r>
              <a:rPr b="1" lang="en-US" sz="2800">
                <a:solidFill>
                  <a:schemeClr val="lt1"/>
                </a:solidFill>
                <a:latin typeface="Avenir"/>
                <a:ea typeface="Avenir"/>
                <a:cs typeface="Avenir"/>
                <a:sym typeface="Avenir"/>
              </a:rPr>
              <a:t>_</a:t>
            </a:r>
            <a:r>
              <a:rPr lang="en-US" sz="2800">
                <a:solidFill>
                  <a:schemeClr val="dk1"/>
                </a:solidFill>
                <a:latin typeface="Avenir"/>
                <a:ea typeface="Avenir"/>
                <a:cs typeface="Avenir"/>
                <a:sym typeface="Avenir"/>
              </a:rPr>
              <a:t>Assets</a:t>
            </a:r>
            <a:endParaRPr/>
          </a:p>
        </p:txBody>
      </p:sp>
      <p:grpSp>
        <p:nvGrpSpPr>
          <p:cNvPr id="374" name="Google Shape;374;p26"/>
          <p:cNvGrpSpPr/>
          <p:nvPr/>
        </p:nvGrpSpPr>
        <p:grpSpPr>
          <a:xfrm>
            <a:off x="2330580" y="1965230"/>
            <a:ext cx="3032198" cy="584776"/>
            <a:chOff x="1116105" y="2252876"/>
            <a:chExt cx="3032198" cy="584776"/>
          </a:xfrm>
        </p:grpSpPr>
        <p:sp>
          <p:nvSpPr>
            <p:cNvPr id="375" name="Google Shape;375;p26"/>
            <p:cNvSpPr txBox="1"/>
            <p:nvPr/>
          </p:nvSpPr>
          <p:spPr>
            <a:xfrm>
              <a:off x="1116105" y="2375987"/>
              <a:ext cx="904415"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376" name="Google Shape;376;p26"/>
            <p:cNvSpPr txBox="1"/>
            <p:nvPr/>
          </p:nvSpPr>
          <p:spPr>
            <a:xfrm>
              <a:off x="2646615" y="2252876"/>
              <a:ext cx="389850"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377" name="Google Shape;377;p26"/>
            <p:cNvSpPr txBox="1"/>
            <p:nvPr/>
          </p:nvSpPr>
          <p:spPr>
            <a:xfrm>
              <a:off x="3021071" y="2375987"/>
              <a:ext cx="1127232"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6"/>
                  </a:solidFill>
                  <a:latin typeface="Avenir"/>
                  <a:ea typeface="Avenir"/>
                  <a:cs typeface="Avenir"/>
                  <a:sym typeface="Avenir"/>
                </a:rPr>
                <a:t>30,000</a:t>
              </a:r>
              <a:endParaRPr/>
            </a:p>
          </p:txBody>
        </p:sp>
      </p:grpSp>
      <p:sp>
        <p:nvSpPr>
          <p:cNvPr id="378" name="Google Shape;378;p26"/>
          <p:cNvSpPr txBox="1"/>
          <p:nvPr/>
        </p:nvSpPr>
        <p:spPr>
          <a:xfrm>
            <a:off x="1341185" y="894976"/>
            <a:ext cx="1880643" cy="40011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000">
                <a:solidFill>
                  <a:schemeClr val="accent6"/>
                </a:solidFill>
                <a:latin typeface="Avenir"/>
                <a:ea typeface="Avenir"/>
                <a:cs typeface="Avenir"/>
                <a:sym typeface="Avenir"/>
              </a:rPr>
              <a:t>Uses of funds</a:t>
            </a:r>
            <a:endParaRPr/>
          </a:p>
        </p:txBody>
      </p:sp>
      <p:grpSp>
        <p:nvGrpSpPr>
          <p:cNvPr id="379" name="Google Shape;379;p26"/>
          <p:cNvGrpSpPr/>
          <p:nvPr/>
        </p:nvGrpSpPr>
        <p:grpSpPr>
          <a:xfrm>
            <a:off x="6457623" y="2719983"/>
            <a:ext cx="3356537" cy="830997"/>
            <a:chOff x="1160947" y="1923541"/>
            <a:chExt cx="2421059" cy="830997"/>
          </a:xfrm>
        </p:grpSpPr>
        <p:sp>
          <p:nvSpPr>
            <p:cNvPr id="380" name="Google Shape;380;p26"/>
            <p:cNvSpPr txBox="1"/>
            <p:nvPr/>
          </p:nvSpPr>
          <p:spPr>
            <a:xfrm>
              <a:off x="1160947" y="1923541"/>
              <a:ext cx="1343784" cy="830997"/>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Contributed </a:t>
              </a:r>
              <a:br>
                <a:rPr lang="en-US" sz="2400">
                  <a:solidFill>
                    <a:schemeClr val="dk1"/>
                  </a:solidFill>
                  <a:latin typeface="Avenir"/>
                  <a:ea typeface="Avenir"/>
                  <a:cs typeface="Avenir"/>
                  <a:sym typeface="Avenir"/>
                </a:rPr>
              </a:br>
              <a:r>
                <a:rPr lang="en-US" sz="2400">
                  <a:solidFill>
                    <a:schemeClr val="dk1"/>
                  </a:solidFill>
                  <a:latin typeface="Avenir"/>
                  <a:ea typeface="Avenir"/>
                  <a:cs typeface="Avenir"/>
                  <a:sym typeface="Avenir"/>
                </a:rPr>
                <a:t>equity</a:t>
              </a:r>
              <a:endParaRPr/>
            </a:p>
          </p:txBody>
        </p:sp>
        <p:sp>
          <p:nvSpPr>
            <p:cNvPr id="381" name="Google Shape;381;p26"/>
            <p:cNvSpPr txBox="1"/>
            <p:nvPr/>
          </p:nvSpPr>
          <p:spPr>
            <a:xfrm>
              <a:off x="2513583" y="2116704"/>
              <a:ext cx="281197"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382" name="Google Shape;382;p26"/>
            <p:cNvSpPr txBox="1"/>
            <p:nvPr/>
          </p:nvSpPr>
          <p:spPr>
            <a:xfrm>
              <a:off x="2768937" y="2239814"/>
              <a:ext cx="813069"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2"/>
                  </a:solidFill>
                  <a:latin typeface="Avenir"/>
                  <a:ea typeface="Avenir"/>
                  <a:cs typeface="Avenir"/>
                  <a:sym typeface="Avenir"/>
                </a:rPr>
                <a:t>20,000</a:t>
              </a:r>
              <a:endParaRPr/>
            </a:p>
          </p:txBody>
        </p:sp>
      </p:grpSp>
      <p:grpSp>
        <p:nvGrpSpPr>
          <p:cNvPr id="383" name="Google Shape;383;p26"/>
          <p:cNvGrpSpPr/>
          <p:nvPr/>
        </p:nvGrpSpPr>
        <p:grpSpPr>
          <a:xfrm>
            <a:off x="2330580" y="2586599"/>
            <a:ext cx="3032198" cy="609738"/>
            <a:chOff x="1116105" y="2227914"/>
            <a:chExt cx="3032198" cy="609738"/>
          </a:xfrm>
        </p:grpSpPr>
        <p:sp>
          <p:nvSpPr>
            <p:cNvPr id="384" name="Google Shape;384;p26"/>
            <p:cNvSpPr txBox="1"/>
            <p:nvPr/>
          </p:nvSpPr>
          <p:spPr>
            <a:xfrm>
              <a:off x="1116105" y="2375987"/>
              <a:ext cx="904415"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385" name="Google Shape;385;p26"/>
            <p:cNvSpPr txBox="1"/>
            <p:nvPr/>
          </p:nvSpPr>
          <p:spPr>
            <a:xfrm>
              <a:off x="2646615" y="2227914"/>
              <a:ext cx="389850"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386" name="Google Shape;386;p26"/>
            <p:cNvSpPr txBox="1"/>
            <p:nvPr/>
          </p:nvSpPr>
          <p:spPr>
            <a:xfrm>
              <a:off x="3021071" y="2375987"/>
              <a:ext cx="1127232"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6"/>
                  </a:solidFill>
                  <a:latin typeface="Avenir"/>
                  <a:ea typeface="Avenir"/>
                  <a:cs typeface="Avenir"/>
                  <a:sym typeface="Avenir"/>
                </a:rPr>
                <a:t>20,000</a:t>
              </a:r>
              <a:endParaRPr/>
            </a:p>
          </p:txBody>
        </p:sp>
      </p:grpSp>
      <p:grpSp>
        <p:nvGrpSpPr>
          <p:cNvPr id="387" name="Google Shape;387;p26"/>
          <p:cNvGrpSpPr/>
          <p:nvPr/>
        </p:nvGrpSpPr>
        <p:grpSpPr>
          <a:xfrm>
            <a:off x="2330580" y="3236109"/>
            <a:ext cx="3032198" cy="606559"/>
            <a:chOff x="2330580" y="3236109"/>
            <a:chExt cx="3032198" cy="606559"/>
          </a:xfrm>
        </p:grpSpPr>
        <p:sp>
          <p:nvSpPr>
            <p:cNvPr id="388" name="Google Shape;388;p26"/>
            <p:cNvSpPr txBox="1"/>
            <p:nvPr/>
          </p:nvSpPr>
          <p:spPr>
            <a:xfrm>
              <a:off x="2330580" y="3381003"/>
              <a:ext cx="904415"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389" name="Google Shape;389;p26"/>
            <p:cNvSpPr txBox="1"/>
            <p:nvPr/>
          </p:nvSpPr>
          <p:spPr>
            <a:xfrm>
              <a:off x="3850936" y="3236109"/>
              <a:ext cx="389850"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390" name="Google Shape;390;p26"/>
            <p:cNvSpPr txBox="1"/>
            <p:nvPr/>
          </p:nvSpPr>
          <p:spPr>
            <a:xfrm>
              <a:off x="4663549" y="3381003"/>
              <a:ext cx="699229"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6"/>
                  </a:solidFill>
                  <a:latin typeface="Avenir"/>
                  <a:ea typeface="Avenir"/>
                  <a:cs typeface="Avenir"/>
                  <a:sym typeface="Avenir"/>
                </a:rPr>
                <a:t>700</a:t>
              </a:r>
              <a:endParaRPr/>
            </a:p>
          </p:txBody>
        </p:sp>
      </p:grpSp>
      <p:sp>
        <p:nvSpPr>
          <p:cNvPr id="391" name="Google Shape;391;p26"/>
          <p:cNvSpPr txBox="1"/>
          <p:nvPr/>
        </p:nvSpPr>
        <p:spPr>
          <a:xfrm>
            <a:off x="2330580" y="4027334"/>
            <a:ext cx="904415"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392" name="Google Shape;392;p26"/>
          <p:cNvSpPr txBox="1"/>
          <p:nvPr/>
        </p:nvSpPr>
        <p:spPr>
          <a:xfrm rot="10800000">
            <a:off x="3844094" y="3959159"/>
            <a:ext cx="389850"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393" name="Google Shape;393;p26"/>
          <p:cNvSpPr txBox="1"/>
          <p:nvPr/>
        </p:nvSpPr>
        <p:spPr>
          <a:xfrm>
            <a:off x="4663549" y="4027334"/>
            <a:ext cx="699229"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2"/>
                </a:solidFill>
                <a:latin typeface="Avenir"/>
                <a:ea typeface="Avenir"/>
                <a:cs typeface="Avenir"/>
                <a:sym typeface="Avenir"/>
              </a:rPr>
              <a:t>300</a:t>
            </a:r>
            <a:endParaRPr/>
          </a:p>
        </p:txBody>
      </p:sp>
      <p:sp>
        <p:nvSpPr>
          <p:cNvPr id="394" name="Google Shape;394;p26"/>
          <p:cNvSpPr txBox="1"/>
          <p:nvPr/>
        </p:nvSpPr>
        <p:spPr>
          <a:xfrm>
            <a:off x="6365699" y="1834676"/>
            <a:ext cx="1555234"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Bank loan</a:t>
            </a:r>
            <a:endParaRPr/>
          </a:p>
        </p:txBody>
      </p:sp>
      <p:sp>
        <p:nvSpPr>
          <p:cNvPr id="395" name="Google Shape;395;p26"/>
          <p:cNvSpPr txBox="1"/>
          <p:nvPr/>
        </p:nvSpPr>
        <p:spPr>
          <a:xfrm>
            <a:off x="3613035" y="500757"/>
            <a:ext cx="4777463" cy="5232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2800">
                <a:solidFill>
                  <a:schemeClr val="accent1"/>
                </a:solidFill>
                <a:latin typeface="Avenir"/>
                <a:ea typeface="Avenir"/>
                <a:cs typeface="Avenir"/>
                <a:sym typeface="Avenir"/>
              </a:rPr>
              <a:t>My Consulting Limited</a:t>
            </a:r>
            <a:endParaRPr/>
          </a:p>
        </p:txBody>
      </p:sp>
    </p:spTree>
  </p:cSld>
  <p:clrMapOvr>
    <a:masterClrMapping/>
  </p:clrMapOvr>
  <mc:AlternateContent>
    <mc:Choice Requires="p14">
      <p:transition spd="slow" p14:dur="700">
        <p:fade/>
      </p:transition>
    </mc:Choice>
    <mc:Fallback>
      <p:transition spd="slow">
        <p:fade/>
      </p:transition>
    </mc:Fallback>
  </mc:AlternateContent>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91"/>
                                        </p:tgtEl>
                                        <p:attrNameLst>
                                          <p:attrName>style.visibility</p:attrName>
                                        </p:attrNameLst>
                                      </p:cBhvr>
                                      <p:to>
                                        <p:strVal val="visible"/>
                                      </p:to>
                                    </p:set>
                                    <p:animEffect filter="fade" transition="in">
                                      <p:cBhvr>
                                        <p:cTn dur="500"/>
                                        <p:tgtEl>
                                          <p:spTgt spid="39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92"/>
                                        </p:tgtEl>
                                        <p:attrNameLst>
                                          <p:attrName>style.visibility</p:attrName>
                                        </p:attrNameLst>
                                      </p:cBhvr>
                                      <p:to>
                                        <p:strVal val="visible"/>
                                      </p:to>
                                    </p:set>
                                    <p:animEffect filter="fade" transition="in">
                                      <p:cBhvr>
                                        <p:cTn dur="500"/>
                                        <p:tgtEl>
                                          <p:spTgt spid="392"/>
                                        </p:tgtEl>
                                      </p:cBhvr>
                                    </p:animEffect>
                                  </p:childTnLst>
                                </p:cTn>
                              </p:par>
                            </p:childTnLst>
                          </p:cTn>
                        </p:par>
                        <p:par>
                          <p:cTn fill="hold">
                            <p:stCondLst>
                              <p:cond delay="500"/>
                            </p:stCondLst>
                            <p:childTnLst>
                              <p:par>
                                <p:cTn fill="hold" nodeType="afterEffect" presetClass="entr" presetID="10" presetSubtype="0">
                                  <p:stCondLst>
                                    <p:cond delay="1000"/>
                                  </p:stCondLst>
                                  <p:childTnLst>
                                    <p:set>
                                      <p:cBhvr>
                                        <p:cTn dur="1" fill="hold">
                                          <p:stCondLst>
                                            <p:cond delay="0"/>
                                          </p:stCondLst>
                                        </p:cTn>
                                        <p:tgtEl>
                                          <p:spTgt spid="393"/>
                                        </p:tgtEl>
                                        <p:attrNameLst>
                                          <p:attrName>style.visibility</p:attrName>
                                        </p:attrNameLst>
                                      </p:cBhvr>
                                      <p:to>
                                        <p:strVal val="visible"/>
                                      </p:to>
                                    </p:set>
                                    <p:animEffect filter="fade" transition="in">
                                      <p:cBhvr>
                                        <p:cTn dur="500"/>
                                        <p:tgtEl>
                                          <p:spTgt spid="39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0" name="Shape 400"/>
        <p:cNvGrpSpPr/>
        <p:nvPr/>
      </p:nvGrpSpPr>
      <p:grpSpPr>
        <a:xfrm>
          <a:off x="0" y="0"/>
          <a:ext cx="0" cy="0"/>
          <a:chOff x="0" y="0"/>
          <a:chExt cx="0" cy="0"/>
        </a:xfrm>
      </p:grpSpPr>
      <p:sp>
        <p:nvSpPr>
          <p:cNvPr id="401" name="Google Shape;401;p27"/>
          <p:cNvSpPr txBox="1"/>
          <p:nvPr/>
        </p:nvSpPr>
        <p:spPr>
          <a:xfrm>
            <a:off x="6227788" y="2623662"/>
            <a:ext cx="4677777" cy="2227378"/>
          </a:xfrm>
          <a:prstGeom prst="rect">
            <a:avLst/>
          </a:prstGeom>
          <a:no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lang="en-US" sz="2800">
                <a:solidFill>
                  <a:schemeClr val="dk1"/>
                </a:solidFill>
                <a:latin typeface="Avenir"/>
                <a:ea typeface="Avenir"/>
                <a:cs typeface="Avenir"/>
                <a:sym typeface="Avenir"/>
              </a:rPr>
              <a:t>Equity</a:t>
            </a:r>
            <a:r>
              <a:rPr b="1" lang="en-US" sz="2800">
                <a:solidFill>
                  <a:schemeClr val="lt1"/>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402" name="Google Shape;402;p27"/>
          <p:cNvSpPr txBox="1"/>
          <p:nvPr/>
        </p:nvSpPr>
        <p:spPr>
          <a:xfrm>
            <a:off x="6227788" y="1325627"/>
            <a:ext cx="4677777" cy="1150816"/>
          </a:xfrm>
          <a:prstGeom prst="rect">
            <a:avLst/>
          </a:prstGeom>
          <a:no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lang="en-US" sz="2800">
                <a:solidFill>
                  <a:schemeClr val="dk1"/>
                </a:solidFill>
                <a:latin typeface="Avenir"/>
                <a:ea typeface="Avenir"/>
                <a:cs typeface="Avenir"/>
                <a:sym typeface="Avenir"/>
              </a:rPr>
              <a:t>Liabilities</a:t>
            </a:r>
            <a:r>
              <a:rPr b="1" lang="en-US" sz="2800">
                <a:solidFill>
                  <a:schemeClr val="lt1"/>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grpSp>
        <p:nvGrpSpPr>
          <p:cNvPr id="403" name="Google Shape;403;p27"/>
          <p:cNvGrpSpPr/>
          <p:nvPr/>
        </p:nvGrpSpPr>
        <p:grpSpPr>
          <a:xfrm>
            <a:off x="8116806" y="1712085"/>
            <a:ext cx="1484695" cy="611304"/>
            <a:chOff x="2640082" y="2202430"/>
            <a:chExt cx="1288807" cy="611304"/>
          </a:xfrm>
        </p:grpSpPr>
        <p:sp>
          <p:nvSpPr>
            <p:cNvPr id="404" name="Google Shape;404;p27"/>
            <p:cNvSpPr txBox="1"/>
            <p:nvPr/>
          </p:nvSpPr>
          <p:spPr>
            <a:xfrm>
              <a:off x="2640082" y="2202430"/>
              <a:ext cx="338414"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405" name="Google Shape;405;p27"/>
            <p:cNvSpPr txBox="1"/>
            <p:nvPr/>
          </p:nvSpPr>
          <p:spPr>
            <a:xfrm>
              <a:off x="2950382" y="2352069"/>
              <a:ext cx="978507"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2"/>
                  </a:solidFill>
                  <a:latin typeface="Avenir"/>
                  <a:ea typeface="Avenir"/>
                  <a:cs typeface="Avenir"/>
                  <a:sym typeface="Avenir"/>
                </a:rPr>
                <a:t>30,000</a:t>
              </a:r>
              <a:endParaRPr/>
            </a:p>
          </p:txBody>
        </p:sp>
      </p:grpSp>
      <p:sp>
        <p:nvSpPr>
          <p:cNvPr id="406" name="Google Shape;406;p27"/>
          <p:cNvSpPr txBox="1"/>
          <p:nvPr/>
        </p:nvSpPr>
        <p:spPr>
          <a:xfrm>
            <a:off x="8641975" y="897526"/>
            <a:ext cx="2279791" cy="40011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000">
                <a:solidFill>
                  <a:schemeClr val="accent2"/>
                </a:solidFill>
                <a:latin typeface="Avenir"/>
                <a:ea typeface="Avenir"/>
                <a:cs typeface="Avenir"/>
                <a:sym typeface="Avenir"/>
              </a:rPr>
              <a:t>Sources of funds</a:t>
            </a:r>
            <a:endParaRPr/>
          </a:p>
        </p:txBody>
      </p:sp>
      <p:cxnSp>
        <p:nvCxnSpPr>
          <p:cNvPr id="407" name="Google Shape;407;p27"/>
          <p:cNvCxnSpPr/>
          <p:nvPr/>
        </p:nvCxnSpPr>
        <p:spPr>
          <a:xfrm flipH="1" rot="10800000">
            <a:off x="3613035" y="1065456"/>
            <a:ext cx="4777463" cy="18029"/>
          </a:xfrm>
          <a:prstGeom prst="straightConnector1">
            <a:avLst/>
          </a:prstGeom>
          <a:noFill/>
          <a:ln cap="flat" cmpd="sng" w="28575">
            <a:solidFill>
              <a:schemeClr val="accent1"/>
            </a:solidFill>
            <a:prstDash val="dot"/>
            <a:miter lim="800000"/>
            <a:headEnd len="sm" w="sm" type="none"/>
            <a:tailEnd len="sm" w="sm" type="none"/>
          </a:ln>
        </p:spPr>
      </p:cxnSp>
      <p:sp>
        <p:nvSpPr>
          <p:cNvPr id="408" name="Google Shape;408;p27"/>
          <p:cNvSpPr txBox="1"/>
          <p:nvPr/>
        </p:nvSpPr>
        <p:spPr>
          <a:xfrm>
            <a:off x="1358153" y="1325627"/>
            <a:ext cx="4679162" cy="3525413"/>
          </a:xfrm>
          <a:prstGeom prst="rect">
            <a:avLst/>
          </a:prstGeom>
          <a:no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120000"/>
              </a:lnSpc>
              <a:spcBef>
                <a:spcPts val="0"/>
              </a:spcBef>
              <a:spcAft>
                <a:spcPts val="0"/>
              </a:spcAft>
              <a:buNone/>
            </a:pPr>
            <a:r>
              <a:rPr b="1" lang="en-US" sz="2800">
                <a:solidFill>
                  <a:schemeClr val="lt1"/>
                </a:solidFill>
                <a:latin typeface="Avenir"/>
                <a:ea typeface="Avenir"/>
                <a:cs typeface="Avenir"/>
                <a:sym typeface="Avenir"/>
              </a:rPr>
              <a:t>_</a:t>
            </a:r>
            <a:r>
              <a:rPr lang="en-US" sz="2800">
                <a:solidFill>
                  <a:schemeClr val="dk1"/>
                </a:solidFill>
                <a:latin typeface="Avenir"/>
                <a:ea typeface="Avenir"/>
                <a:cs typeface="Avenir"/>
                <a:sym typeface="Avenir"/>
              </a:rPr>
              <a:t>Assets</a:t>
            </a:r>
            <a:endParaRPr/>
          </a:p>
        </p:txBody>
      </p:sp>
      <p:grpSp>
        <p:nvGrpSpPr>
          <p:cNvPr id="409" name="Google Shape;409;p27"/>
          <p:cNvGrpSpPr/>
          <p:nvPr/>
        </p:nvGrpSpPr>
        <p:grpSpPr>
          <a:xfrm>
            <a:off x="2330580" y="1965230"/>
            <a:ext cx="3032198" cy="584776"/>
            <a:chOff x="1116105" y="2252876"/>
            <a:chExt cx="3032198" cy="584776"/>
          </a:xfrm>
        </p:grpSpPr>
        <p:sp>
          <p:nvSpPr>
            <p:cNvPr id="410" name="Google Shape;410;p27"/>
            <p:cNvSpPr txBox="1"/>
            <p:nvPr/>
          </p:nvSpPr>
          <p:spPr>
            <a:xfrm>
              <a:off x="1116105" y="2375987"/>
              <a:ext cx="904415"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411" name="Google Shape;411;p27"/>
            <p:cNvSpPr txBox="1"/>
            <p:nvPr/>
          </p:nvSpPr>
          <p:spPr>
            <a:xfrm>
              <a:off x="2646615" y="2252876"/>
              <a:ext cx="389850"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412" name="Google Shape;412;p27"/>
            <p:cNvSpPr txBox="1"/>
            <p:nvPr/>
          </p:nvSpPr>
          <p:spPr>
            <a:xfrm>
              <a:off x="3021071" y="2375987"/>
              <a:ext cx="1127232"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6"/>
                  </a:solidFill>
                  <a:latin typeface="Avenir"/>
                  <a:ea typeface="Avenir"/>
                  <a:cs typeface="Avenir"/>
                  <a:sym typeface="Avenir"/>
                </a:rPr>
                <a:t>30,000</a:t>
              </a:r>
              <a:endParaRPr/>
            </a:p>
          </p:txBody>
        </p:sp>
      </p:grpSp>
      <p:sp>
        <p:nvSpPr>
          <p:cNvPr id="413" name="Google Shape;413;p27"/>
          <p:cNvSpPr txBox="1"/>
          <p:nvPr/>
        </p:nvSpPr>
        <p:spPr>
          <a:xfrm>
            <a:off x="1341185" y="894976"/>
            <a:ext cx="1880643" cy="40011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000">
                <a:solidFill>
                  <a:schemeClr val="accent6"/>
                </a:solidFill>
                <a:latin typeface="Avenir"/>
                <a:ea typeface="Avenir"/>
                <a:cs typeface="Avenir"/>
                <a:sym typeface="Avenir"/>
              </a:rPr>
              <a:t>Uses of funds</a:t>
            </a:r>
            <a:endParaRPr/>
          </a:p>
        </p:txBody>
      </p:sp>
      <p:grpSp>
        <p:nvGrpSpPr>
          <p:cNvPr id="414" name="Google Shape;414;p27"/>
          <p:cNvGrpSpPr/>
          <p:nvPr/>
        </p:nvGrpSpPr>
        <p:grpSpPr>
          <a:xfrm>
            <a:off x="6457623" y="2719983"/>
            <a:ext cx="3356537" cy="830997"/>
            <a:chOff x="1160947" y="1923541"/>
            <a:chExt cx="2421059" cy="830997"/>
          </a:xfrm>
        </p:grpSpPr>
        <p:sp>
          <p:nvSpPr>
            <p:cNvPr id="415" name="Google Shape;415;p27"/>
            <p:cNvSpPr txBox="1"/>
            <p:nvPr/>
          </p:nvSpPr>
          <p:spPr>
            <a:xfrm>
              <a:off x="1160947" y="1923541"/>
              <a:ext cx="1343784" cy="830997"/>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Contributed </a:t>
              </a:r>
              <a:br>
                <a:rPr lang="en-US" sz="2400">
                  <a:solidFill>
                    <a:schemeClr val="dk1"/>
                  </a:solidFill>
                  <a:latin typeface="Avenir"/>
                  <a:ea typeface="Avenir"/>
                  <a:cs typeface="Avenir"/>
                  <a:sym typeface="Avenir"/>
                </a:rPr>
              </a:br>
              <a:r>
                <a:rPr lang="en-US" sz="2400">
                  <a:solidFill>
                    <a:schemeClr val="dk1"/>
                  </a:solidFill>
                  <a:latin typeface="Avenir"/>
                  <a:ea typeface="Avenir"/>
                  <a:cs typeface="Avenir"/>
                  <a:sym typeface="Avenir"/>
                </a:rPr>
                <a:t>equity</a:t>
              </a:r>
              <a:endParaRPr/>
            </a:p>
          </p:txBody>
        </p:sp>
        <p:sp>
          <p:nvSpPr>
            <p:cNvPr id="416" name="Google Shape;416;p27"/>
            <p:cNvSpPr txBox="1"/>
            <p:nvPr/>
          </p:nvSpPr>
          <p:spPr>
            <a:xfrm>
              <a:off x="2513583" y="2116704"/>
              <a:ext cx="281197"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417" name="Google Shape;417;p27"/>
            <p:cNvSpPr txBox="1"/>
            <p:nvPr/>
          </p:nvSpPr>
          <p:spPr>
            <a:xfrm>
              <a:off x="2768937" y="2239814"/>
              <a:ext cx="813069"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2"/>
                  </a:solidFill>
                  <a:latin typeface="Avenir"/>
                  <a:ea typeface="Avenir"/>
                  <a:cs typeface="Avenir"/>
                  <a:sym typeface="Avenir"/>
                </a:rPr>
                <a:t>20,000</a:t>
              </a:r>
              <a:endParaRPr/>
            </a:p>
          </p:txBody>
        </p:sp>
      </p:grpSp>
      <p:grpSp>
        <p:nvGrpSpPr>
          <p:cNvPr id="418" name="Google Shape;418;p27"/>
          <p:cNvGrpSpPr/>
          <p:nvPr/>
        </p:nvGrpSpPr>
        <p:grpSpPr>
          <a:xfrm>
            <a:off x="2330580" y="2586599"/>
            <a:ext cx="3032198" cy="609738"/>
            <a:chOff x="1116105" y="2227914"/>
            <a:chExt cx="3032198" cy="609738"/>
          </a:xfrm>
        </p:grpSpPr>
        <p:sp>
          <p:nvSpPr>
            <p:cNvPr id="419" name="Google Shape;419;p27"/>
            <p:cNvSpPr txBox="1"/>
            <p:nvPr/>
          </p:nvSpPr>
          <p:spPr>
            <a:xfrm>
              <a:off x="1116105" y="2375987"/>
              <a:ext cx="904415"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420" name="Google Shape;420;p27"/>
            <p:cNvSpPr txBox="1"/>
            <p:nvPr/>
          </p:nvSpPr>
          <p:spPr>
            <a:xfrm>
              <a:off x="2646615" y="2227914"/>
              <a:ext cx="389850"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421" name="Google Shape;421;p27"/>
            <p:cNvSpPr txBox="1"/>
            <p:nvPr/>
          </p:nvSpPr>
          <p:spPr>
            <a:xfrm>
              <a:off x="3021071" y="2375987"/>
              <a:ext cx="1127232"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6"/>
                  </a:solidFill>
                  <a:latin typeface="Avenir"/>
                  <a:ea typeface="Avenir"/>
                  <a:cs typeface="Avenir"/>
                  <a:sym typeface="Avenir"/>
                </a:rPr>
                <a:t>20,000</a:t>
              </a:r>
              <a:endParaRPr/>
            </a:p>
          </p:txBody>
        </p:sp>
      </p:grpSp>
      <p:grpSp>
        <p:nvGrpSpPr>
          <p:cNvPr id="422" name="Google Shape;422;p27"/>
          <p:cNvGrpSpPr/>
          <p:nvPr/>
        </p:nvGrpSpPr>
        <p:grpSpPr>
          <a:xfrm>
            <a:off x="2330580" y="3236109"/>
            <a:ext cx="3032198" cy="606559"/>
            <a:chOff x="2330580" y="3236109"/>
            <a:chExt cx="3032198" cy="606559"/>
          </a:xfrm>
        </p:grpSpPr>
        <p:sp>
          <p:nvSpPr>
            <p:cNvPr id="423" name="Google Shape;423;p27"/>
            <p:cNvSpPr txBox="1"/>
            <p:nvPr/>
          </p:nvSpPr>
          <p:spPr>
            <a:xfrm>
              <a:off x="2330580" y="3381003"/>
              <a:ext cx="904415"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424" name="Google Shape;424;p27"/>
            <p:cNvSpPr txBox="1"/>
            <p:nvPr/>
          </p:nvSpPr>
          <p:spPr>
            <a:xfrm>
              <a:off x="3850936" y="3236109"/>
              <a:ext cx="389850"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425" name="Google Shape;425;p27"/>
            <p:cNvSpPr txBox="1"/>
            <p:nvPr/>
          </p:nvSpPr>
          <p:spPr>
            <a:xfrm>
              <a:off x="4663549" y="3381003"/>
              <a:ext cx="699229"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6"/>
                  </a:solidFill>
                  <a:latin typeface="Avenir"/>
                  <a:ea typeface="Avenir"/>
                  <a:cs typeface="Avenir"/>
                  <a:sym typeface="Avenir"/>
                </a:rPr>
                <a:t>700</a:t>
              </a:r>
              <a:endParaRPr/>
            </a:p>
          </p:txBody>
        </p:sp>
      </p:grpSp>
      <p:grpSp>
        <p:nvGrpSpPr>
          <p:cNvPr id="426" name="Google Shape;426;p27"/>
          <p:cNvGrpSpPr/>
          <p:nvPr/>
        </p:nvGrpSpPr>
        <p:grpSpPr>
          <a:xfrm>
            <a:off x="2330580" y="3959159"/>
            <a:ext cx="3032198" cy="584775"/>
            <a:chOff x="2330580" y="3959159"/>
            <a:chExt cx="3032198" cy="584775"/>
          </a:xfrm>
        </p:grpSpPr>
        <p:sp>
          <p:nvSpPr>
            <p:cNvPr id="427" name="Google Shape;427;p27"/>
            <p:cNvSpPr txBox="1"/>
            <p:nvPr/>
          </p:nvSpPr>
          <p:spPr>
            <a:xfrm>
              <a:off x="2330580" y="4027334"/>
              <a:ext cx="904415"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428" name="Google Shape;428;p27"/>
            <p:cNvSpPr txBox="1"/>
            <p:nvPr/>
          </p:nvSpPr>
          <p:spPr>
            <a:xfrm rot="10800000">
              <a:off x="3844094" y="3959159"/>
              <a:ext cx="389850"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429" name="Google Shape;429;p27"/>
            <p:cNvSpPr txBox="1"/>
            <p:nvPr/>
          </p:nvSpPr>
          <p:spPr>
            <a:xfrm>
              <a:off x="4663549" y="4027334"/>
              <a:ext cx="699229"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2"/>
                  </a:solidFill>
                  <a:latin typeface="Avenir"/>
                  <a:ea typeface="Avenir"/>
                  <a:cs typeface="Avenir"/>
                  <a:sym typeface="Avenir"/>
                </a:rPr>
                <a:t>300</a:t>
              </a:r>
              <a:endParaRPr/>
            </a:p>
          </p:txBody>
        </p:sp>
      </p:grpSp>
      <p:grpSp>
        <p:nvGrpSpPr>
          <p:cNvPr id="430" name="Google Shape;430;p27"/>
          <p:cNvGrpSpPr/>
          <p:nvPr/>
        </p:nvGrpSpPr>
        <p:grpSpPr>
          <a:xfrm>
            <a:off x="6511111" y="3762376"/>
            <a:ext cx="3211389" cy="830997"/>
            <a:chOff x="1160947" y="1923541"/>
            <a:chExt cx="2316364" cy="830997"/>
          </a:xfrm>
        </p:grpSpPr>
        <p:sp>
          <p:nvSpPr>
            <p:cNvPr id="431" name="Google Shape;431;p27"/>
            <p:cNvSpPr txBox="1"/>
            <p:nvPr/>
          </p:nvSpPr>
          <p:spPr>
            <a:xfrm>
              <a:off x="1160947" y="1923541"/>
              <a:ext cx="1244346" cy="830997"/>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Generated </a:t>
              </a:r>
              <a:br>
                <a:rPr lang="en-US" sz="2400">
                  <a:solidFill>
                    <a:schemeClr val="dk1"/>
                  </a:solidFill>
                  <a:latin typeface="Avenir"/>
                  <a:ea typeface="Avenir"/>
                  <a:cs typeface="Avenir"/>
                  <a:sym typeface="Avenir"/>
                </a:rPr>
              </a:br>
              <a:r>
                <a:rPr lang="en-US" sz="2400">
                  <a:solidFill>
                    <a:schemeClr val="dk1"/>
                  </a:solidFill>
                  <a:latin typeface="Avenir"/>
                  <a:ea typeface="Avenir"/>
                  <a:cs typeface="Avenir"/>
                  <a:sym typeface="Avenir"/>
                </a:rPr>
                <a:t>equity</a:t>
              </a:r>
              <a:endParaRPr/>
            </a:p>
          </p:txBody>
        </p:sp>
        <p:sp>
          <p:nvSpPr>
            <p:cNvPr id="432" name="Google Shape;432;p27"/>
            <p:cNvSpPr txBox="1"/>
            <p:nvPr/>
          </p:nvSpPr>
          <p:spPr>
            <a:xfrm>
              <a:off x="2504041" y="2127523"/>
              <a:ext cx="281197"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433" name="Google Shape;433;p27"/>
            <p:cNvSpPr txBox="1"/>
            <p:nvPr/>
          </p:nvSpPr>
          <p:spPr>
            <a:xfrm>
              <a:off x="2972959" y="2225909"/>
              <a:ext cx="504352"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2"/>
                  </a:solidFill>
                  <a:latin typeface="Avenir"/>
                  <a:ea typeface="Avenir"/>
                  <a:cs typeface="Avenir"/>
                  <a:sym typeface="Avenir"/>
                </a:rPr>
                <a:t>400</a:t>
              </a:r>
              <a:endParaRPr/>
            </a:p>
          </p:txBody>
        </p:sp>
      </p:grpSp>
      <p:sp>
        <p:nvSpPr>
          <p:cNvPr id="434" name="Google Shape;434;p27"/>
          <p:cNvSpPr txBox="1"/>
          <p:nvPr/>
        </p:nvSpPr>
        <p:spPr>
          <a:xfrm>
            <a:off x="6365699" y="1834676"/>
            <a:ext cx="1555234"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Bank loan</a:t>
            </a:r>
            <a:endParaRPr/>
          </a:p>
        </p:txBody>
      </p:sp>
      <p:sp>
        <p:nvSpPr>
          <p:cNvPr id="435" name="Google Shape;435;p27"/>
          <p:cNvSpPr txBox="1"/>
          <p:nvPr/>
        </p:nvSpPr>
        <p:spPr>
          <a:xfrm>
            <a:off x="3613035" y="500757"/>
            <a:ext cx="4777463" cy="5232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2800">
                <a:solidFill>
                  <a:schemeClr val="accent1"/>
                </a:solidFill>
                <a:latin typeface="Avenir"/>
                <a:ea typeface="Avenir"/>
                <a:cs typeface="Avenir"/>
                <a:sym typeface="Avenir"/>
              </a:rPr>
              <a:t>My Consulting Limited</a:t>
            </a:r>
            <a:endParaRPr/>
          </a:p>
        </p:txBody>
      </p:sp>
    </p:spTree>
  </p:cSld>
  <p:clrMapOvr>
    <a:masterClrMapping/>
  </p:clrMapOvr>
  <mc:AlternateContent>
    <mc:Choice Requires="p14">
      <p:transition spd="slow" p14:dur="700">
        <p:fade/>
      </p:transition>
    </mc:Choice>
    <mc:Fallback>
      <p:transition spd="slow">
        <p:fade/>
      </p:transition>
    </mc:Fallback>
  </mc:AlternateContent>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30"/>
                                        </p:tgtEl>
                                        <p:attrNameLst>
                                          <p:attrName>style.visibility</p:attrName>
                                        </p:attrNameLst>
                                      </p:cBhvr>
                                      <p:to>
                                        <p:strVal val="visible"/>
                                      </p:to>
                                    </p:set>
                                    <p:animEffect filter="fade" transition="in">
                                      <p:cBhvr>
                                        <p:cTn dur="500"/>
                                        <p:tgtEl>
                                          <p:spTgt spid="43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0" name="Shape 440"/>
        <p:cNvGrpSpPr/>
        <p:nvPr/>
      </p:nvGrpSpPr>
      <p:grpSpPr>
        <a:xfrm>
          <a:off x="0" y="0"/>
          <a:ext cx="0" cy="0"/>
          <a:chOff x="0" y="0"/>
          <a:chExt cx="0" cy="0"/>
        </a:xfrm>
      </p:grpSpPr>
      <p:cxnSp>
        <p:nvCxnSpPr>
          <p:cNvPr id="441" name="Google Shape;441;p28"/>
          <p:cNvCxnSpPr/>
          <p:nvPr/>
        </p:nvCxnSpPr>
        <p:spPr>
          <a:xfrm flipH="1" rot="10800000">
            <a:off x="3613035" y="1065456"/>
            <a:ext cx="4777463" cy="18029"/>
          </a:xfrm>
          <a:prstGeom prst="straightConnector1">
            <a:avLst/>
          </a:prstGeom>
          <a:noFill/>
          <a:ln cap="flat" cmpd="sng" w="28575">
            <a:solidFill>
              <a:schemeClr val="accent1"/>
            </a:solidFill>
            <a:prstDash val="dot"/>
            <a:miter lim="800000"/>
            <a:headEnd len="sm" w="sm" type="none"/>
            <a:tailEnd len="sm" w="sm" type="none"/>
          </a:ln>
        </p:spPr>
      </p:cxnSp>
      <p:graphicFrame>
        <p:nvGraphicFramePr>
          <p:cNvPr id="442" name="Google Shape;442;p28"/>
          <p:cNvGraphicFramePr/>
          <p:nvPr/>
        </p:nvGraphicFramePr>
        <p:xfrm>
          <a:off x="2755527" y="1555065"/>
          <a:ext cx="3000000" cy="3000000"/>
        </p:xfrm>
        <a:graphic>
          <a:graphicData uri="http://schemas.openxmlformats.org/drawingml/2006/table">
            <a:tbl>
              <a:tblPr bandRow="1" firstCol="1" firstRow="1">
                <a:noFill/>
                <a:tableStyleId>{EC3B7C02-C20F-42C7-878E-1E52F1C29615}</a:tableStyleId>
              </a:tblPr>
              <a:tblGrid>
                <a:gridCol w="2782050"/>
                <a:gridCol w="1270000"/>
                <a:gridCol w="1295400"/>
                <a:gridCol w="1333500"/>
              </a:tblGrid>
              <a:tr h="841775">
                <a:tc>
                  <a:txBody>
                    <a:bodyPr/>
                    <a:lstStyle/>
                    <a:p>
                      <a:pPr indent="0" lvl="0" marL="0" marR="0" rtl="0" algn="l">
                        <a:spcBef>
                          <a:spcPts val="0"/>
                        </a:spcBef>
                        <a:spcAft>
                          <a:spcPts val="0"/>
                        </a:spcAft>
                        <a:buNone/>
                      </a:pPr>
                      <a:r>
                        <a:rPr lang="en-US" sz="3200" u="none" cap="none" strike="noStrike">
                          <a:latin typeface="Avenir"/>
                          <a:ea typeface="Avenir"/>
                          <a:cs typeface="Avenir"/>
                          <a:sym typeface="Avenir"/>
                        </a:rPr>
                        <a:t> </a:t>
                      </a:r>
                      <a:endParaRPr sz="3200" u="none" cap="none" strike="noStrike">
                        <a:latin typeface="Avenir"/>
                        <a:ea typeface="Avenir"/>
                        <a:cs typeface="Avenir"/>
                        <a:sym typeface="Avenir"/>
                      </a:endParaRPr>
                    </a:p>
                  </a:txBody>
                  <a:tcPr marT="0" marB="0" marR="68575" marL="6857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3200" u="none" cap="none" strike="noStrike">
                          <a:latin typeface="Avenir"/>
                          <a:ea typeface="Avenir"/>
                          <a:cs typeface="Avenir"/>
                          <a:sym typeface="Avenir"/>
                        </a:rPr>
                        <a:t>A</a:t>
                      </a:r>
                      <a:endParaRPr b="1" sz="3200" u="none" cap="none" strike="noStrike">
                        <a:solidFill>
                          <a:schemeClr val="lt1"/>
                        </a:solidFill>
                        <a:latin typeface="Avenir"/>
                        <a:ea typeface="Avenir"/>
                        <a:cs typeface="Avenir"/>
                        <a:sym typeface="Avenir"/>
                      </a:endParaRPr>
                    </a:p>
                  </a:txBody>
                  <a:tcPr marT="0" marB="0" marR="68575" marL="6857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3200" u="none" cap="none" strike="noStrike">
                          <a:latin typeface="Avenir"/>
                          <a:ea typeface="Avenir"/>
                          <a:cs typeface="Avenir"/>
                          <a:sym typeface="Avenir"/>
                        </a:rPr>
                        <a:t>B</a:t>
                      </a:r>
                      <a:endParaRPr b="1" sz="3200" u="none" cap="none" strike="noStrike">
                        <a:latin typeface="Avenir"/>
                        <a:ea typeface="Avenir"/>
                        <a:cs typeface="Avenir"/>
                        <a:sym typeface="Avenir"/>
                      </a:endParaRPr>
                    </a:p>
                  </a:txBody>
                  <a:tcPr marT="0" marB="0" marR="68575" marL="6857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3200" u="none" cap="none" strike="noStrike">
                          <a:latin typeface="Avenir"/>
                          <a:ea typeface="Avenir"/>
                          <a:cs typeface="Avenir"/>
                          <a:sym typeface="Avenir"/>
                        </a:rPr>
                        <a:t>C</a:t>
                      </a:r>
                      <a:endParaRPr b="1" sz="3200" u="none" cap="none" strike="noStrike">
                        <a:latin typeface="Avenir"/>
                        <a:ea typeface="Avenir"/>
                        <a:cs typeface="Avenir"/>
                        <a:sym typeface="Avenir"/>
                      </a:endParaRPr>
                    </a:p>
                  </a:txBody>
                  <a:tcPr marT="0" marB="0" marR="68575" marL="6857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841775">
                <a:tc>
                  <a:txBody>
                    <a:bodyPr/>
                    <a:lstStyle/>
                    <a:p>
                      <a:pPr indent="0" lvl="0" marL="0" marR="0" rtl="0" algn="l">
                        <a:spcBef>
                          <a:spcPts val="0"/>
                        </a:spcBef>
                        <a:spcAft>
                          <a:spcPts val="0"/>
                        </a:spcAft>
                        <a:buNone/>
                      </a:pPr>
                      <a:r>
                        <a:rPr lang="en-US" sz="3200" u="none" cap="none" strike="noStrike">
                          <a:latin typeface="Avenir"/>
                          <a:ea typeface="Avenir"/>
                          <a:cs typeface="Avenir"/>
                          <a:sym typeface="Avenir"/>
                        </a:rPr>
                        <a:t>Sales</a:t>
                      </a:r>
                      <a:endParaRPr sz="3200" u="none" cap="none" strike="noStrike">
                        <a:latin typeface="Avenir"/>
                        <a:ea typeface="Avenir"/>
                        <a:cs typeface="Avenir"/>
                        <a:sym typeface="Avenir"/>
                      </a:endParaRPr>
                    </a:p>
                  </a:txBody>
                  <a:tcPr marT="0" marB="0" marR="68575" marL="6857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lang="en-US" sz="3200" u="none" cap="none" strike="noStrike">
                          <a:latin typeface="Avenir"/>
                          <a:ea typeface="Avenir"/>
                          <a:cs typeface="Avenir"/>
                          <a:sym typeface="Avenir"/>
                        </a:rPr>
                        <a:t>700</a:t>
                      </a:r>
                      <a:r>
                        <a:rPr lang="en-US" sz="3200" u="none" cap="none" strike="noStrike">
                          <a:solidFill>
                            <a:schemeClr val="lt1"/>
                          </a:solidFill>
                          <a:latin typeface="Avenir"/>
                          <a:ea typeface="Avenir"/>
                          <a:cs typeface="Avenir"/>
                          <a:sym typeface="Avenir"/>
                        </a:rPr>
                        <a:t>)</a:t>
                      </a:r>
                      <a:endParaRPr sz="3200" u="none" cap="none" strike="noStrike">
                        <a:solidFill>
                          <a:schemeClr val="lt1"/>
                        </a:solidFill>
                        <a:latin typeface="Avenir"/>
                        <a:ea typeface="Avenir"/>
                        <a:cs typeface="Avenir"/>
                        <a:sym typeface="Avenir"/>
                      </a:endParaRPr>
                    </a:p>
                  </a:txBody>
                  <a:tcPr marT="0" marB="0" marR="68575" marL="6857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lang="en-US" sz="3200" u="none" cap="none" strike="noStrike">
                          <a:latin typeface="Avenir"/>
                          <a:ea typeface="Avenir"/>
                          <a:cs typeface="Avenir"/>
                          <a:sym typeface="Avenir"/>
                        </a:rPr>
                        <a:t>401</a:t>
                      </a:r>
                      <a:r>
                        <a:rPr lang="en-US" sz="3200" u="none" cap="none" strike="noStrike">
                          <a:solidFill>
                            <a:schemeClr val="lt1"/>
                          </a:solidFill>
                          <a:latin typeface="Avenir"/>
                          <a:ea typeface="Avenir"/>
                          <a:cs typeface="Avenir"/>
                          <a:sym typeface="Avenir"/>
                        </a:rPr>
                        <a:t>)</a:t>
                      </a:r>
                      <a:endParaRPr sz="3200" u="none" cap="none" strike="noStrike">
                        <a:solidFill>
                          <a:schemeClr val="lt1"/>
                        </a:solidFill>
                        <a:latin typeface="Avenir"/>
                        <a:ea typeface="Avenir"/>
                        <a:cs typeface="Avenir"/>
                        <a:sym typeface="Avenir"/>
                      </a:endParaRPr>
                    </a:p>
                  </a:txBody>
                  <a:tcPr marT="0" marB="0" marR="68575" marL="6857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lang="en-US" sz="3200" u="none" cap="none" strike="noStrike">
                          <a:latin typeface="Avenir"/>
                          <a:ea typeface="Avenir"/>
                          <a:cs typeface="Avenir"/>
                          <a:sym typeface="Avenir"/>
                        </a:rPr>
                        <a:t>1,000</a:t>
                      </a:r>
                      <a:r>
                        <a:rPr lang="en-US" sz="3200" u="none" cap="none" strike="noStrike">
                          <a:solidFill>
                            <a:schemeClr val="lt1"/>
                          </a:solidFill>
                          <a:latin typeface="Avenir"/>
                          <a:ea typeface="Avenir"/>
                          <a:cs typeface="Avenir"/>
                          <a:sym typeface="Avenir"/>
                        </a:rPr>
                        <a:t>)</a:t>
                      </a:r>
                      <a:endParaRPr sz="3200" u="none" cap="none" strike="noStrike">
                        <a:solidFill>
                          <a:schemeClr val="lt1"/>
                        </a:solidFill>
                        <a:latin typeface="Avenir"/>
                        <a:ea typeface="Avenir"/>
                        <a:cs typeface="Avenir"/>
                        <a:sym typeface="Avenir"/>
                      </a:endParaRPr>
                    </a:p>
                  </a:txBody>
                  <a:tcPr marT="0" marB="0" marR="68575" marL="6857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219075">
                <a:tc>
                  <a:txBody>
                    <a:bodyPr/>
                    <a:lstStyle/>
                    <a:p>
                      <a:pPr indent="0" lvl="0" marL="0" marR="0" rtl="0" algn="l">
                        <a:spcBef>
                          <a:spcPts val="0"/>
                        </a:spcBef>
                        <a:spcAft>
                          <a:spcPts val="0"/>
                        </a:spcAft>
                        <a:buNone/>
                      </a:pPr>
                      <a:r>
                        <a:rPr lang="en-US" sz="3200" u="none" cap="none" strike="noStrike">
                          <a:latin typeface="Avenir"/>
                          <a:ea typeface="Avenir"/>
                          <a:cs typeface="Avenir"/>
                          <a:sym typeface="Avenir"/>
                        </a:rPr>
                        <a:t>Cost of sales</a:t>
                      </a:r>
                      <a:endParaRPr sz="3200" u="none" cap="none" strike="noStrike">
                        <a:latin typeface="Avenir"/>
                        <a:ea typeface="Avenir"/>
                        <a:cs typeface="Avenir"/>
                        <a:sym typeface="Avenir"/>
                      </a:endParaRPr>
                    </a:p>
                  </a:txBody>
                  <a:tcPr marT="0" marB="0" marR="68575" marL="6857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lang="en-US" sz="3200" u="none" cap="none" strike="noStrike">
                          <a:latin typeface="Avenir"/>
                          <a:ea typeface="Avenir"/>
                          <a:cs typeface="Avenir"/>
                          <a:sym typeface="Avenir"/>
                        </a:rPr>
                        <a:t>(300)</a:t>
                      </a:r>
                      <a:endParaRPr sz="3200" u="none" cap="none" strike="noStrike">
                        <a:latin typeface="Avenir"/>
                        <a:ea typeface="Avenir"/>
                        <a:cs typeface="Avenir"/>
                        <a:sym typeface="Avenir"/>
                      </a:endParaRPr>
                    </a:p>
                  </a:txBody>
                  <a:tcPr marT="0" marB="0" marR="68575" marL="6857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lang="en-US" sz="3200" u="none" cap="none" strike="noStrike">
                          <a:latin typeface="Avenir"/>
                          <a:ea typeface="Avenir"/>
                          <a:cs typeface="Avenir"/>
                          <a:sym typeface="Avenir"/>
                        </a:rPr>
                        <a:t>(1)</a:t>
                      </a:r>
                      <a:endParaRPr sz="3200" u="none" cap="none" strike="noStrike">
                        <a:latin typeface="Avenir"/>
                        <a:ea typeface="Avenir"/>
                        <a:cs typeface="Avenir"/>
                        <a:sym typeface="Avenir"/>
                      </a:endParaRPr>
                    </a:p>
                  </a:txBody>
                  <a:tcPr marT="0" marB="0" marR="68575" marL="6857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lang="en-US" sz="3200" u="none" cap="none" strike="noStrike">
                          <a:latin typeface="Avenir"/>
                          <a:ea typeface="Avenir"/>
                          <a:cs typeface="Avenir"/>
                          <a:sym typeface="Avenir"/>
                        </a:rPr>
                        <a:t>(600)</a:t>
                      </a:r>
                      <a:endParaRPr sz="3200" u="none" cap="none" strike="noStrike">
                        <a:latin typeface="Avenir"/>
                        <a:ea typeface="Avenir"/>
                        <a:cs typeface="Avenir"/>
                        <a:sym typeface="Avenir"/>
                      </a:endParaRPr>
                    </a:p>
                  </a:txBody>
                  <a:tcPr marT="0" marB="0" marR="68575" marL="6857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632000">
                <a:tc>
                  <a:txBody>
                    <a:bodyPr/>
                    <a:lstStyle/>
                    <a:p>
                      <a:pPr indent="0" lvl="0" marL="0" marR="0" rtl="0" algn="l">
                        <a:spcBef>
                          <a:spcPts val="0"/>
                        </a:spcBef>
                        <a:spcAft>
                          <a:spcPts val="0"/>
                        </a:spcAft>
                        <a:buNone/>
                      </a:pPr>
                      <a:r>
                        <a:rPr b="1" lang="en-US" sz="3200" u="none" cap="none" strike="noStrike">
                          <a:latin typeface="Avenir"/>
                          <a:ea typeface="Avenir"/>
                          <a:cs typeface="Avenir"/>
                          <a:sym typeface="Avenir"/>
                        </a:rPr>
                        <a:t>Gross profit</a:t>
                      </a:r>
                      <a:endParaRPr b="1" sz="3200" u="none" cap="none" strike="noStrike">
                        <a:latin typeface="Avenir"/>
                        <a:ea typeface="Avenir"/>
                        <a:cs typeface="Avenir"/>
                        <a:sym typeface="Avenir"/>
                      </a:endParaRPr>
                    </a:p>
                  </a:txBody>
                  <a:tcPr marT="0" marB="0" marR="68575" marL="68575" anchor="b">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2CC"/>
                    </a:solidFill>
                  </a:tcPr>
                </a:tc>
                <a:tc>
                  <a:txBody>
                    <a:bodyPr/>
                    <a:lstStyle/>
                    <a:p>
                      <a:pPr indent="0" lvl="0" marL="0" marR="0" rtl="0" algn="r">
                        <a:spcBef>
                          <a:spcPts val="0"/>
                        </a:spcBef>
                        <a:spcAft>
                          <a:spcPts val="0"/>
                        </a:spcAft>
                        <a:buNone/>
                      </a:pPr>
                      <a:r>
                        <a:rPr b="1" lang="en-US" sz="3200" u="none" cap="none" strike="noStrike">
                          <a:latin typeface="Avenir"/>
                          <a:ea typeface="Avenir"/>
                          <a:cs typeface="Avenir"/>
                          <a:sym typeface="Avenir"/>
                        </a:rPr>
                        <a:t>£400</a:t>
                      </a:r>
                      <a:r>
                        <a:rPr b="1" lang="en-US" sz="3200" u="none" cap="none" strike="noStrike">
                          <a:solidFill>
                            <a:srgbClr val="FFF2CC"/>
                          </a:solidFill>
                          <a:latin typeface="Avenir"/>
                          <a:ea typeface="Avenir"/>
                          <a:cs typeface="Avenir"/>
                          <a:sym typeface="Avenir"/>
                        </a:rPr>
                        <a:t>)</a:t>
                      </a:r>
                      <a:endParaRPr b="1" sz="3200" u="none" cap="none" strike="noStrike">
                        <a:solidFill>
                          <a:srgbClr val="FFF2CC"/>
                        </a:solidFill>
                        <a:latin typeface="Avenir"/>
                        <a:ea typeface="Avenir"/>
                        <a:cs typeface="Avenir"/>
                        <a:sym typeface="Avenir"/>
                      </a:endParaRPr>
                    </a:p>
                  </a:txBody>
                  <a:tcPr marT="0" marB="0" marR="68575" marL="68575" anchor="b">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2CC"/>
                    </a:solidFill>
                  </a:tcPr>
                </a:tc>
                <a:tc>
                  <a:txBody>
                    <a:bodyPr/>
                    <a:lstStyle/>
                    <a:p>
                      <a:pPr indent="0" lvl="0" marL="0" marR="0" rtl="0" algn="r">
                        <a:spcBef>
                          <a:spcPts val="0"/>
                        </a:spcBef>
                        <a:spcAft>
                          <a:spcPts val="0"/>
                        </a:spcAft>
                        <a:buNone/>
                      </a:pPr>
                      <a:r>
                        <a:rPr b="1" lang="en-US" sz="3200" u="none" cap="none" strike="noStrike">
                          <a:latin typeface="Avenir"/>
                          <a:ea typeface="Avenir"/>
                          <a:cs typeface="Avenir"/>
                          <a:sym typeface="Avenir"/>
                        </a:rPr>
                        <a:t>£400</a:t>
                      </a:r>
                      <a:r>
                        <a:rPr b="1" lang="en-US" sz="3200" u="none" cap="none" strike="noStrike">
                          <a:solidFill>
                            <a:srgbClr val="FFF2CC"/>
                          </a:solidFill>
                          <a:latin typeface="Avenir"/>
                          <a:ea typeface="Avenir"/>
                          <a:cs typeface="Avenir"/>
                          <a:sym typeface="Avenir"/>
                        </a:rPr>
                        <a:t>)</a:t>
                      </a:r>
                      <a:endParaRPr b="1" sz="3200" u="none" cap="none" strike="noStrike">
                        <a:solidFill>
                          <a:srgbClr val="FFF2CC"/>
                        </a:solidFill>
                        <a:latin typeface="Avenir"/>
                        <a:ea typeface="Avenir"/>
                        <a:cs typeface="Avenir"/>
                        <a:sym typeface="Avenir"/>
                      </a:endParaRPr>
                    </a:p>
                  </a:txBody>
                  <a:tcPr marT="0" marB="0" marR="68575" marL="68575" anchor="b">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2CC"/>
                    </a:solidFill>
                  </a:tcPr>
                </a:tc>
                <a:tc>
                  <a:txBody>
                    <a:bodyPr/>
                    <a:lstStyle/>
                    <a:p>
                      <a:pPr indent="0" lvl="0" marL="0" marR="0" rtl="0" algn="r">
                        <a:spcBef>
                          <a:spcPts val="0"/>
                        </a:spcBef>
                        <a:spcAft>
                          <a:spcPts val="0"/>
                        </a:spcAft>
                        <a:buNone/>
                      </a:pPr>
                      <a:r>
                        <a:rPr b="1" lang="en-US" sz="3200" u="none" cap="none" strike="noStrike">
                          <a:latin typeface="Avenir"/>
                          <a:ea typeface="Avenir"/>
                          <a:cs typeface="Avenir"/>
                          <a:sym typeface="Avenir"/>
                        </a:rPr>
                        <a:t>£400</a:t>
                      </a:r>
                      <a:r>
                        <a:rPr b="1" lang="en-US" sz="3200" u="none" cap="none" strike="noStrike">
                          <a:solidFill>
                            <a:srgbClr val="FFF2CC"/>
                          </a:solidFill>
                          <a:latin typeface="Avenir"/>
                          <a:ea typeface="Avenir"/>
                          <a:cs typeface="Avenir"/>
                          <a:sym typeface="Avenir"/>
                        </a:rPr>
                        <a:t>)</a:t>
                      </a:r>
                      <a:endParaRPr b="1" sz="3200" u="none" cap="none" strike="noStrike">
                        <a:solidFill>
                          <a:srgbClr val="FFF2CC"/>
                        </a:solidFill>
                        <a:latin typeface="Avenir"/>
                        <a:ea typeface="Avenir"/>
                        <a:cs typeface="Avenir"/>
                        <a:sym typeface="Avenir"/>
                      </a:endParaRPr>
                    </a:p>
                  </a:txBody>
                  <a:tcPr marT="0" marB="0" marR="68575" marL="68575" anchor="b">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2CC"/>
                    </a:solidFill>
                  </a:tcPr>
                </a:tc>
              </a:tr>
              <a:tr h="841775">
                <a:tc>
                  <a:txBody>
                    <a:bodyPr/>
                    <a:lstStyle/>
                    <a:p>
                      <a:pPr indent="0" lvl="0" marL="0" marR="0" rtl="0" algn="l">
                        <a:spcBef>
                          <a:spcPts val="0"/>
                        </a:spcBef>
                        <a:spcAft>
                          <a:spcPts val="0"/>
                        </a:spcAft>
                        <a:buNone/>
                      </a:pPr>
                      <a:r>
                        <a:rPr lang="en-US" sz="3200" u="none" cap="none" strike="noStrike">
                          <a:latin typeface="Avenir"/>
                          <a:ea typeface="Avenir"/>
                          <a:cs typeface="Avenir"/>
                          <a:sym typeface="Avenir"/>
                        </a:rPr>
                        <a:t> </a:t>
                      </a:r>
                      <a:endParaRPr sz="3200" u="none" cap="none" strike="noStrike">
                        <a:latin typeface="Avenir"/>
                        <a:ea typeface="Avenir"/>
                        <a:cs typeface="Avenir"/>
                        <a:sym typeface="Avenir"/>
                      </a:endParaRPr>
                    </a:p>
                  </a:txBody>
                  <a:tcPr marT="0" marB="0" marR="68575" marL="6857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lang="en-US" sz="2400" u="none" cap="none" strike="noStrike">
                          <a:solidFill>
                            <a:schemeClr val="accent1"/>
                          </a:solidFill>
                          <a:latin typeface="Avenir"/>
                          <a:ea typeface="Avenir"/>
                          <a:cs typeface="Avenir"/>
                          <a:sym typeface="Avenir"/>
                        </a:rPr>
                        <a:t>58%</a:t>
                      </a:r>
                      <a:endParaRPr sz="2400" u="none" cap="none" strike="noStrike">
                        <a:solidFill>
                          <a:schemeClr val="accent1"/>
                        </a:solidFill>
                        <a:latin typeface="Avenir"/>
                        <a:ea typeface="Avenir"/>
                        <a:cs typeface="Avenir"/>
                        <a:sym typeface="Avenir"/>
                      </a:endParaRPr>
                    </a:p>
                  </a:txBody>
                  <a:tcPr marT="0" marB="0" marR="68575" marL="6857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lang="en-US" sz="2400" u="none" cap="none" strike="noStrike">
                          <a:solidFill>
                            <a:schemeClr val="accent1"/>
                          </a:solidFill>
                          <a:latin typeface="Avenir"/>
                          <a:ea typeface="Avenir"/>
                          <a:cs typeface="Avenir"/>
                          <a:sym typeface="Avenir"/>
                        </a:rPr>
                        <a:t>99%</a:t>
                      </a:r>
                      <a:endParaRPr sz="2400" u="none" cap="none" strike="noStrike">
                        <a:solidFill>
                          <a:schemeClr val="accent1"/>
                        </a:solidFill>
                        <a:latin typeface="Avenir"/>
                        <a:ea typeface="Avenir"/>
                        <a:cs typeface="Avenir"/>
                        <a:sym typeface="Avenir"/>
                      </a:endParaRPr>
                    </a:p>
                  </a:txBody>
                  <a:tcPr marT="0" marB="0" marR="68575" marL="6857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lang="en-US" sz="2400" u="none" cap="none" strike="noStrike">
                          <a:solidFill>
                            <a:schemeClr val="accent1"/>
                          </a:solidFill>
                          <a:latin typeface="Avenir"/>
                          <a:ea typeface="Avenir"/>
                          <a:cs typeface="Avenir"/>
                          <a:sym typeface="Avenir"/>
                        </a:rPr>
                        <a:t>40%</a:t>
                      </a:r>
                      <a:endParaRPr sz="2400" u="none" cap="none" strike="noStrike">
                        <a:solidFill>
                          <a:schemeClr val="accent1"/>
                        </a:solidFill>
                        <a:latin typeface="Avenir"/>
                        <a:ea typeface="Avenir"/>
                        <a:cs typeface="Avenir"/>
                        <a:sym typeface="Avenir"/>
                      </a:endParaRPr>
                    </a:p>
                  </a:txBody>
                  <a:tcPr marT="0" marB="0" marR="68575" marL="6857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bl>
          </a:graphicData>
        </a:graphic>
      </p:graphicFrame>
      <p:sp>
        <p:nvSpPr>
          <p:cNvPr id="443" name="Google Shape;443;p28"/>
          <p:cNvSpPr txBox="1"/>
          <p:nvPr/>
        </p:nvSpPr>
        <p:spPr>
          <a:xfrm>
            <a:off x="3613035" y="500757"/>
            <a:ext cx="4777463" cy="5232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2800">
                <a:solidFill>
                  <a:schemeClr val="accent1"/>
                </a:solidFill>
                <a:latin typeface="Avenir"/>
                <a:ea typeface="Avenir"/>
                <a:cs typeface="Avenir"/>
                <a:sym typeface="Avenir"/>
              </a:rPr>
              <a:t>My Consulting Limited</a:t>
            </a:r>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8" name="Shape 448"/>
        <p:cNvGrpSpPr/>
        <p:nvPr/>
      </p:nvGrpSpPr>
      <p:grpSpPr>
        <a:xfrm>
          <a:off x="0" y="0"/>
          <a:ext cx="0" cy="0"/>
          <a:chOff x="0" y="0"/>
          <a:chExt cx="0" cy="0"/>
        </a:xfrm>
      </p:grpSpPr>
      <p:sp>
        <p:nvSpPr>
          <p:cNvPr id="449" name="Google Shape;449;p29"/>
          <p:cNvSpPr txBox="1"/>
          <p:nvPr/>
        </p:nvSpPr>
        <p:spPr>
          <a:xfrm>
            <a:off x="6227788" y="2623662"/>
            <a:ext cx="4677777" cy="2227378"/>
          </a:xfrm>
          <a:prstGeom prst="rect">
            <a:avLst/>
          </a:prstGeom>
          <a:no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lang="en-US" sz="2800">
                <a:solidFill>
                  <a:schemeClr val="dk1"/>
                </a:solidFill>
                <a:latin typeface="Avenir"/>
                <a:ea typeface="Avenir"/>
                <a:cs typeface="Avenir"/>
                <a:sym typeface="Avenir"/>
              </a:rPr>
              <a:t>Equity</a:t>
            </a:r>
            <a:r>
              <a:rPr b="1" lang="en-US" sz="2800">
                <a:solidFill>
                  <a:schemeClr val="lt1"/>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450" name="Google Shape;450;p29"/>
          <p:cNvSpPr txBox="1"/>
          <p:nvPr/>
        </p:nvSpPr>
        <p:spPr>
          <a:xfrm>
            <a:off x="6227788" y="1325627"/>
            <a:ext cx="4677777" cy="1150816"/>
          </a:xfrm>
          <a:prstGeom prst="rect">
            <a:avLst/>
          </a:prstGeom>
          <a:no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lang="en-US" sz="2800">
                <a:solidFill>
                  <a:schemeClr val="dk1"/>
                </a:solidFill>
                <a:latin typeface="Avenir"/>
                <a:ea typeface="Avenir"/>
                <a:cs typeface="Avenir"/>
                <a:sym typeface="Avenir"/>
              </a:rPr>
              <a:t>Liabilities</a:t>
            </a:r>
            <a:r>
              <a:rPr b="1" lang="en-US" sz="2800">
                <a:solidFill>
                  <a:schemeClr val="lt1"/>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grpSp>
        <p:nvGrpSpPr>
          <p:cNvPr id="451" name="Google Shape;451;p29"/>
          <p:cNvGrpSpPr/>
          <p:nvPr/>
        </p:nvGrpSpPr>
        <p:grpSpPr>
          <a:xfrm>
            <a:off x="8116806" y="1712085"/>
            <a:ext cx="1484695" cy="611304"/>
            <a:chOff x="2640082" y="2202430"/>
            <a:chExt cx="1288807" cy="611304"/>
          </a:xfrm>
        </p:grpSpPr>
        <p:sp>
          <p:nvSpPr>
            <p:cNvPr id="452" name="Google Shape;452;p29"/>
            <p:cNvSpPr txBox="1"/>
            <p:nvPr/>
          </p:nvSpPr>
          <p:spPr>
            <a:xfrm>
              <a:off x="2640082" y="2202430"/>
              <a:ext cx="338414"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453" name="Google Shape;453;p29"/>
            <p:cNvSpPr txBox="1"/>
            <p:nvPr/>
          </p:nvSpPr>
          <p:spPr>
            <a:xfrm>
              <a:off x="2950382" y="2352069"/>
              <a:ext cx="978507"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2"/>
                  </a:solidFill>
                  <a:latin typeface="Avenir"/>
                  <a:ea typeface="Avenir"/>
                  <a:cs typeface="Avenir"/>
                  <a:sym typeface="Avenir"/>
                </a:rPr>
                <a:t>30,000</a:t>
              </a:r>
              <a:endParaRPr/>
            </a:p>
          </p:txBody>
        </p:sp>
      </p:grpSp>
      <p:sp>
        <p:nvSpPr>
          <p:cNvPr id="454" name="Google Shape;454;p29"/>
          <p:cNvSpPr txBox="1"/>
          <p:nvPr/>
        </p:nvSpPr>
        <p:spPr>
          <a:xfrm>
            <a:off x="8641975" y="897526"/>
            <a:ext cx="2279791" cy="40011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000">
                <a:solidFill>
                  <a:schemeClr val="accent2"/>
                </a:solidFill>
                <a:latin typeface="Avenir"/>
                <a:ea typeface="Avenir"/>
                <a:cs typeface="Avenir"/>
                <a:sym typeface="Avenir"/>
              </a:rPr>
              <a:t>Sources of funds</a:t>
            </a:r>
            <a:endParaRPr/>
          </a:p>
        </p:txBody>
      </p:sp>
      <p:cxnSp>
        <p:nvCxnSpPr>
          <p:cNvPr id="455" name="Google Shape;455;p29"/>
          <p:cNvCxnSpPr/>
          <p:nvPr/>
        </p:nvCxnSpPr>
        <p:spPr>
          <a:xfrm flipH="1" rot="10800000">
            <a:off x="3613035" y="1065456"/>
            <a:ext cx="4777463" cy="18029"/>
          </a:xfrm>
          <a:prstGeom prst="straightConnector1">
            <a:avLst/>
          </a:prstGeom>
          <a:noFill/>
          <a:ln cap="flat" cmpd="sng" w="28575">
            <a:solidFill>
              <a:schemeClr val="accent1"/>
            </a:solidFill>
            <a:prstDash val="dot"/>
            <a:miter lim="800000"/>
            <a:headEnd len="sm" w="sm" type="none"/>
            <a:tailEnd len="sm" w="sm" type="none"/>
          </a:ln>
        </p:spPr>
      </p:cxnSp>
      <p:sp>
        <p:nvSpPr>
          <p:cNvPr id="456" name="Google Shape;456;p29"/>
          <p:cNvSpPr txBox="1"/>
          <p:nvPr/>
        </p:nvSpPr>
        <p:spPr>
          <a:xfrm>
            <a:off x="1358153" y="1325627"/>
            <a:ext cx="4679162" cy="3525413"/>
          </a:xfrm>
          <a:prstGeom prst="rect">
            <a:avLst/>
          </a:prstGeom>
          <a:no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120000"/>
              </a:lnSpc>
              <a:spcBef>
                <a:spcPts val="0"/>
              </a:spcBef>
              <a:spcAft>
                <a:spcPts val="0"/>
              </a:spcAft>
              <a:buNone/>
            </a:pPr>
            <a:r>
              <a:rPr b="1" lang="en-US" sz="2800">
                <a:solidFill>
                  <a:schemeClr val="lt1"/>
                </a:solidFill>
                <a:latin typeface="Avenir"/>
                <a:ea typeface="Avenir"/>
                <a:cs typeface="Avenir"/>
                <a:sym typeface="Avenir"/>
              </a:rPr>
              <a:t>_</a:t>
            </a:r>
            <a:r>
              <a:rPr lang="en-US" sz="2800">
                <a:solidFill>
                  <a:schemeClr val="dk1"/>
                </a:solidFill>
                <a:latin typeface="Avenir"/>
                <a:ea typeface="Avenir"/>
                <a:cs typeface="Avenir"/>
                <a:sym typeface="Avenir"/>
              </a:rPr>
              <a:t>Assets</a:t>
            </a:r>
            <a:endParaRPr/>
          </a:p>
        </p:txBody>
      </p:sp>
      <p:grpSp>
        <p:nvGrpSpPr>
          <p:cNvPr id="457" name="Google Shape;457;p29"/>
          <p:cNvGrpSpPr/>
          <p:nvPr/>
        </p:nvGrpSpPr>
        <p:grpSpPr>
          <a:xfrm>
            <a:off x="2330580" y="1965230"/>
            <a:ext cx="3032198" cy="584776"/>
            <a:chOff x="1116105" y="2252876"/>
            <a:chExt cx="3032198" cy="584776"/>
          </a:xfrm>
        </p:grpSpPr>
        <p:sp>
          <p:nvSpPr>
            <p:cNvPr id="458" name="Google Shape;458;p29"/>
            <p:cNvSpPr txBox="1"/>
            <p:nvPr/>
          </p:nvSpPr>
          <p:spPr>
            <a:xfrm>
              <a:off x="1116105" y="2375987"/>
              <a:ext cx="904415"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459" name="Google Shape;459;p29"/>
            <p:cNvSpPr txBox="1"/>
            <p:nvPr/>
          </p:nvSpPr>
          <p:spPr>
            <a:xfrm>
              <a:off x="2646615" y="2252876"/>
              <a:ext cx="389850"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460" name="Google Shape;460;p29"/>
            <p:cNvSpPr txBox="1"/>
            <p:nvPr/>
          </p:nvSpPr>
          <p:spPr>
            <a:xfrm>
              <a:off x="3021071" y="2375987"/>
              <a:ext cx="1127232"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6"/>
                  </a:solidFill>
                  <a:latin typeface="Avenir"/>
                  <a:ea typeface="Avenir"/>
                  <a:cs typeface="Avenir"/>
                  <a:sym typeface="Avenir"/>
                </a:rPr>
                <a:t>30,000</a:t>
              </a:r>
              <a:endParaRPr/>
            </a:p>
          </p:txBody>
        </p:sp>
      </p:grpSp>
      <p:sp>
        <p:nvSpPr>
          <p:cNvPr id="461" name="Google Shape;461;p29"/>
          <p:cNvSpPr txBox="1"/>
          <p:nvPr/>
        </p:nvSpPr>
        <p:spPr>
          <a:xfrm>
            <a:off x="1341185" y="894976"/>
            <a:ext cx="1880643" cy="40011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000">
                <a:solidFill>
                  <a:schemeClr val="accent6"/>
                </a:solidFill>
                <a:latin typeface="Avenir"/>
                <a:ea typeface="Avenir"/>
                <a:cs typeface="Avenir"/>
                <a:sym typeface="Avenir"/>
              </a:rPr>
              <a:t>Uses of funds</a:t>
            </a:r>
            <a:endParaRPr/>
          </a:p>
        </p:txBody>
      </p:sp>
      <p:grpSp>
        <p:nvGrpSpPr>
          <p:cNvPr id="462" name="Google Shape;462;p29"/>
          <p:cNvGrpSpPr/>
          <p:nvPr/>
        </p:nvGrpSpPr>
        <p:grpSpPr>
          <a:xfrm>
            <a:off x="6457623" y="2719983"/>
            <a:ext cx="3356537" cy="830997"/>
            <a:chOff x="1160947" y="1923541"/>
            <a:chExt cx="2421059" cy="830997"/>
          </a:xfrm>
        </p:grpSpPr>
        <p:sp>
          <p:nvSpPr>
            <p:cNvPr id="463" name="Google Shape;463;p29"/>
            <p:cNvSpPr txBox="1"/>
            <p:nvPr/>
          </p:nvSpPr>
          <p:spPr>
            <a:xfrm>
              <a:off x="1160947" y="1923541"/>
              <a:ext cx="1343784" cy="830997"/>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Contributed </a:t>
              </a:r>
              <a:br>
                <a:rPr lang="en-US" sz="2400">
                  <a:solidFill>
                    <a:schemeClr val="dk1"/>
                  </a:solidFill>
                  <a:latin typeface="Avenir"/>
                  <a:ea typeface="Avenir"/>
                  <a:cs typeface="Avenir"/>
                  <a:sym typeface="Avenir"/>
                </a:rPr>
              </a:br>
              <a:r>
                <a:rPr lang="en-US" sz="2400">
                  <a:solidFill>
                    <a:schemeClr val="dk1"/>
                  </a:solidFill>
                  <a:latin typeface="Avenir"/>
                  <a:ea typeface="Avenir"/>
                  <a:cs typeface="Avenir"/>
                  <a:sym typeface="Avenir"/>
                </a:rPr>
                <a:t>equity</a:t>
              </a:r>
              <a:endParaRPr/>
            </a:p>
          </p:txBody>
        </p:sp>
        <p:sp>
          <p:nvSpPr>
            <p:cNvPr id="464" name="Google Shape;464;p29"/>
            <p:cNvSpPr txBox="1"/>
            <p:nvPr/>
          </p:nvSpPr>
          <p:spPr>
            <a:xfrm>
              <a:off x="2513583" y="2116704"/>
              <a:ext cx="281197"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465" name="Google Shape;465;p29"/>
            <p:cNvSpPr txBox="1"/>
            <p:nvPr/>
          </p:nvSpPr>
          <p:spPr>
            <a:xfrm>
              <a:off x="2768937" y="2239814"/>
              <a:ext cx="813069"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2"/>
                  </a:solidFill>
                  <a:latin typeface="Avenir"/>
                  <a:ea typeface="Avenir"/>
                  <a:cs typeface="Avenir"/>
                  <a:sym typeface="Avenir"/>
                </a:rPr>
                <a:t>20,000</a:t>
              </a:r>
              <a:endParaRPr/>
            </a:p>
          </p:txBody>
        </p:sp>
      </p:grpSp>
      <p:grpSp>
        <p:nvGrpSpPr>
          <p:cNvPr id="466" name="Google Shape;466;p29"/>
          <p:cNvGrpSpPr/>
          <p:nvPr/>
        </p:nvGrpSpPr>
        <p:grpSpPr>
          <a:xfrm>
            <a:off x="2330580" y="2586599"/>
            <a:ext cx="3032198" cy="609738"/>
            <a:chOff x="1116105" y="2227914"/>
            <a:chExt cx="3032198" cy="609738"/>
          </a:xfrm>
        </p:grpSpPr>
        <p:sp>
          <p:nvSpPr>
            <p:cNvPr id="467" name="Google Shape;467;p29"/>
            <p:cNvSpPr txBox="1"/>
            <p:nvPr/>
          </p:nvSpPr>
          <p:spPr>
            <a:xfrm>
              <a:off x="1116105" y="2375987"/>
              <a:ext cx="904415"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468" name="Google Shape;468;p29"/>
            <p:cNvSpPr txBox="1"/>
            <p:nvPr/>
          </p:nvSpPr>
          <p:spPr>
            <a:xfrm>
              <a:off x="2646615" y="2227914"/>
              <a:ext cx="389850"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469" name="Google Shape;469;p29"/>
            <p:cNvSpPr txBox="1"/>
            <p:nvPr/>
          </p:nvSpPr>
          <p:spPr>
            <a:xfrm>
              <a:off x="3021071" y="2375987"/>
              <a:ext cx="1127232"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6"/>
                  </a:solidFill>
                  <a:latin typeface="Avenir"/>
                  <a:ea typeface="Avenir"/>
                  <a:cs typeface="Avenir"/>
                  <a:sym typeface="Avenir"/>
                </a:rPr>
                <a:t>20,000</a:t>
              </a:r>
              <a:endParaRPr/>
            </a:p>
          </p:txBody>
        </p:sp>
      </p:grpSp>
      <p:grpSp>
        <p:nvGrpSpPr>
          <p:cNvPr id="470" name="Google Shape;470;p29"/>
          <p:cNvGrpSpPr/>
          <p:nvPr/>
        </p:nvGrpSpPr>
        <p:grpSpPr>
          <a:xfrm>
            <a:off x="2330580" y="3236109"/>
            <a:ext cx="3032198" cy="606559"/>
            <a:chOff x="2330580" y="3236109"/>
            <a:chExt cx="3032198" cy="606559"/>
          </a:xfrm>
        </p:grpSpPr>
        <p:sp>
          <p:nvSpPr>
            <p:cNvPr id="471" name="Google Shape;471;p29"/>
            <p:cNvSpPr txBox="1"/>
            <p:nvPr/>
          </p:nvSpPr>
          <p:spPr>
            <a:xfrm>
              <a:off x="2330580" y="3381003"/>
              <a:ext cx="904415"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472" name="Google Shape;472;p29"/>
            <p:cNvSpPr txBox="1"/>
            <p:nvPr/>
          </p:nvSpPr>
          <p:spPr>
            <a:xfrm>
              <a:off x="3850936" y="3236109"/>
              <a:ext cx="389850"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473" name="Google Shape;473;p29"/>
            <p:cNvSpPr txBox="1"/>
            <p:nvPr/>
          </p:nvSpPr>
          <p:spPr>
            <a:xfrm>
              <a:off x="4663549" y="3381003"/>
              <a:ext cx="699229"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6"/>
                  </a:solidFill>
                  <a:latin typeface="Avenir"/>
                  <a:ea typeface="Avenir"/>
                  <a:cs typeface="Avenir"/>
                  <a:sym typeface="Avenir"/>
                </a:rPr>
                <a:t>700</a:t>
              </a:r>
              <a:endParaRPr/>
            </a:p>
          </p:txBody>
        </p:sp>
      </p:grpSp>
      <p:grpSp>
        <p:nvGrpSpPr>
          <p:cNvPr id="474" name="Google Shape;474;p29"/>
          <p:cNvGrpSpPr/>
          <p:nvPr/>
        </p:nvGrpSpPr>
        <p:grpSpPr>
          <a:xfrm>
            <a:off x="2330580" y="3959159"/>
            <a:ext cx="3032198" cy="584775"/>
            <a:chOff x="2330580" y="3959159"/>
            <a:chExt cx="3032198" cy="584775"/>
          </a:xfrm>
        </p:grpSpPr>
        <p:sp>
          <p:nvSpPr>
            <p:cNvPr id="475" name="Google Shape;475;p29"/>
            <p:cNvSpPr txBox="1"/>
            <p:nvPr/>
          </p:nvSpPr>
          <p:spPr>
            <a:xfrm>
              <a:off x="2330580" y="4027334"/>
              <a:ext cx="904415"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476" name="Google Shape;476;p29"/>
            <p:cNvSpPr txBox="1"/>
            <p:nvPr/>
          </p:nvSpPr>
          <p:spPr>
            <a:xfrm rot="10800000">
              <a:off x="3844094" y="3959159"/>
              <a:ext cx="389850"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477" name="Google Shape;477;p29"/>
            <p:cNvSpPr txBox="1"/>
            <p:nvPr/>
          </p:nvSpPr>
          <p:spPr>
            <a:xfrm>
              <a:off x="4663549" y="4027334"/>
              <a:ext cx="699229"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2"/>
                  </a:solidFill>
                  <a:latin typeface="Avenir"/>
                  <a:ea typeface="Avenir"/>
                  <a:cs typeface="Avenir"/>
                  <a:sym typeface="Avenir"/>
                </a:rPr>
                <a:t>300</a:t>
              </a:r>
              <a:endParaRPr/>
            </a:p>
          </p:txBody>
        </p:sp>
      </p:grpSp>
      <p:grpSp>
        <p:nvGrpSpPr>
          <p:cNvPr id="478" name="Google Shape;478;p29"/>
          <p:cNvGrpSpPr/>
          <p:nvPr/>
        </p:nvGrpSpPr>
        <p:grpSpPr>
          <a:xfrm>
            <a:off x="6511111" y="3762376"/>
            <a:ext cx="3211389" cy="830997"/>
            <a:chOff x="1160947" y="1923541"/>
            <a:chExt cx="2316364" cy="830997"/>
          </a:xfrm>
        </p:grpSpPr>
        <p:sp>
          <p:nvSpPr>
            <p:cNvPr id="479" name="Google Shape;479;p29"/>
            <p:cNvSpPr txBox="1"/>
            <p:nvPr/>
          </p:nvSpPr>
          <p:spPr>
            <a:xfrm>
              <a:off x="1160947" y="1923541"/>
              <a:ext cx="1244346" cy="830997"/>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Generated </a:t>
              </a:r>
              <a:br>
                <a:rPr lang="en-US" sz="2400">
                  <a:solidFill>
                    <a:schemeClr val="dk1"/>
                  </a:solidFill>
                  <a:latin typeface="Avenir"/>
                  <a:ea typeface="Avenir"/>
                  <a:cs typeface="Avenir"/>
                  <a:sym typeface="Avenir"/>
                </a:rPr>
              </a:br>
              <a:r>
                <a:rPr lang="en-US" sz="2400">
                  <a:solidFill>
                    <a:schemeClr val="dk1"/>
                  </a:solidFill>
                  <a:latin typeface="Avenir"/>
                  <a:ea typeface="Avenir"/>
                  <a:cs typeface="Avenir"/>
                  <a:sym typeface="Avenir"/>
                </a:rPr>
                <a:t>equity</a:t>
              </a:r>
              <a:endParaRPr/>
            </a:p>
          </p:txBody>
        </p:sp>
        <p:sp>
          <p:nvSpPr>
            <p:cNvPr id="480" name="Google Shape;480;p29"/>
            <p:cNvSpPr txBox="1"/>
            <p:nvPr/>
          </p:nvSpPr>
          <p:spPr>
            <a:xfrm>
              <a:off x="2504041" y="2127523"/>
              <a:ext cx="281197"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481" name="Google Shape;481;p29"/>
            <p:cNvSpPr txBox="1"/>
            <p:nvPr/>
          </p:nvSpPr>
          <p:spPr>
            <a:xfrm>
              <a:off x="2972959" y="2225909"/>
              <a:ext cx="504352"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2"/>
                  </a:solidFill>
                  <a:latin typeface="Avenir"/>
                  <a:ea typeface="Avenir"/>
                  <a:cs typeface="Avenir"/>
                  <a:sym typeface="Avenir"/>
                </a:rPr>
                <a:t>400</a:t>
              </a:r>
              <a:endParaRPr/>
            </a:p>
          </p:txBody>
        </p:sp>
      </p:grpSp>
      <p:sp>
        <p:nvSpPr>
          <p:cNvPr id="482" name="Google Shape;482;p29"/>
          <p:cNvSpPr txBox="1"/>
          <p:nvPr/>
        </p:nvSpPr>
        <p:spPr>
          <a:xfrm>
            <a:off x="6457623" y="3661110"/>
            <a:ext cx="3356537" cy="993462"/>
          </a:xfrm>
          <a:prstGeom prst="rect">
            <a:avLst/>
          </a:prstGeom>
          <a:noFill/>
          <a:ln cap="flat" cmpd="sng" w="7620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b="1" lang="en-US" sz="2800">
                <a:solidFill>
                  <a:schemeClr val="dk1"/>
                </a:solidFill>
                <a:latin typeface="Avenir"/>
                <a:ea typeface="Avenir"/>
                <a:cs typeface="Avenir"/>
                <a:sym typeface="Avenir"/>
              </a:rPr>
              <a:t> </a:t>
            </a:r>
            <a:endParaRPr/>
          </a:p>
        </p:txBody>
      </p:sp>
      <p:sp>
        <p:nvSpPr>
          <p:cNvPr id="483" name="Google Shape;483;p29"/>
          <p:cNvSpPr txBox="1"/>
          <p:nvPr/>
        </p:nvSpPr>
        <p:spPr>
          <a:xfrm>
            <a:off x="1354633" y="5003440"/>
            <a:ext cx="9550931" cy="1518383"/>
          </a:xfrm>
          <a:prstGeom prst="rect">
            <a:avLst/>
          </a:prstGeom>
          <a:noFill/>
          <a:ln cap="flat" cmpd="sng" w="7620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b="1" lang="en-US" sz="2800">
                <a:solidFill>
                  <a:schemeClr val="dk1"/>
                </a:solidFill>
                <a:latin typeface="Avenir"/>
                <a:ea typeface="Avenir"/>
                <a:cs typeface="Avenir"/>
                <a:sym typeface="Avenir"/>
              </a:rPr>
              <a:t> </a:t>
            </a:r>
            <a:endParaRPr/>
          </a:p>
        </p:txBody>
      </p:sp>
      <p:sp>
        <p:nvSpPr>
          <p:cNvPr id="484" name="Google Shape;484;p29"/>
          <p:cNvSpPr txBox="1"/>
          <p:nvPr/>
        </p:nvSpPr>
        <p:spPr>
          <a:xfrm>
            <a:off x="6227788" y="5164542"/>
            <a:ext cx="4516412" cy="1219006"/>
          </a:xfrm>
          <a:prstGeom prst="rect">
            <a:avLst/>
          </a:prstGeom>
          <a:noFill/>
          <a:ln cap="flat" cmpd="sng" w="76200">
            <a:solidFill>
              <a:srgbClr val="BFBFBF"/>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b="1" lang="en-US" sz="2800">
                <a:solidFill>
                  <a:schemeClr val="lt1"/>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485" name="Google Shape;485;p29"/>
          <p:cNvSpPr txBox="1"/>
          <p:nvPr/>
        </p:nvSpPr>
        <p:spPr>
          <a:xfrm>
            <a:off x="1519517" y="5164542"/>
            <a:ext cx="4514277" cy="1219006"/>
          </a:xfrm>
          <a:prstGeom prst="rect">
            <a:avLst/>
          </a:prstGeom>
          <a:noFill/>
          <a:ln cap="flat" cmpd="sng" w="76200">
            <a:solidFill>
              <a:srgbClr val="BFBFBF"/>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120000"/>
              </a:lnSpc>
              <a:spcBef>
                <a:spcPts val="0"/>
              </a:spcBef>
              <a:spcAft>
                <a:spcPts val="0"/>
              </a:spcAft>
              <a:buNone/>
            </a:pPr>
            <a:r>
              <a:rPr b="1" lang="en-US" sz="2800">
                <a:solidFill>
                  <a:schemeClr val="lt1"/>
                </a:solidFill>
                <a:latin typeface="Avenir"/>
                <a:ea typeface="Avenir"/>
                <a:cs typeface="Avenir"/>
                <a:sym typeface="Avenir"/>
              </a:rPr>
              <a:t>_</a:t>
            </a:r>
            <a:endParaRPr sz="2800">
              <a:solidFill>
                <a:schemeClr val="dk1"/>
              </a:solidFill>
              <a:latin typeface="Avenir"/>
              <a:ea typeface="Avenir"/>
              <a:cs typeface="Avenir"/>
              <a:sym typeface="Avenir"/>
            </a:endParaRPr>
          </a:p>
        </p:txBody>
      </p:sp>
      <p:cxnSp>
        <p:nvCxnSpPr>
          <p:cNvPr id="486" name="Google Shape;486;p29"/>
          <p:cNvCxnSpPr/>
          <p:nvPr/>
        </p:nvCxnSpPr>
        <p:spPr>
          <a:xfrm>
            <a:off x="8116806" y="4641124"/>
            <a:ext cx="0" cy="362316"/>
          </a:xfrm>
          <a:prstGeom prst="straightConnector1">
            <a:avLst/>
          </a:prstGeom>
          <a:noFill/>
          <a:ln cap="flat" cmpd="sng" w="76200">
            <a:solidFill>
              <a:srgbClr val="942093"/>
            </a:solidFill>
            <a:prstDash val="solid"/>
            <a:miter lim="800000"/>
            <a:headEnd len="sm" w="sm" type="none"/>
            <a:tailEnd len="sm" w="sm" type="none"/>
          </a:ln>
        </p:spPr>
      </p:cxnSp>
      <p:sp>
        <p:nvSpPr>
          <p:cNvPr id="487" name="Google Shape;487;p29"/>
          <p:cNvSpPr txBox="1"/>
          <p:nvPr/>
        </p:nvSpPr>
        <p:spPr>
          <a:xfrm>
            <a:off x="6365699" y="1834676"/>
            <a:ext cx="1555234"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Bank loan</a:t>
            </a:r>
            <a:endParaRPr/>
          </a:p>
        </p:txBody>
      </p:sp>
      <p:sp>
        <p:nvSpPr>
          <p:cNvPr id="488" name="Google Shape;488;p29"/>
          <p:cNvSpPr txBox="1"/>
          <p:nvPr/>
        </p:nvSpPr>
        <p:spPr>
          <a:xfrm>
            <a:off x="3613035" y="500757"/>
            <a:ext cx="4777463" cy="5232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2800">
                <a:solidFill>
                  <a:schemeClr val="accent1"/>
                </a:solidFill>
                <a:latin typeface="Avenir"/>
                <a:ea typeface="Avenir"/>
                <a:cs typeface="Avenir"/>
                <a:sym typeface="Avenir"/>
              </a:rPr>
              <a:t>My Consulting Limited</a:t>
            </a:r>
            <a:endParaRPr/>
          </a:p>
        </p:txBody>
      </p:sp>
    </p:spTree>
  </p:cSld>
  <p:clrMapOvr>
    <a:masterClrMapping/>
  </p:clrMapOvr>
  <mc:AlternateContent>
    <mc:Choice Requires="p14">
      <p:transition spd="slow" p14:dur="700">
        <p:fade/>
      </p:transition>
    </mc:Choice>
    <mc:Fallback>
      <p:transition spd="slow">
        <p:fade/>
      </p:transition>
    </mc:Fallback>
  </mc:AlternateContent>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82"/>
                                        </p:tgtEl>
                                        <p:attrNameLst>
                                          <p:attrName>style.visibility</p:attrName>
                                        </p:attrNameLst>
                                      </p:cBhvr>
                                      <p:to>
                                        <p:strVal val="visible"/>
                                      </p:to>
                                    </p:set>
                                    <p:animEffect filter="fade" transition="in">
                                      <p:cBhvr>
                                        <p:cTn dur="500"/>
                                        <p:tgtEl>
                                          <p:spTgt spid="482"/>
                                        </p:tgtEl>
                                      </p:cBhvr>
                                    </p:animEffec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483"/>
                                        </p:tgtEl>
                                        <p:attrNameLst>
                                          <p:attrName>style.visibility</p:attrName>
                                        </p:attrNameLst>
                                      </p:cBhvr>
                                      <p:to>
                                        <p:strVal val="visible"/>
                                      </p:to>
                                    </p:set>
                                    <p:animEffect filter="fade" transition="in">
                                      <p:cBhvr>
                                        <p:cTn dur="500"/>
                                        <p:tgtEl>
                                          <p:spTgt spid="483"/>
                                        </p:tgtEl>
                                      </p:cBhvr>
                                    </p:animEffect>
                                  </p:childTnLst>
                                </p:cTn>
                              </p:par>
                              <p:par>
                                <p:cTn fill="hold" nodeType="withEffect" presetClass="entr" presetID="10" presetSubtype="0">
                                  <p:stCondLst>
                                    <p:cond delay="0"/>
                                  </p:stCondLst>
                                  <p:childTnLst>
                                    <p:set>
                                      <p:cBhvr>
                                        <p:cTn dur="1" fill="hold">
                                          <p:stCondLst>
                                            <p:cond delay="0"/>
                                          </p:stCondLst>
                                        </p:cTn>
                                        <p:tgtEl>
                                          <p:spTgt spid="486"/>
                                        </p:tgtEl>
                                        <p:attrNameLst>
                                          <p:attrName>style.visibility</p:attrName>
                                        </p:attrNameLst>
                                      </p:cBhvr>
                                      <p:to>
                                        <p:strVal val="visible"/>
                                      </p:to>
                                    </p:set>
                                    <p:animEffect filter="fade" transition="in">
                                      <p:cBhvr>
                                        <p:cTn dur="500"/>
                                        <p:tgtEl>
                                          <p:spTgt spid="486"/>
                                        </p:tgtEl>
                                      </p:cBhvr>
                                    </p:animEffect>
                                  </p:childTnLst>
                                </p:cTn>
                              </p:par>
                            </p:childTnLst>
                          </p:cTn>
                        </p:par>
                        <p:par>
                          <p:cTn fill="hold">
                            <p:stCondLst>
                              <p:cond delay="1000"/>
                            </p:stCondLst>
                            <p:childTnLst>
                              <p:par>
                                <p:cTn fill="hold" nodeType="afterEffect" presetClass="entr" presetID="10" presetSubtype="0">
                                  <p:stCondLst>
                                    <p:cond delay="0"/>
                                  </p:stCondLst>
                                  <p:childTnLst>
                                    <p:set>
                                      <p:cBhvr>
                                        <p:cTn dur="1" fill="hold">
                                          <p:stCondLst>
                                            <p:cond delay="0"/>
                                          </p:stCondLst>
                                        </p:cTn>
                                        <p:tgtEl>
                                          <p:spTgt spid="484"/>
                                        </p:tgtEl>
                                        <p:attrNameLst>
                                          <p:attrName>style.visibility</p:attrName>
                                        </p:attrNameLst>
                                      </p:cBhvr>
                                      <p:to>
                                        <p:strVal val="visible"/>
                                      </p:to>
                                    </p:set>
                                    <p:animEffect filter="fade" transition="in">
                                      <p:cBhvr>
                                        <p:cTn dur="500"/>
                                        <p:tgtEl>
                                          <p:spTgt spid="484"/>
                                        </p:tgtEl>
                                      </p:cBhvr>
                                    </p:animEffect>
                                  </p:childTnLst>
                                </p:cTn>
                              </p:par>
                              <p:par>
                                <p:cTn fill="hold" nodeType="withEffect" presetClass="entr" presetID="10" presetSubtype="0">
                                  <p:stCondLst>
                                    <p:cond delay="0"/>
                                  </p:stCondLst>
                                  <p:childTnLst>
                                    <p:set>
                                      <p:cBhvr>
                                        <p:cTn dur="1" fill="hold">
                                          <p:stCondLst>
                                            <p:cond delay="0"/>
                                          </p:stCondLst>
                                        </p:cTn>
                                        <p:tgtEl>
                                          <p:spTgt spid="485"/>
                                        </p:tgtEl>
                                        <p:attrNameLst>
                                          <p:attrName>style.visibility</p:attrName>
                                        </p:attrNameLst>
                                      </p:cBhvr>
                                      <p:to>
                                        <p:strVal val="visible"/>
                                      </p:to>
                                    </p:set>
                                    <p:animEffect filter="fade" transition="in">
                                      <p:cBhvr>
                                        <p:cTn dur="500"/>
                                        <p:tgtEl>
                                          <p:spTgt spid="48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3" name="Shape 493"/>
        <p:cNvGrpSpPr/>
        <p:nvPr/>
      </p:nvGrpSpPr>
      <p:grpSpPr>
        <a:xfrm>
          <a:off x="0" y="0"/>
          <a:ext cx="0" cy="0"/>
          <a:chOff x="0" y="0"/>
          <a:chExt cx="0" cy="0"/>
        </a:xfrm>
      </p:grpSpPr>
      <p:sp>
        <p:nvSpPr>
          <p:cNvPr id="494" name="Google Shape;494;p30"/>
          <p:cNvSpPr txBox="1"/>
          <p:nvPr/>
        </p:nvSpPr>
        <p:spPr>
          <a:xfrm>
            <a:off x="6227788" y="2623662"/>
            <a:ext cx="4677777" cy="2227378"/>
          </a:xfrm>
          <a:prstGeom prst="rect">
            <a:avLst/>
          </a:prstGeom>
          <a:no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lang="en-US" sz="2800">
                <a:solidFill>
                  <a:schemeClr val="dk1"/>
                </a:solidFill>
                <a:latin typeface="Avenir"/>
                <a:ea typeface="Avenir"/>
                <a:cs typeface="Avenir"/>
                <a:sym typeface="Avenir"/>
              </a:rPr>
              <a:t>Equity</a:t>
            </a:r>
            <a:r>
              <a:rPr b="1" lang="en-US" sz="2800">
                <a:solidFill>
                  <a:schemeClr val="lt1"/>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495" name="Google Shape;495;p30"/>
          <p:cNvSpPr txBox="1"/>
          <p:nvPr/>
        </p:nvSpPr>
        <p:spPr>
          <a:xfrm>
            <a:off x="6227788" y="1325627"/>
            <a:ext cx="4677777" cy="1150816"/>
          </a:xfrm>
          <a:prstGeom prst="rect">
            <a:avLst/>
          </a:prstGeom>
          <a:no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lang="en-US" sz="2800">
                <a:solidFill>
                  <a:schemeClr val="dk1"/>
                </a:solidFill>
                <a:latin typeface="Avenir"/>
                <a:ea typeface="Avenir"/>
                <a:cs typeface="Avenir"/>
                <a:sym typeface="Avenir"/>
              </a:rPr>
              <a:t>Liabilities</a:t>
            </a:r>
            <a:r>
              <a:rPr b="1" lang="en-US" sz="2800">
                <a:solidFill>
                  <a:schemeClr val="lt1"/>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grpSp>
        <p:nvGrpSpPr>
          <p:cNvPr id="496" name="Google Shape;496;p30"/>
          <p:cNvGrpSpPr/>
          <p:nvPr/>
        </p:nvGrpSpPr>
        <p:grpSpPr>
          <a:xfrm>
            <a:off x="8116806" y="1712085"/>
            <a:ext cx="1484695" cy="611304"/>
            <a:chOff x="2640082" y="2202430"/>
            <a:chExt cx="1288807" cy="611304"/>
          </a:xfrm>
        </p:grpSpPr>
        <p:sp>
          <p:nvSpPr>
            <p:cNvPr id="497" name="Google Shape;497;p30"/>
            <p:cNvSpPr txBox="1"/>
            <p:nvPr/>
          </p:nvSpPr>
          <p:spPr>
            <a:xfrm>
              <a:off x="2640082" y="2202430"/>
              <a:ext cx="338414"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498" name="Google Shape;498;p30"/>
            <p:cNvSpPr txBox="1"/>
            <p:nvPr/>
          </p:nvSpPr>
          <p:spPr>
            <a:xfrm>
              <a:off x="2950382" y="2352069"/>
              <a:ext cx="978507"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2"/>
                  </a:solidFill>
                  <a:latin typeface="Avenir"/>
                  <a:ea typeface="Avenir"/>
                  <a:cs typeface="Avenir"/>
                  <a:sym typeface="Avenir"/>
                </a:rPr>
                <a:t>30,000</a:t>
              </a:r>
              <a:endParaRPr/>
            </a:p>
          </p:txBody>
        </p:sp>
      </p:grpSp>
      <p:sp>
        <p:nvSpPr>
          <p:cNvPr id="499" name="Google Shape;499;p30"/>
          <p:cNvSpPr txBox="1"/>
          <p:nvPr/>
        </p:nvSpPr>
        <p:spPr>
          <a:xfrm>
            <a:off x="8641975" y="897526"/>
            <a:ext cx="2279791" cy="40011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000">
                <a:solidFill>
                  <a:schemeClr val="accent2"/>
                </a:solidFill>
                <a:latin typeface="Avenir"/>
                <a:ea typeface="Avenir"/>
                <a:cs typeface="Avenir"/>
                <a:sym typeface="Avenir"/>
              </a:rPr>
              <a:t>Sources of funds</a:t>
            </a:r>
            <a:endParaRPr/>
          </a:p>
        </p:txBody>
      </p:sp>
      <p:cxnSp>
        <p:nvCxnSpPr>
          <p:cNvPr id="500" name="Google Shape;500;p30"/>
          <p:cNvCxnSpPr/>
          <p:nvPr/>
        </p:nvCxnSpPr>
        <p:spPr>
          <a:xfrm flipH="1" rot="10800000">
            <a:off x="3613035" y="1065456"/>
            <a:ext cx="4777463" cy="18029"/>
          </a:xfrm>
          <a:prstGeom prst="straightConnector1">
            <a:avLst/>
          </a:prstGeom>
          <a:noFill/>
          <a:ln cap="flat" cmpd="sng" w="28575">
            <a:solidFill>
              <a:schemeClr val="accent1"/>
            </a:solidFill>
            <a:prstDash val="dot"/>
            <a:miter lim="800000"/>
            <a:headEnd len="sm" w="sm" type="none"/>
            <a:tailEnd len="sm" w="sm" type="none"/>
          </a:ln>
        </p:spPr>
      </p:cxnSp>
      <p:sp>
        <p:nvSpPr>
          <p:cNvPr id="501" name="Google Shape;501;p30"/>
          <p:cNvSpPr txBox="1"/>
          <p:nvPr/>
        </p:nvSpPr>
        <p:spPr>
          <a:xfrm>
            <a:off x="1358153" y="1325627"/>
            <a:ext cx="4679162" cy="3525413"/>
          </a:xfrm>
          <a:prstGeom prst="rect">
            <a:avLst/>
          </a:prstGeom>
          <a:no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120000"/>
              </a:lnSpc>
              <a:spcBef>
                <a:spcPts val="0"/>
              </a:spcBef>
              <a:spcAft>
                <a:spcPts val="0"/>
              </a:spcAft>
              <a:buNone/>
            </a:pPr>
            <a:r>
              <a:rPr b="1" lang="en-US" sz="2800">
                <a:solidFill>
                  <a:schemeClr val="lt1"/>
                </a:solidFill>
                <a:latin typeface="Avenir"/>
                <a:ea typeface="Avenir"/>
                <a:cs typeface="Avenir"/>
                <a:sym typeface="Avenir"/>
              </a:rPr>
              <a:t>_</a:t>
            </a:r>
            <a:r>
              <a:rPr lang="en-US" sz="2800">
                <a:solidFill>
                  <a:schemeClr val="dk1"/>
                </a:solidFill>
                <a:latin typeface="Avenir"/>
                <a:ea typeface="Avenir"/>
                <a:cs typeface="Avenir"/>
                <a:sym typeface="Avenir"/>
              </a:rPr>
              <a:t>Assets</a:t>
            </a:r>
            <a:endParaRPr/>
          </a:p>
        </p:txBody>
      </p:sp>
      <p:grpSp>
        <p:nvGrpSpPr>
          <p:cNvPr id="502" name="Google Shape;502;p30"/>
          <p:cNvGrpSpPr/>
          <p:nvPr/>
        </p:nvGrpSpPr>
        <p:grpSpPr>
          <a:xfrm>
            <a:off x="2330580" y="1965230"/>
            <a:ext cx="3032198" cy="584776"/>
            <a:chOff x="1116105" y="2252876"/>
            <a:chExt cx="3032198" cy="584776"/>
          </a:xfrm>
        </p:grpSpPr>
        <p:sp>
          <p:nvSpPr>
            <p:cNvPr id="503" name="Google Shape;503;p30"/>
            <p:cNvSpPr txBox="1"/>
            <p:nvPr/>
          </p:nvSpPr>
          <p:spPr>
            <a:xfrm>
              <a:off x="1116105" y="2375987"/>
              <a:ext cx="904415"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504" name="Google Shape;504;p30"/>
            <p:cNvSpPr txBox="1"/>
            <p:nvPr/>
          </p:nvSpPr>
          <p:spPr>
            <a:xfrm>
              <a:off x="2646615" y="2252876"/>
              <a:ext cx="389850"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505" name="Google Shape;505;p30"/>
            <p:cNvSpPr txBox="1"/>
            <p:nvPr/>
          </p:nvSpPr>
          <p:spPr>
            <a:xfrm>
              <a:off x="3021071" y="2375987"/>
              <a:ext cx="1127232"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6"/>
                  </a:solidFill>
                  <a:latin typeface="Avenir"/>
                  <a:ea typeface="Avenir"/>
                  <a:cs typeface="Avenir"/>
                  <a:sym typeface="Avenir"/>
                </a:rPr>
                <a:t>30,000</a:t>
              </a:r>
              <a:endParaRPr/>
            </a:p>
          </p:txBody>
        </p:sp>
      </p:grpSp>
      <p:sp>
        <p:nvSpPr>
          <p:cNvPr id="506" name="Google Shape;506;p30"/>
          <p:cNvSpPr txBox="1"/>
          <p:nvPr/>
        </p:nvSpPr>
        <p:spPr>
          <a:xfrm>
            <a:off x="1341185" y="894976"/>
            <a:ext cx="1880643" cy="40011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000">
                <a:solidFill>
                  <a:schemeClr val="accent6"/>
                </a:solidFill>
                <a:latin typeface="Avenir"/>
                <a:ea typeface="Avenir"/>
                <a:cs typeface="Avenir"/>
                <a:sym typeface="Avenir"/>
              </a:rPr>
              <a:t>Uses of funds</a:t>
            </a:r>
            <a:endParaRPr/>
          </a:p>
        </p:txBody>
      </p:sp>
      <p:grpSp>
        <p:nvGrpSpPr>
          <p:cNvPr id="507" name="Google Shape;507;p30"/>
          <p:cNvGrpSpPr/>
          <p:nvPr/>
        </p:nvGrpSpPr>
        <p:grpSpPr>
          <a:xfrm>
            <a:off x="6457623" y="2719983"/>
            <a:ext cx="3356537" cy="830997"/>
            <a:chOff x="1160947" y="1923541"/>
            <a:chExt cx="2421059" cy="830997"/>
          </a:xfrm>
        </p:grpSpPr>
        <p:sp>
          <p:nvSpPr>
            <p:cNvPr id="508" name="Google Shape;508;p30"/>
            <p:cNvSpPr txBox="1"/>
            <p:nvPr/>
          </p:nvSpPr>
          <p:spPr>
            <a:xfrm>
              <a:off x="1160947" y="1923541"/>
              <a:ext cx="1343784" cy="830997"/>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Contributed </a:t>
              </a:r>
              <a:br>
                <a:rPr lang="en-US" sz="2400">
                  <a:solidFill>
                    <a:schemeClr val="dk1"/>
                  </a:solidFill>
                  <a:latin typeface="Avenir"/>
                  <a:ea typeface="Avenir"/>
                  <a:cs typeface="Avenir"/>
                  <a:sym typeface="Avenir"/>
                </a:rPr>
              </a:br>
              <a:r>
                <a:rPr lang="en-US" sz="2400">
                  <a:solidFill>
                    <a:schemeClr val="dk1"/>
                  </a:solidFill>
                  <a:latin typeface="Avenir"/>
                  <a:ea typeface="Avenir"/>
                  <a:cs typeface="Avenir"/>
                  <a:sym typeface="Avenir"/>
                </a:rPr>
                <a:t>equity</a:t>
              </a:r>
              <a:endParaRPr/>
            </a:p>
          </p:txBody>
        </p:sp>
        <p:sp>
          <p:nvSpPr>
            <p:cNvPr id="509" name="Google Shape;509;p30"/>
            <p:cNvSpPr txBox="1"/>
            <p:nvPr/>
          </p:nvSpPr>
          <p:spPr>
            <a:xfrm>
              <a:off x="2513583" y="2116704"/>
              <a:ext cx="281197"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510" name="Google Shape;510;p30"/>
            <p:cNvSpPr txBox="1"/>
            <p:nvPr/>
          </p:nvSpPr>
          <p:spPr>
            <a:xfrm>
              <a:off x="2768937" y="2239814"/>
              <a:ext cx="813069"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2"/>
                  </a:solidFill>
                  <a:latin typeface="Avenir"/>
                  <a:ea typeface="Avenir"/>
                  <a:cs typeface="Avenir"/>
                  <a:sym typeface="Avenir"/>
                </a:rPr>
                <a:t>20,000</a:t>
              </a:r>
              <a:endParaRPr/>
            </a:p>
          </p:txBody>
        </p:sp>
      </p:grpSp>
      <p:grpSp>
        <p:nvGrpSpPr>
          <p:cNvPr id="511" name="Google Shape;511;p30"/>
          <p:cNvGrpSpPr/>
          <p:nvPr/>
        </p:nvGrpSpPr>
        <p:grpSpPr>
          <a:xfrm>
            <a:off x="2330580" y="2586599"/>
            <a:ext cx="3032198" cy="609738"/>
            <a:chOff x="1116105" y="2227914"/>
            <a:chExt cx="3032198" cy="609738"/>
          </a:xfrm>
        </p:grpSpPr>
        <p:sp>
          <p:nvSpPr>
            <p:cNvPr id="512" name="Google Shape;512;p30"/>
            <p:cNvSpPr txBox="1"/>
            <p:nvPr/>
          </p:nvSpPr>
          <p:spPr>
            <a:xfrm>
              <a:off x="1116105" y="2375987"/>
              <a:ext cx="904415"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513" name="Google Shape;513;p30"/>
            <p:cNvSpPr txBox="1"/>
            <p:nvPr/>
          </p:nvSpPr>
          <p:spPr>
            <a:xfrm>
              <a:off x="2646615" y="2227914"/>
              <a:ext cx="389850"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514" name="Google Shape;514;p30"/>
            <p:cNvSpPr txBox="1"/>
            <p:nvPr/>
          </p:nvSpPr>
          <p:spPr>
            <a:xfrm>
              <a:off x="3021071" y="2375987"/>
              <a:ext cx="1127232"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6"/>
                  </a:solidFill>
                  <a:latin typeface="Avenir"/>
                  <a:ea typeface="Avenir"/>
                  <a:cs typeface="Avenir"/>
                  <a:sym typeface="Avenir"/>
                </a:rPr>
                <a:t>20,000</a:t>
              </a:r>
              <a:endParaRPr/>
            </a:p>
          </p:txBody>
        </p:sp>
      </p:grpSp>
      <p:grpSp>
        <p:nvGrpSpPr>
          <p:cNvPr id="515" name="Google Shape;515;p30"/>
          <p:cNvGrpSpPr/>
          <p:nvPr/>
        </p:nvGrpSpPr>
        <p:grpSpPr>
          <a:xfrm>
            <a:off x="2330580" y="3236109"/>
            <a:ext cx="3032198" cy="606559"/>
            <a:chOff x="2330580" y="3236109"/>
            <a:chExt cx="3032198" cy="606559"/>
          </a:xfrm>
        </p:grpSpPr>
        <p:sp>
          <p:nvSpPr>
            <p:cNvPr id="516" name="Google Shape;516;p30"/>
            <p:cNvSpPr txBox="1"/>
            <p:nvPr/>
          </p:nvSpPr>
          <p:spPr>
            <a:xfrm>
              <a:off x="2330580" y="3381003"/>
              <a:ext cx="904415"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517" name="Google Shape;517;p30"/>
            <p:cNvSpPr txBox="1"/>
            <p:nvPr/>
          </p:nvSpPr>
          <p:spPr>
            <a:xfrm>
              <a:off x="3850936" y="3236109"/>
              <a:ext cx="389850"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518" name="Google Shape;518;p30"/>
            <p:cNvSpPr txBox="1"/>
            <p:nvPr/>
          </p:nvSpPr>
          <p:spPr>
            <a:xfrm>
              <a:off x="4663549" y="3381003"/>
              <a:ext cx="699229"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6"/>
                  </a:solidFill>
                  <a:latin typeface="Avenir"/>
                  <a:ea typeface="Avenir"/>
                  <a:cs typeface="Avenir"/>
                  <a:sym typeface="Avenir"/>
                </a:rPr>
                <a:t>700</a:t>
              </a:r>
              <a:endParaRPr/>
            </a:p>
          </p:txBody>
        </p:sp>
      </p:grpSp>
      <p:grpSp>
        <p:nvGrpSpPr>
          <p:cNvPr id="519" name="Google Shape;519;p30"/>
          <p:cNvGrpSpPr/>
          <p:nvPr/>
        </p:nvGrpSpPr>
        <p:grpSpPr>
          <a:xfrm>
            <a:off x="2330580" y="3959159"/>
            <a:ext cx="3032198" cy="584775"/>
            <a:chOff x="2330580" y="3959159"/>
            <a:chExt cx="3032198" cy="584775"/>
          </a:xfrm>
        </p:grpSpPr>
        <p:sp>
          <p:nvSpPr>
            <p:cNvPr id="520" name="Google Shape;520;p30"/>
            <p:cNvSpPr txBox="1"/>
            <p:nvPr/>
          </p:nvSpPr>
          <p:spPr>
            <a:xfrm>
              <a:off x="2330580" y="4027334"/>
              <a:ext cx="904415"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521" name="Google Shape;521;p30"/>
            <p:cNvSpPr txBox="1"/>
            <p:nvPr/>
          </p:nvSpPr>
          <p:spPr>
            <a:xfrm rot="10800000">
              <a:off x="3844094" y="3959159"/>
              <a:ext cx="389850"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522" name="Google Shape;522;p30"/>
            <p:cNvSpPr txBox="1"/>
            <p:nvPr/>
          </p:nvSpPr>
          <p:spPr>
            <a:xfrm>
              <a:off x="4663549" y="4027334"/>
              <a:ext cx="699229"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2"/>
                  </a:solidFill>
                  <a:latin typeface="Avenir"/>
                  <a:ea typeface="Avenir"/>
                  <a:cs typeface="Avenir"/>
                  <a:sym typeface="Avenir"/>
                </a:rPr>
                <a:t>300</a:t>
              </a:r>
              <a:endParaRPr/>
            </a:p>
          </p:txBody>
        </p:sp>
      </p:grpSp>
      <p:grpSp>
        <p:nvGrpSpPr>
          <p:cNvPr id="523" name="Google Shape;523;p30"/>
          <p:cNvGrpSpPr/>
          <p:nvPr/>
        </p:nvGrpSpPr>
        <p:grpSpPr>
          <a:xfrm>
            <a:off x="6511111" y="3762376"/>
            <a:ext cx="3211389" cy="830997"/>
            <a:chOff x="1160947" y="1923541"/>
            <a:chExt cx="2316364" cy="830997"/>
          </a:xfrm>
        </p:grpSpPr>
        <p:sp>
          <p:nvSpPr>
            <p:cNvPr id="524" name="Google Shape;524;p30"/>
            <p:cNvSpPr txBox="1"/>
            <p:nvPr/>
          </p:nvSpPr>
          <p:spPr>
            <a:xfrm>
              <a:off x="1160947" y="1923541"/>
              <a:ext cx="1244346" cy="830997"/>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Generated </a:t>
              </a:r>
              <a:br>
                <a:rPr lang="en-US" sz="2400">
                  <a:solidFill>
                    <a:schemeClr val="dk1"/>
                  </a:solidFill>
                  <a:latin typeface="Avenir"/>
                  <a:ea typeface="Avenir"/>
                  <a:cs typeface="Avenir"/>
                  <a:sym typeface="Avenir"/>
                </a:rPr>
              </a:br>
              <a:r>
                <a:rPr lang="en-US" sz="2400">
                  <a:solidFill>
                    <a:schemeClr val="dk1"/>
                  </a:solidFill>
                  <a:latin typeface="Avenir"/>
                  <a:ea typeface="Avenir"/>
                  <a:cs typeface="Avenir"/>
                  <a:sym typeface="Avenir"/>
                </a:rPr>
                <a:t>equity</a:t>
              </a:r>
              <a:endParaRPr/>
            </a:p>
          </p:txBody>
        </p:sp>
        <p:sp>
          <p:nvSpPr>
            <p:cNvPr id="525" name="Google Shape;525;p30"/>
            <p:cNvSpPr txBox="1"/>
            <p:nvPr/>
          </p:nvSpPr>
          <p:spPr>
            <a:xfrm>
              <a:off x="2504041" y="2127523"/>
              <a:ext cx="281197"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526" name="Google Shape;526;p30"/>
            <p:cNvSpPr txBox="1"/>
            <p:nvPr/>
          </p:nvSpPr>
          <p:spPr>
            <a:xfrm>
              <a:off x="2972959" y="2225909"/>
              <a:ext cx="504352"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2"/>
                  </a:solidFill>
                  <a:latin typeface="Avenir"/>
                  <a:ea typeface="Avenir"/>
                  <a:cs typeface="Avenir"/>
                  <a:sym typeface="Avenir"/>
                </a:rPr>
                <a:t>400</a:t>
              </a:r>
              <a:endParaRPr/>
            </a:p>
          </p:txBody>
        </p:sp>
      </p:grpSp>
      <p:sp>
        <p:nvSpPr>
          <p:cNvPr id="527" name="Google Shape;527;p30"/>
          <p:cNvSpPr txBox="1"/>
          <p:nvPr/>
        </p:nvSpPr>
        <p:spPr>
          <a:xfrm>
            <a:off x="6457623" y="3661110"/>
            <a:ext cx="3356537" cy="993462"/>
          </a:xfrm>
          <a:prstGeom prst="rect">
            <a:avLst/>
          </a:prstGeom>
          <a:noFill/>
          <a:ln cap="flat" cmpd="sng" w="7620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b="1" lang="en-US" sz="2800">
                <a:solidFill>
                  <a:schemeClr val="dk1"/>
                </a:solidFill>
                <a:latin typeface="Avenir"/>
                <a:ea typeface="Avenir"/>
                <a:cs typeface="Avenir"/>
                <a:sym typeface="Avenir"/>
              </a:rPr>
              <a:t> </a:t>
            </a:r>
            <a:endParaRPr/>
          </a:p>
        </p:txBody>
      </p:sp>
      <p:sp>
        <p:nvSpPr>
          <p:cNvPr id="528" name="Google Shape;528;p30"/>
          <p:cNvSpPr txBox="1"/>
          <p:nvPr/>
        </p:nvSpPr>
        <p:spPr>
          <a:xfrm>
            <a:off x="1354633" y="5003440"/>
            <a:ext cx="9550931" cy="1518383"/>
          </a:xfrm>
          <a:prstGeom prst="rect">
            <a:avLst/>
          </a:prstGeom>
          <a:noFill/>
          <a:ln cap="flat" cmpd="sng" w="7620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b="1" lang="en-US" sz="2800">
                <a:solidFill>
                  <a:schemeClr val="dk1"/>
                </a:solidFill>
                <a:latin typeface="Avenir"/>
                <a:ea typeface="Avenir"/>
                <a:cs typeface="Avenir"/>
                <a:sym typeface="Avenir"/>
              </a:rPr>
              <a:t> </a:t>
            </a:r>
            <a:endParaRPr/>
          </a:p>
        </p:txBody>
      </p:sp>
      <p:sp>
        <p:nvSpPr>
          <p:cNvPr id="529" name="Google Shape;529;p30"/>
          <p:cNvSpPr txBox="1"/>
          <p:nvPr/>
        </p:nvSpPr>
        <p:spPr>
          <a:xfrm>
            <a:off x="6227788" y="5164542"/>
            <a:ext cx="4516412" cy="1219006"/>
          </a:xfrm>
          <a:prstGeom prst="rect">
            <a:avLst/>
          </a:prstGeom>
          <a:noFill/>
          <a:ln cap="flat" cmpd="sng" w="76200">
            <a:solidFill>
              <a:srgbClr val="BFBFBF"/>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b="1" lang="en-US" sz="2800">
                <a:solidFill>
                  <a:schemeClr val="lt1"/>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530" name="Google Shape;530;p30"/>
          <p:cNvSpPr txBox="1"/>
          <p:nvPr/>
        </p:nvSpPr>
        <p:spPr>
          <a:xfrm>
            <a:off x="1519517" y="5164542"/>
            <a:ext cx="4514277" cy="1219006"/>
          </a:xfrm>
          <a:prstGeom prst="rect">
            <a:avLst/>
          </a:prstGeom>
          <a:noFill/>
          <a:ln cap="flat" cmpd="sng" w="76200">
            <a:solidFill>
              <a:srgbClr val="BFBFBF"/>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120000"/>
              </a:lnSpc>
              <a:spcBef>
                <a:spcPts val="0"/>
              </a:spcBef>
              <a:spcAft>
                <a:spcPts val="0"/>
              </a:spcAft>
              <a:buNone/>
            </a:pPr>
            <a:r>
              <a:rPr b="1" lang="en-US" sz="2800">
                <a:solidFill>
                  <a:schemeClr val="lt1"/>
                </a:solidFill>
                <a:latin typeface="Avenir"/>
                <a:ea typeface="Avenir"/>
                <a:cs typeface="Avenir"/>
                <a:sym typeface="Avenir"/>
              </a:rPr>
              <a:t>_</a:t>
            </a:r>
            <a:endParaRPr sz="2800">
              <a:solidFill>
                <a:schemeClr val="dk1"/>
              </a:solidFill>
              <a:latin typeface="Avenir"/>
              <a:ea typeface="Avenir"/>
              <a:cs typeface="Avenir"/>
              <a:sym typeface="Avenir"/>
            </a:endParaRPr>
          </a:p>
        </p:txBody>
      </p:sp>
      <p:cxnSp>
        <p:nvCxnSpPr>
          <p:cNvPr id="531" name="Google Shape;531;p30"/>
          <p:cNvCxnSpPr/>
          <p:nvPr/>
        </p:nvCxnSpPr>
        <p:spPr>
          <a:xfrm>
            <a:off x="8116806" y="4641124"/>
            <a:ext cx="0" cy="362316"/>
          </a:xfrm>
          <a:prstGeom prst="straightConnector1">
            <a:avLst/>
          </a:prstGeom>
          <a:noFill/>
          <a:ln cap="flat" cmpd="sng" w="76200">
            <a:solidFill>
              <a:srgbClr val="942093"/>
            </a:solidFill>
            <a:prstDash val="solid"/>
            <a:miter lim="800000"/>
            <a:headEnd len="sm" w="sm" type="none"/>
            <a:tailEnd len="sm" w="sm" type="none"/>
          </a:ln>
        </p:spPr>
      </p:cxnSp>
      <p:sp>
        <p:nvSpPr>
          <p:cNvPr id="532" name="Google Shape;532;p30"/>
          <p:cNvSpPr txBox="1"/>
          <p:nvPr/>
        </p:nvSpPr>
        <p:spPr>
          <a:xfrm>
            <a:off x="6365699" y="1834676"/>
            <a:ext cx="1555234"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Bank loan</a:t>
            </a:r>
            <a:endParaRPr/>
          </a:p>
        </p:txBody>
      </p:sp>
      <p:sp>
        <p:nvSpPr>
          <p:cNvPr id="533" name="Google Shape;533;p30"/>
          <p:cNvSpPr txBox="1"/>
          <p:nvPr/>
        </p:nvSpPr>
        <p:spPr>
          <a:xfrm>
            <a:off x="3613035" y="500757"/>
            <a:ext cx="4777463" cy="5232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2800">
                <a:solidFill>
                  <a:schemeClr val="accent1"/>
                </a:solidFill>
                <a:latin typeface="Avenir"/>
                <a:ea typeface="Avenir"/>
                <a:cs typeface="Avenir"/>
                <a:sym typeface="Avenir"/>
              </a:rPr>
              <a:t>My Consulting Limited</a:t>
            </a:r>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8" name="Shape 538"/>
        <p:cNvGrpSpPr/>
        <p:nvPr/>
      </p:nvGrpSpPr>
      <p:grpSpPr>
        <a:xfrm>
          <a:off x="0" y="0"/>
          <a:ext cx="0" cy="0"/>
          <a:chOff x="0" y="0"/>
          <a:chExt cx="0" cy="0"/>
        </a:xfrm>
      </p:grpSpPr>
      <p:sp>
        <p:nvSpPr>
          <p:cNvPr id="539" name="Google Shape;539;p31"/>
          <p:cNvSpPr txBox="1"/>
          <p:nvPr/>
        </p:nvSpPr>
        <p:spPr>
          <a:xfrm>
            <a:off x="6457623" y="3661110"/>
            <a:ext cx="3356537" cy="993462"/>
          </a:xfrm>
          <a:prstGeom prst="rect">
            <a:avLst/>
          </a:prstGeom>
          <a:noFill/>
          <a:ln cap="flat" cmpd="sng" w="7620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b="1" lang="en-US" sz="2800">
                <a:solidFill>
                  <a:schemeClr val="dk1"/>
                </a:solidFill>
                <a:latin typeface="Avenir"/>
                <a:ea typeface="Avenir"/>
                <a:cs typeface="Avenir"/>
                <a:sym typeface="Avenir"/>
              </a:rPr>
              <a:t> </a:t>
            </a:r>
            <a:endParaRPr/>
          </a:p>
        </p:txBody>
      </p:sp>
      <p:sp>
        <p:nvSpPr>
          <p:cNvPr id="540" name="Google Shape;540;p31"/>
          <p:cNvSpPr txBox="1"/>
          <p:nvPr/>
        </p:nvSpPr>
        <p:spPr>
          <a:xfrm>
            <a:off x="1354633" y="5003440"/>
            <a:ext cx="9550931" cy="1518383"/>
          </a:xfrm>
          <a:prstGeom prst="rect">
            <a:avLst/>
          </a:prstGeom>
          <a:noFill/>
          <a:ln cap="flat" cmpd="sng" w="7620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b="1" lang="en-US" sz="2800">
                <a:solidFill>
                  <a:schemeClr val="dk1"/>
                </a:solidFill>
                <a:latin typeface="Avenir"/>
                <a:ea typeface="Avenir"/>
                <a:cs typeface="Avenir"/>
                <a:sym typeface="Avenir"/>
              </a:rPr>
              <a:t> </a:t>
            </a:r>
            <a:endParaRPr/>
          </a:p>
        </p:txBody>
      </p:sp>
      <p:sp>
        <p:nvSpPr>
          <p:cNvPr id="541" name="Google Shape;541;p31"/>
          <p:cNvSpPr txBox="1"/>
          <p:nvPr/>
        </p:nvSpPr>
        <p:spPr>
          <a:xfrm>
            <a:off x="6227788" y="2623662"/>
            <a:ext cx="4677777" cy="2227378"/>
          </a:xfrm>
          <a:prstGeom prst="rect">
            <a:avLst/>
          </a:prstGeom>
          <a:no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lang="en-US" sz="2800">
                <a:solidFill>
                  <a:schemeClr val="dk1"/>
                </a:solidFill>
                <a:latin typeface="Avenir"/>
                <a:ea typeface="Avenir"/>
                <a:cs typeface="Avenir"/>
                <a:sym typeface="Avenir"/>
              </a:rPr>
              <a:t>Equity</a:t>
            </a:r>
            <a:r>
              <a:rPr b="1" lang="en-US" sz="2800">
                <a:solidFill>
                  <a:schemeClr val="lt1"/>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542" name="Google Shape;542;p31"/>
          <p:cNvSpPr txBox="1"/>
          <p:nvPr/>
        </p:nvSpPr>
        <p:spPr>
          <a:xfrm>
            <a:off x="6227788" y="1325627"/>
            <a:ext cx="4677777" cy="1150816"/>
          </a:xfrm>
          <a:prstGeom prst="rect">
            <a:avLst/>
          </a:prstGeom>
          <a:no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lang="en-US" sz="2800">
                <a:solidFill>
                  <a:schemeClr val="dk1"/>
                </a:solidFill>
                <a:latin typeface="Avenir"/>
                <a:ea typeface="Avenir"/>
                <a:cs typeface="Avenir"/>
                <a:sym typeface="Avenir"/>
              </a:rPr>
              <a:t>Liabilities</a:t>
            </a:r>
            <a:r>
              <a:rPr b="1" lang="en-US" sz="2800">
                <a:solidFill>
                  <a:schemeClr val="lt1"/>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grpSp>
        <p:nvGrpSpPr>
          <p:cNvPr id="543" name="Google Shape;543;p31"/>
          <p:cNvGrpSpPr/>
          <p:nvPr/>
        </p:nvGrpSpPr>
        <p:grpSpPr>
          <a:xfrm>
            <a:off x="8116806" y="1712085"/>
            <a:ext cx="1484695" cy="611304"/>
            <a:chOff x="2640082" y="2202430"/>
            <a:chExt cx="1288807" cy="611304"/>
          </a:xfrm>
        </p:grpSpPr>
        <p:sp>
          <p:nvSpPr>
            <p:cNvPr id="544" name="Google Shape;544;p31"/>
            <p:cNvSpPr txBox="1"/>
            <p:nvPr/>
          </p:nvSpPr>
          <p:spPr>
            <a:xfrm>
              <a:off x="2640082" y="2202430"/>
              <a:ext cx="338414"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545" name="Google Shape;545;p31"/>
            <p:cNvSpPr txBox="1"/>
            <p:nvPr/>
          </p:nvSpPr>
          <p:spPr>
            <a:xfrm>
              <a:off x="2950382" y="2352069"/>
              <a:ext cx="978507"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2"/>
                  </a:solidFill>
                  <a:latin typeface="Avenir"/>
                  <a:ea typeface="Avenir"/>
                  <a:cs typeface="Avenir"/>
                  <a:sym typeface="Avenir"/>
                </a:rPr>
                <a:t>30,000</a:t>
              </a:r>
              <a:endParaRPr/>
            </a:p>
          </p:txBody>
        </p:sp>
      </p:grpSp>
      <p:grpSp>
        <p:nvGrpSpPr>
          <p:cNvPr id="546" name="Google Shape;546;p31"/>
          <p:cNvGrpSpPr/>
          <p:nvPr/>
        </p:nvGrpSpPr>
        <p:grpSpPr>
          <a:xfrm>
            <a:off x="6457623" y="2719983"/>
            <a:ext cx="3356537" cy="830997"/>
            <a:chOff x="1160947" y="1923541"/>
            <a:chExt cx="2421059" cy="830997"/>
          </a:xfrm>
        </p:grpSpPr>
        <p:sp>
          <p:nvSpPr>
            <p:cNvPr id="547" name="Google Shape;547;p31"/>
            <p:cNvSpPr txBox="1"/>
            <p:nvPr/>
          </p:nvSpPr>
          <p:spPr>
            <a:xfrm>
              <a:off x="1160947" y="1923541"/>
              <a:ext cx="1343784" cy="830997"/>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Contributed </a:t>
              </a:r>
              <a:br>
                <a:rPr lang="en-US" sz="2400">
                  <a:solidFill>
                    <a:schemeClr val="dk1"/>
                  </a:solidFill>
                  <a:latin typeface="Avenir"/>
                  <a:ea typeface="Avenir"/>
                  <a:cs typeface="Avenir"/>
                  <a:sym typeface="Avenir"/>
                </a:rPr>
              </a:br>
              <a:r>
                <a:rPr lang="en-US" sz="2400">
                  <a:solidFill>
                    <a:schemeClr val="dk1"/>
                  </a:solidFill>
                  <a:latin typeface="Avenir"/>
                  <a:ea typeface="Avenir"/>
                  <a:cs typeface="Avenir"/>
                  <a:sym typeface="Avenir"/>
                </a:rPr>
                <a:t>equity</a:t>
              </a:r>
              <a:endParaRPr/>
            </a:p>
          </p:txBody>
        </p:sp>
        <p:sp>
          <p:nvSpPr>
            <p:cNvPr id="548" name="Google Shape;548;p31"/>
            <p:cNvSpPr txBox="1"/>
            <p:nvPr/>
          </p:nvSpPr>
          <p:spPr>
            <a:xfrm>
              <a:off x="2513583" y="2116704"/>
              <a:ext cx="281197"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549" name="Google Shape;549;p31"/>
            <p:cNvSpPr txBox="1"/>
            <p:nvPr/>
          </p:nvSpPr>
          <p:spPr>
            <a:xfrm>
              <a:off x="2768937" y="2239814"/>
              <a:ext cx="813069"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2"/>
                  </a:solidFill>
                  <a:latin typeface="Avenir"/>
                  <a:ea typeface="Avenir"/>
                  <a:cs typeface="Avenir"/>
                  <a:sym typeface="Avenir"/>
                </a:rPr>
                <a:t>20,000</a:t>
              </a:r>
              <a:endParaRPr/>
            </a:p>
          </p:txBody>
        </p:sp>
      </p:grpSp>
      <p:grpSp>
        <p:nvGrpSpPr>
          <p:cNvPr id="550" name="Google Shape;550;p31"/>
          <p:cNvGrpSpPr/>
          <p:nvPr/>
        </p:nvGrpSpPr>
        <p:grpSpPr>
          <a:xfrm>
            <a:off x="6511111" y="3762376"/>
            <a:ext cx="3211389" cy="830997"/>
            <a:chOff x="1160947" y="1923541"/>
            <a:chExt cx="2316364" cy="830997"/>
          </a:xfrm>
        </p:grpSpPr>
        <p:sp>
          <p:nvSpPr>
            <p:cNvPr id="551" name="Google Shape;551;p31"/>
            <p:cNvSpPr txBox="1"/>
            <p:nvPr/>
          </p:nvSpPr>
          <p:spPr>
            <a:xfrm>
              <a:off x="1160947" y="1923541"/>
              <a:ext cx="1244346" cy="830997"/>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Generated </a:t>
              </a:r>
              <a:br>
                <a:rPr lang="en-US" sz="2400">
                  <a:solidFill>
                    <a:schemeClr val="dk1"/>
                  </a:solidFill>
                  <a:latin typeface="Avenir"/>
                  <a:ea typeface="Avenir"/>
                  <a:cs typeface="Avenir"/>
                  <a:sym typeface="Avenir"/>
                </a:rPr>
              </a:br>
              <a:r>
                <a:rPr lang="en-US" sz="2400">
                  <a:solidFill>
                    <a:schemeClr val="dk1"/>
                  </a:solidFill>
                  <a:latin typeface="Avenir"/>
                  <a:ea typeface="Avenir"/>
                  <a:cs typeface="Avenir"/>
                  <a:sym typeface="Avenir"/>
                </a:rPr>
                <a:t>equity</a:t>
              </a:r>
              <a:endParaRPr/>
            </a:p>
          </p:txBody>
        </p:sp>
        <p:sp>
          <p:nvSpPr>
            <p:cNvPr id="552" name="Google Shape;552;p31"/>
            <p:cNvSpPr txBox="1"/>
            <p:nvPr/>
          </p:nvSpPr>
          <p:spPr>
            <a:xfrm>
              <a:off x="2504041" y="2127523"/>
              <a:ext cx="281197"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553" name="Google Shape;553;p31"/>
            <p:cNvSpPr txBox="1"/>
            <p:nvPr/>
          </p:nvSpPr>
          <p:spPr>
            <a:xfrm>
              <a:off x="2972959" y="2225909"/>
              <a:ext cx="504352"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2"/>
                  </a:solidFill>
                  <a:latin typeface="Avenir"/>
                  <a:ea typeface="Avenir"/>
                  <a:cs typeface="Avenir"/>
                  <a:sym typeface="Avenir"/>
                </a:rPr>
                <a:t>400</a:t>
              </a:r>
              <a:endParaRPr/>
            </a:p>
          </p:txBody>
        </p:sp>
      </p:grpSp>
      <p:sp>
        <p:nvSpPr>
          <p:cNvPr id="554" name="Google Shape;554;p31"/>
          <p:cNvSpPr txBox="1"/>
          <p:nvPr/>
        </p:nvSpPr>
        <p:spPr>
          <a:xfrm>
            <a:off x="6227788" y="5164542"/>
            <a:ext cx="4516412" cy="1219006"/>
          </a:xfrm>
          <a:prstGeom prst="rect">
            <a:avLst/>
          </a:prstGeom>
          <a:no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lang="en-US" sz="2800">
                <a:solidFill>
                  <a:schemeClr val="dk1"/>
                </a:solidFill>
                <a:latin typeface="Avenir"/>
                <a:ea typeface="Avenir"/>
                <a:cs typeface="Avenir"/>
                <a:sym typeface="Avenir"/>
              </a:rPr>
              <a:t>Income</a:t>
            </a:r>
            <a:r>
              <a:rPr b="1" lang="en-US" sz="2800">
                <a:solidFill>
                  <a:schemeClr val="lt1"/>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555" name="Google Shape;555;p31"/>
          <p:cNvSpPr txBox="1"/>
          <p:nvPr/>
        </p:nvSpPr>
        <p:spPr>
          <a:xfrm>
            <a:off x="1519517" y="5164542"/>
            <a:ext cx="4514277" cy="1219006"/>
          </a:xfrm>
          <a:prstGeom prst="rect">
            <a:avLst/>
          </a:prstGeom>
          <a:no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120000"/>
              </a:lnSpc>
              <a:spcBef>
                <a:spcPts val="0"/>
              </a:spcBef>
              <a:spcAft>
                <a:spcPts val="0"/>
              </a:spcAft>
              <a:buNone/>
            </a:pPr>
            <a:r>
              <a:rPr b="1" lang="en-US" sz="2800">
                <a:solidFill>
                  <a:schemeClr val="lt1"/>
                </a:solidFill>
                <a:latin typeface="Avenir"/>
                <a:ea typeface="Avenir"/>
                <a:cs typeface="Avenir"/>
                <a:sym typeface="Avenir"/>
              </a:rPr>
              <a:t>_</a:t>
            </a:r>
            <a:r>
              <a:rPr lang="en-US" sz="2800">
                <a:solidFill>
                  <a:schemeClr val="dk1"/>
                </a:solidFill>
                <a:latin typeface="Avenir"/>
                <a:ea typeface="Avenir"/>
                <a:cs typeface="Avenir"/>
                <a:sym typeface="Avenir"/>
              </a:rPr>
              <a:t>Expenses</a:t>
            </a:r>
            <a:endParaRPr/>
          </a:p>
        </p:txBody>
      </p:sp>
      <p:cxnSp>
        <p:nvCxnSpPr>
          <p:cNvPr id="556" name="Google Shape;556;p31"/>
          <p:cNvCxnSpPr/>
          <p:nvPr/>
        </p:nvCxnSpPr>
        <p:spPr>
          <a:xfrm>
            <a:off x="8116806" y="4641124"/>
            <a:ext cx="0" cy="362316"/>
          </a:xfrm>
          <a:prstGeom prst="straightConnector1">
            <a:avLst/>
          </a:prstGeom>
          <a:noFill/>
          <a:ln cap="flat" cmpd="sng" w="76200">
            <a:solidFill>
              <a:srgbClr val="942093"/>
            </a:solidFill>
            <a:prstDash val="solid"/>
            <a:miter lim="800000"/>
            <a:headEnd len="sm" w="sm" type="none"/>
            <a:tailEnd len="sm" w="sm" type="none"/>
          </a:ln>
        </p:spPr>
      </p:cxnSp>
      <p:sp>
        <p:nvSpPr>
          <p:cNvPr id="557" name="Google Shape;557;p31"/>
          <p:cNvSpPr txBox="1"/>
          <p:nvPr/>
        </p:nvSpPr>
        <p:spPr>
          <a:xfrm rot="5400000">
            <a:off x="10400548" y="2788126"/>
            <a:ext cx="2053767"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rgbClr val="7F7F7F"/>
                </a:solidFill>
                <a:latin typeface="Avenir"/>
                <a:ea typeface="Avenir"/>
                <a:cs typeface="Avenir"/>
                <a:sym typeface="Avenir"/>
              </a:rPr>
              <a:t>Obligations</a:t>
            </a:r>
            <a:endParaRPr/>
          </a:p>
        </p:txBody>
      </p:sp>
      <p:sp>
        <p:nvSpPr>
          <p:cNvPr id="558" name="Google Shape;558;p31"/>
          <p:cNvSpPr txBox="1"/>
          <p:nvPr/>
        </p:nvSpPr>
        <p:spPr>
          <a:xfrm>
            <a:off x="8641975" y="897526"/>
            <a:ext cx="2279791" cy="40011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000">
                <a:solidFill>
                  <a:schemeClr val="accent2"/>
                </a:solidFill>
                <a:latin typeface="Avenir"/>
                <a:ea typeface="Avenir"/>
                <a:cs typeface="Avenir"/>
                <a:sym typeface="Avenir"/>
              </a:rPr>
              <a:t>Sources of funds</a:t>
            </a:r>
            <a:endParaRPr/>
          </a:p>
        </p:txBody>
      </p:sp>
      <p:cxnSp>
        <p:nvCxnSpPr>
          <p:cNvPr id="559" name="Google Shape;559;p31"/>
          <p:cNvCxnSpPr/>
          <p:nvPr/>
        </p:nvCxnSpPr>
        <p:spPr>
          <a:xfrm flipH="1" rot="10800000">
            <a:off x="3613035" y="1065456"/>
            <a:ext cx="4777463" cy="18029"/>
          </a:xfrm>
          <a:prstGeom prst="straightConnector1">
            <a:avLst/>
          </a:prstGeom>
          <a:noFill/>
          <a:ln cap="flat" cmpd="sng" w="28575">
            <a:solidFill>
              <a:schemeClr val="accent1"/>
            </a:solidFill>
            <a:prstDash val="dot"/>
            <a:miter lim="800000"/>
            <a:headEnd len="sm" w="sm" type="none"/>
            <a:tailEnd len="sm" w="sm" type="none"/>
          </a:ln>
        </p:spPr>
      </p:cxnSp>
      <p:sp>
        <p:nvSpPr>
          <p:cNvPr id="560" name="Google Shape;560;p31"/>
          <p:cNvSpPr txBox="1"/>
          <p:nvPr/>
        </p:nvSpPr>
        <p:spPr>
          <a:xfrm>
            <a:off x="1358153" y="1325627"/>
            <a:ext cx="4679162" cy="3525413"/>
          </a:xfrm>
          <a:prstGeom prst="rect">
            <a:avLst/>
          </a:prstGeom>
          <a:no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120000"/>
              </a:lnSpc>
              <a:spcBef>
                <a:spcPts val="0"/>
              </a:spcBef>
              <a:spcAft>
                <a:spcPts val="0"/>
              </a:spcAft>
              <a:buNone/>
            </a:pPr>
            <a:r>
              <a:rPr b="1" lang="en-US" sz="2800">
                <a:solidFill>
                  <a:schemeClr val="lt1"/>
                </a:solidFill>
                <a:latin typeface="Avenir"/>
                <a:ea typeface="Avenir"/>
                <a:cs typeface="Avenir"/>
                <a:sym typeface="Avenir"/>
              </a:rPr>
              <a:t>_</a:t>
            </a:r>
            <a:r>
              <a:rPr lang="en-US" sz="2800">
                <a:solidFill>
                  <a:schemeClr val="dk1"/>
                </a:solidFill>
                <a:latin typeface="Avenir"/>
                <a:ea typeface="Avenir"/>
                <a:cs typeface="Avenir"/>
                <a:sym typeface="Avenir"/>
              </a:rPr>
              <a:t>Assets</a:t>
            </a:r>
            <a:endParaRPr/>
          </a:p>
        </p:txBody>
      </p:sp>
      <p:grpSp>
        <p:nvGrpSpPr>
          <p:cNvPr id="561" name="Google Shape;561;p31"/>
          <p:cNvGrpSpPr/>
          <p:nvPr/>
        </p:nvGrpSpPr>
        <p:grpSpPr>
          <a:xfrm>
            <a:off x="2330580" y="1965230"/>
            <a:ext cx="3032198" cy="584776"/>
            <a:chOff x="1116105" y="2252876"/>
            <a:chExt cx="3032198" cy="584776"/>
          </a:xfrm>
        </p:grpSpPr>
        <p:sp>
          <p:nvSpPr>
            <p:cNvPr id="562" name="Google Shape;562;p31"/>
            <p:cNvSpPr txBox="1"/>
            <p:nvPr/>
          </p:nvSpPr>
          <p:spPr>
            <a:xfrm>
              <a:off x="1116105" y="2375987"/>
              <a:ext cx="904415"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563" name="Google Shape;563;p31"/>
            <p:cNvSpPr txBox="1"/>
            <p:nvPr/>
          </p:nvSpPr>
          <p:spPr>
            <a:xfrm>
              <a:off x="2646615" y="2252876"/>
              <a:ext cx="389850"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564" name="Google Shape;564;p31"/>
            <p:cNvSpPr txBox="1"/>
            <p:nvPr/>
          </p:nvSpPr>
          <p:spPr>
            <a:xfrm>
              <a:off x="3021071" y="2375987"/>
              <a:ext cx="1127232"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6"/>
                  </a:solidFill>
                  <a:latin typeface="Avenir"/>
                  <a:ea typeface="Avenir"/>
                  <a:cs typeface="Avenir"/>
                  <a:sym typeface="Avenir"/>
                </a:rPr>
                <a:t>30,000</a:t>
              </a:r>
              <a:endParaRPr/>
            </a:p>
          </p:txBody>
        </p:sp>
      </p:grpSp>
      <p:grpSp>
        <p:nvGrpSpPr>
          <p:cNvPr id="565" name="Google Shape;565;p31"/>
          <p:cNvGrpSpPr/>
          <p:nvPr/>
        </p:nvGrpSpPr>
        <p:grpSpPr>
          <a:xfrm>
            <a:off x="2330580" y="2586599"/>
            <a:ext cx="3032198" cy="609738"/>
            <a:chOff x="1116105" y="2227914"/>
            <a:chExt cx="3032198" cy="609738"/>
          </a:xfrm>
        </p:grpSpPr>
        <p:sp>
          <p:nvSpPr>
            <p:cNvPr id="566" name="Google Shape;566;p31"/>
            <p:cNvSpPr txBox="1"/>
            <p:nvPr/>
          </p:nvSpPr>
          <p:spPr>
            <a:xfrm>
              <a:off x="1116105" y="2375987"/>
              <a:ext cx="904415"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567" name="Google Shape;567;p31"/>
            <p:cNvSpPr txBox="1"/>
            <p:nvPr/>
          </p:nvSpPr>
          <p:spPr>
            <a:xfrm>
              <a:off x="2646615" y="2227914"/>
              <a:ext cx="389850"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568" name="Google Shape;568;p31"/>
            <p:cNvSpPr txBox="1"/>
            <p:nvPr/>
          </p:nvSpPr>
          <p:spPr>
            <a:xfrm>
              <a:off x="3021071" y="2375987"/>
              <a:ext cx="1127232"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6"/>
                  </a:solidFill>
                  <a:latin typeface="Avenir"/>
                  <a:ea typeface="Avenir"/>
                  <a:cs typeface="Avenir"/>
                  <a:sym typeface="Avenir"/>
                </a:rPr>
                <a:t>20,000</a:t>
              </a:r>
              <a:endParaRPr/>
            </a:p>
          </p:txBody>
        </p:sp>
      </p:grpSp>
      <p:grpSp>
        <p:nvGrpSpPr>
          <p:cNvPr id="569" name="Google Shape;569;p31"/>
          <p:cNvGrpSpPr/>
          <p:nvPr/>
        </p:nvGrpSpPr>
        <p:grpSpPr>
          <a:xfrm>
            <a:off x="2330580" y="3236109"/>
            <a:ext cx="3032198" cy="606559"/>
            <a:chOff x="1116105" y="2231093"/>
            <a:chExt cx="3032198" cy="606559"/>
          </a:xfrm>
        </p:grpSpPr>
        <p:sp>
          <p:nvSpPr>
            <p:cNvPr id="570" name="Google Shape;570;p31"/>
            <p:cNvSpPr txBox="1"/>
            <p:nvPr/>
          </p:nvSpPr>
          <p:spPr>
            <a:xfrm>
              <a:off x="1116105" y="2375987"/>
              <a:ext cx="904415"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571" name="Google Shape;571;p31"/>
            <p:cNvSpPr txBox="1"/>
            <p:nvPr/>
          </p:nvSpPr>
          <p:spPr>
            <a:xfrm>
              <a:off x="2636461" y="2231093"/>
              <a:ext cx="389850"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572" name="Google Shape;572;p31"/>
            <p:cNvSpPr txBox="1"/>
            <p:nvPr/>
          </p:nvSpPr>
          <p:spPr>
            <a:xfrm>
              <a:off x="3449074" y="2375987"/>
              <a:ext cx="699229"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6"/>
                  </a:solidFill>
                  <a:latin typeface="Avenir"/>
                  <a:ea typeface="Avenir"/>
                  <a:cs typeface="Avenir"/>
                  <a:sym typeface="Avenir"/>
                </a:rPr>
                <a:t>700</a:t>
              </a:r>
              <a:endParaRPr/>
            </a:p>
          </p:txBody>
        </p:sp>
      </p:grpSp>
      <p:grpSp>
        <p:nvGrpSpPr>
          <p:cNvPr id="573" name="Google Shape;573;p31"/>
          <p:cNvGrpSpPr/>
          <p:nvPr/>
        </p:nvGrpSpPr>
        <p:grpSpPr>
          <a:xfrm>
            <a:off x="2330580" y="3959159"/>
            <a:ext cx="3032198" cy="584775"/>
            <a:chOff x="1116105" y="2307812"/>
            <a:chExt cx="3032198" cy="584775"/>
          </a:xfrm>
        </p:grpSpPr>
        <p:sp>
          <p:nvSpPr>
            <p:cNvPr id="574" name="Google Shape;574;p31"/>
            <p:cNvSpPr txBox="1"/>
            <p:nvPr/>
          </p:nvSpPr>
          <p:spPr>
            <a:xfrm>
              <a:off x="1116105" y="2375987"/>
              <a:ext cx="904415"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575" name="Google Shape;575;p31"/>
            <p:cNvSpPr txBox="1"/>
            <p:nvPr/>
          </p:nvSpPr>
          <p:spPr>
            <a:xfrm rot="10800000">
              <a:off x="2629619" y="2307812"/>
              <a:ext cx="389850"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576" name="Google Shape;576;p31"/>
            <p:cNvSpPr txBox="1"/>
            <p:nvPr/>
          </p:nvSpPr>
          <p:spPr>
            <a:xfrm>
              <a:off x="3449074" y="2375987"/>
              <a:ext cx="699229"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2"/>
                  </a:solidFill>
                  <a:latin typeface="Avenir"/>
                  <a:ea typeface="Avenir"/>
                  <a:cs typeface="Avenir"/>
                  <a:sym typeface="Avenir"/>
                </a:rPr>
                <a:t>300</a:t>
              </a:r>
              <a:endParaRPr/>
            </a:p>
          </p:txBody>
        </p:sp>
      </p:grpSp>
      <p:sp>
        <p:nvSpPr>
          <p:cNvPr id="577" name="Google Shape;577;p31"/>
          <p:cNvSpPr txBox="1"/>
          <p:nvPr/>
        </p:nvSpPr>
        <p:spPr>
          <a:xfrm rot="-5400000">
            <a:off x="-471469" y="2764039"/>
            <a:ext cx="2627129"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rgbClr val="7F7F7F"/>
                </a:solidFill>
                <a:latin typeface="Avenir"/>
                <a:ea typeface="Avenir"/>
                <a:cs typeface="Avenir"/>
                <a:sym typeface="Avenir"/>
              </a:rPr>
              <a:t>Valuable things</a:t>
            </a:r>
            <a:endParaRPr/>
          </a:p>
        </p:txBody>
      </p:sp>
      <p:sp>
        <p:nvSpPr>
          <p:cNvPr id="578" name="Google Shape;578;p31"/>
          <p:cNvSpPr txBox="1"/>
          <p:nvPr/>
        </p:nvSpPr>
        <p:spPr>
          <a:xfrm rot="5400000">
            <a:off x="10933430" y="5601892"/>
            <a:ext cx="941283"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rgbClr val="7F7F7F"/>
                </a:solidFill>
                <a:latin typeface="Avenir"/>
                <a:ea typeface="Avenir"/>
                <a:cs typeface="Avenir"/>
                <a:sym typeface="Avenir"/>
              </a:rPr>
              <a:t>VGA</a:t>
            </a:r>
            <a:endParaRPr/>
          </a:p>
        </p:txBody>
      </p:sp>
      <p:sp>
        <p:nvSpPr>
          <p:cNvPr id="579" name="Google Shape;579;p31"/>
          <p:cNvSpPr txBox="1"/>
          <p:nvPr/>
        </p:nvSpPr>
        <p:spPr>
          <a:xfrm rot="-5400000">
            <a:off x="366898" y="5479344"/>
            <a:ext cx="901209"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rgbClr val="7F7F7F"/>
                </a:solidFill>
                <a:latin typeface="Avenir"/>
                <a:ea typeface="Avenir"/>
                <a:cs typeface="Avenir"/>
                <a:sym typeface="Avenir"/>
              </a:rPr>
              <a:t>VSA</a:t>
            </a:r>
            <a:endParaRPr/>
          </a:p>
        </p:txBody>
      </p:sp>
      <p:sp>
        <p:nvSpPr>
          <p:cNvPr id="580" name="Google Shape;580;p31"/>
          <p:cNvSpPr txBox="1"/>
          <p:nvPr/>
        </p:nvSpPr>
        <p:spPr>
          <a:xfrm>
            <a:off x="1341185" y="894976"/>
            <a:ext cx="1880643" cy="40011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000">
                <a:solidFill>
                  <a:schemeClr val="accent6"/>
                </a:solidFill>
                <a:latin typeface="Avenir"/>
                <a:ea typeface="Avenir"/>
                <a:cs typeface="Avenir"/>
                <a:sym typeface="Avenir"/>
              </a:rPr>
              <a:t>Uses of funds</a:t>
            </a:r>
            <a:endParaRPr/>
          </a:p>
        </p:txBody>
      </p:sp>
      <p:sp>
        <p:nvSpPr>
          <p:cNvPr id="581" name="Google Shape;581;p31"/>
          <p:cNvSpPr txBox="1"/>
          <p:nvPr/>
        </p:nvSpPr>
        <p:spPr>
          <a:xfrm>
            <a:off x="8518609" y="5255542"/>
            <a:ext cx="2128220" cy="634270"/>
          </a:xfrm>
          <a:prstGeom prst="rect">
            <a:avLst/>
          </a:prstGeom>
          <a:solidFill>
            <a:schemeClr val="lt1"/>
          </a:solidFill>
          <a:ln>
            <a:noFill/>
          </a:ln>
        </p:spPr>
        <p:txBody>
          <a:bodyPr anchorCtr="0" anchor="t" bIns="45700" lIns="91425" spcFirstLastPara="1" rIns="91425" wrap="square" tIns="45700">
            <a:sp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82" name="Google Shape;582;p31"/>
          <p:cNvSpPr txBox="1"/>
          <p:nvPr/>
        </p:nvSpPr>
        <p:spPr>
          <a:xfrm>
            <a:off x="1595196" y="5242678"/>
            <a:ext cx="2098288" cy="647133"/>
          </a:xfrm>
          <a:prstGeom prst="rect">
            <a:avLst/>
          </a:prstGeom>
          <a:solidFill>
            <a:schemeClr val="lt1"/>
          </a:solidFill>
          <a:ln>
            <a:noFill/>
          </a:ln>
        </p:spPr>
        <p:txBody>
          <a:bodyPr anchorCtr="0" anchor="t" bIns="45700" lIns="91425" spcFirstLastPara="1" rIns="91425" wrap="square" tIns="45700">
            <a:sp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83" name="Google Shape;583;p31"/>
          <p:cNvSpPr txBox="1"/>
          <p:nvPr/>
        </p:nvSpPr>
        <p:spPr>
          <a:xfrm>
            <a:off x="6365699" y="1834676"/>
            <a:ext cx="1555234"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Bank loan</a:t>
            </a:r>
            <a:endParaRPr/>
          </a:p>
        </p:txBody>
      </p:sp>
      <p:sp>
        <p:nvSpPr>
          <p:cNvPr id="584" name="Google Shape;584;p31"/>
          <p:cNvSpPr txBox="1"/>
          <p:nvPr/>
        </p:nvSpPr>
        <p:spPr>
          <a:xfrm>
            <a:off x="3613035" y="500757"/>
            <a:ext cx="4777463" cy="5232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2800">
                <a:solidFill>
                  <a:schemeClr val="accent1"/>
                </a:solidFill>
                <a:latin typeface="Avenir"/>
                <a:ea typeface="Avenir"/>
                <a:cs typeface="Avenir"/>
                <a:sym typeface="Avenir"/>
              </a:rPr>
              <a:t>My Consulting Limited</a:t>
            </a:r>
            <a:endParaRPr/>
          </a:p>
        </p:txBody>
      </p:sp>
    </p:spTree>
  </p:cSld>
  <p:clrMapOvr>
    <a:masterClrMapping/>
  </p:clrMapOvr>
  <mc:AlternateContent>
    <mc:Choice Requires="p14">
      <p:transition spd="slow" p14:dur="700">
        <p:fade/>
      </p:transition>
    </mc:Choice>
    <mc:Fallback>
      <p:transition spd="slow">
        <p:fade/>
      </p:transition>
    </mc:Fallback>
  </mc:AlternateContent>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xit" presetID="10" presetSubtype="0">
                                  <p:stCondLst>
                                    <p:cond delay="0"/>
                                  </p:stCondLst>
                                  <p:childTnLst>
                                    <p:animEffect filter="fade" transition="out">
                                      <p:cBhvr>
                                        <p:cTn dur="500"/>
                                        <p:tgtEl>
                                          <p:spTgt spid="581"/>
                                        </p:tgtEl>
                                      </p:cBhvr>
                                    </p:animEffect>
                                    <p:set>
                                      <p:cBhvr>
                                        <p:cTn dur="1" fill="hold">
                                          <p:stCondLst>
                                            <p:cond delay="500"/>
                                          </p:stCondLst>
                                        </p:cTn>
                                        <p:tgtEl>
                                          <p:spTgt spid="581"/>
                                        </p:tgtEl>
                                        <p:attrNameLst>
                                          <p:attrName>style.visibility</p:attrName>
                                        </p:attrNameLst>
                                      </p:cBhvr>
                                      <p:to>
                                        <p:strVal val="hidden"/>
                                      </p:to>
                                    </p:set>
                                  </p:childTnLst>
                                </p:cTn>
                              </p:par>
                            </p:childTnLst>
                          </p:cTn>
                        </p:par>
                      </p:childTnLst>
                    </p:cTn>
                  </p:par>
                  <p:par>
                    <p:cTn fill="hold">
                      <p:stCondLst>
                        <p:cond delay="indefinite"/>
                      </p:stCondLst>
                      <p:childTnLst>
                        <p:par>
                          <p:cTn fill="hold">
                            <p:stCondLst>
                              <p:cond delay="0"/>
                            </p:stCondLst>
                            <p:childTnLst>
                              <p:par>
                                <p:cTn fill="hold" nodeType="clickEffect" presetClass="exit" presetID="10" presetSubtype="0">
                                  <p:stCondLst>
                                    <p:cond delay="0"/>
                                  </p:stCondLst>
                                  <p:childTnLst>
                                    <p:animEffect filter="fade" transition="out">
                                      <p:cBhvr>
                                        <p:cTn dur="500"/>
                                        <p:tgtEl>
                                          <p:spTgt spid="582"/>
                                        </p:tgtEl>
                                      </p:cBhvr>
                                    </p:animEffect>
                                    <p:set>
                                      <p:cBhvr>
                                        <p:cTn dur="1" fill="hold">
                                          <p:stCondLst>
                                            <p:cond delay="500"/>
                                          </p:stCondLst>
                                        </p:cTn>
                                        <p:tgtEl>
                                          <p:spTgt spid="582"/>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9" name="Shape 589"/>
        <p:cNvGrpSpPr/>
        <p:nvPr/>
      </p:nvGrpSpPr>
      <p:grpSpPr>
        <a:xfrm>
          <a:off x="0" y="0"/>
          <a:ext cx="0" cy="0"/>
          <a:chOff x="0" y="0"/>
          <a:chExt cx="0" cy="0"/>
        </a:xfrm>
      </p:grpSpPr>
      <p:sp>
        <p:nvSpPr>
          <p:cNvPr id="590" name="Google Shape;590;p32"/>
          <p:cNvSpPr txBox="1"/>
          <p:nvPr/>
        </p:nvSpPr>
        <p:spPr>
          <a:xfrm>
            <a:off x="6457623" y="3661110"/>
            <a:ext cx="3356537" cy="993462"/>
          </a:xfrm>
          <a:prstGeom prst="rect">
            <a:avLst/>
          </a:prstGeom>
          <a:noFill/>
          <a:ln cap="flat" cmpd="sng" w="7620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b="1" lang="en-US" sz="2800">
                <a:solidFill>
                  <a:schemeClr val="dk1"/>
                </a:solidFill>
                <a:latin typeface="Avenir"/>
                <a:ea typeface="Avenir"/>
                <a:cs typeface="Avenir"/>
                <a:sym typeface="Avenir"/>
              </a:rPr>
              <a:t> </a:t>
            </a:r>
            <a:endParaRPr/>
          </a:p>
        </p:txBody>
      </p:sp>
      <p:sp>
        <p:nvSpPr>
          <p:cNvPr id="591" name="Google Shape;591;p32"/>
          <p:cNvSpPr txBox="1"/>
          <p:nvPr/>
        </p:nvSpPr>
        <p:spPr>
          <a:xfrm>
            <a:off x="1354633" y="5003440"/>
            <a:ext cx="9550931" cy="1518383"/>
          </a:xfrm>
          <a:prstGeom prst="rect">
            <a:avLst/>
          </a:prstGeom>
          <a:noFill/>
          <a:ln cap="flat" cmpd="sng" w="7620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b="1" lang="en-US" sz="2800">
                <a:solidFill>
                  <a:schemeClr val="dk1"/>
                </a:solidFill>
                <a:latin typeface="Avenir"/>
                <a:ea typeface="Avenir"/>
                <a:cs typeface="Avenir"/>
                <a:sym typeface="Avenir"/>
              </a:rPr>
              <a:t> </a:t>
            </a:r>
            <a:endParaRPr/>
          </a:p>
        </p:txBody>
      </p:sp>
      <p:sp>
        <p:nvSpPr>
          <p:cNvPr id="592" name="Google Shape;592;p32"/>
          <p:cNvSpPr txBox="1"/>
          <p:nvPr/>
        </p:nvSpPr>
        <p:spPr>
          <a:xfrm>
            <a:off x="6227788" y="2623662"/>
            <a:ext cx="4677777" cy="2227378"/>
          </a:xfrm>
          <a:prstGeom prst="rect">
            <a:avLst/>
          </a:prstGeom>
          <a:no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lang="en-US" sz="2800">
                <a:solidFill>
                  <a:schemeClr val="dk1"/>
                </a:solidFill>
                <a:latin typeface="Avenir"/>
                <a:ea typeface="Avenir"/>
                <a:cs typeface="Avenir"/>
                <a:sym typeface="Avenir"/>
              </a:rPr>
              <a:t>Equity</a:t>
            </a:r>
            <a:r>
              <a:rPr b="1" lang="en-US" sz="2800">
                <a:solidFill>
                  <a:schemeClr val="lt1"/>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593" name="Google Shape;593;p32"/>
          <p:cNvSpPr txBox="1"/>
          <p:nvPr/>
        </p:nvSpPr>
        <p:spPr>
          <a:xfrm>
            <a:off x="6227788" y="1325627"/>
            <a:ext cx="4677777" cy="1150816"/>
          </a:xfrm>
          <a:prstGeom prst="rect">
            <a:avLst/>
          </a:prstGeom>
          <a:no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lang="en-US" sz="2800">
                <a:solidFill>
                  <a:schemeClr val="dk1"/>
                </a:solidFill>
                <a:latin typeface="Avenir"/>
                <a:ea typeface="Avenir"/>
                <a:cs typeface="Avenir"/>
                <a:sym typeface="Avenir"/>
              </a:rPr>
              <a:t>Liabilities</a:t>
            </a:r>
            <a:r>
              <a:rPr b="1" lang="en-US" sz="2800">
                <a:solidFill>
                  <a:schemeClr val="lt1"/>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grpSp>
        <p:nvGrpSpPr>
          <p:cNvPr id="594" name="Google Shape;594;p32"/>
          <p:cNvGrpSpPr/>
          <p:nvPr/>
        </p:nvGrpSpPr>
        <p:grpSpPr>
          <a:xfrm>
            <a:off x="8116806" y="1712085"/>
            <a:ext cx="1484695" cy="611304"/>
            <a:chOff x="2640082" y="2202430"/>
            <a:chExt cx="1288807" cy="611304"/>
          </a:xfrm>
        </p:grpSpPr>
        <p:sp>
          <p:nvSpPr>
            <p:cNvPr id="595" name="Google Shape;595;p32"/>
            <p:cNvSpPr txBox="1"/>
            <p:nvPr/>
          </p:nvSpPr>
          <p:spPr>
            <a:xfrm>
              <a:off x="2640082" y="2202430"/>
              <a:ext cx="338414"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596" name="Google Shape;596;p32"/>
            <p:cNvSpPr txBox="1"/>
            <p:nvPr/>
          </p:nvSpPr>
          <p:spPr>
            <a:xfrm>
              <a:off x="2950382" y="2352069"/>
              <a:ext cx="978507"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2"/>
                  </a:solidFill>
                  <a:latin typeface="Avenir"/>
                  <a:ea typeface="Avenir"/>
                  <a:cs typeface="Avenir"/>
                  <a:sym typeface="Avenir"/>
                </a:rPr>
                <a:t>30,000</a:t>
              </a:r>
              <a:endParaRPr/>
            </a:p>
          </p:txBody>
        </p:sp>
      </p:grpSp>
      <p:grpSp>
        <p:nvGrpSpPr>
          <p:cNvPr id="597" name="Google Shape;597;p32"/>
          <p:cNvGrpSpPr/>
          <p:nvPr/>
        </p:nvGrpSpPr>
        <p:grpSpPr>
          <a:xfrm>
            <a:off x="6457623" y="2719983"/>
            <a:ext cx="3356537" cy="830997"/>
            <a:chOff x="1160947" y="1923541"/>
            <a:chExt cx="2421059" cy="830997"/>
          </a:xfrm>
        </p:grpSpPr>
        <p:sp>
          <p:nvSpPr>
            <p:cNvPr id="598" name="Google Shape;598;p32"/>
            <p:cNvSpPr txBox="1"/>
            <p:nvPr/>
          </p:nvSpPr>
          <p:spPr>
            <a:xfrm>
              <a:off x="1160947" y="1923541"/>
              <a:ext cx="1343784" cy="830997"/>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Contributed </a:t>
              </a:r>
              <a:br>
                <a:rPr lang="en-US" sz="2400">
                  <a:solidFill>
                    <a:schemeClr val="dk1"/>
                  </a:solidFill>
                  <a:latin typeface="Avenir"/>
                  <a:ea typeface="Avenir"/>
                  <a:cs typeface="Avenir"/>
                  <a:sym typeface="Avenir"/>
                </a:rPr>
              </a:br>
              <a:r>
                <a:rPr lang="en-US" sz="2400">
                  <a:solidFill>
                    <a:schemeClr val="dk1"/>
                  </a:solidFill>
                  <a:latin typeface="Avenir"/>
                  <a:ea typeface="Avenir"/>
                  <a:cs typeface="Avenir"/>
                  <a:sym typeface="Avenir"/>
                </a:rPr>
                <a:t>equity</a:t>
              </a:r>
              <a:endParaRPr/>
            </a:p>
          </p:txBody>
        </p:sp>
        <p:sp>
          <p:nvSpPr>
            <p:cNvPr id="599" name="Google Shape;599;p32"/>
            <p:cNvSpPr txBox="1"/>
            <p:nvPr/>
          </p:nvSpPr>
          <p:spPr>
            <a:xfrm>
              <a:off x="2513583" y="2116704"/>
              <a:ext cx="281197"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600" name="Google Shape;600;p32"/>
            <p:cNvSpPr txBox="1"/>
            <p:nvPr/>
          </p:nvSpPr>
          <p:spPr>
            <a:xfrm>
              <a:off x="2768937" y="2239814"/>
              <a:ext cx="813069"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2"/>
                  </a:solidFill>
                  <a:latin typeface="Avenir"/>
                  <a:ea typeface="Avenir"/>
                  <a:cs typeface="Avenir"/>
                  <a:sym typeface="Avenir"/>
                </a:rPr>
                <a:t>20,000</a:t>
              </a:r>
              <a:endParaRPr/>
            </a:p>
          </p:txBody>
        </p:sp>
      </p:grpSp>
      <p:sp>
        <p:nvSpPr>
          <p:cNvPr id="601" name="Google Shape;601;p32"/>
          <p:cNvSpPr txBox="1"/>
          <p:nvPr/>
        </p:nvSpPr>
        <p:spPr>
          <a:xfrm>
            <a:off x="6511111" y="3762376"/>
            <a:ext cx="1725152" cy="830997"/>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Generated </a:t>
            </a:r>
            <a:br>
              <a:rPr lang="en-US" sz="2400">
                <a:solidFill>
                  <a:schemeClr val="dk1"/>
                </a:solidFill>
                <a:latin typeface="Avenir"/>
                <a:ea typeface="Avenir"/>
                <a:cs typeface="Avenir"/>
                <a:sym typeface="Avenir"/>
              </a:rPr>
            </a:br>
            <a:r>
              <a:rPr lang="en-US" sz="2400">
                <a:solidFill>
                  <a:schemeClr val="dk1"/>
                </a:solidFill>
                <a:latin typeface="Avenir"/>
                <a:ea typeface="Avenir"/>
                <a:cs typeface="Avenir"/>
                <a:sym typeface="Avenir"/>
              </a:rPr>
              <a:t>equity</a:t>
            </a:r>
            <a:endParaRPr/>
          </a:p>
        </p:txBody>
      </p:sp>
      <p:sp>
        <p:nvSpPr>
          <p:cNvPr id="602" name="Google Shape;602;p32"/>
          <p:cNvSpPr txBox="1"/>
          <p:nvPr/>
        </p:nvSpPr>
        <p:spPr>
          <a:xfrm>
            <a:off x="6227788" y="5164542"/>
            <a:ext cx="4516412" cy="1219006"/>
          </a:xfrm>
          <a:prstGeom prst="rect">
            <a:avLst/>
          </a:prstGeom>
          <a:no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lang="en-US" sz="2800">
                <a:solidFill>
                  <a:schemeClr val="dk1"/>
                </a:solidFill>
                <a:latin typeface="Avenir"/>
                <a:ea typeface="Avenir"/>
                <a:cs typeface="Avenir"/>
                <a:sym typeface="Avenir"/>
              </a:rPr>
              <a:t>Income</a:t>
            </a:r>
            <a:r>
              <a:rPr b="1" lang="en-US" sz="2800">
                <a:solidFill>
                  <a:schemeClr val="lt1"/>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603" name="Google Shape;603;p32"/>
          <p:cNvSpPr txBox="1"/>
          <p:nvPr/>
        </p:nvSpPr>
        <p:spPr>
          <a:xfrm>
            <a:off x="1519517" y="5164542"/>
            <a:ext cx="4514277" cy="1219006"/>
          </a:xfrm>
          <a:prstGeom prst="rect">
            <a:avLst/>
          </a:prstGeom>
          <a:no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120000"/>
              </a:lnSpc>
              <a:spcBef>
                <a:spcPts val="0"/>
              </a:spcBef>
              <a:spcAft>
                <a:spcPts val="0"/>
              </a:spcAft>
              <a:buNone/>
            </a:pPr>
            <a:r>
              <a:rPr b="1" lang="en-US" sz="2800">
                <a:solidFill>
                  <a:schemeClr val="lt1"/>
                </a:solidFill>
                <a:latin typeface="Avenir"/>
                <a:ea typeface="Avenir"/>
                <a:cs typeface="Avenir"/>
                <a:sym typeface="Avenir"/>
              </a:rPr>
              <a:t>_</a:t>
            </a:r>
            <a:r>
              <a:rPr lang="en-US" sz="2800">
                <a:solidFill>
                  <a:schemeClr val="dk1"/>
                </a:solidFill>
                <a:latin typeface="Avenir"/>
                <a:ea typeface="Avenir"/>
                <a:cs typeface="Avenir"/>
                <a:sym typeface="Avenir"/>
              </a:rPr>
              <a:t>Expenses</a:t>
            </a:r>
            <a:endParaRPr/>
          </a:p>
        </p:txBody>
      </p:sp>
      <p:cxnSp>
        <p:nvCxnSpPr>
          <p:cNvPr id="604" name="Google Shape;604;p32"/>
          <p:cNvCxnSpPr/>
          <p:nvPr/>
        </p:nvCxnSpPr>
        <p:spPr>
          <a:xfrm>
            <a:off x="8116806" y="4641124"/>
            <a:ext cx="0" cy="362316"/>
          </a:xfrm>
          <a:prstGeom prst="straightConnector1">
            <a:avLst/>
          </a:prstGeom>
          <a:noFill/>
          <a:ln cap="flat" cmpd="sng" w="76200">
            <a:solidFill>
              <a:srgbClr val="942093"/>
            </a:solidFill>
            <a:prstDash val="solid"/>
            <a:miter lim="800000"/>
            <a:headEnd len="sm" w="sm" type="none"/>
            <a:tailEnd len="sm" w="sm" type="none"/>
          </a:ln>
        </p:spPr>
      </p:cxnSp>
      <p:sp>
        <p:nvSpPr>
          <p:cNvPr id="605" name="Google Shape;605;p32"/>
          <p:cNvSpPr txBox="1"/>
          <p:nvPr/>
        </p:nvSpPr>
        <p:spPr>
          <a:xfrm>
            <a:off x="6717327" y="5768626"/>
            <a:ext cx="1667444"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Consulting</a:t>
            </a:r>
            <a:endParaRPr/>
          </a:p>
        </p:txBody>
      </p:sp>
      <p:sp>
        <p:nvSpPr>
          <p:cNvPr id="606" name="Google Shape;606;p32"/>
          <p:cNvSpPr txBox="1"/>
          <p:nvPr/>
        </p:nvSpPr>
        <p:spPr>
          <a:xfrm>
            <a:off x="8647233" y="5646711"/>
            <a:ext cx="389850"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607" name="Google Shape;607;p32"/>
          <p:cNvSpPr txBox="1"/>
          <p:nvPr/>
        </p:nvSpPr>
        <p:spPr>
          <a:xfrm>
            <a:off x="8815069" y="5768626"/>
            <a:ext cx="934455"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2"/>
                </a:solidFill>
                <a:latin typeface="Avenir"/>
                <a:ea typeface="Avenir"/>
                <a:cs typeface="Avenir"/>
                <a:sym typeface="Avenir"/>
              </a:rPr>
              <a:t>700</a:t>
            </a:r>
            <a:endParaRPr/>
          </a:p>
        </p:txBody>
      </p:sp>
      <p:sp>
        <p:nvSpPr>
          <p:cNvPr id="608" name="Google Shape;608;p32"/>
          <p:cNvSpPr txBox="1"/>
          <p:nvPr/>
        </p:nvSpPr>
        <p:spPr>
          <a:xfrm rot="5400000">
            <a:off x="10400548" y="2788126"/>
            <a:ext cx="2053767"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rgbClr val="7F7F7F"/>
                </a:solidFill>
                <a:latin typeface="Avenir"/>
                <a:ea typeface="Avenir"/>
                <a:cs typeface="Avenir"/>
                <a:sym typeface="Avenir"/>
              </a:rPr>
              <a:t>Obligations</a:t>
            </a:r>
            <a:endParaRPr/>
          </a:p>
        </p:txBody>
      </p:sp>
      <p:sp>
        <p:nvSpPr>
          <p:cNvPr id="609" name="Google Shape;609;p32"/>
          <p:cNvSpPr txBox="1"/>
          <p:nvPr/>
        </p:nvSpPr>
        <p:spPr>
          <a:xfrm>
            <a:off x="8641975" y="897526"/>
            <a:ext cx="2279791" cy="40011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000">
                <a:solidFill>
                  <a:schemeClr val="accent2"/>
                </a:solidFill>
                <a:latin typeface="Avenir"/>
                <a:ea typeface="Avenir"/>
                <a:cs typeface="Avenir"/>
                <a:sym typeface="Avenir"/>
              </a:rPr>
              <a:t>Sources of funds</a:t>
            </a:r>
            <a:endParaRPr/>
          </a:p>
        </p:txBody>
      </p:sp>
      <p:cxnSp>
        <p:nvCxnSpPr>
          <p:cNvPr id="610" name="Google Shape;610;p32"/>
          <p:cNvCxnSpPr/>
          <p:nvPr/>
        </p:nvCxnSpPr>
        <p:spPr>
          <a:xfrm flipH="1" rot="10800000">
            <a:off x="3613035" y="1065456"/>
            <a:ext cx="4777463" cy="18029"/>
          </a:xfrm>
          <a:prstGeom prst="straightConnector1">
            <a:avLst/>
          </a:prstGeom>
          <a:noFill/>
          <a:ln cap="flat" cmpd="sng" w="28575">
            <a:solidFill>
              <a:schemeClr val="accent1"/>
            </a:solidFill>
            <a:prstDash val="dot"/>
            <a:miter lim="800000"/>
            <a:headEnd len="sm" w="sm" type="none"/>
            <a:tailEnd len="sm" w="sm" type="none"/>
          </a:ln>
        </p:spPr>
      </p:cxnSp>
      <p:sp>
        <p:nvSpPr>
          <p:cNvPr id="611" name="Google Shape;611;p32"/>
          <p:cNvSpPr txBox="1"/>
          <p:nvPr/>
        </p:nvSpPr>
        <p:spPr>
          <a:xfrm>
            <a:off x="1358153" y="1325627"/>
            <a:ext cx="4679162" cy="3525413"/>
          </a:xfrm>
          <a:prstGeom prst="rect">
            <a:avLst/>
          </a:prstGeom>
          <a:no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120000"/>
              </a:lnSpc>
              <a:spcBef>
                <a:spcPts val="0"/>
              </a:spcBef>
              <a:spcAft>
                <a:spcPts val="0"/>
              </a:spcAft>
              <a:buNone/>
            </a:pPr>
            <a:r>
              <a:rPr b="1" lang="en-US" sz="2800">
                <a:solidFill>
                  <a:schemeClr val="lt1"/>
                </a:solidFill>
                <a:latin typeface="Avenir"/>
                <a:ea typeface="Avenir"/>
                <a:cs typeface="Avenir"/>
                <a:sym typeface="Avenir"/>
              </a:rPr>
              <a:t>_</a:t>
            </a:r>
            <a:r>
              <a:rPr lang="en-US" sz="2800">
                <a:solidFill>
                  <a:schemeClr val="dk1"/>
                </a:solidFill>
                <a:latin typeface="Avenir"/>
                <a:ea typeface="Avenir"/>
                <a:cs typeface="Avenir"/>
                <a:sym typeface="Avenir"/>
              </a:rPr>
              <a:t>Assets</a:t>
            </a:r>
            <a:endParaRPr/>
          </a:p>
        </p:txBody>
      </p:sp>
      <p:grpSp>
        <p:nvGrpSpPr>
          <p:cNvPr id="612" name="Google Shape;612;p32"/>
          <p:cNvGrpSpPr/>
          <p:nvPr/>
        </p:nvGrpSpPr>
        <p:grpSpPr>
          <a:xfrm>
            <a:off x="2330580" y="1965230"/>
            <a:ext cx="3032198" cy="584776"/>
            <a:chOff x="1116105" y="2252876"/>
            <a:chExt cx="3032198" cy="584776"/>
          </a:xfrm>
        </p:grpSpPr>
        <p:sp>
          <p:nvSpPr>
            <p:cNvPr id="613" name="Google Shape;613;p32"/>
            <p:cNvSpPr txBox="1"/>
            <p:nvPr/>
          </p:nvSpPr>
          <p:spPr>
            <a:xfrm>
              <a:off x="1116105" y="2375987"/>
              <a:ext cx="904415"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614" name="Google Shape;614;p32"/>
            <p:cNvSpPr txBox="1"/>
            <p:nvPr/>
          </p:nvSpPr>
          <p:spPr>
            <a:xfrm>
              <a:off x="2646615" y="2252876"/>
              <a:ext cx="389850"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615" name="Google Shape;615;p32"/>
            <p:cNvSpPr txBox="1"/>
            <p:nvPr/>
          </p:nvSpPr>
          <p:spPr>
            <a:xfrm>
              <a:off x="3021071" y="2375987"/>
              <a:ext cx="1127232"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6"/>
                  </a:solidFill>
                  <a:latin typeface="Avenir"/>
                  <a:ea typeface="Avenir"/>
                  <a:cs typeface="Avenir"/>
                  <a:sym typeface="Avenir"/>
                </a:rPr>
                <a:t>30,000</a:t>
              </a:r>
              <a:endParaRPr/>
            </a:p>
          </p:txBody>
        </p:sp>
      </p:grpSp>
      <p:grpSp>
        <p:nvGrpSpPr>
          <p:cNvPr id="616" name="Google Shape;616;p32"/>
          <p:cNvGrpSpPr/>
          <p:nvPr/>
        </p:nvGrpSpPr>
        <p:grpSpPr>
          <a:xfrm>
            <a:off x="2330580" y="2586599"/>
            <a:ext cx="3032198" cy="609738"/>
            <a:chOff x="1116105" y="2227914"/>
            <a:chExt cx="3032198" cy="609738"/>
          </a:xfrm>
        </p:grpSpPr>
        <p:sp>
          <p:nvSpPr>
            <p:cNvPr id="617" name="Google Shape;617;p32"/>
            <p:cNvSpPr txBox="1"/>
            <p:nvPr/>
          </p:nvSpPr>
          <p:spPr>
            <a:xfrm>
              <a:off x="1116105" y="2375987"/>
              <a:ext cx="904415"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618" name="Google Shape;618;p32"/>
            <p:cNvSpPr txBox="1"/>
            <p:nvPr/>
          </p:nvSpPr>
          <p:spPr>
            <a:xfrm>
              <a:off x="2646615" y="2227914"/>
              <a:ext cx="389850"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619" name="Google Shape;619;p32"/>
            <p:cNvSpPr txBox="1"/>
            <p:nvPr/>
          </p:nvSpPr>
          <p:spPr>
            <a:xfrm>
              <a:off x="3021071" y="2375987"/>
              <a:ext cx="1127232"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6"/>
                  </a:solidFill>
                  <a:latin typeface="Avenir"/>
                  <a:ea typeface="Avenir"/>
                  <a:cs typeface="Avenir"/>
                  <a:sym typeface="Avenir"/>
                </a:rPr>
                <a:t>20,000</a:t>
              </a:r>
              <a:endParaRPr/>
            </a:p>
          </p:txBody>
        </p:sp>
      </p:grpSp>
      <p:grpSp>
        <p:nvGrpSpPr>
          <p:cNvPr id="620" name="Google Shape;620;p32"/>
          <p:cNvGrpSpPr/>
          <p:nvPr/>
        </p:nvGrpSpPr>
        <p:grpSpPr>
          <a:xfrm>
            <a:off x="2330580" y="3236109"/>
            <a:ext cx="3032198" cy="606559"/>
            <a:chOff x="1116105" y="2231093"/>
            <a:chExt cx="3032198" cy="606559"/>
          </a:xfrm>
        </p:grpSpPr>
        <p:sp>
          <p:nvSpPr>
            <p:cNvPr id="621" name="Google Shape;621;p32"/>
            <p:cNvSpPr txBox="1"/>
            <p:nvPr/>
          </p:nvSpPr>
          <p:spPr>
            <a:xfrm>
              <a:off x="1116105" y="2375987"/>
              <a:ext cx="904415"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622" name="Google Shape;622;p32"/>
            <p:cNvSpPr txBox="1"/>
            <p:nvPr/>
          </p:nvSpPr>
          <p:spPr>
            <a:xfrm>
              <a:off x="2636461" y="2231093"/>
              <a:ext cx="389850"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623" name="Google Shape;623;p32"/>
            <p:cNvSpPr txBox="1"/>
            <p:nvPr/>
          </p:nvSpPr>
          <p:spPr>
            <a:xfrm>
              <a:off x="3449074" y="2375987"/>
              <a:ext cx="699229"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6"/>
                  </a:solidFill>
                  <a:latin typeface="Avenir"/>
                  <a:ea typeface="Avenir"/>
                  <a:cs typeface="Avenir"/>
                  <a:sym typeface="Avenir"/>
                </a:rPr>
                <a:t>700</a:t>
              </a:r>
              <a:endParaRPr/>
            </a:p>
          </p:txBody>
        </p:sp>
      </p:grpSp>
      <p:grpSp>
        <p:nvGrpSpPr>
          <p:cNvPr id="624" name="Google Shape;624;p32"/>
          <p:cNvGrpSpPr/>
          <p:nvPr/>
        </p:nvGrpSpPr>
        <p:grpSpPr>
          <a:xfrm>
            <a:off x="2330580" y="3959159"/>
            <a:ext cx="3032198" cy="584775"/>
            <a:chOff x="1116105" y="2307812"/>
            <a:chExt cx="3032198" cy="584775"/>
          </a:xfrm>
        </p:grpSpPr>
        <p:sp>
          <p:nvSpPr>
            <p:cNvPr id="625" name="Google Shape;625;p32"/>
            <p:cNvSpPr txBox="1"/>
            <p:nvPr/>
          </p:nvSpPr>
          <p:spPr>
            <a:xfrm>
              <a:off x="1116105" y="2375987"/>
              <a:ext cx="904415"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626" name="Google Shape;626;p32"/>
            <p:cNvSpPr txBox="1"/>
            <p:nvPr/>
          </p:nvSpPr>
          <p:spPr>
            <a:xfrm rot="10800000">
              <a:off x="2629619" y="2307812"/>
              <a:ext cx="389850"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627" name="Google Shape;627;p32"/>
            <p:cNvSpPr txBox="1"/>
            <p:nvPr/>
          </p:nvSpPr>
          <p:spPr>
            <a:xfrm>
              <a:off x="3449074" y="2375987"/>
              <a:ext cx="699229"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2"/>
                  </a:solidFill>
                  <a:latin typeface="Avenir"/>
                  <a:ea typeface="Avenir"/>
                  <a:cs typeface="Avenir"/>
                  <a:sym typeface="Avenir"/>
                </a:rPr>
                <a:t>300</a:t>
              </a:r>
              <a:endParaRPr/>
            </a:p>
          </p:txBody>
        </p:sp>
      </p:grpSp>
      <p:sp>
        <p:nvSpPr>
          <p:cNvPr id="628" name="Google Shape;628;p32"/>
          <p:cNvSpPr txBox="1"/>
          <p:nvPr/>
        </p:nvSpPr>
        <p:spPr>
          <a:xfrm rot="-5400000">
            <a:off x="-471469" y="2764039"/>
            <a:ext cx="2627129"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rgbClr val="7F7F7F"/>
                </a:solidFill>
                <a:latin typeface="Avenir"/>
                <a:ea typeface="Avenir"/>
                <a:cs typeface="Avenir"/>
                <a:sym typeface="Avenir"/>
              </a:rPr>
              <a:t>Valuable things</a:t>
            </a:r>
            <a:endParaRPr/>
          </a:p>
        </p:txBody>
      </p:sp>
      <p:sp>
        <p:nvSpPr>
          <p:cNvPr id="629" name="Google Shape;629;p32"/>
          <p:cNvSpPr txBox="1"/>
          <p:nvPr/>
        </p:nvSpPr>
        <p:spPr>
          <a:xfrm rot="5400000">
            <a:off x="10933430" y="5601892"/>
            <a:ext cx="941283"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rgbClr val="7F7F7F"/>
                </a:solidFill>
                <a:latin typeface="Avenir"/>
                <a:ea typeface="Avenir"/>
                <a:cs typeface="Avenir"/>
                <a:sym typeface="Avenir"/>
              </a:rPr>
              <a:t>VGA</a:t>
            </a:r>
            <a:endParaRPr/>
          </a:p>
        </p:txBody>
      </p:sp>
      <p:sp>
        <p:nvSpPr>
          <p:cNvPr id="630" name="Google Shape;630;p32"/>
          <p:cNvSpPr txBox="1"/>
          <p:nvPr/>
        </p:nvSpPr>
        <p:spPr>
          <a:xfrm rot="-5400000">
            <a:off x="366898" y="5479344"/>
            <a:ext cx="901209"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rgbClr val="7F7F7F"/>
                </a:solidFill>
                <a:latin typeface="Avenir"/>
                <a:ea typeface="Avenir"/>
                <a:cs typeface="Avenir"/>
                <a:sym typeface="Avenir"/>
              </a:rPr>
              <a:t>VSA</a:t>
            </a:r>
            <a:endParaRPr/>
          </a:p>
        </p:txBody>
      </p:sp>
      <p:sp>
        <p:nvSpPr>
          <p:cNvPr id="631" name="Google Shape;631;p32"/>
          <p:cNvSpPr txBox="1"/>
          <p:nvPr/>
        </p:nvSpPr>
        <p:spPr>
          <a:xfrm>
            <a:off x="1341185" y="894976"/>
            <a:ext cx="1880643" cy="40011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000">
                <a:solidFill>
                  <a:schemeClr val="accent6"/>
                </a:solidFill>
                <a:latin typeface="Avenir"/>
                <a:ea typeface="Avenir"/>
                <a:cs typeface="Avenir"/>
                <a:sym typeface="Avenir"/>
              </a:rPr>
              <a:t>Uses of funds</a:t>
            </a:r>
            <a:endParaRPr/>
          </a:p>
        </p:txBody>
      </p:sp>
      <p:sp>
        <p:nvSpPr>
          <p:cNvPr id="632" name="Google Shape;632;p32"/>
          <p:cNvSpPr txBox="1"/>
          <p:nvPr/>
        </p:nvSpPr>
        <p:spPr>
          <a:xfrm>
            <a:off x="8373166" y="3966358"/>
            <a:ext cx="389849"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rgbClr val="A5A5A5"/>
                </a:solidFill>
                <a:latin typeface="Avenir"/>
                <a:ea typeface="Avenir"/>
                <a:cs typeface="Avenir"/>
                <a:sym typeface="Avenir"/>
              </a:rPr>
              <a:t>↑</a:t>
            </a:r>
            <a:endParaRPr/>
          </a:p>
        </p:txBody>
      </p:sp>
      <p:sp>
        <p:nvSpPr>
          <p:cNvPr id="633" name="Google Shape;633;p32"/>
          <p:cNvSpPr txBox="1"/>
          <p:nvPr/>
        </p:nvSpPr>
        <p:spPr>
          <a:xfrm>
            <a:off x="9023271" y="4064744"/>
            <a:ext cx="699229"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rgbClr val="A5A5A5"/>
                </a:solidFill>
                <a:latin typeface="Avenir"/>
                <a:ea typeface="Avenir"/>
                <a:cs typeface="Avenir"/>
                <a:sym typeface="Avenir"/>
              </a:rPr>
              <a:t>700</a:t>
            </a:r>
            <a:endParaRPr/>
          </a:p>
        </p:txBody>
      </p:sp>
      <p:sp>
        <p:nvSpPr>
          <p:cNvPr id="634" name="Google Shape;634;p32"/>
          <p:cNvSpPr txBox="1"/>
          <p:nvPr/>
        </p:nvSpPr>
        <p:spPr>
          <a:xfrm>
            <a:off x="6365699" y="1834676"/>
            <a:ext cx="1555234"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Bank loan</a:t>
            </a:r>
            <a:endParaRPr/>
          </a:p>
        </p:txBody>
      </p:sp>
      <p:sp>
        <p:nvSpPr>
          <p:cNvPr id="635" name="Google Shape;635;p32"/>
          <p:cNvSpPr txBox="1"/>
          <p:nvPr/>
        </p:nvSpPr>
        <p:spPr>
          <a:xfrm>
            <a:off x="3613035" y="500757"/>
            <a:ext cx="4777463" cy="5232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2800">
                <a:solidFill>
                  <a:schemeClr val="accent1"/>
                </a:solidFill>
                <a:latin typeface="Avenir"/>
                <a:ea typeface="Avenir"/>
                <a:cs typeface="Avenir"/>
                <a:sym typeface="Avenir"/>
              </a:rPr>
              <a:t>My Consulting Limited</a:t>
            </a:r>
            <a:endParaRPr/>
          </a:p>
        </p:txBody>
      </p:sp>
    </p:spTree>
  </p:cSld>
  <p:clrMapOvr>
    <a:masterClrMapping/>
  </p:clrMapOvr>
  <mc:AlternateContent>
    <mc:Choice Requires="p14">
      <p:transition spd="slow" p14:dur="700">
        <p:fade/>
      </p:transition>
    </mc:Choice>
    <mc:Fallback>
      <p:transition spd="slow">
        <p:fade/>
      </p:transition>
    </mc:Fallback>
  </mc:AlternateContent>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05"/>
                                        </p:tgtEl>
                                        <p:attrNameLst>
                                          <p:attrName>style.visibility</p:attrName>
                                        </p:attrNameLst>
                                      </p:cBhvr>
                                      <p:to>
                                        <p:strVal val="visible"/>
                                      </p:to>
                                    </p:set>
                                    <p:animEffect filter="fade" transition="in">
                                      <p:cBhvr>
                                        <p:cTn dur="500"/>
                                        <p:tgtEl>
                                          <p:spTgt spid="60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07"/>
                                        </p:tgtEl>
                                        <p:attrNameLst>
                                          <p:attrName>style.visibility</p:attrName>
                                        </p:attrNameLst>
                                      </p:cBhvr>
                                      <p:to>
                                        <p:strVal val="visible"/>
                                      </p:to>
                                    </p:set>
                                    <p:animEffect filter="fade" transition="in">
                                      <p:cBhvr>
                                        <p:cTn dur="500"/>
                                        <p:tgtEl>
                                          <p:spTgt spid="60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06"/>
                                        </p:tgtEl>
                                        <p:attrNameLst>
                                          <p:attrName>style.visibility</p:attrName>
                                        </p:attrNameLst>
                                      </p:cBhvr>
                                      <p:to>
                                        <p:strVal val="visible"/>
                                      </p:to>
                                    </p:set>
                                    <p:animEffect filter="fade" transition="in">
                                      <p:cBhvr>
                                        <p:cTn dur="500"/>
                                        <p:tgtEl>
                                          <p:spTgt spid="606"/>
                                        </p:tgtEl>
                                      </p:cBhvr>
                                    </p:animEffec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632"/>
                                        </p:tgtEl>
                                        <p:attrNameLst>
                                          <p:attrName>style.visibility</p:attrName>
                                        </p:attrNameLst>
                                      </p:cBhvr>
                                      <p:to>
                                        <p:strVal val="visible"/>
                                      </p:to>
                                    </p:set>
                                    <p:animEffect filter="fade" transition="in">
                                      <p:cBhvr>
                                        <p:cTn dur="500"/>
                                        <p:tgtEl>
                                          <p:spTgt spid="632"/>
                                        </p:tgtEl>
                                      </p:cBhvr>
                                    </p:animEffect>
                                  </p:childTnLst>
                                </p:cTn>
                              </p:par>
                              <p:par>
                                <p:cTn fill="hold" nodeType="withEffect" presetClass="entr" presetID="10" presetSubtype="0">
                                  <p:stCondLst>
                                    <p:cond delay="0"/>
                                  </p:stCondLst>
                                  <p:childTnLst>
                                    <p:set>
                                      <p:cBhvr>
                                        <p:cTn dur="1" fill="hold">
                                          <p:stCondLst>
                                            <p:cond delay="0"/>
                                          </p:stCondLst>
                                        </p:cTn>
                                        <p:tgtEl>
                                          <p:spTgt spid="633"/>
                                        </p:tgtEl>
                                        <p:attrNameLst>
                                          <p:attrName>style.visibility</p:attrName>
                                        </p:attrNameLst>
                                      </p:cBhvr>
                                      <p:to>
                                        <p:strVal val="visible"/>
                                      </p:to>
                                    </p:set>
                                    <p:animEffect filter="fade" transition="in">
                                      <p:cBhvr>
                                        <p:cTn dur="500"/>
                                        <p:tgtEl>
                                          <p:spTgt spid="63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0" name="Shape 640"/>
        <p:cNvGrpSpPr/>
        <p:nvPr/>
      </p:nvGrpSpPr>
      <p:grpSpPr>
        <a:xfrm>
          <a:off x="0" y="0"/>
          <a:ext cx="0" cy="0"/>
          <a:chOff x="0" y="0"/>
          <a:chExt cx="0" cy="0"/>
        </a:xfrm>
      </p:grpSpPr>
      <p:sp>
        <p:nvSpPr>
          <p:cNvPr id="641" name="Google Shape;641;p33"/>
          <p:cNvSpPr txBox="1"/>
          <p:nvPr/>
        </p:nvSpPr>
        <p:spPr>
          <a:xfrm>
            <a:off x="6457623" y="3661110"/>
            <a:ext cx="3356537" cy="993462"/>
          </a:xfrm>
          <a:prstGeom prst="rect">
            <a:avLst/>
          </a:prstGeom>
          <a:noFill/>
          <a:ln cap="flat" cmpd="sng" w="7620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b="1" lang="en-US" sz="2800">
                <a:solidFill>
                  <a:schemeClr val="dk1"/>
                </a:solidFill>
                <a:latin typeface="Avenir"/>
                <a:ea typeface="Avenir"/>
                <a:cs typeface="Avenir"/>
                <a:sym typeface="Avenir"/>
              </a:rPr>
              <a:t> </a:t>
            </a:r>
            <a:endParaRPr/>
          </a:p>
        </p:txBody>
      </p:sp>
      <p:sp>
        <p:nvSpPr>
          <p:cNvPr id="642" name="Google Shape;642;p33"/>
          <p:cNvSpPr txBox="1"/>
          <p:nvPr/>
        </p:nvSpPr>
        <p:spPr>
          <a:xfrm>
            <a:off x="1354633" y="5003440"/>
            <a:ext cx="9550931" cy="1518383"/>
          </a:xfrm>
          <a:prstGeom prst="rect">
            <a:avLst/>
          </a:prstGeom>
          <a:noFill/>
          <a:ln cap="flat" cmpd="sng" w="7620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b="1" lang="en-US" sz="2800">
                <a:solidFill>
                  <a:schemeClr val="dk1"/>
                </a:solidFill>
                <a:latin typeface="Avenir"/>
                <a:ea typeface="Avenir"/>
                <a:cs typeface="Avenir"/>
                <a:sym typeface="Avenir"/>
              </a:rPr>
              <a:t> </a:t>
            </a:r>
            <a:endParaRPr/>
          </a:p>
        </p:txBody>
      </p:sp>
      <p:sp>
        <p:nvSpPr>
          <p:cNvPr id="643" name="Google Shape;643;p33"/>
          <p:cNvSpPr txBox="1"/>
          <p:nvPr/>
        </p:nvSpPr>
        <p:spPr>
          <a:xfrm>
            <a:off x="6227788" y="2623662"/>
            <a:ext cx="4677777" cy="2227378"/>
          </a:xfrm>
          <a:prstGeom prst="rect">
            <a:avLst/>
          </a:prstGeom>
          <a:no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lang="en-US" sz="2800">
                <a:solidFill>
                  <a:schemeClr val="dk1"/>
                </a:solidFill>
                <a:latin typeface="Avenir"/>
                <a:ea typeface="Avenir"/>
                <a:cs typeface="Avenir"/>
                <a:sym typeface="Avenir"/>
              </a:rPr>
              <a:t>Equity</a:t>
            </a:r>
            <a:r>
              <a:rPr b="1" lang="en-US" sz="2800">
                <a:solidFill>
                  <a:schemeClr val="lt1"/>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644" name="Google Shape;644;p33"/>
          <p:cNvSpPr txBox="1"/>
          <p:nvPr/>
        </p:nvSpPr>
        <p:spPr>
          <a:xfrm>
            <a:off x="6227788" y="1325627"/>
            <a:ext cx="4677777" cy="1150816"/>
          </a:xfrm>
          <a:prstGeom prst="rect">
            <a:avLst/>
          </a:prstGeom>
          <a:no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lang="en-US" sz="2800">
                <a:solidFill>
                  <a:schemeClr val="dk1"/>
                </a:solidFill>
                <a:latin typeface="Avenir"/>
                <a:ea typeface="Avenir"/>
                <a:cs typeface="Avenir"/>
                <a:sym typeface="Avenir"/>
              </a:rPr>
              <a:t>Liabilities</a:t>
            </a:r>
            <a:r>
              <a:rPr b="1" lang="en-US" sz="2800">
                <a:solidFill>
                  <a:schemeClr val="lt1"/>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grpSp>
        <p:nvGrpSpPr>
          <p:cNvPr id="645" name="Google Shape;645;p33"/>
          <p:cNvGrpSpPr/>
          <p:nvPr/>
        </p:nvGrpSpPr>
        <p:grpSpPr>
          <a:xfrm>
            <a:off x="8116806" y="1712085"/>
            <a:ext cx="1484695" cy="611304"/>
            <a:chOff x="2640082" y="2202430"/>
            <a:chExt cx="1288807" cy="611304"/>
          </a:xfrm>
        </p:grpSpPr>
        <p:sp>
          <p:nvSpPr>
            <p:cNvPr id="646" name="Google Shape;646;p33"/>
            <p:cNvSpPr txBox="1"/>
            <p:nvPr/>
          </p:nvSpPr>
          <p:spPr>
            <a:xfrm>
              <a:off x="2640082" y="2202430"/>
              <a:ext cx="338414"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647" name="Google Shape;647;p33"/>
            <p:cNvSpPr txBox="1"/>
            <p:nvPr/>
          </p:nvSpPr>
          <p:spPr>
            <a:xfrm>
              <a:off x="2950382" y="2352069"/>
              <a:ext cx="978507"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2"/>
                  </a:solidFill>
                  <a:latin typeface="Avenir"/>
                  <a:ea typeface="Avenir"/>
                  <a:cs typeface="Avenir"/>
                  <a:sym typeface="Avenir"/>
                </a:rPr>
                <a:t>30,000</a:t>
              </a:r>
              <a:endParaRPr/>
            </a:p>
          </p:txBody>
        </p:sp>
      </p:grpSp>
      <p:grpSp>
        <p:nvGrpSpPr>
          <p:cNvPr id="648" name="Google Shape;648;p33"/>
          <p:cNvGrpSpPr/>
          <p:nvPr/>
        </p:nvGrpSpPr>
        <p:grpSpPr>
          <a:xfrm>
            <a:off x="6457623" y="2719983"/>
            <a:ext cx="3356537" cy="830997"/>
            <a:chOff x="1160947" y="1923541"/>
            <a:chExt cx="2421059" cy="830997"/>
          </a:xfrm>
        </p:grpSpPr>
        <p:sp>
          <p:nvSpPr>
            <p:cNvPr id="649" name="Google Shape;649;p33"/>
            <p:cNvSpPr txBox="1"/>
            <p:nvPr/>
          </p:nvSpPr>
          <p:spPr>
            <a:xfrm>
              <a:off x="1160947" y="1923541"/>
              <a:ext cx="1343784" cy="830997"/>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Contributed </a:t>
              </a:r>
              <a:br>
                <a:rPr lang="en-US" sz="2400">
                  <a:solidFill>
                    <a:schemeClr val="dk1"/>
                  </a:solidFill>
                  <a:latin typeface="Avenir"/>
                  <a:ea typeface="Avenir"/>
                  <a:cs typeface="Avenir"/>
                  <a:sym typeface="Avenir"/>
                </a:rPr>
              </a:br>
              <a:r>
                <a:rPr lang="en-US" sz="2400">
                  <a:solidFill>
                    <a:schemeClr val="dk1"/>
                  </a:solidFill>
                  <a:latin typeface="Avenir"/>
                  <a:ea typeface="Avenir"/>
                  <a:cs typeface="Avenir"/>
                  <a:sym typeface="Avenir"/>
                </a:rPr>
                <a:t>equity</a:t>
              </a:r>
              <a:endParaRPr/>
            </a:p>
          </p:txBody>
        </p:sp>
        <p:sp>
          <p:nvSpPr>
            <p:cNvPr id="650" name="Google Shape;650;p33"/>
            <p:cNvSpPr txBox="1"/>
            <p:nvPr/>
          </p:nvSpPr>
          <p:spPr>
            <a:xfrm>
              <a:off x="2513583" y="2116704"/>
              <a:ext cx="281197"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651" name="Google Shape;651;p33"/>
            <p:cNvSpPr txBox="1"/>
            <p:nvPr/>
          </p:nvSpPr>
          <p:spPr>
            <a:xfrm>
              <a:off x="2768937" y="2239814"/>
              <a:ext cx="813069"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2"/>
                  </a:solidFill>
                  <a:latin typeface="Avenir"/>
                  <a:ea typeface="Avenir"/>
                  <a:cs typeface="Avenir"/>
                  <a:sym typeface="Avenir"/>
                </a:rPr>
                <a:t>20,000</a:t>
              </a:r>
              <a:endParaRPr/>
            </a:p>
          </p:txBody>
        </p:sp>
      </p:grpSp>
      <p:sp>
        <p:nvSpPr>
          <p:cNvPr id="652" name="Google Shape;652;p33"/>
          <p:cNvSpPr txBox="1"/>
          <p:nvPr/>
        </p:nvSpPr>
        <p:spPr>
          <a:xfrm>
            <a:off x="6511111" y="3762376"/>
            <a:ext cx="1725152" cy="830997"/>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Generated </a:t>
            </a:r>
            <a:br>
              <a:rPr lang="en-US" sz="2400">
                <a:solidFill>
                  <a:schemeClr val="dk1"/>
                </a:solidFill>
                <a:latin typeface="Avenir"/>
                <a:ea typeface="Avenir"/>
                <a:cs typeface="Avenir"/>
                <a:sym typeface="Avenir"/>
              </a:rPr>
            </a:br>
            <a:r>
              <a:rPr lang="en-US" sz="2400">
                <a:solidFill>
                  <a:schemeClr val="dk1"/>
                </a:solidFill>
                <a:latin typeface="Avenir"/>
                <a:ea typeface="Avenir"/>
                <a:cs typeface="Avenir"/>
                <a:sym typeface="Avenir"/>
              </a:rPr>
              <a:t>equity</a:t>
            </a:r>
            <a:endParaRPr/>
          </a:p>
        </p:txBody>
      </p:sp>
      <p:sp>
        <p:nvSpPr>
          <p:cNvPr id="653" name="Google Shape;653;p33"/>
          <p:cNvSpPr txBox="1"/>
          <p:nvPr/>
        </p:nvSpPr>
        <p:spPr>
          <a:xfrm>
            <a:off x="6227788" y="5164542"/>
            <a:ext cx="4516412" cy="1219006"/>
          </a:xfrm>
          <a:prstGeom prst="rect">
            <a:avLst/>
          </a:prstGeom>
          <a:no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lang="en-US" sz="2800">
                <a:solidFill>
                  <a:schemeClr val="dk1"/>
                </a:solidFill>
                <a:latin typeface="Avenir"/>
                <a:ea typeface="Avenir"/>
                <a:cs typeface="Avenir"/>
                <a:sym typeface="Avenir"/>
              </a:rPr>
              <a:t>Income</a:t>
            </a:r>
            <a:r>
              <a:rPr b="1" lang="en-US" sz="2800">
                <a:solidFill>
                  <a:schemeClr val="lt1"/>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654" name="Google Shape;654;p33"/>
          <p:cNvSpPr txBox="1"/>
          <p:nvPr/>
        </p:nvSpPr>
        <p:spPr>
          <a:xfrm>
            <a:off x="1519517" y="5164542"/>
            <a:ext cx="4514277" cy="1219006"/>
          </a:xfrm>
          <a:prstGeom prst="rect">
            <a:avLst/>
          </a:prstGeom>
          <a:no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120000"/>
              </a:lnSpc>
              <a:spcBef>
                <a:spcPts val="0"/>
              </a:spcBef>
              <a:spcAft>
                <a:spcPts val="0"/>
              </a:spcAft>
              <a:buNone/>
            </a:pPr>
            <a:r>
              <a:rPr b="1" lang="en-US" sz="2800">
                <a:solidFill>
                  <a:schemeClr val="lt1"/>
                </a:solidFill>
                <a:latin typeface="Avenir"/>
                <a:ea typeface="Avenir"/>
                <a:cs typeface="Avenir"/>
                <a:sym typeface="Avenir"/>
              </a:rPr>
              <a:t>_</a:t>
            </a:r>
            <a:r>
              <a:rPr lang="en-US" sz="2800">
                <a:solidFill>
                  <a:schemeClr val="dk1"/>
                </a:solidFill>
                <a:latin typeface="Avenir"/>
                <a:ea typeface="Avenir"/>
                <a:cs typeface="Avenir"/>
                <a:sym typeface="Avenir"/>
              </a:rPr>
              <a:t>Expenses</a:t>
            </a:r>
            <a:endParaRPr/>
          </a:p>
        </p:txBody>
      </p:sp>
      <p:cxnSp>
        <p:nvCxnSpPr>
          <p:cNvPr id="655" name="Google Shape;655;p33"/>
          <p:cNvCxnSpPr/>
          <p:nvPr/>
        </p:nvCxnSpPr>
        <p:spPr>
          <a:xfrm>
            <a:off x="8116806" y="4641124"/>
            <a:ext cx="0" cy="362316"/>
          </a:xfrm>
          <a:prstGeom prst="straightConnector1">
            <a:avLst/>
          </a:prstGeom>
          <a:noFill/>
          <a:ln cap="flat" cmpd="sng" w="76200">
            <a:solidFill>
              <a:srgbClr val="942093"/>
            </a:solidFill>
            <a:prstDash val="solid"/>
            <a:miter lim="800000"/>
            <a:headEnd len="sm" w="sm" type="none"/>
            <a:tailEnd len="sm" w="sm" type="none"/>
          </a:ln>
        </p:spPr>
      </p:cxnSp>
      <p:sp>
        <p:nvSpPr>
          <p:cNvPr id="656" name="Google Shape;656;p33"/>
          <p:cNvSpPr txBox="1"/>
          <p:nvPr/>
        </p:nvSpPr>
        <p:spPr>
          <a:xfrm>
            <a:off x="2339787" y="5768626"/>
            <a:ext cx="1524776"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Travelling</a:t>
            </a:r>
            <a:endParaRPr/>
          </a:p>
        </p:txBody>
      </p:sp>
      <p:sp>
        <p:nvSpPr>
          <p:cNvPr id="657" name="Google Shape;657;p33"/>
          <p:cNvSpPr txBox="1"/>
          <p:nvPr/>
        </p:nvSpPr>
        <p:spPr>
          <a:xfrm>
            <a:off x="4214175" y="5642959"/>
            <a:ext cx="389850"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658" name="Google Shape;658;p33"/>
          <p:cNvSpPr txBox="1"/>
          <p:nvPr/>
        </p:nvSpPr>
        <p:spPr>
          <a:xfrm>
            <a:off x="4437529" y="5768626"/>
            <a:ext cx="934455"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6"/>
                </a:solidFill>
                <a:latin typeface="Avenir"/>
                <a:ea typeface="Avenir"/>
                <a:cs typeface="Avenir"/>
                <a:sym typeface="Avenir"/>
              </a:rPr>
              <a:t>300</a:t>
            </a:r>
            <a:endParaRPr/>
          </a:p>
        </p:txBody>
      </p:sp>
      <p:grpSp>
        <p:nvGrpSpPr>
          <p:cNvPr id="659" name="Google Shape;659;p33"/>
          <p:cNvGrpSpPr/>
          <p:nvPr/>
        </p:nvGrpSpPr>
        <p:grpSpPr>
          <a:xfrm>
            <a:off x="6717327" y="5646711"/>
            <a:ext cx="3032197" cy="584775"/>
            <a:chOff x="1116105" y="2254072"/>
            <a:chExt cx="3032198" cy="584775"/>
          </a:xfrm>
        </p:grpSpPr>
        <p:sp>
          <p:nvSpPr>
            <p:cNvPr id="660" name="Google Shape;660;p33"/>
            <p:cNvSpPr txBox="1"/>
            <p:nvPr/>
          </p:nvSpPr>
          <p:spPr>
            <a:xfrm>
              <a:off x="1116105" y="2375987"/>
              <a:ext cx="1667445"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Consulting</a:t>
              </a:r>
              <a:endParaRPr/>
            </a:p>
          </p:txBody>
        </p:sp>
        <p:sp>
          <p:nvSpPr>
            <p:cNvPr id="661" name="Google Shape;661;p33"/>
            <p:cNvSpPr txBox="1"/>
            <p:nvPr/>
          </p:nvSpPr>
          <p:spPr>
            <a:xfrm>
              <a:off x="3046012" y="2254072"/>
              <a:ext cx="389850"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662" name="Google Shape;662;p33"/>
            <p:cNvSpPr txBox="1"/>
            <p:nvPr/>
          </p:nvSpPr>
          <p:spPr>
            <a:xfrm>
              <a:off x="3213848" y="2375987"/>
              <a:ext cx="934455"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2"/>
                  </a:solidFill>
                  <a:latin typeface="Avenir"/>
                  <a:ea typeface="Avenir"/>
                  <a:cs typeface="Avenir"/>
                  <a:sym typeface="Avenir"/>
                </a:rPr>
                <a:t>700</a:t>
              </a:r>
              <a:endParaRPr/>
            </a:p>
          </p:txBody>
        </p:sp>
      </p:grpSp>
      <p:sp>
        <p:nvSpPr>
          <p:cNvPr id="663" name="Google Shape;663;p33"/>
          <p:cNvSpPr txBox="1"/>
          <p:nvPr/>
        </p:nvSpPr>
        <p:spPr>
          <a:xfrm rot="5400000">
            <a:off x="10400548" y="2788126"/>
            <a:ext cx="2053767"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rgbClr val="7F7F7F"/>
                </a:solidFill>
                <a:latin typeface="Avenir"/>
                <a:ea typeface="Avenir"/>
                <a:cs typeface="Avenir"/>
                <a:sym typeface="Avenir"/>
              </a:rPr>
              <a:t>Obligations</a:t>
            </a:r>
            <a:endParaRPr/>
          </a:p>
        </p:txBody>
      </p:sp>
      <p:sp>
        <p:nvSpPr>
          <p:cNvPr id="664" name="Google Shape;664;p33"/>
          <p:cNvSpPr txBox="1"/>
          <p:nvPr/>
        </p:nvSpPr>
        <p:spPr>
          <a:xfrm>
            <a:off x="8641975" y="897526"/>
            <a:ext cx="2279791" cy="40011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000">
                <a:solidFill>
                  <a:schemeClr val="accent2"/>
                </a:solidFill>
                <a:latin typeface="Avenir"/>
                <a:ea typeface="Avenir"/>
                <a:cs typeface="Avenir"/>
                <a:sym typeface="Avenir"/>
              </a:rPr>
              <a:t>Sources of funds</a:t>
            </a:r>
            <a:endParaRPr/>
          </a:p>
        </p:txBody>
      </p:sp>
      <p:cxnSp>
        <p:nvCxnSpPr>
          <p:cNvPr id="665" name="Google Shape;665;p33"/>
          <p:cNvCxnSpPr/>
          <p:nvPr/>
        </p:nvCxnSpPr>
        <p:spPr>
          <a:xfrm flipH="1" rot="10800000">
            <a:off x="3613035" y="1065456"/>
            <a:ext cx="4777463" cy="18029"/>
          </a:xfrm>
          <a:prstGeom prst="straightConnector1">
            <a:avLst/>
          </a:prstGeom>
          <a:noFill/>
          <a:ln cap="flat" cmpd="sng" w="28575">
            <a:solidFill>
              <a:schemeClr val="accent1"/>
            </a:solidFill>
            <a:prstDash val="dot"/>
            <a:miter lim="800000"/>
            <a:headEnd len="sm" w="sm" type="none"/>
            <a:tailEnd len="sm" w="sm" type="none"/>
          </a:ln>
        </p:spPr>
      </p:cxnSp>
      <p:sp>
        <p:nvSpPr>
          <p:cNvPr id="666" name="Google Shape;666;p33"/>
          <p:cNvSpPr txBox="1"/>
          <p:nvPr/>
        </p:nvSpPr>
        <p:spPr>
          <a:xfrm>
            <a:off x="1358153" y="1325627"/>
            <a:ext cx="4679162" cy="3525413"/>
          </a:xfrm>
          <a:prstGeom prst="rect">
            <a:avLst/>
          </a:prstGeom>
          <a:no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120000"/>
              </a:lnSpc>
              <a:spcBef>
                <a:spcPts val="0"/>
              </a:spcBef>
              <a:spcAft>
                <a:spcPts val="0"/>
              </a:spcAft>
              <a:buNone/>
            </a:pPr>
            <a:r>
              <a:rPr b="1" lang="en-US" sz="2800">
                <a:solidFill>
                  <a:schemeClr val="lt1"/>
                </a:solidFill>
                <a:latin typeface="Avenir"/>
                <a:ea typeface="Avenir"/>
                <a:cs typeface="Avenir"/>
                <a:sym typeface="Avenir"/>
              </a:rPr>
              <a:t>_</a:t>
            </a:r>
            <a:r>
              <a:rPr lang="en-US" sz="2800">
                <a:solidFill>
                  <a:schemeClr val="dk1"/>
                </a:solidFill>
                <a:latin typeface="Avenir"/>
                <a:ea typeface="Avenir"/>
                <a:cs typeface="Avenir"/>
                <a:sym typeface="Avenir"/>
              </a:rPr>
              <a:t>Assets</a:t>
            </a:r>
            <a:endParaRPr/>
          </a:p>
        </p:txBody>
      </p:sp>
      <p:grpSp>
        <p:nvGrpSpPr>
          <p:cNvPr id="667" name="Google Shape;667;p33"/>
          <p:cNvGrpSpPr/>
          <p:nvPr/>
        </p:nvGrpSpPr>
        <p:grpSpPr>
          <a:xfrm>
            <a:off x="2330580" y="1965230"/>
            <a:ext cx="3032198" cy="584776"/>
            <a:chOff x="1116105" y="2252876"/>
            <a:chExt cx="3032198" cy="584776"/>
          </a:xfrm>
        </p:grpSpPr>
        <p:sp>
          <p:nvSpPr>
            <p:cNvPr id="668" name="Google Shape;668;p33"/>
            <p:cNvSpPr txBox="1"/>
            <p:nvPr/>
          </p:nvSpPr>
          <p:spPr>
            <a:xfrm>
              <a:off x="1116105" y="2375987"/>
              <a:ext cx="904415"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669" name="Google Shape;669;p33"/>
            <p:cNvSpPr txBox="1"/>
            <p:nvPr/>
          </p:nvSpPr>
          <p:spPr>
            <a:xfrm>
              <a:off x="2646615" y="2252876"/>
              <a:ext cx="389850"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670" name="Google Shape;670;p33"/>
            <p:cNvSpPr txBox="1"/>
            <p:nvPr/>
          </p:nvSpPr>
          <p:spPr>
            <a:xfrm>
              <a:off x="3021071" y="2375987"/>
              <a:ext cx="1127232"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6"/>
                  </a:solidFill>
                  <a:latin typeface="Avenir"/>
                  <a:ea typeface="Avenir"/>
                  <a:cs typeface="Avenir"/>
                  <a:sym typeface="Avenir"/>
                </a:rPr>
                <a:t>30,000</a:t>
              </a:r>
              <a:endParaRPr/>
            </a:p>
          </p:txBody>
        </p:sp>
      </p:grpSp>
      <p:grpSp>
        <p:nvGrpSpPr>
          <p:cNvPr id="671" name="Google Shape;671;p33"/>
          <p:cNvGrpSpPr/>
          <p:nvPr/>
        </p:nvGrpSpPr>
        <p:grpSpPr>
          <a:xfrm>
            <a:off x="2330580" y="2586599"/>
            <a:ext cx="3032198" cy="609738"/>
            <a:chOff x="1116105" y="2227914"/>
            <a:chExt cx="3032198" cy="609738"/>
          </a:xfrm>
        </p:grpSpPr>
        <p:sp>
          <p:nvSpPr>
            <p:cNvPr id="672" name="Google Shape;672;p33"/>
            <p:cNvSpPr txBox="1"/>
            <p:nvPr/>
          </p:nvSpPr>
          <p:spPr>
            <a:xfrm>
              <a:off x="1116105" y="2375987"/>
              <a:ext cx="904415"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673" name="Google Shape;673;p33"/>
            <p:cNvSpPr txBox="1"/>
            <p:nvPr/>
          </p:nvSpPr>
          <p:spPr>
            <a:xfrm>
              <a:off x="2646615" y="2227914"/>
              <a:ext cx="389850"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674" name="Google Shape;674;p33"/>
            <p:cNvSpPr txBox="1"/>
            <p:nvPr/>
          </p:nvSpPr>
          <p:spPr>
            <a:xfrm>
              <a:off x="3021071" y="2375987"/>
              <a:ext cx="1127232"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6"/>
                  </a:solidFill>
                  <a:latin typeface="Avenir"/>
                  <a:ea typeface="Avenir"/>
                  <a:cs typeface="Avenir"/>
                  <a:sym typeface="Avenir"/>
                </a:rPr>
                <a:t>20,000</a:t>
              </a:r>
              <a:endParaRPr/>
            </a:p>
          </p:txBody>
        </p:sp>
      </p:grpSp>
      <p:grpSp>
        <p:nvGrpSpPr>
          <p:cNvPr id="675" name="Google Shape;675;p33"/>
          <p:cNvGrpSpPr/>
          <p:nvPr/>
        </p:nvGrpSpPr>
        <p:grpSpPr>
          <a:xfrm>
            <a:off x="2330580" y="3236109"/>
            <a:ext cx="3032198" cy="606559"/>
            <a:chOff x="1116105" y="2231093"/>
            <a:chExt cx="3032198" cy="606559"/>
          </a:xfrm>
        </p:grpSpPr>
        <p:sp>
          <p:nvSpPr>
            <p:cNvPr id="676" name="Google Shape;676;p33"/>
            <p:cNvSpPr txBox="1"/>
            <p:nvPr/>
          </p:nvSpPr>
          <p:spPr>
            <a:xfrm>
              <a:off x="1116105" y="2375987"/>
              <a:ext cx="904415"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677" name="Google Shape;677;p33"/>
            <p:cNvSpPr txBox="1"/>
            <p:nvPr/>
          </p:nvSpPr>
          <p:spPr>
            <a:xfrm>
              <a:off x="2636461" y="2231093"/>
              <a:ext cx="389850"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678" name="Google Shape;678;p33"/>
            <p:cNvSpPr txBox="1"/>
            <p:nvPr/>
          </p:nvSpPr>
          <p:spPr>
            <a:xfrm>
              <a:off x="3449074" y="2375987"/>
              <a:ext cx="699229"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6"/>
                  </a:solidFill>
                  <a:latin typeface="Avenir"/>
                  <a:ea typeface="Avenir"/>
                  <a:cs typeface="Avenir"/>
                  <a:sym typeface="Avenir"/>
                </a:rPr>
                <a:t>700</a:t>
              </a:r>
              <a:endParaRPr/>
            </a:p>
          </p:txBody>
        </p:sp>
      </p:grpSp>
      <p:grpSp>
        <p:nvGrpSpPr>
          <p:cNvPr id="679" name="Google Shape;679;p33"/>
          <p:cNvGrpSpPr/>
          <p:nvPr/>
        </p:nvGrpSpPr>
        <p:grpSpPr>
          <a:xfrm>
            <a:off x="2330580" y="3959159"/>
            <a:ext cx="3032198" cy="584775"/>
            <a:chOff x="1116105" y="2307812"/>
            <a:chExt cx="3032198" cy="584775"/>
          </a:xfrm>
        </p:grpSpPr>
        <p:sp>
          <p:nvSpPr>
            <p:cNvPr id="680" name="Google Shape;680;p33"/>
            <p:cNvSpPr txBox="1"/>
            <p:nvPr/>
          </p:nvSpPr>
          <p:spPr>
            <a:xfrm>
              <a:off x="1116105" y="2375987"/>
              <a:ext cx="904415"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681" name="Google Shape;681;p33"/>
            <p:cNvSpPr txBox="1"/>
            <p:nvPr/>
          </p:nvSpPr>
          <p:spPr>
            <a:xfrm rot="10800000">
              <a:off x="2629619" y="2307812"/>
              <a:ext cx="389850"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682" name="Google Shape;682;p33"/>
            <p:cNvSpPr txBox="1"/>
            <p:nvPr/>
          </p:nvSpPr>
          <p:spPr>
            <a:xfrm>
              <a:off x="3449074" y="2375987"/>
              <a:ext cx="699229"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2"/>
                  </a:solidFill>
                  <a:latin typeface="Avenir"/>
                  <a:ea typeface="Avenir"/>
                  <a:cs typeface="Avenir"/>
                  <a:sym typeface="Avenir"/>
                </a:rPr>
                <a:t>300</a:t>
              </a:r>
              <a:endParaRPr/>
            </a:p>
          </p:txBody>
        </p:sp>
      </p:grpSp>
      <p:sp>
        <p:nvSpPr>
          <p:cNvPr id="683" name="Google Shape;683;p33"/>
          <p:cNvSpPr txBox="1"/>
          <p:nvPr/>
        </p:nvSpPr>
        <p:spPr>
          <a:xfrm rot="-5400000">
            <a:off x="-471469" y="2764039"/>
            <a:ext cx="2627129"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rgbClr val="7F7F7F"/>
                </a:solidFill>
                <a:latin typeface="Avenir"/>
                <a:ea typeface="Avenir"/>
                <a:cs typeface="Avenir"/>
                <a:sym typeface="Avenir"/>
              </a:rPr>
              <a:t>Valuable things</a:t>
            </a:r>
            <a:endParaRPr/>
          </a:p>
        </p:txBody>
      </p:sp>
      <p:sp>
        <p:nvSpPr>
          <p:cNvPr id="684" name="Google Shape;684;p33"/>
          <p:cNvSpPr txBox="1"/>
          <p:nvPr/>
        </p:nvSpPr>
        <p:spPr>
          <a:xfrm rot="5400000">
            <a:off x="10933430" y="5601892"/>
            <a:ext cx="941283"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rgbClr val="7F7F7F"/>
                </a:solidFill>
                <a:latin typeface="Avenir"/>
                <a:ea typeface="Avenir"/>
                <a:cs typeface="Avenir"/>
                <a:sym typeface="Avenir"/>
              </a:rPr>
              <a:t>VGA</a:t>
            </a:r>
            <a:endParaRPr/>
          </a:p>
        </p:txBody>
      </p:sp>
      <p:sp>
        <p:nvSpPr>
          <p:cNvPr id="685" name="Google Shape;685;p33"/>
          <p:cNvSpPr txBox="1"/>
          <p:nvPr/>
        </p:nvSpPr>
        <p:spPr>
          <a:xfrm rot="-5400000">
            <a:off x="366898" y="5479344"/>
            <a:ext cx="901209"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rgbClr val="7F7F7F"/>
                </a:solidFill>
                <a:latin typeface="Avenir"/>
                <a:ea typeface="Avenir"/>
                <a:cs typeface="Avenir"/>
                <a:sym typeface="Avenir"/>
              </a:rPr>
              <a:t>VSA</a:t>
            </a:r>
            <a:endParaRPr/>
          </a:p>
        </p:txBody>
      </p:sp>
      <p:sp>
        <p:nvSpPr>
          <p:cNvPr id="686" name="Google Shape;686;p33"/>
          <p:cNvSpPr txBox="1"/>
          <p:nvPr/>
        </p:nvSpPr>
        <p:spPr>
          <a:xfrm>
            <a:off x="1341185" y="894976"/>
            <a:ext cx="1880643" cy="40011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000">
                <a:solidFill>
                  <a:schemeClr val="accent6"/>
                </a:solidFill>
                <a:latin typeface="Avenir"/>
                <a:ea typeface="Avenir"/>
                <a:cs typeface="Avenir"/>
                <a:sym typeface="Avenir"/>
              </a:rPr>
              <a:t>Uses of funds</a:t>
            </a:r>
            <a:endParaRPr/>
          </a:p>
        </p:txBody>
      </p:sp>
      <p:sp>
        <p:nvSpPr>
          <p:cNvPr id="687" name="Google Shape;687;p33"/>
          <p:cNvSpPr txBox="1"/>
          <p:nvPr/>
        </p:nvSpPr>
        <p:spPr>
          <a:xfrm>
            <a:off x="8373166" y="3966358"/>
            <a:ext cx="389849"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rgbClr val="A5A5A5"/>
                </a:solidFill>
                <a:latin typeface="Avenir"/>
                <a:ea typeface="Avenir"/>
                <a:cs typeface="Avenir"/>
                <a:sym typeface="Avenir"/>
              </a:rPr>
              <a:t>↑</a:t>
            </a:r>
            <a:endParaRPr/>
          </a:p>
        </p:txBody>
      </p:sp>
      <p:sp>
        <p:nvSpPr>
          <p:cNvPr id="688" name="Google Shape;688;p33"/>
          <p:cNvSpPr txBox="1"/>
          <p:nvPr/>
        </p:nvSpPr>
        <p:spPr>
          <a:xfrm>
            <a:off x="9023271" y="4064744"/>
            <a:ext cx="699229"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rgbClr val="A5A5A5"/>
                </a:solidFill>
                <a:latin typeface="Avenir"/>
                <a:ea typeface="Avenir"/>
                <a:cs typeface="Avenir"/>
                <a:sym typeface="Avenir"/>
              </a:rPr>
              <a:t>700</a:t>
            </a:r>
            <a:endParaRPr/>
          </a:p>
        </p:txBody>
      </p:sp>
      <p:sp>
        <p:nvSpPr>
          <p:cNvPr id="689" name="Google Shape;689;p33"/>
          <p:cNvSpPr txBox="1"/>
          <p:nvPr/>
        </p:nvSpPr>
        <p:spPr>
          <a:xfrm>
            <a:off x="9014427" y="4053828"/>
            <a:ext cx="699229"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rgbClr val="A5A5A5"/>
                </a:solidFill>
                <a:latin typeface="Avenir"/>
                <a:ea typeface="Avenir"/>
                <a:cs typeface="Avenir"/>
                <a:sym typeface="Avenir"/>
              </a:rPr>
              <a:t>400</a:t>
            </a:r>
            <a:endParaRPr/>
          </a:p>
        </p:txBody>
      </p:sp>
      <p:sp>
        <p:nvSpPr>
          <p:cNvPr id="690" name="Google Shape;690;p33"/>
          <p:cNvSpPr txBox="1"/>
          <p:nvPr/>
        </p:nvSpPr>
        <p:spPr>
          <a:xfrm>
            <a:off x="6365699" y="1834676"/>
            <a:ext cx="1555234"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Bank loan</a:t>
            </a:r>
            <a:endParaRPr/>
          </a:p>
        </p:txBody>
      </p:sp>
      <p:sp>
        <p:nvSpPr>
          <p:cNvPr id="691" name="Google Shape;691;p33"/>
          <p:cNvSpPr txBox="1"/>
          <p:nvPr/>
        </p:nvSpPr>
        <p:spPr>
          <a:xfrm>
            <a:off x="3613035" y="500757"/>
            <a:ext cx="4777463" cy="5232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2800">
                <a:solidFill>
                  <a:schemeClr val="accent1"/>
                </a:solidFill>
                <a:latin typeface="Avenir"/>
                <a:ea typeface="Avenir"/>
                <a:cs typeface="Avenir"/>
                <a:sym typeface="Avenir"/>
              </a:rPr>
              <a:t>My Consulting Limited</a:t>
            </a:r>
            <a:endParaRPr/>
          </a:p>
        </p:txBody>
      </p:sp>
    </p:spTree>
  </p:cSld>
  <p:clrMapOvr>
    <a:masterClrMapping/>
  </p:clrMapOvr>
  <mc:AlternateContent>
    <mc:Choice Requires="p14">
      <p:transition spd="slow" p14:dur="700">
        <p:fade/>
      </p:transition>
    </mc:Choice>
    <mc:Fallback>
      <p:transition spd="slow">
        <p:fade/>
      </p:transition>
    </mc:Fallback>
  </mc:AlternateContent>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56"/>
                                        </p:tgtEl>
                                        <p:attrNameLst>
                                          <p:attrName>style.visibility</p:attrName>
                                        </p:attrNameLst>
                                      </p:cBhvr>
                                      <p:to>
                                        <p:strVal val="visible"/>
                                      </p:to>
                                    </p:set>
                                    <p:animEffect filter="fade" transition="in">
                                      <p:cBhvr>
                                        <p:cTn dur="500"/>
                                        <p:tgtEl>
                                          <p:spTgt spid="65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58"/>
                                        </p:tgtEl>
                                        <p:attrNameLst>
                                          <p:attrName>style.visibility</p:attrName>
                                        </p:attrNameLst>
                                      </p:cBhvr>
                                      <p:to>
                                        <p:strVal val="visible"/>
                                      </p:to>
                                    </p:set>
                                    <p:animEffect filter="fade" transition="in">
                                      <p:cBhvr>
                                        <p:cTn dur="500"/>
                                        <p:tgtEl>
                                          <p:spTgt spid="65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57"/>
                                        </p:tgtEl>
                                        <p:attrNameLst>
                                          <p:attrName>style.visibility</p:attrName>
                                        </p:attrNameLst>
                                      </p:cBhvr>
                                      <p:to>
                                        <p:strVal val="visible"/>
                                      </p:to>
                                    </p:set>
                                    <p:animEffect filter="fade" transition="in">
                                      <p:cBhvr>
                                        <p:cTn dur="500"/>
                                        <p:tgtEl>
                                          <p:spTgt spid="657"/>
                                        </p:tgtEl>
                                      </p:cBhvr>
                                    </p:animEffect>
                                  </p:childTnLst>
                                </p:cTn>
                              </p:par>
                            </p:childTnLst>
                          </p:cTn>
                        </p:par>
                        <p:par>
                          <p:cTn fill="hold">
                            <p:stCondLst>
                              <p:cond delay="500"/>
                            </p:stCondLst>
                            <p:childTnLst>
                              <p:par>
                                <p:cTn fill="hold" nodeType="afterEffect" presetClass="exit" presetID="10" presetSubtype="0">
                                  <p:stCondLst>
                                    <p:cond delay="0"/>
                                  </p:stCondLst>
                                  <p:childTnLst>
                                    <p:animEffect filter="fade" transition="out">
                                      <p:cBhvr>
                                        <p:cTn dur="500"/>
                                        <p:tgtEl>
                                          <p:spTgt spid="688"/>
                                        </p:tgtEl>
                                      </p:cBhvr>
                                    </p:animEffect>
                                    <p:set>
                                      <p:cBhvr>
                                        <p:cTn dur="1" fill="hold">
                                          <p:stCondLst>
                                            <p:cond delay="500"/>
                                          </p:stCondLst>
                                        </p:cTn>
                                        <p:tgtEl>
                                          <p:spTgt spid="688"/>
                                        </p:tgtEl>
                                        <p:attrNameLst>
                                          <p:attrName>style.visibility</p:attrName>
                                        </p:attrNameLst>
                                      </p:cBhvr>
                                      <p:to>
                                        <p:strVal val="hidden"/>
                                      </p:to>
                                    </p:set>
                                  </p:childTnLst>
                                </p:cTn>
                              </p:par>
                            </p:childTnLst>
                          </p:cTn>
                        </p:par>
                        <p:par>
                          <p:cTn fill="hold">
                            <p:stCondLst>
                              <p:cond delay="1000"/>
                            </p:stCondLst>
                            <p:childTnLst>
                              <p:par>
                                <p:cTn fill="hold" nodeType="afterEffect" presetClass="entr" presetID="10" presetSubtype="0">
                                  <p:stCondLst>
                                    <p:cond delay="0"/>
                                  </p:stCondLst>
                                  <p:childTnLst>
                                    <p:set>
                                      <p:cBhvr>
                                        <p:cTn dur="1" fill="hold">
                                          <p:stCondLst>
                                            <p:cond delay="0"/>
                                          </p:stCondLst>
                                        </p:cTn>
                                        <p:tgtEl>
                                          <p:spTgt spid="689"/>
                                        </p:tgtEl>
                                        <p:attrNameLst>
                                          <p:attrName>style.visibility</p:attrName>
                                        </p:attrNameLst>
                                      </p:cBhvr>
                                      <p:to>
                                        <p:strVal val="visible"/>
                                      </p:to>
                                    </p:set>
                                    <p:animEffect filter="fade" transition="in">
                                      <p:cBhvr>
                                        <p:cTn dur="500"/>
                                        <p:tgtEl>
                                          <p:spTgt spid="689"/>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6" name="Shape 696"/>
        <p:cNvGrpSpPr/>
        <p:nvPr/>
      </p:nvGrpSpPr>
      <p:grpSpPr>
        <a:xfrm>
          <a:off x="0" y="0"/>
          <a:ext cx="0" cy="0"/>
          <a:chOff x="0" y="0"/>
          <a:chExt cx="0" cy="0"/>
        </a:xfrm>
      </p:grpSpPr>
      <p:sp>
        <p:nvSpPr>
          <p:cNvPr id="697" name="Google Shape;697;p34"/>
          <p:cNvSpPr txBox="1"/>
          <p:nvPr/>
        </p:nvSpPr>
        <p:spPr>
          <a:xfrm>
            <a:off x="6457623" y="3661110"/>
            <a:ext cx="3356537" cy="993462"/>
          </a:xfrm>
          <a:prstGeom prst="rect">
            <a:avLst/>
          </a:prstGeom>
          <a:noFill/>
          <a:ln cap="flat" cmpd="sng" w="7620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b="1" lang="en-US" sz="2800">
                <a:solidFill>
                  <a:schemeClr val="dk1"/>
                </a:solidFill>
                <a:latin typeface="Avenir"/>
                <a:ea typeface="Avenir"/>
                <a:cs typeface="Avenir"/>
                <a:sym typeface="Avenir"/>
              </a:rPr>
              <a:t> </a:t>
            </a:r>
            <a:endParaRPr/>
          </a:p>
        </p:txBody>
      </p:sp>
      <p:sp>
        <p:nvSpPr>
          <p:cNvPr id="698" name="Google Shape;698;p34"/>
          <p:cNvSpPr txBox="1"/>
          <p:nvPr/>
        </p:nvSpPr>
        <p:spPr>
          <a:xfrm>
            <a:off x="6227788" y="2623662"/>
            <a:ext cx="4677777" cy="2227378"/>
          </a:xfrm>
          <a:prstGeom prst="rect">
            <a:avLst/>
          </a:prstGeom>
          <a:no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lang="en-US" sz="2800">
                <a:solidFill>
                  <a:schemeClr val="dk1"/>
                </a:solidFill>
                <a:latin typeface="Avenir"/>
                <a:ea typeface="Avenir"/>
                <a:cs typeface="Avenir"/>
                <a:sym typeface="Avenir"/>
              </a:rPr>
              <a:t>Equity</a:t>
            </a:r>
            <a:r>
              <a:rPr b="1" lang="en-US" sz="2800">
                <a:solidFill>
                  <a:schemeClr val="lt1"/>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699" name="Google Shape;699;p34"/>
          <p:cNvSpPr txBox="1"/>
          <p:nvPr/>
        </p:nvSpPr>
        <p:spPr>
          <a:xfrm>
            <a:off x="6227788" y="1325627"/>
            <a:ext cx="4677777" cy="1150816"/>
          </a:xfrm>
          <a:prstGeom prst="rect">
            <a:avLst/>
          </a:prstGeom>
          <a:no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lang="en-US" sz="2800">
                <a:solidFill>
                  <a:schemeClr val="dk1"/>
                </a:solidFill>
                <a:latin typeface="Avenir"/>
                <a:ea typeface="Avenir"/>
                <a:cs typeface="Avenir"/>
                <a:sym typeface="Avenir"/>
              </a:rPr>
              <a:t>Liabilities</a:t>
            </a:r>
            <a:r>
              <a:rPr b="1" lang="en-US" sz="2800">
                <a:solidFill>
                  <a:schemeClr val="lt1"/>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grpSp>
        <p:nvGrpSpPr>
          <p:cNvPr id="700" name="Google Shape;700;p34"/>
          <p:cNvGrpSpPr/>
          <p:nvPr/>
        </p:nvGrpSpPr>
        <p:grpSpPr>
          <a:xfrm>
            <a:off x="8116806" y="1712085"/>
            <a:ext cx="1484695" cy="611304"/>
            <a:chOff x="2640082" y="2202430"/>
            <a:chExt cx="1288807" cy="611304"/>
          </a:xfrm>
        </p:grpSpPr>
        <p:sp>
          <p:nvSpPr>
            <p:cNvPr id="701" name="Google Shape;701;p34"/>
            <p:cNvSpPr txBox="1"/>
            <p:nvPr/>
          </p:nvSpPr>
          <p:spPr>
            <a:xfrm>
              <a:off x="2640082" y="2202430"/>
              <a:ext cx="338414"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702" name="Google Shape;702;p34"/>
            <p:cNvSpPr txBox="1"/>
            <p:nvPr/>
          </p:nvSpPr>
          <p:spPr>
            <a:xfrm>
              <a:off x="2950382" y="2352069"/>
              <a:ext cx="978507"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2"/>
                  </a:solidFill>
                  <a:latin typeface="Avenir"/>
                  <a:ea typeface="Avenir"/>
                  <a:cs typeface="Avenir"/>
                  <a:sym typeface="Avenir"/>
                </a:rPr>
                <a:t>30,000</a:t>
              </a:r>
              <a:endParaRPr/>
            </a:p>
          </p:txBody>
        </p:sp>
      </p:grpSp>
      <p:grpSp>
        <p:nvGrpSpPr>
          <p:cNvPr id="703" name="Google Shape;703;p34"/>
          <p:cNvGrpSpPr/>
          <p:nvPr/>
        </p:nvGrpSpPr>
        <p:grpSpPr>
          <a:xfrm>
            <a:off x="6457623" y="2719983"/>
            <a:ext cx="3356537" cy="830997"/>
            <a:chOff x="1160947" y="1923541"/>
            <a:chExt cx="2421059" cy="830997"/>
          </a:xfrm>
        </p:grpSpPr>
        <p:sp>
          <p:nvSpPr>
            <p:cNvPr id="704" name="Google Shape;704;p34"/>
            <p:cNvSpPr txBox="1"/>
            <p:nvPr/>
          </p:nvSpPr>
          <p:spPr>
            <a:xfrm>
              <a:off x="1160947" y="1923541"/>
              <a:ext cx="1343784" cy="830997"/>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Contributed </a:t>
              </a:r>
              <a:br>
                <a:rPr lang="en-US" sz="2400">
                  <a:solidFill>
                    <a:schemeClr val="dk1"/>
                  </a:solidFill>
                  <a:latin typeface="Avenir"/>
                  <a:ea typeface="Avenir"/>
                  <a:cs typeface="Avenir"/>
                  <a:sym typeface="Avenir"/>
                </a:rPr>
              </a:br>
              <a:r>
                <a:rPr lang="en-US" sz="2400">
                  <a:solidFill>
                    <a:schemeClr val="dk1"/>
                  </a:solidFill>
                  <a:latin typeface="Avenir"/>
                  <a:ea typeface="Avenir"/>
                  <a:cs typeface="Avenir"/>
                  <a:sym typeface="Avenir"/>
                </a:rPr>
                <a:t>equity</a:t>
              </a:r>
              <a:endParaRPr/>
            </a:p>
          </p:txBody>
        </p:sp>
        <p:sp>
          <p:nvSpPr>
            <p:cNvPr id="705" name="Google Shape;705;p34"/>
            <p:cNvSpPr txBox="1"/>
            <p:nvPr/>
          </p:nvSpPr>
          <p:spPr>
            <a:xfrm>
              <a:off x="2513583" y="2116704"/>
              <a:ext cx="281197"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706" name="Google Shape;706;p34"/>
            <p:cNvSpPr txBox="1"/>
            <p:nvPr/>
          </p:nvSpPr>
          <p:spPr>
            <a:xfrm>
              <a:off x="2768937" y="2239814"/>
              <a:ext cx="813069"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2"/>
                  </a:solidFill>
                  <a:latin typeface="Avenir"/>
                  <a:ea typeface="Avenir"/>
                  <a:cs typeface="Avenir"/>
                  <a:sym typeface="Avenir"/>
                </a:rPr>
                <a:t>20,000</a:t>
              </a:r>
              <a:endParaRPr/>
            </a:p>
          </p:txBody>
        </p:sp>
      </p:grpSp>
      <p:sp>
        <p:nvSpPr>
          <p:cNvPr id="707" name="Google Shape;707;p34"/>
          <p:cNvSpPr txBox="1"/>
          <p:nvPr/>
        </p:nvSpPr>
        <p:spPr>
          <a:xfrm>
            <a:off x="6511111" y="3762376"/>
            <a:ext cx="1725152" cy="830997"/>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Generated </a:t>
            </a:r>
            <a:br>
              <a:rPr lang="en-US" sz="2400">
                <a:solidFill>
                  <a:schemeClr val="dk1"/>
                </a:solidFill>
                <a:latin typeface="Avenir"/>
                <a:ea typeface="Avenir"/>
                <a:cs typeface="Avenir"/>
                <a:sym typeface="Avenir"/>
              </a:rPr>
            </a:br>
            <a:r>
              <a:rPr lang="en-US" sz="2400">
                <a:solidFill>
                  <a:schemeClr val="dk1"/>
                </a:solidFill>
                <a:latin typeface="Avenir"/>
                <a:ea typeface="Avenir"/>
                <a:cs typeface="Avenir"/>
                <a:sym typeface="Avenir"/>
              </a:rPr>
              <a:t>equity</a:t>
            </a:r>
            <a:endParaRPr/>
          </a:p>
        </p:txBody>
      </p:sp>
      <p:sp>
        <p:nvSpPr>
          <p:cNvPr id="708" name="Google Shape;708;p34"/>
          <p:cNvSpPr txBox="1"/>
          <p:nvPr/>
        </p:nvSpPr>
        <p:spPr>
          <a:xfrm>
            <a:off x="8373166" y="3966358"/>
            <a:ext cx="389849"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709" name="Google Shape;709;p34"/>
          <p:cNvSpPr txBox="1"/>
          <p:nvPr/>
        </p:nvSpPr>
        <p:spPr>
          <a:xfrm>
            <a:off x="9023271" y="4064744"/>
            <a:ext cx="699229"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rgbClr val="A5A5A5"/>
                </a:solidFill>
                <a:latin typeface="Avenir"/>
                <a:ea typeface="Avenir"/>
                <a:cs typeface="Avenir"/>
                <a:sym typeface="Avenir"/>
              </a:rPr>
              <a:t>400</a:t>
            </a:r>
            <a:endParaRPr/>
          </a:p>
        </p:txBody>
      </p:sp>
      <p:grpSp>
        <p:nvGrpSpPr>
          <p:cNvPr id="710" name="Google Shape;710;p34"/>
          <p:cNvGrpSpPr/>
          <p:nvPr/>
        </p:nvGrpSpPr>
        <p:grpSpPr>
          <a:xfrm>
            <a:off x="1354633" y="4641124"/>
            <a:ext cx="9550931" cy="1880699"/>
            <a:chOff x="1354633" y="4641124"/>
            <a:chExt cx="9550931" cy="1880699"/>
          </a:xfrm>
        </p:grpSpPr>
        <p:sp>
          <p:nvSpPr>
            <p:cNvPr id="711" name="Google Shape;711;p34"/>
            <p:cNvSpPr txBox="1"/>
            <p:nvPr/>
          </p:nvSpPr>
          <p:spPr>
            <a:xfrm>
              <a:off x="1354633" y="5003440"/>
              <a:ext cx="9550931" cy="1518383"/>
            </a:xfrm>
            <a:prstGeom prst="rect">
              <a:avLst/>
            </a:prstGeom>
            <a:noFill/>
            <a:ln cap="flat" cmpd="sng" w="7620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b="1" lang="en-US" sz="2800">
                  <a:solidFill>
                    <a:schemeClr val="dk1"/>
                  </a:solidFill>
                  <a:latin typeface="Avenir"/>
                  <a:ea typeface="Avenir"/>
                  <a:cs typeface="Avenir"/>
                  <a:sym typeface="Avenir"/>
                </a:rPr>
                <a:t> </a:t>
              </a:r>
              <a:endParaRPr/>
            </a:p>
          </p:txBody>
        </p:sp>
        <p:sp>
          <p:nvSpPr>
            <p:cNvPr id="712" name="Google Shape;712;p34"/>
            <p:cNvSpPr txBox="1"/>
            <p:nvPr/>
          </p:nvSpPr>
          <p:spPr>
            <a:xfrm>
              <a:off x="6227788" y="5164542"/>
              <a:ext cx="4516412" cy="1219006"/>
            </a:xfrm>
            <a:prstGeom prst="rect">
              <a:avLst/>
            </a:prstGeom>
            <a:no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lang="en-US" sz="2800">
                  <a:solidFill>
                    <a:schemeClr val="dk1"/>
                  </a:solidFill>
                  <a:latin typeface="Avenir"/>
                  <a:ea typeface="Avenir"/>
                  <a:cs typeface="Avenir"/>
                  <a:sym typeface="Avenir"/>
                </a:rPr>
                <a:t>Income</a:t>
              </a:r>
              <a:r>
                <a:rPr b="1" lang="en-US" sz="2800">
                  <a:solidFill>
                    <a:schemeClr val="lt1"/>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713" name="Google Shape;713;p34"/>
            <p:cNvSpPr txBox="1"/>
            <p:nvPr/>
          </p:nvSpPr>
          <p:spPr>
            <a:xfrm>
              <a:off x="1519517" y="5164542"/>
              <a:ext cx="4514277" cy="1219006"/>
            </a:xfrm>
            <a:prstGeom prst="rect">
              <a:avLst/>
            </a:prstGeom>
            <a:no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120000"/>
                </a:lnSpc>
                <a:spcBef>
                  <a:spcPts val="0"/>
                </a:spcBef>
                <a:spcAft>
                  <a:spcPts val="0"/>
                </a:spcAft>
                <a:buNone/>
              </a:pPr>
              <a:r>
                <a:rPr b="1" lang="en-US" sz="2800">
                  <a:solidFill>
                    <a:schemeClr val="lt1"/>
                  </a:solidFill>
                  <a:latin typeface="Avenir"/>
                  <a:ea typeface="Avenir"/>
                  <a:cs typeface="Avenir"/>
                  <a:sym typeface="Avenir"/>
                </a:rPr>
                <a:t>_</a:t>
              </a:r>
              <a:r>
                <a:rPr lang="en-US" sz="2800">
                  <a:solidFill>
                    <a:schemeClr val="dk1"/>
                  </a:solidFill>
                  <a:latin typeface="Avenir"/>
                  <a:ea typeface="Avenir"/>
                  <a:cs typeface="Avenir"/>
                  <a:sym typeface="Avenir"/>
                </a:rPr>
                <a:t>Expenses</a:t>
              </a:r>
              <a:endParaRPr/>
            </a:p>
          </p:txBody>
        </p:sp>
        <p:cxnSp>
          <p:nvCxnSpPr>
            <p:cNvPr id="714" name="Google Shape;714;p34"/>
            <p:cNvCxnSpPr/>
            <p:nvPr/>
          </p:nvCxnSpPr>
          <p:spPr>
            <a:xfrm>
              <a:off x="8116806" y="4641124"/>
              <a:ext cx="0" cy="362316"/>
            </a:xfrm>
            <a:prstGeom prst="straightConnector1">
              <a:avLst/>
            </a:prstGeom>
            <a:noFill/>
            <a:ln cap="flat" cmpd="sng" w="76200">
              <a:solidFill>
                <a:srgbClr val="942093"/>
              </a:solidFill>
              <a:prstDash val="solid"/>
              <a:miter lim="800000"/>
              <a:headEnd len="sm" w="sm" type="none"/>
              <a:tailEnd len="sm" w="sm" type="none"/>
            </a:ln>
          </p:spPr>
        </p:cxnSp>
        <p:grpSp>
          <p:nvGrpSpPr>
            <p:cNvPr id="715" name="Google Shape;715;p34"/>
            <p:cNvGrpSpPr/>
            <p:nvPr/>
          </p:nvGrpSpPr>
          <p:grpSpPr>
            <a:xfrm>
              <a:off x="2339787" y="5642959"/>
              <a:ext cx="3032197" cy="587332"/>
              <a:chOff x="1116105" y="2250320"/>
              <a:chExt cx="3032198" cy="587332"/>
            </a:xfrm>
          </p:grpSpPr>
          <p:sp>
            <p:nvSpPr>
              <p:cNvPr id="716" name="Google Shape;716;p34"/>
              <p:cNvSpPr txBox="1"/>
              <p:nvPr/>
            </p:nvSpPr>
            <p:spPr>
              <a:xfrm>
                <a:off x="1116105" y="2375987"/>
                <a:ext cx="1524777"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Travelling</a:t>
                </a:r>
                <a:endParaRPr/>
              </a:p>
            </p:txBody>
          </p:sp>
          <p:sp>
            <p:nvSpPr>
              <p:cNvPr id="717" name="Google Shape;717;p34"/>
              <p:cNvSpPr txBox="1"/>
              <p:nvPr/>
            </p:nvSpPr>
            <p:spPr>
              <a:xfrm>
                <a:off x="2990494" y="2250320"/>
                <a:ext cx="389850"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718" name="Google Shape;718;p34"/>
              <p:cNvSpPr txBox="1"/>
              <p:nvPr/>
            </p:nvSpPr>
            <p:spPr>
              <a:xfrm>
                <a:off x="3213848" y="2375987"/>
                <a:ext cx="934455"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6"/>
                    </a:solidFill>
                    <a:latin typeface="Avenir"/>
                    <a:ea typeface="Avenir"/>
                    <a:cs typeface="Avenir"/>
                    <a:sym typeface="Avenir"/>
                  </a:rPr>
                  <a:t>300</a:t>
                </a:r>
                <a:endParaRPr/>
              </a:p>
            </p:txBody>
          </p:sp>
        </p:grpSp>
        <p:grpSp>
          <p:nvGrpSpPr>
            <p:cNvPr id="719" name="Google Shape;719;p34"/>
            <p:cNvGrpSpPr/>
            <p:nvPr/>
          </p:nvGrpSpPr>
          <p:grpSpPr>
            <a:xfrm>
              <a:off x="6717327" y="5646711"/>
              <a:ext cx="3032197" cy="584775"/>
              <a:chOff x="1116105" y="2254072"/>
              <a:chExt cx="3032198" cy="584775"/>
            </a:xfrm>
          </p:grpSpPr>
          <p:sp>
            <p:nvSpPr>
              <p:cNvPr id="720" name="Google Shape;720;p34"/>
              <p:cNvSpPr txBox="1"/>
              <p:nvPr/>
            </p:nvSpPr>
            <p:spPr>
              <a:xfrm>
                <a:off x="1116105" y="2375987"/>
                <a:ext cx="1667445"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Consulting</a:t>
                </a:r>
                <a:endParaRPr/>
              </a:p>
            </p:txBody>
          </p:sp>
          <p:sp>
            <p:nvSpPr>
              <p:cNvPr id="721" name="Google Shape;721;p34"/>
              <p:cNvSpPr txBox="1"/>
              <p:nvPr/>
            </p:nvSpPr>
            <p:spPr>
              <a:xfrm>
                <a:off x="3046012" y="2254072"/>
                <a:ext cx="389850"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722" name="Google Shape;722;p34"/>
              <p:cNvSpPr txBox="1"/>
              <p:nvPr/>
            </p:nvSpPr>
            <p:spPr>
              <a:xfrm>
                <a:off x="3213848" y="2375987"/>
                <a:ext cx="934455"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2"/>
                    </a:solidFill>
                    <a:latin typeface="Avenir"/>
                    <a:ea typeface="Avenir"/>
                    <a:cs typeface="Avenir"/>
                    <a:sym typeface="Avenir"/>
                  </a:rPr>
                  <a:t>700</a:t>
                </a:r>
                <a:endParaRPr/>
              </a:p>
            </p:txBody>
          </p:sp>
        </p:grpSp>
      </p:grpSp>
      <p:sp>
        <p:nvSpPr>
          <p:cNvPr id="723" name="Google Shape;723;p34"/>
          <p:cNvSpPr txBox="1"/>
          <p:nvPr/>
        </p:nvSpPr>
        <p:spPr>
          <a:xfrm rot="5400000">
            <a:off x="10400548" y="2788126"/>
            <a:ext cx="2053767"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rgbClr val="7F7F7F"/>
                </a:solidFill>
                <a:latin typeface="Avenir"/>
                <a:ea typeface="Avenir"/>
                <a:cs typeface="Avenir"/>
                <a:sym typeface="Avenir"/>
              </a:rPr>
              <a:t>Obligations</a:t>
            </a:r>
            <a:endParaRPr/>
          </a:p>
        </p:txBody>
      </p:sp>
      <p:sp>
        <p:nvSpPr>
          <p:cNvPr id="724" name="Google Shape;724;p34"/>
          <p:cNvSpPr txBox="1"/>
          <p:nvPr/>
        </p:nvSpPr>
        <p:spPr>
          <a:xfrm>
            <a:off x="8641975" y="897526"/>
            <a:ext cx="2279791" cy="40011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000">
                <a:solidFill>
                  <a:schemeClr val="accent2"/>
                </a:solidFill>
                <a:latin typeface="Avenir"/>
                <a:ea typeface="Avenir"/>
                <a:cs typeface="Avenir"/>
                <a:sym typeface="Avenir"/>
              </a:rPr>
              <a:t>Sources of funds</a:t>
            </a:r>
            <a:endParaRPr/>
          </a:p>
        </p:txBody>
      </p:sp>
      <p:cxnSp>
        <p:nvCxnSpPr>
          <p:cNvPr id="725" name="Google Shape;725;p34"/>
          <p:cNvCxnSpPr/>
          <p:nvPr/>
        </p:nvCxnSpPr>
        <p:spPr>
          <a:xfrm flipH="1" rot="10800000">
            <a:off x="3613035" y="1065456"/>
            <a:ext cx="4777463" cy="18029"/>
          </a:xfrm>
          <a:prstGeom prst="straightConnector1">
            <a:avLst/>
          </a:prstGeom>
          <a:noFill/>
          <a:ln cap="flat" cmpd="sng" w="28575">
            <a:solidFill>
              <a:schemeClr val="accent1"/>
            </a:solidFill>
            <a:prstDash val="dot"/>
            <a:miter lim="800000"/>
            <a:headEnd len="sm" w="sm" type="none"/>
            <a:tailEnd len="sm" w="sm" type="none"/>
          </a:ln>
        </p:spPr>
      </p:cxnSp>
      <p:sp>
        <p:nvSpPr>
          <p:cNvPr id="726" name="Google Shape;726;p34"/>
          <p:cNvSpPr txBox="1"/>
          <p:nvPr/>
        </p:nvSpPr>
        <p:spPr>
          <a:xfrm>
            <a:off x="1358153" y="1325627"/>
            <a:ext cx="4679162" cy="3525413"/>
          </a:xfrm>
          <a:prstGeom prst="rect">
            <a:avLst/>
          </a:prstGeom>
          <a:no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120000"/>
              </a:lnSpc>
              <a:spcBef>
                <a:spcPts val="0"/>
              </a:spcBef>
              <a:spcAft>
                <a:spcPts val="0"/>
              </a:spcAft>
              <a:buNone/>
            </a:pPr>
            <a:r>
              <a:rPr b="1" lang="en-US" sz="2800">
                <a:solidFill>
                  <a:schemeClr val="lt1"/>
                </a:solidFill>
                <a:latin typeface="Avenir"/>
                <a:ea typeface="Avenir"/>
                <a:cs typeface="Avenir"/>
                <a:sym typeface="Avenir"/>
              </a:rPr>
              <a:t>_</a:t>
            </a:r>
            <a:r>
              <a:rPr lang="en-US" sz="2800">
                <a:solidFill>
                  <a:schemeClr val="dk1"/>
                </a:solidFill>
                <a:latin typeface="Avenir"/>
                <a:ea typeface="Avenir"/>
                <a:cs typeface="Avenir"/>
                <a:sym typeface="Avenir"/>
              </a:rPr>
              <a:t>Assets</a:t>
            </a:r>
            <a:endParaRPr/>
          </a:p>
        </p:txBody>
      </p:sp>
      <p:grpSp>
        <p:nvGrpSpPr>
          <p:cNvPr id="727" name="Google Shape;727;p34"/>
          <p:cNvGrpSpPr/>
          <p:nvPr/>
        </p:nvGrpSpPr>
        <p:grpSpPr>
          <a:xfrm>
            <a:off x="2330580" y="1965230"/>
            <a:ext cx="3032198" cy="584776"/>
            <a:chOff x="1116105" y="2252876"/>
            <a:chExt cx="3032198" cy="584776"/>
          </a:xfrm>
        </p:grpSpPr>
        <p:sp>
          <p:nvSpPr>
            <p:cNvPr id="728" name="Google Shape;728;p34"/>
            <p:cNvSpPr txBox="1"/>
            <p:nvPr/>
          </p:nvSpPr>
          <p:spPr>
            <a:xfrm>
              <a:off x="1116105" y="2375987"/>
              <a:ext cx="904415"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729" name="Google Shape;729;p34"/>
            <p:cNvSpPr txBox="1"/>
            <p:nvPr/>
          </p:nvSpPr>
          <p:spPr>
            <a:xfrm>
              <a:off x="2646615" y="2252876"/>
              <a:ext cx="389850"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730" name="Google Shape;730;p34"/>
            <p:cNvSpPr txBox="1"/>
            <p:nvPr/>
          </p:nvSpPr>
          <p:spPr>
            <a:xfrm>
              <a:off x="3021071" y="2375987"/>
              <a:ext cx="1127232"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6"/>
                  </a:solidFill>
                  <a:latin typeface="Avenir"/>
                  <a:ea typeface="Avenir"/>
                  <a:cs typeface="Avenir"/>
                  <a:sym typeface="Avenir"/>
                </a:rPr>
                <a:t>30,000</a:t>
              </a:r>
              <a:endParaRPr/>
            </a:p>
          </p:txBody>
        </p:sp>
      </p:grpSp>
      <p:grpSp>
        <p:nvGrpSpPr>
          <p:cNvPr id="731" name="Google Shape;731;p34"/>
          <p:cNvGrpSpPr/>
          <p:nvPr/>
        </p:nvGrpSpPr>
        <p:grpSpPr>
          <a:xfrm>
            <a:off x="2330580" y="2586599"/>
            <a:ext cx="3032198" cy="609738"/>
            <a:chOff x="1116105" y="2227914"/>
            <a:chExt cx="3032198" cy="609738"/>
          </a:xfrm>
        </p:grpSpPr>
        <p:sp>
          <p:nvSpPr>
            <p:cNvPr id="732" name="Google Shape;732;p34"/>
            <p:cNvSpPr txBox="1"/>
            <p:nvPr/>
          </p:nvSpPr>
          <p:spPr>
            <a:xfrm>
              <a:off x="1116105" y="2375987"/>
              <a:ext cx="904415"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733" name="Google Shape;733;p34"/>
            <p:cNvSpPr txBox="1"/>
            <p:nvPr/>
          </p:nvSpPr>
          <p:spPr>
            <a:xfrm>
              <a:off x="2646615" y="2227914"/>
              <a:ext cx="389850"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734" name="Google Shape;734;p34"/>
            <p:cNvSpPr txBox="1"/>
            <p:nvPr/>
          </p:nvSpPr>
          <p:spPr>
            <a:xfrm>
              <a:off x="3021071" y="2375987"/>
              <a:ext cx="1127232"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6"/>
                  </a:solidFill>
                  <a:latin typeface="Avenir"/>
                  <a:ea typeface="Avenir"/>
                  <a:cs typeface="Avenir"/>
                  <a:sym typeface="Avenir"/>
                </a:rPr>
                <a:t>20,000</a:t>
              </a:r>
              <a:endParaRPr/>
            </a:p>
          </p:txBody>
        </p:sp>
      </p:grpSp>
      <p:grpSp>
        <p:nvGrpSpPr>
          <p:cNvPr id="735" name="Google Shape;735;p34"/>
          <p:cNvGrpSpPr/>
          <p:nvPr/>
        </p:nvGrpSpPr>
        <p:grpSpPr>
          <a:xfrm>
            <a:off x="2330580" y="3236109"/>
            <a:ext cx="3032198" cy="606559"/>
            <a:chOff x="1116105" y="2231093"/>
            <a:chExt cx="3032198" cy="606559"/>
          </a:xfrm>
        </p:grpSpPr>
        <p:sp>
          <p:nvSpPr>
            <p:cNvPr id="736" name="Google Shape;736;p34"/>
            <p:cNvSpPr txBox="1"/>
            <p:nvPr/>
          </p:nvSpPr>
          <p:spPr>
            <a:xfrm>
              <a:off x="1116105" y="2375987"/>
              <a:ext cx="904415"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737" name="Google Shape;737;p34"/>
            <p:cNvSpPr txBox="1"/>
            <p:nvPr/>
          </p:nvSpPr>
          <p:spPr>
            <a:xfrm>
              <a:off x="2636461" y="2231093"/>
              <a:ext cx="389850"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738" name="Google Shape;738;p34"/>
            <p:cNvSpPr txBox="1"/>
            <p:nvPr/>
          </p:nvSpPr>
          <p:spPr>
            <a:xfrm>
              <a:off x="3449074" y="2375987"/>
              <a:ext cx="699229"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6"/>
                  </a:solidFill>
                  <a:latin typeface="Avenir"/>
                  <a:ea typeface="Avenir"/>
                  <a:cs typeface="Avenir"/>
                  <a:sym typeface="Avenir"/>
                </a:rPr>
                <a:t>700</a:t>
              </a:r>
              <a:endParaRPr/>
            </a:p>
          </p:txBody>
        </p:sp>
      </p:grpSp>
      <p:grpSp>
        <p:nvGrpSpPr>
          <p:cNvPr id="739" name="Google Shape;739;p34"/>
          <p:cNvGrpSpPr/>
          <p:nvPr/>
        </p:nvGrpSpPr>
        <p:grpSpPr>
          <a:xfrm>
            <a:off x="2330580" y="3959159"/>
            <a:ext cx="3032198" cy="584775"/>
            <a:chOff x="1116105" y="2307812"/>
            <a:chExt cx="3032198" cy="584775"/>
          </a:xfrm>
        </p:grpSpPr>
        <p:sp>
          <p:nvSpPr>
            <p:cNvPr id="740" name="Google Shape;740;p34"/>
            <p:cNvSpPr txBox="1"/>
            <p:nvPr/>
          </p:nvSpPr>
          <p:spPr>
            <a:xfrm>
              <a:off x="1116105" y="2375987"/>
              <a:ext cx="904415"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Cash</a:t>
              </a:r>
              <a:endParaRPr/>
            </a:p>
          </p:txBody>
        </p:sp>
        <p:sp>
          <p:nvSpPr>
            <p:cNvPr id="741" name="Google Shape;741;p34"/>
            <p:cNvSpPr txBox="1"/>
            <p:nvPr/>
          </p:nvSpPr>
          <p:spPr>
            <a:xfrm rot="10800000">
              <a:off x="2629619" y="2307812"/>
              <a:ext cx="389850"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chemeClr val="dk1"/>
                  </a:solidFill>
                  <a:latin typeface="Avenir"/>
                  <a:ea typeface="Avenir"/>
                  <a:cs typeface="Avenir"/>
                  <a:sym typeface="Avenir"/>
                </a:rPr>
                <a:t>↑</a:t>
              </a:r>
              <a:endParaRPr/>
            </a:p>
          </p:txBody>
        </p:sp>
        <p:sp>
          <p:nvSpPr>
            <p:cNvPr id="742" name="Google Shape;742;p34"/>
            <p:cNvSpPr txBox="1"/>
            <p:nvPr/>
          </p:nvSpPr>
          <p:spPr>
            <a:xfrm>
              <a:off x="3449074" y="2375987"/>
              <a:ext cx="699229"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400">
                  <a:solidFill>
                    <a:schemeClr val="accent2"/>
                  </a:solidFill>
                  <a:latin typeface="Avenir"/>
                  <a:ea typeface="Avenir"/>
                  <a:cs typeface="Avenir"/>
                  <a:sym typeface="Avenir"/>
                </a:rPr>
                <a:t>300</a:t>
              </a:r>
              <a:endParaRPr/>
            </a:p>
          </p:txBody>
        </p:sp>
      </p:grpSp>
      <p:sp>
        <p:nvSpPr>
          <p:cNvPr id="743" name="Google Shape;743;p34"/>
          <p:cNvSpPr txBox="1"/>
          <p:nvPr/>
        </p:nvSpPr>
        <p:spPr>
          <a:xfrm rot="-5400000">
            <a:off x="-471469" y="2764039"/>
            <a:ext cx="2627129"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rgbClr val="7F7F7F"/>
                </a:solidFill>
                <a:latin typeface="Avenir"/>
                <a:ea typeface="Avenir"/>
                <a:cs typeface="Avenir"/>
                <a:sym typeface="Avenir"/>
              </a:rPr>
              <a:t>Valuable things</a:t>
            </a:r>
            <a:endParaRPr/>
          </a:p>
        </p:txBody>
      </p:sp>
      <p:sp>
        <p:nvSpPr>
          <p:cNvPr id="744" name="Google Shape;744;p34"/>
          <p:cNvSpPr txBox="1"/>
          <p:nvPr/>
        </p:nvSpPr>
        <p:spPr>
          <a:xfrm rot="5400000">
            <a:off x="10933430" y="5601892"/>
            <a:ext cx="941283"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rgbClr val="7F7F7F"/>
                </a:solidFill>
                <a:latin typeface="Avenir"/>
                <a:ea typeface="Avenir"/>
                <a:cs typeface="Avenir"/>
                <a:sym typeface="Avenir"/>
              </a:rPr>
              <a:t>VGA</a:t>
            </a:r>
            <a:endParaRPr/>
          </a:p>
        </p:txBody>
      </p:sp>
      <p:sp>
        <p:nvSpPr>
          <p:cNvPr id="745" name="Google Shape;745;p34"/>
          <p:cNvSpPr txBox="1"/>
          <p:nvPr/>
        </p:nvSpPr>
        <p:spPr>
          <a:xfrm rot="-5400000">
            <a:off x="366898" y="5479344"/>
            <a:ext cx="901209"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rgbClr val="7F7F7F"/>
                </a:solidFill>
                <a:latin typeface="Avenir"/>
                <a:ea typeface="Avenir"/>
                <a:cs typeface="Avenir"/>
                <a:sym typeface="Avenir"/>
              </a:rPr>
              <a:t>VSA</a:t>
            </a:r>
            <a:endParaRPr/>
          </a:p>
        </p:txBody>
      </p:sp>
      <p:sp>
        <p:nvSpPr>
          <p:cNvPr id="746" name="Google Shape;746;p34"/>
          <p:cNvSpPr txBox="1"/>
          <p:nvPr/>
        </p:nvSpPr>
        <p:spPr>
          <a:xfrm>
            <a:off x="1341185" y="894976"/>
            <a:ext cx="1880643" cy="40011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000">
                <a:solidFill>
                  <a:schemeClr val="accent6"/>
                </a:solidFill>
                <a:latin typeface="Avenir"/>
                <a:ea typeface="Avenir"/>
                <a:cs typeface="Avenir"/>
                <a:sym typeface="Avenir"/>
              </a:rPr>
              <a:t>Uses of funds</a:t>
            </a:r>
            <a:endParaRPr/>
          </a:p>
        </p:txBody>
      </p:sp>
      <p:sp>
        <p:nvSpPr>
          <p:cNvPr id="747" name="Google Shape;747;p34"/>
          <p:cNvSpPr txBox="1"/>
          <p:nvPr/>
        </p:nvSpPr>
        <p:spPr>
          <a:xfrm>
            <a:off x="6365699" y="1834676"/>
            <a:ext cx="1555234"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Bank loan</a:t>
            </a:r>
            <a:endParaRPr/>
          </a:p>
        </p:txBody>
      </p:sp>
      <p:sp>
        <p:nvSpPr>
          <p:cNvPr id="748" name="Google Shape;748;p34"/>
          <p:cNvSpPr txBox="1"/>
          <p:nvPr/>
        </p:nvSpPr>
        <p:spPr>
          <a:xfrm>
            <a:off x="3613035" y="500757"/>
            <a:ext cx="4777463" cy="5232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2800">
                <a:solidFill>
                  <a:schemeClr val="accent1"/>
                </a:solidFill>
                <a:latin typeface="Avenir"/>
                <a:ea typeface="Avenir"/>
                <a:cs typeface="Avenir"/>
                <a:sym typeface="Avenir"/>
              </a:rPr>
              <a:t>My Consulting Limited</a:t>
            </a:r>
            <a:endParaRPr/>
          </a:p>
        </p:txBody>
      </p:sp>
    </p:spTree>
  </p:cSld>
  <p:clrMapOvr>
    <a:masterClrMapping/>
  </p:clrMapOvr>
  <mc:AlternateContent>
    <mc:Choice Requires="p14">
      <p:transition spd="slow" p14:dur="700">
        <p:fade/>
      </p:transition>
    </mc:Choice>
    <mc:Fallback>
      <p:transition spd="slow">
        <p:fade/>
      </p:transition>
    </mc:Fallback>
  </mc:AlternateContent>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xit" presetID="10" presetSubtype="0">
                                  <p:stCondLst>
                                    <p:cond delay="0"/>
                                  </p:stCondLst>
                                  <p:childTnLst>
                                    <p:animEffect filter="fade" transition="out">
                                      <p:cBhvr>
                                        <p:cTn dur="500"/>
                                        <p:tgtEl>
                                          <p:spTgt spid="710"/>
                                        </p:tgtEl>
                                      </p:cBhvr>
                                    </p:animEffect>
                                    <p:set>
                                      <p:cBhvr>
                                        <p:cTn dur="1" fill="hold">
                                          <p:stCondLst>
                                            <p:cond delay="500"/>
                                          </p:stCondLst>
                                        </p:cTn>
                                        <p:tgtEl>
                                          <p:spTgt spid="710"/>
                                        </p:tgtEl>
                                        <p:attrNameLst>
                                          <p:attrName>style.visibility</p:attrName>
                                        </p:attrNameLst>
                                      </p:cBhvr>
                                      <p:to>
                                        <p:strVal val="hidden"/>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10"/>
                                        </p:tgtEl>
                                        <p:attrNameLst>
                                          <p:attrName>style.visibility</p:attrName>
                                        </p:attrNameLst>
                                      </p:cBhvr>
                                      <p:to>
                                        <p:strVal val="visible"/>
                                      </p:to>
                                    </p:set>
                                    <p:animEffect filter="fade" transition="in">
                                      <p:cBhvr>
                                        <p:cTn dur="500"/>
                                        <p:tgtEl>
                                          <p:spTgt spid="71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3" name="Shape 753"/>
        <p:cNvGrpSpPr/>
        <p:nvPr/>
      </p:nvGrpSpPr>
      <p:grpSpPr>
        <a:xfrm>
          <a:off x="0" y="0"/>
          <a:ext cx="0" cy="0"/>
          <a:chOff x="0" y="0"/>
          <a:chExt cx="0" cy="0"/>
        </a:xfrm>
      </p:grpSpPr>
      <p:sp>
        <p:nvSpPr>
          <p:cNvPr id="754" name="Google Shape;754;p35"/>
          <p:cNvSpPr txBox="1"/>
          <p:nvPr/>
        </p:nvSpPr>
        <p:spPr>
          <a:xfrm>
            <a:off x="6457623" y="3661110"/>
            <a:ext cx="3356537" cy="993462"/>
          </a:xfrm>
          <a:prstGeom prst="rect">
            <a:avLst/>
          </a:prstGeom>
          <a:noFill/>
          <a:ln cap="flat" cmpd="sng" w="7620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b="1" lang="en-US" sz="2800">
                <a:solidFill>
                  <a:schemeClr val="dk1"/>
                </a:solidFill>
                <a:latin typeface="Avenir"/>
                <a:ea typeface="Avenir"/>
                <a:cs typeface="Avenir"/>
                <a:sym typeface="Avenir"/>
              </a:rPr>
              <a:t> </a:t>
            </a:r>
            <a:endParaRPr/>
          </a:p>
        </p:txBody>
      </p:sp>
      <p:sp>
        <p:nvSpPr>
          <p:cNvPr id="755" name="Google Shape;755;p35"/>
          <p:cNvSpPr txBox="1"/>
          <p:nvPr/>
        </p:nvSpPr>
        <p:spPr>
          <a:xfrm>
            <a:off x="6227788" y="2623662"/>
            <a:ext cx="4677777" cy="2227378"/>
          </a:xfrm>
          <a:prstGeom prst="rect">
            <a:avLst/>
          </a:prstGeom>
          <a:no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lang="en-US" sz="2800">
                <a:solidFill>
                  <a:schemeClr val="dk1"/>
                </a:solidFill>
                <a:latin typeface="Avenir"/>
                <a:ea typeface="Avenir"/>
                <a:cs typeface="Avenir"/>
                <a:sym typeface="Avenir"/>
              </a:rPr>
              <a:t>Equity</a:t>
            </a:r>
            <a:r>
              <a:rPr b="1" lang="en-US" sz="2800">
                <a:solidFill>
                  <a:schemeClr val="lt1"/>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756" name="Google Shape;756;p35"/>
          <p:cNvSpPr txBox="1"/>
          <p:nvPr/>
        </p:nvSpPr>
        <p:spPr>
          <a:xfrm>
            <a:off x="6227788" y="1325627"/>
            <a:ext cx="4677777" cy="1150816"/>
          </a:xfrm>
          <a:prstGeom prst="rect">
            <a:avLst/>
          </a:prstGeom>
          <a:no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lang="en-US" sz="2800">
                <a:solidFill>
                  <a:schemeClr val="dk1"/>
                </a:solidFill>
                <a:latin typeface="Avenir"/>
                <a:ea typeface="Avenir"/>
                <a:cs typeface="Avenir"/>
                <a:sym typeface="Avenir"/>
              </a:rPr>
              <a:t>Liabilities</a:t>
            </a:r>
            <a:r>
              <a:rPr b="1" lang="en-US" sz="2800">
                <a:solidFill>
                  <a:schemeClr val="lt1"/>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757" name="Google Shape;757;p35"/>
          <p:cNvSpPr txBox="1"/>
          <p:nvPr/>
        </p:nvSpPr>
        <p:spPr>
          <a:xfrm>
            <a:off x="7681632" y="3982991"/>
            <a:ext cx="908518" cy="46166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chemeClr val="dk1"/>
                </a:solidFill>
                <a:latin typeface="Avenir"/>
                <a:ea typeface="Avenir"/>
                <a:cs typeface="Avenir"/>
                <a:sym typeface="Avenir"/>
              </a:rPr>
              <a:t>Profit</a:t>
            </a:r>
            <a:endParaRPr/>
          </a:p>
        </p:txBody>
      </p:sp>
      <p:grpSp>
        <p:nvGrpSpPr>
          <p:cNvPr id="758" name="Google Shape;758;p35"/>
          <p:cNvGrpSpPr/>
          <p:nvPr/>
        </p:nvGrpSpPr>
        <p:grpSpPr>
          <a:xfrm>
            <a:off x="1354633" y="4641124"/>
            <a:ext cx="9550931" cy="1880699"/>
            <a:chOff x="1354633" y="4641124"/>
            <a:chExt cx="9550931" cy="1880699"/>
          </a:xfrm>
        </p:grpSpPr>
        <p:sp>
          <p:nvSpPr>
            <p:cNvPr id="759" name="Google Shape;759;p35"/>
            <p:cNvSpPr txBox="1"/>
            <p:nvPr/>
          </p:nvSpPr>
          <p:spPr>
            <a:xfrm>
              <a:off x="1354633" y="5003440"/>
              <a:ext cx="9550931" cy="1518383"/>
            </a:xfrm>
            <a:prstGeom prst="rect">
              <a:avLst/>
            </a:prstGeom>
            <a:noFill/>
            <a:ln cap="flat" cmpd="sng" w="7620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b="1" lang="en-US" sz="2800">
                  <a:solidFill>
                    <a:schemeClr val="dk1"/>
                  </a:solidFill>
                  <a:latin typeface="Avenir"/>
                  <a:ea typeface="Avenir"/>
                  <a:cs typeface="Avenir"/>
                  <a:sym typeface="Avenir"/>
                </a:rPr>
                <a:t> </a:t>
              </a:r>
              <a:endParaRPr/>
            </a:p>
          </p:txBody>
        </p:sp>
        <p:sp>
          <p:nvSpPr>
            <p:cNvPr id="760" name="Google Shape;760;p35"/>
            <p:cNvSpPr txBox="1"/>
            <p:nvPr/>
          </p:nvSpPr>
          <p:spPr>
            <a:xfrm>
              <a:off x="6227788" y="5164542"/>
              <a:ext cx="4516412" cy="1219006"/>
            </a:xfrm>
            <a:prstGeom prst="rect">
              <a:avLst/>
            </a:prstGeom>
            <a:no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lang="en-US" sz="2800">
                  <a:solidFill>
                    <a:schemeClr val="dk1"/>
                  </a:solidFill>
                  <a:latin typeface="Avenir"/>
                  <a:ea typeface="Avenir"/>
                  <a:cs typeface="Avenir"/>
                  <a:sym typeface="Avenir"/>
                </a:rPr>
                <a:t>Income</a:t>
              </a:r>
              <a:r>
                <a:rPr b="1" lang="en-US" sz="2800">
                  <a:solidFill>
                    <a:schemeClr val="lt1"/>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761" name="Google Shape;761;p35"/>
            <p:cNvSpPr txBox="1"/>
            <p:nvPr/>
          </p:nvSpPr>
          <p:spPr>
            <a:xfrm>
              <a:off x="1519517" y="5164542"/>
              <a:ext cx="4514277" cy="1219006"/>
            </a:xfrm>
            <a:prstGeom prst="rect">
              <a:avLst/>
            </a:prstGeom>
            <a:no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120000"/>
                </a:lnSpc>
                <a:spcBef>
                  <a:spcPts val="0"/>
                </a:spcBef>
                <a:spcAft>
                  <a:spcPts val="0"/>
                </a:spcAft>
                <a:buNone/>
              </a:pPr>
              <a:r>
                <a:rPr b="1" lang="en-US" sz="2800">
                  <a:solidFill>
                    <a:schemeClr val="lt1"/>
                  </a:solidFill>
                  <a:latin typeface="Avenir"/>
                  <a:ea typeface="Avenir"/>
                  <a:cs typeface="Avenir"/>
                  <a:sym typeface="Avenir"/>
                </a:rPr>
                <a:t>_</a:t>
              </a:r>
              <a:r>
                <a:rPr lang="en-US" sz="2800">
                  <a:solidFill>
                    <a:schemeClr val="dk1"/>
                  </a:solidFill>
                  <a:latin typeface="Avenir"/>
                  <a:ea typeface="Avenir"/>
                  <a:cs typeface="Avenir"/>
                  <a:sym typeface="Avenir"/>
                </a:rPr>
                <a:t>Expenses</a:t>
              </a:r>
              <a:endParaRPr/>
            </a:p>
          </p:txBody>
        </p:sp>
        <p:cxnSp>
          <p:nvCxnSpPr>
            <p:cNvPr id="762" name="Google Shape;762;p35"/>
            <p:cNvCxnSpPr/>
            <p:nvPr/>
          </p:nvCxnSpPr>
          <p:spPr>
            <a:xfrm>
              <a:off x="8116806" y="4641124"/>
              <a:ext cx="0" cy="362316"/>
            </a:xfrm>
            <a:prstGeom prst="straightConnector1">
              <a:avLst/>
            </a:prstGeom>
            <a:noFill/>
            <a:ln cap="flat" cmpd="sng" w="76200">
              <a:solidFill>
                <a:srgbClr val="942093"/>
              </a:solidFill>
              <a:prstDash val="solid"/>
              <a:miter lim="800000"/>
              <a:headEnd len="sm" w="sm" type="none"/>
              <a:tailEnd len="sm" w="sm" type="none"/>
            </a:ln>
          </p:spPr>
        </p:cxnSp>
      </p:grpSp>
      <p:sp>
        <p:nvSpPr>
          <p:cNvPr id="763" name="Google Shape;763;p35"/>
          <p:cNvSpPr txBox="1"/>
          <p:nvPr/>
        </p:nvSpPr>
        <p:spPr>
          <a:xfrm rot="5400000">
            <a:off x="10400548" y="2788126"/>
            <a:ext cx="2053767"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rgbClr val="7F7F7F"/>
                </a:solidFill>
                <a:latin typeface="Avenir"/>
                <a:ea typeface="Avenir"/>
                <a:cs typeface="Avenir"/>
                <a:sym typeface="Avenir"/>
              </a:rPr>
              <a:t>Obligations</a:t>
            </a:r>
            <a:endParaRPr/>
          </a:p>
        </p:txBody>
      </p:sp>
      <p:sp>
        <p:nvSpPr>
          <p:cNvPr id="764" name="Google Shape;764;p35"/>
          <p:cNvSpPr txBox="1"/>
          <p:nvPr/>
        </p:nvSpPr>
        <p:spPr>
          <a:xfrm>
            <a:off x="8641975" y="897526"/>
            <a:ext cx="2279791" cy="40011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000">
                <a:solidFill>
                  <a:schemeClr val="accent2"/>
                </a:solidFill>
                <a:latin typeface="Avenir"/>
                <a:ea typeface="Avenir"/>
                <a:cs typeface="Avenir"/>
                <a:sym typeface="Avenir"/>
              </a:rPr>
              <a:t>Sources of funds</a:t>
            </a:r>
            <a:endParaRPr/>
          </a:p>
        </p:txBody>
      </p:sp>
      <p:cxnSp>
        <p:nvCxnSpPr>
          <p:cNvPr id="765" name="Google Shape;765;p35"/>
          <p:cNvCxnSpPr/>
          <p:nvPr/>
        </p:nvCxnSpPr>
        <p:spPr>
          <a:xfrm flipH="1" rot="10800000">
            <a:off x="3613035" y="1065456"/>
            <a:ext cx="4777463" cy="18029"/>
          </a:xfrm>
          <a:prstGeom prst="straightConnector1">
            <a:avLst/>
          </a:prstGeom>
          <a:noFill/>
          <a:ln cap="flat" cmpd="sng" w="28575">
            <a:solidFill>
              <a:schemeClr val="accent1"/>
            </a:solidFill>
            <a:prstDash val="dot"/>
            <a:miter lim="800000"/>
            <a:headEnd len="sm" w="sm" type="none"/>
            <a:tailEnd len="sm" w="sm" type="none"/>
          </a:ln>
        </p:spPr>
      </p:cxnSp>
      <p:sp>
        <p:nvSpPr>
          <p:cNvPr id="766" name="Google Shape;766;p35"/>
          <p:cNvSpPr txBox="1"/>
          <p:nvPr/>
        </p:nvSpPr>
        <p:spPr>
          <a:xfrm>
            <a:off x="1358153" y="1325627"/>
            <a:ext cx="4679162" cy="3525413"/>
          </a:xfrm>
          <a:prstGeom prst="rect">
            <a:avLst/>
          </a:prstGeom>
          <a:no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120000"/>
              </a:lnSpc>
              <a:spcBef>
                <a:spcPts val="0"/>
              </a:spcBef>
              <a:spcAft>
                <a:spcPts val="0"/>
              </a:spcAft>
              <a:buNone/>
            </a:pPr>
            <a:r>
              <a:rPr b="1" lang="en-US" sz="2800">
                <a:solidFill>
                  <a:schemeClr val="lt1"/>
                </a:solidFill>
                <a:latin typeface="Avenir"/>
                <a:ea typeface="Avenir"/>
                <a:cs typeface="Avenir"/>
                <a:sym typeface="Avenir"/>
              </a:rPr>
              <a:t>_</a:t>
            </a:r>
            <a:r>
              <a:rPr lang="en-US" sz="2800">
                <a:solidFill>
                  <a:schemeClr val="dk1"/>
                </a:solidFill>
                <a:latin typeface="Avenir"/>
                <a:ea typeface="Avenir"/>
                <a:cs typeface="Avenir"/>
                <a:sym typeface="Avenir"/>
              </a:rPr>
              <a:t>Assets</a:t>
            </a:r>
            <a:endParaRPr/>
          </a:p>
        </p:txBody>
      </p:sp>
      <p:sp>
        <p:nvSpPr>
          <p:cNvPr id="767" name="Google Shape;767;p35"/>
          <p:cNvSpPr txBox="1"/>
          <p:nvPr/>
        </p:nvSpPr>
        <p:spPr>
          <a:xfrm rot="-5400000">
            <a:off x="-471469" y="2764039"/>
            <a:ext cx="2627129"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rgbClr val="7F7F7F"/>
                </a:solidFill>
                <a:latin typeface="Avenir"/>
                <a:ea typeface="Avenir"/>
                <a:cs typeface="Avenir"/>
                <a:sym typeface="Avenir"/>
              </a:rPr>
              <a:t>Valuable things</a:t>
            </a:r>
            <a:endParaRPr/>
          </a:p>
        </p:txBody>
      </p:sp>
      <p:sp>
        <p:nvSpPr>
          <p:cNvPr id="768" name="Google Shape;768;p35"/>
          <p:cNvSpPr txBox="1"/>
          <p:nvPr/>
        </p:nvSpPr>
        <p:spPr>
          <a:xfrm rot="5400000">
            <a:off x="10933430" y="5601892"/>
            <a:ext cx="941283"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rgbClr val="7F7F7F"/>
                </a:solidFill>
                <a:latin typeface="Avenir"/>
                <a:ea typeface="Avenir"/>
                <a:cs typeface="Avenir"/>
                <a:sym typeface="Avenir"/>
              </a:rPr>
              <a:t>VGA</a:t>
            </a:r>
            <a:endParaRPr/>
          </a:p>
        </p:txBody>
      </p:sp>
      <p:sp>
        <p:nvSpPr>
          <p:cNvPr id="769" name="Google Shape;769;p35"/>
          <p:cNvSpPr txBox="1"/>
          <p:nvPr/>
        </p:nvSpPr>
        <p:spPr>
          <a:xfrm rot="-5400000">
            <a:off x="366898" y="5479344"/>
            <a:ext cx="901209"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rgbClr val="7F7F7F"/>
                </a:solidFill>
                <a:latin typeface="Avenir"/>
                <a:ea typeface="Avenir"/>
                <a:cs typeface="Avenir"/>
                <a:sym typeface="Avenir"/>
              </a:rPr>
              <a:t>VSA</a:t>
            </a:r>
            <a:endParaRPr/>
          </a:p>
        </p:txBody>
      </p:sp>
      <p:sp>
        <p:nvSpPr>
          <p:cNvPr id="770" name="Google Shape;770;p35"/>
          <p:cNvSpPr txBox="1"/>
          <p:nvPr/>
        </p:nvSpPr>
        <p:spPr>
          <a:xfrm>
            <a:off x="1341185" y="894976"/>
            <a:ext cx="1880643" cy="40011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000">
                <a:solidFill>
                  <a:schemeClr val="accent6"/>
                </a:solidFill>
                <a:latin typeface="Avenir"/>
                <a:ea typeface="Avenir"/>
                <a:cs typeface="Avenir"/>
                <a:sym typeface="Avenir"/>
              </a:rPr>
              <a:t>Uses of funds</a:t>
            </a:r>
            <a:endParaRPr/>
          </a:p>
        </p:txBody>
      </p:sp>
      <p:sp>
        <p:nvSpPr>
          <p:cNvPr id="771" name="Google Shape;771;p35"/>
          <p:cNvSpPr txBox="1"/>
          <p:nvPr/>
        </p:nvSpPr>
        <p:spPr>
          <a:xfrm>
            <a:off x="3613035" y="500757"/>
            <a:ext cx="4777463" cy="5232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2800">
                <a:solidFill>
                  <a:schemeClr val="accent1"/>
                </a:solidFill>
                <a:latin typeface="Avenir"/>
                <a:ea typeface="Avenir"/>
                <a:cs typeface="Avenir"/>
                <a:sym typeface="Avenir"/>
              </a:rPr>
              <a:t>My Consulting Limited</a:t>
            </a:r>
            <a:endParaRPr/>
          </a:p>
        </p:txBody>
      </p:sp>
    </p:spTree>
  </p:cSld>
  <p:clrMapOvr>
    <a:masterClrMapping/>
  </p:clrMapOvr>
  <mc:AlternateContent>
    <mc:Choice Requires="p14">
      <p:transition spd="slow" p14:dur="700">
        <p:fade/>
      </p:transition>
    </mc:Choice>
    <mc:Fallback>
      <p:transition spd="slow">
        <p:fade/>
      </p:transition>
    </mc:Fallback>
  </mc:AlternateContent>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xit" presetID="10" presetSubtype="0">
                                  <p:stCondLst>
                                    <p:cond delay="0"/>
                                  </p:stCondLst>
                                  <p:childTnLst>
                                    <p:animEffect filter="fade" transition="out">
                                      <p:cBhvr>
                                        <p:cTn dur="500"/>
                                        <p:tgtEl>
                                          <p:spTgt spid="758"/>
                                        </p:tgtEl>
                                      </p:cBhvr>
                                    </p:animEffect>
                                    <p:set>
                                      <p:cBhvr>
                                        <p:cTn dur="1" fill="hold">
                                          <p:stCondLst>
                                            <p:cond delay="500"/>
                                          </p:stCondLst>
                                        </p:cTn>
                                        <p:tgtEl>
                                          <p:spTgt spid="758"/>
                                        </p:tgtEl>
                                        <p:attrNameLst>
                                          <p:attrName>style.visibility</p:attrName>
                                        </p:attrNameLst>
                                      </p:cBhvr>
                                      <p:to>
                                        <p:strVal val="hidden"/>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58"/>
                                        </p:tgtEl>
                                        <p:attrNameLst>
                                          <p:attrName>style.visibility</p:attrName>
                                        </p:attrNameLst>
                                      </p:cBhvr>
                                      <p:to>
                                        <p:strVal val="visible"/>
                                      </p:to>
                                    </p:set>
                                    <p:animEffect filter="fade" transition="in">
                                      <p:cBhvr>
                                        <p:cTn dur="500"/>
                                        <p:tgtEl>
                                          <p:spTgt spid="75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accent4"/>
        </a:solidFill>
      </p:bgPr>
    </p:bg>
    <p:spTree>
      <p:nvGrpSpPr>
        <p:cNvPr id="776" name="Shape 776"/>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EE599"/>
        </a:solidFill>
      </p:bgPr>
    </p:bg>
    <p:spTree>
      <p:nvGrpSpPr>
        <p:cNvPr id="781" name="Shape 781"/>
        <p:cNvGrpSpPr/>
        <p:nvPr/>
      </p:nvGrpSpPr>
      <p:grpSpPr>
        <a:xfrm>
          <a:off x="0" y="0"/>
          <a:ext cx="0" cy="0"/>
          <a:chOff x="0" y="0"/>
          <a:chExt cx="0" cy="0"/>
        </a:xfrm>
      </p:grpSpPr>
      <p:sp>
        <p:nvSpPr>
          <p:cNvPr id="782" name="Google Shape;782;p37"/>
          <p:cNvSpPr txBox="1"/>
          <p:nvPr/>
        </p:nvSpPr>
        <p:spPr>
          <a:xfrm>
            <a:off x="0" y="-2"/>
            <a:ext cx="12192000" cy="1080000"/>
          </a:xfrm>
          <a:prstGeom prst="rect">
            <a:avLst/>
          </a:prstGeom>
          <a:solidFill>
            <a:srgbClr val="521B93"/>
          </a:solidFill>
          <a:ln>
            <a:noFill/>
          </a:ln>
        </p:spPr>
        <p:txBody>
          <a:bodyPr anchorCtr="0" anchor="ctr" bIns="45700" lIns="91425" spcFirstLastPara="1" rIns="91425" wrap="square" tIns="45700">
            <a:noAutofit/>
          </a:bodyPr>
          <a:lstStyle/>
          <a:p>
            <a:pPr indent="0" lvl="0" marL="363538" marR="0" rtl="0" algn="l">
              <a:lnSpc>
                <a:spcPct val="120000"/>
              </a:lnSpc>
              <a:spcBef>
                <a:spcPts val="0"/>
              </a:spcBef>
              <a:spcAft>
                <a:spcPts val="0"/>
              </a:spcAft>
              <a:buNone/>
            </a:pPr>
            <a:r>
              <a:rPr b="1" lang="en-US" sz="4000">
                <a:solidFill>
                  <a:schemeClr val="accent4"/>
                </a:solidFill>
                <a:latin typeface="Avenir"/>
                <a:ea typeface="Avenir"/>
                <a:cs typeface="Avenir"/>
                <a:sym typeface="Avenir"/>
              </a:rPr>
              <a:t>4.  Classic Transactions</a:t>
            </a:r>
            <a:endParaRPr/>
          </a:p>
        </p:txBody>
      </p:sp>
      <p:pic>
        <p:nvPicPr>
          <p:cNvPr id="783" name="Google Shape;783;p37"/>
          <p:cNvPicPr preferRelativeResize="0"/>
          <p:nvPr/>
        </p:nvPicPr>
        <p:blipFill rotWithShape="1">
          <a:blip r:embed="rId3">
            <a:alphaModFix/>
          </a:blip>
          <a:srcRect b="0" l="0" r="0" t="0"/>
          <a:stretch/>
        </p:blipFill>
        <p:spPr>
          <a:xfrm rot="-662745">
            <a:off x="929161" y="2679470"/>
            <a:ext cx="2156345" cy="1499063"/>
          </a:xfrm>
          <a:prstGeom prst="rect">
            <a:avLst/>
          </a:prstGeom>
          <a:noFill/>
          <a:ln cap="flat" cmpd="sng" w="9525">
            <a:solidFill>
              <a:srgbClr val="7F7F7F"/>
            </a:solidFill>
            <a:prstDash val="solid"/>
            <a:round/>
            <a:headEnd len="sm" w="sm" type="none"/>
            <a:tailEnd len="sm" w="sm" type="none"/>
          </a:ln>
          <a:effectLst>
            <a:outerShdw blurRad="50800" rotWithShape="0" algn="tl" dir="2700000" dist="38100">
              <a:srgbClr val="000000">
                <a:alpha val="40000"/>
              </a:srgbClr>
            </a:outerShdw>
          </a:effectLst>
        </p:spPr>
      </p:pic>
      <p:pic>
        <p:nvPicPr>
          <p:cNvPr id="784" name="Google Shape;784;p37"/>
          <p:cNvPicPr preferRelativeResize="0"/>
          <p:nvPr/>
        </p:nvPicPr>
        <p:blipFill rotWithShape="1">
          <a:blip r:embed="rId4">
            <a:alphaModFix/>
          </a:blip>
          <a:srcRect b="0" l="0" r="0" t="0"/>
          <a:stretch/>
        </p:blipFill>
        <p:spPr>
          <a:xfrm rot="1476428">
            <a:off x="8963048" y="1984278"/>
            <a:ext cx="2138425" cy="2997989"/>
          </a:xfrm>
          <a:prstGeom prst="rect">
            <a:avLst/>
          </a:prstGeom>
          <a:noFill/>
          <a:ln cap="flat" cmpd="sng" w="9525">
            <a:solidFill>
              <a:srgbClr val="7F7F7F"/>
            </a:solidFill>
            <a:prstDash val="solid"/>
            <a:round/>
            <a:headEnd len="sm" w="sm" type="none"/>
            <a:tailEnd len="sm" w="sm" type="none"/>
          </a:ln>
          <a:effectLst>
            <a:outerShdw blurRad="50800" rotWithShape="0" algn="tl" dir="2700000" dist="38100">
              <a:srgbClr val="000000">
                <a:alpha val="40000"/>
              </a:srgbClr>
            </a:outerShdw>
          </a:effectLst>
        </p:spPr>
      </p:pic>
      <p:pic>
        <p:nvPicPr>
          <p:cNvPr id="785" name="Google Shape;785;p37"/>
          <p:cNvPicPr preferRelativeResize="0"/>
          <p:nvPr/>
        </p:nvPicPr>
        <p:blipFill rotWithShape="1">
          <a:blip r:embed="rId5">
            <a:alphaModFix/>
          </a:blip>
          <a:srcRect b="0" l="0" r="0" t="0"/>
          <a:stretch/>
        </p:blipFill>
        <p:spPr>
          <a:xfrm rot="912292">
            <a:off x="5978054" y="2576263"/>
            <a:ext cx="2779710" cy="1966619"/>
          </a:xfrm>
          <a:prstGeom prst="rect">
            <a:avLst/>
          </a:prstGeom>
          <a:noFill/>
          <a:ln cap="flat" cmpd="sng" w="9525">
            <a:solidFill>
              <a:srgbClr val="7F7F7F"/>
            </a:solidFill>
            <a:prstDash val="solid"/>
            <a:round/>
            <a:headEnd len="sm" w="sm" type="none"/>
            <a:tailEnd len="sm" w="sm" type="none"/>
          </a:ln>
          <a:effectLst>
            <a:outerShdw blurRad="50800" rotWithShape="0" algn="tl" dir="2700000" dist="38100">
              <a:srgbClr val="000000">
                <a:alpha val="40000"/>
              </a:srgbClr>
            </a:outerShdw>
          </a:effectLst>
        </p:spPr>
      </p:pic>
      <p:pic>
        <p:nvPicPr>
          <p:cNvPr id="786" name="Google Shape;786;p37"/>
          <p:cNvPicPr preferRelativeResize="0"/>
          <p:nvPr/>
        </p:nvPicPr>
        <p:blipFill rotWithShape="1">
          <a:blip r:embed="rId6">
            <a:alphaModFix/>
          </a:blip>
          <a:srcRect b="0" l="0" r="0" t="0"/>
          <a:stretch/>
        </p:blipFill>
        <p:spPr>
          <a:xfrm rot="-5400000">
            <a:off x="3818136" y="2351519"/>
            <a:ext cx="1700223" cy="2416108"/>
          </a:xfrm>
          <a:prstGeom prst="rect">
            <a:avLst/>
          </a:prstGeom>
          <a:noFill/>
          <a:ln cap="flat" cmpd="sng" w="12700">
            <a:solidFill>
              <a:srgbClr val="A5A5A5"/>
            </a:solidFill>
            <a:prstDash val="solid"/>
            <a:round/>
            <a:headEnd len="sm" w="sm" type="none"/>
            <a:tailEnd len="sm" w="sm" type="none"/>
          </a:ln>
          <a:effectLst>
            <a:outerShdw blurRad="50800" rotWithShape="0" algn="tl" dir="2700000" dist="38100">
              <a:srgbClr val="000000">
                <a:alpha val="40000"/>
              </a:srgbClr>
            </a:outerShdw>
          </a:effectLst>
        </p:spPr>
      </p:pic>
    </p:spTree>
  </p:cSld>
  <p:clrMapOvr>
    <a:masterClrMapping/>
  </p:clrMapOvr>
  <mc:AlternateContent>
    <mc:Choice Requires="p14">
      <p:transition spd="slow" p14:dur="700">
        <p:fade/>
      </p:transition>
    </mc:Choice>
    <mc:Fallback>
      <p:transition spd="slow">
        <p:fade/>
      </p:transition>
    </mc:Fallback>
  </mc:AlternateContent>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1" name="Shape 791"/>
        <p:cNvGrpSpPr/>
        <p:nvPr/>
      </p:nvGrpSpPr>
      <p:grpSpPr>
        <a:xfrm>
          <a:off x="0" y="0"/>
          <a:ext cx="0" cy="0"/>
          <a:chOff x="0" y="0"/>
          <a:chExt cx="0" cy="0"/>
        </a:xfrm>
      </p:grpSpPr>
      <p:sp>
        <p:nvSpPr>
          <p:cNvPr id="792" name="Google Shape;792;p38"/>
          <p:cNvSpPr txBox="1"/>
          <p:nvPr/>
        </p:nvSpPr>
        <p:spPr>
          <a:xfrm>
            <a:off x="4187006" y="133386"/>
            <a:ext cx="3629520"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cxnSp>
        <p:nvCxnSpPr>
          <p:cNvPr id="793" name="Google Shape;793;p38"/>
          <p:cNvCxnSpPr/>
          <p:nvPr/>
        </p:nvCxnSpPr>
        <p:spPr>
          <a:xfrm>
            <a:off x="4316098" y="566860"/>
            <a:ext cx="3375212" cy="0"/>
          </a:xfrm>
          <a:prstGeom prst="straightConnector1">
            <a:avLst/>
          </a:prstGeom>
          <a:noFill/>
          <a:ln cap="flat" cmpd="sng" w="28575">
            <a:solidFill>
              <a:schemeClr val="accent1"/>
            </a:solidFill>
            <a:prstDash val="dot"/>
            <a:miter lim="800000"/>
            <a:headEnd len="sm" w="sm" type="none"/>
            <a:tailEnd len="sm" w="sm" type="none"/>
          </a:ln>
        </p:spPr>
      </p:cxnSp>
      <p:grpSp>
        <p:nvGrpSpPr>
          <p:cNvPr id="794" name="Google Shape;794;p38"/>
          <p:cNvGrpSpPr/>
          <p:nvPr/>
        </p:nvGrpSpPr>
        <p:grpSpPr>
          <a:xfrm>
            <a:off x="492858" y="773769"/>
            <a:ext cx="11291146" cy="5895963"/>
            <a:chOff x="492858" y="773769"/>
            <a:chExt cx="11291146" cy="5895963"/>
          </a:xfrm>
        </p:grpSpPr>
        <p:sp>
          <p:nvSpPr>
            <p:cNvPr id="795" name="Google Shape;795;p38"/>
            <p:cNvSpPr txBox="1"/>
            <p:nvPr/>
          </p:nvSpPr>
          <p:spPr>
            <a:xfrm>
              <a:off x="6227788" y="2623662"/>
              <a:ext cx="5556216" cy="1692844"/>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Equity</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796" name="Google Shape;796;p38"/>
            <p:cNvSpPr txBox="1"/>
            <p:nvPr/>
          </p:nvSpPr>
          <p:spPr>
            <a:xfrm>
              <a:off x="6410845" y="3135649"/>
              <a:ext cx="1544844" cy="770509"/>
            </a:xfrm>
            <a:prstGeom prst="rect">
              <a:avLst/>
            </a:prstGeom>
            <a:noFill/>
            <a:ln cap="flat" cmpd="sng" w="5715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ctr">
                <a:lnSpc>
                  <a:spcPct val="120000"/>
                </a:lnSpc>
                <a:spcBef>
                  <a:spcPts val="0"/>
                </a:spcBef>
                <a:spcAft>
                  <a:spcPts val="0"/>
                </a:spcAft>
                <a:buNone/>
              </a:pPr>
              <a:r>
                <a:rPr b="1" lang="en-US" sz="2200">
                  <a:solidFill>
                    <a:srgbClr val="942093"/>
                  </a:solidFill>
                  <a:latin typeface="Avenir"/>
                  <a:ea typeface="Avenir"/>
                  <a:cs typeface="Avenir"/>
                  <a:sym typeface="Avenir"/>
                </a:rPr>
                <a:t>Profit</a:t>
              </a:r>
              <a:endParaRPr/>
            </a:p>
          </p:txBody>
        </p:sp>
        <p:sp>
          <p:nvSpPr>
            <p:cNvPr id="797" name="Google Shape;797;p38"/>
            <p:cNvSpPr txBox="1"/>
            <p:nvPr/>
          </p:nvSpPr>
          <p:spPr>
            <a:xfrm>
              <a:off x="6227788" y="773769"/>
              <a:ext cx="5556216" cy="1702674"/>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Liabilities</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grpSp>
          <p:nvGrpSpPr>
            <p:cNvPr id="798" name="Google Shape;798;p38"/>
            <p:cNvGrpSpPr/>
            <p:nvPr/>
          </p:nvGrpSpPr>
          <p:grpSpPr>
            <a:xfrm>
              <a:off x="492858" y="3906158"/>
              <a:ext cx="11291146" cy="2763574"/>
              <a:chOff x="1354633" y="4399872"/>
              <a:chExt cx="9550931" cy="2121952"/>
            </a:xfrm>
          </p:grpSpPr>
          <p:sp>
            <p:nvSpPr>
              <p:cNvPr id="799" name="Google Shape;799;p38"/>
              <p:cNvSpPr txBox="1"/>
              <p:nvPr/>
            </p:nvSpPr>
            <p:spPr>
              <a:xfrm>
                <a:off x="1354633" y="4813260"/>
                <a:ext cx="9550931" cy="1708564"/>
              </a:xfrm>
              <a:prstGeom prst="rect">
                <a:avLst/>
              </a:prstGeom>
              <a:solidFill>
                <a:srgbClr val="FCECFB"/>
              </a:solidFill>
              <a:ln cap="flat" cmpd="sng" w="7620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b="1" lang="en-US" sz="2800">
                    <a:solidFill>
                      <a:schemeClr val="dk1"/>
                    </a:solidFill>
                    <a:latin typeface="Avenir"/>
                    <a:ea typeface="Avenir"/>
                    <a:cs typeface="Avenir"/>
                    <a:sym typeface="Avenir"/>
                  </a:rPr>
                  <a:t> </a:t>
                </a:r>
                <a:endParaRPr/>
              </a:p>
            </p:txBody>
          </p:sp>
          <p:sp>
            <p:nvSpPr>
              <p:cNvPr id="800" name="Google Shape;800;p38"/>
              <p:cNvSpPr txBox="1"/>
              <p:nvPr/>
            </p:nvSpPr>
            <p:spPr>
              <a:xfrm>
                <a:off x="6199863" y="4921166"/>
                <a:ext cx="4576976" cy="1495361"/>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Income</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801" name="Google Shape;801;p38"/>
              <p:cNvSpPr txBox="1"/>
              <p:nvPr/>
            </p:nvSpPr>
            <p:spPr>
              <a:xfrm>
                <a:off x="1481256" y="4921166"/>
                <a:ext cx="4552539" cy="1495361"/>
              </a:xfrm>
              <a:prstGeom prst="rect">
                <a:avLst/>
              </a:prstGeom>
              <a:solidFill>
                <a:srgbClr val="E1EFD8"/>
              </a:solid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None/>
                </a:pPr>
                <a:r>
                  <a:rPr b="1" lang="en-US" sz="2800">
                    <a:solidFill>
                      <a:srgbClr val="E1EFD8"/>
                    </a:solidFill>
                    <a:latin typeface="Avenir"/>
                    <a:ea typeface="Avenir"/>
                    <a:cs typeface="Avenir"/>
                    <a:sym typeface="Avenir"/>
                  </a:rPr>
                  <a:t>_</a:t>
                </a:r>
                <a:r>
                  <a:rPr b="1" lang="en-US" sz="2000">
                    <a:solidFill>
                      <a:schemeClr val="dk1"/>
                    </a:solidFill>
                    <a:latin typeface="Avenir"/>
                    <a:ea typeface="Avenir"/>
                    <a:cs typeface="Avenir"/>
                    <a:sym typeface="Avenir"/>
                  </a:rPr>
                  <a:t>Expenses</a:t>
                </a:r>
                <a:endParaRPr b="1" sz="2800">
                  <a:solidFill>
                    <a:schemeClr val="dk1"/>
                  </a:solidFill>
                  <a:latin typeface="Avenir"/>
                  <a:ea typeface="Avenir"/>
                  <a:cs typeface="Avenir"/>
                  <a:sym typeface="Avenir"/>
                </a:endParaRPr>
              </a:p>
            </p:txBody>
          </p:sp>
          <p:cxnSp>
            <p:nvCxnSpPr>
              <p:cNvPr id="802" name="Google Shape;802;p38"/>
              <p:cNvCxnSpPr>
                <a:stCxn id="796" idx="2"/>
              </p:cNvCxnSpPr>
              <p:nvPr/>
            </p:nvCxnSpPr>
            <p:spPr>
              <a:xfrm>
                <a:off x="7013902" y="4399872"/>
                <a:ext cx="7500" cy="434700"/>
              </a:xfrm>
              <a:prstGeom prst="straightConnector1">
                <a:avLst/>
              </a:prstGeom>
              <a:noFill/>
              <a:ln cap="flat" cmpd="sng" w="76200">
                <a:solidFill>
                  <a:srgbClr val="942093"/>
                </a:solidFill>
                <a:prstDash val="solid"/>
                <a:miter lim="800000"/>
                <a:headEnd len="sm" w="sm" type="none"/>
                <a:tailEnd len="sm" w="sm" type="none"/>
              </a:ln>
            </p:spPr>
          </p:cxnSp>
        </p:grpSp>
        <p:sp>
          <p:nvSpPr>
            <p:cNvPr id="803" name="Google Shape;803;p38"/>
            <p:cNvSpPr txBox="1"/>
            <p:nvPr/>
          </p:nvSpPr>
          <p:spPr>
            <a:xfrm>
              <a:off x="492858" y="773769"/>
              <a:ext cx="5544457" cy="3542737"/>
            </a:xfrm>
            <a:prstGeom prst="rect">
              <a:avLst/>
            </a:prstGeom>
            <a:solidFill>
              <a:srgbClr val="E1EFD8"/>
            </a:solid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None/>
              </a:pPr>
              <a:r>
                <a:rPr b="1" lang="en-US" sz="2800">
                  <a:solidFill>
                    <a:srgbClr val="E1EFD8"/>
                  </a:solidFill>
                  <a:latin typeface="Avenir"/>
                  <a:ea typeface="Avenir"/>
                  <a:cs typeface="Avenir"/>
                  <a:sym typeface="Avenir"/>
                </a:rPr>
                <a:t>_</a:t>
              </a:r>
              <a:r>
                <a:rPr b="1" lang="en-US" sz="2000">
                  <a:solidFill>
                    <a:schemeClr val="dk1"/>
                  </a:solidFill>
                  <a:latin typeface="Avenir"/>
                  <a:ea typeface="Avenir"/>
                  <a:cs typeface="Avenir"/>
                  <a:sym typeface="Avenir"/>
                </a:rPr>
                <a:t>Assets</a:t>
              </a:r>
              <a:endParaRPr b="1" sz="2800">
                <a:solidFill>
                  <a:schemeClr val="dk1"/>
                </a:solidFill>
                <a:latin typeface="Avenir"/>
                <a:ea typeface="Avenir"/>
                <a:cs typeface="Avenir"/>
                <a:sym typeface="Avenir"/>
              </a:endParaRPr>
            </a:p>
          </p:txBody>
        </p:sp>
      </p:grpSp>
      <p:sp>
        <p:nvSpPr>
          <p:cNvPr id="804" name="Google Shape;804;p38"/>
          <p:cNvSpPr txBox="1"/>
          <p:nvPr/>
        </p:nvSpPr>
        <p:spPr>
          <a:xfrm>
            <a:off x="9504213" y="373659"/>
            <a:ext cx="2279791" cy="40011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000">
                <a:solidFill>
                  <a:schemeClr val="accent2"/>
                </a:solidFill>
                <a:latin typeface="Avenir"/>
                <a:ea typeface="Avenir"/>
                <a:cs typeface="Avenir"/>
                <a:sym typeface="Avenir"/>
              </a:rPr>
              <a:t>Sources of funds</a:t>
            </a:r>
            <a:endParaRPr/>
          </a:p>
        </p:txBody>
      </p:sp>
      <p:sp>
        <p:nvSpPr>
          <p:cNvPr id="805" name="Google Shape;805;p38"/>
          <p:cNvSpPr txBox="1"/>
          <p:nvPr/>
        </p:nvSpPr>
        <p:spPr>
          <a:xfrm>
            <a:off x="492858" y="373659"/>
            <a:ext cx="1880643" cy="40011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000">
                <a:solidFill>
                  <a:schemeClr val="accent6"/>
                </a:solidFill>
                <a:latin typeface="Avenir"/>
                <a:ea typeface="Avenir"/>
                <a:cs typeface="Avenir"/>
                <a:sym typeface="Avenir"/>
              </a:rPr>
              <a:t>Uses of funds</a:t>
            </a:r>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0" name="Shape 810"/>
        <p:cNvGrpSpPr/>
        <p:nvPr/>
      </p:nvGrpSpPr>
      <p:grpSpPr>
        <a:xfrm>
          <a:off x="0" y="0"/>
          <a:ext cx="0" cy="0"/>
          <a:chOff x="0" y="0"/>
          <a:chExt cx="0" cy="0"/>
        </a:xfrm>
      </p:grpSpPr>
      <p:sp>
        <p:nvSpPr>
          <p:cNvPr id="811" name="Google Shape;811;p39"/>
          <p:cNvSpPr txBox="1"/>
          <p:nvPr/>
        </p:nvSpPr>
        <p:spPr>
          <a:xfrm>
            <a:off x="4187006" y="284371"/>
            <a:ext cx="3629520"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cxnSp>
        <p:nvCxnSpPr>
          <p:cNvPr id="812" name="Google Shape;812;p39"/>
          <p:cNvCxnSpPr/>
          <p:nvPr/>
        </p:nvCxnSpPr>
        <p:spPr>
          <a:xfrm>
            <a:off x="4316098" y="717845"/>
            <a:ext cx="3375212" cy="0"/>
          </a:xfrm>
          <a:prstGeom prst="straightConnector1">
            <a:avLst/>
          </a:prstGeom>
          <a:noFill/>
          <a:ln cap="flat" cmpd="sng" w="28575">
            <a:solidFill>
              <a:schemeClr val="accent1"/>
            </a:solidFill>
            <a:prstDash val="dot"/>
            <a:miter lim="800000"/>
            <a:headEnd len="sm" w="sm" type="none"/>
            <a:tailEnd len="sm" w="sm" type="none"/>
          </a:ln>
        </p:spPr>
      </p:cxnSp>
      <p:grpSp>
        <p:nvGrpSpPr>
          <p:cNvPr id="813" name="Google Shape;813;p39"/>
          <p:cNvGrpSpPr/>
          <p:nvPr/>
        </p:nvGrpSpPr>
        <p:grpSpPr>
          <a:xfrm>
            <a:off x="1284576" y="2130924"/>
            <a:ext cx="10188969" cy="756004"/>
            <a:chOff x="926134" y="1719856"/>
            <a:chExt cx="9204181" cy="750147"/>
          </a:xfrm>
        </p:grpSpPr>
        <p:sp>
          <p:nvSpPr>
            <p:cNvPr id="814" name="Google Shape;814;p39"/>
            <p:cNvSpPr txBox="1"/>
            <p:nvPr/>
          </p:nvSpPr>
          <p:spPr>
            <a:xfrm>
              <a:off x="1641585" y="1719860"/>
              <a:ext cx="5447935"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139700" marR="0" rtl="0" algn="l">
                <a:spcBef>
                  <a:spcPts val="0"/>
                </a:spcBef>
                <a:spcAft>
                  <a:spcPts val="0"/>
                </a:spcAft>
                <a:buNone/>
              </a:pPr>
              <a:r>
                <a:rPr lang="en-US" sz="2000">
                  <a:solidFill>
                    <a:schemeClr val="dk1"/>
                  </a:solidFill>
                  <a:latin typeface="Calibri"/>
                  <a:ea typeface="Calibri"/>
                  <a:cs typeface="Calibri"/>
                  <a:sym typeface="Calibri"/>
                </a:rPr>
                <a:t>대출기관에서 돈을 빌려 사업용 계좌에 입금하다.</a:t>
              </a:r>
              <a:endParaRPr sz="2000">
                <a:solidFill>
                  <a:schemeClr val="dk1"/>
                </a:solidFill>
                <a:latin typeface="Avenir"/>
                <a:ea typeface="Avenir"/>
                <a:cs typeface="Avenir"/>
                <a:sym typeface="Avenir"/>
              </a:endParaRPr>
            </a:p>
          </p:txBody>
        </p:sp>
        <p:sp>
          <p:nvSpPr>
            <p:cNvPr id="815" name="Google Shape;815;p39"/>
            <p:cNvSpPr txBox="1"/>
            <p:nvPr/>
          </p:nvSpPr>
          <p:spPr>
            <a:xfrm>
              <a:off x="7089520" y="1719858"/>
              <a:ext cx="1520398" cy="745310"/>
            </a:xfrm>
            <a:prstGeom prst="rect">
              <a:avLst/>
            </a:prstGeom>
            <a:solidFill>
              <a:srgbClr val="E1EFD8"/>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Cash</a:t>
              </a: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30,000</a:t>
              </a:r>
              <a:endParaRPr/>
            </a:p>
          </p:txBody>
        </p:sp>
        <p:sp>
          <p:nvSpPr>
            <p:cNvPr id="816" name="Google Shape;816;p39"/>
            <p:cNvSpPr txBox="1"/>
            <p:nvPr/>
          </p:nvSpPr>
          <p:spPr>
            <a:xfrm>
              <a:off x="8609917" y="1719858"/>
              <a:ext cx="1520398" cy="745310"/>
            </a:xfrm>
            <a:prstGeom prst="rect">
              <a:avLst/>
            </a:prstGeom>
            <a:solidFill>
              <a:srgbClr val="FBE4D4"/>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Bank loan</a:t>
              </a:r>
              <a:endParaRPr b="1" sz="1600">
                <a:solidFill>
                  <a:srgbClr val="BFBFBF"/>
                </a:solidFill>
                <a:latin typeface="Avenir"/>
                <a:ea typeface="Avenir"/>
                <a:cs typeface="Avenir"/>
                <a:sym typeface="Aveni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30,000</a:t>
              </a:r>
              <a:endParaRPr/>
            </a:p>
          </p:txBody>
        </p:sp>
        <p:sp>
          <p:nvSpPr>
            <p:cNvPr id="817" name="Google Shape;817;p39"/>
            <p:cNvSpPr txBox="1"/>
            <p:nvPr/>
          </p:nvSpPr>
          <p:spPr>
            <a:xfrm>
              <a:off x="926134" y="1719856"/>
              <a:ext cx="715451"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1</a:t>
              </a:r>
              <a:endParaRPr/>
            </a:p>
          </p:txBody>
        </p:sp>
      </p:grpSp>
      <p:sp>
        <p:nvSpPr>
          <p:cNvPr id="818" name="Google Shape;818;p39"/>
          <p:cNvSpPr txBox="1"/>
          <p:nvPr/>
        </p:nvSpPr>
        <p:spPr>
          <a:xfrm>
            <a:off x="8109273" y="2130924"/>
            <a:ext cx="1681200" cy="756000"/>
          </a:xfrm>
          <a:prstGeom prst="rect">
            <a:avLst/>
          </a:prstGeom>
          <a:solidFill>
            <a:srgbClr val="548135"/>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30,000</a:t>
            </a:r>
            <a:endParaRPr/>
          </a:p>
        </p:txBody>
      </p:sp>
      <p:sp>
        <p:nvSpPr>
          <p:cNvPr id="819" name="Google Shape;819;p39"/>
          <p:cNvSpPr txBox="1"/>
          <p:nvPr/>
        </p:nvSpPr>
        <p:spPr>
          <a:xfrm>
            <a:off x="9792343" y="2130924"/>
            <a:ext cx="1681200" cy="756000"/>
          </a:xfrm>
          <a:prstGeom prst="rect">
            <a:avLst/>
          </a:prstGeom>
          <a:solidFill>
            <a:schemeClr val="accent2"/>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30,000</a:t>
            </a:r>
            <a:endParaRPr/>
          </a:p>
        </p:txBody>
      </p:sp>
      <p:sp>
        <p:nvSpPr>
          <p:cNvPr id="820" name="Google Shape;820;p39"/>
          <p:cNvSpPr/>
          <p:nvPr/>
        </p:nvSpPr>
        <p:spPr>
          <a:xfrm>
            <a:off x="1284578" y="1520543"/>
            <a:ext cx="2024679" cy="42011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2130">
                <a:solidFill>
                  <a:schemeClr val="dk1"/>
                </a:solidFill>
                <a:latin typeface="Avenir"/>
                <a:ea typeface="Avenir"/>
                <a:cs typeface="Avenir"/>
                <a:sym typeface="Avenir"/>
              </a:rPr>
              <a:t>2 January</a:t>
            </a:r>
            <a:endParaRPr sz="2130">
              <a:solidFill>
                <a:schemeClr val="dk1"/>
              </a:solidFill>
              <a:latin typeface="Avenir"/>
              <a:ea typeface="Avenir"/>
              <a:cs typeface="Avenir"/>
              <a:sym typeface="Avenir"/>
            </a:endParaRPr>
          </a:p>
        </p:txBody>
      </p:sp>
      <p:sp>
        <p:nvSpPr>
          <p:cNvPr id="821" name="Google Shape;821;p39"/>
          <p:cNvSpPr txBox="1"/>
          <p:nvPr/>
        </p:nvSpPr>
        <p:spPr>
          <a:xfrm>
            <a:off x="718455" y="3034199"/>
            <a:ext cx="10949127" cy="3046988"/>
          </a:xfrm>
          <a:prstGeom prst="rect">
            <a:avLst/>
          </a:prstGeom>
          <a:solidFill>
            <a:srgbClr val="A8D08C"/>
          </a:solidFill>
          <a:ln>
            <a:noFill/>
          </a:ln>
        </p:spPr>
        <p:txBody>
          <a:bodyPr anchorCtr="0" anchor="t" bIns="45700" lIns="91425" spcFirstLastPara="1" rIns="91425" wrap="square" tIns="45700">
            <a:spAutoFit/>
          </a:bodyPr>
          <a:lstStyle/>
          <a:p>
            <a:pPr indent="0" lvl="0" marL="0" marR="0" rtl="0" algn="ctr">
              <a:spcBef>
                <a:spcPts val="0"/>
              </a:spcBef>
              <a:spcAft>
                <a:spcPts val="0"/>
              </a:spcAft>
              <a:buClr>
                <a:schemeClr val="dk1"/>
              </a:buClr>
              <a:buSzPts val="4000"/>
              <a:buFont typeface="Arial"/>
              <a:buNone/>
            </a:pPr>
            <a:r>
              <a:rPr b="1" lang="en-US" sz="4000">
                <a:solidFill>
                  <a:schemeClr val="dk1"/>
                </a:solidFill>
                <a:latin typeface="Gulim"/>
                <a:ea typeface="Gulim"/>
                <a:cs typeface="Gulim"/>
                <a:sym typeface="Gulim"/>
              </a:rPr>
              <a:t>생각의 흐름 (먼저 큰 그림부터 보기):</a:t>
            </a:r>
            <a:endParaRPr/>
          </a:p>
          <a:p>
            <a:pPr indent="0" lvl="0" marL="0" marR="0" rtl="0" algn="ctr">
              <a:spcBef>
                <a:spcPts val="800"/>
              </a:spcBef>
              <a:spcAft>
                <a:spcPts val="0"/>
              </a:spcAft>
              <a:buClr>
                <a:schemeClr val="lt1"/>
              </a:buClr>
              <a:buSzPts val="4000"/>
              <a:buFont typeface="Arial"/>
              <a:buNone/>
            </a:pPr>
            <a:r>
              <a:rPr lang="en-US" sz="4000">
                <a:solidFill>
                  <a:schemeClr val="lt1"/>
                </a:solidFill>
                <a:latin typeface="Gulim"/>
                <a:ea typeface="Gulim"/>
                <a:cs typeface="Gulim"/>
                <a:sym typeface="Gulim"/>
              </a:rPr>
              <a:t>이 거래의 결과로 </a:t>
            </a:r>
            <a:r>
              <a:rPr b="1" lang="en-US" sz="4000">
                <a:solidFill>
                  <a:schemeClr val="lt1"/>
                </a:solidFill>
                <a:latin typeface="Gulim"/>
                <a:ea typeface="Gulim"/>
                <a:cs typeface="Gulim"/>
                <a:sym typeface="Gulim"/>
              </a:rPr>
              <a:t>무엇이 더 많아졌는가</a:t>
            </a:r>
            <a:r>
              <a:rPr lang="en-US" sz="4000">
                <a:solidFill>
                  <a:schemeClr val="lt1"/>
                </a:solidFill>
                <a:latin typeface="Gulim"/>
                <a:ea typeface="Gulim"/>
                <a:cs typeface="Gulim"/>
                <a:sym typeface="Gulim"/>
              </a:rPr>
              <a:t>, 또는</a:t>
            </a:r>
            <a:br>
              <a:rPr lang="en-US" sz="4000">
                <a:solidFill>
                  <a:schemeClr val="lt1"/>
                </a:solidFill>
                <a:latin typeface="Gulim"/>
                <a:ea typeface="Gulim"/>
                <a:cs typeface="Gulim"/>
                <a:sym typeface="Gulim"/>
              </a:rPr>
            </a:br>
            <a:r>
              <a:rPr b="1" lang="en-US" sz="4000">
                <a:solidFill>
                  <a:schemeClr val="lt1"/>
                </a:solidFill>
                <a:latin typeface="Gulim"/>
                <a:ea typeface="Gulim"/>
                <a:cs typeface="Gulim"/>
                <a:sym typeface="Gulim"/>
              </a:rPr>
              <a:t>무엇이 더 줄어들었는가?</a:t>
            </a:r>
            <a:endParaRPr sz="4000">
              <a:solidFill>
                <a:schemeClr val="lt1"/>
              </a:solidFill>
              <a:latin typeface="Gulim"/>
              <a:ea typeface="Gulim"/>
              <a:cs typeface="Gulim"/>
              <a:sym typeface="Gulim"/>
            </a:endParaRPr>
          </a:p>
          <a:p>
            <a:pPr indent="0" lvl="0" marL="0" marR="0" rtl="0" algn="ctr">
              <a:spcBef>
                <a:spcPts val="0"/>
              </a:spcBef>
              <a:spcAft>
                <a:spcPts val="0"/>
              </a:spcAft>
              <a:buClr>
                <a:schemeClr val="lt1"/>
              </a:buClr>
              <a:buSzPts val="3200"/>
              <a:buFont typeface="Arial"/>
              <a:buNone/>
            </a:pPr>
            <a:r>
              <a:rPr lang="en-US" sz="3200">
                <a:solidFill>
                  <a:schemeClr val="lt1"/>
                </a:solidFill>
                <a:latin typeface="Avenir"/>
                <a:ea typeface="Avenir"/>
                <a:cs typeface="Avenir"/>
                <a:sym typeface="Avenir"/>
              </a:rPr>
              <a:t>(in terms of Assets, Liabilities, Equity,</a:t>
            </a:r>
            <a:endParaRPr/>
          </a:p>
          <a:p>
            <a:pPr indent="0" lvl="0" marL="0" marR="0" rtl="0" algn="ctr">
              <a:spcBef>
                <a:spcPts val="0"/>
              </a:spcBef>
              <a:spcAft>
                <a:spcPts val="0"/>
              </a:spcAft>
              <a:buClr>
                <a:schemeClr val="lt1"/>
              </a:buClr>
              <a:buSzPts val="3200"/>
              <a:buFont typeface="Arial"/>
              <a:buNone/>
            </a:pPr>
            <a:r>
              <a:rPr lang="en-US" sz="3200">
                <a:solidFill>
                  <a:schemeClr val="lt1"/>
                </a:solidFill>
                <a:latin typeface="Avenir"/>
                <a:ea typeface="Avenir"/>
                <a:cs typeface="Avenir"/>
                <a:sym typeface="Avenir"/>
              </a:rPr>
              <a:t>Revenue &amp; Expenses?)</a:t>
            </a:r>
            <a:endParaRPr/>
          </a:p>
        </p:txBody>
      </p:sp>
    </p:spTree>
  </p:cSld>
  <p:clrMapOvr>
    <a:masterClrMapping/>
  </p:clrMapOvr>
  <mc:AlternateContent>
    <mc:Choice Requires="p14">
      <p:transition spd="slow" p14:dur="700">
        <p:fade/>
      </p:transition>
    </mc:Choice>
    <mc:Fallback>
      <p:transition spd="slow">
        <p:fade/>
      </p:transition>
    </mc:Fallback>
  </mc:AlternateContent>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4">
                                  <p:stCondLst>
                                    <p:cond delay="0"/>
                                  </p:stCondLst>
                                  <p:childTnLst>
                                    <p:set>
                                      <p:cBhvr>
                                        <p:cTn dur="1" fill="hold">
                                          <p:stCondLst>
                                            <p:cond delay="0"/>
                                          </p:stCondLst>
                                        </p:cTn>
                                        <p:tgtEl>
                                          <p:spTgt spid="821"/>
                                        </p:tgtEl>
                                        <p:attrNameLst>
                                          <p:attrName>style.visibility</p:attrName>
                                        </p:attrNameLst>
                                      </p:cBhvr>
                                      <p:to>
                                        <p:strVal val="visible"/>
                                      </p:to>
                                    </p:set>
                                    <p:anim calcmode="lin" valueType="num">
                                      <p:cBhvr additive="base">
                                        <p:cTn dur="500"/>
                                        <p:tgtEl>
                                          <p:spTgt spid="821"/>
                                        </p:tgtEl>
                                        <p:attrNameLst>
                                          <p:attrName>ppt_y</p:attrName>
                                        </p:attrNameLst>
                                      </p:cBhvr>
                                      <p:tavLst>
                                        <p:tav fmla="" tm="0">
                                          <p:val>
                                            <p:strVal val="#ppt_y+1"/>
                                          </p:val>
                                        </p:tav>
                                        <p:tav fmla="" tm="100000">
                                          <p:val>
                                            <p:strVal val="#ppt_y"/>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6" name="Shape 826"/>
        <p:cNvGrpSpPr/>
        <p:nvPr/>
      </p:nvGrpSpPr>
      <p:grpSpPr>
        <a:xfrm>
          <a:off x="0" y="0"/>
          <a:ext cx="0" cy="0"/>
          <a:chOff x="0" y="0"/>
          <a:chExt cx="0" cy="0"/>
        </a:xfrm>
      </p:grpSpPr>
      <p:sp>
        <p:nvSpPr>
          <p:cNvPr id="827" name="Google Shape;827;p40"/>
          <p:cNvSpPr txBox="1"/>
          <p:nvPr/>
        </p:nvSpPr>
        <p:spPr>
          <a:xfrm>
            <a:off x="4187006" y="133386"/>
            <a:ext cx="3629520"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cxnSp>
        <p:nvCxnSpPr>
          <p:cNvPr id="828" name="Google Shape;828;p40"/>
          <p:cNvCxnSpPr/>
          <p:nvPr/>
        </p:nvCxnSpPr>
        <p:spPr>
          <a:xfrm>
            <a:off x="4316098" y="566860"/>
            <a:ext cx="3375212" cy="0"/>
          </a:xfrm>
          <a:prstGeom prst="straightConnector1">
            <a:avLst/>
          </a:prstGeom>
          <a:noFill/>
          <a:ln cap="flat" cmpd="sng" w="28575">
            <a:solidFill>
              <a:schemeClr val="accent1"/>
            </a:solidFill>
            <a:prstDash val="dot"/>
            <a:miter lim="800000"/>
            <a:headEnd len="sm" w="sm" type="none"/>
            <a:tailEnd len="sm" w="sm" type="none"/>
          </a:ln>
        </p:spPr>
      </p:cxnSp>
      <p:grpSp>
        <p:nvGrpSpPr>
          <p:cNvPr id="829" name="Google Shape;829;p40"/>
          <p:cNvGrpSpPr/>
          <p:nvPr/>
        </p:nvGrpSpPr>
        <p:grpSpPr>
          <a:xfrm>
            <a:off x="492858" y="773769"/>
            <a:ext cx="11291146" cy="5895963"/>
            <a:chOff x="492858" y="773769"/>
            <a:chExt cx="11291146" cy="5895963"/>
          </a:xfrm>
        </p:grpSpPr>
        <p:sp>
          <p:nvSpPr>
            <p:cNvPr id="830" name="Google Shape;830;p40"/>
            <p:cNvSpPr txBox="1"/>
            <p:nvPr/>
          </p:nvSpPr>
          <p:spPr>
            <a:xfrm>
              <a:off x="6227788" y="2623662"/>
              <a:ext cx="5556216" cy="1692844"/>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Equity</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831" name="Google Shape;831;p40"/>
            <p:cNvSpPr txBox="1"/>
            <p:nvPr/>
          </p:nvSpPr>
          <p:spPr>
            <a:xfrm>
              <a:off x="6410845" y="3135649"/>
              <a:ext cx="1544844" cy="770509"/>
            </a:xfrm>
            <a:prstGeom prst="rect">
              <a:avLst/>
            </a:prstGeom>
            <a:noFill/>
            <a:ln cap="flat" cmpd="sng" w="5715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ctr">
                <a:lnSpc>
                  <a:spcPct val="120000"/>
                </a:lnSpc>
                <a:spcBef>
                  <a:spcPts val="0"/>
                </a:spcBef>
                <a:spcAft>
                  <a:spcPts val="0"/>
                </a:spcAft>
                <a:buNone/>
              </a:pPr>
              <a:r>
                <a:rPr b="1" lang="en-US" sz="2200">
                  <a:solidFill>
                    <a:srgbClr val="942093"/>
                  </a:solidFill>
                  <a:latin typeface="Avenir"/>
                  <a:ea typeface="Avenir"/>
                  <a:cs typeface="Avenir"/>
                  <a:sym typeface="Avenir"/>
                </a:rPr>
                <a:t>Profit</a:t>
              </a:r>
              <a:endParaRPr/>
            </a:p>
          </p:txBody>
        </p:sp>
        <p:sp>
          <p:nvSpPr>
            <p:cNvPr id="832" name="Google Shape;832;p40"/>
            <p:cNvSpPr txBox="1"/>
            <p:nvPr/>
          </p:nvSpPr>
          <p:spPr>
            <a:xfrm>
              <a:off x="6227788" y="773769"/>
              <a:ext cx="5556216" cy="1702674"/>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Liabilities</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grpSp>
          <p:nvGrpSpPr>
            <p:cNvPr id="833" name="Google Shape;833;p40"/>
            <p:cNvGrpSpPr/>
            <p:nvPr/>
          </p:nvGrpSpPr>
          <p:grpSpPr>
            <a:xfrm>
              <a:off x="492858" y="3906158"/>
              <a:ext cx="11291146" cy="2763574"/>
              <a:chOff x="1354633" y="4399872"/>
              <a:chExt cx="9550931" cy="2121952"/>
            </a:xfrm>
          </p:grpSpPr>
          <p:sp>
            <p:nvSpPr>
              <p:cNvPr id="834" name="Google Shape;834;p40"/>
              <p:cNvSpPr txBox="1"/>
              <p:nvPr/>
            </p:nvSpPr>
            <p:spPr>
              <a:xfrm>
                <a:off x="1354633" y="4813260"/>
                <a:ext cx="9550931" cy="1708564"/>
              </a:xfrm>
              <a:prstGeom prst="rect">
                <a:avLst/>
              </a:prstGeom>
              <a:solidFill>
                <a:srgbClr val="FCECFB"/>
              </a:solidFill>
              <a:ln cap="flat" cmpd="sng" w="7620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b="1" lang="en-US" sz="2800">
                    <a:solidFill>
                      <a:schemeClr val="dk1"/>
                    </a:solidFill>
                    <a:latin typeface="Avenir"/>
                    <a:ea typeface="Avenir"/>
                    <a:cs typeface="Avenir"/>
                    <a:sym typeface="Avenir"/>
                  </a:rPr>
                  <a:t> </a:t>
                </a:r>
                <a:endParaRPr/>
              </a:p>
            </p:txBody>
          </p:sp>
          <p:sp>
            <p:nvSpPr>
              <p:cNvPr id="835" name="Google Shape;835;p40"/>
              <p:cNvSpPr txBox="1"/>
              <p:nvPr/>
            </p:nvSpPr>
            <p:spPr>
              <a:xfrm>
                <a:off x="6199863" y="4921166"/>
                <a:ext cx="4576976" cy="1495361"/>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Income</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836" name="Google Shape;836;p40"/>
              <p:cNvSpPr txBox="1"/>
              <p:nvPr/>
            </p:nvSpPr>
            <p:spPr>
              <a:xfrm>
                <a:off x="1481256" y="4921166"/>
                <a:ext cx="4552539" cy="1495361"/>
              </a:xfrm>
              <a:prstGeom prst="rect">
                <a:avLst/>
              </a:prstGeom>
              <a:solidFill>
                <a:srgbClr val="E1EFD8"/>
              </a:solid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None/>
                </a:pPr>
                <a:r>
                  <a:rPr b="1" lang="en-US" sz="2800">
                    <a:solidFill>
                      <a:srgbClr val="E1EFD8"/>
                    </a:solidFill>
                    <a:latin typeface="Avenir"/>
                    <a:ea typeface="Avenir"/>
                    <a:cs typeface="Avenir"/>
                    <a:sym typeface="Avenir"/>
                  </a:rPr>
                  <a:t>_</a:t>
                </a:r>
                <a:r>
                  <a:rPr b="1" lang="en-US" sz="2000">
                    <a:solidFill>
                      <a:schemeClr val="dk1"/>
                    </a:solidFill>
                    <a:latin typeface="Avenir"/>
                    <a:ea typeface="Avenir"/>
                    <a:cs typeface="Avenir"/>
                    <a:sym typeface="Avenir"/>
                  </a:rPr>
                  <a:t>Expenses</a:t>
                </a:r>
                <a:endParaRPr b="1" sz="2800">
                  <a:solidFill>
                    <a:schemeClr val="dk1"/>
                  </a:solidFill>
                  <a:latin typeface="Avenir"/>
                  <a:ea typeface="Avenir"/>
                  <a:cs typeface="Avenir"/>
                  <a:sym typeface="Avenir"/>
                </a:endParaRPr>
              </a:p>
            </p:txBody>
          </p:sp>
          <p:cxnSp>
            <p:nvCxnSpPr>
              <p:cNvPr id="837" name="Google Shape;837;p40"/>
              <p:cNvCxnSpPr>
                <a:stCxn id="831" idx="2"/>
              </p:cNvCxnSpPr>
              <p:nvPr/>
            </p:nvCxnSpPr>
            <p:spPr>
              <a:xfrm>
                <a:off x="7013902" y="4399872"/>
                <a:ext cx="7500" cy="434700"/>
              </a:xfrm>
              <a:prstGeom prst="straightConnector1">
                <a:avLst/>
              </a:prstGeom>
              <a:noFill/>
              <a:ln cap="flat" cmpd="sng" w="76200">
                <a:solidFill>
                  <a:srgbClr val="942093"/>
                </a:solidFill>
                <a:prstDash val="solid"/>
                <a:miter lim="800000"/>
                <a:headEnd len="sm" w="sm" type="none"/>
                <a:tailEnd len="sm" w="sm" type="none"/>
              </a:ln>
            </p:spPr>
          </p:cxnSp>
        </p:grpSp>
        <p:sp>
          <p:nvSpPr>
            <p:cNvPr id="838" name="Google Shape;838;p40"/>
            <p:cNvSpPr txBox="1"/>
            <p:nvPr/>
          </p:nvSpPr>
          <p:spPr>
            <a:xfrm>
              <a:off x="492858" y="773769"/>
              <a:ext cx="5544457" cy="3542737"/>
            </a:xfrm>
            <a:prstGeom prst="rect">
              <a:avLst/>
            </a:prstGeom>
            <a:solidFill>
              <a:srgbClr val="E1EFD8"/>
            </a:solid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None/>
              </a:pPr>
              <a:r>
                <a:rPr b="1" lang="en-US" sz="2800">
                  <a:solidFill>
                    <a:srgbClr val="E1EFD8"/>
                  </a:solidFill>
                  <a:latin typeface="Avenir"/>
                  <a:ea typeface="Avenir"/>
                  <a:cs typeface="Avenir"/>
                  <a:sym typeface="Avenir"/>
                </a:rPr>
                <a:t>_</a:t>
              </a:r>
              <a:r>
                <a:rPr b="1" lang="en-US" sz="2000">
                  <a:solidFill>
                    <a:schemeClr val="dk1"/>
                  </a:solidFill>
                  <a:latin typeface="Avenir"/>
                  <a:ea typeface="Avenir"/>
                  <a:cs typeface="Avenir"/>
                  <a:sym typeface="Avenir"/>
                </a:rPr>
                <a:t>Assets</a:t>
              </a:r>
              <a:endParaRPr b="1" sz="2800">
                <a:solidFill>
                  <a:schemeClr val="dk1"/>
                </a:solidFill>
                <a:latin typeface="Avenir"/>
                <a:ea typeface="Avenir"/>
                <a:cs typeface="Avenir"/>
                <a:sym typeface="Avenir"/>
              </a:endParaRPr>
            </a:p>
          </p:txBody>
        </p:sp>
      </p:grpSp>
      <p:grpSp>
        <p:nvGrpSpPr>
          <p:cNvPr id="839" name="Google Shape;839;p40"/>
          <p:cNvGrpSpPr/>
          <p:nvPr/>
        </p:nvGrpSpPr>
        <p:grpSpPr>
          <a:xfrm>
            <a:off x="2458800" y="3135649"/>
            <a:ext cx="1620000" cy="823049"/>
            <a:chOff x="671549" y="1402787"/>
            <a:chExt cx="1620000" cy="2549293"/>
          </a:xfrm>
        </p:grpSpPr>
        <p:sp>
          <p:nvSpPr>
            <p:cNvPr id="840" name="Google Shape;840;p40"/>
            <p:cNvSpPr/>
            <p:nvPr/>
          </p:nvSpPr>
          <p:spPr>
            <a:xfrm flipH="1">
              <a:off x="1481549" y="1402787"/>
              <a:ext cx="810000" cy="2549293"/>
            </a:xfrm>
            <a:prstGeom prst="corner">
              <a:avLst>
                <a:gd fmla="val 6497" name="adj1"/>
                <a:gd fmla="val 694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1800">
                <a:solidFill>
                  <a:schemeClr val="lt1"/>
                </a:solidFill>
                <a:latin typeface="Avenir"/>
                <a:ea typeface="Avenir"/>
                <a:cs typeface="Avenir"/>
                <a:sym typeface="Avenir"/>
              </a:endParaRPr>
            </a:p>
          </p:txBody>
        </p:sp>
        <p:sp>
          <p:nvSpPr>
            <p:cNvPr id="841" name="Google Shape;841;p40"/>
            <p:cNvSpPr/>
            <p:nvPr/>
          </p:nvSpPr>
          <p:spPr>
            <a:xfrm>
              <a:off x="671549" y="1402787"/>
              <a:ext cx="810000" cy="2549293"/>
            </a:xfrm>
            <a:prstGeom prst="corner">
              <a:avLst>
                <a:gd fmla="val 6497" name="adj1"/>
                <a:gd fmla="val 7336"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1800">
                <a:solidFill>
                  <a:schemeClr val="lt1"/>
                </a:solidFill>
                <a:latin typeface="Avenir"/>
                <a:ea typeface="Avenir"/>
                <a:cs typeface="Avenir"/>
                <a:sym typeface="Avenir"/>
              </a:endParaRPr>
            </a:p>
          </p:txBody>
        </p:sp>
      </p:grpSp>
      <p:sp>
        <p:nvSpPr>
          <p:cNvPr id="842" name="Google Shape;842;p40"/>
          <p:cNvSpPr txBox="1"/>
          <p:nvPr/>
        </p:nvSpPr>
        <p:spPr>
          <a:xfrm>
            <a:off x="2551146" y="3924000"/>
            <a:ext cx="1393331"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Cash at bank</a:t>
            </a:r>
            <a:endParaRPr/>
          </a:p>
        </p:txBody>
      </p:sp>
      <p:sp>
        <p:nvSpPr>
          <p:cNvPr id="843" name="Google Shape;843;p40"/>
          <p:cNvSpPr txBox="1"/>
          <p:nvPr/>
        </p:nvSpPr>
        <p:spPr>
          <a:xfrm>
            <a:off x="10028967" y="2029411"/>
            <a:ext cx="1593685"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Bank loan</a:t>
            </a:r>
            <a:endParaRPr/>
          </a:p>
        </p:txBody>
      </p:sp>
      <p:sp>
        <p:nvSpPr>
          <p:cNvPr id="844" name="Google Shape;844;p40"/>
          <p:cNvSpPr txBox="1"/>
          <p:nvPr/>
        </p:nvSpPr>
        <p:spPr>
          <a:xfrm>
            <a:off x="3184560" y="3614709"/>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30,000</a:t>
            </a:r>
            <a:endParaRPr/>
          </a:p>
        </p:txBody>
      </p:sp>
      <p:sp>
        <p:nvSpPr>
          <p:cNvPr id="845" name="Google Shape;845;p40"/>
          <p:cNvSpPr/>
          <p:nvPr/>
        </p:nvSpPr>
        <p:spPr>
          <a:xfrm rot="10800000">
            <a:off x="3011371" y="366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46" name="Google Shape;846;p40"/>
          <p:cNvSpPr txBox="1"/>
          <p:nvPr/>
        </p:nvSpPr>
        <p:spPr>
          <a:xfrm>
            <a:off x="10785455" y="1718255"/>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30,000</a:t>
            </a:r>
            <a:endParaRPr/>
          </a:p>
        </p:txBody>
      </p:sp>
      <p:sp>
        <p:nvSpPr>
          <p:cNvPr id="847" name="Google Shape;847;p40"/>
          <p:cNvSpPr/>
          <p:nvPr/>
        </p:nvSpPr>
        <p:spPr>
          <a:xfrm rot="10800000">
            <a:off x="10548000" y="1757882"/>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grpSp>
        <p:nvGrpSpPr>
          <p:cNvPr id="848" name="Google Shape;848;p40"/>
          <p:cNvGrpSpPr/>
          <p:nvPr/>
        </p:nvGrpSpPr>
        <p:grpSpPr>
          <a:xfrm>
            <a:off x="2574025" y="3649299"/>
            <a:ext cx="245580" cy="224238"/>
            <a:chOff x="802803" y="3715228"/>
            <a:chExt cx="245580" cy="224238"/>
          </a:xfrm>
        </p:grpSpPr>
        <p:sp>
          <p:nvSpPr>
            <p:cNvPr id="849" name="Google Shape;849;p40"/>
            <p:cNvSpPr/>
            <p:nvPr/>
          </p:nvSpPr>
          <p:spPr>
            <a:xfrm>
              <a:off x="810781" y="3715228"/>
              <a:ext cx="216000" cy="216000"/>
            </a:xfrm>
            <a:prstGeom prst="ellipse">
              <a:avLst/>
            </a:prstGeom>
            <a:solidFill>
              <a:srgbClr val="FFFF00"/>
            </a:solidFill>
            <a:ln cap="flat" cmpd="sng" w="1270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850" name="Google Shape;850;p40"/>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a:t>
              </a:r>
              <a:endParaRPr/>
            </a:p>
          </p:txBody>
        </p:sp>
      </p:grpSp>
      <p:grpSp>
        <p:nvGrpSpPr>
          <p:cNvPr id="851" name="Google Shape;851;p40"/>
          <p:cNvGrpSpPr/>
          <p:nvPr/>
        </p:nvGrpSpPr>
        <p:grpSpPr>
          <a:xfrm>
            <a:off x="10117559" y="1755851"/>
            <a:ext cx="245580" cy="224238"/>
            <a:chOff x="802803" y="3715228"/>
            <a:chExt cx="245580" cy="224238"/>
          </a:xfrm>
        </p:grpSpPr>
        <p:sp>
          <p:nvSpPr>
            <p:cNvPr id="852" name="Google Shape;852;p40"/>
            <p:cNvSpPr/>
            <p:nvPr/>
          </p:nvSpPr>
          <p:spPr>
            <a:xfrm>
              <a:off x="810781" y="3715228"/>
              <a:ext cx="216000" cy="216000"/>
            </a:xfrm>
            <a:prstGeom prst="ellipse">
              <a:avLst/>
            </a:prstGeom>
            <a:solidFill>
              <a:srgbClr val="FFFF00"/>
            </a:solidFill>
            <a:ln cap="flat" cmpd="sng" w="1270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853" name="Google Shape;853;p40"/>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a:t>
              </a:r>
              <a:endParaRPr/>
            </a:p>
          </p:txBody>
        </p:sp>
      </p:grpSp>
      <p:sp>
        <p:nvSpPr>
          <p:cNvPr id="854" name="Google Shape;854;p40"/>
          <p:cNvSpPr txBox="1"/>
          <p:nvPr/>
        </p:nvSpPr>
        <p:spPr>
          <a:xfrm>
            <a:off x="9504213" y="373659"/>
            <a:ext cx="2279791" cy="40011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000">
                <a:solidFill>
                  <a:schemeClr val="accent2"/>
                </a:solidFill>
                <a:latin typeface="Avenir"/>
                <a:ea typeface="Avenir"/>
                <a:cs typeface="Avenir"/>
                <a:sym typeface="Avenir"/>
              </a:rPr>
              <a:t>Sources of funds</a:t>
            </a:r>
            <a:endParaRPr/>
          </a:p>
        </p:txBody>
      </p:sp>
      <p:sp>
        <p:nvSpPr>
          <p:cNvPr id="855" name="Google Shape;855;p40"/>
          <p:cNvSpPr txBox="1"/>
          <p:nvPr/>
        </p:nvSpPr>
        <p:spPr>
          <a:xfrm>
            <a:off x="492858" y="373659"/>
            <a:ext cx="1880643" cy="40011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000">
                <a:solidFill>
                  <a:schemeClr val="accent6"/>
                </a:solidFill>
                <a:latin typeface="Avenir"/>
                <a:ea typeface="Avenir"/>
                <a:cs typeface="Avenir"/>
                <a:sym typeface="Avenir"/>
              </a:rPr>
              <a:t>Uses of funds</a:t>
            </a:r>
            <a:endParaRPr/>
          </a:p>
        </p:txBody>
      </p:sp>
      <p:grpSp>
        <p:nvGrpSpPr>
          <p:cNvPr id="856" name="Google Shape;856;p40"/>
          <p:cNvGrpSpPr/>
          <p:nvPr/>
        </p:nvGrpSpPr>
        <p:grpSpPr>
          <a:xfrm>
            <a:off x="10006085" y="1263488"/>
            <a:ext cx="1620000" cy="796276"/>
            <a:chOff x="3810000" y="2015069"/>
            <a:chExt cx="1390650" cy="1596814"/>
          </a:xfrm>
        </p:grpSpPr>
        <p:sp>
          <p:nvSpPr>
            <p:cNvPr id="857" name="Google Shape;857;p40"/>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858" name="Google Shape;858;p40"/>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sp>
        <p:nvSpPr>
          <p:cNvPr id="859" name="Google Shape;859;p40"/>
          <p:cNvSpPr/>
          <p:nvPr/>
        </p:nvSpPr>
        <p:spPr>
          <a:xfrm>
            <a:off x="1164804" y="5085360"/>
            <a:ext cx="10538419" cy="1312708"/>
          </a:xfrm>
          <a:prstGeom prst="rect">
            <a:avLst/>
          </a:prstGeom>
          <a:solidFill>
            <a:srgbClr val="F2F2F2">
              <a:alpha val="86666"/>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860" name="Google Shape;860;p40"/>
          <p:cNvGrpSpPr/>
          <p:nvPr/>
        </p:nvGrpSpPr>
        <p:grpSpPr>
          <a:xfrm>
            <a:off x="1360481" y="5363381"/>
            <a:ext cx="10188967" cy="756004"/>
            <a:chOff x="926134" y="1719856"/>
            <a:chExt cx="9204181" cy="750147"/>
          </a:xfrm>
        </p:grpSpPr>
        <p:sp>
          <p:nvSpPr>
            <p:cNvPr id="861" name="Google Shape;861;p40"/>
            <p:cNvSpPr txBox="1"/>
            <p:nvPr/>
          </p:nvSpPr>
          <p:spPr>
            <a:xfrm>
              <a:off x="1641585" y="1719860"/>
              <a:ext cx="5447935"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139700" marR="0" rtl="0" algn="l">
                <a:spcBef>
                  <a:spcPts val="0"/>
                </a:spcBef>
                <a:spcAft>
                  <a:spcPts val="0"/>
                </a:spcAft>
                <a:buNone/>
              </a:pPr>
              <a:r>
                <a:rPr lang="en-US" sz="2000">
                  <a:solidFill>
                    <a:schemeClr val="dk1"/>
                  </a:solidFill>
                  <a:latin typeface="Calibri"/>
                  <a:ea typeface="Calibri"/>
                  <a:cs typeface="Calibri"/>
                  <a:sym typeface="Calibri"/>
                </a:rPr>
                <a:t>대출기관에서 돈을 빌려 사업용 계좌에 입금하다</a:t>
              </a:r>
              <a:endParaRPr sz="2000">
                <a:solidFill>
                  <a:schemeClr val="dk1"/>
                </a:solidFill>
                <a:latin typeface="Avenir"/>
                <a:ea typeface="Avenir"/>
                <a:cs typeface="Avenir"/>
                <a:sym typeface="Avenir"/>
              </a:endParaRPr>
            </a:p>
          </p:txBody>
        </p:sp>
        <p:sp>
          <p:nvSpPr>
            <p:cNvPr id="862" name="Google Shape;862;p40"/>
            <p:cNvSpPr txBox="1"/>
            <p:nvPr/>
          </p:nvSpPr>
          <p:spPr>
            <a:xfrm>
              <a:off x="7089520" y="1719858"/>
              <a:ext cx="1520398" cy="745310"/>
            </a:xfrm>
            <a:prstGeom prst="rect">
              <a:avLst/>
            </a:prstGeom>
            <a:solidFill>
              <a:srgbClr val="E1EFD8"/>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Cash</a:t>
              </a: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30,000</a:t>
              </a:r>
              <a:endParaRPr/>
            </a:p>
          </p:txBody>
        </p:sp>
        <p:sp>
          <p:nvSpPr>
            <p:cNvPr id="863" name="Google Shape;863;p40"/>
            <p:cNvSpPr txBox="1"/>
            <p:nvPr/>
          </p:nvSpPr>
          <p:spPr>
            <a:xfrm>
              <a:off x="8609917" y="1719858"/>
              <a:ext cx="1520398" cy="745310"/>
            </a:xfrm>
            <a:prstGeom prst="rect">
              <a:avLst/>
            </a:prstGeom>
            <a:solidFill>
              <a:srgbClr val="FBE4D4"/>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Bank loan</a:t>
              </a:r>
              <a:endParaRPr b="1" sz="1600">
                <a:solidFill>
                  <a:srgbClr val="BFBFBF"/>
                </a:solidFill>
                <a:latin typeface="Avenir"/>
                <a:ea typeface="Avenir"/>
                <a:cs typeface="Avenir"/>
                <a:sym typeface="Aveni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30,000</a:t>
              </a:r>
              <a:endParaRPr/>
            </a:p>
          </p:txBody>
        </p:sp>
        <p:sp>
          <p:nvSpPr>
            <p:cNvPr id="864" name="Google Shape;864;p40"/>
            <p:cNvSpPr txBox="1"/>
            <p:nvPr/>
          </p:nvSpPr>
          <p:spPr>
            <a:xfrm>
              <a:off x="926134" y="1719856"/>
              <a:ext cx="715451"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1</a:t>
              </a:r>
              <a:endParaRPr/>
            </a:p>
          </p:txBody>
        </p:sp>
      </p:grpSp>
      <p:sp>
        <p:nvSpPr>
          <p:cNvPr id="865" name="Google Shape;865;p40"/>
          <p:cNvSpPr txBox="1"/>
          <p:nvPr/>
        </p:nvSpPr>
        <p:spPr>
          <a:xfrm>
            <a:off x="8183308" y="5359268"/>
            <a:ext cx="1683070" cy="756000"/>
          </a:xfrm>
          <a:prstGeom prst="rect">
            <a:avLst/>
          </a:prstGeom>
          <a:solidFill>
            <a:srgbClr val="548135"/>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30,000</a:t>
            </a:r>
            <a:endParaRPr/>
          </a:p>
        </p:txBody>
      </p:sp>
      <p:sp>
        <p:nvSpPr>
          <p:cNvPr id="866" name="Google Shape;866;p40"/>
          <p:cNvSpPr txBox="1"/>
          <p:nvPr/>
        </p:nvSpPr>
        <p:spPr>
          <a:xfrm>
            <a:off x="9866378" y="5363381"/>
            <a:ext cx="1683070" cy="756000"/>
          </a:xfrm>
          <a:prstGeom prst="rect">
            <a:avLst/>
          </a:prstGeom>
          <a:solidFill>
            <a:schemeClr val="accent2"/>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30,000</a:t>
            </a:r>
            <a:endParaRPr/>
          </a:p>
        </p:txBody>
      </p:sp>
      <p:sp>
        <p:nvSpPr>
          <p:cNvPr id="867" name="Google Shape;867;p40"/>
          <p:cNvSpPr/>
          <p:nvPr/>
        </p:nvSpPr>
        <p:spPr>
          <a:xfrm rot="10800000">
            <a:off x="153289" y="824059"/>
            <a:ext cx="950259" cy="1037381"/>
          </a:xfrm>
          <a:prstGeom prst="downArrow">
            <a:avLst>
              <a:gd fmla="val 50000" name="adj1"/>
              <a:gd fmla="val 50000" name="adj2"/>
            </a:avLst>
          </a:prstGeom>
          <a:solidFill>
            <a:schemeClr val="accent6">
              <a:alpha val="77647"/>
            </a:schemeClr>
          </a:solidFill>
          <a:ln>
            <a:noFill/>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68" name="Google Shape;868;p40"/>
          <p:cNvSpPr/>
          <p:nvPr/>
        </p:nvSpPr>
        <p:spPr>
          <a:xfrm rot="10800000">
            <a:off x="11196000" y="826738"/>
            <a:ext cx="950259" cy="1037381"/>
          </a:xfrm>
          <a:prstGeom prst="downArrow">
            <a:avLst>
              <a:gd fmla="val 50000" name="adj1"/>
              <a:gd fmla="val 50000" name="adj2"/>
            </a:avLst>
          </a:prstGeom>
          <a:solidFill>
            <a:schemeClr val="accent2">
              <a:alpha val="77647"/>
            </a:schemeClr>
          </a:solidFill>
          <a:ln>
            <a:noFill/>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Tree>
  </p:cSld>
  <p:clrMapOvr>
    <a:masterClrMapping/>
  </p:clrMapOvr>
  <mc:AlternateContent>
    <mc:Choice Requires="p14">
      <p:transition spd="slow" p14:dur="700">
        <p:fade/>
      </p:transition>
    </mc:Choice>
    <mc:Fallback>
      <p:transition spd="slow">
        <p:fade/>
      </p:transition>
    </mc:Fallback>
  </mc:AlternateContent>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42"/>
                                        </p:tgtEl>
                                        <p:attrNameLst>
                                          <p:attrName>style.visibility</p:attrName>
                                        </p:attrNameLst>
                                      </p:cBhvr>
                                      <p:to>
                                        <p:strVal val="visible"/>
                                      </p:to>
                                    </p:set>
                                    <p:animEffect filter="fade" transition="in">
                                      <p:cBhvr>
                                        <p:cTn dur="500"/>
                                        <p:tgtEl>
                                          <p:spTgt spid="842"/>
                                        </p:tgtEl>
                                      </p:cBhvr>
                                    </p:animEffect>
                                  </p:childTnLst>
                                </p:cTn>
                              </p:par>
                              <p:par>
                                <p:cTn fill="hold" nodeType="withEffect" presetClass="entr" presetID="10" presetSubtype="0">
                                  <p:stCondLst>
                                    <p:cond delay="0"/>
                                  </p:stCondLst>
                                  <p:childTnLst>
                                    <p:set>
                                      <p:cBhvr>
                                        <p:cTn dur="1" fill="hold">
                                          <p:stCondLst>
                                            <p:cond delay="0"/>
                                          </p:stCondLst>
                                        </p:cTn>
                                        <p:tgtEl>
                                          <p:spTgt spid="839"/>
                                        </p:tgtEl>
                                        <p:attrNameLst>
                                          <p:attrName>style.visibility</p:attrName>
                                        </p:attrNameLst>
                                      </p:cBhvr>
                                      <p:to>
                                        <p:strVal val="visible"/>
                                      </p:to>
                                    </p:set>
                                    <p:animEffect filter="fade" transition="in">
                                      <p:cBhvr>
                                        <p:cTn dur="500"/>
                                        <p:tgtEl>
                                          <p:spTgt spid="839"/>
                                        </p:tgtEl>
                                      </p:cBhvr>
                                    </p:animEffect>
                                  </p:childTnLst>
                                </p:cTn>
                              </p:par>
                            </p:childTnLst>
                          </p:cTn>
                        </p:par>
                        <p:par>
                          <p:cTn fill="hold">
                            <p:stCondLst>
                              <p:cond delay="500"/>
                            </p:stCondLst>
                            <p:childTnLst>
                              <p:par>
                                <p:cTn fill="hold" nodeType="afterEffect" presetClass="exit" presetID="10" presetSubtype="0">
                                  <p:stCondLst>
                                    <p:cond delay="0"/>
                                  </p:stCondLst>
                                  <p:childTnLst>
                                    <p:animEffect filter="fade" transition="out">
                                      <p:cBhvr>
                                        <p:cTn dur="1000"/>
                                        <p:tgtEl>
                                          <p:spTgt spid="865"/>
                                        </p:tgtEl>
                                      </p:cBhvr>
                                    </p:animEffect>
                                    <p:set>
                                      <p:cBhvr>
                                        <p:cTn dur="1" fill="hold">
                                          <p:stCondLst>
                                            <p:cond delay="1000"/>
                                          </p:stCondLst>
                                        </p:cTn>
                                        <p:tgtEl>
                                          <p:spTgt spid="865"/>
                                        </p:tgtEl>
                                        <p:attrNameLst>
                                          <p:attrName>style.visibility</p:attrName>
                                        </p:attrNameLst>
                                      </p:cBhvr>
                                      <p:to>
                                        <p:strVal val="hidden"/>
                                      </p:to>
                                    </p:set>
                                  </p:childTnLst>
                                </p:cTn>
                              </p:par>
                              <p:par>
                                <p:cTn fill="hold" nodeType="withEffect" presetClass="entr" presetID="10" presetSubtype="0">
                                  <p:stCondLst>
                                    <p:cond delay="0"/>
                                  </p:stCondLst>
                                  <p:childTnLst>
                                    <p:set>
                                      <p:cBhvr>
                                        <p:cTn dur="1" fill="hold">
                                          <p:stCondLst>
                                            <p:cond delay="0"/>
                                          </p:stCondLst>
                                        </p:cTn>
                                        <p:tgtEl>
                                          <p:spTgt spid="848"/>
                                        </p:tgtEl>
                                        <p:attrNameLst>
                                          <p:attrName>style.visibility</p:attrName>
                                        </p:attrNameLst>
                                      </p:cBhvr>
                                      <p:to>
                                        <p:strVal val="visible"/>
                                      </p:to>
                                    </p:set>
                                    <p:animEffect filter="fade" transition="in">
                                      <p:cBhvr>
                                        <p:cTn dur="1000"/>
                                        <p:tgtEl>
                                          <p:spTgt spid="848"/>
                                        </p:tgtEl>
                                      </p:cBhvr>
                                    </p:animEffect>
                                  </p:childTnLst>
                                </p:cTn>
                              </p:par>
                              <p:par>
                                <p:cTn fill="hold" nodeType="withEffect" presetClass="entr" presetID="10" presetSubtype="0">
                                  <p:stCondLst>
                                    <p:cond delay="0"/>
                                  </p:stCondLst>
                                  <p:childTnLst>
                                    <p:set>
                                      <p:cBhvr>
                                        <p:cTn dur="1" fill="hold">
                                          <p:stCondLst>
                                            <p:cond delay="0"/>
                                          </p:stCondLst>
                                        </p:cTn>
                                        <p:tgtEl>
                                          <p:spTgt spid="845"/>
                                        </p:tgtEl>
                                        <p:attrNameLst>
                                          <p:attrName>style.visibility</p:attrName>
                                        </p:attrNameLst>
                                      </p:cBhvr>
                                      <p:to>
                                        <p:strVal val="visible"/>
                                      </p:to>
                                    </p:set>
                                    <p:animEffect filter="fade" transition="in">
                                      <p:cBhvr>
                                        <p:cTn dur="1000"/>
                                        <p:tgtEl>
                                          <p:spTgt spid="845"/>
                                        </p:tgtEl>
                                      </p:cBhvr>
                                    </p:animEffect>
                                  </p:childTnLst>
                                </p:cTn>
                              </p:par>
                              <p:par>
                                <p:cTn fill="hold" nodeType="withEffect" presetClass="entr" presetID="10" presetSubtype="0">
                                  <p:stCondLst>
                                    <p:cond delay="0"/>
                                  </p:stCondLst>
                                  <p:childTnLst>
                                    <p:set>
                                      <p:cBhvr>
                                        <p:cTn dur="1" fill="hold">
                                          <p:stCondLst>
                                            <p:cond delay="0"/>
                                          </p:stCondLst>
                                        </p:cTn>
                                        <p:tgtEl>
                                          <p:spTgt spid="844"/>
                                        </p:tgtEl>
                                        <p:attrNameLst>
                                          <p:attrName>style.visibility</p:attrName>
                                        </p:attrNameLst>
                                      </p:cBhvr>
                                      <p:to>
                                        <p:strVal val="visible"/>
                                      </p:to>
                                    </p:set>
                                    <p:animEffect filter="fade" transition="in">
                                      <p:cBhvr>
                                        <p:cTn dur="1000"/>
                                        <p:tgtEl>
                                          <p:spTgt spid="84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43"/>
                                        </p:tgtEl>
                                        <p:attrNameLst>
                                          <p:attrName>style.visibility</p:attrName>
                                        </p:attrNameLst>
                                      </p:cBhvr>
                                      <p:to>
                                        <p:strVal val="visible"/>
                                      </p:to>
                                    </p:set>
                                    <p:animEffect filter="fade" transition="in">
                                      <p:cBhvr>
                                        <p:cTn dur="500"/>
                                        <p:tgtEl>
                                          <p:spTgt spid="843"/>
                                        </p:tgtEl>
                                      </p:cBhvr>
                                    </p:animEffect>
                                  </p:childTnLst>
                                </p:cTn>
                              </p:par>
                              <p:par>
                                <p:cTn fill="hold" nodeType="withEffect" presetClass="entr" presetID="10" presetSubtype="0">
                                  <p:stCondLst>
                                    <p:cond delay="0"/>
                                  </p:stCondLst>
                                  <p:childTnLst>
                                    <p:set>
                                      <p:cBhvr>
                                        <p:cTn dur="1" fill="hold">
                                          <p:stCondLst>
                                            <p:cond delay="0"/>
                                          </p:stCondLst>
                                        </p:cTn>
                                        <p:tgtEl>
                                          <p:spTgt spid="856"/>
                                        </p:tgtEl>
                                        <p:attrNameLst>
                                          <p:attrName>style.visibility</p:attrName>
                                        </p:attrNameLst>
                                      </p:cBhvr>
                                      <p:to>
                                        <p:strVal val="visible"/>
                                      </p:to>
                                    </p:set>
                                    <p:animEffect filter="fade" transition="in">
                                      <p:cBhvr>
                                        <p:cTn dur="500"/>
                                        <p:tgtEl>
                                          <p:spTgt spid="856"/>
                                        </p:tgtEl>
                                      </p:cBhvr>
                                    </p:animEffect>
                                  </p:childTnLst>
                                </p:cTn>
                              </p:par>
                            </p:childTnLst>
                          </p:cTn>
                        </p:par>
                        <p:par>
                          <p:cTn fill="hold">
                            <p:stCondLst>
                              <p:cond delay="500"/>
                            </p:stCondLst>
                            <p:childTnLst>
                              <p:par>
                                <p:cTn fill="hold" nodeType="afterEffect" presetClass="exit" presetID="10" presetSubtype="0">
                                  <p:stCondLst>
                                    <p:cond delay="0"/>
                                  </p:stCondLst>
                                  <p:childTnLst>
                                    <p:animEffect filter="fade" transition="out">
                                      <p:cBhvr>
                                        <p:cTn dur="1000"/>
                                        <p:tgtEl>
                                          <p:spTgt spid="866"/>
                                        </p:tgtEl>
                                      </p:cBhvr>
                                    </p:animEffect>
                                    <p:set>
                                      <p:cBhvr>
                                        <p:cTn dur="1" fill="hold">
                                          <p:stCondLst>
                                            <p:cond delay="1000"/>
                                          </p:stCondLst>
                                        </p:cTn>
                                        <p:tgtEl>
                                          <p:spTgt spid="866"/>
                                        </p:tgtEl>
                                        <p:attrNameLst>
                                          <p:attrName>style.visibility</p:attrName>
                                        </p:attrNameLst>
                                      </p:cBhvr>
                                      <p:to>
                                        <p:strVal val="hidden"/>
                                      </p:to>
                                    </p:set>
                                  </p:childTnLst>
                                </p:cTn>
                              </p:par>
                              <p:par>
                                <p:cTn fill="hold" nodeType="withEffect" presetClass="entr" presetID="10" presetSubtype="0">
                                  <p:stCondLst>
                                    <p:cond delay="0"/>
                                  </p:stCondLst>
                                  <p:childTnLst>
                                    <p:set>
                                      <p:cBhvr>
                                        <p:cTn dur="1" fill="hold">
                                          <p:stCondLst>
                                            <p:cond delay="0"/>
                                          </p:stCondLst>
                                        </p:cTn>
                                        <p:tgtEl>
                                          <p:spTgt spid="851"/>
                                        </p:tgtEl>
                                        <p:attrNameLst>
                                          <p:attrName>style.visibility</p:attrName>
                                        </p:attrNameLst>
                                      </p:cBhvr>
                                      <p:to>
                                        <p:strVal val="visible"/>
                                      </p:to>
                                    </p:set>
                                    <p:animEffect filter="fade" transition="in">
                                      <p:cBhvr>
                                        <p:cTn dur="1000"/>
                                        <p:tgtEl>
                                          <p:spTgt spid="851"/>
                                        </p:tgtEl>
                                      </p:cBhvr>
                                    </p:animEffect>
                                  </p:childTnLst>
                                </p:cTn>
                              </p:par>
                              <p:par>
                                <p:cTn fill="hold" nodeType="withEffect" presetClass="entr" presetID="10" presetSubtype="0">
                                  <p:stCondLst>
                                    <p:cond delay="0"/>
                                  </p:stCondLst>
                                  <p:childTnLst>
                                    <p:set>
                                      <p:cBhvr>
                                        <p:cTn dur="1" fill="hold">
                                          <p:stCondLst>
                                            <p:cond delay="0"/>
                                          </p:stCondLst>
                                        </p:cTn>
                                        <p:tgtEl>
                                          <p:spTgt spid="847"/>
                                        </p:tgtEl>
                                        <p:attrNameLst>
                                          <p:attrName>style.visibility</p:attrName>
                                        </p:attrNameLst>
                                      </p:cBhvr>
                                      <p:to>
                                        <p:strVal val="visible"/>
                                      </p:to>
                                    </p:set>
                                    <p:animEffect filter="fade" transition="in">
                                      <p:cBhvr>
                                        <p:cTn dur="1000"/>
                                        <p:tgtEl>
                                          <p:spTgt spid="847"/>
                                        </p:tgtEl>
                                      </p:cBhvr>
                                    </p:animEffect>
                                  </p:childTnLst>
                                </p:cTn>
                              </p:par>
                              <p:par>
                                <p:cTn fill="hold" nodeType="withEffect" presetClass="entr" presetID="10" presetSubtype="0">
                                  <p:stCondLst>
                                    <p:cond delay="0"/>
                                  </p:stCondLst>
                                  <p:childTnLst>
                                    <p:set>
                                      <p:cBhvr>
                                        <p:cTn dur="1" fill="hold">
                                          <p:stCondLst>
                                            <p:cond delay="0"/>
                                          </p:stCondLst>
                                        </p:cTn>
                                        <p:tgtEl>
                                          <p:spTgt spid="846"/>
                                        </p:tgtEl>
                                        <p:attrNameLst>
                                          <p:attrName>style.visibility</p:attrName>
                                        </p:attrNameLst>
                                      </p:cBhvr>
                                      <p:to>
                                        <p:strVal val="visible"/>
                                      </p:to>
                                    </p:set>
                                    <p:animEffect filter="fade" transition="in">
                                      <p:cBhvr>
                                        <p:cTn dur="1000"/>
                                        <p:tgtEl>
                                          <p:spTgt spid="84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67"/>
                                        </p:tgtEl>
                                        <p:attrNameLst>
                                          <p:attrName>style.visibility</p:attrName>
                                        </p:attrNameLst>
                                      </p:cBhvr>
                                      <p:to>
                                        <p:strVal val="visible"/>
                                      </p:to>
                                    </p:set>
                                    <p:animEffect filter="fade" transition="in">
                                      <p:cBhvr>
                                        <p:cTn dur="1000"/>
                                        <p:tgtEl>
                                          <p:spTgt spid="867"/>
                                        </p:tgtEl>
                                      </p:cBhvr>
                                    </p:animEffect>
                                  </p:childTnLst>
                                </p:cTn>
                              </p:par>
                              <p:par>
                                <p:cTn fill="hold" nodeType="withEffect" presetClass="entr" presetID="10" presetSubtype="0">
                                  <p:stCondLst>
                                    <p:cond delay="0"/>
                                  </p:stCondLst>
                                  <p:childTnLst>
                                    <p:set>
                                      <p:cBhvr>
                                        <p:cTn dur="1" fill="hold">
                                          <p:stCondLst>
                                            <p:cond delay="0"/>
                                          </p:stCondLst>
                                        </p:cTn>
                                        <p:tgtEl>
                                          <p:spTgt spid="868"/>
                                        </p:tgtEl>
                                        <p:attrNameLst>
                                          <p:attrName>style.visibility</p:attrName>
                                        </p:attrNameLst>
                                      </p:cBhvr>
                                      <p:to>
                                        <p:strVal val="visible"/>
                                      </p:to>
                                    </p:set>
                                    <p:animEffect filter="fade" transition="in">
                                      <p:cBhvr>
                                        <p:cTn dur="1000"/>
                                        <p:tgtEl>
                                          <p:spTgt spid="86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41"/>
          <p:cNvSpPr txBox="1"/>
          <p:nvPr/>
        </p:nvSpPr>
        <p:spPr>
          <a:xfrm>
            <a:off x="4187006" y="284371"/>
            <a:ext cx="3629520"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cxnSp>
        <p:nvCxnSpPr>
          <p:cNvPr id="875" name="Google Shape;875;p41"/>
          <p:cNvCxnSpPr/>
          <p:nvPr/>
        </p:nvCxnSpPr>
        <p:spPr>
          <a:xfrm>
            <a:off x="4316098" y="717845"/>
            <a:ext cx="3375212" cy="0"/>
          </a:xfrm>
          <a:prstGeom prst="straightConnector1">
            <a:avLst/>
          </a:prstGeom>
          <a:noFill/>
          <a:ln cap="flat" cmpd="sng" w="28575">
            <a:solidFill>
              <a:schemeClr val="accent1"/>
            </a:solidFill>
            <a:prstDash val="dot"/>
            <a:miter lim="800000"/>
            <a:headEnd len="sm" w="sm" type="none"/>
            <a:tailEnd len="sm" w="sm" type="none"/>
          </a:ln>
        </p:spPr>
      </p:cxnSp>
      <p:grpSp>
        <p:nvGrpSpPr>
          <p:cNvPr id="876" name="Google Shape;876;p41"/>
          <p:cNvGrpSpPr/>
          <p:nvPr/>
        </p:nvGrpSpPr>
        <p:grpSpPr>
          <a:xfrm>
            <a:off x="1284576" y="2130924"/>
            <a:ext cx="10188969" cy="756004"/>
            <a:chOff x="926134" y="1719856"/>
            <a:chExt cx="9204181" cy="750147"/>
          </a:xfrm>
        </p:grpSpPr>
        <p:sp>
          <p:nvSpPr>
            <p:cNvPr id="877" name="Google Shape;877;p41"/>
            <p:cNvSpPr txBox="1"/>
            <p:nvPr/>
          </p:nvSpPr>
          <p:spPr>
            <a:xfrm>
              <a:off x="1641585" y="1719860"/>
              <a:ext cx="5447935"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139700" marR="0" rtl="0" algn="l">
                <a:spcBef>
                  <a:spcPts val="0"/>
                </a:spcBef>
                <a:spcAft>
                  <a:spcPts val="0"/>
                </a:spcAft>
                <a:buNone/>
              </a:pPr>
              <a:r>
                <a:rPr lang="en-US" sz="2000">
                  <a:solidFill>
                    <a:schemeClr val="dk1"/>
                  </a:solidFill>
                  <a:latin typeface="Calibri"/>
                  <a:ea typeface="Calibri"/>
                  <a:cs typeface="Calibri"/>
                  <a:sym typeface="Calibri"/>
                </a:rPr>
                <a:t>소유주가 자금을 출자하여 사업용 계좌에 입금함. 대출이 아님.</a:t>
              </a:r>
              <a:endParaRPr sz="2000">
                <a:solidFill>
                  <a:schemeClr val="dk1"/>
                </a:solidFill>
                <a:latin typeface="Avenir"/>
                <a:ea typeface="Avenir"/>
                <a:cs typeface="Avenir"/>
                <a:sym typeface="Avenir"/>
              </a:endParaRPr>
            </a:p>
          </p:txBody>
        </p:sp>
        <p:sp>
          <p:nvSpPr>
            <p:cNvPr id="878" name="Google Shape;878;p41"/>
            <p:cNvSpPr txBox="1"/>
            <p:nvPr/>
          </p:nvSpPr>
          <p:spPr>
            <a:xfrm>
              <a:off x="7089520" y="1719858"/>
              <a:ext cx="1520398" cy="745310"/>
            </a:xfrm>
            <a:prstGeom prst="rect">
              <a:avLst/>
            </a:prstGeom>
            <a:solidFill>
              <a:srgbClr val="E1EFD8"/>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Cash</a:t>
              </a: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20,000</a:t>
              </a:r>
              <a:endParaRPr/>
            </a:p>
          </p:txBody>
        </p:sp>
        <p:sp>
          <p:nvSpPr>
            <p:cNvPr id="879" name="Google Shape;879;p41"/>
            <p:cNvSpPr txBox="1"/>
            <p:nvPr/>
          </p:nvSpPr>
          <p:spPr>
            <a:xfrm>
              <a:off x="8609917" y="1719858"/>
              <a:ext cx="1520398" cy="745310"/>
            </a:xfrm>
            <a:prstGeom prst="rect">
              <a:avLst/>
            </a:prstGeom>
            <a:solidFill>
              <a:srgbClr val="FBE4D4"/>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contributed capital</a:t>
              </a:r>
              <a:endParaRPr b="1" sz="1600">
                <a:solidFill>
                  <a:srgbClr val="BFBFBF"/>
                </a:solidFill>
                <a:latin typeface="Avenir"/>
                <a:ea typeface="Avenir"/>
                <a:cs typeface="Avenir"/>
                <a:sym typeface="Aveni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20,000</a:t>
              </a:r>
              <a:endParaRPr/>
            </a:p>
          </p:txBody>
        </p:sp>
        <p:sp>
          <p:nvSpPr>
            <p:cNvPr id="880" name="Google Shape;880;p41"/>
            <p:cNvSpPr txBox="1"/>
            <p:nvPr/>
          </p:nvSpPr>
          <p:spPr>
            <a:xfrm>
              <a:off x="926134" y="1719856"/>
              <a:ext cx="715451"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2</a:t>
              </a:r>
              <a:endParaRPr/>
            </a:p>
          </p:txBody>
        </p:sp>
      </p:grpSp>
      <p:sp>
        <p:nvSpPr>
          <p:cNvPr id="881" name="Google Shape;881;p41"/>
          <p:cNvSpPr txBox="1"/>
          <p:nvPr/>
        </p:nvSpPr>
        <p:spPr>
          <a:xfrm>
            <a:off x="8109273" y="2128492"/>
            <a:ext cx="1681200" cy="756000"/>
          </a:xfrm>
          <a:prstGeom prst="rect">
            <a:avLst/>
          </a:prstGeom>
          <a:solidFill>
            <a:srgbClr val="548135"/>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20,000</a:t>
            </a:r>
            <a:endParaRPr/>
          </a:p>
        </p:txBody>
      </p:sp>
      <p:sp>
        <p:nvSpPr>
          <p:cNvPr id="882" name="Google Shape;882;p41"/>
          <p:cNvSpPr txBox="1"/>
          <p:nvPr/>
        </p:nvSpPr>
        <p:spPr>
          <a:xfrm>
            <a:off x="9792343" y="2128492"/>
            <a:ext cx="1681200" cy="756000"/>
          </a:xfrm>
          <a:prstGeom prst="rect">
            <a:avLst/>
          </a:prstGeom>
          <a:solidFill>
            <a:schemeClr val="accent2"/>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20,000</a:t>
            </a:r>
            <a:endParaRPr/>
          </a:p>
        </p:txBody>
      </p:sp>
      <p:sp>
        <p:nvSpPr>
          <p:cNvPr id="883" name="Google Shape;883;p41"/>
          <p:cNvSpPr/>
          <p:nvPr/>
        </p:nvSpPr>
        <p:spPr>
          <a:xfrm>
            <a:off x="1284578" y="1520543"/>
            <a:ext cx="2024679" cy="42011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2130">
                <a:solidFill>
                  <a:schemeClr val="dk1"/>
                </a:solidFill>
                <a:latin typeface="Avenir"/>
                <a:ea typeface="Avenir"/>
                <a:cs typeface="Avenir"/>
                <a:sym typeface="Avenir"/>
              </a:rPr>
              <a:t>3 January</a:t>
            </a:r>
            <a:endParaRPr sz="2130">
              <a:solidFill>
                <a:schemeClr val="dk1"/>
              </a:solidFill>
              <a:latin typeface="Avenir"/>
              <a:ea typeface="Avenir"/>
              <a:cs typeface="Avenir"/>
              <a:sym typeface="Avenir"/>
            </a:endParaRPr>
          </a:p>
        </p:txBody>
      </p:sp>
      <p:sp>
        <p:nvSpPr>
          <p:cNvPr id="884" name="Google Shape;884;p41"/>
          <p:cNvSpPr txBox="1"/>
          <p:nvPr/>
        </p:nvSpPr>
        <p:spPr>
          <a:xfrm>
            <a:off x="718455" y="3034199"/>
            <a:ext cx="10949127" cy="3293209"/>
          </a:xfrm>
          <a:prstGeom prst="rect">
            <a:avLst/>
          </a:prstGeom>
          <a:solidFill>
            <a:srgbClr val="A8D08C"/>
          </a:solidFill>
          <a:ln>
            <a:noFill/>
          </a:ln>
        </p:spPr>
        <p:txBody>
          <a:bodyPr anchorCtr="0" anchor="t" bIns="45700" lIns="91425" spcFirstLastPara="1" rIns="91425" wrap="square" tIns="45700">
            <a:spAutoFit/>
          </a:bodyPr>
          <a:lstStyle/>
          <a:p>
            <a:pPr indent="0" lvl="0" marL="0" marR="0" rtl="0" algn="ctr">
              <a:spcBef>
                <a:spcPts val="0"/>
              </a:spcBef>
              <a:spcAft>
                <a:spcPts val="0"/>
              </a:spcAft>
              <a:buClr>
                <a:schemeClr val="dk1"/>
              </a:buClr>
              <a:buSzPts val="4000"/>
              <a:buFont typeface="Arial"/>
              <a:buNone/>
            </a:pPr>
            <a:r>
              <a:rPr b="1" lang="en-US" sz="4000">
                <a:solidFill>
                  <a:schemeClr val="dk1"/>
                </a:solidFill>
                <a:latin typeface="Gulim"/>
                <a:ea typeface="Gulim"/>
                <a:cs typeface="Gulim"/>
                <a:sym typeface="Gulim"/>
              </a:rPr>
              <a:t>생각의 흐름 (먼저 큰 그림부터 보기):</a:t>
            </a:r>
            <a:endParaRPr/>
          </a:p>
          <a:p>
            <a:pPr indent="0" lvl="0" marL="0" marR="0" rtl="0" algn="ctr">
              <a:spcBef>
                <a:spcPts val="800"/>
              </a:spcBef>
              <a:spcAft>
                <a:spcPts val="0"/>
              </a:spcAft>
              <a:buClr>
                <a:schemeClr val="lt1"/>
              </a:buClr>
              <a:buSzPts val="4000"/>
              <a:buFont typeface="Arial"/>
              <a:buNone/>
            </a:pPr>
            <a:r>
              <a:rPr lang="en-US" sz="4000">
                <a:solidFill>
                  <a:schemeClr val="lt1"/>
                </a:solidFill>
                <a:latin typeface="Gulim"/>
                <a:ea typeface="Gulim"/>
                <a:cs typeface="Gulim"/>
                <a:sym typeface="Gulim"/>
              </a:rPr>
              <a:t>이 거래의 결과로 </a:t>
            </a:r>
            <a:r>
              <a:rPr b="1" lang="en-US" sz="4000">
                <a:solidFill>
                  <a:schemeClr val="lt1"/>
                </a:solidFill>
                <a:latin typeface="Gulim"/>
                <a:ea typeface="Gulim"/>
                <a:cs typeface="Gulim"/>
                <a:sym typeface="Gulim"/>
              </a:rPr>
              <a:t>무엇이 더 많아졌는가</a:t>
            </a:r>
            <a:r>
              <a:rPr lang="en-US" sz="4000">
                <a:solidFill>
                  <a:schemeClr val="lt1"/>
                </a:solidFill>
                <a:latin typeface="Gulim"/>
                <a:ea typeface="Gulim"/>
                <a:cs typeface="Gulim"/>
                <a:sym typeface="Gulim"/>
              </a:rPr>
              <a:t>, 또는</a:t>
            </a:r>
            <a:br>
              <a:rPr lang="en-US" sz="4000">
                <a:solidFill>
                  <a:schemeClr val="lt1"/>
                </a:solidFill>
                <a:latin typeface="Gulim"/>
                <a:ea typeface="Gulim"/>
                <a:cs typeface="Gulim"/>
                <a:sym typeface="Gulim"/>
              </a:rPr>
            </a:br>
            <a:r>
              <a:rPr b="1" lang="en-US" sz="4000">
                <a:solidFill>
                  <a:schemeClr val="lt1"/>
                </a:solidFill>
                <a:latin typeface="Gulim"/>
                <a:ea typeface="Gulim"/>
                <a:cs typeface="Gulim"/>
                <a:sym typeface="Gulim"/>
              </a:rPr>
              <a:t>무엇이 더 줄어들었는가?</a:t>
            </a:r>
            <a:endParaRPr sz="4000">
              <a:solidFill>
                <a:schemeClr val="lt1"/>
              </a:solidFill>
              <a:latin typeface="Gulim"/>
              <a:ea typeface="Gulim"/>
              <a:cs typeface="Gulim"/>
              <a:sym typeface="Gulim"/>
            </a:endParaRPr>
          </a:p>
          <a:p>
            <a:pPr indent="0" lvl="0" marL="0" marR="0" rtl="0" algn="ctr">
              <a:spcBef>
                <a:spcPts val="0"/>
              </a:spcBef>
              <a:spcAft>
                <a:spcPts val="0"/>
              </a:spcAft>
              <a:buClr>
                <a:schemeClr val="lt1"/>
              </a:buClr>
              <a:buSzPts val="4000"/>
              <a:buFont typeface="Arial"/>
              <a:buNone/>
            </a:pPr>
            <a:r>
              <a:rPr lang="en-US" sz="4000">
                <a:solidFill>
                  <a:schemeClr val="lt1"/>
                </a:solidFill>
                <a:latin typeface="Avenir"/>
                <a:ea typeface="Avenir"/>
                <a:cs typeface="Avenir"/>
                <a:sym typeface="Avenir"/>
              </a:rPr>
              <a:t>(in terms of Assets, Liabilities, Equity,</a:t>
            </a:r>
            <a:endParaRPr/>
          </a:p>
          <a:p>
            <a:pPr indent="0" lvl="0" marL="0" marR="0" rtl="0" algn="ctr">
              <a:spcBef>
                <a:spcPts val="0"/>
              </a:spcBef>
              <a:spcAft>
                <a:spcPts val="0"/>
              </a:spcAft>
              <a:buClr>
                <a:schemeClr val="lt1"/>
              </a:buClr>
              <a:buSzPts val="4000"/>
              <a:buFont typeface="Arial"/>
              <a:buNone/>
            </a:pPr>
            <a:r>
              <a:rPr lang="en-US" sz="4000">
                <a:solidFill>
                  <a:schemeClr val="lt1"/>
                </a:solidFill>
                <a:latin typeface="Avenir"/>
                <a:ea typeface="Avenir"/>
                <a:cs typeface="Avenir"/>
                <a:sym typeface="Avenir"/>
              </a:rPr>
              <a:t>Revenue &amp; Expenses?)</a:t>
            </a:r>
            <a:endParaRPr/>
          </a:p>
        </p:txBody>
      </p:sp>
    </p:spTree>
  </p:cSld>
  <p:clrMapOvr>
    <a:masterClrMapping/>
  </p:clrMapOvr>
  <mc:AlternateContent>
    <mc:Choice Requires="p14">
      <p:transition spd="slow" p14:dur="700">
        <p:fade/>
      </p:transition>
    </mc:Choice>
    <mc:Fallback>
      <p:transition spd="slow">
        <p:fade/>
      </p:transition>
    </mc:Fallback>
  </mc:AlternateContent>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4">
                                  <p:stCondLst>
                                    <p:cond delay="0"/>
                                  </p:stCondLst>
                                  <p:childTnLst>
                                    <p:set>
                                      <p:cBhvr>
                                        <p:cTn dur="1" fill="hold">
                                          <p:stCondLst>
                                            <p:cond delay="0"/>
                                          </p:stCondLst>
                                        </p:cTn>
                                        <p:tgtEl>
                                          <p:spTgt spid="884"/>
                                        </p:tgtEl>
                                        <p:attrNameLst>
                                          <p:attrName>style.visibility</p:attrName>
                                        </p:attrNameLst>
                                      </p:cBhvr>
                                      <p:to>
                                        <p:strVal val="visible"/>
                                      </p:to>
                                    </p:set>
                                    <p:anim calcmode="lin" valueType="num">
                                      <p:cBhvr additive="base">
                                        <p:cTn dur="500"/>
                                        <p:tgtEl>
                                          <p:spTgt spid="884"/>
                                        </p:tgtEl>
                                        <p:attrNameLst>
                                          <p:attrName>ppt_y</p:attrName>
                                        </p:attrNameLst>
                                      </p:cBhvr>
                                      <p:tavLst>
                                        <p:tav fmla="" tm="0">
                                          <p:val>
                                            <p:strVal val="#ppt_y+1"/>
                                          </p:val>
                                        </p:tav>
                                        <p:tav fmla="" tm="100000">
                                          <p:val>
                                            <p:strVal val="#ppt_y"/>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9" name="Shape 889"/>
        <p:cNvGrpSpPr/>
        <p:nvPr/>
      </p:nvGrpSpPr>
      <p:grpSpPr>
        <a:xfrm>
          <a:off x="0" y="0"/>
          <a:ext cx="0" cy="0"/>
          <a:chOff x="0" y="0"/>
          <a:chExt cx="0" cy="0"/>
        </a:xfrm>
      </p:grpSpPr>
      <p:sp>
        <p:nvSpPr>
          <p:cNvPr id="890" name="Google Shape;890;p42"/>
          <p:cNvSpPr txBox="1"/>
          <p:nvPr/>
        </p:nvSpPr>
        <p:spPr>
          <a:xfrm>
            <a:off x="4187006" y="133386"/>
            <a:ext cx="3629520"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cxnSp>
        <p:nvCxnSpPr>
          <p:cNvPr id="891" name="Google Shape;891;p42"/>
          <p:cNvCxnSpPr/>
          <p:nvPr/>
        </p:nvCxnSpPr>
        <p:spPr>
          <a:xfrm>
            <a:off x="4316098" y="566860"/>
            <a:ext cx="3375212" cy="0"/>
          </a:xfrm>
          <a:prstGeom prst="straightConnector1">
            <a:avLst/>
          </a:prstGeom>
          <a:noFill/>
          <a:ln cap="flat" cmpd="sng" w="28575">
            <a:solidFill>
              <a:schemeClr val="accent1"/>
            </a:solidFill>
            <a:prstDash val="dot"/>
            <a:miter lim="800000"/>
            <a:headEnd len="sm" w="sm" type="none"/>
            <a:tailEnd len="sm" w="sm" type="none"/>
          </a:ln>
        </p:spPr>
      </p:cxnSp>
      <p:grpSp>
        <p:nvGrpSpPr>
          <p:cNvPr id="892" name="Google Shape;892;p42"/>
          <p:cNvGrpSpPr/>
          <p:nvPr/>
        </p:nvGrpSpPr>
        <p:grpSpPr>
          <a:xfrm>
            <a:off x="492858" y="773769"/>
            <a:ext cx="11291146" cy="5895963"/>
            <a:chOff x="492858" y="773769"/>
            <a:chExt cx="11291146" cy="5895963"/>
          </a:xfrm>
        </p:grpSpPr>
        <p:sp>
          <p:nvSpPr>
            <p:cNvPr id="893" name="Google Shape;893;p42"/>
            <p:cNvSpPr txBox="1"/>
            <p:nvPr/>
          </p:nvSpPr>
          <p:spPr>
            <a:xfrm>
              <a:off x="6227788" y="2623662"/>
              <a:ext cx="5556216" cy="1692844"/>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Equity</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894" name="Google Shape;894;p42"/>
            <p:cNvSpPr txBox="1"/>
            <p:nvPr/>
          </p:nvSpPr>
          <p:spPr>
            <a:xfrm>
              <a:off x="6410845" y="3135649"/>
              <a:ext cx="1544844" cy="770509"/>
            </a:xfrm>
            <a:prstGeom prst="rect">
              <a:avLst/>
            </a:prstGeom>
            <a:noFill/>
            <a:ln cap="flat" cmpd="sng" w="5715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ctr">
                <a:lnSpc>
                  <a:spcPct val="120000"/>
                </a:lnSpc>
                <a:spcBef>
                  <a:spcPts val="0"/>
                </a:spcBef>
                <a:spcAft>
                  <a:spcPts val="0"/>
                </a:spcAft>
                <a:buNone/>
              </a:pPr>
              <a:r>
                <a:rPr b="1" lang="en-US" sz="2200">
                  <a:solidFill>
                    <a:srgbClr val="942093"/>
                  </a:solidFill>
                  <a:latin typeface="Avenir"/>
                  <a:ea typeface="Avenir"/>
                  <a:cs typeface="Avenir"/>
                  <a:sym typeface="Avenir"/>
                </a:rPr>
                <a:t>Profit</a:t>
              </a:r>
              <a:endParaRPr/>
            </a:p>
          </p:txBody>
        </p:sp>
        <p:sp>
          <p:nvSpPr>
            <p:cNvPr id="895" name="Google Shape;895;p42"/>
            <p:cNvSpPr txBox="1"/>
            <p:nvPr/>
          </p:nvSpPr>
          <p:spPr>
            <a:xfrm>
              <a:off x="6227788" y="773769"/>
              <a:ext cx="5556216" cy="1702674"/>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Liabilities</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grpSp>
          <p:nvGrpSpPr>
            <p:cNvPr id="896" name="Google Shape;896;p42"/>
            <p:cNvGrpSpPr/>
            <p:nvPr/>
          </p:nvGrpSpPr>
          <p:grpSpPr>
            <a:xfrm>
              <a:off x="492858" y="3906158"/>
              <a:ext cx="11291146" cy="2763574"/>
              <a:chOff x="1354633" y="4399872"/>
              <a:chExt cx="9550931" cy="2121952"/>
            </a:xfrm>
          </p:grpSpPr>
          <p:sp>
            <p:nvSpPr>
              <p:cNvPr id="897" name="Google Shape;897;p42"/>
              <p:cNvSpPr txBox="1"/>
              <p:nvPr/>
            </p:nvSpPr>
            <p:spPr>
              <a:xfrm>
                <a:off x="1354633" y="4813260"/>
                <a:ext cx="9550931" cy="1708564"/>
              </a:xfrm>
              <a:prstGeom prst="rect">
                <a:avLst/>
              </a:prstGeom>
              <a:solidFill>
                <a:srgbClr val="FCECFB"/>
              </a:solidFill>
              <a:ln cap="flat" cmpd="sng" w="7620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b="1" lang="en-US" sz="2800">
                    <a:solidFill>
                      <a:schemeClr val="dk1"/>
                    </a:solidFill>
                    <a:latin typeface="Avenir"/>
                    <a:ea typeface="Avenir"/>
                    <a:cs typeface="Avenir"/>
                    <a:sym typeface="Avenir"/>
                  </a:rPr>
                  <a:t> </a:t>
                </a:r>
                <a:endParaRPr/>
              </a:p>
            </p:txBody>
          </p:sp>
          <p:sp>
            <p:nvSpPr>
              <p:cNvPr id="898" name="Google Shape;898;p42"/>
              <p:cNvSpPr txBox="1"/>
              <p:nvPr/>
            </p:nvSpPr>
            <p:spPr>
              <a:xfrm>
                <a:off x="6199863" y="4921166"/>
                <a:ext cx="4576976" cy="1495361"/>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Income</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899" name="Google Shape;899;p42"/>
              <p:cNvSpPr txBox="1"/>
              <p:nvPr/>
            </p:nvSpPr>
            <p:spPr>
              <a:xfrm>
                <a:off x="1481256" y="4921166"/>
                <a:ext cx="4552539" cy="1495361"/>
              </a:xfrm>
              <a:prstGeom prst="rect">
                <a:avLst/>
              </a:prstGeom>
              <a:solidFill>
                <a:srgbClr val="E1EFD8"/>
              </a:solid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None/>
                </a:pPr>
                <a:r>
                  <a:rPr b="1" lang="en-US" sz="2800">
                    <a:solidFill>
                      <a:srgbClr val="E1EFD8"/>
                    </a:solidFill>
                    <a:latin typeface="Avenir"/>
                    <a:ea typeface="Avenir"/>
                    <a:cs typeface="Avenir"/>
                    <a:sym typeface="Avenir"/>
                  </a:rPr>
                  <a:t>_</a:t>
                </a:r>
                <a:r>
                  <a:rPr b="1" lang="en-US" sz="2000">
                    <a:solidFill>
                      <a:schemeClr val="dk1"/>
                    </a:solidFill>
                    <a:latin typeface="Avenir"/>
                    <a:ea typeface="Avenir"/>
                    <a:cs typeface="Avenir"/>
                    <a:sym typeface="Avenir"/>
                  </a:rPr>
                  <a:t>Expenses</a:t>
                </a:r>
                <a:endParaRPr b="1" sz="2800">
                  <a:solidFill>
                    <a:schemeClr val="dk1"/>
                  </a:solidFill>
                  <a:latin typeface="Avenir"/>
                  <a:ea typeface="Avenir"/>
                  <a:cs typeface="Avenir"/>
                  <a:sym typeface="Avenir"/>
                </a:endParaRPr>
              </a:p>
            </p:txBody>
          </p:sp>
          <p:cxnSp>
            <p:nvCxnSpPr>
              <p:cNvPr id="900" name="Google Shape;900;p42"/>
              <p:cNvCxnSpPr>
                <a:stCxn id="894" idx="2"/>
              </p:cNvCxnSpPr>
              <p:nvPr/>
            </p:nvCxnSpPr>
            <p:spPr>
              <a:xfrm>
                <a:off x="7013902" y="4399872"/>
                <a:ext cx="7500" cy="434700"/>
              </a:xfrm>
              <a:prstGeom prst="straightConnector1">
                <a:avLst/>
              </a:prstGeom>
              <a:noFill/>
              <a:ln cap="flat" cmpd="sng" w="76200">
                <a:solidFill>
                  <a:srgbClr val="942093"/>
                </a:solidFill>
                <a:prstDash val="solid"/>
                <a:miter lim="800000"/>
                <a:headEnd len="sm" w="sm" type="none"/>
                <a:tailEnd len="sm" w="sm" type="none"/>
              </a:ln>
            </p:spPr>
          </p:cxnSp>
        </p:grpSp>
        <p:sp>
          <p:nvSpPr>
            <p:cNvPr id="901" name="Google Shape;901;p42"/>
            <p:cNvSpPr txBox="1"/>
            <p:nvPr/>
          </p:nvSpPr>
          <p:spPr>
            <a:xfrm>
              <a:off x="492858" y="773769"/>
              <a:ext cx="5544457" cy="3542737"/>
            </a:xfrm>
            <a:prstGeom prst="rect">
              <a:avLst/>
            </a:prstGeom>
            <a:solidFill>
              <a:srgbClr val="E1EFD8"/>
            </a:solid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None/>
              </a:pPr>
              <a:r>
                <a:rPr b="1" lang="en-US" sz="2800">
                  <a:solidFill>
                    <a:srgbClr val="E1EFD8"/>
                  </a:solidFill>
                  <a:latin typeface="Avenir"/>
                  <a:ea typeface="Avenir"/>
                  <a:cs typeface="Avenir"/>
                  <a:sym typeface="Avenir"/>
                </a:rPr>
                <a:t>_</a:t>
              </a:r>
              <a:r>
                <a:rPr b="1" lang="en-US" sz="2000">
                  <a:solidFill>
                    <a:schemeClr val="dk1"/>
                  </a:solidFill>
                  <a:latin typeface="Avenir"/>
                  <a:ea typeface="Avenir"/>
                  <a:cs typeface="Avenir"/>
                  <a:sym typeface="Avenir"/>
                </a:rPr>
                <a:t>Assets</a:t>
              </a:r>
              <a:endParaRPr b="1" sz="2800">
                <a:solidFill>
                  <a:schemeClr val="dk1"/>
                </a:solidFill>
                <a:latin typeface="Avenir"/>
                <a:ea typeface="Avenir"/>
                <a:cs typeface="Avenir"/>
                <a:sym typeface="Avenir"/>
              </a:endParaRPr>
            </a:p>
          </p:txBody>
        </p:sp>
      </p:grpSp>
      <p:grpSp>
        <p:nvGrpSpPr>
          <p:cNvPr id="902" name="Google Shape;902;p42"/>
          <p:cNvGrpSpPr/>
          <p:nvPr/>
        </p:nvGrpSpPr>
        <p:grpSpPr>
          <a:xfrm>
            <a:off x="2458800" y="3135648"/>
            <a:ext cx="1620000" cy="823049"/>
            <a:chOff x="671549" y="1402787"/>
            <a:chExt cx="1620000" cy="2549293"/>
          </a:xfrm>
        </p:grpSpPr>
        <p:sp>
          <p:nvSpPr>
            <p:cNvPr id="903" name="Google Shape;903;p42"/>
            <p:cNvSpPr/>
            <p:nvPr/>
          </p:nvSpPr>
          <p:spPr>
            <a:xfrm flipH="1">
              <a:off x="1481549" y="1402787"/>
              <a:ext cx="810000" cy="2549293"/>
            </a:xfrm>
            <a:prstGeom prst="corner">
              <a:avLst>
                <a:gd fmla="val 6497" name="adj1"/>
                <a:gd fmla="val 694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1800">
                <a:solidFill>
                  <a:schemeClr val="lt1"/>
                </a:solidFill>
                <a:latin typeface="Avenir"/>
                <a:ea typeface="Avenir"/>
                <a:cs typeface="Avenir"/>
                <a:sym typeface="Avenir"/>
              </a:endParaRPr>
            </a:p>
          </p:txBody>
        </p:sp>
        <p:sp>
          <p:nvSpPr>
            <p:cNvPr id="904" name="Google Shape;904;p42"/>
            <p:cNvSpPr/>
            <p:nvPr/>
          </p:nvSpPr>
          <p:spPr>
            <a:xfrm>
              <a:off x="671549" y="1402787"/>
              <a:ext cx="810000" cy="2549293"/>
            </a:xfrm>
            <a:prstGeom prst="corner">
              <a:avLst>
                <a:gd fmla="val 6497" name="adj1"/>
                <a:gd fmla="val 7336"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1800">
                <a:solidFill>
                  <a:schemeClr val="lt1"/>
                </a:solidFill>
                <a:latin typeface="Avenir"/>
                <a:ea typeface="Avenir"/>
                <a:cs typeface="Avenir"/>
                <a:sym typeface="Avenir"/>
              </a:endParaRPr>
            </a:p>
          </p:txBody>
        </p:sp>
      </p:grpSp>
      <p:sp>
        <p:nvSpPr>
          <p:cNvPr id="905" name="Google Shape;905;p42"/>
          <p:cNvSpPr txBox="1"/>
          <p:nvPr/>
        </p:nvSpPr>
        <p:spPr>
          <a:xfrm>
            <a:off x="2551146" y="3924000"/>
            <a:ext cx="1393331"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Cash at bank</a:t>
            </a:r>
            <a:endParaRPr/>
          </a:p>
        </p:txBody>
      </p:sp>
      <p:sp>
        <p:nvSpPr>
          <p:cNvPr id="906" name="Google Shape;906;p42"/>
          <p:cNvSpPr txBox="1"/>
          <p:nvPr/>
        </p:nvSpPr>
        <p:spPr>
          <a:xfrm>
            <a:off x="10028967" y="2029411"/>
            <a:ext cx="1593685"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Bank loan</a:t>
            </a:r>
            <a:endParaRPr/>
          </a:p>
        </p:txBody>
      </p:sp>
      <p:sp>
        <p:nvSpPr>
          <p:cNvPr id="907" name="Google Shape;907;p42"/>
          <p:cNvSpPr txBox="1"/>
          <p:nvPr/>
        </p:nvSpPr>
        <p:spPr>
          <a:xfrm>
            <a:off x="3184560" y="3614709"/>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30,000</a:t>
            </a:r>
            <a:endParaRPr/>
          </a:p>
        </p:txBody>
      </p:sp>
      <p:sp>
        <p:nvSpPr>
          <p:cNvPr id="908" name="Google Shape;908;p42"/>
          <p:cNvSpPr txBox="1"/>
          <p:nvPr/>
        </p:nvSpPr>
        <p:spPr>
          <a:xfrm>
            <a:off x="3184560" y="3344709"/>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20,000</a:t>
            </a:r>
            <a:endParaRPr/>
          </a:p>
        </p:txBody>
      </p:sp>
      <p:sp>
        <p:nvSpPr>
          <p:cNvPr id="909" name="Google Shape;909;p42"/>
          <p:cNvSpPr txBox="1"/>
          <p:nvPr/>
        </p:nvSpPr>
        <p:spPr>
          <a:xfrm>
            <a:off x="9952471" y="3924000"/>
            <a:ext cx="1948042"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contributed capital</a:t>
            </a:r>
            <a:endParaRPr/>
          </a:p>
        </p:txBody>
      </p:sp>
      <p:sp>
        <p:nvSpPr>
          <p:cNvPr id="910" name="Google Shape;910;p42"/>
          <p:cNvSpPr/>
          <p:nvPr/>
        </p:nvSpPr>
        <p:spPr>
          <a:xfrm rot="10800000">
            <a:off x="3011371" y="339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11" name="Google Shape;911;p42"/>
          <p:cNvSpPr/>
          <p:nvPr/>
        </p:nvSpPr>
        <p:spPr>
          <a:xfrm rot="10800000">
            <a:off x="3011371" y="366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12" name="Google Shape;912;p42"/>
          <p:cNvSpPr txBox="1"/>
          <p:nvPr/>
        </p:nvSpPr>
        <p:spPr>
          <a:xfrm>
            <a:off x="10785455" y="1718255"/>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30,000</a:t>
            </a:r>
            <a:endParaRPr/>
          </a:p>
        </p:txBody>
      </p:sp>
      <p:sp>
        <p:nvSpPr>
          <p:cNvPr id="913" name="Google Shape;913;p42"/>
          <p:cNvSpPr/>
          <p:nvPr/>
        </p:nvSpPr>
        <p:spPr>
          <a:xfrm rot="10800000">
            <a:off x="10548000" y="1757882"/>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914" name="Google Shape;914;p42"/>
          <p:cNvSpPr txBox="1"/>
          <p:nvPr/>
        </p:nvSpPr>
        <p:spPr>
          <a:xfrm>
            <a:off x="10776926" y="3605780"/>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20,000</a:t>
            </a:r>
            <a:endParaRPr/>
          </a:p>
        </p:txBody>
      </p:sp>
      <p:grpSp>
        <p:nvGrpSpPr>
          <p:cNvPr id="915" name="Google Shape;915;p42"/>
          <p:cNvGrpSpPr/>
          <p:nvPr/>
        </p:nvGrpSpPr>
        <p:grpSpPr>
          <a:xfrm>
            <a:off x="2574025" y="3385828"/>
            <a:ext cx="245580" cy="224238"/>
            <a:chOff x="802803" y="3715228"/>
            <a:chExt cx="245580" cy="224238"/>
          </a:xfrm>
        </p:grpSpPr>
        <p:sp>
          <p:nvSpPr>
            <p:cNvPr id="916" name="Google Shape;916;p42"/>
            <p:cNvSpPr/>
            <p:nvPr/>
          </p:nvSpPr>
          <p:spPr>
            <a:xfrm>
              <a:off x="810781" y="3715228"/>
              <a:ext cx="216000" cy="216000"/>
            </a:xfrm>
            <a:prstGeom prst="ellipse">
              <a:avLst/>
            </a:prstGeom>
            <a:solidFill>
              <a:srgbClr val="FFFF00"/>
            </a:solidFill>
            <a:ln cap="flat" cmpd="sng" w="1270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917" name="Google Shape;917;p42"/>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2</a:t>
              </a:r>
              <a:endParaRPr/>
            </a:p>
          </p:txBody>
        </p:sp>
      </p:grpSp>
      <p:grpSp>
        <p:nvGrpSpPr>
          <p:cNvPr id="918" name="Google Shape;918;p42"/>
          <p:cNvGrpSpPr/>
          <p:nvPr/>
        </p:nvGrpSpPr>
        <p:grpSpPr>
          <a:xfrm>
            <a:off x="2574025" y="3649299"/>
            <a:ext cx="245580" cy="224238"/>
            <a:chOff x="802803" y="3715228"/>
            <a:chExt cx="245580" cy="224238"/>
          </a:xfrm>
        </p:grpSpPr>
        <p:sp>
          <p:nvSpPr>
            <p:cNvPr id="919" name="Google Shape;919;p4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920" name="Google Shape;920;p42"/>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a:t>
              </a:r>
              <a:endParaRPr/>
            </a:p>
          </p:txBody>
        </p:sp>
      </p:grpSp>
      <p:grpSp>
        <p:nvGrpSpPr>
          <p:cNvPr id="921" name="Google Shape;921;p42"/>
          <p:cNvGrpSpPr/>
          <p:nvPr/>
        </p:nvGrpSpPr>
        <p:grpSpPr>
          <a:xfrm>
            <a:off x="10117559" y="1755851"/>
            <a:ext cx="245580" cy="224238"/>
            <a:chOff x="802803" y="3715228"/>
            <a:chExt cx="245580" cy="224238"/>
          </a:xfrm>
        </p:grpSpPr>
        <p:sp>
          <p:nvSpPr>
            <p:cNvPr id="922" name="Google Shape;922;p4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923" name="Google Shape;923;p42"/>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a:t>
              </a:r>
              <a:endParaRPr/>
            </a:p>
          </p:txBody>
        </p:sp>
      </p:grpSp>
      <p:grpSp>
        <p:nvGrpSpPr>
          <p:cNvPr id="924" name="Google Shape;924;p42"/>
          <p:cNvGrpSpPr/>
          <p:nvPr/>
        </p:nvGrpSpPr>
        <p:grpSpPr>
          <a:xfrm>
            <a:off x="10116000" y="3650400"/>
            <a:ext cx="245580" cy="224238"/>
            <a:chOff x="802803" y="3715228"/>
            <a:chExt cx="245580" cy="224238"/>
          </a:xfrm>
        </p:grpSpPr>
        <p:sp>
          <p:nvSpPr>
            <p:cNvPr id="925" name="Google Shape;925;p42"/>
            <p:cNvSpPr/>
            <p:nvPr/>
          </p:nvSpPr>
          <p:spPr>
            <a:xfrm>
              <a:off x="810781" y="3715228"/>
              <a:ext cx="216000" cy="216000"/>
            </a:xfrm>
            <a:prstGeom prst="ellipse">
              <a:avLst/>
            </a:prstGeom>
            <a:solidFill>
              <a:srgbClr val="FFFF00"/>
            </a:solidFill>
            <a:ln cap="flat" cmpd="sng" w="1270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926" name="Google Shape;926;p42"/>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2</a:t>
              </a:r>
              <a:endParaRPr/>
            </a:p>
          </p:txBody>
        </p:sp>
      </p:grpSp>
      <p:sp>
        <p:nvSpPr>
          <p:cNvPr id="927" name="Google Shape;927;p42"/>
          <p:cNvSpPr txBox="1"/>
          <p:nvPr/>
        </p:nvSpPr>
        <p:spPr>
          <a:xfrm>
            <a:off x="9504213" y="373659"/>
            <a:ext cx="2279791" cy="40011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000">
                <a:solidFill>
                  <a:schemeClr val="accent2"/>
                </a:solidFill>
                <a:latin typeface="Avenir"/>
                <a:ea typeface="Avenir"/>
                <a:cs typeface="Avenir"/>
                <a:sym typeface="Avenir"/>
              </a:rPr>
              <a:t>Sources of funds</a:t>
            </a:r>
            <a:endParaRPr/>
          </a:p>
        </p:txBody>
      </p:sp>
      <p:sp>
        <p:nvSpPr>
          <p:cNvPr id="928" name="Google Shape;928;p42"/>
          <p:cNvSpPr txBox="1"/>
          <p:nvPr/>
        </p:nvSpPr>
        <p:spPr>
          <a:xfrm>
            <a:off x="492858" y="373659"/>
            <a:ext cx="1880643" cy="40011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000">
                <a:solidFill>
                  <a:schemeClr val="accent6"/>
                </a:solidFill>
                <a:latin typeface="Avenir"/>
                <a:ea typeface="Avenir"/>
                <a:cs typeface="Avenir"/>
                <a:sym typeface="Avenir"/>
              </a:rPr>
              <a:t>Uses of funds</a:t>
            </a:r>
            <a:endParaRPr/>
          </a:p>
        </p:txBody>
      </p:sp>
      <p:grpSp>
        <p:nvGrpSpPr>
          <p:cNvPr id="929" name="Google Shape;929;p42"/>
          <p:cNvGrpSpPr/>
          <p:nvPr/>
        </p:nvGrpSpPr>
        <p:grpSpPr>
          <a:xfrm>
            <a:off x="9983452" y="3159099"/>
            <a:ext cx="1620000" cy="796276"/>
            <a:chOff x="3810000" y="2015069"/>
            <a:chExt cx="1390650" cy="1596814"/>
          </a:xfrm>
        </p:grpSpPr>
        <p:sp>
          <p:nvSpPr>
            <p:cNvPr id="930" name="Google Shape;930;p42"/>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931" name="Google Shape;931;p42"/>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932" name="Google Shape;932;p42"/>
          <p:cNvGrpSpPr/>
          <p:nvPr/>
        </p:nvGrpSpPr>
        <p:grpSpPr>
          <a:xfrm>
            <a:off x="10006085" y="1263488"/>
            <a:ext cx="1620000" cy="796276"/>
            <a:chOff x="3810000" y="2015069"/>
            <a:chExt cx="1390650" cy="1596814"/>
          </a:xfrm>
        </p:grpSpPr>
        <p:sp>
          <p:nvSpPr>
            <p:cNvPr id="933" name="Google Shape;933;p42"/>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934" name="Google Shape;934;p42"/>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sp>
        <p:nvSpPr>
          <p:cNvPr id="935" name="Google Shape;935;p42"/>
          <p:cNvSpPr/>
          <p:nvPr/>
        </p:nvSpPr>
        <p:spPr>
          <a:xfrm rot="10800000">
            <a:off x="10548000" y="3653367"/>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936" name="Google Shape;936;p42"/>
          <p:cNvSpPr/>
          <p:nvPr/>
        </p:nvSpPr>
        <p:spPr>
          <a:xfrm>
            <a:off x="1322797" y="5053028"/>
            <a:ext cx="10538419" cy="1312708"/>
          </a:xfrm>
          <a:prstGeom prst="rect">
            <a:avLst/>
          </a:prstGeom>
          <a:solidFill>
            <a:srgbClr val="F2F2F2">
              <a:alpha val="86666"/>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937" name="Google Shape;937;p42"/>
          <p:cNvGrpSpPr/>
          <p:nvPr/>
        </p:nvGrpSpPr>
        <p:grpSpPr>
          <a:xfrm>
            <a:off x="1518474" y="5331049"/>
            <a:ext cx="10188967" cy="756004"/>
            <a:chOff x="926134" y="1719856"/>
            <a:chExt cx="9204181" cy="750147"/>
          </a:xfrm>
        </p:grpSpPr>
        <p:sp>
          <p:nvSpPr>
            <p:cNvPr id="938" name="Google Shape;938;p42"/>
            <p:cNvSpPr txBox="1"/>
            <p:nvPr/>
          </p:nvSpPr>
          <p:spPr>
            <a:xfrm>
              <a:off x="1641585" y="1719860"/>
              <a:ext cx="5447935"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139700" marR="0" rtl="0" algn="l">
                <a:spcBef>
                  <a:spcPts val="0"/>
                </a:spcBef>
                <a:spcAft>
                  <a:spcPts val="0"/>
                </a:spcAft>
                <a:buNone/>
              </a:pPr>
              <a:r>
                <a:rPr lang="en-US" sz="2000">
                  <a:solidFill>
                    <a:schemeClr val="dk1"/>
                  </a:solidFill>
                  <a:latin typeface="Calibri"/>
                  <a:ea typeface="Calibri"/>
                  <a:cs typeface="Calibri"/>
                  <a:sym typeface="Calibri"/>
                </a:rPr>
                <a:t>소유주가 자금을 출자하여 사업용 계좌에 입금함. 대출이 아님.</a:t>
              </a:r>
              <a:endParaRPr sz="2000">
                <a:solidFill>
                  <a:schemeClr val="dk1"/>
                </a:solidFill>
                <a:latin typeface="Avenir"/>
                <a:ea typeface="Avenir"/>
                <a:cs typeface="Avenir"/>
                <a:sym typeface="Avenir"/>
              </a:endParaRPr>
            </a:p>
          </p:txBody>
        </p:sp>
        <p:sp>
          <p:nvSpPr>
            <p:cNvPr id="939" name="Google Shape;939;p42"/>
            <p:cNvSpPr txBox="1"/>
            <p:nvPr/>
          </p:nvSpPr>
          <p:spPr>
            <a:xfrm>
              <a:off x="7089520" y="1719858"/>
              <a:ext cx="1520398" cy="745310"/>
            </a:xfrm>
            <a:prstGeom prst="rect">
              <a:avLst/>
            </a:prstGeom>
            <a:solidFill>
              <a:srgbClr val="E1EFD8"/>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Cash</a:t>
              </a: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20,000</a:t>
              </a:r>
              <a:endParaRPr/>
            </a:p>
          </p:txBody>
        </p:sp>
        <p:sp>
          <p:nvSpPr>
            <p:cNvPr id="940" name="Google Shape;940;p42"/>
            <p:cNvSpPr txBox="1"/>
            <p:nvPr/>
          </p:nvSpPr>
          <p:spPr>
            <a:xfrm>
              <a:off x="8609917" y="1719858"/>
              <a:ext cx="1520398" cy="745310"/>
            </a:xfrm>
            <a:prstGeom prst="rect">
              <a:avLst/>
            </a:prstGeom>
            <a:solidFill>
              <a:srgbClr val="FBE4D4"/>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contributed capital</a:t>
              </a:r>
              <a:endParaRPr b="1" sz="1600">
                <a:solidFill>
                  <a:srgbClr val="BFBFBF"/>
                </a:solidFill>
                <a:latin typeface="Avenir"/>
                <a:ea typeface="Avenir"/>
                <a:cs typeface="Avenir"/>
                <a:sym typeface="Aveni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20,000</a:t>
              </a:r>
              <a:endParaRPr/>
            </a:p>
          </p:txBody>
        </p:sp>
        <p:sp>
          <p:nvSpPr>
            <p:cNvPr id="941" name="Google Shape;941;p42"/>
            <p:cNvSpPr txBox="1"/>
            <p:nvPr/>
          </p:nvSpPr>
          <p:spPr>
            <a:xfrm>
              <a:off x="926134" y="1719856"/>
              <a:ext cx="715451"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2</a:t>
              </a:r>
              <a:endParaRPr/>
            </a:p>
          </p:txBody>
        </p:sp>
      </p:grpSp>
      <p:sp>
        <p:nvSpPr>
          <p:cNvPr id="942" name="Google Shape;942;p42"/>
          <p:cNvSpPr txBox="1"/>
          <p:nvPr/>
        </p:nvSpPr>
        <p:spPr>
          <a:xfrm>
            <a:off x="8341301" y="5326936"/>
            <a:ext cx="1683070" cy="756000"/>
          </a:xfrm>
          <a:prstGeom prst="rect">
            <a:avLst/>
          </a:prstGeom>
          <a:solidFill>
            <a:srgbClr val="548135"/>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20,000</a:t>
            </a:r>
            <a:endParaRPr/>
          </a:p>
        </p:txBody>
      </p:sp>
      <p:sp>
        <p:nvSpPr>
          <p:cNvPr id="943" name="Google Shape;943;p42"/>
          <p:cNvSpPr txBox="1"/>
          <p:nvPr/>
        </p:nvSpPr>
        <p:spPr>
          <a:xfrm>
            <a:off x="10024371" y="5331049"/>
            <a:ext cx="1683070" cy="756000"/>
          </a:xfrm>
          <a:prstGeom prst="rect">
            <a:avLst/>
          </a:prstGeom>
          <a:solidFill>
            <a:schemeClr val="accent2"/>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20,000</a:t>
            </a:r>
            <a:endParaRPr/>
          </a:p>
        </p:txBody>
      </p:sp>
      <p:sp>
        <p:nvSpPr>
          <p:cNvPr id="944" name="Google Shape;944;p42"/>
          <p:cNvSpPr/>
          <p:nvPr/>
        </p:nvSpPr>
        <p:spPr>
          <a:xfrm rot="10800000">
            <a:off x="153289" y="824059"/>
            <a:ext cx="950259" cy="1037381"/>
          </a:xfrm>
          <a:prstGeom prst="downArrow">
            <a:avLst>
              <a:gd fmla="val 50000" name="adj1"/>
              <a:gd fmla="val 50000" name="adj2"/>
            </a:avLst>
          </a:prstGeom>
          <a:solidFill>
            <a:schemeClr val="accent6">
              <a:alpha val="77647"/>
            </a:schemeClr>
          </a:solidFill>
          <a:ln>
            <a:noFill/>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45" name="Google Shape;945;p42"/>
          <p:cNvSpPr/>
          <p:nvPr/>
        </p:nvSpPr>
        <p:spPr>
          <a:xfrm rot="10800000">
            <a:off x="11156864" y="2680447"/>
            <a:ext cx="950259" cy="1037381"/>
          </a:xfrm>
          <a:prstGeom prst="downArrow">
            <a:avLst>
              <a:gd fmla="val 50000" name="adj1"/>
              <a:gd fmla="val 50000" name="adj2"/>
            </a:avLst>
          </a:prstGeom>
          <a:solidFill>
            <a:schemeClr val="accent2">
              <a:alpha val="77647"/>
            </a:schemeClr>
          </a:solidFill>
          <a:ln>
            <a:noFill/>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Tree>
  </p:cSld>
  <p:clrMapOvr>
    <a:masterClrMapping/>
  </p:clrMapOvr>
  <mc:AlternateContent>
    <mc:Choice Requires="p14">
      <p:transition spd="slow" p14:dur="700">
        <p:fade/>
      </p:transition>
    </mc:Choice>
    <mc:Fallback>
      <p:transition spd="slow">
        <p:fade/>
      </p:transition>
    </mc:Fallback>
  </mc:AlternateContent>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afterEffect" presetClass="exit" presetID="10" presetSubtype="0">
                                  <p:stCondLst>
                                    <p:cond delay="0"/>
                                  </p:stCondLst>
                                  <p:childTnLst>
                                    <p:animEffect filter="fade" transition="out">
                                      <p:cBhvr>
                                        <p:cTn dur="1000"/>
                                        <p:tgtEl>
                                          <p:spTgt spid="942"/>
                                        </p:tgtEl>
                                      </p:cBhvr>
                                    </p:animEffect>
                                    <p:set>
                                      <p:cBhvr>
                                        <p:cTn dur="1" fill="hold">
                                          <p:stCondLst>
                                            <p:cond delay="1000"/>
                                          </p:stCondLst>
                                        </p:cTn>
                                        <p:tgtEl>
                                          <p:spTgt spid="942"/>
                                        </p:tgtEl>
                                        <p:attrNameLst>
                                          <p:attrName>style.visibility</p:attrName>
                                        </p:attrNameLst>
                                      </p:cBhvr>
                                      <p:to>
                                        <p:strVal val="hidden"/>
                                      </p:to>
                                    </p:set>
                                  </p:childTnLst>
                                </p:cTn>
                              </p:par>
                              <p:par>
                                <p:cTn fill="hold" nodeType="withEffect" presetClass="entr" presetID="10" presetSubtype="0">
                                  <p:stCondLst>
                                    <p:cond delay="0"/>
                                  </p:stCondLst>
                                  <p:childTnLst>
                                    <p:set>
                                      <p:cBhvr>
                                        <p:cTn dur="1" fill="hold">
                                          <p:stCondLst>
                                            <p:cond delay="0"/>
                                          </p:stCondLst>
                                        </p:cTn>
                                        <p:tgtEl>
                                          <p:spTgt spid="908"/>
                                        </p:tgtEl>
                                        <p:attrNameLst>
                                          <p:attrName>style.visibility</p:attrName>
                                        </p:attrNameLst>
                                      </p:cBhvr>
                                      <p:to>
                                        <p:strVal val="visible"/>
                                      </p:to>
                                    </p:set>
                                    <p:animEffect filter="fade" transition="in">
                                      <p:cBhvr>
                                        <p:cTn dur="1000"/>
                                        <p:tgtEl>
                                          <p:spTgt spid="908"/>
                                        </p:tgtEl>
                                      </p:cBhvr>
                                    </p:animEffect>
                                  </p:childTnLst>
                                </p:cTn>
                              </p:par>
                              <p:par>
                                <p:cTn fill="hold" nodeType="withEffect" presetClass="entr" presetID="10" presetSubtype="0">
                                  <p:stCondLst>
                                    <p:cond delay="0"/>
                                  </p:stCondLst>
                                  <p:childTnLst>
                                    <p:set>
                                      <p:cBhvr>
                                        <p:cTn dur="1" fill="hold">
                                          <p:stCondLst>
                                            <p:cond delay="0"/>
                                          </p:stCondLst>
                                        </p:cTn>
                                        <p:tgtEl>
                                          <p:spTgt spid="910"/>
                                        </p:tgtEl>
                                        <p:attrNameLst>
                                          <p:attrName>style.visibility</p:attrName>
                                        </p:attrNameLst>
                                      </p:cBhvr>
                                      <p:to>
                                        <p:strVal val="visible"/>
                                      </p:to>
                                    </p:set>
                                    <p:animEffect filter="fade" transition="in">
                                      <p:cBhvr>
                                        <p:cTn dur="1000"/>
                                        <p:tgtEl>
                                          <p:spTgt spid="910"/>
                                        </p:tgtEl>
                                      </p:cBhvr>
                                    </p:animEffect>
                                  </p:childTnLst>
                                </p:cTn>
                              </p:par>
                              <p:par>
                                <p:cTn fill="hold" nodeType="withEffect" presetClass="entr" presetID="10" presetSubtype="0">
                                  <p:stCondLst>
                                    <p:cond delay="0"/>
                                  </p:stCondLst>
                                  <p:childTnLst>
                                    <p:set>
                                      <p:cBhvr>
                                        <p:cTn dur="1" fill="hold">
                                          <p:stCondLst>
                                            <p:cond delay="0"/>
                                          </p:stCondLst>
                                        </p:cTn>
                                        <p:tgtEl>
                                          <p:spTgt spid="915"/>
                                        </p:tgtEl>
                                        <p:attrNameLst>
                                          <p:attrName>style.visibility</p:attrName>
                                        </p:attrNameLst>
                                      </p:cBhvr>
                                      <p:to>
                                        <p:strVal val="visible"/>
                                      </p:to>
                                    </p:set>
                                    <p:animEffect filter="fade" transition="in">
                                      <p:cBhvr>
                                        <p:cTn dur="1000"/>
                                        <p:tgtEl>
                                          <p:spTgt spid="91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09"/>
                                        </p:tgtEl>
                                        <p:attrNameLst>
                                          <p:attrName>style.visibility</p:attrName>
                                        </p:attrNameLst>
                                      </p:cBhvr>
                                      <p:to>
                                        <p:strVal val="visible"/>
                                      </p:to>
                                    </p:set>
                                    <p:animEffect filter="fade" transition="in">
                                      <p:cBhvr>
                                        <p:cTn dur="500"/>
                                        <p:tgtEl>
                                          <p:spTgt spid="909"/>
                                        </p:tgtEl>
                                      </p:cBhvr>
                                    </p:animEffect>
                                  </p:childTnLst>
                                </p:cTn>
                              </p:par>
                              <p:par>
                                <p:cTn fill="hold" nodeType="withEffect" presetClass="entr" presetID="10" presetSubtype="0">
                                  <p:stCondLst>
                                    <p:cond delay="0"/>
                                  </p:stCondLst>
                                  <p:childTnLst>
                                    <p:set>
                                      <p:cBhvr>
                                        <p:cTn dur="1" fill="hold">
                                          <p:stCondLst>
                                            <p:cond delay="0"/>
                                          </p:stCondLst>
                                        </p:cTn>
                                        <p:tgtEl>
                                          <p:spTgt spid="929"/>
                                        </p:tgtEl>
                                        <p:attrNameLst>
                                          <p:attrName>style.visibility</p:attrName>
                                        </p:attrNameLst>
                                      </p:cBhvr>
                                      <p:to>
                                        <p:strVal val="visible"/>
                                      </p:to>
                                    </p:set>
                                    <p:animEffect filter="fade" transition="in">
                                      <p:cBhvr>
                                        <p:cTn dur="500"/>
                                        <p:tgtEl>
                                          <p:spTgt spid="929"/>
                                        </p:tgtEl>
                                      </p:cBhvr>
                                    </p:animEffect>
                                  </p:childTnLst>
                                </p:cTn>
                              </p:par>
                            </p:childTnLst>
                          </p:cTn>
                        </p:par>
                        <p:par>
                          <p:cTn fill="hold">
                            <p:stCondLst>
                              <p:cond delay="500"/>
                            </p:stCondLst>
                            <p:childTnLst>
                              <p:par>
                                <p:cTn fill="hold" nodeType="afterEffect" presetClass="exit" presetID="10" presetSubtype="0">
                                  <p:stCondLst>
                                    <p:cond delay="0"/>
                                  </p:stCondLst>
                                  <p:childTnLst>
                                    <p:animEffect filter="fade" transition="out">
                                      <p:cBhvr>
                                        <p:cTn dur="1000"/>
                                        <p:tgtEl>
                                          <p:spTgt spid="943"/>
                                        </p:tgtEl>
                                      </p:cBhvr>
                                    </p:animEffect>
                                    <p:set>
                                      <p:cBhvr>
                                        <p:cTn dur="1" fill="hold">
                                          <p:stCondLst>
                                            <p:cond delay="1000"/>
                                          </p:stCondLst>
                                        </p:cTn>
                                        <p:tgtEl>
                                          <p:spTgt spid="943"/>
                                        </p:tgtEl>
                                        <p:attrNameLst>
                                          <p:attrName>style.visibility</p:attrName>
                                        </p:attrNameLst>
                                      </p:cBhvr>
                                      <p:to>
                                        <p:strVal val="hidden"/>
                                      </p:to>
                                    </p:set>
                                  </p:childTnLst>
                                </p:cTn>
                              </p:par>
                              <p:par>
                                <p:cTn fill="hold" nodeType="withEffect" presetClass="entr" presetID="10" presetSubtype="0">
                                  <p:stCondLst>
                                    <p:cond delay="0"/>
                                  </p:stCondLst>
                                  <p:childTnLst>
                                    <p:set>
                                      <p:cBhvr>
                                        <p:cTn dur="1" fill="hold">
                                          <p:stCondLst>
                                            <p:cond delay="0"/>
                                          </p:stCondLst>
                                        </p:cTn>
                                        <p:tgtEl>
                                          <p:spTgt spid="935"/>
                                        </p:tgtEl>
                                        <p:attrNameLst>
                                          <p:attrName>style.visibility</p:attrName>
                                        </p:attrNameLst>
                                      </p:cBhvr>
                                      <p:to>
                                        <p:strVal val="visible"/>
                                      </p:to>
                                    </p:set>
                                    <p:animEffect filter="fade" transition="in">
                                      <p:cBhvr>
                                        <p:cTn dur="1000"/>
                                        <p:tgtEl>
                                          <p:spTgt spid="935"/>
                                        </p:tgtEl>
                                      </p:cBhvr>
                                    </p:animEffect>
                                  </p:childTnLst>
                                </p:cTn>
                              </p:par>
                              <p:par>
                                <p:cTn fill="hold" nodeType="withEffect" presetClass="entr" presetID="10" presetSubtype="0">
                                  <p:stCondLst>
                                    <p:cond delay="0"/>
                                  </p:stCondLst>
                                  <p:childTnLst>
                                    <p:set>
                                      <p:cBhvr>
                                        <p:cTn dur="1" fill="hold">
                                          <p:stCondLst>
                                            <p:cond delay="0"/>
                                          </p:stCondLst>
                                        </p:cTn>
                                        <p:tgtEl>
                                          <p:spTgt spid="924"/>
                                        </p:tgtEl>
                                        <p:attrNameLst>
                                          <p:attrName>style.visibility</p:attrName>
                                        </p:attrNameLst>
                                      </p:cBhvr>
                                      <p:to>
                                        <p:strVal val="visible"/>
                                      </p:to>
                                    </p:set>
                                    <p:animEffect filter="fade" transition="in">
                                      <p:cBhvr>
                                        <p:cTn dur="1000"/>
                                        <p:tgtEl>
                                          <p:spTgt spid="924"/>
                                        </p:tgtEl>
                                      </p:cBhvr>
                                    </p:animEffect>
                                  </p:childTnLst>
                                </p:cTn>
                              </p:par>
                              <p:par>
                                <p:cTn fill="hold" nodeType="withEffect" presetClass="entr" presetID="10" presetSubtype="0">
                                  <p:stCondLst>
                                    <p:cond delay="0"/>
                                  </p:stCondLst>
                                  <p:childTnLst>
                                    <p:set>
                                      <p:cBhvr>
                                        <p:cTn dur="1" fill="hold">
                                          <p:stCondLst>
                                            <p:cond delay="0"/>
                                          </p:stCondLst>
                                        </p:cTn>
                                        <p:tgtEl>
                                          <p:spTgt spid="914"/>
                                        </p:tgtEl>
                                        <p:attrNameLst>
                                          <p:attrName>style.visibility</p:attrName>
                                        </p:attrNameLst>
                                      </p:cBhvr>
                                      <p:to>
                                        <p:strVal val="visible"/>
                                      </p:to>
                                    </p:set>
                                    <p:animEffect filter="fade" transition="in">
                                      <p:cBhvr>
                                        <p:cTn dur="1000"/>
                                        <p:tgtEl>
                                          <p:spTgt spid="91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44"/>
                                        </p:tgtEl>
                                        <p:attrNameLst>
                                          <p:attrName>style.visibility</p:attrName>
                                        </p:attrNameLst>
                                      </p:cBhvr>
                                      <p:to>
                                        <p:strVal val="visible"/>
                                      </p:to>
                                    </p:set>
                                    <p:animEffect filter="fade" transition="in">
                                      <p:cBhvr>
                                        <p:cTn dur="1000"/>
                                        <p:tgtEl>
                                          <p:spTgt spid="944"/>
                                        </p:tgtEl>
                                      </p:cBhvr>
                                    </p:animEffect>
                                  </p:childTnLst>
                                </p:cTn>
                              </p:par>
                              <p:par>
                                <p:cTn fill="hold" nodeType="withEffect" presetClass="entr" presetID="10" presetSubtype="0">
                                  <p:stCondLst>
                                    <p:cond delay="0"/>
                                  </p:stCondLst>
                                  <p:childTnLst>
                                    <p:set>
                                      <p:cBhvr>
                                        <p:cTn dur="1" fill="hold">
                                          <p:stCondLst>
                                            <p:cond delay="0"/>
                                          </p:stCondLst>
                                        </p:cTn>
                                        <p:tgtEl>
                                          <p:spTgt spid="945"/>
                                        </p:tgtEl>
                                        <p:attrNameLst>
                                          <p:attrName>style.visibility</p:attrName>
                                        </p:attrNameLst>
                                      </p:cBhvr>
                                      <p:to>
                                        <p:strVal val="visible"/>
                                      </p:to>
                                    </p:set>
                                    <p:animEffect filter="fade" transition="in">
                                      <p:cBhvr>
                                        <p:cTn dur="1000"/>
                                        <p:tgtEl>
                                          <p:spTgt spid="94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0" name="Shape 950"/>
        <p:cNvGrpSpPr/>
        <p:nvPr/>
      </p:nvGrpSpPr>
      <p:grpSpPr>
        <a:xfrm>
          <a:off x="0" y="0"/>
          <a:ext cx="0" cy="0"/>
          <a:chOff x="0" y="0"/>
          <a:chExt cx="0" cy="0"/>
        </a:xfrm>
      </p:grpSpPr>
      <p:sp>
        <p:nvSpPr>
          <p:cNvPr id="951" name="Google Shape;951;p43"/>
          <p:cNvSpPr txBox="1"/>
          <p:nvPr/>
        </p:nvSpPr>
        <p:spPr>
          <a:xfrm>
            <a:off x="4187006" y="284371"/>
            <a:ext cx="3629520"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cxnSp>
        <p:nvCxnSpPr>
          <p:cNvPr id="952" name="Google Shape;952;p43"/>
          <p:cNvCxnSpPr/>
          <p:nvPr/>
        </p:nvCxnSpPr>
        <p:spPr>
          <a:xfrm>
            <a:off x="4316098" y="717845"/>
            <a:ext cx="3375212" cy="0"/>
          </a:xfrm>
          <a:prstGeom prst="straightConnector1">
            <a:avLst/>
          </a:prstGeom>
          <a:noFill/>
          <a:ln cap="flat" cmpd="sng" w="28575">
            <a:solidFill>
              <a:schemeClr val="accent1"/>
            </a:solidFill>
            <a:prstDash val="dot"/>
            <a:miter lim="800000"/>
            <a:headEnd len="sm" w="sm" type="none"/>
            <a:tailEnd len="sm" w="sm" type="none"/>
          </a:ln>
        </p:spPr>
      </p:cxnSp>
      <p:grpSp>
        <p:nvGrpSpPr>
          <p:cNvPr id="953" name="Google Shape;953;p43"/>
          <p:cNvGrpSpPr/>
          <p:nvPr/>
        </p:nvGrpSpPr>
        <p:grpSpPr>
          <a:xfrm>
            <a:off x="1284576" y="2130924"/>
            <a:ext cx="10188969" cy="756004"/>
            <a:chOff x="926134" y="1719856"/>
            <a:chExt cx="9204181" cy="750147"/>
          </a:xfrm>
        </p:grpSpPr>
        <p:sp>
          <p:nvSpPr>
            <p:cNvPr id="954" name="Google Shape;954;p43"/>
            <p:cNvSpPr txBox="1"/>
            <p:nvPr/>
          </p:nvSpPr>
          <p:spPr>
            <a:xfrm>
              <a:off x="1641585" y="1719860"/>
              <a:ext cx="5447935"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139700" marR="0" rtl="0" algn="l">
                <a:spcBef>
                  <a:spcPts val="0"/>
                </a:spcBef>
                <a:spcAft>
                  <a:spcPts val="0"/>
                </a:spcAft>
                <a:buNone/>
              </a:pPr>
              <a:r>
                <a:rPr lang="en-US" sz="2000">
                  <a:solidFill>
                    <a:schemeClr val="dk1"/>
                  </a:solidFill>
                  <a:latin typeface="Calibri"/>
                  <a:ea typeface="Calibri"/>
                  <a:cs typeface="Calibri"/>
                  <a:sym typeface="Calibri"/>
                </a:rPr>
                <a:t>대출금의 일부를 상환함.</a:t>
              </a:r>
              <a:endParaRPr sz="2000">
                <a:solidFill>
                  <a:schemeClr val="dk1"/>
                </a:solidFill>
                <a:latin typeface="Avenir"/>
                <a:ea typeface="Avenir"/>
                <a:cs typeface="Avenir"/>
                <a:sym typeface="Avenir"/>
              </a:endParaRPr>
            </a:p>
          </p:txBody>
        </p:sp>
        <p:sp>
          <p:nvSpPr>
            <p:cNvPr id="955" name="Google Shape;955;p43"/>
            <p:cNvSpPr txBox="1"/>
            <p:nvPr/>
          </p:nvSpPr>
          <p:spPr>
            <a:xfrm>
              <a:off x="7089520" y="1719858"/>
              <a:ext cx="1520398" cy="745310"/>
            </a:xfrm>
            <a:prstGeom prst="rect">
              <a:avLst/>
            </a:prstGeom>
            <a:solidFill>
              <a:srgbClr val="E1EFD8"/>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Bank loan</a:t>
              </a: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5,000</a:t>
              </a:r>
              <a:endParaRPr/>
            </a:p>
          </p:txBody>
        </p:sp>
        <p:sp>
          <p:nvSpPr>
            <p:cNvPr id="956" name="Google Shape;956;p43"/>
            <p:cNvSpPr txBox="1"/>
            <p:nvPr/>
          </p:nvSpPr>
          <p:spPr>
            <a:xfrm>
              <a:off x="8609917" y="1719858"/>
              <a:ext cx="1520398" cy="745310"/>
            </a:xfrm>
            <a:prstGeom prst="rect">
              <a:avLst/>
            </a:prstGeom>
            <a:solidFill>
              <a:srgbClr val="FBE4D4"/>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Cash</a:t>
              </a:r>
              <a:endParaRPr b="1" sz="1600">
                <a:solidFill>
                  <a:srgbClr val="BFBFBF"/>
                </a:solidFill>
                <a:latin typeface="Avenir"/>
                <a:ea typeface="Avenir"/>
                <a:cs typeface="Avenir"/>
                <a:sym typeface="Aveni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5,000</a:t>
              </a:r>
              <a:endParaRPr/>
            </a:p>
          </p:txBody>
        </p:sp>
        <p:sp>
          <p:nvSpPr>
            <p:cNvPr id="957" name="Google Shape;957;p43"/>
            <p:cNvSpPr txBox="1"/>
            <p:nvPr/>
          </p:nvSpPr>
          <p:spPr>
            <a:xfrm>
              <a:off x="926134" y="1719856"/>
              <a:ext cx="715451"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3</a:t>
              </a:r>
              <a:endParaRPr/>
            </a:p>
          </p:txBody>
        </p:sp>
      </p:grpSp>
      <p:sp>
        <p:nvSpPr>
          <p:cNvPr id="958" name="Google Shape;958;p43"/>
          <p:cNvSpPr txBox="1"/>
          <p:nvPr/>
        </p:nvSpPr>
        <p:spPr>
          <a:xfrm>
            <a:off x="8107403" y="2130924"/>
            <a:ext cx="1681200" cy="756000"/>
          </a:xfrm>
          <a:prstGeom prst="rect">
            <a:avLst/>
          </a:prstGeom>
          <a:solidFill>
            <a:srgbClr val="548135"/>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5,000</a:t>
            </a:r>
            <a:endParaRPr/>
          </a:p>
        </p:txBody>
      </p:sp>
      <p:sp>
        <p:nvSpPr>
          <p:cNvPr id="959" name="Google Shape;959;p43"/>
          <p:cNvSpPr txBox="1"/>
          <p:nvPr/>
        </p:nvSpPr>
        <p:spPr>
          <a:xfrm>
            <a:off x="9790473" y="2130924"/>
            <a:ext cx="1681200" cy="756000"/>
          </a:xfrm>
          <a:prstGeom prst="rect">
            <a:avLst/>
          </a:prstGeom>
          <a:solidFill>
            <a:schemeClr val="accent2"/>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5,000</a:t>
            </a:r>
            <a:endParaRPr/>
          </a:p>
        </p:txBody>
      </p:sp>
      <p:sp>
        <p:nvSpPr>
          <p:cNvPr id="960" name="Google Shape;960;p43"/>
          <p:cNvSpPr/>
          <p:nvPr/>
        </p:nvSpPr>
        <p:spPr>
          <a:xfrm>
            <a:off x="1284578" y="1520543"/>
            <a:ext cx="2024679" cy="42011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2130">
                <a:solidFill>
                  <a:schemeClr val="dk1"/>
                </a:solidFill>
                <a:latin typeface="Avenir"/>
                <a:ea typeface="Avenir"/>
                <a:cs typeface="Avenir"/>
                <a:sym typeface="Avenir"/>
              </a:rPr>
              <a:t>31 January</a:t>
            </a:r>
            <a:endParaRPr sz="2130">
              <a:solidFill>
                <a:schemeClr val="dk1"/>
              </a:solidFill>
              <a:latin typeface="Avenir"/>
              <a:ea typeface="Avenir"/>
              <a:cs typeface="Avenir"/>
              <a:sym typeface="Avenir"/>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44"/>
          <p:cNvSpPr txBox="1"/>
          <p:nvPr/>
        </p:nvSpPr>
        <p:spPr>
          <a:xfrm>
            <a:off x="4187006" y="133386"/>
            <a:ext cx="3629520"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cxnSp>
        <p:nvCxnSpPr>
          <p:cNvPr id="967" name="Google Shape;967;p44"/>
          <p:cNvCxnSpPr/>
          <p:nvPr/>
        </p:nvCxnSpPr>
        <p:spPr>
          <a:xfrm>
            <a:off x="4316098" y="566860"/>
            <a:ext cx="3375212" cy="0"/>
          </a:xfrm>
          <a:prstGeom prst="straightConnector1">
            <a:avLst/>
          </a:prstGeom>
          <a:noFill/>
          <a:ln cap="flat" cmpd="sng" w="28575">
            <a:solidFill>
              <a:schemeClr val="accent1"/>
            </a:solidFill>
            <a:prstDash val="dot"/>
            <a:miter lim="800000"/>
            <a:headEnd len="sm" w="sm" type="none"/>
            <a:tailEnd len="sm" w="sm" type="none"/>
          </a:ln>
        </p:spPr>
      </p:cxnSp>
      <p:grpSp>
        <p:nvGrpSpPr>
          <p:cNvPr id="968" name="Google Shape;968;p44"/>
          <p:cNvGrpSpPr/>
          <p:nvPr/>
        </p:nvGrpSpPr>
        <p:grpSpPr>
          <a:xfrm>
            <a:off x="492858" y="773769"/>
            <a:ext cx="11291146" cy="5895963"/>
            <a:chOff x="492858" y="773769"/>
            <a:chExt cx="11291146" cy="5895963"/>
          </a:xfrm>
        </p:grpSpPr>
        <p:sp>
          <p:nvSpPr>
            <p:cNvPr id="969" name="Google Shape;969;p44"/>
            <p:cNvSpPr txBox="1"/>
            <p:nvPr/>
          </p:nvSpPr>
          <p:spPr>
            <a:xfrm>
              <a:off x="6227788" y="2623662"/>
              <a:ext cx="5556216" cy="1692844"/>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Equity</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970" name="Google Shape;970;p44"/>
            <p:cNvSpPr txBox="1"/>
            <p:nvPr/>
          </p:nvSpPr>
          <p:spPr>
            <a:xfrm>
              <a:off x="6410845" y="3135649"/>
              <a:ext cx="1544844" cy="770509"/>
            </a:xfrm>
            <a:prstGeom prst="rect">
              <a:avLst/>
            </a:prstGeom>
            <a:noFill/>
            <a:ln cap="flat" cmpd="sng" w="5715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ctr">
                <a:lnSpc>
                  <a:spcPct val="120000"/>
                </a:lnSpc>
                <a:spcBef>
                  <a:spcPts val="0"/>
                </a:spcBef>
                <a:spcAft>
                  <a:spcPts val="0"/>
                </a:spcAft>
                <a:buNone/>
              </a:pPr>
              <a:r>
                <a:rPr b="1" lang="en-US" sz="2200">
                  <a:solidFill>
                    <a:srgbClr val="942093"/>
                  </a:solidFill>
                  <a:latin typeface="Avenir"/>
                  <a:ea typeface="Avenir"/>
                  <a:cs typeface="Avenir"/>
                  <a:sym typeface="Avenir"/>
                </a:rPr>
                <a:t>Profit</a:t>
              </a:r>
              <a:endParaRPr/>
            </a:p>
          </p:txBody>
        </p:sp>
        <p:sp>
          <p:nvSpPr>
            <p:cNvPr id="971" name="Google Shape;971;p44"/>
            <p:cNvSpPr txBox="1"/>
            <p:nvPr/>
          </p:nvSpPr>
          <p:spPr>
            <a:xfrm>
              <a:off x="6227788" y="773769"/>
              <a:ext cx="5556216" cy="1702674"/>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Liabilities</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grpSp>
          <p:nvGrpSpPr>
            <p:cNvPr id="972" name="Google Shape;972;p44"/>
            <p:cNvGrpSpPr/>
            <p:nvPr/>
          </p:nvGrpSpPr>
          <p:grpSpPr>
            <a:xfrm>
              <a:off x="492858" y="3906158"/>
              <a:ext cx="11291146" cy="2763574"/>
              <a:chOff x="1354633" y="4399872"/>
              <a:chExt cx="9550931" cy="2121952"/>
            </a:xfrm>
          </p:grpSpPr>
          <p:sp>
            <p:nvSpPr>
              <p:cNvPr id="973" name="Google Shape;973;p44"/>
              <p:cNvSpPr txBox="1"/>
              <p:nvPr/>
            </p:nvSpPr>
            <p:spPr>
              <a:xfrm>
                <a:off x="1354633" y="4813260"/>
                <a:ext cx="9550931" cy="1708564"/>
              </a:xfrm>
              <a:prstGeom prst="rect">
                <a:avLst/>
              </a:prstGeom>
              <a:solidFill>
                <a:srgbClr val="FCECFB"/>
              </a:solidFill>
              <a:ln cap="flat" cmpd="sng" w="7620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b="1" lang="en-US" sz="2800">
                    <a:solidFill>
                      <a:schemeClr val="dk1"/>
                    </a:solidFill>
                    <a:latin typeface="Avenir"/>
                    <a:ea typeface="Avenir"/>
                    <a:cs typeface="Avenir"/>
                    <a:sym typeface="Avenir"/>
                  </a:rPr>
                  <a:t> </a:t>
                </a:r>
                <a:endParaRPr/>
              </a:p>
            </p:txBody>
          </p:sp>
          <p:sp>
            <p:nvSpPr>
              <p:cNvPr id="974" name="Google Shape;974;p44"/>
              <p:cNvSpPr txBox="1"/>
              <p:nvPr/>
            </p:nvSpPr>
            <p:spPr>
              <a:xfrm>
                <a:off x="6199863" y="4921166"/>
                <a:ext cx="4576976" cy="1495361"/>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Income</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975" name="Google Shape;975;p44"/>
              <p:cNvSpPr txBox="1"/>
              <p:nvPr/>
            </p:nvSpPr>
            <p:spPr>
              <a:xfrm>
                <a:off x="1481256" y="4921166"/>
                <a:ext cx="4552539" cy="1495361"/>
              </a:xfrm>
              <a:prstGeom prst="rect">
                <a:avLst/>
              </a:prstGeom>
              <a:solidFill>
                <a:srgbClr val="E1EFD8"/>
              </a:solid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None/>
                </a:pPr>
                <a:r>
                  <a:rPr b="1" lang="en-US" sz="2800">
                    <a:solidFill>
                      <a:srgbClr val="E1EFD8"/>
                    </a:solidFill>
                    <a:latin typeface="Avenir"/>
                    <a:ea typeface="Avenir"/>
                    <a:cs typeface="Avenir"/>
                    <a:sym typeface="Avenir"/>
                  </a:rPr>
                  <a:t>_</a:t>
                </a:r>
                <a:r>
                  <a:rPr b="1" lang="en-US" sz="2000">
                    <a:solidFill>
                      <a:schemeClr val="dk1"/>
                    </a:solidFill>
                    <a:latin typeface="Avenir"/>
                    <a:ea typeface="Avenir"/>
                    <a:cs typeface="Avenir"/>
                    <a:sym typeface="Avenir"/>
                  </a:rPr>
                  <a:t>Expenses</a:t>
                </a:r>
                <a:endParaRPr b="1" sz="2800">
                  <a:solidFill>
                    <a:schemeClr val="dk1"/>
                  </a:solidFill>
                  <a:latin typeface="Avenir"/>
                  <a:ea typeface="Avenir"/>
                  <a:cs typeface="Avenir"/>
                  <a:sym typeface="Avenir"/>
                </a:endParaRPr>
              </a:p>
            </p:txBody>
          </p:sp>
          <p:cxnSp>
            <p:nvCxnSpPr>
              <p:cNvPr id="976" name="Google Shape;976;p44"/>
              <p:cNvCxnSpPr>
                <a:stCxn id="970" idx="2"/>
              </p:cNvCxnSpPr>
              <p:nvPr/>
            </p:nvCxnSpPr>
            <p:spPr>
              <a:xfrm>
                <a:off x="7013902" y="4399872"/>
                <a:ext cx="7500" cy="434700"/>
              </a:xfrm>
              <a:prstGeom prst="straightConnector1">
                <a:avLst/>
              </a:prstGeom>
              <a:noFill/>
              <a:ln cap="flat" cmpd="sng" w="76200">
                <a:solidFill>
                  <a:srgbClr val="942093"/>
                </a:solidFill>
                <a:prstDash val="solid"/>
                <a:miter lim="800000"/>
                <a:headEnd len="sm" w="sm" type="none"/>
                <a:tailEnd len="sm" w="sm" type="none"/>
              </a:ln>
            </p:spPr>
          </p:cxnSp>
        </p:grpSp>
        <p:sp>
          <p:nvSpPr>
            <p:cNvPr id="977" name="Google Shape;977;p44"/>
            <p:cNvSpPr txBox="1"/>
            <p:nvPr/>
          </p:nvSpPr>
          <p:spPr>
            <a:xfrm>
              <a:off x="492858" y="773769"/>
              <a:ext cx="5544457" cy="3542737"/>
            </a:xfrm>
            <a:prstGeom prst="rect">
              <a:avLst/>
            </a:prstGeom>
            <a:solidFill>
              <a:srgbClr val="E1EFD8"/>
            </a:solid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None/>
              </a:pPr>
              <a:r>
                <a:rPr b="1" lang="en-US" sz="2800">
                  <a:solidFill>
                    <a:srgbClr val="E1EFD8"/>
                  </a:solidFill>
                  <a:latin typeface="Avenir"/>
                  <a:ea typeface="Avenir"/>
                  <a:cs typeface="Avenir"/>
                  <a:sym typeface="Avenir"/>
                </a:rPr>
                <a:t>_</a:t>
              </a:r>
              <a:r>
                <a:rPr b="1" lang="en-US" sz="2000">
                  <a:solidFill>
                    <a:schemeClr val="dk1"/>
                  </a:solidFill>
                  <a:latin typeface="Avenir"/>
                  <a:ea typeface="Avenir"/>
                  <a:cs typeface="Avenir"/>
                  <a:sym typeface="Avenir"/>
                </a:rPr>
                <a:t>Assets</a:t>
              </a:r>
              <a:endParaRPr b="1" sz="2800">
                <a:solidFill>
                  <a:schemeClr val="dk1"/>
                </a:solidFill>
                <a:latin typeface="Avenir"/>
                <a:ea typeface="Avenir"/>
                <a:cs typeface="Avenir"/>
                <a:sym typeface="Avenir"/>
              </a:endParaRPr>
            </a:p>
          </p:txBody>
        </p:sp>
      </p:grpSp>
      <p:grpSp>
        <p:nvGrpSpPr>
          <p:cNvPr id="978" name="Google Shape;978;p44"/>
          <p:cNvGrpSpPr/>
          <p:nvPr/>
        </p:nvGrpSpPr>
        <p:grpSpPr>
          <a:xfrm>
            <a:off x="2458800" y="3074710"/>
            <a:ext cx="1620000" cy="883988"/>
            <a:chOff x="671549" y="1402787"/>
            <a:chExt cx="1620000" cy="2549293"/>
          </a:xfrm>
        </p:grpSpPr>
        <p:sp>
          <p:nvSpPr>
            <p:cNvPr id="979" name="Google Shape;979;p44"/>
            <p:cNvSpPr/>
            <p:nvPr/>
          </p:nvSpPr>
          <p:spPr>
            <a:xfrm flipH="1">
              <a:off x="1481549" y="1402787"/>
              <a:ext cx="810000" cy="2549293"/>
            </a:xfrm>
            <a:prstGeom prst="corner">
              <a:avLst>
                <a:gd fmla="val 6497" name="adj1"/>
                <a:gd fmla="val 694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1800">
                <a:solidFill>
                  <a:schemeClr val="lt1"/>
                </a:solidFill>
                <a:latin typeface="Avenir"/>
                <a:ea typeface="Avenir"/>
                <a:cs typeface="Avenir"/>
                <a:sym typeface="Avenir"/>
              </a:endParaRPr>
            </a:p>
          </p:txBody>
        </p:sp>
        <p:sp>
          <p:nvSpPr>
            <p:cNvPr id="980" name="Google Shape;980;p44"/>
            <p:cNvSpPr/>
            <p:nvPr/>
          </p:nvSpPr>
          <p:spPr>
            <a:xfrm>
              <a:off x="671549" y="1402787"/>
              <a:ext cx="810000" cy="2549293"/>
            </a:xfrm>
            <a:prstGeom prst="corner">
              <a:avLst>
                <a:gd fmla="val 6497" name="adj1"/>
                <a:gd fmla="val 7336"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1800">
                <a:solidFill>
                  <a:schemeClr val="lt1"/>
                </a:solidFill>
                <a:latin typeface="Avenir"/>
                <a:ea typeface="Avenir"/>
                <a:cs typeface="Avenir"/>
                <a:sym typeface="Avenir"/>
              </a:endParaRPr>
            </a:p>
          </p:txBody>
        </p:sp>
      </p:grpSp>
      <p:sp>
        <p:nvSpPr>
          <p:cNvPr id="981" name="Google Shape;981;p44"/>
          <p:cNvSpPr txBox="1"/>
          <p:nvPr/>
        </p:nvSpPr>
        <p:spPr>
          <a:xfrm>
            <a:off x="2551146" y="3924000"/>
            <a:ext cx="1393331"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Cash at bank</a:t>
            </a:r>
            <a:endParaRPr/>
          </a:p>
        </p:txBody>
      </p:sp>
      <p:sp>
        <p:nvSpPr>
          <p:cNvPr id="982" name="Google Shape;982;p44"/>
          <p:cNvSpPr txBox="1"/>
          <p:nvPr/>
        </p:nvSpPr>
        <p:spPr>
          <a:xfrm>
            <a:off x="10028967" y="2029411"/>
            <a:ext cx="1593685"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Bank loan</a:t>
            </a:r>
            <a:endParaRPr/>
          </a:p>
        </p:txBody>
      </p:sp>
      <p:sp>
        <p:nvSpPr>
          <p:cNvPr id="983" name="Google Shape;983;p44"/>
          <p:cNvSpPr txBox="1"/>
          <p:nvPr/>
        </p:nvSpPr>
        <p:spPr>
          <a:xfrm>
            <a:off x="3184560" y="3614709"/>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30,000</a:t>
            </a:r>
            <a:endParaRPr/>
          </a:p>
        </p:txBody>
      </p:sp>
      <p:sp>
        <p:nvSpPr>
          <p:cNvPr id="984" name="Google Shape;984;p44"/>
          <p:cNvSpPr txBox="1"/>
          <p:nvPr/>
        </p:nvSpPr>
        <p:spPr>
          <a:xfrm>
            <a:off x="3184560" y="3344709"/>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20,000</a:t>
            </a:r>
            <a:endParaRPr/>
          </a:p>
        </p:txBody>
      </p:sp>
      <p:sp>
        <p:nvSpPr>
          <p:cNvPr id="985" name="Google Shape;985;p44"/>
          <p:cNvSpPr txBox="1"/>
          <p:nvPr/>
        </p:nvSpPr>
        <p:spPr>
          <a:xfrm>
            <a:off x="3298373" y="3074709"/>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5,000</a:t>
            </a:r>
            <a:endParaRPr/>
          </a:p>
        </p:txBody>
      </p:sp>
      <p:sp>
        <p:nvSpPr>
          <p:cNvPr id="986" name="Google Shape;986;p44"/>
          <p:cNvSpPr txBox="1"/>
          <p:nvPr/>
        </p:nvSpPr>
        <p:spPr>
          <a:xfrm>
            <a:off x="10026435" y="3924000"/>
            <a:ext cx="1822758"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contributed capital</a:t>
            </a:r>
            <a:endParaRPr/>
          </a:p>
        </p:txBody>
      </p:sp>
      <p:sp>
        <p:nvSpPr>
          <p:cNvPr id="987" name="Google Shape;987;p44"/>
          <p:cNvSpPr/>
          <p:nvPr/>
        </p:nvSpPr>
        <p:spPr>
          <a:xfrm>
            <a:off x="3011371" y="31467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88" name="Google Shape;988;p44"/>
          <p:cNvSpPr/>
          <p:nvPr/>
        </p:nvSpPr>
        <p:spPr>
          <a:xfrm rot="10800000">
            <a:off x="3011371" y="339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89" name="Google Shape;989;p44"/>
          <p:cNvSpPr/>
          <p:nvPr/>
        </p:nvSpPr>
        <p:spPr>
          <a:xfrm rot="10800000">
            <a:off x="3011371" y="366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90" name="Google Shape;990;p44"/>
          <p:cNvSpPr txBox="1"/>
          <p:nvPr/>
        </p:nvSpPr>
        <p:spPr>
          <a:xfrm>
            <a:off x="10785455" y="1718255"/>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30,000</a:t>
            </a:r>
            <a:endParaRPr/>
          </a:p>
        </p:txBody>
      </p:sp>
      <p:sp>
        <p:nvSpPr>
          <p:cNvPr id="991" name="Google Shape;991;p44"/>
          <p:cNvSpPr/>
          <p:nvPr/>
        </p:nvSpPr>
        <p:spPr>
          <a:xfrm rot="10800000">
            <a:off x="10548000" y="1757882"/>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992" name="Google Shape;992;p44"/>
          <p:cNvSpPr txBox="1"/>
          <p:nvPr/>
        </p:nvSpPr>
        <p:spPr>
          <a:xfrm>
            <a:off x="10776926" y="3605780"/>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20,000</a:t>
            </a:r>
            <a:endParaRPr/>
          </a:p>
        </p:txBody>
      </p:sp>
      <p:sp>
        <p:nvSpPr>
          <p:cNvPr id="993" name="Google Shape;993;p44"/>
          <p:cNvSpPr txBox="1"/>
          <p:nvPr/>
        </p:nvSpPr>
        <p:spPr>
          <a:xfrm>
            <a:off x="10732895" y="1448255"/>
            <a:ext cx="86400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5,000</a:t>
            </a:r>
            <a:endParaRPr/>
          </a:p>
        </p:txBody>
      </p:sp>
      <p:sp>
        <p:nvSpPr>
          <p:cNvPr id="994" name="Google Shape;994;p44"/>
          <p:cNvSpPr/>
          <p:nvPr/>
        </p:nvSpPr>
        <p:spPr>
          <a:xfrm>
            <a:off x="10548000" y="1505882"/>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548135"/>
              </a:solidFill>
              <a:latin typeface="Calibri"/>
              <a:ea typeface="Calibri"/>
              <a:cs typeface="Calibri"/>
              <a:sym typeface="Calibri"/>
            </a:endParaRPr>
          </a:p>
        </p:txBody>
      </p:sp>
      <p:grpSp>
        <p:nvGrpSpPr>
          <p:cNvPr id="995" name="Google Shape;995;p44"/>
          <p:cNvGrpSpPr/>
          <p:nvPr/>
        </p:nvGrpSpPr>
        <p:grpSpPr>
          <a:xfrm>
            <a:off x="2574025" y="3121887"/>
            <a:ext cx="245580" cy="224238"/>
            <a:chOff x="802803" y="3715228"/>
            <a:chExt cx="245580" cy="224238"/>
          </a:xfrm>
        </p:grpSpPr>
        <p:sp>
          <p:nvSpPr>
            <p:cNvPr id="996" name="Google Shape;996;p44"/>
            <p:cNvSpPr/>
            <p:nvPr/>
          </p:nvSpPr>
          <p:spPr>
            <a:xfrm>
              <a:off x="810781" y="3715228"/>
              <a:ext cx="216000" cy="216000"/>
            </a:xfrm>
            <a:prstGeom prst="ellipse">
              <a:avLst/>
            </a:prstGeom>
            <a:solidFill>
              <a:srgbClr val="FFFF00"/>
            </a:solidFill>
            <a:ln cap="flat" cmpd="sng" w="1270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997" name="Google Shape;997;p44"/>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3</a:t>
              </a:r>
              <a:endParaRPr/>
            </a:p>
          </p:txBody>
        </p:sp>
      </p:grpSp>
      <p:grpSp>
        <p:nvGrpSpPr>
          <p:cNvPr id="998" name="Google Shape;998;p44"/>
          <p:cNvGrpSpPr/>
          <p:nvPr/>
        </p:nvGrpSpPr>
        <p:grpSpPr>
          <a:xfrm>
            <a:off x="2574025" y="3385828"/>
            <a:ext cx="245580" cy="224238"/>
            <a:chOff x="802803" y="3715228"/>
            <a:chExt cx="245580" cy="224238"/>
          </a:xfrm>
        </p:grpSpPr>
        <p:sp>
          <p:nvSpPr>
            <p:cNvPr id="999" name="Google Shape;999;p44"/>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000" name="Google Shape;1000;p44"/>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2</a:t>
              </a:r>
              <a:endParaRPr/>
            </a:p>
          </p:txBody>
        </p:sp>
      </p:grpSp>
      <p:grpSp>
        <p:nvGrpSpPr>
          <p:cNvPr id="1001" name="Google Shape;1001;p44"/>
          <p:cNvGrpSpPr/>
          <p:nvPr/>
        </p:nvGrpSpPr>
        <p:grpSpPr>
          <a:xfrm>
            <a:off x="2574025" y="3649299"/>
            <a:ext cx="245580" cy="224238"/>
            <a:chOff x="802803" y="3715228"/>
            <a:chExt cx="245580" cy="224238"/>
          </a:xfrm>
        </p:grpSpPr>
        <p:sp>
          <p:nvSpPr>
            <p:cNvPr id="1002" name="Google Shape;1002;p44"/>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003" name="Google Shape;1003;p44"/>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a:t>
              </a:r>
              <a:endParaRPr/>
            </a:p>
          </p:txBody>
        </p:sp>
      </p:grpSp>
      <p:grpSp>
        <p:nvGrpSpPr>
          <p:cNvPr id="1004" name="Google Shape;1004;p44"/>
          <p:cNvGrpSpPr/>
          <p:nvPr/>
        </p:nvGrpSpPr>
        <p:grpSpPr>
          <a:xfrm>
            <a:off x="10117559" y="1755851"/>
            <a:ext cx="245580" cy="224238"/>
            <a:chOff x="802803" y="3715228"/>
            <a:chExt cx="245580" cy="224238"/>
          </a:xfrm>
        </p:grpSpPr>
        <p:sp>
          <p:nvSpPr>
            <p:cNvPr id="1005" name="Google Shape;1005;p44"/>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006" name="Google Shape;1006;p44"/>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a:t>
              </a:r>
              <a:endParaRPr/>
            </a:p>
          </p:txBody>
        </p:sp>
      </p:grpSp>
      <p:grpSp>
        <p:nvGrpSpPr>
          <p:cNvPr id="1007" name="Google Shape;1007;p44"/>
          <p:cNvGrpSpPr/>
          <p:nvPr/>
        </p:nvGrpSpPr>
        <p:grpSpPr>
          <a:xfrm>
            <a:off x="10116000" y="3650400"/>
            <a:ext cx="245580" cy="224238"/>
            <a:chOff x="802803" y="3715228"/>
            <a:chExt cx="245580" cy="224238"/>
          </a:xfrm>
        </p:grpSpPr>
        <p:sp>
          <p:nvSpPr>
            <p:cNvPr id="1008" name="Google Shape;1008;p44"/>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009" name="Google Shape;1009;p44"/>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2</a:t>
              </a:r>
              <a:endParaRPr/>
            </a:p>
          </p:txBody>
        </p:sp>
      </p:grpSp>
      <p:grpSp>
        <p:nvGrpSpPr>
          <p:cNvPr id="1010" name="Google Shape;1010;p44"/>
          <p:cNvGrpSpPr/>
          <p:nvPr/>
        </p:nvGrpSpPr>
        <p:grpSpPr>
          <a:xfrm>
            <a:off x="10117837" y="1489299"/>
            <a:ext cx="245580" cy="224238"/>
            <a:chOff x="802803" y="3715228"/>
            <a:chExt cx="245580" cy="224238"/>
          </a:xfrm>
        </p:grpSpPr>
        <p:sp>
          <p:nvSpPr>
            <p:cNvPr id="1011" name="Google Shape;1011;p44"/>
            <p:cNvSpPr/>
            <p:nvPr/>
          </p:nvSpPr>
          <p:spPr>
            <a:xfrm>
              <a:off x="810781" y="3715228"/>
              <a:ext cx="216000" cy="216000"/>
            </a:xfrm>
            <a:prstGeom prst="ellipse">
              <a:avLst/>
            </a:prstGeom>
            <a:solidFill>
              <a:srgbClr val="FFFF00"/>
            </a:solidFill>
            <a:ln cap="flat" cmpd="sng" w="1270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012" name="Google Shape;1012;p44"/>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3</a:t>
              </a:r>
              <a:endParaRPr/>
            </a:p>
          </p:txBody>
        </p:sp>
      </p:grpSp>
      <p:sp>
        <p:nvSpPr>
          <p:cNvPr id="1013" name="Google Shape;1013;p44"/>
          <p:cNvSpPr txBox="1"/>
          <p:nvPr/>
        </p:nvSpPr>
        <p:spPr>
          <a:xfrm>
            <a:off x="9504213" y="373659"/>
            <a:ext cx="2279791" cy="40011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000">
                <a:solidFill>
                  <a:schemeClr val="accent2"/>
                </a:solidFill>
                <a:latin typeface="Avenir"/>
                <a:ea typeface="Avenir"/>
                <a:cs typeface="Avenir"/>
                <a:sym typeface="Avenir"/>
              </a:rPr>
              <a:t>Sources of funds</a:t>
            </a:r>
            <a:endParaRPr/>
          </a:p>
        </p:txBody>
      </p:sp>
      <p:sp>
        <p:nvSpPr>
          <p:cNvPr id="1014" name="Google Shape;1014;p44"/>
          <p:cNvSpPr txBox="1"/>
          <p:nvPr/>
        </p:nvSpPr>
        <p:spPr>
          <a:xfrm>
            <a:off x="492858" y="373659"/>
            <a:ext cx="1880643" cy="40011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000">
                <a:solidFill>
                  <a:schemeClr val="accent6"/>
                </a:solidFill>
                <a:latin typeface="Avenir"/>
                <a:ea typeface="Avenir"/>
                <a:cs typeface="Avenir"/>
                <a:sym typeface="Avenir"/>
              </a:rPr>
              <a:t>Uses of funds</a:t>
            </a:r>
            <a:endParaRPr/>
          </a:p>
        </p:txBody>
      </p:sp>
      <p:grpSp>
        <p:nvGrpSpPr>
          <p:cNvPr id="1015" name="Google Shape;1015;p44"/>
          <p:cNvGrpSpPr/>
          <p:nvPr/>
        </p:nvGrpSpPr>
        <p:grpSpPr>
          <a:xfrm>
            <a:off x="9983452" y="3159099"/>
            <a:ext cx="1620000" cy="796276"/>
            <a:chOff x="3810000" y="2015069"/>
            <a:chExt cx="1390650" cy="1596814"/>
          </a:xfrm>
        </p:grpSpPr>
        <p:sp>
          <p:nvSpPr>
            <p:cNvPr id="1016" name="Google Shape;1016;p44"/>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1017" name="Google Shape;1017;p44"/>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1018" name="Google Shape;1018;p44"/>
          <p:cNvGrpSpPr/>
          <p:nvPr/>
        </p:nvGrpSpPr>
        <p:grpSpPr>
          <a:xfrm>
            <a:off x="10006085" y="1263488"/>
            <a:ext cx="1620000" cy="796276"/>
            <a:chOff x="3810000" y="2015069"/>
            <a:chExt cx="1390650" cy="1596814"/>
          </a:xfrm>
        </p:grpSpPr>
        <p:sp>
          <p:nvSpPr>
            <p:cNvPr id="1019" name="Google Shape;1019;p44"/>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1020" name="Google Shape;1020;p44"/>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sp>
        <p:nvSpPr>
          <p:cNvPr id="1021" name="Google Shape;1021;p44"/>
          <p:cNvSpPr/>
          <p:nvPr/>
        </p:nvSpPr>
        <p:spPr>
          <a:xfrm rot="10800000">
            <a:off x="10548000" y="3653367"/>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1022" name="Google Shape;1022;p44"/>
          <p:cNvSpPr/>
          <p:nvPr/>
        </p:nvSpPr>
        <p:spPr>
          <a:xfrm>
            <a:off x="1245585" y="4979617"/>
            <a:ext cx="10538419" cy="1312708"/>
          </a:xfrm>
          <a:prstGeom prst="rect">
            <a:avLst/>
          </a:prstGeom>
          <a:solidFill>
            <a:srgbClr val="F2F2F2">
              <a:alpha val="86666"/>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1023" name="Google Shape;1023;p44"/>
          <p:cNvGrpSpPr/>
          <p:nvPr/>
        </p:nvGrpSpPr>
        <p:grpSpPr>
          <a:xfrm>
            <a:off x="1441262" y="5257638"/>
            <a:ext cx="10188967" cy="756004"/>
            <a:chOff x="926134" y="1719856"/>
            <a:chExt cx="9204181" cy="750147"/>
          </a:xfrm>
        </p:grpSpPr>
        <p:sp>
          <p:nvSpPr>
            <p:cNvPr id="1024" name="Google Shape;1024;p44"/>
            <p:cNvSpPr txBox="1"/>
            <p:nvPr/>
          </p:nvSpPr>
          <p:spPr>
            <a:xfrm>
              <a:off x="1641585" y="1719860"/>
              <a:ext cx="5447935"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139700" marR="0" rtl="0" algn="l">
                <a:spcBef>
                  <a:spcPts val="0"/>
                </a:spcBef>
                <a:spcAft>
                  <a:spcPts val="0"/>
                </a:spcAft>
                <a:buNone/>
              </a:pPr>
              <a:r>
                <a:rPr lang="en-US" sz="2000">
                  <a:solidFill>
                    <a:schemeClr val="dk1"/>
                  </a:solidFill>
                  <a:latin typeface="Calibri"/>
                  <a:ea typeface="Calibri"/>
                  <a:cs typeface="Calibri"/>
                  <a:sym typeface="Calibri"/>
                </a:rPr>
                <a:t>대출금의 일부를 상환함</a:t>
              </a:r>
              <a:r>
                <a:rPr lang="en-US" sz="2000">
                  <a:solidFill>
                    <a:schemeClr val="dk1"/>
                  </a:solidFill>
                  <a:latin typeface="Avenir"/>
                  <a:ea typeface="Avenir"/>
                  <a:cs typeface="Avenir"/>
                  <a:sym typeface="Avenir"/>
                </a:rPr>
                <a:t>.</a:t>
              </a:r>
              <a:endParaRPr/>
            </a:p>
          </p:txBody>
        </p:sp>
        <p:sp>
          <p:nvSpPr>
            <p:cNvPr id="1025" name="Google Shape;1025;p44"/>
            <p:cNvSpPr txBox="1"/>
            <p:nvPr/>
          </p:nvSpPr>
          <p:spPr>
            <a:xfrm>
              <a:off x="7089520" y="1719858"/>
              <a:ext cx="1520398" cy="745310"/>
            </a:xfrm>
            <a:prstGeom prst="rect">
              <a:avLst/>
            </a:prstGeom>
            <a:solidFill>
              <a:srgbClr val="E1EFD8"/>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Bank loan</a:t>
              </a: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5,000</a:t>
              </a:r>
              <a:endParaRPr/>
            </a:p>
          </p:txBody>
        </p:sp>
        <p:sp>
          <p:nvSpPr>
            <p:cNvPr id="1026" name="Google Shape;1026;p44"/>
            <p:cNvSpPr txBox="1"/>
            <p:nvPr/>
          </p:nvSpPr>
          <p:spPr>
            <a:xfrm>
              <a:off x="8609917" y="1719858"/>
              <a:ext cx="1520398" cy="745310"/>
            </a:xfrm>
            <a:prstGeom prst="rect">
              <a:avLst/>
            </a:prstGeom>
            <a:solidFill>
              <a:srgbClr val="FBE4D4"/>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Cash</a:t>
              </a:r>
              <a:endParaRPr b="1" sz="1600">
                <a:solidFill>
                  <a:srgbClr val="BFBFBF"/>
                </a:solidFill>
                <a:latin typeface="Avenir"/>
                <a:ea typeface="Avenir"/>
                <a:cs typeface="Avenir"/>
                <a:sym typeface="Aveni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5,000</a:t>
              </a:r>
              <a:endParaRPr/>
            </a:p>
          </p:txBody>
        </p:sp>
        <p:sp>
          <p:nvSpPr>
            <p:cNvPr id="1027" name="Google Shape;1027;p44"/>
            <p:cNvSpPr txBox="1"/>
            <p:nvPr/>
          </p:nvSpPr>
          <p:spPr>
            <a:xfrm>
              <a:off x="926134" y="1719856"/>
              <a:ext cx="715451"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3</a:t>
              </a:r>
              <a:endParaRPr/>
            </a:p>
          </p:txBody>
        </p:sp>
      </p:grpSp>
      <p:sp>
        <p:nvSpPr>
          <p:cNvPr id="1028" name="Google Shape;1028;p44"/>
          <p:cNvSpPr txBox="1"/>
          <p:nvPr/>
        </p:nvSpPr>
        <p:spPr>
          <a:xfrm>
            <a:off x="8264089" y="5253525"/>
            <a:ext cx="1683070" cy="756000"/>
          </a:xfrm>
          <a:prstGeom prst="rect">
            <a:avLst/>
          </a:prstGeom>
          <a:solidFill>
            <a:srgbClr val="548135"/>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5,000</a:t>
            </a:r>
            <a:endParaRPr/>
          </a:p>
        </p:txBody>
      </p:sp>
      <p:sp>
        <p:nvSpPr>
          <p:cNvPr id="1029" name="Google Shape;1029;p44"/>
          <p:cNvSpPr txBox="1"/>
          <p:nvPr/>
        </p:nvSpPr>
        <p:spPr>
          <a:xfrm>
            <a:off x="9947159" y="5257638"/>
            <a:ext cx="1683070" cy="756000"/>
          </a:xfrm>
          <a:prstGeom prst="rect">
            <a:avLst/>
          </a:prstGeom>
          <a:solidFill>
            <a:schemeClr val="accent2"/>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5,000</a:t>
            </a:r>
            <a:endParaRPr/>
          </a:p>
        </p:txBody>
      </p:sp>
      <p:sp>
        <p:nvSpPr>
          <p:cNvPr id="1030" name="Google Shape;1030;p44"/>
          <p:cNvSpPr/>
          <p:nvPr/>
        </p:nvSpPr>
        <p:spPr>
          <a:xfrm>
            <a:off x="11175384" y="824059"/>
            <a:ext cx="950259" cy="1037381"/>
          </a:xfrm>
          <a:prstGeom prst="downArrow">
            <a:avLst>
              <a:gd fmla="val 50000" name="adj1"/>
              <a:gd fmla="val 50000" name="adj2"/>
            </a:avLst>
          </a:prstGeom>
          <a:solidFill>
            <a:schemeClr val="accent6">
              <a:alpha val="77647"/>
            </a:schemeClr>
          </a:solidFill>
          <a:ln>
            <a:noFill/>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031" name="Google Shape;1031;p44"/>
          <p:cNvSpPr/>
          <p:nvPr/>
        </p:nvSpPr>
        <p:spPr>
          <a:xfrm>
            <a:off x="117100" y="826738"/>
            <a:ext cx="950259" cy="1037381"/>
          </a:xfrm>
          <a:prstGeom prst="downArrow">
            <a:avLst>
              <a:gd fmla="val 50000" name="adj1"/>
              <a:gd fmla="val 50000" name="adj2"/>
            </a:avLst>
          </a:prstGeom>
          <a:solidFill>
            <a:schemeClr val="accent2">
              <a:alpha val="77647"/>
            </a:schemeClr>
          </a:solidFill>
          <a:ln>
            <a:noFill/>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Tree>
  </p:cSld>
  <p:clrMapOvr>
    <a:masterClrMapping/>
  </p:clrMapOvr>
  <mc:AlternateContent>
    <mc:Choice Requires="p14">
      <p:transition spd="slow" p14:dur="700">
        <p:fade/>
      </p:transition>
    </mc:Choice>
    <mc:Fallback>
      <p:transition spd="slow">
        <p:fade/>
      </p:transition>
    </mc:Fallback>
  </mc:AlternateContent>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afterEffect" presetClass="exit" presetID="10" presetSubtype="0">
                                  <p:stCondLst>
                                    <p:cond delay="0"/>
                                  </p:stCondLst>
                                  <p:childTnLst>
                                    <p:animEffect filter="fade" transition="out">
                                      <p:cBhvr>
                                        <p:cTn dur="1000"/>
                                        <p:tgtEl>
                                          <p:spTgt spid="1029"/>
                                        </p:tgtEl>
                                      </p:cBhvr>
                                    </p:animEffect>
                                    <p:set>
                                      <p:cBhvr>
                                        <p:cTn dur="1" fill="hold">
                                          <p:stCondLst>
                                            <p:cond delay="1000"/>
                                          </p:stCondLst>
                                        </p:cTn>
                                        <p:tgtEl>
                                          <p:spTgt spid="1029"/>
                                        </p:tgtEl>
                                        <p:attrNameLst>
                                          <p:attrName>style.visibility</p:attrName>
                                        </p:attrNameLst>
                                      </p:cBhvr>
                                      <p:to>
                                        <p:strVal val="hidden"/>
                                      </p:to>
                                    </p:set>
                                  </p:childTnLst>
                                </p:cTn>
                              </p:par>
                              <p:par>
                                <p:cTn fill="hold" nodeType="withEffect" presetClass="entr" presetID="10" presetSubtype="0">
                                  <p:stCondLst>
                                    <p:cond delay="0"/>
                                  </p:stCondLst>
                                  <p:childTnLst>
                                    <p:set>
                                      <p:cBhvr>
                                        <p:cTn dur="1" fill="hold">
                                          <p:stCondLst>
                                            <p:cond delay="0"/>
                                          </p:stCondLst>
                                        </p:cTn>
                                        <p:tgtEl>
                                          <p:spTgt spid="995"/>
                                        </p:tgtEl>
                                        <p:attrNameLst>
                                          <p:attrName>style.visibility</p:attrName>
                                        </p:attrNameLst>
                                      </p:cBhvr>
                                      <p:to>
                                        <p:strVal val="visible"/>
                                      </p:to>
                                    </p:set>
                                    <p:animEffect filter="fade" transition="in">
                                      <p:cBhvr>
                                        <p:cTn dur="1000"/>
                                        <p:tgtEl>
                                          <p:spTgt spid="995"/>
                                        </p:tgtEl>
                                      </p:cBhvr>
                                    </p:animEffect>
                                  </p:childTnLst>
                                </p:cTn>
                              </p:par>
                              <p:par>
                                <p:cTn fill="hold" nodeType="withEffect" presetClass="entr" presetID="10" presetSubtype="0">
                                  <p:stCondLst>
                                    <p:cond delay="0"/>
                                  </p:stCondLst>
                                  <p:childTnLst>
                                    <p:set>
                                      <p:cBhvr>
                                        <p:cTn dur="1" fill="hold">
                                          <p:stCondLst>
                                            <p:cond delay="0"/>
                                          </p:stCondLst>
                                        </p:cTn>
                                        <p:tgtEl>
                                          <p:spTgt spid="987"/>
                                        </p:tgtEl>
                                        <p:attrNameLst>
                                          <p:attrName>style.visibility</p:attrName>
                                        </p:attrNameLst>
                                      </p:cBhvr>
                                      <p:to>
                                        <p:strVal val="visible"/>
                                      </p:to>
                                    </p:set>
                                    <p:animEffect filter="fade" transition="in">
                                      <p:cBhvr>
                                        <p:cTn dur="1000"/>
                                        <p:tgtEl>
                                          <p:spTgt spid="987"/>
                                        </p:tgtEl>
                                      </p:cBhvr>
                                    </p:animEffect>
                                  </p:childTnLst>
                                </p:cTn>
                              </p:par>
                              <p:par>
                                <p:cTn fill="hold" nodeType="withEffect" presetClass="entr" presetID="10" presetSubtype="0">
                                  <p:stCondLst>
                                    <p:cond delay="0"/>
                                  </p:stCondLst>
                                  <p:childTnLst>
                                    <p:set>
                                      <p:cBhvr>
                                        <p:cTn dur="1" fill="hold">
                                          <p:stCondLst>
                                            <p:cond delay="0"/>
                                          </p:stCondLst>
                                        </p:cTn>
                                        <p:tgtEl>
                                          <p:spTgt spid="985"/>
                                        </p:tgtEl>
                                        <p:attrNameLst>
                                          <p:attrName>style.visibility</p:attrName>
                                        </p:attrNameLst>
                                      </p:cBhvr>
                                      <p:to>
                                        <p:strVal val="visible"/>
                                      </p:to>
                                    </p:set>
                                    <p:animEffect filter="fade" transition="in">
                                      <p:cBhvr>
                                        <p:cTn dur="1000"/>
                                        <p:tgtEl>
                                          <p:spTgt spid="985"/>
                                        </p:tgtEl>
                                      </p:cBhvr>
                                    </p:animEffect>
                                  </p:childTnLst>
                                </p:cTn>
                              </p:par>
                            </p:childTnLst>
                          </p:cTn>
                        </p:par>
                        <p:par>
                          <p:cTn fill="hold">
                            <p:stCondLst>
                              <p:cond delay="1000"/>
                            </p:stCondLst>
                            <p:childTnLst>
                              <p:par>
                                <p:cTn fill="hold" nodeType="afterEffect" presetClass="exit" presetID="10" presetSubtype="0">
                                  <p:stCondLst>
                                    <p:cond delay="0"/>
                                  </p:stCondLst>
                                  <p:childTnLst>
                                    <p:animEffect filter="fade" transition="out">
                                      <p:cBhvr>
                                        <p:cTn dur="1000"/>
                                        <p:tgtEl>
                                          <p:spTgt spid="1028"/>
                                        </p:tgtEl>
                                      </p:cBhvr>
                                    </p:animEffect>
                                    <p:set>
                                      <p:cBhvr>
                                        <p:cTn dur="1" fill="hold">
                                          <p:stCondLst>
                                            <p:cond delay="1000"/>
                                          </p:stCondLst>
                                        </p:cTn>
                                        <p:tgtEl>
                                          <p:spTgt spid="1028"/>
                                        </p:tgtEl>
                                        <p:attrNameLst>
                                          <p:attrName>style.visibility</p:attrName>
                                        </p:attrNameLst>
                                      </p:cBhvr>
                                      <p:to>
                                        <p:strVal val="hidden"/>
                                      </p:to>
                                    </p:set>
                                  </p:childTnLst>
                                </p:cTn>
                              </p:par>
                              <p:par>
                                <p:cTn fill="hold" nodeType="withEffect" presetClass="entr" presetID="10" presetSubtype="0">
                                  <p:stCondLst>
                                    <p:cond delay="0"/>
                                  </p:stCondLst>
                                  <p:childTnLst>
                                    <p:set>
                                      <p:cBhvr>
                                        <p:cTn dur="1" fill="hold">
                                          <p:stCondLst>
                                            <p:cond delay="0"/>
                                          </p:stCondLst>
                                        </p:cTn>
                                        <p:tgtEl>
                                          <p:spTgt spid="1010"/>
                                        </p:tgtEl>
                                        <p:attrNameLst>
                                          <p:attrName>style.visibility</p:attrName>
                                        </p:attrNameLst>
                                      </p:cBhvr>
                                      <p:to>
                                        <p:strVal val="visible"/>
                                      </p:to>
                                    </p:set>
                                    <p:animEffect filter="fade" transition="in">
                                      <p:cBhvr>
                                        <p:cTn dur="1000"/>
                                        <p:tgtEl>
                                          <p:spTgt spid="1010"/>
                                        </p:tgtEl>
                                      </p:cBhvr>
                                    </p:animEffect>
                                  </p:childTnLst>
                                </p:cTn>
                              </p:par>
                              <p:par>
                                <p:cTn fill="hold" nodeType="withEffect" presetClass="entr" presetID="10" presetSubtype="0">
                                  <p:stCondLst>
                                    <p:cond delay="0"/>
                                  </p:stCondLst>
                                  <p:childTnLst>
                                    <p:set>
                                      <p:cBhvr>
                                        <p:cTn dur="1" fill="hold">
                                          <p:stCondLst>
                                            <p:cond delay="0"/>
                                          </p:stCondLst>
                                        </p:cTn>
                                        <p:tgtEl>
                                          <p:spTgt spid="994"/>
                                        </p:tgtEl>
                                        <p:attrNameLst>
                                          <p:attrName>style.visibility</p:attrName>
                                        </p:attrNameLst>
                                      </p:cBhvr>
                                      <p:to>
                                        <p:strVal val="visible"/>
                                      </p:to>
                                    </p:set>
                                    <p:animEffect filter="fade" transition="in">
                                      <p:cBhvr>
                                        <p:cTn dur="1000"/>
                                        <p:tgtEl>
                                          <p:spTgt spid="994"/>
                                        </p:tgtEl>
                                      </p:cBhvr>
                                    </p:animEffect>
                                  </p:childTnLst>
                                </p:cTn>
                              </p:par>
                              <p:par>
                                <p:cTn fill="hold" nodeType="withEffect" presetClass="entr" presetID="10" presetSubtype="0">
                                  <p:stCondLst>
                                    <p:cond delay="0"/>
                                  </p:stCondLst>
                                  <p:childTnLst>
                                    <p:set>
                                      <p:cBhvr>
                                        <p:cTn dur="1" fill="hold">
                                          <p:stCondLst>
                                            <p:cond delay="0"/>
                                          </p:stCondLst>
                                        </p:cTn>
                                        <p:tgtEl>
                                          <p:spTgt spid="993"/>
                                        </p:tgtEl>
                                        <p:attrNameLst>
                                          <p:attrName>style.visibility</p:attrName>
                                        </p:attrNameLst>
                                      </p:cBhvr>
                                      <p:to>
                                        <p:strVal val="visible"/>
                                      </p:to>
                                    </p:set>
                                    <p:animEffect filter="fade" transition="in">
                                      <p:cBhvr>
                                        <p:cTn dur="1000"/>
                                        <p:tgtEl>
                                          <p:spTgt spid="99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30"/>
                                        </p:tgtEl>
                                        <p:attrNameLst>
                                          <p:attrName>style.visibility</p:attrName>
                                        </p:attrNameLst>
                                      </p:cBhvr>
                                      <p:to>
                                        <p:strVal val="visible"/>
                                      </p:to>
                                    </p:set>
                                    <p:animEffect filter="fade" transition="in">
                                      <p:cBhvr>
                                        <p:cTn dur="1000"/>
                                        <p:tgtEl>
                                          <p:spTgt spid="1030"/>
                                        </p:tgtEl>
                                      </p:cBhvr>
                                    </p:animEffect>
                                  </p:childTnLst>
                                </p:cTn>
                              </p:par>
                              <p:par>
                                <p:cTn fill="hold" nodeType="withEffect" presetClass="entr" presetID="10" presetSubtype="0">
                                  <p:stCondLst>
                                    <p:cond delay="0"/>
                                  </p:stCondLst>
                                  <p:childTnLst>
                                    <p:set>
                                      <p:cBhvr>
                                        <p:cTn dur="1" fill="hold">
                                          <p:stCondLst>
                                            <p:cond delay="0"/>
                                          </p:stCondLst>
                                        </p:cTn>
                                        <p:tgtEl>
                                          <p:spTgt spid="1031"/>
                                        </p:tgtEl>
                                        <p:attrNameLst>
                                          <p:attrName>style.visibility</p:attrName>
                                        </p:attrNameLst>
                                      </p:cBhvr>
                                      <p:to>
                                        <p:strVal val="visible"/>
                                      </p:to>
                                    </p:set>
                                    <p:animEffect filter="fade" transition="in">
                                      <p:cBhvr>
                                        <p:cTn dur="1000"/>
                                        <p:tgtEl>
                                          <p:spTgt spid="103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36" name="Shape 1036"/>
        <p:cNvGrpSpPr/>
        <p:nvPr/>
      </p:nvGrpSpPr>
      <p:grpSpPr>
        <a:xfrm>
          <a:off x="0" y="0"/>
          <a:ext cx="0" cy="0"/>
          <a:chOff x="0" y="0"/>
          <a:chExt cx="0" cy="0"/>
        </a:xfrm>
      </p:grpSpPr>
      <p:sp>
        <p:nvSpPr>
          <p:cNvPr id="1037" name="Google Shape;1037;p45"/>
          <p:cNvSpPr txBox="1"/>
          <p:nvPr/>
        </p:nvSpPr>
        <p:spPr>
          <a:xfrm>
            <a:off x="6112111" y="0"/>
            <a:ext cx="6071834" cy="6858000"/>
          </a:xfrm>
          <a:prstGeom prst="rect">
            <a:avLst/>
          </a:prstGeom>
          <a:solidFill>
            <a:srgbClr val="FEE599"/>
          </a:solidFill>
          <a:ln>
            <a:noFill/>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800">
                <a:solidFill>
                  <a:schemeClr val="dk1"/>
                </a:solidFill>
                <a:latin typeface="Avenir"/>
                <a:ea typeface="Avenir"/>
                <a:cs typeface="Avenir"/>
                <a:sym typeface="Avenir"/>
              </a:rPr>
              <a:t> </a:t>
            </a:r>
            <a:endParaRPr/>
          </a:p>
        </p:txBody>
      </p:sp>
      <p:sp>
        <p:nvSpPr>
          <p:cNvPr id="1038" name="Google Shape;1038;p45"/>
          <p:cNvSpPr txBox="1"/>
          <p:nvPr/>
        </p:nvSpPr>
        <p:spPr>
          <a:xfrm>
            <a:off x="8055" y="0"/>
            <a:ext cx="6096000" cy="6858000"/>
          </a:xfrm>
          <a:prstGeom prst="rect">
            <a:avLst/>
          </a:prstGeom>
          <a:solidFill>
            <a:srgbClr val="C4E0B2"/>
          </a:solidFill>
          <a:ln>
            <a:noFill/>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None/>
            </a:pPr>
            <a:r>
              <a:t/>
            </a:r>
            <a:endParaRPr b="1" sz="2800">
              <a:solidFill>
                <a:schemeClr val="dk1"/>
              </a:solidFill>
              <a:latin typeface="Avenir"/>
              <a:ea typeface="Avenir"/>
              <a:cs typeface="Avenir"/>
              <a:sym typeface="Avenir"/>
            </a:endParaRPr>
          </a:p>
        </p:txBody>
      </p:sp>
      <p:grpSp>
        <p:nvGrpSpPr>
          <p:cNvPr id="1039" name="Google Shape;1039;p45"/>
          <p:cNvGrpSpPr/>
          <p:nvPr/>
        </p:nvGrpSpPr>
        <p:grpSpPr>
          <a:xfrm>
            <a:off x="1080824" y="2000379"/>
            <a:ext cx="3871609" cy="2937753"/>
            <a:chOff x="671549" y="1402787"/>
            <a:chExt cx="1620000" cy="2549293"/>
          </a:xfrm>
        </p:grpSpPr>
        <p:sp>
          <p:nvSpPr>
            <p:cNvPr id="1040" name="Google Shape;1040;p45"/>
            <p:cNvSpPr/>
            <p:nvPr/>
          </p:nvSpPr>
          <p:spPr>
            <a:xfrm flipH="1">
              <a:off x="1481549" y="1402787"/>
              <a:ext cx="810000" cy="2549293"/>
            </a:xfrm>
            <a:prstGeom prst="corner">
              <a:avLst>
                <a:gd fmla="val 6497" name="adj1"/>
                <a:gd fmla="val 6944" name="adj2"/>
              </a:avLst>
            </a:prstGeom>
            <a:solidFill>
              <a:srgbClr val="548135"/>
            </a:solidFill>
            <a:ln cap="flat" cmpd="sng" w="76200">
              <a:solidFill>
                <a:srgbClr val="548135"/>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1800">
                <a:solidFill>
                  <a:schemeClr val="lt1"/>
                </a:solidFill>
                <a:latin typeface="Avenir"/>
                <a:ea typeface="Avenir"/>
                <a:cs typeface="Avenir"/>
                <a:sym typeface="Avenir"/>
              </a:endParaRPr>
            </a:p>
          </p:txBody>
        </p:sp>
        <p:sp>
          <p:nvSpPr>
            <p:cNvPr id="1041" name="Google Shape;1041;p45"/>
            <p:cNvSpPr/>
            <p:nvPr/>
          </p:nvSpPr>
          <p:spPr>
            <a:xfrm>
              <a:off x="671549" y="1402787"/>
              <a:ext cx="810000" cy="2549293"/>
            </a:xfrm>
            <a:prstGeom prst="corner">
              <a:avLst>
                <a:gd fmla="val 6497" name="adj1"/>
                <a:gd fmla="val 7336" name="adj2"/>
              </a:avLst>
            </a:prstGeom>
            <a:solidFill>
              <a:srgbClr val="548135"/>
            </a:solidFill>
            <a:ln cap="flat" cmpd="sng" w="76200">
              <a:solidFill>
                <a:srgbClr val="548135"/>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1800">
                <a:solidFill>
                  <a:schemeClr val="lt1"/>
                </a:solidFill>
                <a:latin typeface="Avenir"/>
                <a:ea typeface="Avenir"/>
                <a:cs typeface="Avenir"/>
                <a:sym typeface="Avenir"/>
              </a:endParaRPr>
            </a:p>
          </p:txBody>
        </p:sp>
      </p:grpSp>
      <p:grpSp>
        <p:nvGrpSpPr>
          <p:cNvPr id="1042" name="Google Shape;1042;p45"/>
          <p:cNvGrpSpPr/>
          <p:nvPr/>
        </p:nvGrpSpPr>
        <p:grpSpPr>
          <a:xfrm>
            <a:off x="7239567" y="2000379"/>
            <a:ext cx="3871609" cy="2937753"/>
            <a:chOff x="671549" y="1402787"/>
            <a:chExt cx="1620000" cy="2549293"/>
          </a:xfrm>
        </p:grpSpPr>
        <p:sp>
          <p:nvSpPr>
            <p:cNvPr id="1043" name="Google Shape;1043;p45"/>
            <p:cNvSpPr/>
            <p:nvPr/>
          </p:nvSpPr>
          <p:spPr>
            <a:xfrm flipH="1">
              <a:off x="1481549" y="1402787"/>
              <a:ext cx="810000" cy="2549293"/>
            </a:xfrm>
            <a:prstGeom prst="corner">
              <a:avLst>
                <a:gd fmla="val 6497" name="adj1"/>
                <a:gd fmla="val 6944" name="adj2"/>
              </a:avLst>
            </a:prstGeom>
            <a:solidFill>
              <a:schemeClr val="accent2"/>
            </a:solidFill>
            <a:ln cap="flat" cmpd="sng" w="76200">
              <a:solidFill>
                <a:schemeClr val="accent2"/>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1800">
                <a:solidFill>
                  <a:schemeClr val="lt1"/>
                </a:solidFill>
                <a:latin typeface="Avenir"/>
                <a:ea typeface="Avenir"/>
                <a:cs typeface="Avenir"/>
                <a:sym typeface="Avenir"/>
              </a:endParaRPr>
            </a:p>
          </p:txBody>
        </p:sp>
        <p:sp>
          <p:nvSpPr>
            <p:cNvPr id="1044" name="Google Shape;1044;p45"/>
            <p:cNvSpPr/>
            <p:nvPr/>
          </p:nvSpPr>
          <p:spPr>
            <a:xfrm>
              <a:off x="671549" y="1402787"/>
              <a:ext cx="810000" cy="2549293"/>
            </a:xfrm>
            <a:prstGeom prst="corner">
              <a:avLst>
                <a:gd fmla="val 6497" name="adj1"/>
                <a:gd fmla="val 7336" name="adj2"/>
              </a:avLst>
            </a:prstGeom>
            <a:solidFill>
              <a:schemeClr val="accent2"/>
            </a:solidFill>
            <a:ln cap="flat" cmpd="sng" w="76200">
              <a:solidFill>
                <a:schemeClr val="accent2"/>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1800">
                <a:solidFill>
                  <a:schemeClr val="lt1"/>
                </a:solidFill>
                <a:latin typeface="Avenir"/>
                <a:ea typeface="Avenir"/>
                <a:cs typeface="Avenir"/>
                <a:sym typeface="Avenir"/>
              </a:endParaRPr>
            </a:p>
          </p:txBody>
        </p:sp>
      </p:grpSp>
      <p:grpSp>
        <p:nvGrpSpPr>
          <p:cNvPr id="1045" name="Google Shape;1045;p45"/>
          <p:cNvGrpSpPr/>
          <p:nvPr/>
        </p:nvGrpSpPr>
        <p:grpSpPr>
          <a:xfrm rot="10800000">
            <a:off x="1546559" y="2188875"/>
            <a:ext cx="1303506" cy="2315183"/>
            <a:chOff x="2086583" y="2684832"/>
            <a:chExt cx="1303506" cy="2315183"/>
          </a:xfrm>
        </p:grpSpPr>
        <p:sp>
          <p:nvSpPr>
            <p:cNvPr id="1046" name="Google Shape;1046;p45"/>
            <p:cNvSpPr txBox="1"/>
            <p:nvPr/>
          </p:nvSpPr>
          <p:spPr>
            <a:xfrm>
              <a:off x="2086583" y="2684832"/>
              <a:ext cx="1303506" cy="2315183"/>
            </a:xfrm>
            <a:prstGeom prst="rect">
              <a:avLst/>
            </a:prstGeom>
            <a:solidFill>
              <a:srgbClr val="548135"/>
            </a:solidFill>
            <a:ln cap="flat" cmpd="sng" w="50800">
              <a:solidFill>
                <a:srgbClr val="BFBFBF"/>
              </a:solidFill>
              <a:prstDash val="solid"/>
              <a:round/>
              <a:headEnd len="sm" w="sm" type="none"/>
              <a:tailEnd len="sm" w="sm" type="none"/>
            </a:ln>
          </p:spPr>
          <p:txBody>
            <a:bodyPr anchorCtr="0" anchor="t" bIns="45700" lIns="91425" spcFirstLastPara="1" rIns="91425" wrap="square" tIns="45700">
              <a:sp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47" name="Google Shape;1047;p45"/>
            <p:cNvSpPr/>
            <p:nvPr/>
          </p:nvSpPr>
          <p:spPr>
            <a:xfrm>
              <a:off x="2340915" y="2968601"/>
              <a:ext cx="794842" cy="1747643"/>
            </a:xfrm>
            <a:prstGeom prst="downArrow">
              <a:avLst>
                <a:gd fmla="val 47044" name="adj1"/>
                <a:gd fmla="val 66767" name="adj2"/>
              </a:avLst>
            </a:prstGeom>
            <a:solidFill>
              <a:schemeClr val="lt1"/>
            </a:solidFill>
            <a:ln cap="flat" cmpd="sng" w="50800">
              <a:solidFill>
                <a:srgbClr val="BFBFB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grpSp>
        <p:nvGrpSpPr>
          <p:cNvPr id="1048" name="Google Shape;1048;p45"/>
          <p:cNvGrpSpPr/>
          <p:nvPr/>
        </p:nvGrpSpPr>
        <p:grpSpPr>
          <a:xfrm>
            <a:off x="7707118" y="2188873"/>
            <a:ext cx="1303506" cy="2315183"/>
            <a:chOff x="2086583" y="2684832"/>
            <a:chExt cx="1303506" cy="2315183"/>
          </a:xfrm>
        </p:grpSpPr>
        <p:sp>
          <p:nvSpPr>
            <p:cNvPr id="1049" name="Google Shape;1049;p45"/>
            <p:cNvSpPr txBox="1"/>
            <p:nvPr/>
          </p:nvSpPr>
          <p:spPr>
            <a:xfrm>
              <a:off x="2086583" y="2684832"/>
              <a:ext cx="1303506" cy="2315183"/>
            </a:xfrm>
            <a:prstGeom prst="rect">
              <a:avLst/>
            </a:prstGeom>
            <a:solidFill>
              <a:srgbClr val="548135"/>
            </a:solidFill>
            <a:ln cap="flat" cmpd="sng" w="50800">
              <a:solidFill>
                <a:srgbClr val="BFBFBF"/>
              </a:solidFill>
              <a:prstDash val="solid"/>
              <a:round/>
              <a:headEnd len="sm" w="sm" type="none"/>
              <a:tailEnd len="sm" w="sm" type="none"/>
            </a:ln>
          </p:spPr>
          <p:txBody>
            <a:bodyPr anchorCtr="0" anchor="t" bIns="45700" lIns="91425" spcFirstLastPara="1" rIns="91425" wrap="square" tIns="45700">
              <a:sp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50" name="Google Shape;1050;p45"/>
            <p:cNvSpPr/>
            <p:nvPr/>
          </p:nvSpPr>
          <p:spPr>
            <a:xfrm>
              <a:off x="2340915" y="2968601"/>
              <a:ext cx="794842" cy="1747643"/>
            </a:xfrm>
            <a:prstGeom prst="downArrow">
              <a:avLst>
                <a:gd fmla="val 47044" name="adj1"/>
                <a:gd fmla="val 66767" name="adj2"/>
              </a:avLst>
            </a:prstGeom>
            <a:solidFill>
              <a:schemeClr val="lt1"/>
            </a:solidFill>
            <a:ln cap="flat" cmpd="sng" w="50800">
              <a:solidFill>
                <a:srgbClr val="BFBFB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grpSp>
        <p:nvGrpSpPr>
          <p:cNvPr id="1051" name="Google Shape;1051;p45"/>
          <p:cNvGrpSpPr/>
          <p:nvPr/>
        </p:nvGrpSpPr>
        <p:grpSpPr>
          <a:xfrm>
            <a:off x="3182806" y="2188873"/>
            <a:ext cx="1303506" cy="2315183"/>
            <a:chOff x="2086583" y="2684832"/>
            <a:chExt cx="1303506" cy="2315183"/>
          </a:xfrm>
        </p:grpSpPr>
        <p:sp>
          <p:nvSpPr>
            <p:cNvPr id="1052" name="Google Shape;1052;p45"/>
            <p:cNvSpPr txBox="1"/>
            <p:nvPr/>
          </p:nvSpPr>
          <p:spPr>
            <a:xfrm>
              <a:off x="2086583" y="2684832"/>
              <a:ext cx="1303506" cy="2315183"/>
            </a:xfrm>
            <a:prstGeom prst="rect">
              <a:avLst/>
            </a:prstGeom>
            <a:solidFill>
              <a:schemeClr val="accent2"/>
            </a:solidFill>
            <a:ln cap="flat" cmpd="sng" w="50800">
              <a:solidFill>
                <a:srgbClr val="BFBFBF"/>
              </a:solidFill>
              <a:prstDash val="solid"/>
              <a:round/>
              <a:headEnd len="sm" w="sm" type="none"/>
              <a:tailEnd len="sm" w="sm" type="none"/>
            </a:ln>
          </p:spPr>
          <p:txBody>
            <a:bodyPr anchorCtr="0" anchor="t" bIns="45700" lIns="91425" spcFirstLastPara="1" rIns="91425" wrap="square" tIns="45700">
              <a:sp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53" name="Google Shape;1053;p45"/>
            <p:cNvSpPr/>
            <p:nvPr/>
          </p:nvSpPr>
          <p:spPr>
            <a:xfrm>
              <a:off x="2340915" y="2968601"/>
              <a:ext cx="794842" cy="1747643"/>
            </a:xfrm>
            <a:prstGeom prst="downArrow">
              <a:avLst>
                <a:gd fmla="val 47044" name="adj1"/>
                <a:gd fmla="val 66767" name="adj2"/>
              </a:avLst>
            </a:prstGeom>
            <a:solidFill>
              <a:schemeClr val="lt1"/>
            </a:solidFill>
            <a:ln cap="flat" cmpd="sng" w="50800">
              <a:solidFill>
                <a:srgbClr val="BFBFB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grpSp>
        <p:nvGrpSpPr>
          <p:cNvPr id="1054" name="Google Shape;1054;p45"/>
          <p:cNvGrpSpPr/>
          <p:nvPr/>
        </p:nvGrpSpPr>
        <p:grpSpPr>
          <a:xfrm rot="10800000">
            <a:off x="9343365" y="2188871"/>
            <a:ext cx="1303506" cy="2315183"/>
            <a:chOff x="2086583" y="2684832"/>
            <a:chExt cx="1303506" cy="2315183"/>
          </a:xfrm>
        </p:grpSpPr>
        <p:sp>
          <p:nvSpPr>
            <p:cNvPr id="1055" name="Google Shape;1055;p45"/>
            <p:cNvSpPr txBox="1"/>
            <p:nvPr/>
          </p:nvSpPr>
          <p:spPr>
            <a:xfrm>
              <a:off x="2086583" y="2684832"/>
              <a:ext cx="1303506" cy="2315183"/>
            </a:xfrm>
            <a:prstGeom prst="rect">
              <a:avLst/>
            </a:prstGeom>
            <a:solidFill>
              <a:schemeClr val="accent2"/>
            </a:solidFill>
            <a:ln cap="flat" cmpd="sng" w="50800">
              <a:solidFill>
                <a:srgbClr val="BFBFBF"/>
              </a:solidFill>
              <a:prstDash val="solid"/>
              <a:round/>
              <a:headEnd len="sm" w="sm" type="none"/>
              <a:tailEnd len="sm" w="sm" type="none"/>
            </a:ln>
          </p:spPr>
          <p:txBody>
            <a:bodyPr anchorCtr="0" anchor="t" bIns="45700" lIns="91425" spcFirstLastPara="1" rIns="91425" wrap="square" tIns="45700">
              <a:sp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56" name="Google Shape;1056;p45"/>
            <p:cNvSpPr/>
            <p:nvPr/>
          </p:nvSpPr>
          <p:spPr>
            <a:xfrm>
              <a:off x="2340915" y="2968601"/>
              <a:ext cx="794842" cy="1747643"/>
            </a:xfrm>
            <a:prstGeom prst="downArrow">
              <a:avLst>
                <a:gd fmla="val 47044" name="adj1"/>
                <a:gd fmla="val 66767" name="adj2"/>
              </a:avLst>
            </a:prstGeom>
            <a:solidFill>
              <a:schemeClr val="lt1"/>
            </a:solidFill>
            <a:ln cap="flat" cmpd="sng" w="50800">
              <a:solidFill>
                <a:srgbClr val="BFBFB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grpSp>
        <p:nvGrpSpPr>
          <p:cNvPr id="1057" name="Google Shape;1057;p45"/>
          <p:cNvGrpSpPr/>
          <p:nvPr/>
        </p:nvGrpSpPr>
        <p:grpSpPr>
          <a:xfrm rot="10800000">
            <a:off x="1546558" y="2188874"/>
            <a:ext cx="1303506" cy="2315183"/>
            <a:chOff x="2086583" y="2684832"/>
            <a:chExt cx="1303506" cy="2315183"/>
          </a:xfrm>
        </p:grpSpPr>
        <p:sp>
          <p:nvSpPr>
            <p:cNvPr id="1058" name="Google Shape;1058;p45"/>
            <p:cNvSpPr txBox="1"/>
            <p:nvPr/>
          </p:nvSpPr>
          <p:spPr>
            <a:xfrm>
              <a:off x="2086583" y="2684832"/>
              <a:ext cx="1303506" cy="2315183"/>
            </a:xfrm>
            <a:prstGeom prst="rect">
              <a:avLst/>
            </a:prstGeom>
            <a:solidFill>
              <a:schemeClr val="lt1"/>
            </a:solidFill>
            <a:ln cap="flat" cmpd="sng" w="50800">
              <a:solidFill>
                <a:srgbClr val="BFBFBF"/>
              </a:solidFill>
              <a:prstDash val="solid"/>
              <a:round/>
              <a:headEnd len="sm" w="sm" type="none"/>
              <a:tailEnd len="sm" w="sm" type="none"/>
            </a:ln>
          </p:spPr>
          <p:txBody>
            <a:bodyPr anchorCtr="0" anchor="t" bIns="45700" lIns="91425" spcFirstLastPara="1" rIns="91425" wrap="square" tIns="45700">
              <a:sp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59" name="Google Shape;1059;p45"/>
            <p:cNvSpPr/>
            <p:nvPr/>
          </p:nvSpPr>
          <p:spPr>
            <a:xfrm>
              <a:off x="2340915" y="2968601"/>
              <a:ext cx="794842" cy="1747643"/>
            </a:xfrm>
            <a:prstGeom prst="downArrow">
              <a:avLst>
                <a:gd fmla="val 47044" name="adj1"/>
                <a:gd fmla="val 66767" name="adj2"/>
              </a:avLst>
            </a:prstGeom>
            <a:solidFill>
              <a:schemeClr val="lt1"/>
            </a:solidFill>
            <a:ln cap="flat" cmpd="sng" w="50800">
              <a:solidFill>
                <a:srgbClr val="BFBFB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grpSp>
        <p:nvGrpSpPr>
          <p:cNvPr id="1060" name="Google Shape;1060;p45"/>
          <p:cNvGrpSpPr/>
          <p:nvPr/>
        </p:nvGrpSpPr>
        <p:grpSpPr>
          <a:xfrm>
            <a:off x="7707117" y="2188872"/>
            <a:ext cx="1303506" cy="2315183"/>
            <a:chOff x="2086583" y="2684832"/>
            <a:chExt cx="1303506" cy="2315183"/>
          </a:xfrm>
        </p:grpSpPr>
        <p:sp>
          <p:nvSpPr>
            <p:cNvPr id="1061" name="Google Shape;1061;p45"/>
            <p:cNvSpPr txBox="1"/>
            <p:nvPr/>
          </p:nvSpPr>
          <p:spPr>
            <a:xfrm>
              <a:off x="2086583" y="2684832"/>
              <a:ext cx="1303506" cy="2315183"/>
            </a:xfrm>
            <a:prstGeom prst="rect">
              <a:avLst/>
            </a:prstGeom>
            <a:solidFill>
              <a:schemeClr val="lt1"/>
            </a:solidFill>
            <a:ln cap="flat" cmpd="sng" w="50800">
              <a:solidFill>
                <a:srgbClr val="BFBFBF"/>
              </a:solidFill>
              <a:prstDash val="solid"/>
              <a:round/>
              <a:headEnd len="sm" w="sm" type="none"/>
              <a:tailEnd len="sm" w="sm" type="none"/>
            </a:ln>
          </p:spPr>
          <p:txBody>
            <a:bodyPr anchorCtr="0" anchor="t" bIns="45700" lIns="91425" spcFirstLastPara="1" rIns="91425" wrap="square" tIns="45700">
              <a:sp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62" name="Google Shape;1062;p45"/>
            <p:cNvSpPr/>
            <p:nvPr/>
          </p:nvSpPr>
          <p:spPr>
            <a:xfrm>
              <a:off x="2340915" y="2968601"/>
              <a:ext cx="794842" cy="1747643"/>
            </a:xfrm>
            <a:prstGeom prst="downArrow">
              <a:avLst>
                <a:gd fmla="val 47044" name="adj1"/>
                <a:gd fmla="val 66767" name="adj2"/>
              </a:avLst>
            </a:prstGeom>
            <a:solidFill>
              <a:schemeClr val="lt1"/>
            </a:solidFill>
            <a:ln cap="flat" cmpd="sng" w="50800">
              <a:solidFill>
                <a:srgbClr val="BFBFB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grpSp>
        <p:nvGrpSpPr>
          <p:cNvPr id="1063" name="Google Shape;1063;p45"/>
          <p:cNvGrpSpPr/>
          <p:nvPr/>
        </p:nvGrpSpPr>
        <p:grpSpPr>
          <a:xfrm>
            <a:off x="3182805" y="2188872"/>
            <a:ext cx="1303506" cy="2315183"/>
            <a:chOff x="2086583" y="2684832"/>
            <a:chExt cx="1303506" cy="2315183"/>
          </a:xfrm>
        </p:grpSpPr>
        <p:sp>
          <p:nvSpPr>
            <p:cNvPr id="1064" name="Google Shape;1064;p45"/>
            <p:cNvSpPr txBox="1"/>
            <p:nvPr/>
          </p:nvSpPr>
          <p:spPr>
            <a:xfrm>
              <a:off x="2086583" y="2684832"/>
              <a:ext cx="1303506" cy="2315183"/>
            </a:xfrm>
            <a:prstGeom prst="rect">
              <a:avLst/>
            </a:prstGeom>
            <a:solidFill>
              <a:schemeClr val="lt1"/>
            </a:solidFill>
            <a:ln cap="flat" cmpd="sng" w="50800">
              <a:solidFill>
                <a:srgbClr val="BFBFBF"/>
              </a:solidFill>
              <a:prstDash val="solid"/>
              <a:round/>
              <a:headEnd len="sm" w="sm" type="none"/>
              <a:tailEnd len="sm" w="sm" type="none"/>
            </a:ln>
          </p:spPr>
          <p:txBody>
            <a:bodyPr anchorCtr="0" anchor="t" bIns="45700" lIns="91425" spcFirstLastPara="1" rIns="91425" wrap="square" tIns="45700">
              <a:sp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65" name="Google Shape;1065;p45"/>
            <p:cNvSpPr/>
            <p:nvPr/>
          </p:nvSpPr>
          <p:spPr>
            <a:xfrm>
              <a:off x="2340915" y="2968601"/>
              <a:ext cx="794842" cy="1747643"/>
            </a:xfrm>
            <a:prstGeom prst="downArrow">
              <a:avLst>
                <a:gd fmla="val 47044" name="adj1"/>
                <a:gd fmla="val 66767" name="adj2"/>
              </a:avLst>
            </a:prstGeom>
            <a:solidFill>
              <a:schemeClr val="lt1"/>
            </a:solidFill>
            <a:ln cap="flat" cmpd="sng" w="50800">
              <a:solidFill>
                <a:srgbClr val="BFBFB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grpSp>
        <p:nvGrpSpPr>
          <p:cNvPr id="1066" name="Google Shape;1066;p45"/>
          <p:cNvGrpSpPr/>
          <p:nvPr/>
        </p:nvGrpSpPr>
        <p:grpSpPr>
          <a:xfrm rot="10800000">
            <a:off x="9343364" y="2188870"/>
            <a:ext cx="1303506" cy="2315183"/>
            <a:chOff x="2086583" y="2684832"/>
            <a:chExt cx="1303506" cy="2315183"/>
          </a:xfrm>
        </p:grpSpPr>
        <p:sp>
          <p:nvSpPr>
            <p:cNvPr id="1067" name="Google Shape;1067;p45"/>
            <p:cNvSpPr txBox="1"/>
            <p:nvPr/>
          </p:nvSpPr>
          <p:spPr>
            <a:xfrm>
              <a:off x="2086583" y="2684832"/>
              <a:ext cx="1303506" cy="2315183"/>
            </a:xfrm>
            <a:prstGeom prst="rect">
              <a:avLst/>
            </a:prstGeom>
            <a:solidFill>
              <a:schemeClr val="lt1"/>
            </a:solidFill>
            <a:ln cap="flat" cmpd="sng" w="50800">
              <a:solidFill>
                <a:srgbClr val="BFBFBF"/>
              </a:solidFill>
              <a:prstDash val="solid"/>
              <a:round/>
              <a:headEnd len="sm" w="sm" type="none"/>
              <a:tailEnd len="sm" w="sm" type="none"/>
            </a:ln>
          </p:spPr>
          <p:txBody>
            <a:bodyPr anchorCtr="0" anchor="t" bIns="45700" lIns="91425" spcFirstLastPara="1" rIns="91425" wrap="square" tIns="45700">
              <a:sp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68" name="Google Shape;1068;p45"/>
            <p:cNvSpPr/>
            <p:nvPr/>
          </p:nvSpPr>
          <p:spPr>
            <a:xfrm>
              <a:off x="2340915" y="2968601"/>
              <a:ext cx="794842" cy="1747643"/>
            </a:xfrm>
            <a:prstGeom prst="downArrow">
              <a:avLst>
                <a:gd fmla="val 47044" name="adj1"/>
                <a:gd fmla="val 66767" name="adj2"/>
              </a:avLst>
            </a:prstGeom>
            <a:solidFill>
              <a:schemeClr val="lt1"/>
            </a:solidFill>
            <a:ln cap="flat" cmpd="sng" w="50800">
              <a:solidFill>
                <a:srgbClr val="BFBFB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sp>
        <p:nvSpPr>
          <p:cNvPr id="1069" name="Google Shape;1069;p45"/>
          <p:cNvSpPr txBox="1"/>
          <p:nvPr/>
        </p:nvSpPr>
        <p:spPr>
          <a:xfrm>
            <a:off x="1080824" y="5048885"/>
            <a:ext cx="3871609" cy="584775"/>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3200">
                <a:solidFill>
                  <a:schemeClr val="dk1"/>
                </a:solidFill>
                <a:latin typeface="Avenir"/>
                <a:ea typeface="Avenir"/>
                <a:cs typeface="Avenir"/>
                <a:sym typeface="Avenir"/>
              </a:rPr>
              <a:t>Cash at bank</a:t>
            </a:r>
            <a:endParaRPr/>
          </a:p>
        </p:txBody>
      </p:sp>
      <p:sp>
        <p:nvSpPr>
          <p:cNvPr id="1070" name="Google Shape;1070;p45"/>
          <p:cNvSpPr txBox="1"/>
          <p:nvPr/>
        </p:nvSpPr>
        <p:spPr>
          <a:xfrm>
            <a:off x="7239567" y="5087180"/>
            <a:ext cx="3871609" cy="584775"/>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3200">
                <a:solidFill>
                  <a:schemeClr val="dk1"/>
                </a:solidFill>
                <a:latin typeface="Avenir"/>
                <a:ea typeface="Avenir"/>
                <a:cs typeface="Avenir"/>
                <a:sym typeface="Avenir"/>
              </a:rPr>
              <a:t>Bank loan</a:t>
            </a:r>
            <a:endParaRPr/>
          </a:p>
        </p:txBody>
      </p:sp>
      <p:sp>
        <p:nvSpPr>
          <p:cNvPr id="1071" name="Google Shape;1071;p45"/>
          <p:cNvSpPr txBox="1"/>
          <p:nvPr/>
        </p:nvSpPr>
        <p:spPr>
          <a:xfrm>
            <a:off x="351187" y="191264"/>
            <a:ext cx="3395078"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rgbClr val="548135"/>
                </a:solidFill>
                <a:latin typeface="Avenir"/>
                <a:ea typeface="Avenir"/>
                <a:cs typeface="Avenir"/>
                <a:sym typeface="Avenir"/>
              </a:rPr>
              <a:t>Uses of funds</a:t>
            </a:r>
            <a:endParaRPr/>
          </a:p>
        </p:txBody>
      </p:sp>
      <p:sp>
        <p:nvSpPr>
          <p:cNvPr id="1072" name="Google Shape;1072;p45"/>
          <p:cNvSpPr txBox="1"/>
          <p:nvPr/>
        </p:nvSpPr>
        <p:spPr>
          <a:xfrm>
            <a:off x="8445735" y="191264"/>
            <a:ext cx="3395078" cy="58477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3200">
                <a:solidFill>
                  <a:schemeClr val="accent2"/>
                </a:solidFill>
                <a:latin typeface="Avenir"/>
                <a:ea typeface="Avenir"/>
                <a:cs typeface="Avenir"/>
                <a:sym typeface="Avenir"/>
              </a:rPr>
              <a:t>Sources of funds</a:t>
            </a:r>
            <a:endParaRPr/>
          </a:p>
        </p:txBody>
      </p:sp>
    </p:spTree>
  </p:cSld>
  <p:clrMapOvr>
    <a:masterClrMapping/>
  </p:clrMapOvr>
  <mc:AlternateContent>
    <mc:Choice Requires="p14">
      <p:transition spd="slow" p14:dur="700">
        <p:fade/>
      </p:transition>
    </mc:Choice>
    <mc:Fallback>
      <p:transition spd="slow">
        <p:fade/>
      </p:transition>
    </mc:Fallback>
  </mc:AlternateContent>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39"/>
                                        </p:tgtEl>
                                        <p:attrNameLst>
                                          <p:attrName>style.visibility</p:attrName>
                                        </p:attrNameLst>
                                      </p:cBhvr>
                                      <p:to>
                                        <p:strVal val="visible"/>
                                      </p:to>
                                    </p:set>
                                    <p:animEffect filter="fade" transition="in">
                                      <p:cBhvr>
                                        <p:cTn dur="500"/>
                                        <p:tgtEl>
                                          <p:spTgt spid="1039"/>
                                        </p:tgtEl>
                                      </p:cBhvr>
                                    </p:animEffect>
                                  </p:childTnLst>
                                </p:cTn>
                              </p:par>
                              <p:par>
                                <p:cTn fill="hold" nodeType="withEffect" presetClass="entr" presetID="10" presetSubtype="0">
                                  <p:stCondLst>
                                    <p:cond delay="0"/>
                                  </p:stCondLst>
                                  <p:childTnLst>
                                    <p:set>
                                      <p:cBhvr>
                                        <p:cTn dur="1" fill="hold">
                                          <p:stCondLst>
                                            <p:cond delay="0"/>
                                          </p:stCondLst>
                                        </p:cTn>
                                        <p:tgtEl>
                                          <p:spTgt spid="1042"/>
                                        </p:tgtEl>
                                        <p:attrNameLst>
                                          <p:attrName>style.visibility</p:attrName>
                                        </p:attrNameLst>
                                      </p:cBhvr>
                                      <p:to>
                                        <p:strVal val="visible"/>
                                      </p:to>
                                    </p:set>
                                    <p:animEffect filter="fade" transition="in">
                                      <p:cBhvr>
                                        <p:cTn dur="500"/>
                                        <p:tgtEl>
                                          <p:spTgt spid="1042"/>
                                        </p:tgtEl>
                                      </p:cBhvr>
                                    </p:animEffec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1069"/>
                                        </p:tgtEl>
                                        <p:attrNameLst>
                                          <p:attrName>style.visibility</p:attrName>
                                        </p:attrNameLst>
                                      </p:cBhvr>
                                      <p:to>
                                        <p:strVal val="visible"/>
                                      </p:to>
                                    </p:set>
                                    <p:animEffect filter="fade" transition="in">
                                      <p:cBhvr>
                                        <p:cTn dur="500"/>
                                        <p:tgtEl>
                                          <p:spTgt spid="1069"/>
                                        </p:tgtEl>
                                      </p:cBhvr>
                                    </p:animEffect>
                                  </p:childTnLst>
                                </p:cTn>
                              </p:par>
                              <p:par>
                                <p:cTn fill="hold" nodeType="withEffect" presetClass="entr" presetID="10" presetSubtype="0">
                                  <p:stCondLst>
                                    <p:cond delay="0"/>
                                  </p:stCondLst>
                                  <p:childTnLst>
                                    <p:set>
                                      <p:cBhvr>
                                        <p:cTn dur="1" fill="hold">
                                          <p:stCondLst>
                                            <p:cond delay="0"/>
                                          </p:stCondLst>
                                        </p:cTn>
                                        <p:tgtEl>
                                          <p:spTgt spid="1070"/>
                                        </p:tgtEl>
                                        <p:attrNameLst>
                                          <p:attrName>style.visibility</p:attrName>
                                        </p:attrNameLst>
                                      </p:cBhvr>
                                      <p:to>
                                        <p:strVal val="visible"/>
                                      </p:to>
                                    </p:set>
                                    <p:animEffect filter="fade" transition="in">
                                      <p:cBhvr>
                                        <p:cTn dur="500"/>
                                        <p:tgtEl>
                                          <p:spTgt spid="107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45"/>
                                        </p:tgtEl>
                                        <p:attrNameLst>
                                          <p:attrName>style.visibility</p:attrName>
                                        </p:attrNameLst>
                                      </p:cBhvr>
                                      <p:to>
                                        <p:strVal val="visible"/>
                                      </p:to>
                                    </p:set>
                                    <p:animEffect filter="fade" transition="in">
                                      <p:cBhvr>
                                        <p:cTn dur="500"/>
                                        <p:tgtEl>
                                          <p:spTgt spid="1045"/>
                                        </p:tgtEl>
                                      </p:cBhvr>
                                    </p:animEffect>
                                  </p:childTnLst>
                                </p:cTn>
                              </p:par>
                              <p:par>
                                <p:cTn fill="hold" nodeType="withEffect" presetClass="entr" presetID="10" presetSubtype="0">
                                  <p:stCondLst>
                                    <p:cond delay="0"/>
                                  </p:stCondLst>
                                  <p:childTnLst>
                                    <p:set>
                                      <p:cBhvr>
                                        <p:cTn dur="1" fill="hold">
                                          <p:stCondLst>
                                            <p:cond delay="0"/>
                                          </p:stCondLst>
                                        </p:cTn>
                                        <p:tgtEl>
                                          <p:spTgt spid="1048"/>
                                        </p:tgtEl>
                                        <p:attrNameLst>
                                          <p:attrName>style.visibility</p:attrName>
                                        </p:attrNameLst>
                                      </p:cBhvr>
                                      <p:to>
                                        <p:strVal val="visible"/>
                                      </p:to>
                                    </p:set>
                                    <p:animEffect filter="fade" transition="in">
                                      <p:cBhvr>
                                        <p:cTn dur="500"/>
                                        <p:tgtEl>
                                          <p:spTgt spid="1048"/>
                                        </p:tgtEl>
                                      </p:cBhvr>
                                    </p:animEffect>
                                  </p:childTnLst>
                                </p:cTn>
                              </p:par>
                              <p:par>
                                <p:cTn fill="hold" nodeType="withEffect" presetClass="entr" presetID="10" presetSubtype="0">
                                  <p:stCondLst>
                                    <p:cond delay="0"/>
                                  </p:stCondLst>
                                  <p:childTnLst>
                                    <p:set>
                                      <p:cBhvr>
                                        <p:cTn dur="1" fill="hold">
                                          <p:stCondLst>
                                            <p:cond delay="0"/>
                                          </p:stCondLst>
                                        </p:cTn>
                                        <p:tgtEl>
                                          <p:spTgt spid="1051"/>
                                        </p:tgtEl>
                                        <p:attrNameLst>
                                          <p:attrName>style.visibility</p:attrName>
                                        </p:attrNameLst>
                                      </p:cBhvr>
                                      <p:to>
                                        <p:strVal val="visible"/>
                                      </p:to>
                                    </p:set>
                                    <p:animEffect filter="fade" transition="in">
                                      <p:cBhvr>
                                        <p:cTn dur="500"/>
                                        <p:tgtEl>
                                          <p:spTgt spid="1051"/>
                                        </p:tgtEl>
                                      </p:cBhvr>
                                    </p:animEffect>
                                  </p:childTnLst>
                                </p:cTn>
                              </p:par>
                              <p:par>
                                <p:cTn fill="hold" nodeType="withEffect" presetClass="entr" presetID="10" presetSubtype="0">
                                  <p:stCondLst>
                                    <p:cond delay="0"/>
                                  </p:stCondLst>
                                  <p:childTnLst>
                                    <p:set>
                                      <p:cBhvr>
                                        <p:cTn dur="1" fill="hold">
                                          <p:stCondLst>
                                            <p:cond delay="0"/>
                                          </p:stCondLst>
                                        </p:cTn>
                                        <p:tgtEl>
                                          <p:spTgt spid="1054"/>
                                        </p:tgtEl>
                                        <p:attrNameLst>
                                          <p:attrName>style.visibility</p:attrName>
                                        </p:attrNameLst>
                                      </p:cBhvr>
                                      <p:to>
                                        <p:strVal val="visible"/>
                                      </p:to>
                                    </p:set>
                                    <p:animEffect filter="fade" transition="in">
                                      <p:cBhvr>
                                        <p:cTn dur="500"/>
                                        <p:tgtEl>
                                          <p:spTgt spid="1054"/>
                                        </p:tgtEl>
                                      </p:cBhvr>
                                    </p:animEffect>
                                  </p:childTnLst>
                                </p:cTn>
                              </p:par>
                              <p:par>
                                <p:cTn fill="hold" nodeType="withEffect" presetClass="entr" presetID="10" presetSubtype="0">
                                  <p:stCondLst>
                                    <p:cond delay="0"/>
                                  </p:stCondLst>
                                  <p:childTnLst>
                                    <p:set>
                                      <p:cBhvr>
                                        <p:cTn dur="1" fill="hold">
                                          <p:stCondLst>
                                            <p:cond delay="0"/>
                                          </p:stCondLst>
                                        </p:cTn>
                                        <p:tgtEl>
                                          <p:spTgt spid="1057"/>
                                        </p:tgtEl>
                                        <p:attrNameLst>
                                          <p:attrName>style.visibility</p:attrName>
                                        </p:attrNameLst>
                                      </p:cBhvr>
                                      <p:to>
                                        <p:strVal val="visible"/>
                                      </p:to>
                                    </p:set>
                                    <p:animEffect filter="fade" transition="in">
                                      <p:cBhvr>
                                        <p:cTn dur="500"/>
                                        <p:tgtEl>
                                          <p:spTgt spid="1057"/>
                                        </p:tgtEl>
                                      </p:cBhvr>
                                    </p:animEffect>
                                  </p:childTnLst>
                                </p:cTn>
                              </p:par>
                              <p:par>
                                <p:cTn fill="hold" nodeType="withEffect" presetClass="entr" presetID="10" presetSubtype="0">
                                  <p:stCondLst>
                                    <p:cond delay="0"/>
                                  </p:stCondLst>
                                  <p:childTnLst>
                                    <p:set>
                                      <p:cBhvr>
                                        <p:cTn dur="1" fill="hold">
                                          <p:stCondLst>
                                            <p:cond delay="0"/>
                                          </p:stCondLst>
                                        </p:cTn>
                                        <p:tgtEl>
                                          <p:spTgt spid="1060"/>
                                        </p:tgtEl>
                                        <p:attrNameLst>
                                          <p:attrName>style.visibility</p:attrName>
                                        </p:attrNameLst>
                                      </p:cBhvr>
                                      <p:to>
                                        <p:strVal val="visible"/>
                                      </p:to>
                                    </p:set>
                                    <p:animEffect filter="fade" transition="in">
                                      <p:cBhvr>
                                        <p:cTn dur="500"/>
                                        <p:tgtEl>
                                          <p:spTgt spid="1060"/>
                                        </p:tgtEl>
                                      </p:cBhvr>
                                    </p:animEffect>
                                  </p:childTnLst>
                                </p:cTn>
                              </p:par>
                              <p:par>
                                <p:cTn fill="hold" nodeType="withEffect" presetClass="entr" presetID="10" presetSubtype="0">
                                  <p:stCondLst>
                                    <p:cond delay="0"/>
                                  </p:stCondLst>
                                  <p:childTnLst>
                                    <p:set>
                                      <p:cBhvr>
                                        <p:cTn dur="1" fill="hold">
                                          <p:stCondLst>
                                            <p:cond delay="0"/>
                                          </p:stCondLst>
                                        </p:cTn>
                                        <p:tgtEl>
                                          <p:spTgt spid="1063"/>
                                        </p:tgtEl>
                                        <p:attrNameLst>
                                          <p:attrName>style.visibility</p:attrName>
                                        </p:attrNameLst>
                                      </p:cBhvr>
                                      <p:to>
                                        <p:strVal val="visible"/>
                                      </p:to>
                                    </p:set>
                                    <p:animEffect filter="fade" transition="in">
                                      <p:cBhvr>
                                        <p:cTn dur="500"/>
                                        <p:tgtEl>
                                          <p:spTgt spid="1063"/>
                                        </p:tgtEl>
                                      </p:cBhvr>
                                    </p:animEffect>
                                  </p:childTnLst>
                                </p:cTn>
                              </p:par>
                              <p:par>
                                <p:cTn fill="hold" nodeType="withEffect" presetClass="entr" presetID="10" presetSubtype="0">
                                  <p:stCondLst>
                                    <p:cond delay="0"/>
                                  </p:stCondLst>
                                  <p:childTnLst>
                                    <p:set>
                                      <p:cBhvr>
                                        <p:cTn dur="1" fill="hold">
                                          <p:stCondLst>
                                            <p:cond delay="0"/>
                                          </p:stCondLst>
                                        </p:cTn>
                                        <p:tgtEl>
                                          <p:spTgt spid="1066"/>
                                        </p:tgtEl>
                                        <p:attrNameLst>
                                          <p:attrName>style.visibility</p:attrName>
                                        </p:attrNameLst>
                                      </p:cBhvr>
                                      <p:to>
                                        <p:strVal val="visible"/>
                                      </p:to>
                                    </p:set>
                                    <p:animEffect filter="fade" transition="in">
                                      <p:cBhvr>
                                        <p:cTn dur="500"/>
                                        <p:tgtEl>
                                          <p:spTgt spid="106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xit" presetID="10" presetSubtype="0">
                                  <p:stCondLst>
                                    <p:cond delay="0"/>
                                  </p:stCondLst>
                                  <p:childTnLst>
                                    <p:animEffect filter="fade" transition="out">
                                      <p:cBhvr>
                                        <p:cTn dur="3000"/>
                                        <p:tgtEl>
                                          <p:spTgt spid="1057"/>
                                        </p:tgtEl>
                                      </p:cBhvr>
                                    </p:animEffect>
                                    <p:set>
                                      <p:cBhvr>
                                        <p:cTn dur="1" fill="hold">
                                          <p:stCondLst>
                                            <p:cond delay="3000"/>
                                          </p:stCondLst>
                                        </p:cTn>
                                        <p:tgtEl>
                                          <p:spTgt spid="1057"/>
                                        </p:tgtEl>
                                        <p:attrNameLst>
                                          <p:attrName>style.visibility</p:attrName>
                                        </p:attrNameLst>
                                      </p:cBhvr>
                                      <p:to>
                                        <p:strVal val="hidden"/>
                                      </p:to>
                                    </p:set>
                                  </p:childTnLst>
                                </p:cTn>
                              </p:par>
                            </p:childTnLst>
                          </p:cTn>
                        </p:par>
                      </p:childTnLst>
                    </p:cTn>
                  </p:par>
                  <p:par>
                    <p:cTn fill="hold">
                      <p:stCondLst>
                        <p:cond delay="indefinite"/>
                      </p:stCondLst>
                      <p:childTnLst>
                        <p:par>
                          <p:cTn fill="hold">
                            <p:stCondLst>
                              <p:cond delay="0"/>
                            </p:stCondLst>
                            <p:childTnLst>
                              <p:par>
                                <p:cTn fill="hold" nodeType="clickEffect" presetClass="exit" presetID="10" presetSubtype="0">
                                  <p:stCondLst>
                                    <p:cond delay="0"/>
                                  </p:stCondLst>
                                  <p:childTnLst>
                                    <p:animEffect filter="fade" transition="out">
                                      <p:cBhvr>
                                        <p:cTn dur="3000"/>
                                        <p:tgtEl>
                                          <p:spTgt spid="1066"/>
                                        </p:tgtEl>
                                      </p:cBhvr>
                                    </p:animEffect>
                                    <p:set>
                                      <p:cBhvr>
                                        <p:cTn dur="1" fill="hold">
                                          <p:stCondLst>
                                            <p:cond delay="3000"/>
                                          </p:stCondLst>
                                        </p:cTn>
                                        <p:tgtEl>
                                          <p:spTgt spid="1066"/>
                                        </p:tgtEl>
                                        <p:attrNameLst>
                                          <p:attrName>style.visibility</p:attrName>
                                        </p:attrNameLst>
                                      </p:cBhvr>
                                      <p:to>
                                        <p:strVal val="hidden"/>
                                      </p:to>
                                    </p:set>
                                  </p:childTnLst>
                                </p:cTn>
                              </p:par>
                            </p:childTnLst>
                          </p:cTn>
                        </p:par>
                      </p:childTnLst>
                    </p:cTn>
                  </p:par>
                  <p:par>
                    <p:cTn fill="hold">
                      <p:stCondLst>
                        <p:cond delay="indefinite"/>
                      </p:stCondLst>
                      <p:childTnLst>
                        <p:par>
                          <p:cTn fill="hold">
                            <p:stCondLst>
                              <p:cond delay="0"/>
                            </p:stCondLst>
                            <p:childTnLst>
                              <p:par>
                                <p:cTn fill="hold" nodeType="clickEffect" presetClass="exit" presetID="10" presetSubtype="0">
                                  <p:stCondLst>
                                    <p:cond delay="0"/>
                                  </p:stCondLst>
                                  <p:childTnLst>
                                    <p:animEffect filter="fade" transition="out">
                                      <p:cBhvr>
                                        <p:cTn dur="3000"/>
                                        <p:tgtEl>
                                          <p:spTgt spid="1063"/>
                                        </p:tgtEl>
                                      </p:cBhvr>
                                    </p:animEffect>
                                    <p:set>
                                      <p:cBhvr>
                                        <p:cTn dur="1" fill="hold">
                                          <p:stCondLst>
                                            <p:cond delay="3000"/>
                                          </p:stCondLst>
                                        </p:cTn>
                                        <p:tgtEl>
                                          <p:spTgt spid="1063"/>
                                        </p:tgtEl>
                                        <p:attrNameLst>
                                          <p:attrName>style.visibility</p:attrName>
                                        </p:attrNameLst>
                                      </p:cBhvr>
                                      <p:to>
                                        <p:strVal val="hidden"/>
                                      </p:to>
                                    </p:set>
                                  </p:childTnLst>
                                </p:cTn>
                              </p:par>
                            </p:childTnLst>
                          </p:cTn>
                        </p:par>
                      </p:childTnLst>
                    </p:cTn>
                  </p:par>
                  <p:par>
                    <p:cTn fill="hold">
                      <p:stCondLst>
                        <p:cond delay="indefinite"/>
                      </p:stCondLst>
                      <p:childTnLst>
                        <p:par>
                          <p:cTn fill="hold">
                            <p:stCondLst>
                              <p:cond delay="0"/>
                            </p:stCondLst>
                            <p:childTnLst>
                              <p:par>
                                <p:cTn fill="hold" nodeType="clickEffect" presetClass="exit" presetID="10" presetSubtype="0">
                                  <p:stCondLst>
                                    <p:cond delay="0"/>
                                  </p:stCondLst>
                                  <p:childTnLst>
                                    <p:animEffect filter="fade" transition="out">
                                      <p:cBhvr>
                                        <p:cTn dur="3000"/>
                                        <p:tgtEl>
                                          <p:spTgt spid="1060"/>
                                        </p:tgtEl>
                                      </p:cBhvr>
                                    </p:animEffect>
                                    <p:set>
                                      <p:cBhvr>
                                        <p:cTn dur="1" fill="hold">
                                          <p:stCondLst>
                                            <p:cond delay="3000"/>
                                          </p:stCondLst>
                                        </p:cTn>
                                        <p:tgtEl>
                                          <p:spTgt spid="1060"/>
                                        </p:tgtEl>
                                        <p:attrNameLst>
                                          <p:attrName>style.visibility</p:attrName>
                                        </p:attrNameLst>
                                      </p:cBhvr>
                                      <p:to>
                                        <p:strVal val="hidden"/>
                                      </p:to>
                                    </p:set>
                                  </p:childTnLst>
                                </p:cTn>
                              </p:par>
                            </p:childTnLst>
                          </p:cTn>
                        </p:par>
                        <p:par>
                          <p:cTn fill="hold">
                            <p:stCondLst>
                              <p:cond delay="3000"/>
                            </p:stCondLst>
                            <p:childTnLst>
                              <p:par>
                                <p:cTn fill="hold" nodeType="afterEffect" presetClass="entr" presetID="10" presetSubtype="0">
                                  <p:stCondLst>
                                    <p:cond delay="0"/>
                                  </p:stCondLst>
                                  <p:childTnLst>
                                    <p:set>
                                      <p:cBhvr>
                                        <p:cTn dur="1" fill="hold">
                                          <p:stCondLst>
                                            <p:cond delay="0"/>
                                          </p:stCondLst>
                                        </p:cTn>
                                        <p:tgtEl>
                                          <p:spTgt spid="1071"/>
                                        </p:tgtEl>
                                        <p:attrNameLst>
                                          <p:attrName>style.visibility</p:attrName>
                                        </p:attrNameLst>
                                      </p:cBhvr>
                                      <p:to>
                                        <p:strVal val="visible"/>
                                      </p:to>
                                    </p:set>
                                    <p:animEffect filter="fade" transition="in">
                                      <p:cBhvr>
                                        <p:cTn dur="500"/>
                                        <p:tgtEl>
                                          <p:spTgt spid="1071"/>
                                        </p:tgtEl>
                                      </p:cBhvr>
                                    </p:animEffect>
                                  </p:childTnLst>
                                </p:cTn>
                              </p:par>
                            </p:childTnLst>
                          </p:cTn>
                        </p:par>
                        <p:par>
                          <p:cTn fill="hold">
                            <p:stCondLst>
                              <p:cond delay="3500"/>
                            </p:stCondLst>
                            <p:childTnLst>
                              <p:par>
                                <p:cTn fill="hold" nodeType="afterEffect" presetClass="entr" presetID="10" presetSubtype="0">
                                  <p:stCondLst>
                                    <p:cond delay="0"/>
                                  </p:stCondLst>
                                  <p:childTnLst>
                                    <p:set>
                                      <p:cBhvr>
                                        <p:cTn dur="1" fill="hold">
                                          <p:stCondLst>
                                            <p:cond delay="0"/>
                                          </p:stCondLst>
                                        </p:cTn>
                                        <p:tgtEl>
                                          <p:spTgt spid="1072"/>
                                        </p:tgtEl>
                                        <p:attrNameLst>
                                          <p:attrName>style.visibility</p:attrName>
                                        </p:attrNameLst>
                                      </p:cBhvr>
                                      <p:to>
                                        <p:strVal val="visible"/>
                                      </p:to>
                                    </p:set>
                                    <p:animEffect filter="fade" transition="in">
                                      <p:cBhvr>
                                        <p:cTn dur="500"/>
                                        <p:tgtEl>
                                          <p:spTgt spid="107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77" name="Shape 1077"/>
        <p:cNvGrpSpPr/>
        <p:nvPr/>
      </p:nvGrpSpPr>
      <p:grpSpPr>
        <a:xfrm>
          <a:off x="0" y="0"/>
          <a:ext cx="0" cy="0"/>
          <a:chOff x="0" y="0"/>
          <a:chExt cx="0" cy="0"/>
        </a:xfrm>
      </p:grpSpPr>
      <p:sp>
        <p:nvSpPr>
          <p:cNvPr id="1078" name="Google Shape;1078;p46"/>
          <p:cNvSpPr txBox="1"/>
          <p:nvPr/>
        </p:nvSpPr>
        <p:spPr>
          <a:xfrm>
            <a:off x="6104056" y="1078992"/>
            <a:ext cx="6071834" cy="3363251"/>
          </a:xfrm>
          <a:prstGeom prst="rect">
            <a:avLst/>
          </a:prstGeom>
          <a:solidFill>
            <a:srgbClr val="FEE599"/>
          </a:solidFill>
          <a:ln>
            <a:noFill/>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800">
                <a:solidFill>
                  <a:schemeClr val="dk1"/>
                </a:solidFill>
                <a:latin typeface="Avenir"/>
                <a:ea typeface="Avenir"/>
                <a:cs typeface="Avenir"/>
                <a:sym typeface="Avenir"/>
              </a:rPr>
              <a:t> </a:t>
            </a:r>
            <a:endParaRPr/>
          </a:p>
        </p:txBody>
      </p:sp>
      <p:sp>
        <p:nvSpPr>
          <p:cNvPr id="1079" name="Google Shape;1079;p46"/>
          <p:cNvSpPr txBox="1"/>
          <p:nvPr/>
        </p:nvSpPr>
        <p:spPr>
          <a:xfrm>
            <a:off x="0" y="1078992"/>
            <a:ext cx="6096000" cy="3363251"/>
          </a:xfrm>
          <a:prstGeom prst="rect">
            <a:avLst/>
          </a:prstGeom>
          <a:solidFill>
            <a:srgbClr val="C4E0B2"/>
          </a:solidFill>
          <a:ln>
            <a:noFill/>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None/>
            </a:pPr>
            <a:r>
              <a:t/>
            </a:r>
            <a:endParaRPr b="1" sz="2800">
              <a:solidFill>
                <a:schemeClr val="dk1"/>
              </a:solidFill>
              <a:latin typeface="Avenir"/>
              <a:ea typeface="Avenir"/>
              <a:cs typeface="Avenir"/>
              <a:sym typeface="Avenir"/>
            </a:endParaRPr>
          </a:p>
        </p:txBody>
      </p:sp>
      <p:sp>
        <p:nvSpPr>
          <p:cNvPr id="1080" name="Google Shape;1080;p46"/>
          <p:cNvSpPr txBox="1"/>
          <p:nvPr/>
        </p:nvSpPr>
        <p:spPr>
          <a:xfrm>
            <a:off x="343132" y="1270256"/>
            <a:ext cx="3395078" cy="584775"/>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rgbClr val="548135"/>
                </a:solidFill>
                <a:latin typeface="Avenir"/>
                <a:ea typeface="Avenir"/>
                <a:cs typeface="Avenir"/>
                <a:sym typeface="Avenir"/>
              </a:rPr>
              <a:t>Uses of funds</a:t>
            </a:r>
            <a:endParaRPr/>
          </a:p>
        </p:txBody>
      </p:sp>
      <p:sp>
        <p:nvSpPr>
          <p:cNvPr id="1081" name="Google Shape;1081;p46"/>
          <p:cNvSpPr txBox="1"/>
          <p:nvPr/>
        </p:nvSpPr>
        <p:spPr>
          <a:xfrm>
            <a:off x="8437680" y="1270256"/>
            <a:ext cx="3395078" cy="58477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3200">
                <a:solidFill>
                  <a:schemeClr val="accent2"/>
                </a:solidFill>
                <a:latin typeface="Avenir"/>
                <a:ea typeface="Avenir"/>
                <a:cs typeface="Avenir"/>
                <a:sym typeface="Avenir"/>
              </a:rPr>
              <a:t>Sources of funds</a:t>
            </a:r>
            <a:endParaRPr/>
          </a:p>
        </p:txBody>
      </p:sp>
      <p:pic>
        <p:nvPicPr>
          <p:cNvPr id="1082" name="Google Shape;1082;p46"/>
          <p:cNvPicPr preferRelativeResize="0"/>
          <p:nvPr/>
        </p:nvPicPr>
        <p:blipFill rotWithShape="1">
          <a:blip r:embed="rId3">
            <a:alphaModFix/>
          </a:blip>
          <a:srcRect b="0" l="55219" r="0" t="0"/>
          <a:stretch/>
        </p:blipFill>
        <p:spPr>
          <a:xfrm>
            <a:off x="6626531" y="2027216"/>
            <a:ext cx="2596534" cy="2236284"/>
          </a:xfrm>
          <a:prstGeom prst="rect">
            <a:avLst/>
          </a:prstGeom>
          <a:noFill/>
          <a:ln>
            <a:noFill/>
          </a:ln>
        </p:spPr>
      </p:pic>
      <p:pic>
        <p:nvPicPr>
          <p:cNvPr id="1083" name="Google Shape;1083;p46"/>
          <p:cNvPicPr preferRelativeResize="0"/>
          <p:nvPr/>
        </p:nvPicPr>
        <p:blipFill rotWithShape="1">
          <a:blip r:embed="rId4">
            <a:alphaModFix/>
          </a:blip>
          <a:srcRect b="0" l="0" r="56241" t="0"/>
          <a:stretch/>
        </p:blipFill>
        <p:spPr>
          <a:xfrm>
            <a:off x="2968935" y="2027216"/>
            <a:ext cx="2537314" cy="223628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1080"/>
                                        </p:tgtEl>
                                        <p:attrNameLst>
                                          <p:attrName>style.visibility</p:attrName>
                                        </p:attrNameLst>
                                      </p:cBhvr>
                                      <p:to>
                                        <p:strVal val="visible"/>
                                      </p:to>
                                    </p:set>
                                    <p:animEffect filter="fade" transition="in">
                                      <p:cBhvr>
                                        <p:cTn dur="500"/>
                                        <p:tgtEl>
                                          <p:spTgt spid="1080"/>
                                        </p:tgtEl>
                                      </p:cBhvr>
                                    </p:animEffec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1081"/>
                                        </p:tgtEl>
                                        <p:attrNameLst>
                                          <p:attrName>style.visibility</p:attrName>
                                        </p:attrNameLst>
                                      </p:cBhvr>
                                      <p:to>
                                        <p:strVal val="visible"/>
                                      </p:to>
                                    </p:set>
                                    <p:animEffect filter="fade" transition="in">
                                      <p:cBhvr>
                                        <p:cTn dur="500"/>
                                        <p:tgtEl>
                                          <p:spTgt spid="108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8" name="Shape 1088"/>
        <p:cNvGrpSpPr/>
        <p:nvPr/>
      </p:nvGrpSpPr>
      <p:grpSpPr>
        <a:xfrm>
          <a:off x="0" y="0"/>
          <a:ext cx="0" cy="0"/>
          <a:chOff x="0" y="0"/>
          <a:chExt cx="0" cy="0"/>
        </a:xfrm>
      </p:grpSpPr>
      <p:sp>
        <p:nvSpPr>
          <p:cNvPr id="1089" name="Google Shape;1089;p47"/>
          <p:cNvSpPr txBox="1"/>
          <p:nvPr/>
        </p:nvSpPr>
        <p:spPr>
          <a:xfrm>
            <a:off x="4187006" y="284371"/>
            <a:ext cx="3629520"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cxnSp>
        <p:nvCxnSpPr>
          <p:cNvPr id="1090" name="Google Shape;1090;p47"/>
          <p:cNvCxnSpPr/>
          <p:nvPr/>
        </p:nvCxnSpPr>
        <p:spPr>
          <a:xfrm>
            <a:off x="4316098" y="717845"/>
            <a:ext cx="3375212" cy="0"/>
          </a:xfrm>
          <a:prstGeom prst="straightConnector1">
            <a:avLst/>
          </a:prstGeom>
          <a:noFill/>
          <a:ln cap="flat" cmpd="sng" w="28575">
            <a:solidFill>
              <a:schemeClr val="accent1"/>
            </a:solidFill>
            <a:prstDash val="dot"/>
            <a:miter lim="800000"/>
            <a:headEnd len="sm" w="sm" type="none"/>
            <a:tailEnd len="sm" w="sm" type="none"/>
          </a:ln>
        </p:spPr>
      </p:cxnSp>
      <p:grpSp>
        <p:nvGrpSpPr>
          <p:cNvPr id="1091" name="Google Shape;1091;p47"/>
          <p:cNvGrpSpPr/>
          <p:nvPr/>
        </p:nvGrpSpPr>
        <p:grpSpPr>
          <a:xfrm>
            <a:off x="1284576" y="2130924"/>
            <a:ext cx="10188969" cy="756004"/>
            <a:chOff x="926134" y="1719856"/>
            <a:chExt cx="9204181" cy="750147"/>
          </a:xfrm>
        </p:grpSpPr>
        <p:sp>
          <p:nvSpPr>
            <p:cNvPr id="1092" name="Google Shape;1092;p47"/>
            <p:cNvSpPr txBox="1"/>
            <p:nvPr/>
          </p:nvSpPr>
          <p:spPr>
            <a:xfrm>
              <a:off x="1641585" y="1719860"/>
              <a:ext cx="5447935"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139700" marR="0" rtl="0" algn="l">
                <a:spcBef>
                  <a:spcPts val="0"/>
                </a:spcBef>
                <a:spcAft>
                  <a:spcPts val="0"/>
                </a:spcAft>
                <a:buNone/>
              </a:pPr>
              <a:r>
                <a:rPr lang="en-US" sz="2000">
                  <a:solidFill>
                    <a:schemeClr val="dk1"/>
                  </a:solidFill>
                  <a:latin typeface="Calibri"/>
                  <a:ea typeface="Calibri"/>
                  <a:cs typeface="Calibri"/>
                  <a:sym typeface="Calibri"/>
                </a:rPr>
                <a:t>ZZZ 공급업체로부터 장비를 구매 및 설치함. 결제 기한은 30일 후.</a:t>
              </a:r>
              <a:endParaRPr sz="2000">
                <a:solidFill>
                  <a:schemeClr val="dk1"/>
                </a:solidFill>
                <a:latin typeface="Avenir"/>
                <a:ea typeface="Avenir"/>
                <a:cs typeface="Avenir"/>
                <a:sym typeface="Avenir"/>
              </a:endParaRPr>
            </a:p>
          </p:txBody>
        </p:sp>
        <p:sp>
          <p:nvSpPr>
            <p:cNvPr id="1093" name="Google Shape;1093;p47"/>
            <p:cNvSpPr txBox="1"/>
            <p:nvPr/>
          </p:nvSpPr>
          <p:spPr>
            <a:xfrm>
              <a:off x="7089520" y="1719858"/>
              <a:ext cx="1520398" cy="745310"/>
            </a:xfrm>
            <a:prstGeom prst="rect">
              <a:avLst/>
            </a:prstGeom>
            <a:solidFill>
              <a:srgbClr val="E1EFD8"/>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Equipment</a:t>
              </a: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6,000</a:t>
              </a:r>
              <a:endParaRPr/>
            </a:p>
          </p:txBody>
        </p:sp>
        <p:sp>
          <p:nvSpPr>
            <p:cNvPr id="1094" name="Google Shape;1094;p47"/>
            <p:cNvSpPr txBox="1"/>
            <p:nvPr/>
          </p:nvSpPr>
          <p:spPr>
            <a:xfrm>
              <a:off x="8609917" y="1719858"/>
              <a:ext cx="1520398" cy="745310"/>
            </a:xfrm>
            <a:prstGeom prst="rect">
              <a:avLst/>
            </a:prstGeom>
            <a:solidFill>
              <a:srgbClr val="FBE4D4"/>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Accounts payable</a:t>
              </a:r>
              <a:endParaRPr b="1" sz="1600">
                <a:solidFill>
                  <a:srgbClr val="BFBFBF"/>
                </a:solidFill>
                <a:latin typeface="Avenir"/>
                <a:ea typeface="Avenir"/>
                <a:cs typeface="Avenir"/>
                <a:sym typeface="Aveni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6,000</a:t>
              </a:r>
              <a:endParaRPr/>
            </a:p>
          </p:txBody>
        </p:sp>
        <p:sp>
          <p:nvSpPr>
            <p:cNvPr id="1095" name="Google Shape;1095;p47"/>
            <p:cNvSpPr txBox="1"/>
            <p:nvPr/>
          </p:nvSpPr>
          <p:spPr>
            <a:xfrm>
              <a:off x="926134" y="1719856"/>
              <a:ext cx="715451"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4</a:t>
              </a:r>
              <a:endParaRPr/>
            </a:p>
          </p:txBody>
        </p:sp>
      </p:grpSp>
      <p:sp>
        <p:nvSpPr>
          <p:cNvPr id="1096" name="Google Shape;1096;p47"/>
          <p:cNvSpPr txBox="1"/>
          <p:nvPr/>
        </p:nvSpPr>
        <p:spPr>
          <a:xfrm>
            <a:off x="8109273" y="2130924"/>
            <a:ext cx="1681200" cy="756000"/>
          </a:xfrm>
          <a:prstGeom prst="rect">
            <a:avLst/>
          </a:prstGeom>
          <a:solidFill>
            <a:srgbClr val="548135"/>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6,000</a:t>
            </a:r>
            <a:endParaRPr/>
          </a:p>
        </p:txBody>
      </p:sp>
      <p:sp>
        <p:nvSpPr>
          <p:cNvPr id="1097" name="Google Shape;1097;p47"/>
          <p:cNvSpPr txBox="1"/>
          <p:nvPr/>
        </p:nvSpPr>
        <p:spPr>
          <a:xfrm>
            <a:off x="9792343" y="2130924"/>
            <a:ext cx="1681200" cy="756000"/>
          </a:xfrm>
          <a:prstGeom prst="rect">
            <a:avLst/>
          </a:prstGeom>
          <a:solidFill>
            <a:schemeClr val="accent2"/>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6,000</a:t>
            </a:r>
            <a:endParaRPr/>
          </a:p>
        </p:txBody>
      </p:sp>
      <p:sp>
        <p:nvSpPr>
          <p:cNvPr id="1098" name="Google Shape;1098;p47"/>
          <p:cNvSpPr/>
          <p:nvPr/>
        </p:nvSpPr>
        <p:spPr>
          <a:xfrm>
            <a:off x="1284578" y="1520543"/>
            <a:ext cx="2024679" cy="42011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2130">
                <a:solidFill>
                  <a:schemeClr val="dk1"/>
                </a:solidFill>
                <a:latin typeface="Avenir"/>
                <a:ea typeface="Avenir"/>
                <a:cs typeface="Avenir"/>
                <a:sym typeface="Avenir"/>
              </a:rPr>
              <a:t>31 January</a:t>
            </a:r>
            <a:endParaRPr sz="2130">
              <a:solidFill>
                <a:schemeClr val="dk1"/>
              </a:solidFill>
              <a:latin typeface="Avenir"/>
              <a:ea typeface="Avenir"/>
              <a:cs typeface="Avenir"/>
              <a:sym typeface="Avenir"/>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3" name="Shape 1103"/>
        <p:cNvGrpSpPr/>
        <p:nvPr/>
      </p:nvGrpSpPr>
      <p:grpSpPr>
        <a:xfrm>
          <a:off x="0" y="0"/>
          <a:ext cx="0" cy="0"/>
          <a:chOff x="0" y="0"/>
          <a:chExt cx="0" cy="0"/>
        </a:xfrm>
      </p:grpSpPr>
      <p:sp>
        <p:nvSpPr>
          <p:cNvPr id="1104" name="Google Shape;1104;p48"/>
          <p:cNvSpPr txBox="1"/>
          <p:nvPr/>
        </p:nvSpPr>
        <p:spPr>
          <a:xfrm>
            <a:off x="4187006" y="133386"/>
            <a:ext cx="3629520"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cxnSp>
        <p:nvCxnSpPr>
          <p:cNvPr id="1105" name="Google Shape;1105;p48"/>
          <p:cNvCxnSpPr/>
          <p:nvPr/>
        </p:nvCxnSpPr>
        <p:spPr>
          <a:xfrm>
            <a:off x="4316098" y="566860"/>
            <a:ext cx="3375212" cy="0"/>
          </a:xfrm>
          <a:prstGeom prst="straightConnector1">
            <a:avLst/>
          </a:prstGeom>
          <a:noFill/>
          <a:ln cap="flat" cmpd="sng" w="28575">
            <a:solidFill>
              <a:schemeClr val="accent1"/>
            </a:solidFill>
            <a:prstDash val="dot"/>
            <a:miter lim="800000"/>
            <a:headEnd len="sm" w="sm" type="none"/>
            <a:tailEnd len="sm" w="sm" type="none"/>
          </a:ln>
        </p:spPr>
      </p:cxnSp>
      <p:grpSp>
        <p:nvGrpSpPr>
          <p:cNvPr id="1106" name="Google Shape;1106;p48"/>
          <p:cNvGrpSpPr/>
          <p:nvPr/>
        </p:nvGrpSpPr>
        <p:grpSpPr>
          <a:xfrm>
            <a:off x="492858" y="773769"/>
            <a:ext cx="11291146" cy="5895963"/>
            <a:chOff x="492858" y="773769"/>
            <a:chExt cx="11291146" cy="5895963"/>
          </a:xfrm>
        </p:grpSpPr>
        <p:sp>
          <p:nvSpPr>
            <p:cNvPr id="1107" name="Google Shape;1107;p48"/>
            <p:cNvSpPr txBox="1"/>
            <p:nvPr/>
          </p:nvSpPr>
          <p:spPr>
            <a:xfrm>
              <a:off x="6227788" y="2623662"/>
              <a:ext cx="5556216" cy="1692844"/>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Equity</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1108" name="Google Shape;1108;p48"/>
            <p:cNvSpPr txBox="1"/>
            <p:nvPr/>
          </p:nvSpPr>
          <p:spPr>
            <a:xfrm>
              <a:off x="6410845" y="3135649"/>
              <a:ext cx="1544844" cy="770509"/>
            </a:xfrm>
            <a:prstGeom prst="rect">
              <a:avLst/>
            </a:prstGeom>
            <a:noFill/>
            <a:ln cap="flat" cmpd="sng" w="5715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ctr">
                <a:lnSpc>
                  <a:spcPct val="120000"/>
                </a:lnSpc>
                <a:spcBef>
                  <a:spcPts val="0"/>
                </a:spcBef>
                <a:spcAft>
                  <a:spcPts val="0"/>
                </a:spcAft>
                <a:buNone/>
              </a:pPr>
              <a:r>
                <a:rPr b="1" lang="en-US" sz="2200">
                  <a:solidFill>
                    <a:srgbClr val="942093"/>
                  </a:solidFill>
                  <a:latin typeface="Avenir"/>
                  <a:ea typeface="Avenir"/>
                  <a:cs typeface="Avenir"/>
                  <a:sym typeface="Avenir"/>
                </a:rPr>
                <a:t>Profit</a:t>
              </a:r>
              <a:endParaRPr/>
            </a:p>
          </p:txBody>
        </p:sp>
        <p:sp>
          <p:nvSpPr>
            <p:cNvPr id="1109" name="Google Shape;1109;p48"/>
            <p:cNvSpPr txBox="1"/>
            <p:nvPr/>
          </p:nvSpPr>
          <p:spPr>
            <a:xfrm>
              <a:off x="6227788" y="773769"/>
              <a:ext cx="5556216" cy="1702674"/>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Liabilities</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grpSp>
          <p:nvGrpSpPr>
            <p:cNvPr id="1110" name="Google Shape;1110;p48"/>
            <p:cNvGrpSpPr/>
            <p:nvPr/>
          </p:nvGrpSpPr>
          <p:grpSpPr>
            <a:xfrm>
              <a:off x="492858" y="3906158"/>
              <a:ext cx="11291146" cy="2763574"/>
              <a:chOff x="1354633" y="4399872"/>
              <a:chExt cx="9550931" cy="2121952"/>
            </a:xfrm>
          </p:grpSpPr>
          <p:sp>
            <p:nvSpPr>
              <p:cNvPr id="1111" name="Google Shape;1111;p48"/>
              <p:cNvSpPr txBox="1"/>
              <p:nvPr/>
            </p:nvSpPr>
            <p:spPr>
              <a:xfrm>
                <a:off x="1354633" y="4813260"/>
                <a:ext cx="9550931" cy="1708564"/>
              </a:xfrm>
              <a:prstGeom prst="rect">
                <a:avLst/>
              </a:prstGeom>
              <a:solidFill>
                <a:srgbClr val="FCECFB"/>
              </a:solidFill>
              <a:ln cap="flat" cmpd="sng" w="7620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b="1" lang="en-US" sz="2800">
                    <a:solidFill>
                      <a:schemeClr val="dk1"/>
                    </a:solidFill>
                    <a:latin typeface="Avenir"/>
                    <a:ea typeface="Avenir"/>
                    <a:cs typeface="Avenir"/>
                    <a:sym typeface="Avenir"/>
                  </a:rPr>
                  <a:t> </a:t>
                </a:r>
                <a:endParaRPr/>
              </a:p>
            </p:txBody>
          </p:sp>
          <p:sp>
            <p:nvSpPr>
              <p:cNvPr id="1112" name="Google Shape;1112;p48"/>
              <p:cNvSpPr txBox="1"/>
              <p:nvPr/>
            </p:nvSpPr>
            <p:spPr>
              <a:xfrm>
                <a:off x="6199863" y="4921166"/>
                <a:ext cx="4576976" cy="1495361"/>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Income</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1113" name="Google Shape;1113;p48"/>
              <p:cNvSpPr txBox="1"/>
              <p:nvPr/>
            </p:nvSpPr>
            <p:spPr>
              <a:xfrm>
                <a:off x="1481256" y="4921166"/>
                <a:ext cx="4552539" cy="1495361"/>
              </a:xfrm>
              <a:prstGeom prst="rect">
                <a:avLst/>
              </a:prstGeom>
              <a:solidFill>
                <a:srgbClr val="E1EFD8"/>
              </a:solid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None/>
                </a:pPr>
                <a:r>
                  <a:rPr b="1" lang="en-US" sz="2800">
                    <a:solidFill>
                      <a:srgbClr val="E1EFD8"/>
                    </a:solidFill>
                    <a:latin typeface="Avenir"/>
                    <a:ea typeface="Avenir"/>
                    <a:cs typeface="Avenir"/>
                    <a:sym typeface="Avenir"/>
                  </a:rPr>
                  <a:t>_</a:t>
                </a:r>
                <a:r>
                  <a:rPr b="1" lang="en-US" sz="2000">
                    <a:solidFill>
                      <a:schemeClr val="dk1"/>
                    </a:solidFill>
                    <a:latin typeface="Avenir"/>
                    <a:ea typeface="Avenir"/>
                    <a:cs typeface="Avenir"/>
                    <a:sym typeface="Avenir"/>
                  </a:rPr>
                  <a:t>Expenses</a:t>
                </a:r>
                <a:endParaRPr b="1" sz="2800">
                  <a:solidFill>
                    <a:schemeClr val="dk1"/>
                  </a:solidFill>
                  <a:latin typeface="Avenir"/>
                  <a:ea typeface="Avenir"/>
                  <a:cs typeface="Avenir"/>
                  <a:sym typeface="Avenir"/>
                </a:endParaRPr>
              </a:p>
            </p:txBody>
          </p:sp>
          <p:cxnSp>
            <p:nvCxnSpPr>
              <p:cNvPr id="1114" name="Google Shape;1114;p48"/>
              <p:cNvCxnSpPr>
                <a:stCxn id="1108" idx="2"/>
              </p:cNvCxnSpPr>
              <p:nvPr/>
            </p:nvCxnSpPr>
            <p:spPr>
              <a:xfrm>
                <a:off x="7013902" y="4399872"/>
                <a:ext cx="7500" cy="434700"/>
              </a:xfrm>
              <a:prstGeom prst="straightConnector1">
                <a:avLst/>
              </a:prstGeom>
              <a:noFill/>
              <a:ln cap="flat" cmpd="sng" w="76200">
                <a:solidFill>
                  <a:srgbClr val="942093"/>
                </a:solidFill>
                <a:prstDash val="solid"/>
                <a:miter lim="800000"/>
                <a:headEnd len="sm" w="sm" type="none"/>
                <a:tailEnd len="sm" w="sm" type="none"/>
              </a:ln>
            </p:spPr>
          </p:cxnSp>
        </p:grpSp>
        <p:sp>
          <p:nvSpPr>
            <p:cNvPr id="1115" name="Google Shape;1115;p48"/>
            <p:cNvSpPr txBox="1"/>
            <p:nvPr/>
          </p:nvSpPr>
          <p:spPr>
            <a:xfrm>
              <a:off x="492858" y="773769"/>
              <a:ext cx="5544457" cy="3542737"/>
            </a:xfrm>
            <a:prstGeom prst="rect">
              <a:avLst/>
            </a:prstGeom>
            <a:solidFill>
              <a:srgbClr val="E1EFD8"/>
            </a:solid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None/>
              </a:pPr>
              <a:r>
                <a:rPr b="1" lang="en-US" sz="2800">
                  <a:solidFill>
                    <a:srgbClr val="E1EFD8"/>
                  </a:solidFill>
                  <a:latin typeface="Avenir"/>
                  <a:ea typeface="Avenir"/>
                  <a:cs typeface="Avenir"/>
                  <a:sym typeface="Avenir"/>
                </a:rPr>
                <a:t>_</a:t>
              </a:r>
              <a:r>
                <a:rPr b="1" lang="en-US" sz="2000">
                  <a:solidFill>
                    <a:schemeClr val="dk1"/>
                  </a:solidFill>
                  <a:latin typeface="Avenir"/>
                  <a:ea typeface="Avenir"/>
                  <a:cs typeface="Avenir"/>
                  <a:sym typeface="Avenir"/>
                </a:rPr>
                <a:t>Assets</a:t>
              </a:r>
              <a:endParaRPr b="1" sz="2800">
                <a:solidFill>
                  <a:schemeClr val="dk1"/>
                </a:solidFill>
                <a:latin typeface="Avenir"/>
                <a:ea typeface="Avenir"/>
                <a:cs typeface="Avenir"/>
                <a:sym typeface="Avenir"/>
              </a:endParaRPr>
            </a:p>
          </p:txBody>
        </p:sp>
      </p:grpSp>
      <p:grpSp>
        <p:nvGrpSpPr>
          <p:cNvPr id="1116" name="Google Shape;1116;p48"/>
          <p:cNvGrpSpPr/>
          <p:nvPr/>
        </p:nvGrpSpPr>
        <p:grpSpPr>
          <a:xfrm>
            <a:off x="2458800" y="3074426"/>
            <a:ext cx="1620000" cy="884272"/>
            <a:chOff x="671549" y="1402787"/>
            <a:chExt cx="1620000" cy="2549293"/>
          </a:xfrm>
        </p:grpSpPr>
        <p:sp>
          <p:nvSpPr>
            <p:cNvPr id="1117" name="Google Shape;1117;p48"/>
            <p:cNvSpPr/>
            <p:nvPr/>
          </p:nvSpPr>
          <p:spPr>
            <a:xfrm flipH="1">
              <a:off x="1481549" y="1402787"/>
              <a:ext cx="810000" cy="2549293"/>
            </a:xfrm>
            <a:prstGeom prst="corner">
              <a:avLst>
                <a:gd fmla="val 6497" name="adj1"/>
                <a:gd fmla="val 694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1800">
                <a:solidFill>
                  <a:schemeClr val="lt1"/>
                </a:solidFill>
                <a:latin typeface="Avenir"/>
                <a:ea typeface="Avenir"/>
                <a:cs typeface="Avenir"/>
                <a:sym typeface="Avenir"/>
              </a:endParaRPr>
            </a:p>
          </p:txBody>
        </p:sp>
        <p:sp>
          <p:nvSpPr>
            <p:cNvPr id="1118" name="Google Shape;1118;p48"/>
            <p:cNvSpPr/>
            <p:nvPr/>
          </p:nvSpPr>
          <p:spPr>
            <a:xfrm>
              <a:off x="671549" y="1402787"/>
              <a:ext cx="810000" cy="2549293"/>
            </a:xfrm>
            <a:prstGeom prst="corner">
              <a:avLst>
                <a:gd fmla="val 6497" name="adj1"/>
                <a:gd fmla="val 7336"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1800">
                <a:solidFill>
                  <a:schemeClr val="lt1"/>
                </a:solidFill>
                <a:latin typeface="Avenir"/>
                <a:ea typeface="Avenir"/>
                <a:cs typeface="Avenir"/>
                <a:sym typeface="Avenir"/>
              </a:endParaRPr>
            </a:p>
          </p:txBody>
        </p:sp>
      </p:grpSp>
      <p:grpSp>
        <p:nvGrpSpPr>
          <p:cNvPr id="1119" name="Google Shape;1119;p48"/>
          <p:cNvGrpSpPr/>
          <p:nvPr/>
        </p:nvGrpSpPr>
        <p:grpSpPr>
          <a:xfrm>
            <a:off x="673200" y="3340800"/>
            <a:ext cx="1620000" cy="613673"/>
            <a:chOff x="3810000" y="2381250"/>
            <a:chExt cx="1390650" cy="1230631"/>
          </a:xfrm>
        </p:grpSpPr>
        <p:sp>
          <p:nvSpPr>
            <p:cNvPr id="1120" name="Google Shape;1120;p48"/>
            <p:cNvSpPr/>
            <p:nvPr/>
          </p:nvSpPr>
          <p:spPr>
            <a:xfrm flipH="1">
              <a:off x="4505325"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1121" name="Google Shape;1121;p48"/>
            <p:cNvSpPr/>
            <p:nvPr/>
          </p:nvSpPr>
          <p:spPr>
            <a:xfrm>
              <a:off x="3810000"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sp>
        <p:nvSpPr>
          <p:cNvPr id="1122" name="Google Shape;1122;p48"/>
          <p:cNvSpPr txBox="1"/>
          <p:nvPr/>
        </p:nvSpPr>
        <p:spPr>
          <a:xfrm>
            <a:off x="2551146" y="3924000"/>
            <a:ext cx="1393331"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Cash at bank</a:t>
            </a:r>
            <a:endParaRPr/>
          </a:p>
        </p:txBody>
      </p:sp>
      <p:sp>
        <p:nvSpPr>
          <p:cNvPr id="1123" name="Google Shape;1123;p48"/>
          <p:cNvSpPr txBox="1"/>
          <p:nvPr/>
        </p:nvSpPr>
        <p:spPr>
          <a:xfrm>
            <a:off x="661400" y="3924000"/>
            <a:ext cx="1647322"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Equipment</a:t>
            </a:r>
            <a:endParaRPr/>
          </a:p>
        </p:txBody>
      </p:sp>
      <p:sp>
        <p:nvSpPr>
          <p:cNvPr id="1124" name="Google Shape;1124;p48"/>
          <p:cNvSpPr txBox="1"/>
          <p:nvPr/>
        </p:nvSpPr>
        <p:spPr>
          <a:xfrm>
            <a:off x="10028967" y="2029411"/>
            <a:ext cx="1593685"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Bank loan</a:t>
            </a:r>
            <a:endParaRPr/>
          </a:p>
        </p:txBody>
      </p:sp>
      <p:sp>
        <p:nvSpPr>
          <p:cNvPr id="1125" name="Google Shape;1125;p48"/>
          <p:cNvSpPr txBox="1"/>
          <p:nvPr/>
        </p:nvSpPr>
        <p:spPr>
          <a:xfrm>
            <a:off x="3184560" y="3614709"/>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30,000</a:t>
            </a:r>
            <a:endParaRPr/>
          </a:p>
        </p:txBody>
      </p:sp>
      <p:sp>
        <p:nvSpPr>
          <p:cNvPr id="1126" name="Google Shape;1126;p48"/>
          <p:cNvSpPr txBox="1"/>
          <p:nvPr/>
        </p:nvSpPr>
        <p:spPr>
          <a:xfrm>
            <a:off x="3184560" y="3344709"/>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20,000</a:t>
            </a:r>
            <a:endParaRPr/>
          </a:p>
        </p:txBody>
      </p:sp>
      <p:sp>
        <p:nvSpPr>
          <p:cNvPr id="1127" name="Google Shape;1127;p48"/>
          <p:cNvSpPr txBox="1"/>
          <p:nvPr/>
        </p:nvSpPr>
        <p:spPr>
          <a:xfrm>
            <a:off x="3298373" y="3074709"/>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5,000</a:t>
            </a:r>
            <a:endParaRPr/>
          </a:p>
        </p:txBody>
      </p:sp>
      <p:sp>
        <p:nvSpPr>
          <p:cNvPr id="1128" name="Google Shape;1128;p48"/>
          <p:cNvSpPr txBox="1"/>
          <p:nvPr/>
        </p:nvSpPr>
        <p:spPr>
          <a:xfrm>
            <a:off x="10026434" y="3924000"/>
            <a:ext cx="1757569"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contributed capital</a:t>
            </a:r>
            <a:endParaRPr/>
          </a:p>
        </p:txBody>
      </p:sp>
      <p:sp>
        <p:nvSpPr>
          <p:cNvPr id="1129" name="Google Shape;1129;p48"/>
          <p:cNvSpPr/>
          <p:nvPr/>
        </p:nvSpPr>
        <p:spPr>
          <a:xfrm>
            <a:off x="3011371" y="31467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30" name="Google Shape;1130;p48"/>
          <p:cNvSpPr/>
          <p:nvPr/>
        </p:nvSpPr>
        <p:spPr>
          <a:xfrm rot="10800000">
            <a:off x="3011371" y="339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31" name="Google Shape;1131;p48"/>
          <p:cNvSpPr/>
          <p:nvPr/>
        </p:nvSpPr>
        <p:spPr>
          <a:xfrm rot="10800000">
            <a:off x="3011371" y="366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32" name="Google Shape;1132;p48"/>
          <p:cNvSpPr txBox="1"/>
          <p:nvPr/>
        </p:nvSpPr>
        <p:spPr>
          <a:xfrm>
            <a:off x="10785455" y="1718255"/>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30,000</a:t>
            </a:r>
            <a:endParaRPr/>
          </a:p>
        </p:txBody>
      </p:sp>
      <p:sp>
        <p:nvSpPr>
          <p:cNvPr id="1133" name="Google Shape;1133;p48"/>
          <p:cNvSpPr/>
          <p:nvPr/>
        </p:nvSpPr>
        <p:spPr>
          <a:xfrm rot="10800000">
            <a:off x="10548000" y="1757882"/>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1134" name="Google Shape;1134;p48"/>
          <p:cNvSpPr txBox="1"/>
          <p:nvPr/>
        </p:nvSpPr>
        <p:spPr>
          <a:xfrm>
            <a:off x="10776926" y="3605780"/>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20,000</a:t>
            </a:r>
            <a:endParaRPr/>
          </a:p>
        </p:txBody>
      </p:sp>
      <p:sp>
        <p:nvSpPr>
          <p:cNvPr id="1135" name="Google Shape;1135;p48"/>
          <p:cNvSpPr txBox="1"/>
          <p:nvPr/>
        </p:nvSpPr>
        <p:spPr>
          <a:xfrm>
            <a:off x="10732895" y="1448255"/>
            <a:ext cx="86400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5,000</a:t>
            </a:r>
            <a:endParaRPr/>
          </a:p>
        </p:txBody>
      </p:sp>
      <p:sp>
        <p:nvSpPr>
          <p:cNvPr id="1136" name="Google Shape;1136;p48"/>
          <p:cNvSpPr/>
          <p:nvPr/>
        </p:nvSpPr>
        <p:spPr>
          <a:xfrm>
            <a:off x="10548000" y="1505882"/>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548135"/>
              </a:solidFill>
              <a:latin typeface="Calibri"/>
              <a:ea typeface="Calibri"/>
              <a:cs typeface="Calibri"/>
              <a:sym typeface="Calibri"/>
            </a:endParaRPr>
          </a:p>
        </p:txBody>
      </p:sp>
      <p:sp>
        <p:nvSpPr>
          <p:cNvPr id="1137" name="Google Shape;1137;p48"/>
          <p:cNvSpPr txBox="1"/>
          <p:nvPr/>
        </p:nvSpPr>
        <p:spPr>
          <a:xfrm>
            <a:off x="7315968" y="1713373"/>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6,000</a:t>
            </a:r>
            <a:endParaRPr/>
          </a:p>
        </p:txBody>
      </p:sp>
      <p:sp>
        <p:nvSpPr>
          <p:cNvPr id="1138" name="Google Shape;1138;p48"/>
          <p:cNvSpPr/>
          <p:nvPr/>
        </p:nvSpPr>
        <p:spPr>
          <a:xfrm rot="10800000">
            <a:off x="6984000" y="1749046"/>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1139" name="Google Shape;1139;p48"/>
          <p:cNvSpPr txBox="1"/>
          <p:nvPr/>
        </p:nvSpPr>
        <p:spPr>
          <a:xfrm>
            <a:off x="1501235" y="3588336"/>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6,000</a:t>
            </a:r>
            <a:endParaRPr/>
          </a:p>
        </p:txBody>
      </p:sp>
      <p:sp>
        <p:nvSpPr>
          <p:cNvPr id="1140" name="Google Shape;1140;p48"/>
          <p:cNvSpPr/>
          <p:nvPr/>
        </p:nvSpPr>
        <p:spPr>
          <a:xfrm rot="10800000">
            <a:off x="1249425" y="3637660"/>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1141" name="Google Shape;1141;p48"/>
          <p:cNvGrpSpPr/>
          <p:nvPr/>
        </p:nvGrpSpPr>
        <p:grpSpPr>
          <a:xfrm>
            <a:off x="2574025" y="3121887"/>
            <a:ext cx="245580" cy="224238"/>
            <a:chOff x="802803" y="3715228"/>
            <a:chExt cx="245580" cy="224238"/>
          </a:xfrm>
        </p:grpSpPr>
        <p:sp>
          <p:nvSpPr>
            <p:cNvPr id="1142" name="Google Shape;1142;p48"/>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143" name="Google Shape;1143;p48"/>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3</a:t>
              </a:r>
              <a:endParaRPr/>
            </a:p>
          </p:txBody>
        </p:sp>
      </p:grpSp>
      <p:grpSp>
        <p:nvGrpSpPr>
          <p:cNvPr id="1144" name="Google Shape;1144;p48"/>
          <p:cNvGrpSpPr/>
          <p:nvPr/>
        </p:nvGrpSpPr>
        <p:grpSpPr>
          <a:xfrm>
            <a:off x="2574025" y="3385828"/>
            <a:ext cx="245580" cy="224238"/>
            <a:chOff x="802803" y="3715228"/>
            <a:chExt cx="245580" cy="224238"/>
          </a:xfrm>
        </p:grpSpPr>
        <p:sp>
          <p:nvSpPr>
            <p:cNvPr id="1145" name="Google Shape;1145;p48"/>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146" name="Google Shape;1146;p48"/>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2</a:t>
              </a:r>
              <a:endParaRPr/>
            </a:p>
          </p:txBody>
        </p:sp>
      </p:grpSp>
      <p:grpSp>
        <p:nvGrpSpPr>
          <p:cNvPr id="1147" name="Google Shape;1147;p48"/>
          <p:cNvGrpSpPr/>
          <p:nvPr/>
        </p:nvGrpSpPr>
        <p:grpSpPr>
          <a:xfrm>
            <a:off x="2574025" y="3649299"/>
            <a:ext cx="245580" cy="224238"/>
            <a:chOff x="802803" y="3715228"/>
            <a:chExt cx="245580" cy="224238"/>
          </a:xfrm>
        </p:grpSpPr>
        <p:sp>
          <p:nvSpPr>
            <p:cNvPr id="1148" name="Google Shape;1148;p48"/>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149" name="Google Shape;1149;p48"/>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a:t>
              </a:r>
              <a:endParaRPr/>
            </a:p>
          </p:txBody>
        </p:sp>
      </p:grpSp>
      <p:grpSp>
        <p:nvGrpSpPr>
          <p:cNvPr id="1150" name="Google Shape;1150;p48"/>
          <p:cNvGrpSpPr/>
          <p:nvPr/>
        </p:nvGrpSpPr>
        <p:grpSpPr>
          <a:xfrm>
            <a:off x="10117559" y="1755851"/>
            <a:ext cx="245580" cy="224238"/>
            <a:chOff x="802803" y="3715228"/>
            <a:chExt cx="245580" cy="224238"/>
          </a:xfrm>
        </p:grpSpPr>
        <p:sp>
          <p:nvSpPr>
            <p:cNvPr id="1151" name="Google Shape;1151;p48"/>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152" name="Google Shape;1152;p48"/>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a:t>
              </a:r>
              <a:endParaRPr/>
            </a:p>
          </p:txBody>
        </p:sp>
      </p:grpSp>
      <p:grpSp>
        <p:nvGrpSpPr>
          <p:cNvPr id="1153" name="Google Shape;1153;p48"/>
          <p:cNvGrpSpPr/>
          <p:nvPr/>
        </p:nvGrpSpPr>
        <p:grpSpPr>
          <a:xfrm>
            <a:off x="10116000" y="3650400"/>
            <a:ext cx="245580" cy="224238"/>
            <a:chOff x="802803" y="3715228"/>
            <a:chExt cx="245580" cy="224238"/>
          </a:xfrm>
        </p:grpSpPr>
        <p:sp>
          <p:nvSpPr>
            <p:cNvPr id="1154" name="Google Shape;1154;p48"/>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155" name="Google Shape;1155;p48"/>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2</a:t>
              </a:r>
              <a:endParaRPr/>
            </a:p>
          </p:txBody>
        </p:sp>
      </p:grpSp>
      <p:grpSp>
        <p:nvGrpSpPr>
          <p:cNvPr id="1156" name="Google Shape;1156;p48"/>
          <p:cNvGrpSpPr/>
          <p:nvPr/>
        </p:nvGrpSpPr>
        <p:grpSpPr>
          <a:xfrm>
            <a:off x="10117837" y="1489299"/>
            <a:ext cx="245580" cy="224238"/>
            <a:chOff x="802803" y="3715228"/>
            <a:chExt cx="245580" cy="224238"/>
          </a:xfrm>
        </p:grpSpPr>
        <p:sp>
          <p:nvSpPr>
            <p:cNvPr id="1157" name="Google Shape;1157;p48"/>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158" name="Google Shape;1158;p48"/>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3</a:t>
              </a:r>
              <a:endParaRPr/>
            </a:p>
          </p:txBody>
        </p:sp>
      </p:grpSp>
      <p:grpSp>
        <p:nvGrpSpPr>
          <p:cNvPr id="1159" name="Google Shape;1159;p48"/>
          <p:cNvGrpSpPr/>
          <p:nvPr/>
        </p:nvGrpSpPr>
        <p:grpSpPr>
          <a:xfrm>
            <a:off x="6553087" y="1741845"/>
            <a:ext cx="245580" cy="224238"/>
            <a:chOff x="802803" y="3715228"/>
            <a:chExt cx="245580" cy="224238"/>
          </a:xfrm>
        </p:grpSpPr>
        <p:sp>
          <p:nvSpPr>
            <p:cNvPr id="1160" name="Google Shape;1160;p48"/>
            <p:cNvSpPr/>
            <p:nvPr/>
          </p:nvSpPr>
          <p:spPr>
            <a:xfrm>
              <a:off x="810781" y="3715228"/>
              <a:ext cx="216000" cy="216000"/>
            </a:xfrm>
            <a:prstGeom prst="ellipse">
              <a:avLst/>
            </a:prstGeom>
            <a:solidFill>
              <a:srgbClr val="FFFF00"/>
            </a:solidFill>
            <a:ln cap="flat" cmpd="sng" w="1905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161" name="Google Shape;1161;p48"/>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4</a:t>
              </a:r>
              <a:endParaRPr/>
            </a:p>
          </p:txBody>
        </p:sp>
      </p:grpSp>
      <p:grpSp>
        <p:nvGrpSpPr>
          <p:cNvPr id="1162" name="Google Shape;1162;p48"/>
          <p:cNvGrpSpPr/>
          <p:nvPr/>
        </p:nvGrpSpPr>
        <p:grpSpPr>
          <a:xfrm>
            <a:off x="784605" y="3629276"/>
            <a:ext cx="245580" cy="224238"/>
            <a:chOff x="802803" y="3715228"/>
            <a:chExt cx="245580" cy="224238"/>
          </a:xfrm>
        </p:grpSpPr>
        <p:sp>
          <p:nvSpPr>
            <p:cNvPr id="1163" name="Google Shape;1163;p48"/>
            <p:cNvSpPr/>
            <p:nvPr/>
          </p:nvSpPr>
          <p:spPr>
            <a:xfrm>
              <a:off x="810781" y="3715228"/>
              <a:ext cx="216000" cy="216000"/>
            </a:xfrm>
            <a:prstGeom prst="ellipse">
              <a:avLst/>
            </a:prstGeom>
            <a:solidFill>
              <a:srgbClr val="FFFF00"/>
            </a:solidFill>
            <a:ln cap="flat" cmpd="sng" w="1905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164" name="Google Shape;1164;p48"/>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4</a:t>
              </a:r>
              <a:endParaRPr/>
            </a:p>
          </p:txBody>
        </p:sp>
      </p:grpSp>
      <p:sp>
        <p:nvSpPr>
          <p:cNvPr id="1165" name="Google Shape;1165;p48"/>
          <p:cNvSpPr txBox="1"/>
          <p:nvPr/>
        </p:nvSpPr>
        <p:spPr>
          <a:xfrm>
            <a:off x="6252890" y="2028286"/>
            <a:ext cx="1987133"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Accounts payable</a:t>
            </a:r>
            <a:endParaRPr/>
          </a:p>
        </p:txBody>
      </p:sp>
      <p:sp>
        <p:nvSpPr>
          <p:cNvPr id="1166" name="Google Shape;1166;p48"/>
          <p:cNvSpPr txBox="1"/>
          <p:nvPr/>
        </p:nvSpPr>
        <p:spPr>
          <a:xfrm>
            <a:off x="9504213" y="373659"/>
            <a:ext cx="2279791" cy="40011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000">
                <a:solidFill>
                  <a:schemeClr val="accent2"/>
                </a:solidFill>
                <a:latin typeface="Avenir"/>
                <a:ea typeface="Avenir"/>
                <a:cs typeface="Avenir"/>
                <a:sym typeface="Avenir"/>
              </a:rPr>
              <a:t>Sources of funds</a:t>
            </a:r>
            <a:endParaRPr/>
          </a:p>
        </p:txBody>
      </p:sp>
      <p:sp>
        <p:nvSpPr>
          <p:cNvPr id="1167" name="Google Shape;1167;p48"/>
          <p:cNvSpPr txBox="1"/>
          <p:nvPr/>
        </p:nvSpPr>
        <p:spPr>
          <a:xfrm>
            <a:off x="492858" y="373659"/>
            <a:ext cx="1880643" cy="40011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000">
                <a:solidFill>
                  <a:schemeClr val="accent6"/>
                </a:solidFill>
                <a:latin typeface="Avenir"/>
                <a:ea typeface="Avenir"/>
                <a:cs typeface="Avenir"/>
                <a:sym typeface="Avenir"/>
              </a:rPr>
              <a:t>Uses of funds</a:t>
            </a:r>
            <a:endParaRPr/>
          </a:p>
        </p:txBody>
      </p:sp>
      <p:grpSp>
        <p:nvGrpSpPr>
          <p:cNvPr id="1168" name="Google Shape;1168;p48"/>
          <p:cNvGrpSpPr/>
          <p:nvPr/>
        </p:nvGrpSpPr>
        <p:grpSpPr>
          <a:xfrm>
            <a:off x="9983452" y="3159099"/>
            <a:ext cx="1620000" cy="796276"/>
            <a:chOff x="3810000" y="2015069"/>
            <a:chExt cx="1390650" cy="1596814"/>
          </a:xfrm>
        </p:grpSpPr>
        <p:sp>
          <p:nvSpPr>
            <p:cNvPr id="1169" name="Google Shape;1169;p48"/>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1170" name="Google Shape;1170;p48"/>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1171" name="Google Shape;1171;p48"/>
          <p:cNvGrpSpPr/>
          <p:nvPr/>
        </p:nvGrpSpPr>
        <p:grpSpPr>
          <a:xfrm>
            <a:off x="10006085" y="1263488"/>
            <a:ext cx="1620000" cy="796276"/>
            <a:chOff x="3810000" y="2015069"/>
            <a:chExt cx="1390650" cy="1596814"/>
          </a:xfrm>
        </p:grpSpPr>
        <p:sp>
          <p:nvSpPr>
            <p:cNvPr id="1172" name="Google Shape;1172;p48"/>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1173" name="Google Shape;1173;p48"/>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1174" name="Google Shape;1174;p48"/>
          <p:cNvGrpSpPr/>
          <p:nvPr/>
        </p:nvGrpSpPr>
        <p:grpSpPr>
          <a:xfrm>
            <a:off x="6428511" y="1266563"/>
            <a:ext cx="1620000" cy="796276"/>
            <a:chOff x="3810000" y="2015069"/>
            <a:chExt cx="1390650" cy="1596814"/>
          </a:xfrm>
        </p:grpSpPr>
        <p:sp>
          <p:nvSpPr>
            <p:cNvPr id="1175" name="Google Shape;1175;p48"/>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1176" name="Google Shape;1176;p48"/>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sp>
        <p:nvSpPr>
          <p:cNvPr id="1177" name="Google Shape;1177;p48"/>
          <p:cNvSpPr/>
          <p:nvPr/>
        </p:nvSpPr>
        <p:spPr>
          <a:xfrm rot="10800000">
            <a:off x="10548000" y="3653367"/>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1178" name="Google Shape;1178;p48"/>
          <p:cNvSpPr/>
          <p:nvPr/>
        </p:nvSpPr>
        <p:spPr>
          <a:xfrm>
            <a:off x="1160723" y="5050166"/>
            <a:ext cx="10538419" cy="1312708"/>
          </a:xfrm>
          <a:prstGeom prst="rect">
            <a:avLst/>
          </a:prstGeom>
          <a:solidFill>
            <a:srgbClr val="F2F2F2">
              <a:alpha val="86666"/>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1179" name="Google Shape;1179;p48"/>
          <p:cNvGrpSpPr/>
          <p:nvPr/>
        </p:nvGrpSpPr>
        <p:grpSpPr>
          <a:xfrm>
            <a:off x="1356400" y="5312636"/>
            <a:ext cx="10188967" cy="756004"/>
            <a:chOff x="926134" y="1719856"/>
            <a:chExt cx="9204181" cy="750147"/>
          </a:xfrm>
        </p:grpSpPr>
        <p:sp>
          <p:nvSpPr>
            <p:cNvPr id="1180" name="Google Shape;1180;p48"/>
            <p:cNvSpPr txBox="1"/>
            <p:nvPr/>
          </p:nvSpPr>
          <p:spPr>
            <a:xfrm>
              <a:off x="1641585" y="1719860"/>
              <a:ext cx="5447935"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139700" marR="0" rtl="0" algn="l">
                <a:spcBef>
                  <a:spcPts val="0"/>
                </a:spcBef>
                <a:spcAft>
                  <a:spcPts val="0"/>
                </a:spcAft>
                <a:buNone/>
              </a:pPr>
              <a:r>
                <a:rPr lang="en-US" sz="2000">
                  <a:solidFill>
                    <a:schemeClr val="dk1"/>
                  </a:solidFill>
                  <a:latin typeface="Calibri"/>
                  <a:ea typeface="Calibri"/>
                  <a:cs typeface="Calibri"/>
                  <a:sym typeface="Calibri"/>
                </a:rPr>
                <a:t>ZZZ 공급업체로부터 장비를 구매 및 설치함. 결제 기한은 30일 후.</a:t>
              </a:r>
              <a:endParaRPr sz="2000">
                <a:solidFill>
                  <a:schemeClr val="dk1"/>
                </a:solidFill>
                <a:latin typeface="Avenir"/>
                <a:ea typeface="Avenir"/>
                <a:cs typeface="Avenir"/>
                <a:sym typeface="Avenir"/>
              </a:endParaRPr>
            </a:p>
          </p:txBody>
        </p:sp>
        <p:sp>
          <p:nvSpPr>
            <p:cNvPr id="1181" name="Google Shape;1181;p48"/>
            <p:cNvSpPr txBox="1"/>
            <p:nvPr/>
          </p:nvSpPr>
          <p:spPr>
            <a:xfrm>
              <a:off x="7089520" y="1719858"/>
              <a:ext cx="1520398" cy="745310"/>
            </a:xfrm>
            <a:prstGeom prst="rect">
              <a:avLst/>
            </a:prstGeom>
            <a:solidFill>
              <a:srgbClr val="E1EFD8"/>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Equipment</a:t>
              </a: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6,000</a:t>
              </a:r>
              <a:endParaRPr/>
            </a:p>
          </p:txBody>
        </p:sp>
        <p:sp>
          <p:nvSpPr>
            <p:cNvPr id="1182" name="Google Shape;1182;p48"/>
            <p:cNvSpPr txBox="1"/>
            <p:nvPr/>
          </p:nvSpPr>
          <p:spPr>
            <a:xfrm>
              <a:off x="8609917" y="1719858"/>
              <a:ext cx="1520398" cy="745310"/>
            </a:xfrm>
            <a:prstGeom prst="rect">
              <a:avLst/>
            </a:prstGeom>
            <a:solidFill>
              <a:srgbClr val="FBE4D4"/>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Accounts payable</a:t>
              </a:r>
              <a:endParaRPr b="1" sz="1600">
                <a:solidFill>
                  <a:srgbClr val="BFBFBF"/>
                </a:solidFill>
                <a:latin typeface="Avenir"/>
                <a:ea typeface="Avenir"/>
                <a:cs typeface="Avenir"/>
                <a:sym typeface="Aveni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6,000</a:t>
              </a:r>
              <a:endParaRPr/>
            </a:p>
          </p:txBody>
        </p:sp>
        <p:sp>
          <p:nvSpPr>
            <p:cNvPr id="1183" name="Google Shape;1183;p48"/>
            <p:cNvSpPr txBox="1"/>
            <p:nvPr/>
          </p:nvSpPr>
          <p:spPr>
            <a:xfrm>
              <a:off x="926134" y="1719856"/>
              <a:ext cx="715451"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4</a:t>
              </a:r>
              <a:endParaRPr/>
            </a:p>
          </p:txBody>
        </p:sp>
      </p:grpSp>
      <p:sp>
        <p:nvSpPr>
          <p:cNvPr id="1184" name="Google Shape;1184;p48"/>
          <p:cNvSpPr txBox="1"/>
          <p:nvPr/>
        </p:nvSpPr>
        <p:spPr>
          <a:xfrm>
            <a:off x="8179227" y="5312923"/>
            <a:ext cx="1683070" cy="756000"/>
          </a:xfrm>
          <a:prstGeom prst="rect">
            <a:avLst/>
          </a:prstGeom>
          <a:solidFill>
            <a:srgbClr val="548135"/>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6,000</a:t>
            </a:r>
            <a:endParaRPr/>
          </a:p>
        </p:txBody>
      </p:sp>
      <p:sp>
        <p:nvSpPr>
          <p:cNvPr id="1185" name="Google Shape;1185;p48"/>
          <p:cNvSpPr txBox="1"/>
          <p:nvPr/>
        </p:nvSpPr>
        <p:spPr>
          <a:xfrm>
            <a:off x="9862297" y="5317036"/>
            <a:ext cx="1683070" cy="756000"/>
          </a:xfrm>
          <a:prstGeom prst="rect">
            <a:avLst/>
          </a:prstGeom>
          <a:solidFill>
            <a:schemeClr val="accent2"/>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6,000</a:t>
            </a:r>
            <a:endParaRPr/>
          </a:p>
        </p:txBody>
      </p:sp>
      <p:sp>
        <p:nvSpPr>
          <p:cNvPr id="1186" name="Google Shape;1186;p48"/>
          <p:cNvSpPr/>
          <p:nvPr/>
        </p:nvSpPr>
        <p:spPr>
          <a:xfrm rot="10800000">
            <a:off x="153289" y="824059"/>
            <a:ext cx="950259" cy="1037381"/>
          </a:xfrm>
          <a:prstGeom prst="downArrow">
            <a:avLst>
              <a:gd fmla="val 50000" name="adj1"/>
              <a:gd fmla="val 50000" name="adj2"/>
            </a:avLst>
          </a:prstGeom>
          <a:solidFill>
            <a:schemeClr val="accent6">
              <a:alpha val="77647"/>
            </a:schemeClr>
          </a:solidFill>
          <a:ln>
            <a:noFill/>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187" name="Google Shape;1187;p48"/>
          <p:cNvSpPr/>
          <p:nvPr/>
        </p:nvSpPr>
        <p:spPr>
          <a:xfrm rot="10800000">
            <a:off x="11196000" y="826738"/>
            <a:ext cx="950259" cy="1037381"/>
          </a:xfrm>
          <a:prstGeom prst="downArrow">
            <a:avLst>
              <a:gd fmla="val 50000" name="adj1"/>
              <a:gd fmla="val 50000" name="adj2"/>
            </a:avLst>
          </a:prstGeom>
          <a:solidFill>
            <a:schemeClr val="accent2">
              <a:alpha val="77647"/>
            </a:schemeClr>
          </a:solidFill>
          <a:ln>
            <a:noFill/>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Tree>
  </p:cSld>
  <p:clrMapOvr>
    <a:masterClrMapping/>
  </p:clrMapOvr>
  <mc:AlternateContent>
    <mc:Choice Requires="p14">
      <p:transition spd="slow" p14:dur="700">
        <p:fade/>
      </p:transition>
    </mc:Choice>
    <mc:Fallback>
      <p:transition spd="slow">
        <p:fade/>
      </p:transition>
    </mc:Fallback>
  </mc:AlternateContent>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23"/>
                                        </p:tgtEl>
                                        <p:attrNameLst>
                                          <p:attrName>style.visibility</p:attrName>
                                        </p:attrNameLst>
                                      </p:cBhvr>
                                      <p:to>
                                        <p:strVal val="visible"/>
                                      </p:to>
                                    </p:set>
                                    <p:animEffect filter="fade" transition="in">
                                      <p:cBhvr>
                                        <p:cTn dur="500"/>
                                        <p:tgtEl>
                                          <p:spTgt spid="1123"/>
                                        </p:tgtEl>
                                      </p:cBhvr>
                                    </p:animEffect>
                                  </p:childTnLst>
                                </p:cTn>
                              </p:par>
                              <p:par>
                                <p:cTn fill="hold" nodeType="withEffect" presetClass="entr" presetID="10" presetSubtype="0">
                                  <p:stCondLst>
                                    <p:cond delay="0"/>
                                  </p:stCondLst>
                                  <p:childTnLst>
                                    <p:set>
                                      <p:cBhvr>
                                        <p:cTn dur="1" fill="hold">
                                          <p:stCondLst>
                                            <p:cond delay="0"/>
                                          </p:stCondLst>
                                        </p:cTn>
                                        <p:tgtEl>
                                          <p:spTgt spid="1119"/>
                                        </p:tgtEl>
                                        <p:attrNameLst>
                                          <p:attrName>style.visibility</p:attrName>
                                        </p:attrNameLst>
                                      </p:cBhvr>
                                      <p:to>
                                        <p:strVal val="visible"/>
                                      </p:to>
                                    </p:set>
                                    <p:animEffect filter="fade" transition="in">
                                      <p:cBhvr>
                                        <p:cTn dur="500"/>
                                        <p:tgtEl>
                                          <p:spTgt spid="1119"/>
                                        </p:tgtEl>
                                      </p:cBhvr>
                                    </p:animEffect>
                                  </p:childTnLst>
                                </p:cTn>
                              </p:par>
                            </p:childTnLst>
                          </p:cTn>
                        </p:par>
                        <p:par>
                          <p:cTn fill="hold">
                            <p:stCondLst>
                              <p:cond delay="500"/>
                            </p:stCondLst>
                            <p:childTnLst>
                              <p:par>
                                <p:cTn fill="hold" nodeType="afterEffect" presetClass="exit" presetID="10" presetSubtype="0">
                                  <p:stCondLst>
                                    <p:cond delay="0"/>
                                  </p:stCondLst>
                                  <p:childTnLst>
                                    <p:animEffect filter="fade" transition="out">
                                      <p:cBhvr>
                                        <p:cTn dur="1000"/>
                                        <p:tgtEl>
                                          <p:spTgt spid="1184"/>
                                        </p:tgtEl>
                                      </p:cBhvr>
                                    </p:animEffect>
                                    <p:set>
                                      <p:cBhvr>
                                        <p:cTn dur="1" fill="hold">
                                          <p:stCondLst>
                                            <p:cond delay="1000"/>
                                          </p:stCondLst>
                                        </p:cTn>
                                        <p:tgtEl>
                                          <p:spTgt spid="1184"/>
                                        </p:tgtEl>
                                        <p:attrNameLst>
                                          <p:attrName>style.visibility</p:attrName>
                                        </p:attrNameLst>
                                      </p:cBhvr>
                                      <p:to>
                                        <p:strVal val="hidden"/>
                                      </p:to>
                                    </p:set>
                                  </p:childTnLst>
                                </p:cTn>
                              </p:par>
                              <p:par>
                                <p:cTn fill="hold" nodeType="withEffect" presetClass="entr" presetID="10" presetSubtype="0">
                                  <p:stCondLst>
                                    <p:cond delay="0"/>
                                  </p:stCondLst>
                                  <p:childTnLst>
                                    <p:set>
                                      <p:cBhvr>
                                        <p:cTn dur="1" fill="hold">
                                          <p:stCondLst>
                                            <p:cond delay="0"/>
                                          </p:stCondLst>
                                        </p:cTn>
                                        <p:tgtEl>
                                          <p:spTgt spid="1162"/>
                                        </p:tgtEl>
                                        <p:attrNameLst>
                                          <p:attrName>style.visibility</p:attrName>
                                        </p:attrNameLst>
                                      </p:cBhvr>
                                      <p:to>
                                        <p:strVal val="visible"/>
                                      </p:to>
                                    </p:set>
                                    <p:animEffect filter="fade" transition="in">
                                      <p:cBhvr>
                                        <p:cTn dur="1000"/>
                                        <p:tgtEl>
                                          <p:spTgt spid="1162"/>
                                        </p:tgtEl>
                                      </p:cBhvr>
                                    </p:animEffect>
                                  </p:childTnLst>
                                </p:cTn>
                              </p:par>
                              <p:par>
                                <p:cTn fill="hold" nodeType="withEffect" presetClass="entr" presetID="10" presetSubtype="0">
                                  <p:stCondLst>
                                    <p:cond delay="0"/>
                                  </p:stCondLst>
                                  <p:childTnLst>
                                    <p:set>
                                      <p:cBhvr>
                                        <p:cTn dur="1" fill="hold">
                                          <p:stCondLst>
                                            <p:cond delay="0"/>
                                          </p:stCondLst>
                                        </p:cTn>
                                        <p:tgtEl>
                                          <p:spTgt spid="1140"/>
                                        </p:tgtEl>
                                        <p:attrNameLst>
                                          <p:attrName>style.visibility</p:attrName>
                                        </p:attrNameLst>
                                      </p:cBhvr>
                                      <p:to>
                                        <p:strVal val="visible"/>
                                      </p:to>
                                    </p:set>
                                    <p:animEffect filter="fade" transition="in">
                                      <p:cBhvr>
                                        <p:cTn dur="1000"/>
                                        <p:tgtEl>
                                          <p:spTgt spid="1140"/>
                                        </p:tgtEl>
                                      </p:cBhvr>
                                    </p:animEffect>
                                  </p:childTnLst>
                                </p:cTn>
                              </p:par>
                              <p:par>
                                <p:cTn fill="hold" nodeType="withEffect" presetClass="entr" presetID="10" presetSubtype="0">
                                  <p:stCondLst>
                                    <p:cond delay="0"/>
                                  </p:stCondLst>
                                  <p:childTnLst>
                                    <p:set>
                                      <p:cBhvr>
                                        <p:cTn dur="1" fill="hold">
                                          <p:stCondLst>
                                            <p:cond delay="0"/>
                                          </p:stCondLst>
                                        </p:cTn>
                                        <p:tgtEl>
                                          <p:spTgt spid="1139"/>
                                        </p:tgtEl>
                                        <p:attrNameLst>
                                          <p:attrName>style.visibility</p:attrName>
                                        </p:attrNameLst>
                                      </p:cBhvr>
                                      <p:to>
                                        <p:strVal val="visible"/>
                                      </p:to>
                                    </p:set>
                                    <p:animEffect filter="fade" transition="in">
                                      <p:cBhvr>
                                        <p:cTn dur="1000"/>
                                        <p:tgtEl>
                                          <p:spTgt spid="113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74"/>
                                        </p:tgtEl>
                                        <p:attrNameLst>
                                          <p:attrName>style.visibility</p:attrName>
                                        </p:attrNameLst>
                                      </p:cBhvr>
                                      <p:to>
                                        <p:strVal val="visible"/>
                                      </p:to>
                                    </p:set>
                                    <p:animEffect filter="fade" transition="in">
                                      <p:cBhvr>
                                        <p:cTn dur="500"/>
                                        <p:tgtEl>
                                          <p:spTgt spid="1174"/>
                                        </p:tgtEl>
                                      </p:cBhvr>
                                    </p:animEffect>
                                  </p:childTnLst>
                                </p:cTn>
                              </p:par>
                              <p:par>
                                <p:cTn fill="hold" nodeType="withEffect" presetClass="entr" presetID="10" presetSubtype="0">
                                  <p:stCondLst>
                                    <p:cond delay="0"/>
                                  </p:stCondLst>
                                  <p:childTnLst>
                                    <p:set>
                                      <p:cBhvr>
                                        <p:cTn dur="1" fill="hold">
                                          <p:stCondLst>
                                            <p:cond delay="0"/>
                                          </p:stCondLst>
                                        </p:cTn>
                                        <p:tgtEl>
                                          <p:spTgt spid="1165"/>
                                        </p:tgtEl>
                                        <p:attrNameLst>
                                          <p:attrName>style.visibility</p:attrName>
                                        </p:attrNameLst>
                                      </p:cBhvr>
                                      <p:to>
                                        <p:strVal val="visible"/>
                                      </p:to>
                                    </p:set>
                                    <p:animEffect filter="fade" transition="in">
                                      <p:cBhvr>
                                        <p:cTn dur="500"/>
                                        <p:tgtEl>
                                          <p:spTgt spid="1165"/>
                                        </p:tgtEl>
                                      </p:cBhvr>
                                    </p:animEffect>
                                  </p:childTnLst>
                                </p:cTn>
                              </p:par>
                            </p:childTnLst>
                          </p:cTn>
                        </p:par>
                        <p:par>
                          <p:cTn fill="hold">
                            <p:stCondLst>
                              <p:cond delay="500"/>
                            </p:stCondLst>
                            <p:childTnLst>
                              <p:par>
                                <p:cTn fill="hold" nodeType="afterEffect" presetClass="exit" presetID="10" presetSubtype="0">
                                  <p:stCondLst>
                                    <p:cond delay="0"/>
                                  </p:stCondLst>
                                  <p:childTnLst>
                                    <p:animEffect filter="fade" transition="out">
                                      <p:cBhvr>
                                        <p:cTn dur="1000"/>
                                        <p:tgtEl>
                                          <p:spTgt spid="1185"/>
                                        </p:tgtEl>
                                      </p:cBhvr>
                                    </p:animEffect>
                                    <p:set>
                                      <p:cBhvr>
                                        <p:cTn dur="1" fill="hold">
                                          <p:stCondLst>
                                            <p:cond delay="1000"/>
                                          </p:stCondLst>
                                        </p:cTn>
                                        <p:tgtEl>
                                          <p:spTgt spid="1185"/>
                                        </p:tgtEl>
                                        <p:attrNameLst>
                                          <p:attrName>style.visibility</p:attrName>
                                        </p:attrNameLst>
                                      </p:cBhvr>
                                      <p:to>
                                        <p:strVal val="hidden"/>
                                      </p:to>
                                    </p:set>
                                  </p:childTnLst>
                                </p:cTn>
                              </p:par>
                              <p:par>
                                <p:cTn fill="hold" nodeType="withEffect" presetClass="entr" presetID="10" presetSubtype="0">
                                  <p:stCondLst>
                                    <p:cond delay="0"/>
                                  </p:stCondLst>
                                  <p:childTnLst>
                                    <p:set>
                                      <p:cBhvr>
                                        <p:cTn dur="1" fill="hold">
                                          <p:stCondLst>
                                            <p:cond delay="0"/>
                                          </p:stCondLst>
                                        </p:cTn>
                                        <p:tgtEl>
                                          <p:spTgt spid="1159"/>
                                        </p:tgtEl>
                                        <p:attrNameLst>
                                          <p:attrName>style.visibility</p:attrName>
                                        </p:attrNameLst>
                                      </p:cBhvr>
                                      <p:to>
                                        <p:strVal val="visible"/>
                                      </p:to>
                                    </p:set>
                                    <p:animEffect filter="fade" transition="in">
                                      <p:cBhvr>
                                        <p:cTn dur="1000"/>
                                        <p:tgtEl>
                                          <p:spTgt spid="1159"/>
                                        </p:tgtEl>
                                      </p:cBhvr>
                                    </p:animEffect>
                                  </p:childTnLst>
                                </p:cTn>
                              </p:par>
                              <p:par>
                                <p:cTn fill="hold" nodeType="withEffect" presetClass="entr" presetID="10" presetSubtype="0">
                                  <p:stCondLst>
                                    <p:cond delay="0"/>
                                  </p:stCondLst>
                                  <p:childTnLst>
                                    <p:set>
                                      <p:cBhvr>
                                        <p:cTn dur="1" fill="hold">
                                          <p:stCondLst>
                                            <p:cond delay="0"/>
                                          </p:stCondLst>
                                        </p:cTn>
                                        <p:tgtEl>
                                          <p:spTgt spid="1137"/>
                                        </p:tgtEl>
                                        <p:attrNameLst>
                                          <p:attrName>style.visibility</p:attrName>
                                        </p:attrNameLst>
                                      </p:cBhvr>
                                      <p:to>
                                        <p:strVal val="visible"/>
                                      </p:to>
                                    </p:set>
                                    <p:animEffect filter="fade" transition="in">
                                      <p:cBhvr>
                                        <p:cTn dur="1000"/>
                                        <p:tgtEl>
                                          <p:spTgt spid="1137"/>
                                        </p:tgtEl>
                                      </p:cBhvr>
                                    </p:animEffect>
                                  </p:childTnLst>
                                </p:cTn>
                              </p:par>
                              <p:par>
                                <p:cTn fill="hold" nodeType="withEffect" presetClass="entr" presetID="10" presetSubtype="0">
                                  <p:stCondLst>
                                    <p:cond delay="0"/>
                                  </p:stCondLst>
                                  <p:childTnLst>
                                    <p:set>
                                      <p:cBhvr>
                                        <p:cTn dur="1" fill="hold">
                                          <p:stCondLst>
                                            <p:cond delay="0"/>
                                          </p:stCondLst>
                                        </p:cTn>
                                        <p:tgtEl>
                                          <p:spTgt spid="1138"/>
                                        </p:tgtEl>
                                        <p:attrNameLst>
                                          <p:attrName>style.visibility</p:attrName>
                                        </p:attrNameLst>
                                      </p:cBhvr>
                                      <p:to>
                                        <p:strVal val="visible"/>
                                      </p:to>
                                    </p:set>
                                    <p:animEffect filter="fade" transition="in">
                                      <p:cBhvr>
                                        <p:cTn dur="1000"/>
                                        <p:tgtEl>
                                          <p:spTgt spid="113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86"/>
                                        </p:tgtEl>
                                        <p:attrNameLst>
                                          <p:attrName>style.visibility</p:attrName>
                                        </p:attrNameLst>
                                      </p:cBhvr>
                                      <p:to>
                                        <p:strVal val="visible"/>
                                      </p:to>
                                    </p:set>
                                    <p:animEffect filter="fade" transition="in">
                                      <p:cBhvr>
                                        <p:cTn dur="1000"/>
                                        <p:tgtEl>
                                          <p:spTgt spid="1186"/>
                                        </p:tgtEl>
                                      </p:cBhvr>
                                    </p:animEffect>
                                  </p:childTnLst>
                                </p:cTn>
                              </p:par>
                              <p:par>
                                <p:cTn fill="hold" nodeType="withEffect" presetClass="entr" presetID="10" presetSubtype="0">
                                  <p:stCondLst>
                                    <p:cond delay="0"/>
                                  </p:stCondLst>
                                  <p:childTnLst>
                                    <p:set>
                                      <p:cBhvr>
                                        <p:cTn dur="1" fill="hold">
                                          <p:stCondLst>
                                            <p:cond delay="0"/>
                                          </p:stCondLst>
                                        </p:cTn>
                                        <p:tgtEl>
                                          <p:spTgt spid="1187"/>
                                        </p:tgtEl>
                                        <p:attrNameLst>
                                          <p:attrName>style.visibility</p:attrName>
                                        </p:attrNameLst>
                                      </p:cBhvr>
                                      <p:to>
                                        <p:strVal val="visible"/>
                                      </p:to>
                                    </p:set>
                                    <p:animEffect filter="fade" transition="in">
                                      <p:cBhvr>
                                        <p:cTn dur="1000"/>
                                        <p:tgtEl>
                                          <p:spTgt spid="118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2" name="Shape 1192"/>
        <p:cNvGrpSpPr/>
        <p:nvPr/>
      </p:nvGrpSpPr>
      <p:grpSpPr>
        <a:xfrm>
          <a:off x="0" y="0"/>
          <a:ext cx="0" cy="0"/>
          <a:chOff x="0" y="0"/>
          <a:chExt cx="0" cy="0"/>
        </a:xfrm>
      </p:grpSpPr>
      <p:sp>
        <p:nvSpPr>
          <p:cNvPr id="1193" name="Google Shape;1193;p49"/>
          <p:cNvSpPr txBox="1"/>
          <p:nvPr/>
        </p:nvSpPr>
        <p:spPr>
          <a:xfrm>
            <a:off x="4187006" y="284371"/>
            <a:ext cx="3629520"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cxnSp>
        <p:nvCxnSpPr>
          <p:cNvPr id="1194" name="Google Shape;1194;p49"/>
          <p:cNvCxnSpPr/>
          <p:nvPr/>
        </p:nvCxnSpPr>
        <p:spPr>
          <a:xfrm>
            <a:off x="4316098" y="717845"/>
            <a:ext cx="3375212" cy="0"/>
          </a:xfrm>
          <a:prstGeom prst="straightConnector1">
            <a:avLst/>
          </a:prstGeom>
          <a:noFill/>
          <a:ln cap="flat" cmpd="sng" w="28575">
            <a:solidFill>
              <a:schemeClr val="accent1"/>
            </a:solidFill>
            <a:prstDash val="dot"/>
            <a:miter lim="800000"/>
            <a:headEnd len="sm" w="sm" type="none"/>
            <a:tailEnd len="sm" w="sm" type="none"/>
          </a:ln>
        </p:spPr>
      </p:cxnSp>
      <p:grpSp>
        <p:nvGrpSpPr>
          <p:cNvPr id="1195" name="Google Shape;1195;p49"/>
          <p:cNvGrpSpPr/>
          <p:nvPr/>
        </p:nvGrpSpPr>
        <p:grpSpPr>
          <a:xfrm>
            <a:off x="1284576" y="2130924"/>
            <a:ext cx="10188969" cy="756004"/>
            <a:chOff x="926134" y="1719856"/>
            <a:chExt cx="9204181" cy="750147"/>
          </a:xfrm>
        </p:grpSpPr>
        <p:sp>
          <p:nvSpPr>
            <p:cNvPr id="1196" name="Google Shape;1196;p49"/>
            <p:cNvSpPr txBox="1"/>
            <p:nvPr/>
          </p:nvSpPr>
          <p:spPr>
            <a:xfrm>
              <a:off x="1641585" y="1719860"/>
              <a:ext cx="5447935"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139700" marR="0" rtl="0" algn="l">
                <a:spcBef>
                  <a:spcPts val="0"/>
                </a:spcBef>
                <a:spcAft>
                  <a:spcPts val="0"/>
                </a:spcAft>
                <a:buNone/>
              </a:pPr>
              <a:r>
                <a:rPr lang="en-US" sz="2000">
                  <a:solidFill>
                    <a:schemeClr val="dk1"/>
                  </a:solidFill>
                  <a:latin typeface="Calibri"/>
                  <a:ea typeface="Calibri"/>
                  <a:cs typeface="Calibri"/>
                  <a:sym typeface="Calibri"/>
                </a:rPr>
                <a:t>판매용 상품을 구매하고 즉시 결제함.</a:t>
              </a:r>
              <a:endParaRPr sz="2000">
                <a:solidFill>
                  <a:schemeClr val="dk1"/>
                </a:solidFill>
                <a:latin typeface="Avenir"/>
                <a:ea typeface="Avenir"/>
                <a:cs typeface="Avenir"/>
                <a:sym typeface="Avenir"/>
              </a:endParaRPr>
            </a:p>
          </p:txBody>
        </p:sp>
        <p:sp>
          <p:nvSpPr>
            <p:cNvPr id="1197" name="Google Shape;1197;p49"/>
            <p:cNvSpPr txBox="1"/>
            <p:nvPr/>
          </p:nvSpPr>
          <p:spPr>
            <a:xfrm>
              <a:off x="7089520" y="1719858"/>
              <a:ext cx="1520398" cy="745310"/>
            </a:xfrm>
            <a:prstGeom prst="rect">
              <a:avLst/>
            </a:prstGeom>
            <a:solidFill>
              <a:srgbClr val="E1EFD8"/>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Inventory</a:t>
              </a: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10,000</a:t>
              </a:r>
              <a:endParaRPr/>
            </a:p>
          </p:txBody>
        </p:sp>
        <p:sp>
          <p:nvSpPr>
            <p:cNvPr id="1198" name="Google Shape;1198;p49"/>
            <p:cNvSpPr txBox="1"/>
            <p:nvPr/>
          </p:nvSpPr>
          <p:spPr>
            <a:xfrm>
              <a:off x="8609917" y="1719858"/>
              <a:ext cx="1520398" cy="745310"/>
            </a:xfrm>
            <a:prstGeom prst="rect">
              <a:avLst/>
            </a:prstGeom>
            <a:solidFill>
              <a:srgbClr val="FBE4D4"/>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Cash</a:t>
              </a:r>
              <a:endParaRPr b="1" sz="1600">
                <a:solidFill>
                  <a:srgbClr val="BFBFBF"/>
                </a:solidFill>
                <a:latin typeface="Avenir"/>
                <a:ea typeface="Avenir"/>
                <a:cs typeface="Avenir"/>
                <a:sym typeface="Aveni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10,000</a:t>
              </a:r>
              <a:endParaRPr/>
            </a:p>
          </p:txBody>
        </p:sp>
        <p:sp>
          <p:nvSpPr>
            <p:cNvPr id="1199" name="Google Shape;1199;p49"/>
            <p:cNvSpPr txBox="1"/>
            <p:nvPr/>
          </p:nvSpPr>
          <p:spPr>
            <a:xfrm>
              <a:off x="926134" y="1719856"/>
              <a:ext cx="715451"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5</a:t>
              </a:r>
              <a:endParaRPr/>
            </a:p>
          </p:txBody>
        </p:sp>
      </p:grpSp>
      <p:sp>
        <p:nvSpPr>
          <p:cNvPr id="1200" name="Google Shape;1200;p49"/>
          <p:cNvSpPr txBox="1"/>
          <p:nvPr/>
        </p:nvSpPr>
        <p:spPr>
          <a:xfrm>
            <a:off x="8107403" y="2130924"/>
            <a:ext cx="1681200" cy="756000"/>
          </a:xfrm>
          <a:prstGeom prst="rect">
            <a:avLst/>
          </a:prstGeom>
          <a:solidFill>
            <a:srgbClr val="548135"/>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10,000</a:t>
            </a:r>
            <a:endParaRPr/>
          </a:p>
        </p:txBody>
      </p:sp>
      <p:sp>
        <p:nvSpPr>
          <p:cNvPr id="1201" name="Google Shape;1201;p49"/>
          <p:cNvSpPr txBox="1"/>
          <p:nvPr/>
        </p:nvSpPr>
        <p:spPr>
          <a:xfrm>
            <a:off x="9790473" y="2130924"/>
            <a:ext cx="1681200" cy="756000"/>
          </a:xfrm>
          <a:prstGeom prst="rect">
            <a:avLst/>
          </a:prstGeom>
          <a:solidFill>
            <a:schemeClr val="accent2"/>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10,000</a:t>
            </a:r>
            <a:endParaRPr/>
          </a:p>
        </p:txBody>
      </p:sp>
      <p:sp>
        <p:nvSpPr>
          <p:cNvPr id="1202" name="Google Shape;1202;p49"/>
          <p:cNvSpPr/>
          <p:nvPr/>
        </p:nvSpPr>
        <p:spPr>
          <a:xfrm>
            <a:off x="1284578" y="1520543"/>
            <a:ext cx="2024679" cy="42011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2130">
                <a:solidFill>
                  <a:schemeClr val="dk1"/>
                </a:solidFill>
                <a:latin typeface="Avenir"/>
                <a:ea typeface="Avenir"/>
                <a:cs typeface="Avenir"/>
                <a:sym typeface="Avenir"/>
              </a:rPr>
              <a:t>31 January</a:t>
            </a:r>
            <a:endParaRPr sz="2130">
              <a:solidFill>
                <a:schemeClr val="dk1"/>
              </a:solidFill>
              <a:latin typeface="Avenir"/>
              <a:ea typeface="Avenir"/>
              <a:cs typeface="Avenir"/>
              <a:sym typeface="Avenir"/>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7" name="Shape 1207"/>
        <p:cNvGrpSpPr/>
        <p:nvPr/>
      </p:nvGrpSpPr>
      <p:grpSpPr>
        <a:xfrm>
          <a:off x="0" y="0"/>
          <a:ext cx="0" cy="0"/>
          <a:chOff x="0" y="0"/>
          <a:chExt cx="0" cy="0"/>
        </a:xfrm>
      </p:grpSpPr>
      <p:sp>
        <p:nvSpPr>
          <p:cNvPr id="1208" name="Google Shape;1208;p50"/>
          <p:cNvSpPr txBox="1"/>
          <p:nvPr/>
        </p:nvSpPr>
        <p:spPr>
          <a:xfrm>
            <a:off x="4187006" y="133386"/>
            <a:ext cx="3629520"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cxnSp>
        <p:nvCxnSpPr>
          <p:cNvPr id="1209" name="Google Shape;1209;p50"/>
          <p:cNvCxnSpPr/>
          <p:nvPr/>
        </p:nvCxnSpPr>
        <p:spPr>
          <a:xfrm>
            <a:off x="4316098" y="566860"/>
            <a:ext cx="3375212" cy="0"/>
          </a:xfrm>
          <a:prstGeom prst="straightConnector1">
            <a:avLst/>
          </a:prstGeom>
          <a:noFill/>
          <a:ln cap="flat" cmpd="sng" w="28575">
            <a:solidFill>
              <a:schemeClr val="accent1"/>
            </a:solidFill>
            <a:prstDash val="dot"/>
            <a:miter lim="800000"/>
            <a:headEnd len="sm" w="sm" type="none"/>
            <a:tailEnd len="sm" w="sm" type="none"/>
          </a:ln>
        </p:spPr>
      </p:cxnSp>
      <p:grpSp>
        <p:nvGrpSpPr>
          <p:cNvPr id="1210" name="Google Shape;1210;p50"/>
          <p:cNvGrpSpPr/>
          <p:nvPr/>
        </p:nvGrpSpPr>
        <p:grpSpPr>
          <a:xfrm>
            <a:off x="492858" y="773769"/>
            <a:ext cx="11291146" cy="5895963"/>
            <a:chOff x="492858" y="773769"/>
            <a:chExt cx="11291146" cy="5895963"/>
          </a:xfrm>
        </p:grpSpPr>
        <p:sp>
          <p:nvSpPr>
            <p:cNvPr id="1211" name="Google Shape;1211;p50"/>
            <p:cNvSpPr txBox="1"/>
            <p:nvPr/>
          </p:nvSpPr>
          <p:spPr>
            <a:xfrm>
              <a:off x="6227788" y="2623662"/>
              <a:ext cx="5556216" cy="1692844"/>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Equity</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1212" name="Google Shape;1212;p50"/>
            <p:cNvSpPr txBox="1"/>
            <p:nvPr/>
          </p:nvSpPr>
          <p:spPr>
            <a:xfrm>
              <a:off x="6410845" y="3135649"/>
              <a:ext cx="1544844" cy="770509"/>
            </a:xfrm>
            <a:prstGeom prst="rect">
              <a:avLst/>
            </a:prstGeom>
            <a:noFill/>
            <a:ln cap="flat" cmpd="sng" w="5715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ctr">
                <a:lnSpc>
                  <a:spcPct val="120000"/>
                </a:lnSpc>
                <a:spcBef>
                  <a:spcPts val="0"/>
                </a:spcBef>
                <a:spcAft>
                  <a:spcPts val="0"/>
                </a:spcAft>
                <a:buNone/>
              </a:pPr>
              <a:r>
                <a:rPr b="1" lang="en-US" sz="2200">
                  <a:solidFill>
                    <a:srgbClr val="942093"/>
                  </a:solidFill>
                  <a:latin typeface="Avenir"/>
                  <a:ea typeface="Avenir"/>
                  <a:cs typeface="Avenir"/>
                  <a:sym typeface="Avenir"/>
                </a:rPr>
                <a:t>Profit</a:t>
              </a:r>
              <a:endParaRPr/>
            </a:p>
          </p:txBody>
        </p:sp>
        <p:sp>
          <p:nvSpPr>
            <p:cNvPr id="1213" name="Google Shape;1213;p50"/>
            <p:cNvSpPr txBox="1"/>
            <p:nvPr/>
          </p:nvSpPr>
          <p:spPr>
            <a:xfrm>
              <a:off x="6227788" y="773769"/>
              <a:ext cx="5556216" cy="1702674"/>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Liabilities</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grpSp>
          <p:nvGrpSpPr>
            <p:cNvPr id="1214" name="Google Shape;1214;p50"/>
            <p:cNvGrpSpPr/>
            <p:nvPr/>
          </p:nvGrpSpPr>
          <p:grpSpPr>
            <a:xfrm>
              <a:off x="492858" y="3906158"/>
              <a:ext cx="11291146" cy="2763574"/>
              <a:chOff x="1354633" y="4399872"/>
              <a:chExt cx="9550931" cy="2121952"/>
            </a:xfrm>
          </p:grpSpPr>
          <p:sp>
            <p:nvSpPr>
              <p:cNvPr id="1215" name="Google Shape;1215;p50"/>
              <p:cNvSpPr txBox="1"/>
              <p:nvPr/>
            </p:nvSpPr>
            <p:spPr>
              <a:xfrm>
                <a:off x="1354633" y="4813260"/>
                <a:ext cx="9550931" cy="1708564"/>
              </a:xfrm>
              <a:prstGeom prst="rect">
                <a:avLst/>
              </a:prstGeom>
              <a:solidFill>
                <a:srgbClr val="FCECFB"/>
              </a:solidFill>
              <a:ln cap="flat" cmpd="sng" w="7620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b="1" lang="en-US" sz="2800">
                    <a:solidFill>
                      <a:schemeClr val="dk1"/>
                    </a:solidFill>
                    <a:latin typeface="Avenir"/>
                    <a:ea typeface="Avenir"/>
                    <a:cs typeface="Avenir"/>
                    <a:sym typeface="Avenir"/>
                  </a:rPr>
                  <a:t> </a:t>
                </a:r>
                <a:endParaRPr/>
              </a:p>
            </p:txBody>
          </p:sp>
          <p:sp>
            <p:nvSpPr>
              <p:cNvPr id="1216" name="Google Shape;1216;p50"/>
              <p:cNvSpPr txBox="1"/>
              <p:nvPr/>
            </p:nvSpPr>
            <p:spPr>
              <a:xfrm>
                <a:off x="6199863" y="4921166"/>
                <a:ext cx="4576976" cy="1495361"/>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Income</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1217" name="Google Shape;1217;p50"/>
              <p:cNvSpPr txBox="1"/>
              <p:nvPr/>
            </p:nvSpPr>
            <p:spPr>
              <a:xfrm>
                <a:off x="1481256" y="4921166"/>
                <a:ext cx="4552539" cy="1495361"/>
              </a:xfrm>
              <a:prstGeom prst="rect">
                <a:avLst/>
              </a:prstGeom>
              <a:solidFill>
                <a:srgbClr val="E1EFD8"/>
              </a:solid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None/>
                </a:pPr>
                <a:r>
                  <a:rPr b="1" lang="en-US" sz="2800">
                    <a:solidFill>
                      <a:srgbClr val="E1EFD8"/>
                    </a:solidFill>
                    <a:latin typeface="Avenir"/>
                    <a:ea typeface="Avenir"/>
                    <a:cs typeface="Avenir"/>
                    <a:sym typeface="Avenir"/>
                  </a:rPr>
                  <a:t>_</a:t>
                </a:r>
                <a:r>
                  <a:rPr b="1" lang="en-US" sz="2000">
                    <a:solidFill>
                      <a:schemeClr val="dk1"/>
                    </a:solidFill>
                    <a:latin typeface="Avenir"/>
                    <a:ea typeface="Avenir"/>
                    <a:cs typeface="Avenir"/>
                    <a:sym typeface="Avenir"/>
                  </a:rPr>
                  <a:t>Expenses</a:t>
                </a:r>
                <a:endParaRPr b="1" sz="2800">
                  <a:solidFill>
                    <a:schemeClr val="dk1"/>
                  </a:solidFill>
                  <a:latin typeface="Avenir"/>
                  <a:ea typeface="Avenir"/>
                  <a:cs typeface="Avenir"/>
                  <a:sym typeface="Avenir"/>
                </a:endParaRPr>
              </a:p>
            </p:txBody>
          </p:sp>
          <p:cxnSp>
            <p:nvCxnSpPr>
              <p:cNvPr id="1218" name="Google Shape;1218;p50"/>
              <p:cNvCxnSpPr>
                <a:stCxn id="1212" idx="2"/>
              </p:cNvCxnSpPr>
              <p:nvPr/>
            </p:nvCxnSpPr>
            <p:spPr>
              <a:xfrm>
                <a:off x="7013902" y="4399872"/>
                <a:ext cx="7500" cy="434700"/>
              </a:xfrm>
              <a:prstGeom prst="straightConnector1">
                <a:avLst/>
              </a:prstGeom>
              <a:noFill/>
              <a:ln cap="flat" cmpd="sng" w="76200">
                <a:solidFill>
                  <a:srgbClr val="942093"/>
                </a:solidFill>
                <a:prstDash val="solid"/>
                <a:miter lim="800000"/>
                <a:headEnd len="sm" w="sm" type="none"/>
                <a:tailEnd len="sm" w="sm" type="none"/>
              </a:ln>
            </p:spPr>
          </p:cxnSp>
        </p:grpSp>
        <p:sp>
          <p:nvSpPr>
            <p:cNvPr id="1219" name="Google Shape;1219;p50"/>
            <p:cNvSpPr txBox="1"/>
            <p:nvPr/>
          </p:nvSpPr>
          <p:spPr>
            <a:xfrm>
              <a:off x="492858" y="773769"/>
              <a:ext cx="5544457" cy="3542737"/>
            </a:xfrm>
            <a:prstGeom prst="rect">
              <a:avLst/>
            </a:prstGeom>
            <a:solidFill>
              <a:srgbClr val="E1EFD8"/>
            </a:solid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None/>
              </a:pPr>
              <a:r>
                <a:rPr b="1" lang="en-US" sz="2800">
                  <a:solidFill>
                    <a:srgbClr val="E1EFD8"/>
                  </a:solidFill>
                  <a:latin typeface="Avenir"/>
                  <a:ea typeface="Avenir"/>
                  <a:cs typeface="Avenir"/>
                  <a:sym typeface="Avenir"/>
                </a:rPr>
                <a:t>_</a:t>
              </a:r>
              <a:r>
                <a:rPr b="1" lang="en-US" sz="2000">
                  <a:solidFill>
                    <a:schemeClr val="dk1"/>
                  </a:solidFill>
                  <a:latin typeface="Avenir"/>
                  <a:ea typeface="Avenir"/>
                  <a:cs typeface="Avenir"/>
                  <a:sym typeface="Avenir"/>
                </a:rPr>
                <a:t>Assets</a:t>
              </a:r>
              <a:endParaRPr b="1" sz="2800">
                <a:solidFill>
                  <a:schemeClr val="dk1"/>
                </a:solidFill>
                <a:latin typeface="Avenir"/>
                <a:ea typeface="Avenir"/>
                <a:cs typeface="Avenir"/>
                <a:sym typeface="Avenir"/>
              </a:endParaRPr>
            </a:p>
          </p:txBody>
        </p:sp>
      </p:grpSp>
      <p:grpSp>
        <p:nvGrpSpPr>
          <p:cNvPr id="1220" name="Google Shape;1220;p50"/>
          <p:cNvGrpSpPr/>
          <p:nvPr/>
        </p:nvGrpSpPr>
        <p:grpSpPr>
          <a:xfrm>
            <a:off x="4248000" y="2850495"/>
            <a:ext cx="1620000" cy="1116000"/>
            <a:chOff x="3810000" y="2381250"/>
            <a:chExt cx="1390650" cy="1230631"/>
          </a:xfrm>
        </p:grpSpPr>
        <p:sp>
          <p:nvSpPr>
            <p:cNvPr id="1221" name="Google Shape;1221;p50"/>
            <p:cNvSpPr/>
            <p:nvPr/>
          </p:nvSpPr>
          <p:spPr>
            <a:xfrm flipH="1">
              <a:off x="4505325" y="2381250"/>
              <a:ext cx="695325" cy="1230631"/>
            </a:xfrm>
            <a:prstGeom prst="corner">
              <a:avLst>
                <a:gd fmla="val 7073" name="adj1"/>
                <a:gd fmla="val 694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1222" name="Google Shape;1222;p50"/>
            <p:cNvSpPr/>
            <p:nvPr/>
          </p:nvSpPr>
          <p:spPr>
            <a:xfrm>
              <a:off x="3810000" y="2381250"/>
              <a:ext cx="695325" cy="1230631"/>
            </a:xfrm>
            <a:prstGeom prst="corner">
              <a:avLst>
                <a:gd fmla="val 7073" name="adj1"/>
                <a:gd fmla="val 694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1223" name="Google Shape;1223;p50"/>
          <p:cNvGrpSpPr/>
          <p:nvPr/>
        </p:nvGrpSpPr>
        <p:grpSpPr>
          <a:xfrm>
            <a:off x="2458800" y="2841900"/>
            <a:ext cx="1620000" cy="1116798"/>
            <a:chOff x="671549" y="1402787"/>
            <a:chExt cx="1620000" cy="2549293"/>
          </a:xfrm>
        </p:grpSpPr>
        <p:sp>
          <p:nvSpPr>
            <p:cNvPr id="1224" name="Google Shape;1224;p50"/>
            <p:cNvSpPr/>
            <p:nvPr/>
          </p:nvSpPr>
          <p:spPr>
            <a:xfrm flipH="1">
              <a:off x="1481549" y="1402787"/>
              <a:ext cx="810000" cy="2549293"/>
            </a:xfrm>
            <a:prstGeom prst="corner">
              <a:avLst>
                <a:gd fmla="val 6497" name="adj1"/>
                <a:gd fmla="val 694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1800">
                <a:solidFill>
                  <a:schemeClr val="lt1"/>
                </a:solidFill>
                <a:latin typeface="Avenir"/>
                <a:ea typeface="Avenir"/>
                <a:cs typeface="Avenir"/>
                <a:sym typeface="Avenir"/>
              </a:endParaRPr>
            </a:p>
          </p:txBody>
        </p:sp>
        <p:sp>
          <p:nvSpPr>
            <p:cNvPr id="1225" name="Google Shape;1225;p50"/>
            <p:cNvSpPr/>
            <p:nvPr/>
          </p:nvSpPr>
          <p:spPr>
            <a:xfrm>
              <a:off x="671549" y="1402787"/>
              <a:ext cx="810000" cy="2549293"/>
            </a:xfrm>
            <a:prstGeom prst="corner">
              <a:avLst>
                <a:gd fmla="val 6497" name="adj1"/>
                <a:gd fmla="val 7336"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1800">
                <a:solidFill>
                  <a:schemeClr val="lt1"/>
                </a:solidFill>
                <a:latin typeface="Avenir"/>
                <a:ea typeface="Avenir"/>
                <a:cs typeface="Avenir"/>
                <a:sym typeface="Avenir"/>
              </a:endParaRPr>
            </a:p>
          </p:txBody>
        </p:sp>
      </p:grpSp>
      <p:grpSp>
        <p:nvGrpSpPr>
          <p:cNvPr id="1226" name="Google Shape;1226;p50"/>
          <p:cNvGrpSpPr/>
          <p:nvPr/>
        </p:nvGrpSpPr>
        <p:grpSpPr>
          <a:xfrm>
            <a:off x="673200" y="3340800"/>
            <a:ext cx="1620000" cy="613673"/>
            <a:chOff x="3810000" y="2381250"/>
            <a:chExt cx="1390650" cy="1230631"/>
          </a:xfrm>
        </p:grpSpPr>
        <p:sp>
          <p:nvSpPr>
            <p:cNvPr id="1227" name="Google Shape;1227;p50"/>
            <p:cNvSpPr/>
            <p:nvPr/>
          </p:nvSpPr>
          <p:spPr>
            <a:xfrm flipH="1">
              <a:off x="4505325"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1228" name="Google Shape;1228;p50"/>
            <p:cNvSpPr/>
            <p:nvPr/>
          </p:nvSpPr>
          <p:spPr>
            <a:xfrm>
              <a:off x="3810000"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sp>
        <p:nvSpPr>
          <p:cNvPr id="1229" name="Google Shape;1229;p50"/>
          <p:cNvSpPr txBox="1"/>
          <p:nvPr/>
        </p:nvSpPr>
        <p:spPr>
          <a:xfrm>
            <a:off x="2551146" y="3924000"/>
            <a:ext cx="1393331"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Cash at bank</a:t>
            </a:r>
            <a:endParaRPr/>
          </a:p>
        </p:txBody>
      </p:sp>
      <p:sp>
        <p:nvSpPr>
          <p:cNvPr id="1230" name="Google Shape;1230;p50"/>
          <p:cNvSpPr txBox="1"/>
          <p:nvPr/>
        </p:nvSpPr>
        <p:spPr>
          <a:xfrm>
            <a:off x="4292494" y="3924000"/>
            <a:ext cx="1531779"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Inventory</a:t>
            </a:r>
            <a:endParaRPr/>
          </a:p>
        </p:txBody>
      </p:sp>
      <p:sp>
        <p:nvSpPr>
          <p:cNvPr id="1231" name="Google Shape;1231;p50"/>
          <p:cNvSpPr txBox="1"/>
          <p:nvPr/>
        </p:nvSpPr>
        <p:spPr>
          <a:xfrm>
            <a:off x="661400" y="3924000"/>
            <a:ext cx="1647322"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Equipment</a:t>
            </a:r>
            <a:endParaRPr/>
          </a:p>
        </p:txBody>
      </p:sp>
      <p:sp>
        <p:nvSpPr>
          <p:cNvPr id="1232" name="Google Shape;1232;p50"/>
          <p:cNvSpPr txBox="1"/>
          <p:nvPr/>
        </p:nvSpPr>
        <p:spPr>
          <a:xfrm>
            <a:off x="10028967" y="2029411"/>
            <a:ext cx="1593685"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Bank loan</a:t>
            </a:r>
            <a:endParaRPr/>
          </a:p>
        </p:txBody>
      </p:sp>
      <p:sp>
        <p:nvSpPr>
          <p:cNvPr id="1233" name="Google Shape;1233;p50"/>
          <p:cNvSpPr txBox="1"/>
          <p:nvPr/>
        </p:nvSpPr>
        <p:spPr>
          <a:xfrm>
            <a:off x="3184560" y="3614709"/>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30,000</a:t>
            </a:r>
            <a:endParaRPr/>
          </a:p>
        </p:txBody>
      </p:sp>
      <p:sp>
        <p:nvSpPr>
          <p:cNvPr id="1234" name="Google Shape;1234;p50"/>
          <p:cNvSpPr txBox="1"/>
          <p:nvPr/>
        </p:nvSpPr>
        <p:spPr>
          <a:xfrm>
            <a:off x="3184560" y="3344709"/>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20,000</a:t>
            </a:r>
            <a:endParaRPr/>
          </a:p>
        </p:txBody>
      </p:sp>
      <p:sp>
        <p:nvSpPr>
          <p:cNvPr id="1235" name="Google Shape;1235;p50"/>
          <p:cNvSpPr txBox="1"/>
          <p:nvPr/>
        </p:nvSpPr>
        <p:spPr>
          <a:xfrm>
            <a:off x="3298373" y="3074709"/>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5,000</a:t>
            </a:r>
            <a:endParaRPr/>
          </a:p>
        </p:txBody>
      </p:sp>
      <p:sp>
        <p:nvSpPr>
          <p:cNvPr id="1236" name="Google Shape;1236;p50"/>
          <p:cNvSpPr txBox="1"/>
          <p:nvPr/>
        </p:nvSpPr>
        <p:spPr>
          <a:xfrm>
            <a:off x="3184560" y="2804709"/>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10,000</a:t>
            </a:r>
            <a:endParaRPr/>
          </a:p>
        </p:txBody>
      </p:sp>
      <p:sp>
        <p:nvSpPr>
          <p:cNvPr id="1237" name="Google Shape;1237;p50"/>
          <p:cNvSpPr txBox="1"/>
          <p:nvPr/>
        </p:nvSpPr>
        <p:spPr>
          <a:xfrm>
            <a:off x="10026435" y="3924000"/>
            <a:ext cx="1620000" cy="584775"/>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contributed capital</a:t>
            </a:r>
            <a:endParaRPr/>
          </a:p>
        </p:txBody>
      </p:sp>
      <p:sp>
        <p:nvSpPr>
          <p:cNvPr id="1238" name="Google Shape;1238;p50"/>
          <p:cNvSpPr/>
          <p:nvPr/>
        </p:nvSpPr>
        <p:spPr>
          <a:xfrm>
            <a:off x="3011371" y="28767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239" name="Google Shape;1239;p50"/>
          <p:cNvSpPr/>
          <p:nvPr/>
        </p:nvSpPr>
        <p:spPr>
          <a:xfrm>
            <a:off x="3011371" y="31467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240" name="Google Shape;1240;p50"/>
          <p:cNvSpPr/>
          <p:nvPr/>
        </p:nvSpPr>
        <p:spPr>
          <a:xfrm rot="10800000">
            <a:off x="3011371" y="339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241" name="Google Shape;1241;p50"/>
          <p:cNvSpPr/>
          <p:nvPr/>
        </p:nvSpPr>
        <p:spPr>
          <a:xfrm rot="10800000">
            <a:off x="3011371" y="366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242" name="Google Shape;1242;p50"/>
          <p:cNvSpPr txBox="1"/>
          <p:nvPr/>
        </p:nvSpPr>
        <p:spPr>
          <a:xfrm>
            <a:off x="10785455" y="1718255"/>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30,000</a:t>
            </a:r>
            <a:endParaRPr/>
          </a:p>
        </p:txBody>
      </p:sp>
      <p:sp>
        <p:nvSpPr>
          <p:cNvPr id="1243" name="Google Shape;1243;p50"/>
          <p:cNvSpPr/>
          <p:nvPr/>
        </p:nvSpPr>
        <p:spPr>
          <a:xfrm rot="10800000">
            <a:off x="10548000" y="1757882"/>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1244" name="Google Shape;1244;p50"/>
          <p:cNvSpPr txBox="1"/>
          <p:nvPr/>
        </p:nvSpPr>
        <p:spPr>
          <a:xfrm>
            <a:off x="10776926" y="3605780"/>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20,000</a:t>
            </a:r>
            <a:endParaRPr/>
          </a:p>
        </p:txBody>
      </p:sp>
      <p:sp>
        <p:nvSpPr>
          <p:cNvPr id="1245" name="Google Shape;1245;p50"/>
          <p:cNvSpPr txBox="1"/>
          <p:nvPr/>
        </p:nvSpPr>
        <p:spPr>
          <a:xfrm>
            <a:off x="10732895" y="1448255"/>
            <a:ext cx="86400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5,000</a:t>
            </a:r>
            <a:endParaRPr/>
          </a:p>
        </p:txBody>
      </p:sp>
      <p:sp>
        <p:nvSpPr>
          <p:cNvPr id="1246" name="Google Shape;1246;p50"/>
          <p:cNvSpPr/>
          <p:nvPr/>
        </p:nvSpPr>
        <p:spPr>
          <a:xfrm>
            <a:off x="10548000" y="1505882"/>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548135"/>
              </a:solidFill>
              <a:latin typeface="Calibri"/>
              <a:ea typeface="Calibri"/>
              <a:cs typeface="Calibri"/>
              <a:sym typeface="Calibri"/>
            </a:endParaRPr>
          </a:p>
        </p:txBody>
      </p:sp>
      <p:sp>
        <p:nvSpPr>
          <p:cNvPr id="1247" name="Google Shape;1247;p50"/>
          <p:cNvSpPr txBox="1"/>
          <p:nvPr/>
        </p:nvSpPr>
        <p:spPr>
          <a:xfrm>
            <a:off x="4984560" y="3610092"/>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10,000</a:t>
            </a:r>
            <a:endParaRPr/>
          </a:p>
        </p:txBody>
      </p:sp>
      <p:sp>
        <p:nvSpPr>
          <p:cNvPr id="1248" name="Google Shape;1248;p50"/>
          <p:cNvSpPr txBox="1"/>
          <p:nvPr/>
        </p:nvSpPr>
        <p:spPr>
          <a:xfrm>
            <a:off x="7315968" y="1713373"/>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6,000</a:t>
            </a:r>
            <a:endParaRPr/>
          </a:p>
        </p:txBody>
      </p:sp>
      <p:sp>
        <p:nvSpPr>
          <p:cNvPr id="1249" name="Google Shape;1249;p50"/>
          <p:cNvSpPr/>
          <p:nvPr/>
        </p:nvSpPr>
        <p:spPr>
          <a:xfrm rot="10800000">
            <a:off x="6984000" y="1749046"/>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1250" name="Google Shape;1250;p50"/>
          <p:cNvSpPr txBox="1"/>
          <p:nvPr/>
        </p:nvSpPr>
        <p:spPr>
          <a:xfrm>
            <a:off x="1501235" y="3588336"/>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6,000</a:t>
            </a:r>
            <a:endParaRPr/>
          </a:p>
        </p:txBody>
      </p:sp>
      <p:sp>
        <p:nvSpPr>
          <p:cNvPr id="1251" name="Google Shape;1251;p50"/>
          <p:cNvSpPr/>
          <p:nvPr/>
        </p:nvSpPr>
        <p:spPr>
          <a:xfrm rot="10800000">
            <a:off x="1249425" y="3637660"/>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252" name="Google Shape;1252;p50"/>
          <p:cNvSpPr/>
          <p:nvPr/>
        </p:nvSpPr>
        <p:spPr>
          <a:xfrm rot="10800000">
            <a:off x="4824000" y="3662508"/>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1253" name="Google Shape;1253;p50"/>
          <p:cNvGrpSpPr/>
          <p:nvPr/>
        </p:nvGrpSpPr>
        <p:grpSpPr>
          <a:xfrm>
            <a:off x="2574025" y="2841900"/>
            <a:ext cx="245580" cy="224238"/>
            <a:chOff x="802803" y="3715228"/>
            <a:chExt cx="245580" cy="224238"/>
          </a:xfrm>
        </p:grpSpPr>
        <p:sp>
          <p:nvSpPr>
            <p:cNvPr id="1254" name="Google Shape;1254;p50"/>
            <p:cNvSpPr/>
            <p:nvPr/>
          </p:nvSpPr>
          <p:spPr>
            <a:xfrm>
              <a:off x="810781" y="3715228"/>
              <a:ext cx="216000" cy="216000"/>
            </a:xfrm>
            <a:prstGeom prst="ellipse">
              <a:avLst/>
            </a:prstGeom>
            <a:solidFill>
              <a:srgbClr val="FFFF00"/>
            </a:solidFill>
            <a:ln cap="flat" cmpd="sng" w="1270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255" name="Google Shape;1255;p50"/>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5</a:t>
              </a:r>
              <a:endParaRPr/>
            </a:p>
          </p:txBody>
        </p:sp>
      </p:grpSp>
      <p:grpSp>
        <p:nvGrpSpPr>
          <p:cNvPr id="1256" name="Google Shape;1256;p50"/>
          <p:cNvGrpSpPr/>
          <p:nvPr/>
        </p:nvGrpSpPr>
        <p:grpSpPr>
          <a:xfrm>
            <a:off x="2574025" y="3121887"/>
            <a:ext cx="245580" cy="224238"/>
            <a:chOff x="802803" y="3715228"/>
            <a:chExt cx="245580" cy="224238"/>
          </a:xfrm>
        </p:grpSpPr>
        <p:sp>
          <p:nvSpPr>
            <p:cNvPr id="1257" name="Google Shape;1257;p5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258" name="Google Shape;1258;p50"/>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3</a:t>
              </a:r>
              <a:endParaRPr/>
            </a:p>
          </p:txBody>
        </p:sp>
      </p:grpSp>
      <p:grpSp>
        <p:nvGrpSpPr>
          <p:cNvPr id="1259" name="Google Shape;1259;p50"/>
          <p:cNvGrpSpPr/>
          <p:nvPr/>
        </p:nvGrpSpPr>
        <p:grpSpPr>
          <a:xfrm>
            <a:off x="2574025" y="3385828"/>
            <a:ext cx="245580" cy="224238"/>
            <a:chOff x="802803" y="3715228"/>
            <a:chExt cx="245580" cy="224238"/>
          </a:xfrm>
        </p:grpSpPr>
        <p:sp>
          <p:nvSpPr>
            <p:cNvPr id="1260" name="Google Shape;1260;p5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261" name="Google Shape;1261;p50"/>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2</a:t>
              </a:r>
              <a:endParaRPr/>
            </a:p>
          </p:txBody>
        </p:sp>
      </p:grpSp>
      <p:grpSp>
        <p:nvGrpSpPr>
          <p:cNvPr id="1262" name="Google Shape;1262;p50"/>
          <p:cNvGrpSpPr/>
          <p:nvPr/>
        </p:nvGrpSpPr>
        <p:grpSpPr>
          <a:xfrm>
            <a:off x="2574025" y="3649299"/>
            <a:ext cx="245580" cy="224238"/>
            <a:chOff x="802803" y="3715228"/>
            <a:chExt cx="245580" cy="224238"/>
          </a:xfrm>
        </p:grpSpPr>
        <p:sp>
          <p:nvSpPr>
            <p:cNvPr id="1263" name="Google Shape;1263;p5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264" name="Google Shape;1264;p50"/>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a:t>
              </a:r>
              <a:endParaRPr/>
            </a:p>
          </p:txBody>
        </p:sp>
      </p:grpSp>
      <p:grpSp>
        <p:nvGrpSpPr>
          <p:cNvPr id="1265" name="Google Shape;1265;p50"/>
          <p:cNvGrpSpPr/>
          <p:nvPr/>
        </p:nvGrpSpPr>
        <p:grpSpPr>
          <a:xfrm>
            <a:off x="10117559" y="1755851"/>
            <a:ext cx="245580" cy="224238"/>
            <a:chOff x="802803" y="3715228"/>
            <a:chExt cx="245580" cy="224238"/>
          </a:xfrm>
        </p:grpSpPr>
        <p:sp>
          <p:nvSpPr>
            <p:cNvPr id="1266" name="Google Shape;1266;p5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267" name="Google Shape;1267;p50"/>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a:t>
              </a:r>
              <a:endParaRPr/>
            </a:p>
          </p:txBody>
        </p:sp>
      </p:grpSp>
      <p:grpSp>
        <p:nvGrpSpPr>
          <p:cNvPr id="1268" name="Google Shape;1268;p50"/>
          <p:cNvGrpSpPr/>
          <p:nvPr/>
        </p:nvGrpSpPr>
        <p:grpSpPr>
          <a:xfrm>
            <a:off x="10116000" y="3650400"/>
            <a:ext cx="245580" cy="224238"/>
            <a:chOff x="802803" y="3715228"/>
            <a:chExt cx="245580" cy="224238"/>
          </a:xfrm>
        </p:grpSpPr>
        <p:sp>
          <p:nvSpPr>
            <p:cNvPr id="1269" name="Google Shape;1269;p5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270" name="Google Shape;1270;p50"/>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2</a:t>
              </a:r>
              <a:endParaRPr/>
            </a:p>
          </p:txBody>
        </p:sp>
      </p:grpSp>
      <p:grpSp>
        <p:nvGrpSpPr>
          <p:cNvPr id="1271" name="Google Shape;1271;p50"/>
          <p:cNvGrpSpPr/>
          <p:nvPr/>
        </p:nvGrpSpPr>
        <p:grpSpPr>
          <a:xfrm>
            <a:off x="10117837" y="1489299"/>
            <a:ext cx="245580" cy="224238"/>
            <a:chOff x="802803" y="3715228"/>
            <a:chExt cx="245580" cy="224238"/>
          </a:xfrm>
        </p:grpSpPr>
        <p:sp>
          <p:nvSpPr>
            <p:cNvPr id="1272" name="Google Shape;1272;p5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273" name="Google Shape;1273;p50"/>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3</a:t>
              </a:r>
              <a:endParaRPr/>
            </a:p>
          </p:txBody>
        </p:sp>
      </p:grpSp>
      <p:grpSp>
        <p:nvGrpSpPr>
          <p:cNvPr id="1274" name="Google Shape;1274;p50"/>
          <p:cNvGrpSpPr/>
          <p:nvPr/>
        </p:nvGrpSpPr>
        <p:grpSpPr>
          <a:xfrm>
            <a:off x="6553087" y="1741845"/>
            <a:ext cx="245580" cy="224238"/>
            <a:chOff x="802803" y="3715228"/>
            <a:chExt cx="245580" cy="224238"/>
          </a:xfrm>
        </p:grpSpPr>
        <p:sp>
          <p:nvSpPr>
            <p:cNvPr id="1275" name="Google Shape;1275;p5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276" name="Google Shape;1276;p50"/>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4</a:t>
              </a:r>
              <a:endParaRPr/>
            </a:p>
          </p:txBody>
        </p:sp>
      </p:grpSp>
      <p:grpSp>
        <p:nvGrpSpPr>
          <p:cNvPr id="1277" name="Google Shape;1277;p50"/>
          <p:cNvGrpSpPr/>
          <p:nvPr/>
        </p:nvGrpSpPr>
        <p:grpSpPr>
          <a:xfrm>
            <a:off x="784605" y="3629276"/>
            <a:ext cx="245580" cy="224238"/>
            <a:chOff x="802803" y="3715228"/>
            <a:chExt cx="245580" cy="224238"/>
          </a:xfrm>
        </p:grpSpPr>
        <p:sp>
          <p:nvSpPr>
            <p:cNvPr id="1278" name="Google Shape;1278;p5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279" name="Google Shape;1279;p50"/>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4</a:t>
              </a:r>
              <a:endParaRPr/>
            </a:p>
          </p:txBody>
        </p:sp>
      </p:grpSp>
      <p:grpSp>
        <p:nvGrpSpPr>
          <p:cNvPr id="1280" name="Google Shape;1280;p50"/>
          <p:cNvGrpSpPr/>
          <p:nvPr/>
        </p:nvGrpSpPr>
        <p:grpSpPr>
          <a:xfrm>
            <a:off x="4359077" y="3641899"/>
            <a:ext cx="245580" cy="224238"/>
            <a:chOff x="802803" y="3715228"/>
            <a:chExt cx="245580" cy="224238"/>
          </a:xfrm>
        </p:grpSpPr>
        <p:sp>
          <p:nvSpPr>
            <p:cNvPr id="1281" name="Google Shape;1281;p50"/>
            <p:cNvSpPr/>
            <p:nvPr/>
          </p:nvSpPr>
          <p:spPr>
            <a:xfrm>
              <a:off x="810781" y="3715228"/>
              <a:ext cx="216000" cy="216000"/>
            </a:xfrm>
            <a:prstGeom prst="ellipse">
              <a:avLst/>
            </a:prstGeom>
            <a:solidFill>
              <a:srgbClr val="FFFF00"/>
            </a:solidFill>
            <a:ln cap="flat" cmpd="sng" w="1270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282" name="Google Shape;1282;p50"/>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5</a:t>
              </a:r>
              <a:endParaRPr/>
            </a:p>
          </p:txBody>
        </p:sp>
      </p:grpSp>
      <p:sp>
        <p:nvSpPr>
          <p:cNvPr id="1283" name="Google Shape;1283;p50"/>
          <p:cNvSpPr txBox="1"/>
          <p:nvPr/>
        </p:nvSpPr>
        <p:spPr>
          <a:xfrm>
            <a:off x="6252890" y="2028286"/>
            <a:ext cx="1987133"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Accounts payable</a:t>
            </a:r>
            <a:endParaRPr/>
          </a:p>
        </p:txBody>
      </p:sp>
      <p:sp>
        <p:nvSpPr>
          <p:cNvPr id="1284" name="Google Shape;1284;p50"/>
          <p:cNvSpPr txBox="1"/>
          <p:nvPr/>
        </p:nvSpPr>
        <p:spPr>
          <a:xfrm>
            <a:off x="9504213" y="373659"/>
            <a:ext cx="2279791" cy="40011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000">
                <a:solidFill>
                  <a:schemeClr val="accent2"/>
                </a:solidFill>
                <a:latin typeface="Avenir"/>
                <a:ea typeface="Avenir"/>
                <a:cs typeface="Avenir"/>
                <a:sym typeface="Avenir"/>
              </a:rPr>
              <a:t>Sources of funds</a:t>
            </a:r>
            <a:endParaRPr/>
          </a:p>
        </p:txBody>
      </p:sp>
      <p:sp>
        <p:nvSpPr>
          <p:cNvPr id="1285" name="Google Shape;1285;p50"/>
          <p:cNvSpPr txBox="1"/>
          <p:nvPr/>
        </p:nvSpPr>
        <p:spPr>
          <a:xfrm>
            <a:off x="492858" y="373659"/>
            <a:ext cx="1880643" cy="40011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000">
                <a:solidFill>
                  <a:schemeClr val="accent6"/>
                </a:solidFill>
                <a:latin typeface="Avenir"/>
                <a:ea typeface="Avenir"/>
                <a:cs typeface="Avenir"/>
                <a:sym typeface="Avenir"/>
              </a:rPr>
              <a:t>Uses of funds</a:t>
            </a:r>
            <a:endParaRPr/>
          </a:p>
        </p:txBody>
      </p:sp>
      <p:grpSp>
        <p:nvGrpSpPr>
          <p:cNvPr id="1286" name="Google Shape;1286;p50"/>
          <p:cNvGrpSpPr/>
          <p:nvPr/>
        </p:nvGrpSpPr>
        <p:grpSpPr>
          <a:xfrm>
            <a:off x="9983452" y="3159099"/>
            <a:ext cx="1620000" cy="796276"/>
            <a:chOff x="3810000" y="2015069"/>
            <a:chExt cx="1390650" cy="1596814"/>
          </a:xfrm>
        </p:grpSpPr>
        <p:sp>
          <p:nvSpPr>
            <p:cNvPr id="1287" name="Google Shape;1287;p50"/>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1288" name="Google Shape;1288;p50"/>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1289" name="Google Shape;1289;p50"/>
          <p:cNvGrpSpPr/>
          <p:nvPr/>
        </p:nvGrpSpPr>
        <p:grpSpPr>
          <a:xfrm>
            <a:off x="10006085" y="1263488"/>
            <a:ext cx="1620000" cy="796276"/>
            <a:chOff x="3810000" y="2015069"/>
            <a:chExt cx="1390650" cy="1596814"/>
          </a:xfrm>
        </p:grpSpPr>
        <p:sp>
          <p:nvSpPr>
            <p:cNvPr id="1290" name="Google Shape;1290;p50"/>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1291" name="Google Shape;1291;p50"/>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1292" name="Google Shape;1292;p50"/>
          <p:cNvGrpSpPr/>
          <p:nvPr/>
        </p:nvGrpSpPr>
        <p:grpSpPr>
          <a:xfrm>
            <a:off x="6428511" y="1266563"/>
            <a:ext cx="1620000" cy="796276"/>
            <a:chOff x="3810000" y="2015069"/>
            <a:chExt cx="1390650" cy="1596814"/>
          </a:xfrm>
        </p:grpSpPr>
        <p:sp>
          <p:nvSpPr>
            <p:cNvPr id="1293" name="Google Shape;1293;p50"/>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1294" name="Google Shape;1294;p50"/>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sp>
        <p:nvSpPr>
          <p:cNvPr id="1295" name="Google Shape;1295;p50"/>
          <p:cNvSpPr/>
          <p:nvPr/>
        </p:nvSpPr>
        <p:spPr>
          <a:xfrm rot="10800000">
            <a:off x="10548000" y="3653367"/>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1296" name="Google Shape;1296;p50"/>
          <p:cNvSpPr/>
          <p:nvPr/>
        </p:nvSpPr>
        <p:spPr>
          <a:xfrm>
            <a:off x="1160723" y="5021319"/>
            <a:ext cx="10538419" cy="1312708"/>
          </a:xfrm>
          <a:prstGeom prst="rect">
            <a:avLst/>
          </a:prstGeom>
          <a:solidFill>
            <a:srgbClr val="F2F2F2">
              <a:alpha val="86666"/>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1297" name="Google Shape;1297;p50"/>
          <p:cNvGrpSpPr/>
          <p:nvPr/>
        </p:nvGrpSpPr>
        <p:grpSpPr>
          <a:xfrm>
            <a:off x="1358949" y="5290348"/>
            <a:ext cx="10188967" cy="756004"/>
            <a:chOff x="926134" y="1719856"/>
            <a:chExt cx="9204181" cy="750147"/>
          </a:xfrm>
        </p:grpSpPr>
        <p:sp>
          <p:nvSpPr>
            <p:cNvPr id="1298" name="Google Shape;1298;p50"/>
            <p:cNvSpPr txBox="1"/>
            <p:nvPr/>
          </p:nvSpPr>
          <p:spPr>
            <a:xfrm>
              <a:off x="1641585" y="1719860"/>
              <a:ext cx="5447935"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139700" marR="0" rtl="0" algn="l">
                <a:spcBef>
                  <a:spcPts val="0"/>
                </a:spcBef>
                <a:spcAft>
                  <a:spcPts val="0"/>
                </a:spcAft>
                <a:buNone/>
              </a:pPr>
              <a:r>
                <a:rPr lang="en-US" sz="2000">
                  <a:solidFill>
                    <a:schemeClr val="dk1"/>
                  </a:solidFill>
                  <a:latin typeface="Calibri"/>
                  <a:ea typeface="Calibri"/>
                  <a:cs typeface="Calibri"/>
                  <a:sym typeface="Calibri"/>
                </a:rPr>
                <a:t>판매용 상품을 구매하고 즉시 결제함.</a:t>
              </a:r>
              <a:r>
                <a:rPr lang="en-US" sz="2000">
                  <a:solidFill>
                    <a:schemeClr val="dk1"/>
                  </a:solidFill>
                  <a:latin typeface="Avenir"/>
                  <a:ea typeface="Avenir"/>
                  <a:cs typeface="Avenir"/>
                  <a:sym typeface="Avenir"/>
                </a:rPr>
                <a:t>.</a:t>
              </a:r>
              <a:endParaRPr/>
            </a:p>
          </p:txBody>
        </p:sp>
        <p:sp>
          <p:nvSpPr>
            <p:cNvPr id="1299" name="Google Shape;1299;p50"/>
            <p:cNvSpPr txBox="1"/>
            <p:nvPr/>
          </p:nvSpPr>
          <p:spPr>
            <a:xfrm>
              <a:off x="7089520" y="1719858"/>
              <a:ext cx="1520398" cy="745310"/>
            </a:xfrm>
            <a:prstGeom prst="rect">
              <a:avLst/>
            </a:prstGeom>
            <a:solidFill>
              <a:srgbClr val="E1EFD8"/>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Inventory</a:t>
              </a: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10,000</a:t>
              </a:r>
              <a:endParaRPr/>
            </a:p>
          </p:txBody>
        </p:sp>
        <p:sp>
          <p:nvSpPr>
            <p:cNvPr id="1300" name="Google Shape;1300;p50"/>
            <p:cNvSpPr txBox="1"/>
            <p:nvPr/>
          </p:nvSpPr>
          <p:spPr>
            <a:xfrm>
              <a:off x="8609917" y="1719858"/>
              <a:ext cx="1520398" cy="745310"/>
            </a:xfrm>
            <a:prstGeom prst="rect">
              <a:avLst/>
            </a:prstGeom>
            <a:solidFill>
              <a:srgbClr val="FBE4D4"/>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Cash</a:t>
              </a:r>
              <a:endParaRPr b="1" sz="1600">
                <a:solidFill>
                  <a:srgbClr val="BFBFBF"/>
                </a:solidFill>
                <a:latin typeface="Avenir"/>
                <a:ea typeface="Avenir"/>
                <a:cs typeface="Avenir"/>
                <a:sym typeface="Aveni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10,000</a:t>
              </a:r>
              <a:endParaRPr/>
            </a:p>
          </p:txBody>
        </p:sp>
        <p:sp>
          <p:nvSpPr>
            <p:cNvPr id="1301" name="Google Shape;1301;p50"/>
            <p:cNvSpPr txBox="1"/>
            <p:nvPr/>
          </p:nvSpPr>
          <p:spPr>
            <a:xfrm>
              <a:off x="926134" y="1719856"/>
              <a:ext cx="715451"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5</a:t>
              </a:r>
              <a:endParaRPr/>
            </a:p>
          </p:txBody>
        </p:sp>
      </p:grpSp>
      <p:sp>
        <p:nvSpPr>
          <p:cNvPr id="1302" name="Google Shape;1302;p50"/>
          <p:cNvSpPr txBox="1"/>
          <p:nvPr/>
        </p:nvSpPr>
        <p:spPr>
          <a:xfrm>
            <a:off x="8179227" y="5295227"/>
            <a:ext cx="1683070" cy="756000"/>
          </a:xfrm>
          <a:prstGeom prst="rect">
            <a:avLst/>
          </a:prstGeom>
          <a:solidFill>
            <a:srgbClr val="548135"/>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10,000</a:t>
            </a:r>
            <a:endParaRPr/>
          </a:p>
        </p:txBody>
      </p:sp>
      <p:sp>
        <p:nvSpPr>
          <p:cNvPr id="1303" name="Google Shape;1303;p50"/>
          <p:cNvSpPr txBox="1"/>
          <p:nvPr/>
        </p:nvSpPr>
        <p:spPr>
          <a:xfrm>
            <a:off x="9862297" y="5299340"/>
            <a:ext cx="1683070" cy="756000"/>
          </a:xfrm>
          <a:prstGeom prst="rect">
            <a:avLst/>
          </a:prstGeom>
          <a:solidFill>
            <a:schemeClr val="accent2"/>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10,000</a:t>
            </a:r>
            <a:endParaRPr/>
          </a:p>
        </p:txBody>
      </p:sp>
      <p:sp>
        <p:nvSpPr>
          <p:cNvPr id="1304" name="Google Shape;1304;p50"/>
          <p:cNvSpPr/>
          <p:nvPr/>
        </p:nvSpPr>
        <p:spPr>
          <a:xfrm rot="10800000">
            <a:off x="153289" y="837337"/>
            <a:ext cx="950259" cy="1037381"/>
          </a:xfrm>
          <a:prstGeom prst="downArrow">
            <a:avLst>
              <a:gd fmla="val 50000" name="adj1"/>
              <a:gd fmla="val 50000" name="adj2"/>
            </a:avLst>
          </a:prstGeom>
          <a:solidFill>
            <a:schemeClr val="accent6">
              <a:alpha val="77647"/>
            </a:schemeClr>
          </a:solidFill>
          <a:ln>
            <a:noFill/>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05" name="Google Shape;1305;p50"/>
          <p:cNvSpPr/>
          <p:nvPr/>
        </p:nvSpPr>
        <p:spPr>
          <a:xfrm>
            <a:off x="154198" y="1922421"/>
            <a:ext cx="950259" cy="1037381"/>
          </a:xfrm>
          <a:prstGeom prst="downArrow">
            <a:avLst>
              <a:gd fmla="val 50000" name="adj1"/>
              <a:gd fmla="val 50000" name="adj2"/>
            </a:avLst>
          </a:prstGeom>
          <a:solidFill>
            <a:schemeClr val="accent2">
              <a:alpha val="77647"/>
            </a:schemeClr>
          </a:solidFill>
          <a:ln>
            <a:noFill/>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Tree>
  </p:cSld>
  <p:clrMapOvr>
    <a:masterClrMapping/>
  </p:clrMapOvr>
  <mc:AlternateContent>
    <mc:Choice Requires="p14">
      <p:transition spd="slow" p14:dur="700">
        <p:fade/>
      </p:transition>
    </mc:Choice>
    <mc:Fallback>
      <p:transition spd="slow">
        <p:fade/>
      </p:transition>
    </mc:Fallback>
  </mc:AlternateContent>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afterEffect" presetClass="exit" presetID="10" presetSubtype="0">
                                  <p:stCondLst>
                                    <p:cond delay="0"/>
                                  </p:stCondLst>
                                  <p:childTnLst>
                                    <p:animEffect filter="fade" transition="out">
                                      <p:cBhvr>
                                        <p:cTn dur="1000"/>
                                        <p:tgtEl>
                                          <p:spTgt spid="1303"/>
                                        </p:tgtEl>
                                      </p:cBhvr>
                                    </p:animEffect>
                                    <p:set>
                                      <p:cBhvr>
                                        <p:cTn dur="1" fill="hold">
                                          <p:stCondLst>
                                            <p:cond delay="1000"/>
                                          </p:stCondLst>
                                        </p:cTn>
                                        <p:tgtEl>
                                          <p:spTgt spid="1303"/>
                                        </p:tgtEl>
                                        <p:attrNameLst>
                                          <p:attrName>style.visibility</p:attrName>
                                        </p:attrNameLst>
                                      </p:cBhvr>
                                      <p:to>
                                        <p:strVal val="hidden"/>
                                      </p:to>
                                    </p:set>
                                  </p:childTnLst>
                                </p:cTn>
                              </p:par>
                              <p:par>
                                <p:cTn fill="hold" nodeType="withEffect" presetClass="entr" presetID="10" presetSubtype="0">
                                  <p:stCondLst>
                                    <p:cond delay="0"/>
                                  </p:stCondLst>
                                  <p:childTnLst>
                                    <p:set>
                                      <p:cBhvr>
                                        <p:cTn dur="1" fill="hold">
                                          <p:stCondLst>
                                            <p:cond delay="0"/>
                                          </p:stCondLst>
                                        </p:cTn>
                                        <p:tgtEl>
                                          <p:spTgt spid="1253"/>
                                        </p:tgtEl>
                                        <p:attrNameLst>
                                          <p:attrName>style.visibility</p:attrName>
                                        </p:attrNameLst>
                                      </p:cBhvr>
                                      <p:to>
                                        <p:strVal val="visible"/>
                                      </p:to>
                                    </p:set>
                                    <p:animEffect filter="fade" transition="in">
                                      <p:cBhvr>
                                        <p:cTn dur="1000"/>
                                        <p:tgtEl>
                                          <p:spTgt spid="1253"/>
                                        </p:tgtEl>
                                      </p:cBhvr>
                                    </p:animEffect>
                                  </p:childTnLst>
                                </p:cTn>
                              </p:par>
                              <p:par>
                                <p:cTn fill="hold" nodeType="withEffect" presetClass="entr" presetID="10" presetSubtype="0">
                                  <p:stCondLst>
                                    <p:cond delay="0"/>
                                  </p:stCondLst>
                                  <p:childTnLst>
                                    <p:set>
                                      <p:cBhvr>
                                        <p:cTn dur="1" fill="hold">
                                          <p:stCondLst>
                                            <p:cond delay="0"/>
                                          </p:stCondLst>
                                        </p:cTn>
                                        <p:tgtEl>
                                          <p:spTgt spid="1238"/>
                                        </p:tgtEl>
                                        <p:attrNameLst>
                                          <p:attrName>style.visibility</p:attrName>
                                        </p:attrNameLst>
                                      </p:cBhvr>
                                      <p:to>
                                        <p:strVal val="visible"/>
                                      </p:to>
                                    </p:set>
                                    <p:animEffect filter="fade" transition="in">
                                      <p:cBhvr>
                                        <p:cTn dur="1000"/>
                                        <p:tgtEl>
                                          <p:spTgt spid="1238"/>
                                        </p:tgtEl>
                                      </p:cBhvr>
                                    </p:animEffect>
                                  </p:childTnLst>
                                </p:cTn>
                              </p:par>
                              <p:par>
                                <p:cTn fill="hold" nodeType="withEffect" presetClass="entr" presetID="10" presetSubtype="0">
                                  <p:stCondLst>
                                    <p:cond delay="0"/>
                                  </p:stCondLst>
                                  <p:childTnLst>
                                    <p:set>
                                      <p:cBhvr>
                                        <p:cTn dur="1" fill="hold">
                                          <p:stCondLst>
                                            <p:cond delay="0"/>
                                          </p:stCondLst>
                                        </p:cTn>
                                        <p:tgtEl>
                                          <p:spTgt spid="1236"/>
                                        </p:tgtEl>
                                        <p:attrNameLst>
                                          <p:attrName>style.visibility</p:attrName>
                                        </p:attrNameLst>
                                      </p:cBhvr>
                                      <p:to>
                                        <p:strVal val="visible"/>
                                      </p:to>
                                    </p:set>
                                    <p:animEffect filter="fade" transition="in">
                                      <p:cBhvr>
                                        <p:cTn dur="1000"/>
                                        <p:tgtEl>
                                          <p:spTgt spid="123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230"/>
                                        </p:tgtEl>
                                        <p:attrNameLst>
                                          <p:attrName>style.visibility</p:attrName>
                                        </p:attrNameLst>
                                      </p:cBhvr>
                                      <p:to>
                                        <p:strVal val="visible"/>
                                      </p:to>
                                    </p:set>
                                    <p:animEffect filter="fade" transition="in">
                                      <p:cBhvr>
                                        <p:cTn dur="500"/>
                                        <p:tgtEl>
                                          <p:spTgt spid="1230"/>
                                        </p:tgtEl>
                                      </p:cBhvr>
                                    </p:animEffect>
                                  </p:childTnLst>
                                </p:cTn>
                              </p:par>
                              <p:par>
                                <p:cTn fill="hold" nodeType="withEffect" presetClass="entr" presetID="10" presetSubtype="0">
                                  <p:stCondLst>
                                    <p:cond delay="0"/>
                                  </p:stCondLst>
                                  <p:childTnLst>
                                    <p:set>
                                      <p:cBhvr>
                                        <p:cTn dur="1" fill="hold">
                                          <p:stCondLst>
                                            <p:cond delay="0"/>
                                          </p:stCondLst>
                                        </p:cTn>
                                        <p:tgtEl>
                                          <p:spTgt spid="1220"/>
                                        </p:tgtEl>
                                        <p:attrNameLst>
                                          <p:attrName>style.visibility</p:attrName>
                                        </p:attrNameLst>
                                      </p:cBhvr>
                                      <p:to>
                                        <p:strVal val="visible"/>
                                      </p:to>
                                    </p:set>
                                    <p:animEffect filter="fade" transition="in">
                                      <p:cBhvr>
                                        <p:cTn dur="500"/>
                                        <p:tgtEl>
                                          <p:spTgt spid="1220"/>
                                        </p:tgtEl>
                                      </p:cBhvr>
                                    </p:animEffect>
                                  </p:childTnLst>
                                </p:cTn>
                              </p:par>
                            </p:childTnLst>
                          </p:cTn>
                        </p:par>
                        <p:par>
                          <p:cTn fill="hold">
                            <p:stCondLst>
                              <p:cond delay="500"/>
                            </p:stCondLst>
                            <p:childTnLst>
                              <p:par>
                                <p:cTn fill="hold" nodeType="afterEffect" presetClass="exit" presetID="10" presetSubtype="0">
                                  <p:stCondLst>
                                    <p:cond delay="0"/>
                                  </p:stCondLst>
                                  <p:childTnLst>
                                    <p:animEffect filter="fade" transition="out">
                                      <p:cBhvr>
                                        <p:cTn dur="1000"/>
                                        <p:tgtEl>
                                          <p:spTgt spid="1302"/>
                                        </p:tgtEl>
                                      </p:cBhvr>
                                    </p:animEffect>
                                    <p:set>
                                      <p:cBhvr>
                                        <p:cTn dur="1" fill="hold">
                                          <p:stCondLst>
                                            <p:cond delay="1000"/>
                                          </p:stCondLst>
                                        </p:cTn>
                                        <p:tgtEl>
                                          <p:spTgt spid="1302"/>
                                        </p:tgtEl>
                                        <p:attrNameLst>
                                          <p:attrName>style.visibility</p:attrName>
                                        </p:attrNameLst>
                                      </p:cBhvr>
                                      <p:to>
                                        <p:strVal val="hidden"/>
                                      </p:to>
                                    </p:set>
                                  </p:childTnLst>
                                </p:cTn>
                              </p:par>
                              <p:par>
                                <p:cTn fill="hold" nodeType="withEffect" presetClass="entr" presetID="10" presetSubtype="0">
                                  <p:stCondLst>
                                    <p:cond delay="0"/>
                                  </p:stCondLst>
                                  <p:childTnLst>
                                    <p:set>
                                      <p:cBhvr>
                                        <p:cTn dur="1" fill="hold">
                                          <p:stCondLst>
                                            <p:cond delay="0"/>
                                          </p:stCondLst>
                                        </p:cTn>
                                        <p:tgtEl>
                                          <p:spTgt spid="1280"/>
                                        </p:tgtEl>
                                        <p:attrNameLst>
                                          <p:attrName>style.visibility</p:attrName>
                                        </p:attrNameLst>
                                      </p:cBhvr>
                                      <p:to>
                                        <p:strVal val="visible"/>
                                      </p:to>
                                    </p:set>
                                    <p:animEffect filter="fade" transition="in">
                                      <p:cBhvr>
                                        <p:cTn dur="1000"/>
                                        <p:tgtEl>
                                          <p:spTgt spid="1280"/>
                                        </p:tgtEl>
                                      </p:cBhvr>
                                    </p:animEffect>
                                  </p:childTnLst>
                                </p:cTn>
                              </p:par>
                              <p:par>
                                <p:cTn fill="hold" nodeType="withEffect" presetClass="entr" presetID="10" presetSubtype="0">
                                  <p:stCondLst>
                                    <p:cond delay="0"/>
                                  </p:stCondLst>
                                  <p:childTnLst>
                                    <p:set>
                                      <p:cBhvr>
                                        <p:cTn dur="1" fill="hold">
                                          <p:stCondLst>
                                            <p:cond delay="0"/>
                                          </p:stCondLst>
                                        </p:cTn>
                                        <p:tgtEl>
                                          <p:spTgt spid="1252"/>
                                        </p:tgtEl>
                                        <p:attrNameLst>
                                          <p:attrName>style.visibility</p:attrName>
                                        </p:attrNameLst>
                                      </p:cBhvr>
                                      <p:to>
                                        <p:strVal val="visible"/>
                                      </p:to>
                                    </p:set>
                                    <p:animEffect filter="fade" transition="in">
                                      <p:cBhvr>
                                        <p:cTn dur="1000"/>
                                        <p:tgtEl>
                                          <p:spTgt spid="1252"/>
                                        </p:tgtEl>
                                      </p:cBhvr>
                                    </p:animEffect>
                                  </p:childTnLst>
                                </p:cTn>
                              </p:par>
                              <p:par>
                                <p:cTn fill="hold" nodeType="withEffect" presetClass="entr" presetID="10" presetSubtype="0">
                                  <p:stCondLst>
                                    <p:cond delay="0"/>
                                  </p:stCondLst>
                                  <p:childTnLst>
                                    <p:set>
                                      <p:cBhvr>
                                        <p:cTn dur="1" fill="hold">
                                          <p:stCondLst>
                                            <p:cond delay="0"/>
                                          </p:stCondLst>
                                        </p:cTn>
                                        <p:tgtEl>
                                          <p:spTgt spid="1247"/>
                                        </p:tgtEl>
                                        <p:attrNameLst>
                                          <p:attrName>style.visibility</p:attrName>
                                        </p:attrNameLst>
                                      </p:cBhvr>
                                      <p:to>
                                        <p:strVal val="visible"/>
                                      </p:to>
                                    </p:set>
                                    <p:animEffect filter="fade" transition="in">
                                      <p:cBhvr>
                                        <p:cTn dur="1000"/>
                                        <p:tgtEl>
                                          <p:spTgt spid="124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04"/>
                                        </p:tgtEl>
                                        <p:attrNameLst>
                                          <p:attrName>style.visibility</p:attrName>
                                        </p:attrNameLst>
                                      </p:cBhvr>
                                      <p:to>
                                        <p:strVal val="visible"/>
                                      </p:to>
                                    </p:set>
                                    <p:animEffect filter="fade" transition="in">
                                      <p:cBhvr>
                                        <p:cTn dur="1000"/>
                                        <p:tgtEl>
                                          <p:spTgt spid="1304"/>
                                        </p:tgtEl>
                                      </p:cBhvr>
                                    </p:animEffect>
                                  </p:childTnLst>
                                </p:cTn>
                              </p:par>
                              <p:par>
                                <p:cTn fill="hold" nodeType="withEffect" presetClass="entr" presetID="10" presetSubtype="0">
                                  <p:stCondLst>
                                    <p:cond delay="0"/>
                                  </p:stCondLst>
                                  <p:childTnLst>
                                    <p:set>
                                      <p:cBhvr>
                                        <p:cTn dur="1" fill="hold">
                                          <p:stCondLst>
                                            <p:cond delay="0"/>
                                          </p:stCondLst>
                                        </p:cTn>
                                        <p:tgtEl>
                                          <p:spTgt spid="1305"/>
                                        </p:tgtEl>
                                        <p:attrNameLst>
                                          <p:attrName>style.visibility</p:attrName>
                                        </p:attrNameLst>
                                      </p:cBhvr>
                                      <p:to>
                                        <p:strVal val="visible"/>
                                      </p:to>
                                    </p:set>
                                    <p:animEffect filter="fade" transition="in">
                                      <p:cBhvr>
                                        <p:cTn dur="1000"/>
                                        <p:tgtEl>
                                          <p:spTgt spid="130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310" name="Shape 1310"/>
        <p:cNvGrpSpPr/>
        <p:nvPr/>
      </p:nvGrpSpPr>
      <p:grpSpPr>
        <a:xfrm>
          <a:off x="0" y="0"/>
          <a:ext cx="0" cy="0"/>
          <a:chOff x="0" y="0"/>
          <a:chExt cx="0" cy="0"/>
        </a:xfrm>
      </p:grpSpPr>
      <p:sp>
        <p:nvSpPr>
          <p:cNvPr id="1311" name="Google Shape;1311;p51"/>
          <p:cNvSpPr txBox="1"/>
          <p:nvPr/>
        </p:nvSpPr>
        <p:spPr>
          <a:xfrm>
            <a:off x="0" y="-2"/>
            <a:ext cx="12192000" cy="1080000"/>
          </a:xfrm>
          <a:prstGeom prst="rect">
            <a:avLst/>
          </a:prstGeom>
          <a:solidFill>
            <a:srgbClr val="521B93"/>
          </a:solidFill>
          <a:ln>
            <a:noFill/>
          </a:ln>
        </p:spPr>
        <p:txBody>
          <a:bodyPr anchorCtr="0" anchor="ctr" bIns="45700" lIns="91425" spcFirstLastPara="1" rIns="91425" wrap="square" tIns="45700">
            <a:noAutofit/>
          </a:bodyPr>
          <a:lstStyle/>
          <a:p>
            <a:pPr indent="0" lvl="0" marL="363538" marR="0" rtl="0" algn="l">
              <a:lnSpc>
                <a:spcPct val="120000"/>
              </a:lnSpc>
              <a:spcBef>
                <a:spcPts val="0"/>
              </a:spcBef>
              <a:spcAft>
                <a:spcPts val="0"/>
              </a:spcAft>
              <a:buNone/>
            </a:pPr>
            <a:r>
              <a:rPr b="1" lang="en-US" sz="4000">
                <a:solidFill>
                  <a:schemeClr val="accent4"/>
                </a:solidFill>
                <a:latin typeface="Avenir"/>
                <a:ea typeface="Avenir"/>
                <a:cs typeface="Avenir"/>
                <a:sym typeface="Avenir"/>
              </a:rPr>
              <a:t>4: Classic Transactions</a:t>
            </a:r>
            <a:endParaRPr/>
          </a:p>
        </p:txBody>
      </p:sp>
      <p:pic>
        <p:nvPicPr>
          <p:cNvPr id="1312" name="Google Shape;1312;p51"/>
          <p:cNvPicPr preferRelativeResize="0"/>
          <p:nvPr/>
        </p:nvPicPr>
        <p:blipFill rotWithShape="1">
          <a:blip r:embed="rId3">
            <a:alphaModFix/>
          </a:blip>
          <a:srcRect b="0" l="0" r="0" t="0"/>
          <a:stretch/>
        </p:blipFill>
        <p:spPr>
          <a:xfrm>
            <a:off x="2583598" y="1991460"/>
            <a:ext cx="7024804" cy="3871757"/>
          </a:xfrm>
          <a:prstGeom prst="rect">
            <a:avLst/>
          </a:prstGeom>
          <a:noFill/>
          <a:ln>
            <a:noFill/>
          </a:ln>
        </p:spPr>
      </p:pic>
      <p:sp>
        <p:nvSpPr>
          <p:cNvPr id="1313" name="Google Shape;1313;p51"/>
          <p:cNvSpPr/>
          <p:nvPr/>
        </p:nvSpPr>
        <p:spPr>
          <a:xfrm rot="10800000">
            <a:off x="3523786" y="2697463"/>
            <a:ext cx="1750318" cy="2499004"/>
          </a:xfrm>
          <a:prstGeom prst="downArrow">
            <a:avLst>
              <a:gd fmla="val 50000" name="adj1"/>
              <a:gd fmla="val 50000" name="adj2"/>
            </a:avLst>
          </a:prstGeom>
          <a:solidFill>
            <a:schemeClr val="accent6">
              <a:alpha val="77647"/>
            </a:schemeClr>
          </a:solidFill>
          <a:ln>
            <a:noFill/>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14" name="Google Shape;1314;p51"/>
          <p:cNvSpPr/>
          <p:nvPr/>
        </p:nvSpPr>
        <p:spPr>
          <a:xfrm rot="10800000">
            <a:off x="7099147" y="2697464"/>
            <a:ext cx="1750318" cy="2499004"/>
          </a:xfrm>
          <a:prstGeom prst="downArrow">
            <a:avLst>
              <a:gd fmla="val 50000" name="adj1"/>
              <a:gd fmla="val 50000" name="adj2"/>
            </a:avLst>
          </a:prstGeom>
          <a:solidFill>
            <a:schemeClr val="accent2">
              <a:alpha val="77647"/>
            </a:schemeClr>
          </a:solidFill>
          <a:ln>
            <a:noFill/>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Tree>
  </p:cSld>
  <p:clrMapOvr>
    <a:masterClrMapping/>
  </p:clrMapOvr>
  <mc:AlternateContent>
    <mc:Choice Requires="p14">
      <p:transition spd="slow" p14:dur="700">
        <p:fade/>
      </p:transition>
    </mc:Choice>
    <mc:Fallback>
      <p:transition spd="slow">
        <p:fade/>
      </p:transition>
    </mc:Fallback>
  </mc:AlternateContent>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13"/>
                                        </p:tgtEl>
                                        <p:attrNameLst>
                                          <p:attrName>style.visibility</p:attrName>
                                        </p:attrNameLst>
                                      </p:cBhvr>
                                      <p:to>
                                        <p:strVal val="visible"/>
                                      </p:to>
                                    </p:set>
                                    <p:animEffect filter="fade" transition="in">
                                      <p:cBhvr>
                                        <p:cTn dur="1000"/>
                                        <p:tgtEl>
                                          <p:spTgt spid="1313"/>
                                        </p:tgtEl>
                                      </p:cBhvr>
                                    </p:animEffect>
                                  </p:childTnLst>
                                </p:cTn>
                              </p:par>
                              <p:par>
                                <p:cTn fill="hold" nodeType="withEffect" presetClass="entr" presetID="10" presetSubtype="0">
                                  <p:stCondLst>
                                    <p:cond delay="0"/>
                                  </p:stCondLst>
                                  <p:childTnLst>
                                    <p:set>
                                      <p:cBhvr>
                                        <p:cTn dur="1" fill="hold">
                                          <p:stCondLst>
                                            <p:cond delay="0"/>
                                          </p:stCondLst>
                                        </p:cTn>
                                        <p:tgtEl>
                                          <p:spTgt spid="1314"/>
                                        </p:tgtEl>
                                        <p:attrNameLst>
                                          <p:attrName>style.visibility</p:attrName>
                                        </p:attrNameLst>
                                      </p:cBhvr>
                                      <p:to>
                                        <p:strVal val="visible"/>
                                      </p:to>
                                    </p:set>
                                    <p:animEffect filter="fade" transition="in">
                                      <p:cBhvr>
                                        <p:cTn dur="1000"/>
                                        <p:tgtEl>
                                          <p:spTgt spid="131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319" name="Shape 1319"/>
        <p:cNvGrpSpPr/>
        <p:nvPr/>
      </p:nvGrpSpPr>
      <p:grpSpPr>
        <a:xfrm>
          <a:off x="0" y="0"/>
          <a:ext cx="0" cy="0"/>
          <a:chOff x="0" y="0"/>
          <a:chExt cx="0" cy="0"/>
        </a:xfrm>
      </p:grpSpPr>
      <p:sp>
        <p:nvSpPr>
          <p:cNvPr id="1320" name="Google Shape;1320;p52"/>
          <p:cNvSpPr txBox="1"/>
          <p:nvPr/>
        </p:nvSpPr>
        <p:spPr>
          <a:xfrm>
            <a:off x="0" y="-2"/>
            <a:ext cx="12192000" cy="1080000"/>
          </a:xfrm>
          <a:prstGeom prst="rect">
            <a:avLst/>
          </a:prstGeom>
          <a:solidFill>
            <a:srgbClr val="521B93"/>
          </a:solidFill>
          <a:ln>
            <a:noFill/>
          </a:ln>
        </p:spPr>
        <p:txBody>
          <a:bodyPr anchorCtr="0" anchor="ctr" bIns="45700" lIns="91425" spcFirstLastPara="1" rIns="91425" wrap="square" tIns="45700">
            <a:noAutofit/>
          </a:bodyPr>
          <a:lstStyle/>
          <a:p>
            <a:pPr indent="0" lvl="0" marL="363538" marR="0" rtl="0" algn="l">
              <a:lnSpc>
                <a:spcPct val="120000"/>
              </a:lnSpc>
              <a:spcBef>
                <a:spcPts val="0"/>
              </a:spcBef>
              <a:spcAft>
                <a:spcPts val="0"/>
              </a:spcAft>
              <a:buNone/>
            </a:pPr>
            <a:r>
              <a:rPr b="1" lang="en-US" sz="4000">
                <a:solidFill>
                  <a:schemeClr val="accent4"/>
                </a:solidFill>
                <a:latin typeface="Avenir"/>
                <a:ea typeface="Avenir"/>
                <a:cs typeface="Avenir"/>
                <a:sym typeface="Avenir"/>
              </a:rPr>
              <a:t>4: Classic Transactions</a:t>
            </a:r>
            <a:endParaRPr/>
          </a:p>
        </p:txBody>
      </p:sp>
      <p:pic>
        <p:nvPicPr>
          <p:cNvPr id="1321" name="Google Shape;1321;p52"/>
          <p:cNvPicPr preferRelativeResize="0"/>
          <p:nvPr/>
        </p:nvPicPr>
        <p:blipFill rotWithShape="1">
          <a:blip r:embed="rId3">
            <a:alphaModFix/>
          </a:blip>
          <a:srcRect b="0" l="0" r="0" t="0"/>
          <a:stretch/>
        </p:blipFill>
        <p:spPr>
          <a:xfrm>
            <a:off x="2583598" y="1991460"/>
            <a:ext cx="7024804" cy="3871757"/>
          </a:xfrm>
          <a:prstGeom prst="rect">
            <a:avLst/>
          </a:prstGeom>
          <a:noFill/>
          <a:ln>
            <a:noFill/>
          </a:ln>
        </p:spPr>
      </p:pic>
      <p:sp>
        <p:nvSpPr>
          <p:cNvPr id="1322" name="Google Shape;1322;p52"/>
          <p:cNvSpPr/>
          <p:nvPr/>
        </p:nvSpPr>
        <p:spPr>
          <a:xfrm>
            <a:off x="7104240" y="2697463"/>
            <a:ext cx="1750318" cy="2499004"/>
          </a:xfrm>
          <a:prstGeom prst="downArrow">
            <a:avLst>
              <a:gd fmla="val 50000" name="adj1"/>
              <a:gd fmla="val 50000" name="adj2"/>
            </a:avLst>
          </a:prstGeom>
          <a:solidFill>
            <a:schemeClr val="accent6">
              <a:alpha val="77647"/>
            </a:schemeClr>
          </a:solidFill>
          <a:ln>
            <a:noFill/>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23" name="Google Shape;1323;p52"/>
          <p:cNvSpPr/>
          <p:nvPr/>
        </p:nvSpPr>
        <p:spPr>
          <a:xfrm>
            <a:off x="3523786" y="2697463"/>
            <a:ext cx="1750318" cy="2499004"/>
          </a:xfrm>
          <a:prstGeom prst="downArrow">
            <a:avLst>
              <a:gd fmla="val 50000" name="adj1"/>
              <a:gd fmla="val 50000" name="adj2"/>
            </a:avLst>
          </a:prstGeom>
          <a:solidFill>
            <a:schemeClr val="accent2">
              <a:alpha val="77647"/>
            </a:schemeClr>
          </a:solidFill>
          <a:ln>
            <a:noFill/>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Tree>
  </p:cSld>
  <p:clrMapOvr>
    <a:masterClrMapping/>
  </p:clrMapOvr>
  <mc:AlternateContent>
    <mc:Choice Requires="p14">
      <p:transition spd="slow" p14:dur="700">
        <p:fade/>
      </p:transition>
    </mc:Choice>
    <mc:Fallback>
      <p:transition spd="slow">
        <p:fade/>
      </p:transition>
    </mc:Fallback>
  </mc:AlternateContent>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22"/>
                                        </p:tgtEl>
                                        <p:attrNameLst>
                                          <p:attrName>style.visibility</p:attrName>
                                        </p:attrNameLst>
                                      </p:cBhvr>
                                      <p:to>
                                        <p:strVal val="visible"/>
                                      </p:to>
                                    </p:set>
                                    <p:animEffect filter="fade" transition="in">
                                      <p:cBhvr>
                                        <p:cTn dur="1000"/>
                                        <p:tgtEl>
                                          <p:spTgt spid="1322"/>
                                        </p:tgtEl>
                                      </p:cBhvr>
                                    </p:animEffect>
                                  </p:childTnLst>
                                </p:cTn>
                              </p:par>
                              <p:par>
                                <p:cTn fill="hold" nodeType="withEffect" presetClass="entr" presetID="10" presetSubtype="0">
                                  <p:stCondLst>
                                    <p:cond delay="0"/>
                                  </p:stCondLst>
                                  <p:childTnLst>
                                    <p:set>
                                      <p:cBhvr>
                                        <p:cTn dur="1" fill="hold">
                                          <p:stCondLst>
                                            <p:cond delay="0"/>
                                          </p:stCondLst>
                                        </p:cTn>
                                        <p:tgtEl>
                                          <p:spTgt spid="1323"/>
                                        </p:tgtEl>
                                        <p:attrNameLst>
                                          <p:attrName>style.visibility</p:attrName>
                                        </p:attrNameLst>
                                      </p:cBhvr>
                                      <p:to>
                                        <p:strVal val="visible"/>
                                      </p:to>
                                    </p:set>
                                    <p:animEffect filter="fade" transition="in">
                                      <p:cBhvr>
                                        <p:cTn dur="1000"/>
                                        <p:tgtEl>
                                          <p:spTgt spid="132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328" name="Shape 1328"/>
        <p:cNvGrpSpPr/>
        <p:nvPr/>
      </p:nvGrpSpPr>
      <p:grpSpPr>
        <a:xfrm>
          <a:off x="0" y="0"/>
          <a:ext cx="0" cy="0"/>
          <a:chOff x="0" y="0"/>
          <a:chExt cx="0" cy="0"/>
        </a:xfrm>
      </p:grpSpPr>
      <p:sp>
        <p:nvSpPr>
          <p:cNvPr id="1329" name="Google Shape;1329;p53"/>
          <p:cNvSpPr txBox="1"/>
          <p:nvPr/>
        </p:nvSpPr>
        <p:spPr>
          <a:xfrm>
            <a:off x="0" y="-2"/>
            <a:ext cx="12192000" cy="1080000"/>
          </a:xfrm>
          <a:prstGeom prst="rect">
            <a:avLst/>
          </a:prstGeom>
          <a:solidFill>
            <a:srgbClr val="521B93"/>
          </a:solidFill>
          <a:ln>
            <a:noFill/>
          </a:ln>
        </p:spPr>
        <p:txBody>
          <a:bodyPr anchorCtr="0" anchor="ctr" bIns="45700" lIns="91425" spcFirstLastPara="1" rIns="91425" wrap="square" tIns="45700">
            <a:noAutofit/>
          </a:bodyPr>
          <a:lstStyle/>
          <a:p>
            <a:pPr indent="0" lvl="0" marL="363538" marR="0" rtl="0" algn="l">
              <a:lnSpc>
                <a:spcPct val="120000"/>
              </a:lnSpc>
              <a:spcBef>
                <a:spcPts val="0"/>
              </a:spcBef>
              <a:spcAft>
                <a:spcPts val="0"/>
              </a:spcAft>
              <a:buNone/>
            </a:pPr>
            <a:r>
              <a:rPr b="1" lang="en-US" sz="4000">
                <a:solidFill>
                  <a:schemeClr val="accent4"/>
                </a:solidFill>
                <a:latin typeface="Avenir"/>
                <a:ea typeface="Avenir"/>
                <a:cs typeface="Avenir"/>
                <a:sym typeface="Avenir"/>
              </a:rPr>
              <a:t>4: Classic Transactions</a:t>
            </a:r>
            <a:endParaRPr/>
          </a:p>
        </p:txBody>
      </p:sp>
      <p:pic>
        <p:nvPicPr>
          <p:cNvPr id="1330" name="Google Shape;1330;p53"/>
          <p:cNvPicPr preferRelativeResize="0"/>
          <p:nvPr/>
        </p:nvPicPr>
        <p:blipFill rotWithShape="1">
          <a:blip r:embed="rId3">
            <a:alphaModFix/>
          </a:blip>
          <a:srcRect b="0" l="0" r="0" t="0"/>
          <a:stretch/>
        </p:blipFill>
        <p:spPr>
          <a:xfrm>
            <a:off x="2583598" y="1991460"/>
            <a:ext cx="7024804" cy="3871757"/>
          </a:xfrm>
          <a:prstGeom prst="rect">
            <a:avLst/>
          </a:prstGeom>
          <a:noFill/>
          <a:ln>
            <a:noFill/>
          </a:ln>
        </p:spPr>
      </p:pic>
      <p:sp>
        <p:nvSpPr>
          <p:cNvPr id="1331" name="Google Shape;1331;p53"/>
          <p:cNvSpPr/>
          <p:nvPr/>
        </p:nvSpPr>
        <p:spPr>
          <a:xfrm>
            <a:off x="4223753" y="2733025"/>
            <a:ext cx="1750318" cy="2499004"/>
          </a:xfrm>
          <a:prstGeom prst="downArrow">
            <a:avLst>
              <a:gd fmla="val 50000" name="adj1"/>
              <a:gd fmla="val 50000" name="adj2"/>
            </a:avLst>
          </a:prstGeom>
          <a:solidFill>
            <a:schemeClr val="accent2">
              <a:alpha val="77647"/>
            </a:schemeClr>
          </a:solidFill>
          <a:ln>
            <a:noFill/>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32" name="Google Shape;1332;p53"/>
          <p:cNvSpPr/>
          <p:nvPr/>
        </p:nvSpPr>
        <p:spPr>
          <a:xfrm rot="10800000">
            <a:off x="2777934" y="2677836"/>
            <a:ext cx="1750318" cy="2499004"/>
          </a:xfrm>
          <a:prstGeom prst="downArrow">
            <a:avLst>
              <a:gd fmla="val 50000" name="adj1"/>
              <a:gd fmla="val 50000" name="adj2"/>
            </a:avLst>
          </a:prstGeom>
          <a:solidFill>
            <a:schemeClr val="accent6">
              <a:alpha val="77647"/>
            </a:schemeClr>
          </a:solidFill>
          <a:ln>
            <a:noFill/>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Tree>
  </p:cSld>
  <p:clrMapOvr>
    <a:masterClrMapping/>
  </p:clrMapOvr>
  <mc:AlternateContent>
    <mc:Choice Requires="p14">
      <p:transition spd="slow" p14:dur="700">
        <p:fade/>
      </p:transition>
    </mc:Choice>
    <mc:Fallback>
      <p:transition spd="slow">
        <p:fade/>
      </p:transition>
    </mc:Fallback>
  </mc:AlternateContent>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32"/>
                                        </p:tgtEl>
                                        <p:attrNameLst>
                                          <p:attrName>style.visibility</p:attrName>
                                        </p:attrNameLst>
                                      </p:cBhvr>
                                      <p:to>
                                        <p:strVal val="visible"/>
                                      </p:to>
                                    </p:set>
                                    <p:animEffect filter="fade" transition="in">
                                      <p:cBhvr>
                                        <p:cTn dur="1000"/>
                                        <p:tgtEl>
                                          <p:spTgt spid="1332"/>
                                        </p:tgtEl>
                                      </p:cBhvr>
                                    </p:animEffect>
                                  </p:childTnLst>
                                </p:cTn>
                              </p:par>
                              <p:par>
                                <p:cTn fill="hold" nodeType="withEffect" presetClass="entr" presetID="10" presetSubtype="0">
                                  <p:stCondLst>
                                    <p:cond delay="0"/>
                                  </p:stCondLst>
                                  <p:childTnLst>
                                    <p:set>
                                      <p:cBhvr>
                                        <p:cTn dur="1" fill="hold">
                                          <p:stCondLst>
                                            <p:cond delay="0"/>
                                          </p:stCondLst>
                                        </p:cTn>
                                        <p:tgtEl>
                                          <p:spTgt spid="1331"/>
                                        </p:tgtEl>
                                        <p:attrNameLst>
                                          <p:attrName>style.visibility</p:attrName>
                                        </p:attrNameLst>
                                      </p:cBhvr>
                                      <p:to>
                                        <p:strVal val="visible"/>
                                      </p:to>
                                    </p:set>
                                    <p:animEffect filter="fade" transition="in">
                                      <p:cBhvr>
                                        <p:cTn dur="1000"/>
                                        <p:tgtEl>
                                          <p:spTgt spid="133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337" name="Shape 1337"/>
        <p:cNvGrpSpPr/>
        <p:nvPr/>
      </p:nvGrpSpPr>
      <p:grpSpPr>
        <a:xfrm>
          <a:off x="0" y="0"/>
          <a:ext cx="0" cy="0"/>
          <a:chOff x="0" y="0"/>
          <a:chExt cx="0" cy="0"/>
        </a:xfrm>
      </p:grpSpPr>
      <p:sp>
        <p:nvSpPr>
          <p:cNvPr id="1338" name="Google Shape;1338;p54"/>
          <p:cNvSpPr txBox="1"/>
          <p:nvPr/>
        </p:nvSpPr>
        <p:spPr>
          <a:xfrm>
            <a:off x="0" y="-2"/>
            <a:ext cx="12192000" cy="1080000"/>
          </a:xfrm>
          <a:prstGeom prst="rect">
            <a:avLst/>
          </a:prstGeom>
          <a:solidFill>
            <a:srgbClr val="521B93"/>
          </a:solidFill>
          <a:ln>
            <a:noFill/>
          </a:ln>
        </p:spPr>
        <p:txBody>
          <a:bodyPr anchorCtr="0" anchor="ctr" bIns="45700" lIns="91425" spcFirstLastPara="1" rIns="91425" wrap="square" tIns="45700">
            <a:noAutofit/>
          </a:bodyPr>
          <a:lstStyle/>
          <a:p>
            <a:pPr indent="0" lvl="0" marL="363538" marR="0" rtl="0" algn="l">
              <a:lnSpc>
                <a:spcPct val="120000"/>
              </a:lnSpc>
              <a:spcBef>
                <a:spcPts val="0"/>
              </a:spcBef>
              <a:spcAft>
                <a:spcPts val="0"/>
              </a:spcAft>
              <a:buNone/>
            </a:pPr>
            <a:r>
              <a:rPr b="1" lang="en-US" sz="4000">
                <a:solidFill>
                  <a:schemeClr val="accent4"/>
                </a:solidFill>
                <a:latin typeface="Avenir"/>
                <a:ea typeface="Avenir"/>
                <a:cs typeface="Avenir"/>
                <a:sym typeface="Avenir"/>
              </a:rPr>
              <a:t>4: Classic Transactions</a:t>
            </a:r>
            <a:endParaRPr/>
          </a:p>
        </p:txBody>
      </p:sp>
      <p:pic>
        <p:nvPicPr>
          <p:cNvPr id="1339" name="Google Shape;1339;p54"/>
          <p:cNvPicPr preferRelativeResize="0"/>
          <p:nvPr/>
        </p:nvPicPr>
        <p:blipFill rotWithShape="1">
          <a:blip r:embed="rId3">
            <a:alphaModFix/>
          </a:blip>
          <a:srcRect b="0" l="0" r="0" t="0"/>
          <a:stretch/>
        </p:blipFill>
        <p:spPr>
          <a:xfrm>
            <a:off x="2583598" y="1991460"/>
            <a:ext cx="7024804" cy="3871757"/>
          </a:xfrm>
          <a:prstGeom prst="rect">
            <a:avLst/>
          </a:prstGeom>
          <a:noFill/>
          <a:ln>
            <a:noFill/>
          </a:ln>
        </p:spPr>
      </p:pic>
      <p:sp>
        <p:nvSpPr>
          <p:cNvPr id="1340" name="Google Shape;1340;p54"/>
          <p:cNvSpPr/>
          <p:nvPr/>
        </p:nvSpPr>
        <p:spPr>
          <a:xfrm rot="10800000">
            <a:off x="7749957" y="2778197"/>
            <a:ext cx="1750318" cy="2499004"/>
          </a:xfrm>
          <a:prstGeom prst="downArrow">
            <a:avLst>
              <a:gd fmla="val 50000" name="adj1"/>
              <a:gd fmla="val 50000" name="adj2"/>
            </a:avLst>
          </a:prstGeom>
          <a:solidFill>
            <a:schemeClr val="accent2">
              <a:alpha val="77647"/>
            </a:schemeClr>
          </a:solidFill>
          <a:ln>
            <a:noFill/>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41" name="Google Shape;1341;p54"/>
          <p:cNvSpPr/>
          <p:nvPr/>
        </p:nvSpPr>
        <p:spPr>
          <a:xfrm>
            <a:off x="6324021" y="2778197"/>
            <a:ext cx="1750318" cy="2499004"/>
          </a:xfrm>
          <a:prstGeom prst="downArrow">
            <a:avLst>
              <a:gd fmla="val 50000" name="adj1"/>
              <a:gd fmla="val 50000" name="adj2"/>
            </a:avLst>
          </a:prstGeom>
          <a:solidFill>
            <a:schemeClr val="accent6">
              <a:alpha val="77647"/>
            </a:schemeClr>
          </a:solidFill>
          <a:ln>
            <a:noFill/>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Tree>
  </p:cSld>
  <p:clrMapOvr>
    <a:masterClrMapping/>
  </p:clrMapOvr>
  <mc:AlternateContent>
    <mc:Choice Requires="p14">
      <p:transition spd="slow" p14:dur="700">
        <p:fade/>
      </p:transition>
    </mc:Choice>
    <mc:Fallback>
      <p:transition spd="slow">
        <p:fade/>
      </p:transition>
    </mc:Fallback>
  </mc:AlternateContent>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41"/>
                                        </p:tgtEl>
                                        <p:attrNameLst>
                                          <p:attrName>style.visibility</p:attrName>
                                        </p:attrNameLst>
                                      </p:cBhvr>
                                      <p:to>
                                        <p:strVal val="visible"/>
                                      </p:to>
                                    </p:set>
                                    <p:animEffect filter="fade" transition="in">
                                      <p:cBhvr>
                                        <p:cTn dur="1000"/>
                                        <p:tgtEl>
                                          <p:spTgt spid="1341"/>
                                        </p:tgtEl>
                                      </p:cBhvr>
                                    </p:animEffect>
                                  </p:childTnLst>
                                </p:cTn>
                              </p:par>
                              <p:par>
                                <p:cTn fill="hold" nodeType="withEffect" presetClass="entr" presetID="10" presetSubtype="0">
                                  <p:stCondLst>
                                    <p:cond delay="0"/>
                                  </p:stCondLst>
                                  <p:childTnLst>
                                    <p:set>
                                      <p:cBhvr>
                                        <p:cTn dur="1" fill="hold">
                                          <p:stCondLst>
                                            <p:cond delay="0"/>
                                          </p:stCondLst>
                                        </p:cTn>
                                        <p:tgtEl>
                                          <p:spTgt spid="1340"/>
                                        </p:tgtEl>
                                        <p:attrNameLst>
                                          <p:attrName>style.visibility</p:attrName>
                                        </p:attrNameLst>
                                      </p:cBhvr>
                                      <p:to>
                                        <p:strVal val="visible"/>
                                      </p:to>
                                    </p:set>
                                    <p:animEffect filter="fade" transition="in">
                                      <p:cBhvr>
                                        <p:cTn dur="1000"/>
                                        <p:tgtEl>
                                          <p:spTgt spid="134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6" name="Shape 1346"/>
        <p:cNvGrpSpPr/>
        <p:nvPr/>
      </p:nvGrpSpPr>
      <p:grpSpPr>
        <a:xfrm>
          <a:off x="0" y="0"/>
          <a:ext cx="0" cy="0"/>
          <a:chOff x="0" y="0"/>
          <a:chExt cx="0" cy="0"/>
        </a:xfrm>
      </p:grpSpPr>
      <p:sp>
        <p:nvSpPr>
          <p:cNvPr id="1347" name="Google Shape;1347;p55"/>
          <p:cNvSpPr txBox="1"/>
          <p:nvPr/>
        </p:nvSpPr>
        <p:spPr>
          <a:xfrm>
            <a:off x="4187006" y="284371"/>
            <a:ext cx="3629520"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cxnSp>
        <p:nvCxnSpPr>
          <p:cNvPr id="1348" name="Google Shape;1348;p55"/>
          <p:cNvCxnSpPr/>
          <p:nvPr/>
        </p:nvCxnSpPr>
        <p:spPr>
          <a:xfrm>
            <a:off x="4316098" y="717845"/>
            <a:ext cx="3375212" cy="0"/>
          </a:xfrm>
          <a:prstGeom prst="straightConnector1">
            <a:avLst/>
          </a:prstGeom>
          <a:noFill/>
          <a:ln cap="flat" cmpd="sng" w="28575">
            <a:solidFill>
              <a:schemeClr val="accent1"/>
            </a:solidFill>
            <a:prstDash val="dot"/>
            <a:miter lim="800000"/>
            <a:headEnd len="sm" w="sm" type="none"/>
            <a:tailEnd len="sm" w="sm" type="none"/>
          </a:ln>
        </p:spPr>
      </p:cxnSp>
      <p:grpSp>
        <p:nvGrpSpPr>
          <p:cNvPr id="1349" name="Google Shape;1349;p55"/>
          <p:cNvGrpSpPr/>
          <p:nvPr/>
        </p:nvGrpSpPr>
        <p:grpSpPr>
          <a:xfrm>
            <a:off x="999639" y="2571411"/>
            <a:ext cx="10188969" cy="756004"/>
            <a:chOff x="926134" y="1719856"/>
            <a:chExt cx="9204181" cy="750147"/>
          </a:xfrm>
        </p:grpSpPr>
        <p:sp>
          <p:nvSpPr>
            <p:cNvPr id="1350" name="Google Shape;1350;p55"/>
            <p:cNvSpPr txBox="1"/>
            <p:nvPr/>
          </p:nvSpPr>
          <p:spPr>
            <a:xfrm>
              <a:off x="1641585" y="1719860"/>
              <a:ext cx="5447935"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139700" marR="0" rtl="0" algn="l">
                <a:spcBef>
                  <a:spcPts val="0"/>
                </a:spcBef>
                <a:spcAft>
                  <a:spcPts val="0"/>
                </a:spcAft>
                <a:buNone/>
              </a:pPr>
              <a:r>
                <a:rPr lang="en-US" sz="2000">
                  <a:solidFill>
                    <a:schemeClr val="dk1"/>
                  </a:solidFill>
                  <a:latin typeface="Calibri"/>
                  <a:ea typeface="Calibri"/>
                  <a:cs typeface="Calibri"/>
                  <a:sym typeface="Calibri"/>
                </a:rPr>
                <a:t>고객 A에게 첫 판매를 진행했고, 현장에서 현금으로 결제받아 은행에 입금함.</a:t>
              </a:r>
              <a:endParaRPr sz="2000">
                <a:solidFill>
                  <a:schemeClr val="dk1"/>
                </a:solidFill>
                <a:latin typeface="Avenir"/>
                <a:ea typeface="Avenir"/>
                <a:cs typeface="Avenir"/>
                <a:sym typeface="Avenir"/>
              </a:endParaRPr>
            </a:p>
          </p:txBody>
        </p:sp>
        <p:sp>
          <p:nvSpPr>
            <p:cNvPr id="1351" name="Google Shape;1351;p55"/>
            <p:cNvSpPr txBox="1"/>
            <p:nvPr/>
          </p:nvSpPr>
          <p:spPr>
            <a:xfrm>
              <a:off x="7089520" y="1719858"/>
              <a:ext cx="1520398" cy="745310"/>
            </a:xfrm>
            <a:prstGeom prst="rect">
              <a:avLst/>
            </a:prstGeom>
            <a:solidFill>
              <a:srgbClr val="E1EFD8"/>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Cash</a:t>
              </a: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700</a:t>
              </a:r>
              <a:endParaRPr/>
            </a:p>
          </p:txBody>
        </p:sp>
        <p:sp>
          <p:nvSpPr>
            <p:cNvPr id="1352" name="Google Shape;1352;p55"/>
            <p:cNvSpPr txBox="1"/>
            <p:nvPr/>
          </p:nvSpPr>
          <p:spPr>
            <a:xfrm>
              <a:off x="8609917" y="1719858"/>
              <a:ext cx="1520398" cy="745310"/>
            </a:xfrm>
            <a:prstGeom prst="rect">
              <a:avLst/>
            </a:prstGeom>
            <a:solidFill>
              <a:srgbClr val="FBE4D4"/>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Sales</a:t>
              </a:r>
              <a:endParaRPr b="1" sz="1600">
                <a:solidFill>
                  <a:srgbClr val="BFBFBF"/>
                </a:solidFill>
                <a:latin typeface="Avenir"/>
                <a:ea typeface="Avenir"/>
                <a:cs typeface="Avenir"/>
                <a:sym typeface="Aveni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700</a:t>
              </a:r>
              <a:endParaRPr/>
            </a:p>
          </p:txBody>
        </p:sp>
        <p:sp>
          <p:nvSpPr>
            <p:cNvPr id="1353" name="Google Shape;1353;p55"/>
            <p:cNvSpPr txBox="1"/>
            <p:nvPr/>
          </p:nvSpPr>
          <p:spPr>
            <a:xfrm>
              <a:off x="926134" y="1719856"/>
              <a:ext cx="715451"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6a</a:t>
              </a:r>
              <a:endParaRPr/>
            </a:p>
          </p:txBody>
        </p:sp>
      </p:grpSp>
      <p:sp>
        <p:nvSpPr>
          <p:cNvPr id="1354" name="Google Shape;1354;p55"/>
          <p:cNvSpPr txBox="1"/>
          <p:nvPr/>
        </p:nvSpPr>
        <p:spPr>
          <a:xfrm>
            <a:off x="7824336" y="2571411"/>
            <a:ext cx="1681200" cy="756000"/>
          </a:xfrm>
          <a:prstGeom prst="rect">
            <a:avLst/>
          </a:prstGeom>
          <a:solidFill>
            <a:srgbClr val="548135"/>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700</a:t>
            </a:r>
            <a:endParaRPr/>
          </a:p>
        </p:txBody>
      </p:sp>
      <p:sp>
        <p:nvSpPr>
          <p:cNvPr id="1355" name="Google Shape;1355;p55"/>
          <p:cNvSpPr txBox="1"/>
          <p:nvPr/>
        </p:nvSpPr>
        <p:spPr>
          <a:xfrm>
            <a:off x="9507406" y="2571411"/>
            <a:ext cx="1681200" cy="756000"/>
          </a:xfrm>
          <a:prstGeom prst="rect">
            <a:avLst/>
          </a:prstGeom>
          <a:solidFill>
            <a:schemeClr val="accent2"/>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700</a:t>
            </a:r>
            <a:endParaRPr/>
          </a:p>
        </p:txBody>
      </p:sp>
      <p:sp>
        <p:nvSpPr>
          <p:cNvPr id="1356" name="Google Shape;1356;p55"/>
          <p:cNvSpPr/>
          <p:nvPr/>
        </p:nvSpPr>
        <p:spPr>
          <a:xfrm>
            <a:off x="999641" y="1961030"/>
            <a:ext cx="2024679" cy="42011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2130">
                <a:solidFill>
                  <a:schemeClr val="dk1"/>
                </a:solidFill>
                <a:latin typeface="Avenir"/>
                <a:ea typeface="Avenir"/>
                <a:cs typeface="Avenir"/>
                <a:sym typeface="Avenir"/>
              </a:rPr>
              <a:t>4 February</a:t>
            </a:r>
            <a:endParaRPr sz="2130">
              <a:solidFill>
                <a:schemeClr val="dk1"/>
              </a:solidFill>
              <a:latin typeface="Avenir"/>
              <a:ea typeface="Avenir"/>
              <a:cs typeface="Avenir"/>
              <a:sym typeface="Avenir"/>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1" name="Shape 1361"/>
        <p:cNvGrpSpPr/>
        <p:nvPr/>
      </p:nvGrpSpPr>
      <p:grpSpPr>
        <a:xfrm>
          <a:off x="0" y="0"/>
          <a:ext cx="0" cy="0"/>
          <a:chOff x="0" y="0"/>
          <a:chExt cx="0" cy="0"/>
        </a:xfrm>
      </p:grpSpPr>
      <p:sp>
        <p:nvSpPr>
          <p:cNvPr id="1362" name="Google Shape;1362;p56"/>
          <p:cNvSpPr txBox="1"/>
          <p:nvPr/>
        </p:nvSpPr>
        <p:spPr>
          <a:xfrm>
            <a:off x="4187006" y="133386"/>
            <a:ext cx="3629520"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cxnSp>
        <p:nvCxnSpPr>
          <p:cNvPr id="1363" name="Google Shape;1363;p56"/>
          <p:cNvCxnSpPr/>
          <p:nvPr/>
        </p:nvCxnSpPr>
        <p:spPr>
          <a:xfrm>
            <a:off x="4316098" y="566860"/>
            <a:ext cx="3375212" cy="0"/>
          </a:xfrm>
          <a:prstGeom prst="straightConnector1">
            <a:avLst/>
          </a:prstGeom>
          <a:noFill/>
          <a:ln cap="flat" cmpd="sng" w="28575">
            <a:solidFill>
              <a:schemeClr val="accent1"/>
            </a:solidFill>
            <a:prstDash val="dot"/>
            <a:miter lim="800000"/>
            <a:headEnd len="sm" w="sm" type="none"/>
            <a:tailEnd len="sm" w="sm" type="none"/>
          </a:ln>
        </p:spPr>
      </p:cxnSp>
      <p:grpSp>
        <p:nvGrpSpPr>
          <p:cNvPr id="1364" name="Google Shape;1364;p56"/>
          <p:cNvGrpSpPr/>
          <p:nvPr/>
        </p:nvGrpSpPr>
        <p:grpSpPr>
          <a:xfrm>
            <a:off x="492858" y="773769"/>
            <a:ext cx="11291146" cy="5895963"/>
            <a:chOff x="492858" y="773769"/>
            <a:chExt cx="11291146" cy="5895963"/>
          </a:xfrm>
        </p:grpSpPr>
        <p:sp>
          <p:nvSpPr>
            <p:cNvPr id="1365" name="Google Shape;1365;p56"/>
            <p:cNvSpPr txBox="1"/>
            <p:nvPr/>
          </p:nvSpPr>
          <p:spPr>
            <a:xfrm>
              <a:off x="6227788" y="2623662"/>
              <a:ext cx="5556216" cy="1692844"/>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Equity</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1366" name="Google Shape;1366;p56"/>
            <p:cNvSpPr txBox="1"/>
            <p:nvPr/>
          </p:nvSpPr>
          <p:spPr>
            <a:xfrm>
              <a:off x="6410845" y="3135649"/>
              <a:ext cx="1544844" cy="770509"/>
            </a:xfrm>
            <a:prstGeom prst="rect">
              <a:avLst/>
            </a:prstGeom>
            <a:noFill/>
            <a:ln cap="flat" cmpd="sng" w="5715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ctr">
                <a:lnSpc>
                  <a:spcPct val="120000"/>
                </a:lnSpc>
                <a:spcBef>
                  <a:spcPts val="0"/>
                </a:spcBef>
                <a:spcAft>
                  <a:spcPts val="0"/>
                </a:spcAft>
                <a:buNone/>
              </a:pPr>
              <a:r>
                <a:rPr b="1" lang="en-US" sz="2200">
                  <a:solidFill>
                    <a:srgbClr val="942093"/>
                  </a:solidFill>
                  <a:latin typeface="Avenir"/>
                  <a:ea typeface="Avenir"/>
                  <a:cs typeface="Avenir"/>
                  <a:sym typeface="Avenir"/>
                </a:rPr>
                <a:t>Profit</a:t>
              </a:r>
              <a:endParaRPr/>
            </a:p>
          </p:txBody>
        </p:sp>
        <p:sp>
          <p:nvSpPr>
            <p:cNvPr id="1367" name="Google Shape;1367;p56"/>
            <p:cNvSpPr txBox="1"/>
            <p:nvPr/>
          </p:nvSpPr>
          <p:spPr>
            <a:xfrm>
              <a:off x="6227788" y="773769"/>
              <a:ext cx="5556216" cy="1702674"/>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Liabilities</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grpSp>
          <p:nvGrpSpPr>
            <p:cNvPr id="1368" name="Google Shape;1368;p56"/>
            <p:cNvGrpSpPr/>
            <p:nvPr/>
          </p:nvGrpSpPr>
          <p:grpSpPr>
            <a:xfrm>
              <a:off x="492858" y="3906158"/>
              <a:ext cx="11291146" cy="2763574"/>
              <a:chOff x="1354633" y="4399872"/>
              <a:chExt cx="9550931" cy="2121952"/>
            </a:xfrm>
          </p:grpSpPr>
          <p:sp>
            <p:nvSpPr>
              <p:cNvPr id="1369" name="Google Shape;1369;p56"/>
              <p:cNvSpPr txBox="1"/>
              <p:nvPr/>
            </p:nvSpPr>
            <p:spPr>
              <a:xfrm>
                <a:off x="1354633" y="4813260"/>
                <a:ext cx="9550931" cy="1708564"/>
              </a:xfrm>
              <a:prstGeom prst="rect">
                <a:avLst/>
              </a:prstGeom>
              <a:solidFill>
                <a:srgbClr val="FCECFB"/>
              </a:solidFill>
              <a:ln cap="flat" cmpd="sng" w="7620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b="1" lang="en-US" sz="2800">
                    <a:solidFill>
                      <a:schemeClr val="dk1"/>
                    </a:solidFill>
                    <a:latin typeface="Avenir"/>
                    <a:ea typeface="Avenir"/>
                    <a:cs typeface="Avenir"/>
                    <a:sym typeface="Avenir"/>
                  </a:rPr>
                  <a:t> </a:t>
                </a:r>
                <a:endParaRPr/>
              </a:p>
            </p:txBody>
          </p:sp>
          <p:sp>
            <p:nvSpPr>
              <p:cNvPr id="1370" name="Google Shape;1370;p56"/>
              <p:cNvSpPr txBox="1"/>
              <p:nvPr/>
            </p:nvSpPr>
            <p:spPr>
              <a:xfrm>
                <a:off x="6199863" y="4921166"/>
                <a:ext cx="4576976" cy="1495361"/>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Income</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1371" name="Google Shape;1371;p56"/>
              <p:cNvSpPr txBox="1"/>
              <p:nvPr/>
            </p:nvSpPr>
            <p:spPr>
              <a:xfrm>
                <a:off x="1481256" y="4921166"/>
                <a:ext cx="4552539" cy="1495361"/>
              </a:xfrm>
              <a:prstGeom prst="rect">
                <a:avLst/>
              </a:prstGeom>
              <a:solidFill>
                <a:srgbClr val="E1EFD8"/>
              </a:solid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None/>
                </a:pPr>
                <a:r>
                  <a:rPr b="1" lang="en-US" sz="2800">
                    <a:solidFill>
                      <a:srgbClr val="E1EFD8"/>
                    </a:solidFill>
                    <a:latin typeface="Avenir"/>
                    <a:ea typeface="Avenir"/>
                    <a:cs typeface="Avenir"/>
                    <a:sym typeface="Avenir"/>
                  </a:rPr>
                  <a:t>_</a:t>
                </a:r>
                <a:r>
                  <a:rPr b="1" lang="en-US" sz="2000">
                    <a:solidFill>
                      <a:schemeClr val="dk1"/>
                    </a:solidFill>
                    <a:latin typeface="Avenir"/>
                    <a:ea typeface="Avenir"/>
                    <a:cs typeface="Avenir"/>
                    <a:sym typeface="Avenir"/>
                  </a:rPr>
                  <a:t>Expenses</a:t>
                </a:r>
                <a:endParaRPr b="1" sz="2800">
                  <a:solidFill>
                    <a:schemeClr val="dk1"/>
                  </a:solidFill>
                  <a:latin typeface="Avenir"/>
                  <a:ea typeface="Avenir"/>
                  <a:cs typeface="Avenir"/>
                  <a:sym typeface="Avenir"/>
                </a:endParaRPr>
              </a:p>
            </p:txBody>
          </p:sp>
          <p:cxnSp>
            <p:nvCxnSpPr>
              <p:cNvPr id="1372" name="Google Shape;1372;p56"/>
              <p:cNvCxnSpPr>
                <a:stCxn id="1366" idx="2"/>
              </p:cNvCxnSpPr>
              <p:nvPr/>
            </p:nvCxnSpPr>
            <p:spPr>
              <a:xfrm>
                <a:off x="7013902" y="4399872"/>
                <a:ext cx="7500" cy="434700"/>
              </a:xfrm>
              <a:prstGeom prst="straightConnector1">
                <a:avLst/>
              </a:prstGeom>
              <a:noFill/>
              <a:ln cap="flat" cmpd="sng" w="76200">
                <a:solidFill>
                  <a:srgbClr val="942093"/>
                </a:solidFill>
                <a:prstDash val="solid"/>
                <a:miter lim="800000"/>
                <a:headEnd len="sm" w="sm" type="none"/>
                <a:tailEnd len="sm" w="sm" type="none"/>
              </a:ln>
            </p:spPr>
          </p:cxnSp>
        </p:grpSp>
        <p:sp>
          <p:nvSpPr>
            <p:cNvPr id="1373" name="Google Shape;1373;p56"/>
            <p:cNvSpPr txBox="1"/>
            <p:nvPr/>
          </p:nvSpPr>
          <p:spPr>
            <a:xfrm>
              <a:off x="492858" y="773769"/>
              <a:ext cx="5544457" cy="3542737"/>
            </a:xfrm>
            <a:prstGeom prst="rect">
              <a:avLst/>
            </a:prstGeom>
            <a:solidFill>
              <a:srgbClr val="E1EFD8"/>
            </a:solid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None/>
              </a:pPr>
              <a:r>
                <a:rPr b="1" lang="en-US" sz="2800">
                  <a:solidFill>
                    <a:srgbClr val="E1EFD8"/>
                  </a:solidFill>
                  <a:latin typeface="Avenir"/>
                  <a:ea typeface="Avenir"/>
                  <a:cs typeface="Avenir"/>
                  <a:sym typeface="Avenir"/>
                </a:rPr>
                <a:t>_</a:t>
              </a:r>
              <a:r>
                <a:rPr b="1" lang="en-US" sz="2000">
                  <a:solidFill>
                    <a:schemeClr val="dk1"/>
                  </a:solidFill>
                  <a:latin typeface="Avenir"/>
                  <a:ea typeface="Avenir"/>
                  <a:cs typeface="Avenir"/>
                  <a:sym typeface="Avenir"/>
                </a:rPr>
                <a:t>Assets</a:t>
              </a:r>
              <a:endParaRPr b="1" sz="2800">
                <a:solidFill>
                  <a:schemeClr val="dk1"/>
                </a:solidFill>
                <a:latin typeface="Avenir"/>
                <a:ea typeface="Avenir"/>
                <a:cs typeface="Avenir"/>
                <a:sym typeface="Avenir"/>
              </a:endParaRPr>
            </a:p>
          </p:txBody>
        </p:sp>
      </p:grpSp>
      <p:grpSp>
        <p:nvGrpSpPr>
          <p:cNvPr id="1374" name="Google Shape;1374;p56"/>
          <p:cNvGrpSpPr/>
          <p:nvPr/>
        </p:nvGrpSpPr>
        <p:grpSpPr>
          <a:xfrm>
            <a:off x="4248000" y="2850495"/>
            <a:ext cx="1620000" cy="1116000"/>
            <a:chOff x="3810000" y="2381250"/>
            <a:chExt cx="1390650" cy="1230631"/>
          </a:xfrm>
        </p:grpSpPr>
        <p:sp>
          <p:nvSpPr>
            <p:cNvPr id="1375" name="Google Shape;1375;p56"/>
            <p:cNvSpPr/>
            <p:nvPr/>
          </p:nvSpPr>
          <p:spPr>
            <a:xfrm flipH="1">
              <a:off x="4505325" y="2381250"/>
              <a:ext cx="695325" cy="1230631"/>
            </a:xfrm>
            <a:prstGeom prst="corner">
              <a:avLst>
                <a:gd fmla="val 7073" name="adj1"/>
                <a:gd fmla="val 694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1376" name="Google Shape;1376;p56"/>
            <p:cNvSpPr/>
            <p:nvPr/>
          </p:nvSpPr>
          <p:spPr>
            <a:xfrm>
              <a:off x="3810000" y="2381250"/>
              <a:ext cx="695325" cy="1230631"/>
            </a:xfrm>
            <a:prstGeom prst="corner">
              <a:avLst>
                <a:gd fmla="val 7073" name="adj1"/>
                <a:gd fmla="val 694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1377" name="Google Shape;1377;p56"/>
          <p:cNvGrpSpPr/>
          <p:nvPr/>
        </p:nvGrpSpPr>
        <p:grpSpPr>
          <a:xfrm>
            <a:off x="2458800" y="2476442"/>
            <a:ext cx="1620000" cy="1482255"/>
            <a:chOff x="671549" y="1402787"/>
            <a:chExt cx="1620000" cy="2549293"/>
          </a:xfrm>
        </p:grpSpPr>
        <p:sp>
          <p:nvSpPr>
            <p:cNvPr id="1378" name="Google Shape;1378;p56"/>
            <p:cNvSpPr/>
            <p:nvPr/>
          </p:nvSpPr>
          <p:spPr>
            <a:xfrm flipH="1">
              <a:off x="1481549" y="1402787"/>
              <a:ext cx="810000" cy="2549293"/>
            </a:xfrm>
            <a:prstGeom prst="corner">
              <a:avLst>
                <a:gd fmla="val 6497" name="adj1"/>
                <a:gd fmla="val 694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1800">
                <a:solidFill>
                  <a:schemeClr val="lt1"/>
                </a:solidFill>
                <a:latin typeface="Avenir"/>
                <a:ea typeface="Avenir"/>
                <a:cs typeface="Avenir"/>
                <a:sym typeface="Avenir"/>
              </a:endParaRPr>
            </a:p>
          </p:txBody>
        </p:sp>
        <p:sp>
          <p:nvSpPr>
            <p:cNvPr id="1379" name="Google Shape;1379;p56"/>
            <p:cNvSpPr/>
            <p:nvPr/>
          </p:nvSpPr>
          <p:spPr>
            <a:xfrm>
              <a:off x="671549" y="1402787"/>
              <a:ext cx="810000" cy="2549293"/>
            </a:xfrm>
            <a:prstGeom prst="corner">
              <a:avLst>
                <a:gd fmla="val 6497" name="adj1"/>
                <a:gd fmla="val 7336"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1800">
                <a:solidFill>
                  <a:schemeClr val="lt1"/>
                </a:solidFill>
                <a:latin typeface="Avenir"/>
                <a:ea typeface="Avenir"/>
                <a:cs typeface="Avenir"/>
                <a:sym typeface="Avenir"/>
              </a:endParaRPr>
            </a:p>
          </p:txBody>
        </p:sp>
      </p:grpSp>
      <p:grpSp>
        <p:nvGrpSpPr>
          <p:cNvPr id="1380" name="Google Shape;1380;p56"/>
          <p:cNvGrpSpPr/>
          <p:nvPr/>
        </p:nvGrpSpPr>
        <p:grpSpPr>
          <a:xfrm>
            <a:off x="673200" y="3340800"/>
            <a:ext cx="1620000" cy="613673"/>
            <a:chOff x="3810000" y="2381250"/>
            <a:chExt cx="1390650" cy="1230631"/>
          </a:xfrm>
        </p:grpSpPr>
        <p:sp>
          <p:nvSpPr>
            <p:cNvPr id="1381" name="Google Shape;1381;p56"/>
            <p:cNvSpPr/>
            <p:nvPr/>
          </p:nvSpPr>
          <p:spPr>
            <a:xfrm flipH="1">
              <a:off x="4505325"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1382" name="Google Shape;1382;p56"/>
            <p:cNvSpPr/>
            <p:nvPr/>
          </p:nvSpPr>
          <p:spPr>
            <a:xfrm>
              <a:off x="3810000"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sp>
        <p:nvSpPr>
          <p:cNvPr id="1383" name="Google Shape;1383;p56"/>
          <p:cNvSpPr txBox="1"/>
          <p:nvPr/>
        </p:nvSpPr>
        <p:spPr>
          <a:xfrm>
            <a:off x="2551146" y="3924000"/>
            <a:ext cx="1393331"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Cash at bank</a:t>
            </a:r>
            <a:endParaRPr/>
          </a:p>
        </p:txBody>
      </p:sp>
      <p:sp>
        <p:nvSpPr>
          <p:cNvPr id="1384" name="Google Shape;1384;p56"/>
          <p:cNvSpPr txBox="1"/>
          <p:nvPr/>
        </p:nvSpPr>
        <p:spPr>
          <a:xfrm>
            <a:off x="4292494" y="3924000"/>
            <a:ext cx="1531779"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Inventory</a:t>
            </a:r>
            <a:endParaRPr/>
          </a:p>
        </p:txBody>
      </p:sp>
      <p:sp>
        <p:nvSpPr>
          <p:cNvPr id="1385" name="Google Shape;1385;p56"/>
          <p:cNvSpPr txBox="1"/>
          <p:nvPr/>
        </p:nvSpPr>
        <p:spPr>
          <a:xfrm>
            <a:off x="661400" y="3924000"/>
            <a:ext cx="1647322"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Equipment</a:t>
            </a:r>
            <a:endParaRPr/>
          </a:p>
        </p:txBody>
      </p:sp>
      <p:sp>
        <p:nvSpPr>
          <p:cNvPr id="1386" name="Google Shape;1386;p56"/>
          <p:cNvSpPr txBox="1"/>
          <p:nvPr/>
        </p:nvSpPr>
        <p:spPr>
          <a:xfrm>
            <a:off x="6295758" y="6192000"/>
            <a:ext cx="1842786"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Revenue (sales)</a:t>
            </a:r>
            <a:endParaRPr/>
          </a:p>
        </p:txBody>
      </p:sp>
      <p:sp>
        <p:nvSpPr>
          <p:cNvPr id="1387" name="Google Shape;1387;p56"/>
          <p:cNvSpPr txBox="1"/>
          <p:nvPr/>
        </p:nvSpPr>
        <p:spPr>
          <a:xfrm>
            <a:off x="10028967" y="2029411"/>
            <a:ext cx="1593685"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Bank loan</a:t>
            </a:r>
            <a:endParaRPr/>
          </a:p>
        </p:txBody>
      </p:sp>
      <p:sp>
        <p:nvSpPr>
          <p:cNvPr id="1388" name="Google Shape;1388;p56"/>
          <p:cNvSpPr txBox="1"/>
          <p:nvPr/>
        </p:nvSpPr>
        <p:spPr>
          <a:xfrm>
            <a:off x="3184560" y="3614709"/>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30,000</a:t>
            </a:r>
            <a:endParaRPr/>
          </a:p>
        </p:txBody>
      </p:sp>
      <p:sp>
        <p:nvSpPr>
          <p:cNvPr id="1389" name="Google Shape;1389;p56"/>
          <p:cNvSpPr txBox="1"/>
          <p:nvPr/>
        </p:nvSpPr>
        <p:spPr>
          <a:xfrm>
            <a:off x="3184560" y="3344709"/>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20,000</a:t>
            </a:r>
            <a:endParaRPr/>
          </a:p>
        </p:txBody>
      </p:sp>
      <p:sp>
        <p:nvSpPr>
          <p:cNvPr id="1390" name="Google Shape;1390;p56"/>
          <p:cNvSpPr txBox="1"/>
          <p:nvPr/>
        </p:nvSpPr>
        <p:spPr>
          <a:xfrm>
            <a:off x="3298373" y="3074709"/>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5,000</a:t>
            </a:r>
            <a:endParaRPr/>
          </a:p>
        </p:txBody>
      </p:sp>
      <p:sp>
        <p:nvSpPr>
          <p:cNvPr id="1391" name="Google Shape;1391;p56"/>
          <p:cNvSpPr txBox="1"/>
          <p:nvPr/>
        </p:nvSpPr>
        <p:spPr>
          <a:xfrm>
            <a:off x="3469894" y="2534709"/>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700</a:t>
            </a:r>
            <a:endParaRPr/>
          </a:p>
        </p:txBody>
      </p:sp>
      <p:sp>
        <p:nvSpPr>
          <p:cNvPr id="1392" name="Google Shape;1392;p56"/>
          <p:cNvSpPr txBox="1"/>
          <p:nvPr/>
        </p:nvSpPr>
        <p:spPr>
          <a:xfrm>
            <a:off x="3184560" y="2804709"/>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10,000</a:t>
            </a:r>
            <a:endParaRPr/>
          </a:p>
        </p:txBody>
      </p:sp>
      <p:sp>
        <p:nvSpPr>
          <p:cNvPr id="1393" name="Google Shape;1393;p56"/>
          <p:cNvSpPr txBox="1"/>
          <p:nvPr/>
        </p:nvSpPr>
        <p:spPr>
          <a:xfrm>
            <a:off x="10026434" y="3924000"/>
            <a:ext cx="1757569"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contributed capital</a:t>
            </a:r>
            <a:endParaRPr/>
          </a:p>
        </p:txBody>
      </p:sp>
      <p:sp>
        <p:nvSpPr>
          <p:cNvPr id="1394" name="Google Shape;1394;p56"/>
          <p:cNvSpPr/>
          <p:nvPr/>
        </p:nvSpPr>
        <p:spPr>
          <a:xfrm rot="10800000">
            <a:off x="3011371" y="258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95" name="Google Shape;1395;p56"/>
          <p:cNvSpPr/>
          <p:nvPr/>
        </p:nvSpPr>
        <p:spPr>
          <a:xfrm>
            <a:off x="3011371" y="28767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96" name="Google Shape;1396;p56"/>
          <p:cNvSpPr/>
          <p:nvPr/>
        </p:nvSpPr>
        <p:spPr>
          <a:xfrm>
            <a:off x="3011371" y="31467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97" name="Google Shape;1397;p56"/>
          <p:cNvSpPr/>
          <p:nvPr/>
        </p:nvSpPr>
        <p:spPr>
          <a:xfrm rot="10800000">
            <a:off x="3011371" y="339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98" name="Google Shape;1398;p56"/>
          <p:cNvSpPr/>
          <p:nvPr/>
        </p:nvSpPr>
        <p:spPr>
          <a:xfrm rot="10800000">
            <a:off x="3011371" y="366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399" name="Google Shape;1399;p56"/>
          <p:cNvSpPr txBox="1"/>
          <p:nvPr/>
        </p:nvSpPr>
        <p:spPr>
          <a:xfrm>
            <a:off x="10785455" y="1718255"/>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30,000</a:t>
            </a:r>
            <a:endParaRPr/>
          </a:p>
        </p:txBody>
      </p:sp>
      <p:sp>
        <p:nvSpPr>
          <p:cNvPr id="1400" name="Google Shape;1400;p56"/>
          <p:cNvSpPr/>
          <p:nvPr/>
        </p:nvSpPr>
        <p:spPr>
          <a:xfrm rot="10800000">
            <a:off x="10548000" y="1757882"/>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1401" name="Google Shape;1401;p56"/>
          <p:cNvSpPr txBox="1"/>
          <p:nvPr/>
        </p:nvSpPr>
        <p:spPr>
          <a:xfrm>
            <a:off x="10776926" y="3605780"/>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20,000</a:t>
            </a:r>
            <a:endParaRPr/>
          </a:p>
        </p:txBody>
      </p:sp>
      <p:sp>
        <p:nvSpPr>
          <p:cNvPr id="1402" name="Google Shape;1402;p56"/>
          <p:cNvSpPr txBox="1"/>
          <p:nvPr/>
        </p:nvSpPr>
        <p:spPr>
          <a:xfrm>
            <a:off x="10732895" y="1448255"/>
            <a:ext cx="86400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5,000</a:t>
            </a:r>
            <a:endParaRPr/>
          </a:p>
        </p:txBody>
      </p:sp>
      <p:sp>
        <p:nvSpPr>
          <p:cNvPr id="1403" name="Google Shape;1403;p56"/>
          <p:cNvSpPr/>
          <p:nvPr/>
        </p:nvSpPr>
        <p:spPr>
          <a:xfrm>
            <a:off x="10548000" y="1505882"/>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548135"/>
              </a:solidFill>
              <a:latin typeface="Calibri"/>
              <a:ea typeface="Calibri"/>
              <a:cs typeface="Calibri"/>
              <a:sym typeface="Calibri"/>
            </a:endParaRPr>
          </a:p>
        </p:txBody>
      </p:sp>
      <p:sp>
        <p:nvSpPr>
          <p:cNvPr id="1404" name="Google Shape;1404;p56"/>
          <p:cNvSpPr txBox="1"/>
          <p:nvPr/>
        </p:nvSpPr>
        <p:spPr>
          <a:xfrm>
            <a:off x="4984560" y="3610092"/>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10,000</a:t>
            </a:r>
            <a:endParaRPr/>
          </a:p>
        </p:txBody>
      </p:sp>
      <p:sp>
        <p:nvSpPr>
          <p:cNvPr id="1405" name="Google Shape;1405;p56"/>
          <p:cNvSpPr txBox="1"/>
          <p:nvPr/>
        </p:nvSpPr>
        <p:spPr>
          <a:xfrm>
            <a:off x="7429894" y="5905082"/>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700</a:t>
            </a:r>
            <a:endParaRPr/>
          </a:p>
        </p:txBody>
      </p:sp>
      <p:sp>
        <p:nvSpPr>
          <p:cNvPr id="1406" name="Google Shape;1406;p56"/>
          <p:cNvSpPr/>
          <p:nvPr/>
        </p:nvSpPr>
        <p:spPr>
          <a:xfrm rot="10800000">
            <a:off x="6984000" y="5943076"/>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1407" name="Google Shape;1407;p56"/>
          <p:cNvSpPr txBox="1"/>
          <p:nvPr/>
        </p:nvSpPr>
        <p:spPr>
          <a:xfrm>
            <a:off x="7315968" y="1713373"/>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6,000</a:t>
            </a:r>
            <a:endParaRPr/>
          </a:p>
        </p:txBody>
      </p:sp>
      <p:sp>
        <p:nvSpPr>
          <p:cNvPr id="1408" name="Google Shape;1408;p56"/>
          <p:cNvSpPr/>
          <p:nvPr/>
        </p:nvSpPr>
        <p:spPr>
          <a:xfrm rot="10800000">
            <a:off x="6984000" y="1749046"/>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1409" name="Google Shape;1409;p56"/>
          <p:cNvSpPr txBox="1"/>
          <p:nvPr/>
        </p:nvSpPr>
        <p:spPr>
          <a:xfrm>
            <a:off x="1501235" y="3588336"/>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6,000</a:t>
            </a:r>
            <a:endParaRPr/>
          </a:p>
        </p:txBody>
      </p:sp>
      <p:sp>
        <p:nvSpPr>
          <p:cNvPr id="1410" name="Google Shape;1410;p56"/>
          <p:cNvSpPr/>
          <p:nvPr/>
        </p:nvSpPr>
        <p:spPr>
          <a:xfrm rot="10800000">
            <a:off x="1249425" y="3637660"/>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11" name="Google Shape;1411;p56"/>
          <p:cNvSpPr/>
          <p:nvPr/>
        </p:nvSpPr>
        <p:spPr>
          <a:xfrm rot="10800000">
            <a:off x="4824000" y="3662508"/>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1412" name="Google Shape;1412;p56"/>
          <p:cNvGrpSpPr/>
          <p:nvPr/>
        </p:nvGrpSpPr>
        <p:grpSpPr>
          <a:xfrm>
            <a:off x="2530414" y="2567405"/>
            <a:ext cx="300083" cy="223917"/>
            <a:chOff x="761592" y="3715226"/>
            <a:chExt cx="311527" cy="232457"/>
          </a:xfrm>
        </p:grpSpPr>
        <p:sp>
          <p:nvSpPr>
            <p:cNvPr id="1413" name="Google Shape;1413;p56"/>
            <p:cNvSpPr/>
            <p:nvPr/>
          </p:nvSpPr>
          <p:spPr>
            <a:xfrm>
              <a:off x="810780" y="3715226"/>
              <a:ext cx="224238" cy="224238"/>
            </a:xfrm>
            <a:prstGeom prst="ellipse">
              <a:avLst/>
            </a:prstGeom>
            <a:solidFill>
              <a:srgbClr val="FFFF00"/>
            </a:solidFill>
            <a:ln cap="flat" cmpd="sng" w="1270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414" name="Google Shape;1414;p56"/>
            <p:cNvSpPr/>
            <p:nvPr/>
          </p:nvSpPr>
          <p:spPr>
            <a:xfrm>
              <a:off x="761592" y="3724022"/>
              <a:ext cx="311527" cy="223661"/>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6a</a:t>
              </a:r>
              <a:endParaRPr/>
            </a:p>
          </p:txBody>
        </p:sp>
      </p:grpSp>
      <p:grpSp>
        <p:nvGrpSpPr>
          <p:cNvPr id="1415" name="Google Shape;1415;p56"/>
          <p:cNvGrpSpPr/>
          <p:nvPr/>
        </p:nvGrpSpPr>
        <p:grpSpPr>
          <a:xfrm>
            <a:off x="2574025" y="2841900"/>
            <a:ext cx="245580" cy="224238"/>
            <a:chOff x="802803" y="3715228"/>
            <a:chExt cx="245580" cy="224238"/>
          </a:xfrm>
        </p:grpSpPr>
        <p:sp>
          <p:nvSpPr>
            <p:cNvPr id="1416" name="Google Shape;1416;p56"/>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417" name="Google Shape;1417;p56"/>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5</a:t>
              </a:r>
              <a:endParaRPr/>
            </a:p>
          </p:txBody>
        </p:sp>
      </p:grpSp>
      <p:grpSp>
        <p:nvGrpSpPr>
          <p:cNvPr id="1418" name="Google Shape;1418;p56"/>
          <p:cNvGrpSpPr/>
          <p:nvPr/>
        </p:nvGrpSpPr>
        <p:grpSpPr>
          <a:xfrm>
            <a:off x="2574025" y="3121887"/>
            <a:ext cx="245580" cy="224238"/>
            <a:chOff x="802803" y="3715228"/>
            <a:chExt cx="245580" cy="224238"/>
          </a:xfrm>
        </p:grpSpPr>
        <p:sp>
          <p:nvSpPr>
            <p:cNvPr id="1419" name="Google Shape;1419;p56"/>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420" name="Google Shape;1420;p56"/>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3</a:t>
              </a:r>
              <a:endParaRPr/>
            </a:p>
          </p:txBody>
        </p:sp>
      </p:grpSp>
      <p:grpSp>
        <p:nvGrpSpPr>
          <p:cNvPr id="1421" name="Google Shape;1421;p56"/>
          <p:cNvGrpSpPr/>
          <p:nvPr/>
        </p:nvGrpSpPr>
        <p:grpSpPr>
          <a:xfrm>
            <a:off x="2574025" y="3385828"/>
            <a:ext cx="245580" cy="224238"/>
            <a:chOff x="802803" y="3715228"/>
            <a:chExt cx="245580" cy="224238"/>
          </a:xfrm>
        </p:grpSpPr>
        <p:sp>
          <p:nvSpPr>
            <p:cNvPr id="1422" name="Google Shape;1422;p56"/>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423" name="Google Shape;1423;p56"/>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2</a:t>
              </a:r>
              <a:endParaRPr/>
            </a:p>
          </p:txBody>
        </p:sp>
      </p:grpSp>
      <p:grpSp>
        <p:nvGrpSpPr>
          <p:cNvPr id="1424" name="Google Shape;1424;p56"/>
          <p:cNvGrpSpPr/>
          <p:nvPr/>
        </p:nvGrpSpPr>
        <p:grpSpPr>
          <a:xfrm>
            <a:off x="2574025" y="3649299"/>
            <a:ext cx="245580" cy="224238"/>
            <a:chOff x="802803" y="3715228"/>
            <a:chExt cx="245580" cy="224238"/>
          </a:xfrm>
        </p:grpSpPr>
        <p:sp>
          <p:nvSpPr>
            <p:cNvPr id="1425" name="Google Shape;1425;p56"/>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426" name="Google Shape;1426;p56"/>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a:t>
              </a:r>
              <a:endParaRPr/>
            </a:p>
          </p:txBody>
        </p:sp>
      </p:grpSp>
      <p:grpSp>
        <p:nvGrpSpPr>
          <p:cNvPr id="1427" name="Google Shape;1427;p56"/>
          <p:cNvGrpSpPr/>
          <p:nvPr/>
        </p:nvGrpSpPr>
        <p:grpSpPr>
          <a:xfrm>
            <a:off x="10117559" y="1755851"/>
            <a:ext cx="245580" cy="224238"/>
            <a:chOff x="802803" y="3715228"/>
            <a:chExt cx="245580" cy="224238"/>
          </a:xfrm>
        </p:grpSpPr>
        <p:sp>
          <p:nvSpPr>
            <p:cNvPr id="1428" name="Google Shape;1428;p56"/>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429" name="Google Shape;1429;p56"/>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a:t>
              </a:r>
              <a:endParaRPr/>
            </a:p>
          </p:txBody>
        </p:sp>
      </p:grpSp>
      <p:grpSp>
        <p:nvGrpSpPr>
          <p:cNvPr id="1430" name="Google Shape;1430;p56"/>
          <p:cNvGrpSpPr/>
          <p:nvPr/>
        </p:nvGrpSpPr>
        <p:grpSpPr>
          <a:xfrm>
            <a:off x="10116000" y="3650400"/>
            <a:ext cx="245580" cy="224238"/>
            <a:chOff x="802803" y="3715228"/>
            <a:chExt cx="245580" cy="224238"/>
          </a:xfrm>
        </p:grpSpPr>
        <p:sp>
          <p:nvSpPr>
            <p:cNvPr id="1431" name="Google Shape;1431;p56"/>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432" name="Google Shape;1432;p56"/>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2</a:t>
              </a:r>
              <a:endParaRPr/>
            </a:p>
          </p:txBody>
        </p:sp>
      </p:grpSp>
      <p:grpSp>
        <p:nvGrpSpPr>
          <p:cNvPr id="1433" name="Google Shape;1433;p56"/>
          <p:cNvGrpSpPr/>
          <p:nvPr/>
        </p:nvGrpSpPr>
        <p:grpSpPr>
          <a:xfrm>
            <a:off x="10117837" y="1489299"/>
            <a:ext cx="245580" cy="224238"/>
            <a:chOff x="802803" y="3715228"/>
            <a:chExt cx="245580" cy="224238"/>
          </a:xfrm>
        </p:grpSpPr>
        <p:sp>
          <p:nvSpPr>
            <p:cNvPr id="1434" name="Google Shape;1434;p56"/>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435" name="Google Shape;1435;p56"/>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3</a:t>
              </a:r>
              <a:endParaRPr/>
            </a:p>
          </p:txBody>
        </p:sp>
      </p:grpSp>
      <p:grpSp>
        <p:nvGrpSpPr>
          <p:cNvPr id="1436" name="Google Shape;1436;p56"/>
          <p:cNvGrpSpPr/>
          <p:nvPr/>
        </p:nvGrpSpPr>
        <p:grpSpPr>
          <a:xfrm>
            <a:off x="6553087" y="1741845"/>
            <a:ext cx="245580" cy="224238"/>
            <a:chOff x="802803" y="3715228"/>
            <a:chExt cx="245580" cy="224238"/>
          </a:xfrm>
        </p:grpSpPr>
        <p:sp>
          <p:nvSpPr>
            <p:cNvPr id="1437" name="Google Shape;1437;p56"/>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438" name="Google Shape;1438;p56"/>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4</a:t>
              </a:r>
              <a:endParaRPr/>
            </a:p>
          </p:txBody>
        </p:sp>
      </p:grpSp>
      <p:grpSp>
        <p:nvGrpSpPr>
          <p:cNvPr id="1439" name="Google Shape;1439;p56"/>
          <p:cNvGrpSpPr/>
          <p:nvPr/>
        </p:nvGrpSpPr>
        <p:grpSpPr>
          <a:xfrm>
            <a:off x="784605" y="3629276"/>
            <a:ext cx="245580" cy="224238"/>
            <a:chOff x="802803" y="3715228"/>
            <a:chExt cx="245580" cy="224238"/>
          </a:xfrm>
        </p:grpSpPr>
        <p:sp>
          <p:nvSpPr>
            <p:cNvPr id="1440" name="Google Shape;1440;p56"/>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441" name="Google Shape;1441;p56"/>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4</a:t>
              </a:r>
              <a:endParaRPr/>
            </a:p>
          </p:txBody>
        </p:sp>
      </p:grpSp>
      <p:grpSp>
        <p:nvGrpSpPr>
          <p:cNvPr id="1442" name="Google Shape;1442;p56"/>
          <p:cNvGrpSpPr/>
          <p:nvPr/>
        </p:nvGrpSpPr>
        <p:grpSpPr>
          <a:xfrm>
            <a:off x="4359077" y="3641899"/>
            <a:ext cx="245580" cy="224238"/>
            <a:chOff x="802803" y="3715228"/>
            <a:chExt cx="245580" cy="224238"/>
          </a:xfrm>
        </p:grpSpPr>
        <p:sp>
          <p:nvSpPr>
            <p:cNvPr id="1443" name="Google Shape;1443;p56"/>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444" name="Google Shape;1444;p56"/>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5</a:t>
              </a:r>
              <a:endParaRPr/>
            </a:p>
          </p:txBody>
        </p:sp>
      </p:grpSp>
      <p:grpSp>
        <p:nvGrpSpPr>
          <p:cNvPr id="1445" name="Google Shape;1445;p56"/>
          <p:cNvGrpSpPr/>
          <p:nvPr/>
        </p:nvGrpSpPr>
        <p:grpSpPr>
          <a:xfrm>
            <a:off x="6484980" y="5931080"/>
            <a:ext cx="300082" cy="224238"/>
            <a:chOff x="775552" y="3715228"/>
            <a:chExt cx="300082" cy="224238"/>
          </a:xfrm>
        </p:grpSpPr>
        <p:sp>
          <p:nvSpPr>
            <p:cNvPr id="1446" name="Google Shape;1446;p56"/>
            <p:cNvSpPr/>
            <p:nvPr/>
          </p:nvSpPr>
          <p:spPr>
            <a:xfrm>
              <a:off x="810781" y="3715228"/>
              <a:ext cx="216000" cy="216000"/>
            </a:xfrm>
            <a:prstGeom prst="ellipse">
              <a:avLst/>
            </a:prstGeom>
            <a:solidFill>
              <a:srgbClr val="FFFF00"/>
            </a:solidFill>
            <a:ln cap="flat" cmpd="sng" w="1270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447" name="Google Shape;1447;p56"/>
            <p:cNvSpPr/>
            <p:nvPr/>
          </p:nvSpPr>
          <p:spPr>
            <a:xfrm>
              <a:off x="775552" y="3724022"/>
              <a:ext cx="300082"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6a</a:t>
              </a:r>
              <a:endParaRPr/>
            </a:p>
          </p:txBody>
        </p:sp>
      </p:grpSp>
      <p:sp>
        <p:nvSpPr>
          <p:cNvPr id="1448" name="Google Shape;1448;p56"/>
          <p:cNvSpPr txBox="1"/>
          <p:nvPr/>
        </p:nvSpPr>
        <p:spPr>
          <a:xfrm>
            <a:off x="6252890" y="2028286"/>
            <a:ext cx="1987133"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Accounts payable</a:t>
            </a:r>
            <a:endParaRPr/>
          </a:p>
        </p:txBody>
      </p:sp>
      <p:sp>
        <p:nvSpPr>
          <p:cNvPr id="1449" name="Google Shape;1449;p56"/>
          <p:cNvSpPr txBox="1"/>
          <p:nvPr/>
        </p:nvSpPr>
        <p:spPr>
          <a:xfrm>
            <a:off x="9504213" y="373659"/>
            <a:ext cx="2279791" cy="40011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000">
                <a:solidFill>
                  <a:schemeClr val="accent2"/>
                </a:solidFill>
                <a:latin typeface="Avenir"/>
                <a:ea typeface="Avenir"/>
                <a:cs typeface="Avenir"/>
                <a:sym typeface="Avenir"/>
              </a:rPr>
              <a:t>Sources of funds</a:t>
            </a:r>
            <a:endParaRPr/>
          </a:p>
        </p:txBody>
      </p:sp>
      <p:sp>
        <p:nvSpPr>
          <p:cNvPr id="1450" name="Google Shape;1450;p56"/>
          <p:cNvSpPr txBox="1"/>
          <p:nvPr/>
        </p:nvSpPr>
        <p:spPr>
          <a:xfrm>
            <a:off x="492858" y="373659"/>
            <a:ext cx="1880643" cy="40011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000">
                <a:solidFill>
                  <a:schemeClr val="accent6"/>
                </a:solidFill>
                <a:latin typeface="Avenir"/>
                <a:ea typeface="Avenir"/>
                <a:cs typeface="Avenir"/>
                <a:sym typeface="Avenir"/>
              </a:rPr>
              <a:t>Uses of funds</a:t>
            </a:r>
            <a:endParaRPr/>
          </a:p>
        </p:txBody>
      </p:sp>
      <p:grpSp>
        <p:nvGrpSpPr>
          <p:cNvPr id="1451" name="Google Shape;1451;p56"/>
          <p:cNvGrpSpPr/>
          <p:nvPr/>
        </p:nvGrpSpPr>
        <p:grpSpPr>
          <a:xfrm>
            <a:off x="6407036" y="5399219"/>
            <a:ext cx="1620000" cy="796276"/>
            <a:chOff x="3810000" y="2015069"/>
            <a:chExt cx="1390650" cy="1596814"/>
          </a:xfrm>
        </p:grpSpPr>
        <p:sp>
          <p:nvSpPr>
            <p:cNvPr id="1452" name="Google Shape;1452;p56"/>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1453" name="Google Shape;1453;p56"/>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1454" name="Google Shape;1454;p56"/>
          <p:cNvGrpSpPr/>
          <p:nvPr/>
        </p:nvGrpSpPr>
        <p:grpSpPr>
          <a:xfrm>
            <a:off x="9983452" y="3159099"/>
            <a:ext cx="1620000" cy="796276"/>
            <a:chOff x="3810000" y="2015069"/>
            <a:chExt cx="1390650" cy="1596814"/>
          </a:xfrm>
        </p:grpSpPr>
        <p:sp>
          <p:nvSpPr>
            <p:cNvPr id="1455" name="Google Shape;1455;p56"/>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1456" name="Google Shape;1456;p56"/>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1457" name="Google Shape;1457;p56"/>
          <p:cNvGrpSpPr/>
          <p:nvPr/>
        </p:nvGrpSpPr>
        <p:grpSpPr>
          <a:xfrm>
            <a:off x="10006085" y="1263488"/>
            <a:ext cx="1620000" cy="796276"/>
            <a:chOff x="3810000" y="2015069"/>
            <a:chExt cx="1390650" cy="1596814"/>
          </a:xfrm>
        </p:grpSpPr>
        <p:sp>
          <p:nvSpPr>
            <p:cNvPr id="1458" name="Google Shape;1458;p56"/>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1459" name="Google Shape;1459;p56"/>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1460" name="Google Shape;1460;p56"/>
          <p:cNvGrpSpPr/>
          <p:nvPr/>
        </p:nvGrpSpPr>
        <p:grpSpPr>
          <a:xfrm>
            <a:off x="6428511" y="1266563"/>
            <a:ext cx="1620000" cy="796276"/>
            <a:chOff x="3810000" y="2015069"/>
            <a:chExt cx="1390650" cy="1596814"/>
          </a:xfrm>
        </p:grpSpPr>
        <p:sp>
          <p:nvSpPr>
            <p:cNvPr id="1461" name="Google Shape;1461;p56"/>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1462" name="Google Shape;1462;p56"/>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sp>
        <p:nvSpPr>
          <p:cNvPr id="1463" name="Google Shape;1463;p56"/>
          <p:cNvSpPr/>
          <p:nvPr/>
        </p:nvSpPr>
        <p:spPr>
          <a:xfrm rot="10800000">
            <a:off x="10548000" y="3653367"/>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1464" name="Google Shape;1464;p56"/>
          <p:cNvSpPr/>
          <p:nvPr/>
        </p:nvSpPr>
        <p:spPr>
          <a:xfrm>
            <a:off x="1596631" y="986980"/>
            <a:ext cx="10538419" cy="1312708"/>
          </a:xfrm>
          <a:prstGeom prst="rect">
            <a:avLst/>
          </a:prstGeom>
          <a:solidFill>
            <a:srgbClr val="F2F2F2">
              <a:alpha val="86666"/>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1465" name="Google Shape;1465;p56"/>
          <p:cNvGrpSpPr/>
          <p:nvPr/>
        </p:nvGrpSpPr>
        <p:grpSpPr>
          <a:xfrm>
            <a:off x="1803373" y="1256144"/>
            <a:ext cx="10188967" cy="756004"/>
            <a:chOff x="926134" y="1719856"/>
            <a:chExt cx="9204181" cy="750147"/>
          </a:xfrm>
        </p:grpSpPr>
        <p:sp>
          <p:nvSpPr>
            <p:cNvPr id="1466" name="Google Shape;1466;p56"/>
            <p:cNvSpPr txBox="1"/>
            <p:nvPr/>
          </p:nvSpPr>
          <p:spPr>
            <a:xfrm>
              <a:off x="1641585" y="1719860"/>
              <a:ext cx="5447935"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139700" marR="0" rtl="0" algn="l">
                <a:spcBef>
                  <a:spcPts val="0"/>
                </a:spcBef>
                <a:spcAft>
                  <a:spcPts val="0"/>
                </a:spcAft>
                <a:buNone/>
              </a:pPr>
              <a:r>
                <a:rPr lang="en-US" sz="2000">
                  <a:solidFill>
                    <a:schemeClr val="dk1"/>
                  </a:solidFill>
                  <a:latin typeface="Calibri"/>
                  <a:ea typeface="Calibri"/>
                  <a:cs typeface="Calibri"/>
                  <a:sym typeface="Calibri"/>
                </a:rPr>
                <a:t>고객 A에게 첫 판매를 진행했고, 현장에서 현금으로 결제받아 은행에 입금함.</a:t>
              </a:r>
              <a:endParaRPr sz="2000">
                <a:solidFill>
                  <a:schemeClr val="dk1"/>
                </a:solidFill>
                <a:latin typeface="Avenir"/>
                <a:ea typeface="Avenir"/>
                <a:cs typeface="Avenir"/>
                <a:sym typeface="Avenir"/>
              </a:endParaRPr>
            </a:p>
          </p:txBody>
        </p:sp>
        <p:sp>
          <p:nvSpPr>
            <p:cNvPr id="1467" name="Google Shape;1467;p56"/>
            <p:cNvSpPr txBox="1"/>
            <p:nvPr/>
          </p:nvSpPr>
          <p:spPr>
            <a:xfrm>
              <a:off x="7089520" y="1719858"/>
              <a:ext cx="1520398" cy="745310"/>
            </a:xfrm>
            <a:prstGeom prst="rect">
              <a:avLst/>
            </a:prstGeom>
            <a:solidFill>
              <a:srgbClr val="E1EFD8"/>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Cash</a:t>
              </a: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700</a:t>
              </a:r>
              <a:endParaRPr/>
            </a:p>
          </p:txBody>
        </p:sp>
        <p:sp>
          <p:nvSpPr>
            <p:cNvPr id="1468" name="Google Shape;1468;p56"/>
            <p:cNvSpPr txBox="1"/>
            <p:nvPr/>
          </p:nvSpPr>
          <p:spPr>
            <a:xfrm>
              <a:off x="8609917" y="1719858"/>
              <a:ext cx="1520398" cy="745310"/>
            </a:xfrm>
            <a:prstGeom prst="rect">
              <a:avLst/>
            </a:prstGeom>
            <a:solidFill>
              <a:srgbClr val="FBE4D4"/>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Sales</a:t>
              </a:r>
              <a:endParaRPr b="1" sz="1600">
                <a:solidFill>
                  <a:srgbClr val="BFBFBF"/>
                </a:solidFill>
                <a:latin typeface="Avenir"/>
                <a:ea typeface="Avenir"/>
                <a:cs typeface="Avenir"/>
                <a:sym typeface="Aveni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700</a:t>
              </a:r>
              <a:endParaRPr/>
            </a:p>
          </p:txBody>
        </p:sp>
        <p:sp>
          <p:nvSpPr>
            <p:cNvPr id="1469" name="Google Shape;1469;p56"/>
            <p:cNvSpPr txBox="1"/>
            <p:nvPr/>
          </p:nvSpPr>
          <p:spPr>
            <a:xfrm>
              <a:off x="926134" y="1719856"/>
              <a:ext cx="715451"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6a</a:t>
              </a:r>
              <a:endParaRPr/>
            </a:p>
          </p:txBody>
        </p:sp>
      </p:grpSp>
      <p:sp>
        <p:nvSpPr>
          <p:cNvPr id="1470" name="Google Shape;1470;p56"/>
          <p:cNvSpPr txBox="1"/>
          <p:nvPr/>
        </p:nvSpPr>
        <p:spPr>
          <a:xfrm>
            <a:off x="10300754" y="1263694"/>
            <a:ext cx="1683070" cy="756000"/>
          </a:xfrm>
          <a:prstGeom prst="rect">
            <a:avLst/>
          </a:prstGeom>
          <a:solidFill>
            <a:schemeClr val="accent2"/>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700</a:t>
            </a:r>
            <a:endParaRPr/>
          </a:p>
        </p:txBody>
      </p:sp>
      <p:sp>
        <p:nvSpPr>
          <p:cNvPr id="1471" name="Google Shape;1471;p56"/>
          <p:cNvSpPr txBox="1"/>
          <p:nvPr/>
        </p:nvSpPr>
        <p:spPr>
          <a:xfrm>
            <a:off x="8617684" y="1259581"/>
            <a:ext cx="1683070" cy="756000"/>
          </a:xfrm>
          <a:prstGeom prst="rect">
            <a:avLst/>
          </a:prstGeom>
          <a:solidFill>
            <a:srgbClr val="548135"/>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700</a:t>
            </a:r>
            <a:endParaRPr/>
          </a:p>
        </p:txBody>
      </p:sp>
      <p:sp>
        <p:nvSpPr>
          <p:cNvPr id="1472" name="Google Shape;1472;p56"/>
          <p:cNvSpPr/>
          <p:nvPr/>
        </p:nvSpPr>
        <p:spPr>
          <a:xfrm rot="10800000">
            <a:off x="11184791" y="4639323"/>
            <a:ext cx="950259" cy="1037381"/>
          </a:xfrm>
          <a:prstGeom prst="downArrow">
            <a:avLst>
              <a:gd fmla="val 50000" name="adj1"/>
              <a:gd fmla="val 50000" name="adj2"/>
            </a:avLst>
          </a:prstGeom>
          <a:solidFill>
            <a:schemeClr val="accent2">
              <a:alpha val="77647"/>
            </a:schemeClr>
          </a:solidFill>
          <a:ln>
            <a:noFill/>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73" name="Google Shape;1473;p56"/>
          <p:cNvSpPr/>
          <p:nvPr/>
        </p:nvSpPr>
        <p:spPr>
          <a:xfrm rot="10800000">
            <a:off x="141439" y="830760"/>
            <a:ext cx="950259" cy="1037381"/>
          </a:xfrm>
          <a:prstGeom prst="downArrow">
            <a:avLst>
              <a:gd fmla="val 50000" name="adj1"/>
              <a:gd fmla="val 50000" name="adj2"/>
            </a:avLst>
          </a:prstGeom>
          <a:solidFill>
            <a:schemeClr val="accent6">
              <a:alpha val="77647"/>
            </a:schemeClr>
          </a:solidFill>
          <a:ln>
            <a:noFill/>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474" name="Google Shape;1474;p56"/>
          <p:cNvSpPr txBox="1"/>
          <p:nvPr/>
        </p:nvSpPr>
        <p:spPr>
          <a:xfrm>
            <a:off x="6423872" y="3419412"/>
            <a:ext cx="1548343" cy="566133"/>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700</a:t>
            </a:r>
            <a:endParaRPr sz="2400">
              <a:solidFill>
                <a:schemeClr val="dk1"/>
              </a:solidFill>
              <a:latin typeface="Calibri"/>
              <a:ea typeface="Calibri"/>
              <a:cs typeface="Calibri"/>
              <a:sym typeface="Calibri"/>
            </a:endParaRPr>
          </a:p>
        </p:txBody>
      </p:sp>
    </p:spTree>
  </p:cSld>
  <p:clrMapOvr>
    <a:masterClrMapping/>
  </p:clrMapOvr>
  <mc:AlternateContent>
    <mc:Choice Requires="p14">
      <p:transition spd="slow" p14:dur="700">
        <p:fade/>
      </p:transition>
    </mc:Choice>
    <mc:Fallback>
      <p:transition spd="slow">
        <p:fade/>
      </p:transition>
    </mc:Fallback>
  </mc:AlternateContent>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afterEffect" presetClass="exit" presetID="10" presetSubtype="0">
                                  <p:stCondLst>
                                    <p:cond delay="0"/>
                                  </p:stCondLst>
                                  <p:childTnLst>
                                    <p:animEffect filter="fade" transition="out">
                                      <p:cBhvr>
                                        <p:cTn dur="1000"/>
                                        <p:tgtEl>
                                          <p:spTgt spid="1471"/>
                                        </p:tgtEl>
                                      </p:cBhvr>
                                    </p:animEffect>
                                    <p:set>
                                      <p:cBhvr>
                                        <p:cTn dur="1" fill="hold">
                                          <p:stCondLst>
                                            <p:cond delay="1000"/>
                                          </p:stCondLst>
                                        </p:cTn>
                                        <p:tgtEl>
                                          <p:spTgt spid="1471"/>
                                        </p:tgtEl>
                                        <p:attrNameLst>
                                          <p:attrName>style.visibility</p:attrName>
                                        </p:attrNameLst>
                                      </p:cBhvr>
                                      <p:to>
                                        <p:strVal val="hidden"/>
                                      </p:to>
                                    </p:set>
                                  </p:childTnLst>
                                </p:cTn>
                              </p:par>
                              <p:par>
                                <p:cTn fill="hold" nodeType="withEffect" presetClass="entr" presetID="10" presetSubtype="0">
                                  <p:stCondLst>
                                    <p:cond delay="0"/>
                                  </p:stCondLst>
                                  <p:childTnLst>
                                    <p:set>
                                      <p:cBhvr>
                                        <p:cTn dur="1" fill="hold">
                                          <p:stCondLst>
                                            <p:cond delay="0"/>
                                          </p:stCondLst>
                                        </p:cTn>
                                        <p:tgtEl>
                                          <p:spTgt spid="1412"/>
                                        </p:tgtEl>
                                        <p:attrNameLst>
                                          <p:attrName>style.visibility</p:attrName>
                                        </p:attrNameLst>
                                      </p:cBhvr>
                                      <p:to>
                                        <p:strVal val="visible"/>
                                      </p:to>
                                    </p:set>
                                    <p:animEffect filter="fade" transition="in">
                                      <p:cBhvr>
                                        <p:cTn dur="1000"/>
                                        <p:tgtEl>
                                          <p:spTgt spid="1412"/>
                                        </p:tgtEl>
                                      </p:cBhvr>
                                    </p:animEffect>
                                  </p:childTnLst>
                                </p:cTn>
                              </p:par>
                              <p:par>
                                <p:cTn fill="hold" nodeType="withEffect" presetClass="entr" presetID="10" presetSubtype="0">
                                  <p:stCondLst>
                                    <p:cond delay="0"/>
                                  </p:stCondLst>
                                  <p:childTnLst>
                                    <p:set>
                                      <p:cBhvr>
                                        <p:cTn dur="1" fill="hold">
                                          <p:stCondLst>
                                            <p:cond delay="0"/>
                                          </p:stCondLst>
                                        </p:cTn>
                                        <p:tgtEl>
                                          <p:spTgt spid="1394"/>
                                        </p:tgtEl>
                                        <p:attrNameLst>
                                          <p:attrName>style.visibility</p:attrName>
                                        </p:attrNameLst>
                                      </p:cBhvr>
                                      <p:to>
                                        <p:strVal val="visible"/>
                                      </p:to>
                                    </p:set>
                                    <p:animEffect filter="fade" transition="in">
                                      <p:cBhvr>
                                        <p:cTn dur="1000"/>
                                        <p:tgtEl>
                                          <p:spTgt spid="1394"/>
                                        </p:tgtEl>
                                      </p:cBhvr>
                                    </p:animEffect>
                                  </p:childTnLst>
                                </p:cTn>
                              </p:par>
                              <p:par>
                                <p:cTn fill="hold" nodeType="withEffect" presetClass="entr" presetID="10" presetSubtype="0">
                                  <p:stCondLst>
                                    <p:cond delay="0"/>
                                  </p:stCondLst>
                                  <p:childTnLst>
                                    <p:set>
                                      <p:cBhvr>
                                        <p:cTn dur="1" fill="hold">
                                          <p:stCondLst>
                                            <p:cond delay="0"/>
                                          </p:stCondLst>
                                        </p:cTn>
                                        <p:tgtEl>
                                          <p:spTgt spid="1391"/>
                                        </p:tgtEl>
                                        <p:attrNameLst>
                                          <p:attrName>style.visibility</p:attrName>
                                        </p:attrNameLst>
                                      </p:cBhvr>
                                      <p:to>
                                        <p:strVal val="visible"/>
                                      </p:to>
                                    </p:set>
                                    <p:animEffect filter="fade" transition="in">
                                      <p:cBhvr>
                                        <p:cTn dur="1000"/>
                                        <p:tgtEl>
                                          <p:spTgt spid="139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86"/>
                                        </p:tgtEl>
                                        <p:attrNameLst>
                                          <p:attrName>style.visibility</p:attrName>
                                        </p:attrNameLst>
                                      </p:cBhvr>
                                      <p:to>
                                        <p:strVal val="visible"/>
                                      </p:to>
                                    </p:set>
                                    <p:animEffect filter="fade" transition="in">
                                      <p:cBhvr>
                                        <p:cTn dur="500"/>
                                        <p:tgtEl>
                                          <p:spTgt spid="1386"/>
                                        </p:tgtEl>
                                      </p:cBhvr>
                                    </p:animEffect>
                                  </p:childTnLst>
                                </p:cTn>
                              </p:par>
                              <p:par>
                                <p:cTn fill="hold" nodeType="withEffect" presetClass="entr" presetID="10" presetSubtype="0">
                                  <p:stCondLst>
                                    <p:cond delay="0"/>
                                  </p:stCondLst>
                                  <p:childTnLst>
                                    <p:set>
                                      <p:cBhvr>
                                        <p:cTn dur="1" fill="hold">
                                          <p:stCondLst>
                                            <p:cond delay="0"/>
                                          </p:stCondLst>
                                        </p:cTn>
                                        <p:tgtEl>
                                          <p:spTgt spid="1451"/>
                                        </p:tgtEl>
                                        <p:attrNameLst>
                                          <p:attrName>style.visibility</p:attrName>
                                        </p:attrNameLst>
                                      </p:cBhvr>
                                      <p:to>
                                        <p:strVal val="visible"/>
                                      </p:to>
                                    </p:set>
                                    <p:animEffect filter="fade" transition="in">
                                      <p:cBhvr>
                                        <p:cTn dur="500"/>
                                        <p:tgtEl>
                                          <p:spTgt spid="1451"/>
                                        </p:tgtEl>
                                      </p:cBhvr>
                                    </p:animEffect>
                                  </p:childTnLst>
                                </p:cTn>
                              </p:par>
                            </p:childTnLst>
                          </p:cTn>
                        </p:par>
                        <p:par>
                          <p:cTn fill="hold">
                            <p:stCondLst>
                              <p:cond delay="500"/>
                            </p:stCondLst>
                            <p:childTnLst>
                              <p:par>
                                <p:cTn fill="hold" nodeType="afterEffect" presetClass="exit" presetID="10" presetSubtype="0">
                                  <p:stCondLst>
                                    <p:cond delay="0"/>
                                  </p:stCondLst>
                                  <p:childTnLst>
                                    <p:animEffect filter="fade" transition="out">
                                      <p:cBhvr>
                                        <p:cTn dur="1000"/>
                                        <p:tgtEl>
                                          <p:spTgt spid="1470"/>
                                        </p:tgtEl>
                                      </p:cBhvr>
                                    </p:animEffect>
                                    <p:set>
                                      <p:cBhvr>
                                        <p:cTn dur="1" fill="hold">
                                          <p:stCondLst>
                                            <p:cond delay="1000"/>
                                          </p:stCondLst>
                                        </p:cTn>
                                        <p:tgtEl>
                                          <p:spTgt spid="1470"/>
                                        </p:tgtEl>
                                        <p:attrNameLst>
                                          <p:attrName>style.visibility</p:attrName>
                                        </p:attrNameLst>
                                      </p:cBhvr>
                                      <p:to>
                                        <p:strVal val="hidden"/>
                                      </p:to>
                                    </p:set>
                                  </p:childTnLst>
                                </p:cTn>
                              </p:par>
                            </p:childTnLst>
                          </p:cTn>
                        </p:par>
                        <p:par>
                          <p:cTn fill="hold">
                            <p:stCondLst>
                              <p:cond delay="1500"/>
                            </p:stCondLst>
                            <p:childTnLst>
                              <p:par>
                                <p:cTn fill="hold" nodeType="afterEffect" presetClass="entr" presetID="10" presetSubtype="0">
                                  <p:stCondLst>
                                    <p:cond delay="500"/>
                                  </p:stCondLst>
                                  <p:childTnLst>
                                    <p:set>
                                      <p:cBhvr>
                                        <p:cTn dur="1" fill="hold">
                                          <p:stCondLst>
                                            <p:cond delay="0"/>
                                          </p:stCondLst>
                                        </p:cTn>
                                        <p:tgtEl>
                                          <p:spTgt spid="1474"/>
                                        </p:tgtEl>
                                        <p:attrNameLst>
                                          <p:attrName>style.visibility</p:attrName>
                                        </p:attrNameLst>
                                      </p:cBhvr>
                                      <p:to>
                                        <p:strVal val="visible"/>
                                      </p:to>
                                    </p:set>
                                    <p:animEffect filter="fade" transition="in">
                                      <p:cBhvr>
                                        <p:cTn dur="1000"/>
                                        <p:tgtEl>
                                          <p:spTgt spid="1474"/>
                                        </p:tgtEl>
                                      </p:cBhvr>
                                    </p:animEffect>
                                  </p:childTnLst>
                                </p:cTn>
                              </p:par>
                              <p:par>
                                <p:cTn fill="hold" nodeType="withEffect" presetClass="entr" presetID="10" presetSubtype="0">
                                  <p:stCondLst>
                                    <p:cond delay="0"/>
                                  </p:stCondLst>
                                  <p:childTnLst>
                                    <p:set>
                                      <p:cBhvr>
                                        <p:cTn dur="1" fill="hold">
                                          <p:stCondLst>
                                            <p:cond delay="0"/>
                                          </p:stCondLst>
                                        </p:cTn>
                                        <p:tgtEl>
                                          <p:spTgt spid="1445"/>
                                        </p:tgtEl>
                                        <p:attrNameLst>
                                          <p:attrName>style.visibility</p:attrName>
                                        </p:attrNameLst>
                                      </p:cBhvr>
                                      <p:to>
                                        <p:strVal val="visible"/>
                                      </p:to>
                                    </p:set>
                                    <p:animEffect filter="fade" transition="in">
                                      <p:cBhvr>
                                        <p:cTn dur="1000"/>
                                        <p:tgtEl>
                                          <p:spTgt spid="1445"/>
                                        </p:tgtEl>
                                      </p:cBhvr>
                                    </p:animEffect>
                                  </p:childTnLst>
                                </p:cTn>
                              </p:par>
                              <p:par>
                                <p:cTn fill="hold" nodeType="withEffect" presetClass="entr" presetID="10" presetSubtype="0">
                                  <p:stCondLst>
                                    <p:cond delay="0"/>
                                  </p:stCondLst>
                                  <p:childTnLst>
                                    <p:set>
                                      <p:cBhvr>
                                        <p:cTn dur="1" fill="hold">
                                          <p:stCondLst>
                                            <p:cond delay="0"/>
                                          </p:stCondLst>
                                        </p:cTn>
                                        <p:tgtEl>
                                          <p:spTgt spid="1406"/>
                                        </p:tgtEl>
                                        <p:attrNameLst>
                                          <p:attrName>style.visibility</p:attrName>
                                        </p:attrNameLst>
                                      </p:cBhvr>
                                      <p:to>
                                        <p:strVal val="visible"/>
                                      </p:to>
                                    </p:set>
                                    <p:animEffect filter="fade" transition="in">
                                      <p:cBhvr>
                                        <p:cTn dur="1000"/>
                                        <p:tgtEl>
                                          <p:spTgt spid="1406"/>
                                        </p:tgtEl>
                                      </p:cBhvr>
                                    </p:animEffect>
                                  </p:childTnLst>
                                </p:cTn>
                              </p:par>
                              <p:par>
                                <p:cTn fill="hold" nodeType="withEffect" presetClass="entr" presetID="10" presetSubtype="0">
                                  <p:stCondLst>
                                    <p:cond delay="0"/>
                                  </p:stCondLst>
                                  <p:childTnLst>
                                    <p:set>
                                      <p:cBhvr>
                                        <p:cTn dur="1" fill="hold">
                                          <p:stCondLst>
                                            <p:cond delay="0"/>
                                          </p:stCondLst>
                                        </p:cTn>
                                        <p:tgtEl>
                                          <p:spTgt spid="1405"/>
                                        </p:tgtEl>
                                        <p:attrNameLst>
                                          <p:attrName>style.visibility</p:attrName>
                                        </p:attrNameLst>
                                      </p:cBhvr>
                                      <p:to>
                                        <p:strVal val="visible"/>
                                      </p:to>
                                    </p:set>
                                    <p:animEffect filter="fade" transition="in">
                                      <p:cBhvr>
                                        <p:cTn dur="1000"/>
                                        <p:tgtEl>
                                          <p:spTgt spid="140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472"/>
                                        </p:tgtEl>
                                        <p:attrNameLst>
                                          <p:attrName>style.visibility</p:attrName>
                                        </p:attrNameLst>
                                      </p:cBhvr>
                                      <p:to>
                                        <p:strVal val="visible"/>
                                      </p:to>
                                    </p:set>
                                    <p:animEffect filter="fade" transition="in">
                                      <p:cBhvr>
                                        <p:cTn dur="1000"/>
                                        <p:tgtEl>
                                          <p:spTgt spid="1472"/>
                                        </p:tgtEl>
                                      </p:cBhvr>
                                    </p:animEffect>
                                  </p:childTnLst>
                                </p:cTn>
                              </p:par>
                              <p:par>
                                <p:cTn fill="hold" nodeType="withEffect" presetClass="entr" presetID="10" presetSubtype="0">
                                  <p:stCondLst>
                                    <p:cond delay="0"/>
                                  </p:stCondLst>
                                  <p:childTnLst>
                                    <p:set>
                                      <p:cBhvr>
                                        <p:cTn dur="1" fill="hold">
                                          <p:stCondLst>
                                            <p:cond delay="0"/>
                                          </p:stCondLst>
                                        </p:cTn>
                                        <p:tgtEl>
                                          <p:spTgt spid="1473"/>
                                        </p:tgtEl>
                                        <p:attrNameLst>
                                          <p:attrName>style.visibility</p:attrName>
                                        </p:attrNameLst>
                                      </p:cBhvr>
                                      <p:to>
                                        <p:strVal val="visible"/>
                                      </p:to>
                                    </p:set>
                                    <p:animEffect filter="fade" transition="in">
                                      <p:cBhvr>
                                        <p:cTn dur="1000"/>
                                        <p:tgtEl>
                                          <p:spTgt spid="147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9" name="Shape 1479"/>
        <p:cNvGrpSpPr/>
        <p:nvPr/>
      </p:nvGrpSpPr>
      <p:grpSpPr>
        <a:xfrm>
          <a:off x="0" y="0"/>
          <a:ext cx="0" cy="0"/>
          <a:chOff x="0" y="0"/>
          <a:chExt cx="0" cy="0"/>
        </a:xfrm>
      </p:grpSpPr>
      <p:sp>
        <p:nvSpPr>
          <p:cNvPr id="1480" name="Google Shape;1480;p57"/>
          <p:cNvSpPr txBox="1"/>
          <p:nvPr/>
        </p:nvSpPr>
        <p:spPr>
          <a:xfrm>
            <a:off x="4187006" y="284371"/>
            <a:ext cx="3629520"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cxnSp>
        <p:nvCxnSpPr>
          <p:cNvPr id="1481" name="Google Shape;1481;p57"/>
          <p:cNvCxnSpPr/>
          <p:nvPr/>
        </p:nvCxnSpPr>
        <p:spPr>
          <a:xfrm>
            <a:off x="4316098" y="717845"/>
            <a:ext cx="3375212" cy="0"/>
          </a:xfrm>
          <a:prstGeom prst="straightConnector1">
            <a:avLst/>
          </a:prstGeom>
          <a:noFill/>
          <a:ln cap="flat" cmpd="sng" w="28575">
            <a:solidFill>
              <a:schemeClr val="accent1"/>
            </a:solidFill>
            <a:prstDash val="dot"/>
            <a:miter lim="800000"/>
            <a:headEnd len="sm" w="sm" type="none"/>
            <a:tailEnd len="sm" w="sm" type="none"/>
          </a:ln>
        </p:spPr>
      </p:cxnSp>
      <p:grpSp>
        <p:nvGrpSpPr>
          <p:cNvPr id="1482" name="Google Shape;1482;p57"/>
          <p:cNvGrpSpPr/>
          <p:nvPr/>
        </p:nvGrpSpPr>
        <p:grpSpPr>
          <a:xfrm>
            <a:off x="1284576" y="2130924"/>
            <a:ext cx="10188969" cy="756004"/>
            <a:chOff x="926134" y="1719856"/>
            <a:chExt cx="9204181" cy="750147"/>
          </a:xfrm>
        </p:grpSpPr>
        <p:sp>
          <p:nvSpPr>
            <p:cNvPr id="1483" name="Google Shape;1483;p57"/>
            <p:cNvSpPr txBox="1"/>
            <p:nvPr/>
          </p:nvSpPr>
          <p:spPr>
            <a:xfrm>
              <a:off x="1641585" y="1719860"/>
              <a:ext cx="5447935"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139700" marR="0" rtl="0" algn="l">
                <a:spcBef>
                  <a:spcPts val="0"/>
                </a:spcBef>
                <a:spcAft>
                  <a:spcPts val="0"/>
                </a:spcAft>
                <a:buNone/>
              </a:pPr>
              <a:r>
                <a:rPr lang="en-US" sz="2000">
                  <a:solidFill>
                    <a:schemeClr val="dk1"/>
                  </a:solidFill>
                  <a:latin typeface="Calibri"/>
                  <a:ea typeface="Calibri"/>
                  <a:cs typeface="Calibri"/>
                  <a:sym typeface="Calibri"/>
                </a:rPr>
                <a:t>고객 A에게 첫 판매를 진행했고, 현장에서 현금으로 결제받아 은행에 입금함.</a:t>
              </a:r>
              <a:endParaRPr sz="2000">
                <a:solidFill>
                  <a:schemeClr val="dk1"/>
                </a:solidFill>
                <a:latin typeface="Avenir"/>
                <a:ea typeface="Avenir"/>
                <a:cs typeface="Avenir"/>
                <a:sym typeface="Avenir"/>
              </a:endParaRPr>
            </a:p>
          </p:txBody>
        </p:sp>
        <p:sp>
          <p:nvSpPr>
            <p:cNvPr id="1484" name="Google Shape;1484;p57"/>
            <p:cNvSpPr txBox="1"/>
            <p:nvPr/>
          </p:nvSpPr>
          <p:spPr>
            <a:xfrm>
              <a:off x="7089520" y="1719858"/>
              <a:ext cx="1520398" cy="745310"/>
            </a:xfrm>
            <a:prstGeom prst="rect">
              <a:avLst/>
            </a:prstGeom>
            <a:solidFill>
              <a:srgbClr val="E1EFD8"/>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Cost of sales</a:t>
              </a: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300</a:t>
              </a:r>
              <a:endParaRPr/>
            </a:p>
          </p:txBody>
        </p:sp>
        <p:sp>
          <p:nvSpPr>
            <p:cNvPr id="1485" name="Google Shape;1485;p57"/>
            <p:cNvSpPr txBox="1"/>
            <p:nvPr/>
          </p:nvSpPr>
          <p:spPr>
            <a:xfrm>
              <a:off x="8609917" y="1719858"/>
              <a:ext cx="1520398" cy="745310"/>
            </a:xfrm>
            <a:prstGeom prst="rect">
              <a:avLst/>
            </a:prstGeom>
            <a:solidFill>
              <a:srgbClr val="FBE4D4"/>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Inventory</a:t>
              </a:r>
              <a:endParaRPr b="1" sz="1600">
                <a:solidFill>
                  <a:srgbClr val="BFBFBF"/>
                </a:solidFill>
                <a:latin typeface="Avenir"/>
                <a:ea typeface="Avenir"/>
                <a:cs typeface="Avenir"/>
                <a:sym typeface="Aveni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300</a:t>
              </a:r>
              <a:endParaRPr/>
            </a:p>
          </p:txBody>
        </p:sp>
        <p:sp>
          <p:nvSpPr>
            <p:cNvPr id="1486" name="Google Shape;1486;p57"/>
            <p:cNvSpPr txBox="1"/>
            <p:nvPr/>
          </p:nvSpPr>
          <p:spPr>
            <a:xfrm>
              <a:off x="926134" y="1719856"/>
              <a:ext cx="715451"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6b</a:t>
              </a:r>
              <a:endParaRPr/>
            </a:p>
          </p:txBody>
        </p:sp>
      </p:grpSp>
      <p:sp>
        <p:nvSpPr>
          <p:cNvPr id="1487" name="Google Shape;1487;p57"/>
          <p:cNvSpPr txBox="1"/>
          <p:nvPr/>
        </p:nvSpPr>
        <p:spPr>
          <a:xfrm>
            <a:off x="8107403" y="2130924"/>
            <a:ext cx="1681200" cy="756000"/>
          </a:xfrm>
          <a:prstGeom prst="rect">
            <a:avLst/>
          </a:prstGeom>
          <a:solidFill>
            <a:srgbClr val="548135"/>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300</a:t>
            </a:r>
            <a:endParaRPr/>
          </a:p>
        </p:txBody>
      </p:sp>
      <p:sp>
        <p:nvSpPr>
          <p:cNvPr id="1488" name="Google Shape;1488;p57"/>
          <p:cNvSpPr txBox="1"/>
          <p:nvPr/>
        </p:nvSpPr>
        <p:spPr>
          <a:xfrm>
            <a:off x="9790473" y="2130924"/>
            <a:ext cx="1681200" cy="756000"/>
          </a:xfrm>
          <a:prstGeom prst="rect">
            <a:avLst/>
          </a:prstGeom>
          <a:solidFill>
            <a:schemeClr val="accent2"/>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300</a:t>
            </a:r>
            <a:endParaRPr/>
          </a:p>
        </p:txBody>
      </p:sp>
      <p:sp>
        <p:nvSpPr>
          <p:cNvPr id="1489" name="Google Shape;1489;p57"/>
          <p:cNvSpPr/>
          <p:nvPr/>
        </p:nvSpPr>
        <p:spPr>
          <a:xfrm>
            <a:off x="1284578" y="1520543"/>
            <a:ext cx="2024679" cy="42011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2130">
                <a:solidFill>
                  <a:schemeClr val="dk1"/>
                </a:solidFill>
                <a:latin typeface="Avenir"/>
                <a:ea typeface="Avenir"/>
                <a:cs typeface="Avenir"/>
                <a:sym typeface="Avenir"/>
              </a:rPr>
              <a:t>4 February</a:t>
            </a:r>
            <a:endParaRPr sz="2130">
              <a:solidFill>
                <a:schemeClr val="dk1"/>
              </a:solidFill>
              <a:latin typeface="Avenir"/>
              <a:ea typeface="Avenir"/>
              <a:cs typeface="Avenir"/>
              <a:sym typeface="Avenir"/>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4" name="Shape 1494"/>
        <p:cNvGrpSpPr/>
        <p:nvPr/>
      </p:nvGrpSpPr>
      <p:grpSpPr>
        <a:xfrm>
          <a:off x="0" y="0"/>
          <a:ext cx="0" cy="0"/>
          <a:chOff x="0" y="0"/>
          <a:chExt cx="0" cy="0"/>
        </a:xfrm>
      </p:grpSpPr>
      <p:sp>
        <p:nvSpPr>
          <p:cNvPr id="1495" name="Google Shape;1495;p58"/>
          <p:cNvSpPr txBox="1"/>
          <p:nvPr/>
        </p:nvSpPr>
        <p:spPr>
          <a:xfrm>
            <a:off x="4187006" y="133386"/>
            <a:ext cx="3629520"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cxnSp>
        <p:nvCxnSpPr>
          <p:cNvPr id="1496" name="Google Shape;1496;p58"/>
          <p:cNvCxnSpPr/>
          <p:nvPr/>
        </p:nvCxnSpPr>
        <p:spPr>
          <a:xfrm>
            <a:off x="4316098" y="566860"/>
            <a:ext cx="3375212" cy="0"/>
          </a:xfrm>
          <a:prstGeom prst="straightConnector1">
            <a:avLst/>
          </a:prstGeom>
          <a:noFill/>
          <a:ln cap="flat" cmpd="sng" w="28575">
            <a:solidFill>
              <a:schemeClr val="accent1"/>
            </a:solidFill>
            <a:prstDash val="dot"/>
            <a:miter lim="800000"/>
            <a:headEnd len="sm" w="sm" type="none"/>
            <a:tailEnd len="sm" w="sm" type="none"/>
          </a:ln>
        </p:spPr>
      </p:cxnSp>
      <p:grpSp>
        <p:nvGrpSpPr>
          <p:cNvPr id="1497" name="Google Shape;1497;p58"/>
          <p:cNvGrpSpPr/>
          <p:nvPr/>
        </p:nvGrpSpPr>
        <p:grpSpPr>
          <a:xfrm>
            <a:off x="492858" y="773769"/>
            <a:ext cx="11291146" cy="5895963"/>
            <a:chOff x="492858" y="773769"/>
            <a:chExt cx="11291146" cy="5895963"/>
          </a:xfrm>
        </p:grpSpPr>
        <p:sp>
          <p:nvSpPr>
            <p:cNvPr id="1498" name="Google Shape;1498;p58"/>
            <p:cNvSpPr txBox="1"/>
            <p:nvPr/>
          </p:nvSpPr>
          <p:spPr>
            <a:xfrm>
              <a:off x="6227788" y="2623662"/>
              <a:ext cx="5556216" cy="1692844"/>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Equity</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1499" name="Google Shape;1499;p58"/>
            <p:cNvSpPr txBox="1"/>
            <p:nvPr/>
          </p:nvSpPr>
          <p:spPr>
            <a:xfrm>
              <a:off x="6410845" y="3135649"/>
              <a:ext cx="1544844" cy="770509"/>
            </a:xfrm>
            <a:prstGeom prst="rect">
              <a:avLst/>
            </a:prstGeom>
            <a:noFill/>
            <a:ln cap="flat" cmpd="sng" w="5715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ctr">
                <a:lnSpc>
                  <a:spcPct val="120000"/>
                </a:lnSpc>
                <a:spcBef>
                  <a:spcPts val="0"/>
                </a:spcBef>
                <a:spcAft>
                  <a:spcPts val="0"/>
                </a:spcAft>
                <a:buNone/>
              </a:pPr>
              <a:r>
                <a:rPr b="1" lang="en-US" sz="2200">
                  <a:solidFill>
                    <a:srgbClr val="942093"/>
                  </a:solidFill>
                  <a:latin typeface="Avenir"/>
                  <a:ea typeface="Avenir"/>
                  <a:cs typeface="Avenir"/>
                  <a:sym typeface="Avenir"/>
                </a:rPr>
                <a:t>Profit</a:t>
              </a:r>
              <a:endParaRPr/>
            </a:p>
          </p:txBody>
        </p:sp>
        <p:sp>
          <p:nvSpPr>
            <p:cNvPr id="1500" name="Google Shape;1500;p58"/>
            <p:cNvSpPr txBox="1"/>
            <p:nvPr/>
          </p:nvSpPr>
          <p:spPr>
            <a:xfrm>
              <a:off x="6227788" y="773769"/>
              <a:ext cx="5556216" cy="1702674"/>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Liabilities</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grpSp>
          <p:nvGrpSpPr>
            <p:cNvPr id="1501" name="Google Shape;1501;p58"/>
            <p:cNvGrpSpPr/>
            <p:nvPr/>
          </p:nvGrpSpPr>
          <p:grpSpPr>
            <a:xfrm>
              <a:off x="492858" y="3906158"/>
              <a:ext cx="11291146" cy="2763574"/>
              <a:chOff x="1354633" y="4399872"/>
              <a:chExt cx="9550931" cy="2121952"/>
            </a:xfrm>
          </p:grpSpPr>
          <p:sp>
            <p:nvSpPr>
              <p:cNvPr id="1502" name="Google Shape;1502;p58"/>
              <p:cNvSpPr txBox="1"/>
              <p:nvPr/>
            </p:nvSpPr>
            <p:spPr>
              <a:xfrm>
                <a:off x="1354633" y="4813260"/>
                <a:ext cx="9550931" cy="1708564"/>
              </a:xfrm>
              <a:prstGeom prst="rect">
                <a:avLst/>
              </a:prstGeom>
              <a:solidFill>
                <a:srgbClr val="FCECFB"/>
              </a:solidFill>
              <a:ln cap="flat" cmpd="sng" w="7620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b="1" lang="en-US" sz="2800">
                    <a:solidFill>
                      <a:schemeClr val="dk1"/>
                    </a:solidFill>
                    <a:latin typeface="Avenir"/>
                    <a:ea typeface="Avenir"/>
                    <a:cs typeface="Avenir"/>
                    <a:sym typeface="Avenir"/>
                  </a:rPr>
                  <a:t> </a:t>
                </a:r>
                <a:endParaRPr/>
              </a:p>
            </p:txBody>
          </p:sp>
          <p:sp>
            <p:nvSpPr>
              <p:cNvPr id="1503" name="Google Shape;1503;p58"/>
              <p:cNvSpPr txBox="1"/>
              <p:nvPr/>
            </p:nvSpPr>
            <p:spPr>
              <a:xfrm>
                <a:off x="6199863" y="4921166"/>
                <a:ext cx="4576976" cy="1495361"/>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Income</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1504" name="Google Shape;1504;p58"/>
              <p:cNvSpPr txBox="1"/>
              <p:nvPr/>
            </p:nvSpPr>
            <p:spPr>
              <a:xfrm>
                <a:off x="1481256" y="4921166"/>
                <a:ext cx="4552539" cy="1495361"/>
              </a:xfrm>
              <a:prstGeom prst="rect">
                <a:avLst/>
              </a:prstGeom>
              <a:solidFill>
                <a:srgbClr val="E1EFD8"/>
              </a:solid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None/>
                </a:pPr>
                <a:r>
                  <a:rPr b="1" lang="en-US" sz="2800">
                    <a:solidFill>
                      <a:srgbClr val="E1EFD8"/>
                    </a:solidFill>
                    <a:latin typeface="Avenir"/>
                    <a:ea typeface="Avenir"/>
                    <a:cs typeface="Avenir"/>
                    <a:sym typeface="Avenir"/>
                  </a:rPr>
                  <a:t>_</a:t>
                </a:r>
                <a:r>
                  <a:rPr b="1" lang="en-US" sz="2000">
                    <a:solidFill>
                      <a:schemeClr val="dk1"/>
                    </a:solidFill>
                    <a:latin typeface="Avenir"/>
                    <a:ea typeface="Avenir"/>
                    <a:cs typeface="Avenir"/>
                    <a:sym typeface="Avenir"/>
                  </a:rPr>
                  <a:t>Expenses</a:t>
                </a:r>
                <a:endParaRPr b="1" sz="2800">
                  <a:solidFill>
                    <a:schemeClr val="dk1"/>
                  </a:solidFill>
                  <a:latin typeface="Avenir"/>
                  <a:ea typeface="Avenir"/>
                  <a:cs typeface="Avenir"/>
                  <a:sym typeface="Avenir"/>
                </a:endParaRPr>
              </a:p>
            </p:txBody>
          </p:sp>
          <p:cxnSp>
            <p:nvCxnSpPr>
              <p:cNvPr id="1505" name="Google Shape;1505;p58"/>
              <p:cNvCxnSpPr>
                <a:stCxn id="1499" idx="2"/>
              </p:cNvCxnSpPr>
              <p:nvPr/>
            </p:nvCxnSpPr>
            <p:spPr>
              <a:xfrm>
                <a:off x="7013902" y="4399872"/>
                <a:ext cx="7500" cy="434700"/>
              </a:xfrm>
              <a:prstGeom prst="straightConnector1">
                <a:avLst/>
              </a:prstGeom>
              <a:noFill/>
              <a:ln cap="flat" cmpd="sng" w="76200">
                <a:solidFill>
                  <a:srgbClr val="942093"/>
                </a:solidFill>
                <a:prstDash val="solid"/>
                <a:miter lim="800000"/>
                <a:headEnd len="sm" w="sm" type="none"/>
                <a:tailEnd len="sm" w="sm" type="none"/>
              </a:ln>
            </p:spPr>
          </p:cxnSp>
        </p:grpSp>
        <p:sp>
          <p:nvSpPr>
            <p:cNvPr id="1506" name="Google Shape;1506;p58"/>
            <p:cNvSpPr txBox="1"/>
            <p:nvPr/>
          </p:nvSpPr>
          <p:spPr>
            <a:xfrm>
              <a:off x="492858" y="773769"/>
              <a:ext cx="5544457" cy="3542737"/>
            </a:xfrm>
            <a:prstGeom prst="rect">
              <a:avLst/>
            </a:prstGeom>
            <a:solidFill>
              <a:srgbClr val="E1EFD8"/>
            </a:solid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None/>
              </a:pPr>
              <a:r>
                <a:rPr b="1" lang="en-US" sz="2800">
                  <a:solidFill>
                    <a:srgbClr val="E1EFD8"/>
                  </a:solidFill>
                  <a:latin typeface="Avenir"/>
                  <a:ea typeface="Avenir"/>
                  <a:cs typeface="Avenir"/>
                  <a:sym typeface="Avenir"/>
                </a:rPr>
                <a:t>_</a:t>
              </a:r>
              <a:r>
                <a:rPr b="1" lang="en-US" sz="2000">
                  <a:solidFill>
                    <a:schemeClr val="dk1"/>
                  </a:solidFill>
                  <a:latin typeface="Avenir"/>
                  <a:ea typeface="Avenir"/>
                  <a:cs typeface="Avenir"/>
                  <a:sym typeface="Avenir"/>
                </a:rPr>
                <a:t>Assets</a:t>
              </a:r>
              <a:endParaRPr b="1" sz="2800">
                <a:solidFill>
                  <a:schemeClr val="dk1"/>
                </a:solidFill>
                <a:latin typeface="Avenir"/>
                <a:ea typeface="Avenir"/>
                <a:cs typeface="Avenir"/>
                <a:sym typeface="Avenir"/>
              </a:endParaRPr>
            </a:p>
          </p:txBody>
        </p:sp>
      </p:grpSp>
      <p:grpSp>
        <p:nvGrpSpPr>
          <p:cNvPr id="1507" name="Google Shape;1507;p58"/>
          <p:cNvGrpSpPr/>
          <p:nvPr/>
        </p:nvGrpSpPr>
        <p:grpSpPr>
          <a:xfrm>
            <a:off x="4248000" y="2850495"/>
            <a:ext cx="1620000" cy="1116000"/>
            <a:chOff x="3810000" y="2381250"/>
            <a:chExt cx="1390650" cy="1230631"/>
          </a:xfrm>
        </p:grpSpPr>
        <p:sp>
          <p:nvSpPr>
            <p:cNvPr id="1508" name="Google Shape;1508;p58"/>
            <p:cNvSpPr/>
            <p:nvPr/>
          </p:nvSpPr>
          <p:spPr>
            <a:xfrm flipH="1">
              <a:off x="4505325" y="2381250"/>
              <a:ext cx="695325" cy="1230631"/>
            </a:xfrm>
            <a:prstGeom prst="corner">
              <a:avLst>
                <a:gd fmla="val 7073" name="adj1"/>
                <a:gd fmla="val 694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1509" name="Google Shape;1509;p58"/>
            <p:cNvSpPr/>
            <p:nvPr/>
          </p:nvSpPr>
          <p:spPr>
            <a:xfrm>
              <a:off x="3810000" y="2381250"/>
              <a:ext cx="695325" cy="1230631"/>
            </a:xfrm>
            <a:prstGeom prst="corner">
              <a:avLst>
                <a:gd fmla="val 7073" name="adj1"/>
                <a:gd fmla="val 694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1510" name="Google Shape;1510;p58"/>
          <p:cNvGrpSpPr/>
          <p:nvPr/>
        </p:nvGrpSpPr>
        <p:grpSpPr>
          <a:xfrm>
            <a:off x="2458800" y="2471272"/>
            <a:ext cx="1620000" cy="1487426"/>
            <a:chOff x="671549" y="1402787"/>
            <a:chExt cx="1620000" cy="2549293"/>
          </a:xfrm>
        </p:grpSpPr>
        <p:sp>
          <p:nvSpPr>
            <p:cNvPr id="1511" name="Google Shape;1511;p58"/>
            <p:cNvSpPr/>
            <p:nvPr/>
          </p:nvSpPr>
          <p:spPr>
            <a:xfrm flipH="1">
              <a:off x="1481549" y="1402787"/>
              <a:ext cx="810000" cy="2549293"/>
            </a:xfrm>
            <a:prstGeom prst="corner">
              <a:avLst>
                <a:gd fmla="val 6497" name="adj1"/>
                <a:gd fmla="val 694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1800">
                <a:solidFill>
                  <a:schemeClr val="lt1"/>
                </a:solidFill>
                <a:latin typeface="Avenir"/>
                <a:ea typeface="Avenir"/>
                <a:cs typeface="Avenir"/>
                <a:sym typeface="Avenir"/>
              </a:endParaRPr>
            </a:p>
          </p:txBody>
        </p:sp>
        <p:sp>
          <p:nvSpPr>
            <p:cNvPr id="1512" name="Google Shape;1512;p58"/>
            <p:cNvSpPr/>
            <p:nvPr/>
          </p:nvSpPr>
          <p:spPr>
            <a:xfrm>
              <a:off x="671549" y="1402787"/>
              <a:ext cx="810000" cy="2549293"/>
            </a:xfrm>
            <a:prstGeom prst="corner">
              <a:avLst>
                <a:gd fmla="val 6497" name="adj1"/>
                <a:gd fmla="val 7336"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1800">
                <a:solidFill>
                  <a:schemeClr val="lt1"/>
                </a:solidFill>
                <a:latin typeface="Avenir"/>
                <a:ea typeface="Avenir"/>
                <a:cs typeface="Avenir"/>
                <a:sym typeface="Avenir"/>
              </a:endParaRPr>
            </a:p>
          </p:txBody>
        </p:sp>
      </p:grpSp>
      <p:grpSp>
        <p:nvGrpSpPr>
          <p:cNvPr id="1513" name="Google Shape;1513;p58"/>
          <p:cNvGrpSpPr/>
          <p:nvPr/>
        </p:nvGrpSpPr>
        <p:grpSpPr>
          <a:xfrm>
            <a:off x="673200" y="3340800"/>
            <a:ext cx="1620000" cy="613673"/>
            <a:chOff x="3810000" y="2381250"/>
            <a:chExt cx="1390650" cy="1230631"/>
          </a:xfrm>
        </p:grpSpPr>
        <p:sp>
          <p:nvSpPr>
            <p:cNvPr id="1514" name="Google Shape;1514;p58"/>
            <p:cNvSpPr/>
            <p:nvPr/>
          </p:nvSpPr>
          <p:spPr>
            <a:xfrm flipH="1">
              <a:off x="4505325"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1515" name="Google Shape;1515;p58"/>
            <p:cNvSpPr/>
            <p:nvPr/>
          </p:nvSpPr>
          <p:spPr>
            <a:xfrm>
              <a:off x="3810000"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sp>
        <p:nvSpPr>
          <p:cNvPr id="1516" name="Google Shape;1516;p58"/>
          <p:cNvSpPr txBox="1"/>
          <p:nvPr/>
        </p:nvSpPr>
        <p:spPr>
          <a:xfrm>
            <a:off x="2551146" y="3924000"/>
            <a:ext cx="1393331"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Cash at bank</a:t>
            </a:r>
            <a:endParaRPr/>
          </a:p>
        </p:txBody>
      </p:sp>
      <p:sp>
        <p:nvSpPr>
          <p:cNvPr id="1517" name="Google Shape;1517;p58"/>
          <p:cNvSpPr txBox="1"/>
          <p:nvPr/>
        </p:nvSpPr>
        <p:spPr>
          <a:xfrm>
            <a:off x="4292494" y="3924000"/>
            <a:ext cx="1531779"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Inventory</a:t>
            </a:r>
            <a:endParaRPr/>
          </a:p>
        </p:txBody>
      </p:sp>
      <p:sp>
        <p:nvSpPr>
          <p:cNvPr id="1518" name="Google Shape;1518;p58"/>
          <p:cNvSpPr txBox="1"/>
          <p:nvPr/>
        </p:nvSpPr>
        <p:spPr>
          <a:xfrm>
            <a:off x="661400" y="3924000"/>
            <a:ext cx="1647322"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Equipment</a:t>
            </a:r>
            <a:endParaRPr/>
          </a:p>
        </p:txBody>
      </p:sp>
      <p:sp>
        <p:nvSpPr>
          <p:cNvPr id="1519" name="Google Shape;1519;p58"/>
          <p:cNvSpPr txBox="1"/>
          <p:nvPr/>
        </p:nvSpPr>
        <p:spPr>
          <a:xfrm>
            <a:off x="4306077" y="6192000"/>
            <a:ext cx="1606417"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Cost of sales</a:t>
            </a:r>
            <a:endParaRPr/>
          </a:p>
        </p:txBody>
      </p:sp>
      <p:sp>
        <p:nvSpPr>
          <p:cNvPr id="1520" name="Google Shape;1520;p58"/>
          <p:cNvSpPr txBox="1"/>
          <p:nvPr/>
        </p:nvSpPr>
        <p:spPr>
          <a:xfrm>
            <a:off x="6295758" y="6192000"/>
            <a:ext cx="1842786"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Revenue (sales)</a:t>
            </a:r>
            <a:endParaRPr/>
          </a:p>
        </p:txBody>
      </p:sp>
      <p:sp>
        <p:nvSpPr>
          <p:cNvPr id="1521" name="Google Shape;1521;p58"/>
          <p:cNvSpPr txBox="1"/>
          <p:nvPr/>
        </p:nvSpPr>
        <p:spPr>
          <a:xfrm>
            <a:off x="10028967" y="2029411"/>
            <a:ext cx="1593685"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Bank loan</a:t>
            </a:r>
            <a:endParaRPr/>
          </a:p>
        </p:txBody>
      </p:sp>
      <p:sp>
        <p:nvSpPr>
          <p:cNvPr id="1522" name="Google Shape;1522;p58"/>
          <p:cNvSpPr txBox="1"/>
          <p:nvPr/>
        </p:nvSpPr>
        <p:spPr>
          <a:xfrm>
            <a:off x="3184560" y="3614709"/>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30,000</a:t>
            </a:r>
            <a:endParaRPr/>
          </a:p>
        </p:txBody>
      </p:sp>
      <p:sp>
        <p:nvSpPr>
          <p:cNvPr id="1523" name="Google Shape;1523;p58"/>
          <p:cNvSpPr txBox="1"/>
          <p:nvPr/>
        </p:nvSpPr>
        <p:spPr>
          <a:xfrm>
            <a:off x="3184560" y="3344709"/>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20,000</a:t>
            </a:r>
            <a:endParaRPr/>
          </a:p>
        </p:txBody>
      </p:sp>
      <p:sp>
        <p:nvSpPr>
          <p:cNvPr id="1524" name="Google Shape;1524;p58"/>
          <p:cNvSpPr txBox="1"/>
          <p:nvPr/>
        </p:nvSpPr>
        <p:spPr>
          <a:xfrm>
            <a:off x="3298373" y="3074709"/>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5,000</a:t>
            </a:r>
            <a:endParaRPr/>
          </a:p>
        </p:txBody>
      </p:sp>
      <p:sp>
        <p:nvSpPr>
          <p:cNvPr id="1525" name="Google Shape;1525;p58"/>
          <p:cNvSpPr txBox="1"/>
          <p:nvPr/>
        </p:nvSpPr>
        <p:spPr>
          <a:xfrm>
            <a:off x="3469894" y="2534709"/>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700</a:t>
            </a:r>
            <a:endParaRPr/>
          </a:p>
        </p:txBody>
      </p:sp>
      <p:sp>
        <p:nvSpPr>
          <p:cNvPr id="1526" name="Google Shape;1526;p58"/>
          <p:cNvSpPr txBox="1"/>
          <p:nvPr/>
        </p:nvSpPr>
        <p:spPr>
          <a:xfrm>
            <a:off x="3184560" y="2804709"/>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10,000</a:t>
            </a:r>
            <a:endParaRPr/>
          </a:p>
        </p:txBody>
      </p:sp>
      <p:sp>
        <p:nvSpPr>
          <p:cNvPr id="1527" name="Google Shape;1527;p58"/>
          <p:cNvSpPr txBox="1"/>
          <p:nvPr/>
        </p:nvSpPr>
        <p:spPr>
          <a:xfrm>
            <a:off x="10026434" y="3924000"/>
            <a:ext cx="1757569"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contributed capital</a:t>
            </a:r>
            <a:endParaRPr/>
          </a:p>
        </p:txBody>
      </p:sp>
      <p:sp>
        <p:nvSpPr>
          <p:cNvPr id="1528" name="Google Shape;1528;p58"/>
          <p:cNvSpPr/>
          <p:nvPr/>
        </p:nvSpPr>
        <p:spPr>
          <a:xfrm rot="10800000">
            <a:off x="3011371" y="258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29" name="Google Shape;1529;p58"/>
          <p:cNvSpPr/>
          <p:nvPr/>
        </p:nvSpPr>
        <p:spPr>
          <a:xfrm>
            <a:off x="3011371" y="28767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30" name="Google Shape;1530;p58"/>
          <p:cNvSpPr/>
          <p:nvPr/>
        </p:nvSpPr>
        <p:spPr>
          <a:xfrm>
            <a:off x="3011371" y="31467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31" name="Google Shape;1531;p58"/>
          <p:cNvSpPr/>
          <p:nvPr/>
        </p:nvSpPr>
        <p:spPr>
          <a:xfrm rot="10800000">
            <a:off x="3011371" y="339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32" name="Google Shape;1532;p58"/>
          <p:cNvSpPr/>
          <p:nvPr/>
        </p:nvSpPr>
        <p:spPr>
          <a:xfrm rot="10800000">
            <a:off x="3011371" y="366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33" name="Google Shape;1533;p58"/>
          <p:cNvSpPr txBox="1"/>
          <p:nvPr/>
        </p:nvSpPr>
        <p:spPr>
          <a:xfrm>
            <a:off x="10785455" y="1718255"/>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30,000</a:t>
            </a:r>
            <a:endParaRPr/>
          </a:p>
        </p:txBody>
      </p:sp>
      <p:sp>
        <p:nvSpPr>
          <p:cNvPr id="1534" name="Google Shape;1534;p58"/>
          <p:cNvSpPr/>
          <p:nvPr/>
        </p:nvSpPr>
        <p:spPr>
          <a:xfrm rot="10800000">
            <a:off x="10548000" y="1757882"/>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1535" name="Google Shape;1535;p58"/>
          <p:cNvSpPr txBox="1"/>
          <p:nvPr/>
        </p:nvSpPr>
        <p:spPr>
          <a:xfrm>
            <a:off x="10776926" y="3605780"/>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20,000</a:t>
            </a:r>
            <a:endParaRPr/>
          </a:p>
        </p:txBody>
      </p:sp>
      <p:sp>
        <p:nvSpPr>
          <p:cNvPr id="1536" name="Google Shape;1536;p58"/>
          <p:cNvSpPr txBox="1"/>
          <p:nvPr/>
        </p:nvSpPr>
        <p:spPr>
          <a:xfrm>
            <a:off x="10732895" y="1448255"/>
            <a:ext cx="86400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5,000</a:t>
            </a:r>
            <a:endParaRPr/>
          </a:p>
        </p:txBody>
      </p:sp>
      <p:sp>
        <p:nvSpPr>
          <p:cNvPr id="1537" name="Google Shape;1537;p58"/>
          <p:cNvSpPr/>
          <p:nvPr/>
        </p:nvSpPr>
        <p:spPr>
          <a:xfrm>
            <a:off x="10548000" y="1505882"/>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548135"/>
              </a:solidFill>
              <a:latin typeface="Calibri"/>
              <a:ea typeface="Calibri"/>
              <a:cs typeface="Calibri"/>
              <a:sym typeface="Calibri"/>
            </a:endParaRPr>
          </a:p>
        </p:txBody>
      </p:sp>
      <p:sp>
        <p:nvSpPr>
          <p:cNvPr id="1538" name="Google Shape;1538;p58"/>
          <p:cNvSpPr txBox="1"/>
          <p:nvPr/>
        </p:nvSpPr>
        <p:spPr>
          <a:xfrm>
            <a:off x="4984560" y="3610092"/>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10,000</a:t>
            </a:r>
            <a:endParaRPr/>
          </a:p>
        </p:txBody>
      </p:sp>
      <p:sp>
        <p:nvSpPr>
          <p:cNvPr id="1539" name="Google Shape;1539;p58"/>
          <p:cNvSpPr txBox="1"/>
          <p:nvPr/>
        </p:nvSpPr>
        <p:spPr>
          <a:xfrm>
            <a:off x="7429894" y="5905082"/>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700</a:t>
            </a:r>
            <a:endParaRPr/>
          </a:p>
        </p:txBody>
      </p:sp>
      <p:sp>
        <p:nvSpPr>
          <p:cNvPr id="1540" name="Google Shape;1540;p58"/>
          <p:cNvSpPr/>
          <p:nvPr/>
        </p:nvSpPr>
        <p:spPr>
          <a:xfrm rot="10800000">
            <a:off x="6984000" y="5943076"/>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1541" name="Google Shape;1541;p58"/>
          <p:cNvSpPr txBox="1"/>
          <p:nvPr/>
        </p:nvSpPr>
        <p:spPr>
          <a:xfrm>
            <a:off x="7315968" y="1713373"/>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6,000</a:t>
            </a:r>
            <a:endParaRPr/>
          </a:p>
        </p:txBody>
      </p:sp>
      <p:sp>
        <p:nvSpPr>
          <p:cNvPr id="1542" name="Google Shape;1542;p58"/>
          <p:cNvSpPr/>
          <p:nvPr/>
        </p:nvSpPr>
        <p:spPr>
          <a:xfrm rot="10800000">
            <a:off x="6984000" y="1749046"/>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1543" name="Google Shape;1543;p58"/>
          <p:cNvSpPr txBox="1"/>
          <p:nvPr/>
        </p:nvSpPr>
        <p:spPr>
          <a:xfrm>
            <a:off x="1501235" y="3588336"/>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6,000</a:t>
            </a:r>
            <a:endParaRPr/>
          </a:p>
        </p:txBody>
      </p:sp>
      <p:sp>
        <p:nvSpPr>
          <p:cNvPr id="1544" name="Google Shape;1544;p58"/>
          <p:cNvSpPr/>
          <p:nvPr/>
        </p:nvSpPr>
        <p:spPr>
          <a:xfrm rot="10800000">
            <a:off x="1249425" y="3637660"/>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45" name="Google Shape;1545;p58"/>
          <p:cNvSpPr txBox="1"/>
          <p:nvPr/>
        </p:nvSpPr>
        <p:spPr>
          <a:xfrm>
            <a:off x="5269894" y="3365080"/>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300</a:t>
            </a:r>
            <a:endParaRPr/>
          </a:p>
        </p:txBody>
      </p:sp>
      <p:sp>
        <p:nvSpPr>
          <p:cNvPr id="1546" name="Google Shape;1546;p58"/>
          <p:cNvSpPr/>
          <p:nvPr/>
        </p:nvSpPr>
        <p:spPr>
          <a:xfrm>
            <a:off x="4824000" y="3429341"/>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47" name="Google Shape;1547;p58"/>
          <p:cNvSpPr/>
          <p:nvPr/>
        </p:nvSpPr>
        <p:spPr>
          <a:xfrm rot="10800000">
            <a:off x="4824000" y="3662508"/>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548" name="Google Shape;1548;p58"/>
          <p:cNvSpPr txBox="1"/>
          <p:nvPr/>
        </p:nvSpPr>
        <p:spPr>
          <a:xfrm>
            <a:off x="5305894" y="5893862"/>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300</a:t>
            </a:r>
            <a:endParaRPr/>
          </a:p>
        </p:txBody>
      </p:sp>
      <p:sp>
        <p:nvSpPr>
          <p:cNvPr id="1549" name="Google Shape;1549;p58"/>
          <p:cNvSpPr/>
          <p:nvPr/>
        </p:nvSpPr>
        <p:spPr>
          <a:xfrm rot="10800000">
            <a:off x="4860000" y="5944742"/>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1550" name="Google Shape;1550;p58"/>
          <p:cNvGrpSpPr/>
          <p:nvPr/>
        </p:nvGrpSpPr>
        <p:grpSpPr>
          <a:xfrm>
            <a:off x="2530414" y="2567405"/>
            <a:ext cx="300083" cy="223917"/>
            <a:chOff x="761592" y="3715226"/>
            <a:chExt cx="311527" cy="232457"/>
          </a:xfrm>
        </p:grpSpPr>
        <p:sp>
          <p:nvSpPr>
            <p:cNvPr id="1551" name="Google Shape;1551;p58"/>
            <p:cNvSpPr/>
            <p:nvPr/>
          </p:nvSpPr>
          <p:spPr>
            <a:xfrm>
              <a:off x="810780" y="3715226"/>
              <a:ext cx="224238" cy="224238"/>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552" name="Google Shape;1552;p58"/>
            <p:cNvSpPr/>
            <p:nvPr/>
          </p:nvSpPr>
          <p:spPr>
            <a:xfrm>
              <a:off x="761592" y="3724022"/>
              <a:ext cx="311527" cy="223661"/>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6a</a:t>
              </a:r>
              <a:endParaRPr/>
            </a:p>
          </p:txBody>
        </p:sp>
      </p:grpSp>
      <p:grpSp>
        <p:nvGrpSpPr>
          <p:cNvPr id="1553" name="Google Shape;1553;p58"/>
          <p:cNvGrpSpPr/>
          <p:nvPr/>
        </p:nvGrpSpPr>
        <p:grpSpPr>
          <a:xfrm>
            <a:off x="2574025" y="2841900"/>
            <a:ext cx="245580" cy="224238"/>
            <a:chOff x="802803" y="3715228"/>
            <a:chExt cx="245580" cy="224238"/>
          </a:xfrm>
        </p:grpSpPr>
        <p:sp>
          <p:nvSpPr>
            <p:cNvPr id="1554" name="Google Shape;1554;p58"/>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555" name="Google Shape;1555;p58"/>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5</a:t>
              </a:r>
              <a:endParaRPr/>
            </a:p>
          </p:txBody>
        </p:sp>
      </p:grpSp>
      <p:grpSp>
        <p:nvGrpSpPr>
          <p:cNvPr id="1556" name="Google Shape;1556;p58"/>
          <p:cNvGrpSpPr/>
          <p:nvPr/>
        </p:nvGrpSpPr>
        <p:grpSpPr>
          <a:xfrm>
            <a:off x="2574025" y="3121887"/>
            <a:ext cx="245580" cy="224238"/>
            <a:chOff x="802803" y="3715228"/>
            <a:chExt cx="245580" cy="224238"/>
          </a:xfrm>
        </p:grpSpPr>
        <p:sp>
          <p:nvSpPr>
            <p:cNvPr id="1557" name="Google Shape;1557;p58"/>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558" name="Google Shape;1558;p58"/>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3</a:t>
              </a:r>
              <a:endParaRPr/>
            </a:p>
          </p:txBody>
        </p:sp>
      </p:grpSp>
      <p:grpSp>
        <p:nvGrpSpPr>
          <p:cNvPr id="1559" name="Google Shape;1559;p58"/>
          <p:cNvGrpSpPr/>
          <p:nvPr/>
        </p:nvGrpSpPr>
        <p:grpSpPr>
          <a:xfrm>
            <a:off x="2574025" y="3385828"/>
            <a:ext cx="245580" cy="224238"/>
            <a:chOff x="802803" y="3715228"/>
            <a:chExt cx="245580" cy="224238"/>
          </a:xfrm>
        </p:grpSpPr>
        <p:sp>
          <p:nvSpPr>
            <p:cNvPr id="1560" name="Google Shape;1560;p58"/>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561" name="Google Shape;1561;p58"/>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2</a:t>
              </a:r>
              <a:endParaRPr/>
            </a:p>
          </p:txBody>
        </p:sp>
      </p:grpSp>
      <p:grpSp>
        <p:nvGrpSpPr>
          <p:cNvPr id="1562" name="Google Shape;1562;p58"/>
          <p:cNvGrpSpPr/>
          <p:nvPr/>
        </p:nvGrpSpPr>
        <p:grpSpPr>
          <a:xfrm>
            <a:off x="2574025" y="3649299"/>
            <a:ext cx="245580" cy="224238"/>
            <a:chOff x="802803" y="3715228"/>
            <a:chExt cx="245580" cy="224238"/>
          </a:xfrm>
        </p:grpSpPr>
        <p:sp>
          <p:nvSpPr>
            <p:cNvPr id="1563" name="Google Shape;1563;p58"/>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564" name="Google Shape;1564;p58"/>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a:t>
              </a:r>
              <a:endParaRPr/>
            </a:p>
          </p:txBody>
        </p:sp>
      </p:grpSp>
      <p:grpSp>
        <p:nvGrpSpPr>
          <p:cNvPr id="1565" name="Google Shape;1565;p58"/>
          <p:cNvGrpSpPr/>
          <p:nvPr/>
        </p:nvGrpSpPr>
        <p:grpSpPr>
          <a:xfrm>
            <a:off x="10117559" y="1755851"/>
            <a:ext cx="245580" cy="224238"/>
            <a:chOff x="802803" y="3715228"/>
            <a:chExt cx="245580" cy="224238"/>
          </a:xfrm>
        </p:grpSpPr>
        <p:sp>
          <p:nvSpPr>
            <p:cNvPr id="1566" name="Google Shape;1566;p58"/>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567" name="Google Shape;1567;p58"/>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a:t>
              </a:r>
              <a:endParaRPr/>
            </a:p>
          </p:txBody>
        </p:sp>
      </p:grpSp>
      <p:grpSp>
        <p:nvGrpSpPr>
          <p:cNvPr id="1568" name="Google Shape;1568;p58"/>
          <p:cNvGrpSpPr/>
          <p:nvPr/>
        </p:nvGrpSpPr>
        <p:grpSpPr>
          <a:xfrm>
            <a:off x="10116000" y="3650400"/>
            <a:ext cx="245580" cy="224238"/>
            <a:chOff x="802803" y="3715228"/>
            <a:chExt cx="245580" cy="224238"/>
          </a:xfrm>
        </p:grpSpPr>
        <p:sp>
          <p:nvSpPr>
            <p:cNvPr id="1569" name="Google Shape;1569;p58"/>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570" name="Google Shape;1570;p58"/>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2</a:t>
              </a:r>
              <a:endParaRPr/>
            </a:p>
          </p:txBody>
        </p:sp>
      </p:grpSp>
      <p:grpSp>
        <p:nvGrpSpPr>
          <p:cNvPr id="1571" name="Google Shape;1571;p58"/>
          <p:cNvGrpSpPr/>
          <p:nvPr/>
        </p:nvGrpSpPr>
        <p:grpSpPr>
          <a:xfrm>
            <a:off x="10117837" y="1489299"/>
            <a:ext cx="245580" cy="224238"/>
            <a:chOff x="802803" y="3715228"/>
            <a:chExt cx="245580" cy="224238"/>
          </a:xfrm>
        </p:grpSpPr>
        <p:sp>
          <p:nvSpPr>
            <p:cNvPr id="1572" name="Google Shape;1572;p58"/>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573" name="Google Shape;1573;p58"/>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3</a:t>
              </a:r>
              <a:endParaRPr/>
            </a:p>
          </p:txBody>
        </p:sp>
      </p:grpSp>
      <p:grpSp>
        <p:nvGrpSpPr>
          <p:cNvPr id="1574" name="Google Shape;1574;p58"/>
          <p:cNvGrpSpPr/>
          <p:nvPr/>
        </p:nvGrpSpPr>
        <p:grpSpPr>
          <a:xfrm>
            <a:off x="6553087" y="1741845"/>
            <a:ext cx="245580" cy="224238"/>
            <a:chOff x="802803" y="3715228"/>
            <a:chExt cx="245580" cy="224238"/>
          </a:xfrm>
        </p:grpSpPr>
        <p:sp>
          <p:nvSpPr>
            <p:cNvPr id="1575" name="Google Shape;1575;p58"/>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576" name="Google Shape;1576;p58"/>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4</a:t>
              </a:r>
              <a:endParaRPr/>
            </a:p>
          </p:txBody>
        </p:sp>
      </p:grpSp>
      <p:grpSp>
        <p:nvGrpSpPr>
          <p:cNvPr id="1577" name="Google Shape;1577;p58"/>
          <p:cNvGrpSpPr/>
          <p:nvPr/>
        </p:nvGrpSpPr>
        <p:grpSpPr>
          <a:xfrm>
            <a:off x="784605" y="3629276"/>
            <a:ext cx="245580" cy="224238"/>
            <a:chOff x="802803" y="3715228"/>
            <a:chExt cx="245580" cy="224238"/>
          </a:xfrm>
        </p:grpSpPr>
        <p:sp>
          <p:nvSpPr>
            <p:cNvPr id="1578" name="Google Shape;1578;p58"/>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579" name="Google Shape;1579;p58"/>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4</a:t>
              </a:r>
              <a:endParaRPr/>
            </a:p>
          </p:txBody>
        </p:sp>
      </p:grpSp>
      <p:grpSp>
        <p:nvGrpSpPr>
          <p:cNvPr id="1580" name="Google Shape;1580;p58"/>
          <p:cNvGrpSpPr/>
          <p:nvPr/>
        </p:nvGrpSpPr>
        <p:grpSpPr>
          <a:xfrm>
            <a:off x="4359077" y="3641899"/>
            <a:ext cx="245580" cy="224238"/>
            <a:chOff x="802803" y="3715228"/>
            <a:chExt cx="245580" cy="224238"/>
          </a:xfrm>
        </p:grpSpPr>
        <p:sp>
          <p:nvSpPr>
            <p:cNvPr id="1581" name="Google Shape;1581;p58"/>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582" name="Google Shape;1582;p58"/>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5</a:t>
              </a:r>
              <a:endParaRPr/>
            </a:p>
          </p:txBody>
        </p:sp>
      </p:grpSp>
      <p:grpSp>
        <p:nvGrpSpPr>
          <p:cNvPr id="1583" name="Google Shape;1583;p58"/>
          <p:cNvGrpSpPr/>
          <p:nvPr/>
        </p:nvGrpSpPr>
        <p:grpSpPr>
          <a:xfrm>
            <a:off x="6484980" y="5931080"/>
            <a:ext cx="300082" cy="224238"/>
            <a:chOff x="775552" y="3715228"/>
            <a:chExt cx="300082" cy="224238"/>
          </a:xfrm>
        </p:grpSpPr>
        <p:sp>
          <p:nvSpPr>
            <p:cNvPr id="1584" name="Google Shape;1584;p58"/>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585" name="Google Shape;1585;p58"/>
            <p:cNvSpPr/>
            <p:nvPr/>
          </p:nvSpPr>
          <p:spPr>
            <a:xfrm>
              <a:off x="775552" y="3724022"/>
              <a:ext cx="300082"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6a</a:t>
              </a:r>
              <a:endParaRPr/>
            </a:p>
          </p:txBody>
        </p:sp>
      </p:grpSp>
      <p:grpSp>
        <p:nvGrpSpPr>
          <p:cNvPr id="1586" name="Google Shape;1586;p58"/>
          <p:cNvGrpSpPr/>
          <p:nvPr/>
        </p:nvGrpSpPr>
        <p:grpSpPr>
          <a:xfrm>
            <a:off x="4325561" y="3388584"/>
            <a:ext cx="309700" cy="224238"/>
            <a:chOff x="770743" y="3715228"/>
            <a:chExt cx="309700" cy="224238"/>
          </a:xfrm>
        </p:grpSpPr>
        <p:sp>
          <p:nvSpPr>
            <p:cNvPr id="1587" name="Google Shape;1587;p58"/>
            <p:cNvSpPr/>
            <p:nvPr/>
          </p:nvSpPr>
          <p:spPr>
            <a:xfrm>
              <a:off x="810781" y="3715228"/>
              <a:ext cx="216000" cy="216000"/>
            </a:xfrm>
            <a:prstGeom prst="ellipse">
              <a:avLst/>
            </a:prstGeom>
            <a:solidFill>
              <a:srgbClr val="FFFF00"/>
            </a:solidFill>
            <a:ln cap="flat" cmpd="sng" w="1270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588" name="Google Shape;1588;p58"/>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6b</a:t>
              </a:r>
              <a:endParaRPr/>
            </a:p>
          </p:txBody>
        </p:sp>
      </p:grpSp>
      <p:grpSp>
        <p:nvGrpSpPr>
          <p:cNvPr id="1589" name="Google Shape;1589;p58"/>
          <p:cNvGrpSpPr/>
          <p:nvPr/>
        </p:nvGrpSpPr>
        <p:grpSpPr>
          <a:xfrm>
            <a:off x="4372912" y="5940000"/>
            <a:ext cx="309700" cy="224238"/>
            <a:chOff x="770743" y="3715228"/>
            <a:chExt cx="309700" cy="224238"/>
          </a:xfrm>
        </p:grpSpPr>
        <p:sp>
          <p:nvSpPr>
            <p:cNvPr id="1590" name="Google Shape;1590;p58"/>
            <p:cNvSpPr/>
            <p:nvPr/>
          </p:nvSpPr>
          <p:spPr>
            <a:xfrm>
              <a:off x="810781" y="3715228"/>
              <a:ext cx="216000" cy="216000"/>
            </a:xfrm>
            <a:prstGeom prst="ellipse">
              <a:avLst/>
            </a:prstGeom>
            <a:solidFill>
              <a:srgbClr val="FFFF00"/>
            </a:solidFill>
            <a:ln cap="flat" cmpd="sng" w="1270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591" name="Google Shape;1591;p58"/>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6b</a:t>
              </a:r>
              <a:endParaRPr/>
            </a:p>
          </p:txBody>
        </p:sp>
      </p:grpSp>
      <p:sp>
        <p:nvSpPr>
          <p:cNvPr id="1592" name="Google Shape;1592;p58"/>
          <p:cNvSpPr txBox="1"/>
          <p:nvPr/>
        </p:nvSpPr>
        <p:spPr>
          <a:xfrm>
            <a:off x="6252890" y="2028286"/>
            <a:ext cx="1987133"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Accounts payable</a:t>
            </a:r>
            <a:endParaRPr/>
          </a:p>
        </p:txBody>
      </p:sp>
      <p:sp>
        <p:nvSpPr>
          <p:cNvPr id="1593" name="Google Shape;1593;p58"/>
          <p:cNvSpPr txBox="1"/>
          <p:nvPr/>
        </p:nvSpPr>
        <p:spPr>
          <a:xfrm>
            <a:off x="9504213" y="373659"/>
            <a:ext cx="2279791" cy="40011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000">
                <a:solidFill>
                  <a:schemeClr val="accent2"/>
                </a:solidFill>
                <a:latin typeface="Avenir"/>
                <a:ea typeface="Avenir"/>
                <a:cs typeface="Avenir"/>
                <a:sym typeface="Avenir"/>
              </a:rPr>
              <a:t>Sources of funds</a:t>
            </a:r>
            <a:endParaRPr/>
          </a:p>
        </p:txBody>
      </p:sp>
      <p:sp>
        <p:nvSpPr>
          <p:cNvPr id="1594" name="Google Shape;1594;p58"/>
          <p:cNvSpPr txBox="1"/>
          <p:nvPr/>
        </p:nvSpPr>
        <p:spPr>
          <a:xfrm>
            <a:off x="492858" y="373659"/>
            <a:ext cx="1880643" cy="40011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000">
                <a:solidFill>
                  <a:schemeClr val="accent6"/>
                </a:solidFill>
                <a:latin typeface="Avenir"/>
                <a:ea typeface="Avenir"/>
                <a:cs typeface="Avenir"/>
                <a:sym typeface="Avenir"/>
              </a:rPr>
              <a:t>Uses of funds</a:t>
            </a:r>
            <a:endParaRPr/>
          </a:p>
        </p:txBody>
      </p:sp>
      <p:grpSp>
        <p:nvGrpSpPr>
          <p:cNvPr id="1595" name="Google Shape;1595;p58"/>
          <p:cNvGrpSpPr/>
          <p:nvPr/>
        </p:nvGrpSpPr>
        <p:grpSpPr>
          <a:xfrm>
            <a:off x="4292494" y="5448381"/>
            <a:ext cx="1620000" cy="796276"/>
            <a:chOff x="3810000" y="2015069"/>
            <a:chExt cx="1390650" cy="1596814"/>
          </a:xfrm>
        </p:grpSpPr>
        <p:sp>
          <p:nvSpPr>
            <p:cNvPr id="1596" name="Google Shape;1596;p58"/>
            <p:cNvSpPr/>
            <p:nvPr/>
          </p:nvSpPr>
          <p:spPr>
            <a:xfrm flipH="1">
              <a:off x="4505325" y="2015073"/>
              <a:ext cx="695325" cy="1596810"/>
            </a:xfrm>
            <a:prstGeom prst="corner">
              <a:avLst>
                <a:gd fmla="val 7267" name="adj1"/>
                <a:gd fmla="val 7888"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1597" name="Google Shape;1597;p58"/>
            <p:cNvSpPr/>
            <p:nvPr/>
          </p:nvSpPr>
          <p:spPr>
            <a:xfrm>
              <a:off x="3810000" y="2015069"/>
              <a:ext cx="695325" cy="1596812"/>
            </a:xfrm>
            <a:prstGeom prst="corner">
              <a:avLst>
                <a:gd fmla="val 7268" name="adj1"/>
                <a:gd fmla="val 7888"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1598" name="Google Shape;1598;p58"/>
          <p:cNvGrpSpPr/>
          <p:nvPr/>
        </p:nvGrpSpPr>
        <p:grpSpPr>
          <a:xfrm>
            <a:off x="6382456" y="5448381"/>
            <a:ext cx="1620000" cy="796276"/>
            <a:chOff x="3810000" y="2015069"/>
            <a:chExt cx="1390650" cy="1596814"/>
          </a:xfrm>
        </p:grpSpPr>
        <p:sp>
          <p:nvSpPr>
            <p:cNvPr id="1599" name="Google Shape;1599;p58"/>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1600" name="Google Shape;1600;p58"/>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1601" name="Google Shape;1601;p58"/>
          <p:cNvGrpSpPr/>
          <p:nvPr/>
        </p:nvGrpSpPr>
        <p:grpSpPr>
          <a:xfrm>
            <a:off x="9983452" y="3159099"/>
            <a:ext cx="1620000" cy="796276"/>
            <a:chOff x="3810000" y="2015069"/>
            <a:chExt cx="1390650" cy="1596814"/>
          </a:xfrm>
        </p:grpSpPr>
        <p:sp>
          <p:nvSpPr>
            <p:cNvPr id="1602" name="Google Shape;1602;p58"/>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1603" name="Google Shape;1603;p58"/>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1604" name="Google Shape;1604;p58"/>
          <p:cNvGrpSpPr/>
          <p:nvPr/>
        </p:nvGrpSpPr>
        <p:grpSpPr>
          <a:xfrm>
            <a:off x="10006085" y="1263488"/>
            <a:ext cx="1620000" cy="796276"/>
            <a:chOff x="3810000" y="2015069"/>
            <a:chExt cx="1390650" cy="1596814"/>
          </a:xfrm>
        </p:grpSpPr>
        <p:sp>
          <p:nvSpPr>
            <p:cNvPr id="1605" name="Google Shape;1605;p58"/>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1606" name="Google Shape;1606;p58"/>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1607" name="Google Shape;1607;p58"/>
          <p:cNvGrpSpPr/>
          <p:nvPr/>
        </p:nvGrpSpPr>
        <p:grpSpPr>
          <a:xfrm>
            <a:off x="6428511" y="1266563"/>
            <a:ext cx="1620000" cy="796276"/>
            <a:chOff x="3810000" y="2015069"/>
            <a:chExt cx="1390650" cy="1596814"/>
          </a:xfrm>
        </p:grpSpPr>
        <p:sp>
          <p:nvSpPr>
            <p:cNvPr id="1608" name="Google Shape;1608;p58"/>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1609" name="Google Shape;1609;p58"/>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sp>
        <p:nvSpPr>
          <p:cNvPr id="1610" name="Google Shape;1610;p58"/>
          <p:cNvSpPr/>
          <p:nvPr/>
        </p:nvSpPr>
        <p:spPr>
          <a:xfrm rot="10800000">
            <a:off x="10548000" y="3653367"/>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1611" name="Google Shape;1611;p58"/>
          <p:cNvSpPr/>
          <p:nvPr/>
        </p:nvSpPr>
        <p:spPr>
          <a:xfrm>
            <a:off x="1168870" y="1361950"/>
            <a:ext cx="10744019" cy="1312708"/>
          </a:xfrm>
          <a:prstGeom prst="rect">
            <a:avLst/>
          </a:prstGeom>
          <a:solidFill>
            <a:srgbClr val="F2F2F2">
              <a:alpha val="86666"/>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1612" name="Google Shape;1612;p58"/>
          <p:cNvGrpSpPr/>
          <p:nvPr/>
        </p:nvGrpSpPr>
        <p:grpSpPr>
          <a:xfrm>
            <a:off x="1375428" y="1635302"/>
            <a:ext cx="10188967" cy="756004"/>
            <a:chOff x="926134" y="1719856"/>
            <a:chExt cx="9204181" cy="750147"/>
          </a:xfrm>
        </p:grpSpPr>
        <p:sp>
          <p:nvSpPr>
            <p:cNvPr id="1613" name="Google Shape;1613;p58"/>
            <p:cNvSpPr txBox="1"/>
            <p:nvPr/>
          </p:nvSpPr>
          <p:spPr>
            <a:xfrm>
              <a:off x="1641585" y="1719860"/>
              <a:ext cx="5447935"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139700" marR="0" rtl="0" algn="l">
                <a:spcBef>
                  <a:spcPts val="0"/>
                </a:spcBef>
                <a:spcAft>
                  <a:spcPts val="0"/>
                </a:spcAft>
                <a:buNone/>
              </a:pPr>
              <a:r>
                <a:rPr lang="en-US" sz="2000">
                  <a:solidFill>
                    <a:schemeClr val="dk1"/>
                  </a:solidFill>
                  <a:latin typeface="Calibri"/>
                  <a:ea typeface="Calibri"/>
                  <a:cs typeface="Calibri"/>
                  <a:sym typeface="Calibri"/>
                </a:rPr>
                <a:t>고객 A에게 판매하면서 일부 재고를 사용함.</a:t>
              </a:r>
              <a:endParaRPr sz="2000">
                <a:solidFill>
                  <a:schemeClr val="dk1"/>
                </a:solidFill>
                <a:latin typeface="Avenir"/>
                <a:ea typeface="Avenir"/>
                <a:cs typeface="Avenir"/>
                <a:sym typeface="Avenir"/>
              </a:endParaRPr>
            </a:p>
          </p:txBody>
        </p:sp>
        <p:sp>
          <p:nvSpPr>
            <p:cNvPr id="1614" name="Google Shape;1614;p58"/>
            <p:cNvSpPr txBox="1"/>
            <p:nvPr/>
          </p:nvSpPr>
          <p:spPr>
            <a:xfrm>
              <a:off x="7089520" y="1719858"/>
              <a:ext cx="1520398" cy="745310"/>
            </a:xfrm>
            <a:prstGeom prst="rect">
              <a:avLst/>
            </a:prstGeom>
            <a:solidFill>
              <a:srgbClr val="E1EFD8"/>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Cost of sales</a:t>
              </a: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300</a:t>
              </a:r>
              <a:endParaRPr/>
            </a:p>
          </p:txBody>
        </p:sp>
        <p:sp>
          <p:nvSpPr>
            <p:cNvPr id="1615" name="Google Shape;1615;p58"/>
            <p:cNvSpPr txBox="1"/>
            <p:nvPr/>
          </p:nvSpPr>
          <p:spPr>
            <a:xfrm>
              <a:off x="8609917" y="1719858"/>
              <a:ext cx="1520398" cy="745310"/>
            </a:xfrm>
            <a:prstGeom prst="rect">
              <a:avLst/>
            </a:prstGeom>
            <a:solidFill>
              <a:srgbClr val="FBE4D4"/>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Inventory</a:t>
              </a:r>
              <a:endParaRPr b="1" sz="1600">
                <a:solidFill>
                  <a:srgbClr val="BFBFBF"/>
                </a:solidFill>
                <a:latin typeface="Avenir"/>
                <a:ea typeface="Avenir"/>
                <a:cs typeface="Avenir"/>
                <a:sym typeface="Aveni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300</a:t>
              </a:r>
              <a:endParaRPr/>
            </a:p>
          </p:txBody>
        </p:sp>
        <p:sp>
          <p:nvSpPr>
            <p:cNvPr id="1616" name="Google Shape;1616;p58"/>
            <p:cNvSpPr txBox="1"/>
            <p:nvPr/>
          </p:nvSpPr>
          <p:spPr>
            <a:xfrm>
              <a:off x="926134" y="1719856"/>
              <a:ext cx="715451"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6b</a:t>
              </a:r>
              <a:endParaRPr/>
            </a:p>
          </p:txBody>
        </p:sp>
      </p:grpSp>
      <p:sp>
        <p:nvSpPr>
          <p:cNvPr id="1617" name="Google Shape;1617;p58"/>
          <p:cNvSpPr/>
          <p:nvPr/>
        </p:nvSpPr>
        <p:spPr>
          <a:xfrm rot="10800000">
            <a:off x="153289" y="4549188"/>
            <a:ext cx="950259" cy="1037381"/>
          </a:xfrm>
          <a:prstGeom prst="downArrow">
            <a:avLst>
              <a:gd fmla="val 50000" name="adj1"/>
              <a:gd fmla="val 50000" name="adj2"/>
            </a:avLst>
          </a:prstGeom>
          <a:solidFill>
            <a:schemeClr val="accent6">
              <a:alpha val="77647"/>
            </a:schemeClr>
          </a:solidFill>
          <a:ln>
            <a:noFill/>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18" name="Google Shape;1618;p58"/>
          <p:cNvSpPr/>
          <p:nvPr/>
        </p:nvSpPr>
        <p:spPr>
          <a:xfrm>
            <a:off x="152838" y="842384"/>
            <a:ext cx="950259" cy="1037381"/>
          </a:xfrm>
          <a:prstGeom prst="downArrow">
            <a:avLst>
              <a:gd fmla="val 50000" name="adj1"/>
              <a:gd fmla="val 50000" name="adj2"/>
            </a:avLst>
          </a:prstGeom>
          <a:solidFill>
            <a:schemeClr val="accent2">
              <a:alpha val="77647"/>
            </a:schemeClr>
          </a:solidFill>
          <a:ln>
            <a:noFill/>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19" name="Google Shape;1619;p58"/>
          <p:cNvSpPr txBox="1"/>
          <p:nvPr/>
        </p:nvSpPr>
        <p:spPr>
          <a:xfrm>
            <a:off x="6423872" y="3419412"/>
            <a:ext cx="1548343" cy="566133"/>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400</a:t>
            </a:r>
            <a:endParaRPr sz="2400">
              <a:solidFill>
                <a:schemeClr val="dk1"/>
              </a:solidFill>
              <a:latin typeface="Calibri"/>
              <a:ea typeface="Calibri"/>
              <a:cs typeface="Calibri"/>
              <a:sym typeface="Calibri"/>
            </a:endParaRPr>
          </a:p>
        </p:txBody>
      </p:sp>
      <p:sp>
        <p:nvSpPr>
          <p:cNvPr id="1620" name="Google Shape;1620;p58"/>
          <p:cNvSpPr txBox="1"/>
          <p:nvPr/>
        </p:nvSpPr>
        <p:spPr>
          <a:xfrm>
            <a:off x="6413490" y="3419412"/>
            <a:ext cx="1548343" cy="566133"/>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700</a:t>
            </a:r>
            <a:endParaRPr sz="2400">
              <a:solidFill>
                <a:schemeClr val="dk1"/>
              </a:solidFill>
              <a:latin typeface="Calibri"/>
              <a:ea typeface="Calibri"/>
              <a:cs typeface="Calibri"/>
              <a:sym typeface="Calibri"/>
            </a:endParaRPr>
          </a:p>
        </p:txBody>
      </p:sp>
      <p:sp>
        <p:nvSpPr>
          <p:cNvPr id="1621" name="Google Shape;1621;p58"/>
          <p:cNvSpPr txBox="1"/>
          <p:nvPr/>
        </p:nvSpPr>
        <p:spPr>
          <a:xfrm>
            <a:off x="8204916" y="1634367"/>
            <a:ext cx="1683070" cy="756000"/>
          </a:xfrm>
          <a:prstGeom prst="rect">
            <a:avLst/>
          </a:prstGeom>
          <a:solidFill>
            <a:srgbClr val="548135"/>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300</a:t>
            </a:r>
            <a:endParaRPr/>
          </a:p>
        </p:txBody>
      </p:sp>
      <p:sp>
        <p:nvSpPr>
          <p:cNvPr id="1622" name="Google Shape;1622;p58"/>
          <p:cNvSpPr txBox="1"/>
          <p:nvPr/>
        </p:nvSpPr>
        <p:spPr>
          <a:xfrm>
            <a:off x="9887986" y="1638480"/>
            <a:ext cx="1683070" cy="756000"/>
          </a:xfrm>
          <a:prstGeom prst="rect">
            <a:avLst/>
          </a:prstGeom>
          <a:solidFill>
            <a:schemeClr val="accent2"/>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300</a:t>
            </a:r>
            <a:endParaRPr/>
          </a:p>
        </p:txBody>
      </p:sp>
    </p:spTree>
  </p:cSld>
  <p:clrMapOvr>
    <a:masterClrMapping/>
  </p:clrMapOvr>
  <mc:AlternateContent>
    <mc:Choice Requires="p14">
      <p:transition spd="slow" p14:dur="700">
        <p:fade/>
      </p:transition>
    </mc:Choice>
    <mc:Fallback>
      <p:transition spd="slow">
        <p:fade/>
      </p:transition>
    </mc:Fallback>
  </mc:AlternateContent>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afterEffect" presetClass="exit" presetID="10" presetSubtype="0">
                                  <p:stCondLst>
                                    <p:cond delay="0"/>
                                  </p:stCondLst>
                                  <p:childTnLst>
                                    <p:animEffect filter="fade" transition="out">
                                      <p:cBhvr>
                                        <p:cTn dur="1000"/>
                                        <p:tgtEl>
                                          <p:spTgt spid="1622"/>
                                        </p:tgtEl>
                                      </p:cBhvr>
                                    </p:animEffect>
                                    <p:set>
                                      <p:cBhvr>
                                        <p:cTn dur="1" fill="hold">
                                          <p:stCondLst>
                                            <p:cond delay="1000"/>
                                          </p:stCondLst>
                                        </p:cTn>
                                        <p:tgtEl>
                                          <p:spTgt spid="1622"/>
                                        </p:tgtEl>
                                        <p:attrNameLst>
                                          <p:attrName>style.visibility</p:attrName>
                                        </p:attrNameLst>
                                      </p:cBhvr>
                                      <p:to>
                                        <p:strVal val="hidden"/>
                                      </p:to>
                                    </p:set>
                                  </p:childTnLst>
                                </p:cTn>
                              </p:par>
                              <p:par>
                                <p:cTn fill="hold" nodeType="withEffect" presetClass="entr" presetID="10" presetSubtype="0">
                                  <p:stCondLst>
                                    <p:cond delay="0"/>
                                  </p:stCondLst>
                                  <p:childTnLst>
                                    <p:set>
                                      <p:cBhvr>
                                        <p:cTn dur="1" fill="hold">
                                          <p:stCondLst>
                                            <p:cond delay="0"/>
                                          </p:stCondLst>
                                        </p:cTn>
                                        <p:tgtEl>
                                          <p:spTgt spid="1586"/>
                                        </p:tgtEl>
                                        <p:attrNameLst>
                                          <p:attrName>style.visibility</p:attrName>
                                        </p:attrNameLst>
                                      </p:cBhvr>
                                      <p:to>
                                        <p:strVal val="visible"/>
                                      </p:to>
                                    </p:set>
                                    <p:animEffect filter="fade" transition="in">
                                      <p:cBhvr>
                                        <p:cTn dur="1000"/>
                                        <p:tgtEl>
                                          <p:spTgt spid="1586"/>
                                        </p:tgtEl>
                                      </p:cBhvr>
                                    </p:animEffect>
                                  </p:childTnLst>
                                </p:cTn>
                              </p:par>
                              <p:par>
                                <p:cTn fill="hold" nodeType="withEffect" presetClass="entr" presetID="10" presetSubtype="0">
                                  <p:stCondLst>
                                    <p:cond delay="0"/>
                                  </p:stCondLst>
                                  <p:childTnLst>
                                    <p:set>
                                      <p:cBhvr>
                                        <p:cTn dur="1" fill="hold">
                                          <p:stCondLst>
                                            <p:cond delay="0"/>
                                          </p:stCondLst>
                                        </p:cTn>
                                        <p:tgtEl>
                                          <p:spTgt spid="1546"/>
                                        </p:tgtEl>
                                        <p:attrNameLst>
                                          <p:attrName>style.visibility</p:attrName>
                                        </p:attrNameLst>
                                      </p:cBhvr>
                                      <p:to>
                                        <p:strVal val="visible"/>
                                      </p:to>
                                    </p:set>
                                    <p:animEffect filter="fade" transition="in">
                                      <p:cBhvr>
                                        <p:cTn dur="1000"/>
                                        <p:tgtEl>
                                          <p:spTgt spid="1546"/>
                                        </p:tgtEl>
                                      </p:cBhvr>
                                    </p:animEffect>
                                  </p:childTnLst>
                                </p:cTn>
                              </p:par>
                              <p:par>
                                <p:cTn fill="hold" nodeType="withEffect" presetClass="entr" presetID="10" presetSubtype="0">
                                  <p:stCondLst>
                                    <p:cond delay="0"/>
                                  </p:stCondLst>
                                  <p:childTnLst>
                                    <p:set>
                                      <p:cBhvr>
                                        <p:cTn dur="1" fill="hold">
                                          <p:stCondLst>
                                            <p:cond delay="0"/>
                                          </p:stCondLst>
                                        </p:cTn>
                                        <p:tgtEl>
                                          <p:spTgt spid="1545"/>
                                        </p:tgtEl>
                                        <p:attrNameLst>
                                          <p:attrName>style.visibility</p:attrName>
                                        </p:attrNameLst>
                                      </p:cBhvr>
                                      <p:to>
                                        <p:strVal val="visible"/>
                                      </p:to>
                                    </p:set>
                                    <p:animEffect filter="fade" transition="in">
                                      <p:cBhvr>
                                        <p:cTn dur="1000"/>
                                        <p:tgtEl>
                                          <p:spTgt spid="1545"/>
                                        </p:tgtEl>
                                      </p:cBhvr>
                                    </p:animEffect>
                                  </p:childTnLst>
                                </p:cTn>
                              </p:par>
                            </p:childTnLst>
                          </p:cTn>
                        </p:par>
                        <p:par>
                          <p:cTn fill="hold">
                            <p:stCondLst>
                              <p:cond delay="1000"/>
                            </p:stCondLst>
                            <p:childTnLst>
                              <p:par>
                                <p:cTn fill="hold" nodeType="afterEffect" presetClass="exit" presetID="10" presetSubtype="0">
                                  <p:stCondLst>
                                    <p:cond delay="0"/>
                                  </p:stCondLst>
                                  <p:childTnLst>
                                    <p:animEffect filter="fade" transition="out">
                                      <p:cBhvr>
                                        <p:cTn dur="1000"/>
                                        <p:tgtEl>
                                          <p:spTgt spid="1621"/>
                                        </p:tgtEl>
                                      </p:cBhvr>
                                    </p:animEffect>
                                    <p:set>
                                      <p:cBhvr>
                                        <p:cTn dur="1" fill="hold">
                                          <p:stCondLst>
                                            <p:cond delay="1000"/>
                                          </p:stCondLst>
                                        </p:cTn>
                                        <p:tgtEl>
                                          <p:spTgt spid="1621"/>
                                        </p:tgtEl>
                                        <p:attrNameLst>
                                          <p:attrName>style.visibility</p:attrName>
                                        </p:attrNameLst>
                                      </p:cBhvr>
                                      <p:to>
                                        <p:strVal val="hidden"/>
                                      </p:to>
                                    </p:set>
                                  </p:childTnLst>
                                </p:cTn>
                              </p:par>
                              <p:par>
                                <p:cTn fill="hold" nodeType="withEffect" presetClass="entr" presetID="10" presetSubtype="0">
                                  <p:stCondLst>
                                    <p:cond delay="0"/>
                                  </p:stCondLst>
                                  <p:childTnLst>
                                    <p:set>
                                      <p:cBhvr>
                                        <p:cTn dur="1" fill="hold">
                                          <p:stCondLst>
                                            <p:cond delay="0"/>
                                          </p:stCondLst>
                                        </p:cTn>
                                        <p:tgtEl>
                                          <p:spTgt spid="1589"/>
                                        </p:tgtEl>
                                        <p:attrNameLst>
                                          <p:attrName>style.visibility</p:attrName>
                                        </p:attrNameLst>
                                      </p:cBhvr>
                                      <p:to>
                                        <p:strVal val="visible"/>
                                      </p:to>
                                    </p:set>
                                    <p:animEffect filter="fade" transition="in">
                                      <p:cBhvr>
                                        <p:cTn dur="1000"/>
                                        <p:tgtEl>
                                          <p:spTgt spid="1589"/>
                                        </p:tgtEl>
                                      </p:cBhvr>
                                    </p:animEffect>
                                  </p:childTnLst>
                                </p:cTn>
                              </p:par>
                              <p:par>
                                <p:cTn fill="hold" nodeType="withEffect" presetClass="entr" presetID="10" presetSubtype="0">
                                  <p:stCondLst>
                                    <p:cond delay="0"/>
                                  </p:stCondLst>
                                  <p:childTnLst>
                                    <p:set>
                                      <p:cBhvr>
                                        <p:cTn dur="1" fill="hold">
                                          <p:stCondLst>
                                            <p:cond delay="0"/>
                                          </p:stCondLst>
                                        </p:cTn>
                                        <p:tgtEl>
                                          <p:spTgt spid="1549"/>
                                        </p:tgtEl>
                                        <p:attrNameLst>
                                          <p:attrName>style.visibility</p:attrName>
                                        </p:attrNameLst>
                                      </p:cBhvr>
                                      <p:to>
                                        <p:strVal val="visible"/>
                                      </p:to>
                                    </p:set>
                                    <p:animEffect filter="fade" transition="in">
                                      <p:cBhvr>
                                        <p:cTn dur="1000"/>
                                        <p:tgtEl>
                                          <p:spTgt spid="1549"/>
                                        </p:tgtEl>
                                      </p:cBhvr>
                                    </p:animEffect>
                                  </p:childTnLst>
                                </p:cTn>
                              </p:par>
                              <p:par>
                                <p:cTn fill="hold" nodeType="withEffect" presetClass="entr" presetID="10" presetSubtype="0">
                                  <p:stCondLst>
                                    <p:cond delay="0"/>
                                  </p:stCondLst>
                                  <p:childTnLst>
                                    <p:set>
                                      <p:cBhvr>
                                        <p:cTn dur="1" fill="hold">
                                          <p:stCondLst>
                                            <p:cond delay="0"/>
                                          </p:stCondLst>
                                        </p:cTn>
                                        <p:tgtEl>
                                          <p:spTgt spid="1548"/>
                                        </p:tgtEl>
                                        <p:attrNameLst>
                                          <p:attrName>style.visibility</p:attrName>
                                        </p:attrNameLst>
                                      </p:cBhvr>
                                      <p:to>
                                        <p:strVal val="visible"/>
                                      </p:to>
                                    </p:set>
                                    <p:animEffect filter="fade" transition="in">
                                      <p:cBhvr>
                                        <p:cTn dur="1000"/>
                                        <p:tgtEl>
                                          <p:spTgt spid="1548"/>
                                        </p:tgtEl>
                                      </p:cBhvr>
                                    </p:animEffect>
                                  </p:childTnLst>
                                </p:cTn>
                              </p:par>
                            </p:childTnLst>
                          </p:cTn>
                        </p:par>
                        <p:par>
                          <p:cTn fill="hold">
                            <p:stCondLst>
                              <p:cond delay="2000"/>
                            </p:stCondLst>
                            <p:childTnLst>
                              <p:par>
                                <p:cTn fill="hold" nodeType="afterEffect" presetClass="entr" presetID="10" presetSubtype="0">
                                  <p:stCondLst>
                                    <p:cond delay="0"/>
                                  </p:stCondLst>
                                  <p:childTnLst>
                                    <p:set>
                                      <p:cBhvr>
                                        <p:cTn dur="1" fill="hold">
                                          <p:stCondLst>
                                            <p:cond delay="0"/>
                                          </p:stCondLst>
                                        </p:cTn>
                                        <p:tgtEl>
                                          <p:spTgt spid="1619"/>
                                        </p:tgtEl>
                                        <p:attrNameLst>
                                          <p:attrName>style.visibility</p:attrName>
                                        </p:attrNameLst>
                                      </p:cBhvr>
                                      <p:to>
                                        <p:strVal val="visible"/>
                                      </p:to>
                                    </p:set>
                                    <p:animEffect filter="fade" transition="in">
                                      <p:cBhvr>
                                        <p:cTn dur="1000"/>
                                        <p:tgtEl>
                                          <p:spTgt spid="1619"/>
                                        </p:tgtEl>
                                      </p:cBhvr>
                                    </p:animEffect>
                                  </p:childTnLst>
                                </p:cTn>
                              </p:par>
                              <p:par>
                                <p:cTn fill="hold" nodeType="withEffect" presetClass="exit" presetID="10" presetSubtype="0">
                                  <p:stCondLst>
                                    <p:cond delay="0"/>
                                  </p:stCondLst>
                                  <p:childTnLst>
                                    <p:animEffect filter="fade" transition="out">
                                      <p:cBhvr>
                                        <p:cTn dur="500"/>
                                        <p:tgtEl>
                                          <p:spTgt spid="1620"/>
                                        </p:tgtEl>
                                      </p:cBhvr>
                                    </p:animEffect>
                                    <p:set>
                                      <p:cBhvr>
                                        <p:cTn dur="1" fill="hold">
                                          <p:stCondLst>
                                            <p:cond delay="500"/>
                                          </p:stCondLst>
                                        </p:cTn>
                                        <p:tgtEl>
                                          <p:spTgt spid="1620"/>
                                        </p:tgtEl>
                                        <p:attrNameLst>
                                          <p:attrName>style.visibility</p:attrName>
                                        </p:attrNameLst>
                                      </p:cBhvr>
                                      <p:to>
                                        <p:strVal val="hidden"/>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617"/>
                                        </p:tgtEl>
                                        <p:attrNameLst>
                                          <p:attrName>style.visibility</p:attrName>
                                        </p:attrNameLst>
                                      </p:cBhvr>
                                      <p:to>
                                        <p:strVal val="visible"/>
                                      </p:to>
                                    </p:set>
                                    <p:animEffect filter="fade" transition="in">
                                      <p:cBhvr>
                                        <p:cTn dur="1000"/>
                                        <p:tgtEl>
                                          <p:spTgt spid="1617"/>
                                        </p:tgtEl>
                                      </p:cBhvr>
                                    </p:animEffect>
                                  </p:childTnLst>
                                </p:cTn>
                              </p:par>
                              <p:par>
                                <p:cTn fill="hold" nodeType="withEffect" presetClass="entr" presetID="10" presetSubtype="0">
                                  <p:stCondLst>
                                    <p:cond delay="0"/>
                                  </p:stCondLst>
                                  <p:childTnLst>
                                    <p:set>
                                      <p:cBhvr>
                                        <p:cTn dur="1" fill="hold">
                                          <p:stCondLst>
                                            <p:cond delay="0"/>
                                          </p:stCondLst>
                                        </p:cTn>
                                        <p:tgtEl>
                                          <p:spTgt spid="1618"/>
                                        </p:tgtEl>
                                        <p:attrNameLst>
                                          <p:attrName>style.visibility</p:attrName>
                                        </p:attrNameLst>
                                      </p:cBhvr>
                                      <p:to>
                                        <p:strVal val="visible"/>
                                      </p:to>
                                    </p:set>
                                    <p:animEffect filter="fade" transition="in">
                                      <p:cBhvr>
                                        <p:cTn dur="1000"/>
                                        <p:tgtEl>
                                          <p:spTgt spid="161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27" name="Shape 1627"/>
        <p:cNvGrpSpPr/>
        <p:nvPr/>
      </p:nvGrpSpPr>
      <p:grpSpPr>
        <a:xfrm>
          <a:off x="0" y="0"/>
          <a:ext cx="0" cy="0"/>
          <a:chOff x="0" y="0"/>
          <a:chExt cx="0" cy="0"/>
        </a:xfrm>
      </p:grpSpPr>
      <p:sp>
        <p:nvSpPr>
          <p:cNvPr id="1628" name="Google Shape;1628;p59"/>
          <p:cNvSpPr txBox="1"/>
          <p:nvPr/>
        </p:nvSpPr>
        <p:spPr>
          <a:xfrm>
            <a:off x="4187006" y="284371"/>
            <a:ext cx="3629520"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cxnSp>
        <p:nvCxnSpPr>
          <p:cNvPr id="1629" name="Google Shape;1629;p59"/>
          <p:cNvCxnSpPr/>
          <p:nvPr/>
        </p:nvCxnSpPr>
        <p:spPr>
          <a:xfrm>
            <a:off x="4316098" y="717845"/>
            <a:ext cx="3375212" cy="0"/>
          </a:xfrm>
          <a:prstGeom prst="straightConnector1">
            <a:avLst/>
          </a:prstGeom>
          <a:noFill/>
          <a:ln cap="flat" cmpd="sng" w="28575">
            <a:solidFill>
              <a:schemeClr val="accent1"/>
            </a:solidFill>
            <a:prstDash val="dot"/>
            <a:miter lim="800000"/>
            <a:headEnd len="sm" w="sm" type="none"/>
            <a:tailEnd len="sm" w="sm" type="none"/>
          </a:ln>
        </p:spPr>
      </p:cxnSp>
      <p:grpSp>
        <p:nvGrpSpPr>
          <p:cNvPr id="1630" name="Google Shape;1630;p59"/>
          <p:cNvGrpSpPr/>
          <p:nvPr/>
        </p:nvGrpSpPr>
        <p:grpSpPr>
          <a:xfrm>
            <a:off x="1284576" y="2130924"/>
            <a:ext cx="10188969" cy="756004"/>
            <a:chOff x="926134" y="1719856"/>
            <a:chExt cx="9204181" cy="750147"/>
          </a:xfrm>
        </p:grpSpPr>
        <p:sp>
          <p:nvSpPr>
            <p:cNvPr id="1631" name="Google Shape;1631;p59"/>
            <p:cNvSpPr txBox="1"/>
            <p:nvPr/>
          </p:nvSpPr>
          <p:spPr>
            <a:xfrm>
              <a:off x="1641585" y="1719860"/>
              <a:ext cx="5447935"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139700" marR="0" rtl="0" algn="l">
                <a:spcBef>
                  <a:spcPts val="0"/>
                </a:spcBef>
                <a:spcAft>
                  <a:spcPts val="0"/>
                </a:spcAft>
                <a:buNone/>
              </a:pPr>
              <a:r>
                <a:rPr lang="en-US" sz="2000">
                  <a:solidFill>
                    <a:schemeClr val="dk1"/>
                  </a:solidFill>
                  <a:latin typeface="Calibri"/>
                  <a:ea typeface="Calibri"/>
                  <a:cs typeface="Calibri"/>
                  <a:sym typeface="Calibri"/>
                </a:rPr>
                <a:t>오늘 진열창 청소를 해준 창문 청소업자에게 현금으로 비용을 지불함. 창문이 정말 깨끗해졌어요!</a:t>
              </a:r>
              <a:endParaRPr sz="2000">
                <a:solidFill>
                  <a:schemeClr val="dk1"/>
                </a:solidFill>
                <a:latin typeface="Avenir"/>
                <a:ea typeface="Avenir"/>
                <a:cs typeface="Avenir"/>
                <a:sym typeface="Avenir"/>
              </a:endParaRPr>
            </a:p>
          </p:txBody>
        </p:sp>
        <p:sp>
          <p:nvSpPr>
            <p:cNvPr id="1632" name="Google Shape;1632;p59"/>
            <p:cNvSpPr txBox="1"/>
            <p:nvPr/>
          </p:nvSpPr>
          <p:spPr>
            <a:xfrm>
              <a:off x="7089520" y="1719858"/>
              <a:ext cx="1520398" cy="745310"/>
            </a:xfrm>
            <a:prstGeom prst="rect">
              <a:avLst/>
            </a:prstGeom>
            <a:solidFill>
              <a:srgbClr val="E1EFD8"/>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Cleaning</a:t>
              </a: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50</a:t>
              </a:r>
              <a:endParaRPr/>
            </a:p>
          </p:txBody>
        </p:sp>
        <p:sp>
          <p:nvSpPr>
            <p:cNvPr id="1633" name="Google Shape;1633;p59"/>
            <p:cNvSpPr txBox="1"/>
            <p:nvPr/>
          </p:nvSpPr>
          <p:spPr>
            <a:xfrm>
              <a:off x="8609917" y="1719858"/>
              <a:ext cx="1520398" cy="745310"/>
            </a:xfrm>
            <a:prstGeom prst="rect">
              <a:avLst/>
            </a:prstGeom>
            <a:solidFill>
              <a:srgbClr val="FBE4D4"/>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Cash</a:t>
              </a:r>
              <a:endParaRPr b="1" sz="1600">
                <a:solidFill>
                  <a:srgbClr val="BFBFBF"/>
                </a:solidFill>
                <a:latin typeface="Avenir"/>
                <a:ea typeface="Avenir"/>
                <a:cs typeface="Avenir"/>
                <a:sym typeface="Aveni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50</a:t>
              </a:r>
              <a:endParaRPr/>
            </a:p>
          </p:txBody>
        </p:sp>
        <p:sp>
          <p:nvSpPr>
            <p:cNvPr id="1634" name="Google Shape;1634;p59"/>
            <p:cNvSpPr txBox="1"/>
            <p:nvPr/>
          </p:nvSpPr>
          <p:spPr>
            <a:xfrm>
              <a:off x="926134" y="1719856"/>
              <a:ext cx="715451"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7</a:t>
              </a:r>
              <a:endParaRPr/>
            </a:p>
          </p:txBody>
        </p:sp>
      </p:grpSp>
      <p:sp>
        <p:nvSpPr>
          <p:cNvPr id="1635" name="Google Shape;1635;p59"/>
          <p:cNvSpPr txBox="1"/>
          <p:nvPr/>
        </p:nvSpPr>
        <p:spPr>
          <a:xfrm>
            <a:off x="8109273" y="2126055"/>
            <a:ext cx="1681200" cy="756000"/>
          </a:xfrm>
          <a:prstGeom prst="rect">
            <a:avLst/>
          </a:prstGeom>
          <a:solidFill>
            <a:srgbClr val="548135"/>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50</a:t>
            </a:r>
            <a:endParaRPr/>
          </a:p>
        </p:txBody>
      </p:sp>
      <p:sp>
        <p:nvSpPr>
          <p:cNvPr id="1636" name="Google Shape;1636;p59"/>
          <p:cNvSpPr txBox="1"/>
          <p:nvPr/>
        </p:nvSpPr>
        <p:spPr>
          <a:xfrm>
            <a:off x="9792343" y="2126055"/>
            <a:ext cx="1681200" cy="756000"/>
          </a:xfrm>
          <a:prstGeom prst="rect">
            <a:avLst/>
          </a:prstGeom>
          <a:solidFill>
            <a:schemeClr val="accent2"/>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50</a:t>
            </a:r>
            <a:endParaRPr/>
          </a:p>
        </p:txBody>
      </p:sp>
      <p:sp>
        <p:nvSpPr>
          <p:cNvPr id="1637" name="Google Shape;1637;p59"/>
          <p:cNvSpPr/>
          <p:nvPr/>
        </p:nvSpPr>
        <p:spPr>
          <a:xfrm>
            <a:off x="1284578" y="1520543"/>
            <a:ext cx="2024679" cy="42011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2130">
                <a:solidFill>
                  <a:schemeClr val="dk1"/>
                </a:solidFill>
                <a:latin typeface="Avenir"/>
                <a:ea typeface="Avenir"/>
                <a:cs typeface="Avenir"/>
                <a:sym typeface="Avenir"/>
              </a:rPr>
              <a:t>5 February</a:t>
            </a:r>
            <a:endParaRPr sz="2130">
              <a:solidFill>
                <a:schemeClr val="dk1"/>
              </a:solidFill>
              <a:latin typeface="Avenir"/>
              <a:ea typeface="Avenir"/>
              <a:cs typeface="Avenir"/>
              <a:sym typeface="Avenir"/>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2" name="Shape 1642"/>
        <p:cNvGrpSpPr/>
        <p:nvPr/>
      </p:nvGrpSpPr>
      <p:grpSpPr>
        <a:xfrm>
          <a:off x="0" y="0"/>
          <a:ext cx="0" cy="0"/>
          <a:chOff x="0" y="0"/>
          <a:chExt cx="0" cy="0"/>
        </a:xfrm>
      </p:grpSpPr>
      <p:sp>
        <p:nvSpPr>
          <p:cNvPr id="1643" name="Google Shape;1643;p60"/>
          <p:cNvSpPr txBox="1"/>
          <p:nvPr/>
        </p:nvSpPr>
        <p:spPr>
          <a:xfrm>
            <a:off x="4187006" y="133386"/>
            <a:ext cx="3629520"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cxnSp>
        <p:nvCxnSpPr>
          <p:cNvPr id="1644" name="Google Shape;1644;p60"/>
          <p:cNvCxnSpPr/>
          <p:nvPr/>
        </p:nvCxnSpPr>
        <p:spPr>
          <a:xfrm>
            <a:off x="4316098" y="566860"/>
            <a:ext cx="3375212" cy="0"/>
          </a:xfrm>
          <a:prstGeom prst="straightConnector1">
            <a:avLst/>
          </a:prstGeom>
          <a:noFill/>
          <a:ln cap="flat" cmpd="sng" w="28575">
            <a:solidFill>
              <a:schemeClr val="accent1"/>
            </a:solidFill>
            <a:prstDash val="dot"/>
            <a:miter lim="800000"/>
            <a:headEnd len="sm" w="sm" type="none"/>
            <a:tailEnd len="sm" w="sm" type="none"/>
          </a:ln>
        </p:spPr>
      </p:cxnSp>
      <p:grpSp>
        <p:nvGrpSpPr>
          <p:cNvPr id="1645" name="Google Shape;1645;p60"/>
          <p:cNvGrpSpPr/>
          <p:nvPr/>
        </p:nvGrpSpPr>
        <p:grpSpPr>
          <a:xfrm>
            <a:off x="492858" y="773769"/>
            <a:ext cx="11291146" cy="5895963"/>
            <a:chOff x="492858" y="773769"/>
            <a:chExt cx="11291146" cy="5895963"/>
          </a:xfrm>
        </p:grpSpPr>
        <p:sp>
          <p:nvSpPr>
            <p:cNvPr id="1646" name="Google Shape;1646;p60"/>
            <p:cNvSpPr txBox="1"/>
            <p:nvPr/>
          </p:nvSpPr>
          <p:spPr>
            <a:xfrm>
              <a:off x="6227788" y="2623662"/>
              <a:ext cx="5556216" cy="1692844"/>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Equity</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1647" name="Google Shape;1647;p60"/>
            <p:cNvSpPr txBox="1"/>
            <p:nvPr/>
          </p:nvSpPr>
          <p:spPr>
            <a:xfrm>
              <a:off x="6410845" y="3135649"/>
              <a:ext cx="1544844" cy="770509"/>
            </a:xfrm>
            <a:prstGeom prst="rect">
              <a:avLst/>
            </a:prstGeom>
            <a:noFill/>
            <a:ln cap="flat" cmpd="sng" w="5715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ctr">
                <a:lnSpc>
                  <a:spcPct val="120000"/>
                </a:lnSpc>
                <a:spcBef>
                  <a:spcPts val="0"/>
                </a:spcBef>
                <a:spcAft>
                  <a:spcPts val="0"/>
                </a:spcAft>
                <a:buNone/>
              </a:pPr>
              <a:r>
                <a:rPr b="1" lang="en-US" sz="2200">
                  <a:solidFill>
                    <a:srgbClr val="942093"/>
                  </a:solidFill>
                  <a:latin typeface="Avenir"/>
                  <a:ea typeface="Avenir"/>
                  <a:cs typeface="Avenir"/>
                  <a:sym typeface="Avenir"/>
                </a:rPr>
                <a:t>Profit</a:t>
              </a:r>
              <a:endParaRPr/>
            </a:p>
          </p:txBody>
        </p:sp>
        <p:sp>
          <p:nvSpPr>
            <p:cNvPr id="1648" name="Google Shape;1648;p60"/>
            <p:cNvSpPr txBox="1"/>
            <p:nvPr/>
          </p:nvSpPr>
          <p:spPr>
            <a:xfrm>
              <a:off x="6227788" y="773769"/>
              <a:ext cx="5556216" cy="1702674"/>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Liabilities</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grpSp>
          <p:nvGrpSpPr>
            <p:cNvPr id="1649" name="Google Shape;1649;p60"/>
            <p:cNvGrpSpPr/>
            <p:nvPr/>
          </p:nvGrpSpPr>
          <p:grpSpPr>
            <a:xfrm>
              <a:off x="492858" y="3906158"/>
              <a:ext cx="11291146" cy="2763574"/>
              <a:chOff x="1354633" y="4399872"/>
              <a:chExt cx="9550931" cy="2121952"/>
            </a:xfrm>
          </p:grpSpPr>
          <p:sp>
            <p:nvSpPr>
              <p:cNvPr id="1650" name="Google Shape;1650;p60"/>
              <p:cNvSpPr txBox="1"/>
              <p:nvPr/>
            </p:nvSpPr>
            <p:spPr>
              <a:xfrm>
                <a:off x="1354633" y="4813260"/>
                <a:ext cx="9550931" cy="1708564"/>
              </a:xfrm>
              <a:prstGeom prst="rect">
                <a:avLst/>
              </a:prstGeom>
              <a:solidFill>
                <a:srgbClr val="FCECFB"/>
              </a:solidFill>
              <a:ln cap="flat" cmpd="sng" w="7620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b="1" lang="en-US" sz="2800">
                    <a:solidFill>
                      <a:schemeClr val="dk1"/>
                    </a:solidFill>
                    <a:latin typeface="Avenir"/>
                    <a:ea typeface="Avenir"/>
                    <a:cs typeface="Avenir"/>
                    <a:sym typeface="Avenir"/>
                  </a:rPr>
                  <a:t> </a:t>
                </a:r>
                <a:endParaRPr/>
              </a:p>
            </p:txBody>
          </p:sp>
          <p:sp>
            <p:nvSpPr>
              <p:cNvPr id="1651" name="Google Shape;1651;p60"/>
              <p:cNvSpPr txBox="1"/>
              <p:nvPr/>
            </p:nvSpPr>
            <p:spPr>
              <a:xfrm>
                <a:off x="6199863" y="4921166"/>
                <a:ext cx="4576976" cy="1495361"/>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Income</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1652" name="Google Shape;1652;p60"/>
              <p:cNvSpPr txBox="1"/>
              <p:nvPr/>
            </p:nvSpPr>
            <p:spPr>
              <a:xfrm>
                <a:off x="1481256" y="4921166"/>
                <a:ext cx="4552539" cy="1495361"/>
              </a:xfrm>
              <a:prstGeom prst="rect">
                <a:avLst/>
              </a:prstGeom>
              <a:solidFill>
                <a:srgbClr val="E1EFD8"/>
              </a:solid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None/>
                </a:pPr>
                <a:r>
                  <a:rPr b="1" lang="en-US" sz="2800">
                    <a:solidFill>
                      <a:srgbClr val="E1EFD8"/>
                    </a:solidFill>
                    <a:latin typeface="Avenir"/>
                    <a:ea typeface="Avenir"/>
                    <a:cs typeface="Avenir"/>
                    <a:sym typeface="Avenir"/>
                  </a:rPr>
                  <a:t>_</a:t>
                </a:r>
                <a:r>
                  <a:rPr b="1" lang="en-US" sz="2000">
                    <a:solidFill>
                      <a:schemeClr val="dk1"/>
                    </a:solidFill>
                    <a:latin typeface="Avenir"/>
                    <a:ea typeface="Avenir"/>
                    <a:cs typeface="Avenir"/>
                    <a:sym typeface="Avenir"/>
                  </a:rPr>
                  <a:t>Expenses</a:t>
                </a:r>
                <a:endParaRPr b="1" sz="2800">
                  <a:solidFill>
                    <a:schemeClr val="dk1"/>
                  </a:solidFill>
                  <a:latin typeface="Avenir"/>
                  <a:ea typeface="Avenir"/>
                  <a:cs typeface="Avenir"/>
                  <a:sym typeface="Avenir"/>
                </a:endParaRPr>
              </a:p>
            </p:txBody>
          </p:sp>
          <p:cxnSp>
            <p:nvCxnSpPr>
              <p:cNvPr id="1653" name="Google Shape;1653;p60"/>
              <p:cNvCxnSpPr>
                <a:stCxn id="1647" idx="2"/>
              </p:cNvCxnSpPr>
              <p:nvPr/>
            </p:nvCxnSpPr>
            <p:spPr>
              <a:xfrm>
                <a:off x="7013902" y="4399872"/>
                <a:ext cx="7500" cy="434700"/>
              </a:xfrm>
              <a:prstGeom prst="straightConnector1">
                <a:avLst/>
              </a:prstGeom>
              <a:noFill/>
              <a:ln cap="flat" cmpd="sng" w="76200">
                <a:solidFill>
                  <a:srgbClr val="942093"/>
                </a:solidFill>
                <a:prstDash val="solid"/>
                <a:miter lim="800000"/>
                <a:headEnd len="sm" w="sm" type="none"/>
                <a:tailEnd len="sm" w="sm" type="none"/>
              </a:ln>
            </p:spPr>
          </p:cxnSp>
        </p:grpSp>
        <p:sp>
          <p:nvSpPr>
            <p:cNvPr id="1654" name="Google Shape;1654;p60"/>
            <p:cNvSpPr txBox="1"/>
            <p:nvPr/>
          </p:nvSpPr>
          <p:spPr>
            <a:xfrm>
              <a:off x="492858" y="773769"/>
              <a:ext cx="5544457" cy="3542737"/>
            </a:xfrm>
            <a:prstGeom prst="rect">
              <a:avLst/>
            </a:prstGeom>
            <a:solidFill>
              <a:srgbClr val="E1EFD8"/>
            </a:solid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None/>
              </a:pPr>
              <a:r>
                <a:rPr b="1" lang="en-US" sz="2800">
                  <a:solidFill>
                    <a:srgbClr val="E1EFD8"/>
                  </a:solidFill>
                  <a:latin typeface="Avenir"/>
                  <a:ea typeface="Avenir"/>
                  <a:cs typeface="Avenir"/>
                  <a:sym typeface="Avenir"/>
                </a:rPr>
                <a:t>_</a:t>
              </a:r>
              <a:r>
                <a:rPr b="1" lang="en-US" sz="2000">
                  <a:solidFill>
                    <a:schemeClr val="dk1"/>
                  </a:solidFill>
                  <a:latin typeface="Avenir"/>
                  <a:ea typeface="Avenir"/>
                  <a:cs typeface="Avenir"/>
                  <a:sym typeface="Avenir"/>
                </a:rPr>
                <a:t>Assets</a:t>
              </a:r>
              <a:endParaRPr b="1" sz="2800">
                <a:solidFill>
                  <a:schemeClr val="dk1"/>
                </a:solidFill>
                <a:latin typeface="Avenir"/>
                <a:ea typeface="Avenir"/>
                <a:cs typeface="Avenir"/>
                <a:sym typeface="Avenir"/>
              </a:endParaRPr>
            </a:p>
          </p:txBody>
        </p:sp>
      </p:grpSp>
      <p:grpSp>
        <p:nvGrpSpPr>
          <p:cNvPr id="1655" name="Google Shape;1655;p60"/>
          <p:cNvGrpSpPr/>
          <p:nvPr/>
        </p:nvGrpSpPr>
        <p:grpSpPr>
          <a:xfrm>
            <a:off x="4248000" y="2850495"/>
            <a:ext cx="1620000" cy="1116000"/>
            <a:chOff x="3810000" y="2381250"/>
            <a:chExt cx="1390650" cy="1230631"/>
          </a:xfrm>
        </p:grpSpPr>
        <p:sp>
          <p:nvSpPr>
            <p:cNvPr id="1656" name="Google Shape;1656;p60"/>
            <p:cNvSpPr/>
            <p:nvPr/>
          </p:nvSpPr>
          <p:spPr>
            <a:xfrm flipH="1">
              <a:off x="4505325" y="2381250"/>
              <a:ext cx="695325" cy="1230631"/>
            </a:xfrm>
            <a:prstGeom prst="corner">
              <a:avLst>
                <a:gd fmla="val 7073" name="adj1"/>
                <a:gd fmla="val 694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1657" name="Google Shape;1657;p60"/>
            <p:cNvSpPr/>
            <p:nvPr/>
          </p:nvSpPr>
          <p:spPr>
            <a:xfrm>
              <a:off x="3810000" y="2381250"/>
              <a:ext cx="695325" cy="1230631"/>
            </a:xfrm>
            <a:prstGeom prst="corner">
              <a:avLst>
                <a:gd fmla="val 7073" name="adj1"/>
                <a:gd fmla="val 694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1658" name="Google Shape;1658;p60"/>
          <p:cNvGrpSpPr/>
          <p:nvPr/>
        </p:nvGrpSpPr>
        <p:grpSpPr>
          <a:xfrm>
            <a:off x="2458800" y="2250924"/>
            <a:ext cx="1620000" cy="1707774"/>
            <a:chOff x="671549" y="1402787"/>
            <a:chExt cx="1620000" cy="2549293"/>
          </a:xfrm>
        </p:grpSpPr>
        <p:sp>
          <p:nvSpPr>
            <p:cNvPr id="1659" name="Google Shape;1659;p60"/>
            <p:cNvSpPr/>
            <p:nvPr/>
          </p:nvSpPr>
          <p:spPr>
            <a:xfrm flipH="1">
              <a:off x="1481549" y="1402787"/>
              <a:ext cx="810000" cy="2549293"/>
            </a:xfrm>
            <a:prstGeom prst="corner">
              <a:avLst>
                <a:gd fmla="val 6497" name="adj1"/>
                <a:gd fmla="val 694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1800">
                <a:solidFill>
                  <a:schemeClr val="lt1"/>
                </a:solidFill>
                <a:latin typeface="Avenir"/>
                <a:ea typeface="Avenir"/>
                <a:cs typeface="Avenir"/>
                <a:sym typeface="Avenir"/>
              </a:endParaRPr>
            </a:p>
          </p:txBody>
        </p:sp>
        <p:sp>
          <p:nvSpPr>
            <p:cNvPr id="1660" name="Google Shape;1660;p60"/>
            <p:cNvSpPr/>
            <p:nvPr/>
          </p:nvSpPr>
          <p:spPr>
            <a:xfrm>
              <a:off x="671549" y="1402787"/>
              <a:ext cx="810000" cy="2549293"/>
            </a:xfrm>
            <a:prstGeom prst="corner">
              <a:avLst>
                <a:gd fmla="val 6497" name="adj1"/>
                <a:gd fmla="val 7336"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1800">
                <a:solidFill>
                  <a:schemeClr val="lt1"/>
                </a:solidFill>
                <a:latin typeface="Avenir"/>
                <a:ea typeface="Avenir"/>
                <a:cs typeface="Avenir"/>
                <a:sym typeface="Avenir"/>
              </a:endParaRPr>
            </a:p>
          </p:txBody>
        </p:sp>
      </p:grpSp>
      <p:grpSp>
        <p:nvGrpSpPr>
          <p:cNvPr id="1661" name="Google Shape;1661;p60"/>
          <p:cNvGrpSpPr/>
          <p:nvPr/>
        </p:nvGrpSpPr>
        <p:grpSpPr>
          <a:xfrm>
            <a:off x="673200" y="3340800"/>
            <a:ext cx="1620000" cy="613673"/>
            <a:chOff x="3810000" y="2381250"/>
            <a:chExt cx="1390650" cy="1230631"/>
          </a:xfrm>
        </p:grpSpPr>
        <p:sp>
          <p:nvSpPr>
            <p:cNvPr id="1662" name="Google Shape;1662;p60"/>
            <p:cNvSpPr/>
            <p:nvPr/>
          </p:nvSpPr>
          <p:spPr>
            <a:xfrm flipH="1">
              <a:off x="4505325"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1663" name="Google Shape;1663;p60"/>
            <p:cNvSpPr/>
            <p:nvPr/>
          </p:nvSpPr>
          <p:spPr>
            <a:xfrm>
              <a:off x="3810000"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sp>
        <p:nvSpPr>
          <p:cNvPr id="1664" name="Google Shape;1664;p60"/>
          <p:cNvSpPr txBox="1"/>
          <p:nvPr/>
        </p:nvSpPr>
        <p:spPr>
          <a:xfrm>
            <a:off x="2551146" y="3924000"/>
            <a:ext cx="1393331"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Cash at bank</a:t>
            </a:r>
            <a:endParaRPr/>
          </a:p>
        </p:txBody>
      </p:sp>
      <p:sp>
        <p:nvSpPr>
          <p:cNvPr id="1665" name="Google Shape;1665;p60"/>
          <p:cNvSpPr txBox="1"/>
          <p:nvPr/>
        </p:nvSpPr>
        <p:spPr>
          <a:xfrm>
            <a:off x="4292494" y="3924000"/>
            <a:ext cx="1531779"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Inventory</a:t>
            </a:r>
            <a:endParaRPr/>
          </a:p>
        </p:txBody>
      </p:sp>
      <p:sp>
        <p:nvSpPr>
          <p:cNvPr id="1666" name="Google Shape;1666;p60"/>
          <p:cNvSpPr txBox="1"/>
          <p:nvPr/>
        </p:nvSpPr>
        <p:spPr>
          <a:xfrm>
            <a:off x="661400" y="3924000"/>
            <a:ext cx="1647322"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Equipment</a:t>
            </a:r>
            <a:endParaRPr/>
          </a:p>
        </p:txBody>
      </p:sp>
      <p:sp>
        <p:nvSpPr>
          <p:cNvPr id="1667" name="Google Shape;1667;p60"/>
          <p:cNvSpPr txBox="1"/>
          <p:nvPr/>
        </p:nvSpPr>
        <p:spPr>
          <a:xfrm>
            <a:off x="2596439" y="5339671"/>
            <a:ext cx="1590567"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Cleaning</a:t>
            </a:r>
            <a:endParaRPr/>
          </a:p>
        </p:txBody>
      </p:sp>
      <p:sp>
        <p:nvSpPr>
          <p:cNvPr id="1668" name="Google Shape;1668;p60"/>
          <p:cNvSpPr txBox="1"/>
          <p:nvPr/>
        </p:nvSpPr>
        <p:spPr>
          <a:xfrm>
            <a:off x="4306077" y="6192000"/>
            <a:ext cx="1606417"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Cost of sales</a:t>
            </a:r>
            <a:endParaRPr/>
          </a:p>
        </p:txBody>
      </p:sp>
      <p:sp>
        <p:nvSpPr>
          <p:cNvPr id="1669" name="Google Shape;1669;p60"/>
          <p:cNvSpPr txBox="1"/>
          <p:nvPr/>
        </p:nvSpPr>
        <p:spPr>
          <a:xfrm>
            <a:off x="6295758" y="6192000"/>
            <a:ext cx="1842786"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Revenue (sales)</a:t>
            </a:r>
            <a:endParaRPr/>
          </a:p>
        </p:txBody>
      </p:sp>
      <p:sp>
        <p:nvSpPr>
          <p:cNvPr id="1670" name="Google Shape;1670;p60"/>
          <p:cNvSpPr txBox="1"/>
          <p:nvPr/>
        </p:nvSpPr>
        <p:spPr>
          <a:xfrm>
            <a:off x="10028967" y="2029411"/>
            <a:ext cx="1593685"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Bank loan</a:t>
            </a:r>
            <a:endParaRPr/>
          </a:p>
        </p:txBody>
      </p:sp>
      <p:sp>
        <p:nvSpPr>
          <p:cNvPr id="1671" name="Google Shape;1671;p60"/>
          <p:cNvSpPr txBox="1"/>
          <p:nvPr/>
        </p:nvSpPr>
        <p:spPr>
          <a:xfrm>
            <a:off x="3184560" y="3614709"/>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30,000</a:t>
            </a:r>
            <a:endParaRPr/>
          </a:p>
        </p:txBody>
      </p:sp>
      <p:sp>
        <p:nvSpPr>
          <p:cNvPr id="1672" name="Google Shape;1672;p60"/>
          <p:cNvSpPr txBox="1"/>
          <p:nvPr/>
        </p:nvSpPr>
        <p:spPr>
          <a:xfrm>
            <a:off x="3184560" y="3344709"/>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20,000</a:t>
            </a:r>
            <a:endParaRPr/>
          </a:p>
        </p:txBody>
      </p:sp>
      <p:sp>
        <p:nvSpPr>
          <p:cNvPr id="1673" name="Google Shape;1673;p60"/>
          <p:cNvSpPr txBox="1"/>
          <p:nvPr/>
        </p:nvSpPr>
        <p:spPr>
          <a:xfrm>
            <a:off x="3298373" y="3074709"/>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5,000</a:t>
            </a:r>
            <a:endParaRPr/>
          </a:p>
        </p:txBody>
      </p:sp>
      <p:sp>
        <p:nvSpPr>
          <p:cNvPr id="1674" name="Google Shape;1674;p60"/>
          <p:cNvSpPr txBox="1"/>
          <p:nvPr/>
        </p:nvSpPr>
        <p:spPr>
          <a:xfrm>
            <a:off x="3469894" y="2534709"/>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700</a:t>
            </a:r>
            <a:endParaRPr/>
          </a:p>
        </p:txBody>
      </p:sp>
      <p:sp>
        <p:nvSpPr>
          <p:cNvPr id="1675" name="Google Shape;1675;p60"/>
          <p:cNvSpPr txBox="1"/>
          <p:nvPr/>
        </p:nvSpPr>
        <p:spPr>
          <a:xfrm>
            <a:off x="3583708" y="2264709"/>
            <a:ext cx="412292"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50</a:t>
            </a:r>
            <a:endParaRPr/>
          </a:p>
        </p:txBody>
      </p:sp>
      <p:sp>
        <p:nvSpPr>
          <p:cNvPr id="1676" name="Google Shape;1676;p60"/>
          <p:cNvSpPr txBox="1"/>
          <p:nvPr/>
        </p:nvSpPr>
        <p:spPr>
          <a:xfrm>
            <a:off x="3713366" y="5031445"/>
            <a:ext cx="412292"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50</a:t>
            </a:r>
            <a:endParaRPr/>
          </a:p>
        </p:txBody>
      </p:sp>
      <p:sp>
        <p:nvSpPr>
          <p:cNvPr id="1677" name="Google Shape;1677;p60"/>
          <p:cNvSpPr txBox="1"/>
          <p:nvPr/>
        </p:nvSpPr>
        <p:spPr>
          <a:xfrm>
            <a:off x="3184560" y="2804709"/>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10,000</a:t>
            </a:r>
            <a:endParaRPr/>
          </a:p>
        </p:txBody>
      </p:sp>
      <p:sp>
        <p:nvSpPr>
          <p:cNvPr id="1678" name="Google Shape;1678;p60"/>
          <p:cNvSpPr txBox="1"/>
          <p:nvPr/>
        </p:nvSpPr>
        <p:spPr>
          <a:xfrm>
            <a:off x="10026434" y="3924000"/>
            <a:ext cx="1757569"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contributed capital</a:t>
            </a:r>
            <a:endParaRPr/>
          </a:p>
        </p:txBody>
      </p:sp>
      <p:sp>
        <p:nvSpPr>
          <p:cNvPr id="1679" name="Google Shape;1679;p60"/>
          <p:cNvSpPr/>
          <p:nvPr/>
        </p:nvSpPr>
        <p:spPr>
          <a:xfrm>
            <a:off x="3011371" y="23367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80" name="Google Shape;1680;p60"/>
          <p:cNvSpPr/>
          <p:nvPr/>
        </p:nvSpPr>
        <p:spPr>
          <a:xfrm rot="10800000">
            <a:off x="3011371" y="258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81" name="Google Shape;1681;p60"/>
          <p:cNvSpPr/>
          <p:nvPr/>
        </p:nvSpPr>
        <p:spPr>
          <a:xfrm>
            <a:off x="3011371" y="28767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82" name="Google Shape;1682;p60"/>
          <p:cNvSpPr/>
          <p:nvPr/>
        </p:nvSpPr>
        <p:spPr>
          <a:xfrm>
            <a:off x="3011371" y="31467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83" name="Google Shape;1683;p60"/>
          <p:cNvSpPr/>
          <p:nvPr/>
        </p:nvSpPr>
        <p:spPr>
          <a:xfrm rot="10800000">
            <a:off x="3011371" y="339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84" name="Google Shape;1684;p60"/>
          <p:cNvSpPr/>
          <p:nvPr/>
        </p:nvSpPr>
        <p:spPr>
          <a:xfrm rot="10800000">
            <a:off x="3011371" y="366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85" name="Google Shape;1685;p60"/>
          <p:cNvSpPr txBox="1"/>
          <p:nvPr/>
        </p:nvSpPr>
        <p:spPr>
          <a:xfrm>
            <a:off x="10785455" y="1718255"/>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30,000</a:t>
            </a:r>
            <a:endParaRPr/>
          </a:p>
        </p:txBody>
      </p:sp>
      <p:sp>
        <p:nvSpPr>
          <p:cNvPr id="1686" name="Google Shape;1686;p60"/>
          <p:cNvSpPr/>
          <p:nvPr/>
        </p:nvSpPr>
        <p:spPr>
          <a:xfrm rot="10800000">
            <a:off x="10548000" y="1757882"/>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1687" name="Google Shape;1687;p60"/>
          <p:cNvSpPr txBox="1"/>
          <p:nvPr/>
        </p:nvSpPr>
        <p:spPr>
          <a:xfrm>
            <a:off x="10776926" y="3605780"/>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20,000</a:t>
            </a:r>
            <a:endParaRPr/>
          </a:p>
        </p:txBody>
      </p:sp>
      <p:sp>
        <p:nvSpPr>
          <p:cNvPr id="1688" name="Google Shape;1688;p60"/>
          <p:cNvSpPr txBox="1"/>
          <p:nvPr/>
        </p:nvSpPr>
        <p:spPr>
          <a:xfrm>
            <a:off x="10732895" y="1448255"/>
            <a:ext cx="86400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5,000</a:t>
            </a:r>
            <a:endParaRPr/>
          </a:p>
        </p:txBody>
      </p:sp>
      <p:sp>
        <p:nvSpPr>
          <p:cNvPr id="1689" name="Google Shape;1689;p60"/>
          <p:cNvSpPr/>
          <p:nvPr/>
        </p:nvSpPr>
        <p:spPr>
          <a:xfrm>
            <a:off x="10548000" y="1505882"/>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548135"/>
              </a:solidFill>
              <a:latin typeface="Calibri"/>
              <a:ea typeface="Calibri"/>
              <a:cs typeface="Calibri"/>
              <a:sym typeface="Calibri"/>
            </a:endParaRPr>
          </a:p>
        </p:txBody>
      </p:sp>
      <p:sp>
        <p:nvSpPr>
          <p:cNvPr id="1690" name="Google Shape;1690;p60"/>
          <p:cNvSpPr txBox="1"/>
          <p:nvPr/>
        </p:nvSpPr>
        <p:spPr>
          <a:xfrm>
            <a:off x="4984560" y="3610092"/>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10,000</a:t>
            </a:r>
            <a:endParaRPr/>
          </a:p>
        </p:txBody>
      </p:sp>
      <p:sp>
        <p:nvSpPr>
          <p:cNvPr id="1691" name="Google Shape;1691;p60"/>
          <p:cNvSpPr txBox="1"/>
          <p:nvPr/>
        </p:nvSpPr>
        <p:spPr>
          <a:xfrm>
            <a:off x="7429894" y="5905082"/>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700</a:t>
            </a:r>
            <a:endParaRPr/>
          </a:p>
        </p:txBody>
      </p:sp>
      <p:sp>
        <p:nvSpPr>
          <p:cNvPr id="1692" name="Google Shape;1692;p60"/>
          <p:cNvSpPr/>
          <p:nvPr/>
        </p:nvSpPr>
        <p:spPr>
          <a:xfrm rot="10800000">
            <a:off x="6984000" y="5943076"/>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1693" name="Google Shape;1693;p60"/>
          <p:cNvSpPr/>
          <p:nvPr/>
        </p:nvSpPr>
        <p:spPr>
          <a:xfrm rot="10800000">
            <a:off x="3096000" y="5082325"/>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94" name="Google Shape;1694;p60"/>
          <p:cNvSpPr txBox="1"/>
          <p:nvPr/>
        </p:nvSpPr>
        <p:spPr>
          <a:xfrm>
            <a:off x="7315968" y="1713373"/>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6,000</a:t>
            </a:r>
            <a:endParaRPr/>
          </a:p>
        </p:txBody>
      </p:sp>
      <p:sp>
        <p:nvSpPr>
          <p:cNvPr id="1695" name="Google Shape;1695;p60"/>
          <p:cNvSpPr/>
          <p:nvPr/>
        </p:nvSpPr>
        <p:spPr>
          <a:xfrm rot="10800000">
            <a:off x="6984000" y="1749046"/>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1696" name="Google Shape;1696;p60"/>
          <p:cNvSpPr txBox="1"/>
          <p:nvPr/>
        </p:nvSpPr>
        <p:spPr>
          <a:xfrm>
            <a:off x="1501235" y="3588336"/>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6,000</a:t>
            </a:r>
            <a:endParaRPr/>
          </a:p>
        </p:txBody>
      </p:sp>
      <p:sp>
        <p:nvSpPr>
          <p:cNvPr id="1697" name="Google Shape;1697;p60"/>
          <p:cNvSpPr/>
          <p:nvPr/>
        </p:nvSpPr>
        <p:spPr>
          <a:xfrm rot="10800000">
            <a:off x="1249425" y="3637660"/>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698" name="Google Shape;1698;p60"/>
          <p:cNvSpPr txBox="1"/>
          <p:nvPr/>
        </p:nvSpPr>
        <p:spPr>
          <a:xfrm>
            <a:off x="5269894" y="3365080"/>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300</a:t>
            </a:r>
            <a:endParaRPr/>
          </a:p>
        </p:txBody>
      </p:sp>
      <p:sp>
        <p:nvSpPr>
          <p:cNvPr id="1699" name="Google Shape;1699;p60"/>
          <p:cNvSpPr/>
          <p:nvPr/>
        </p:nvSpPr>
        <p:spPr>
          <a:xfrm>
            <a:off x="4824000" y="3429341"/>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700" name="Google Shape;1700;p60"/>
          <p:cNvSpPr/>
          <p:nvPr/>
        </p:nvSpPr>
        <p:spPr>
          <a:xfrm rot="10800000">
            <a:off x="4824000" y="3662508"/>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701" name="Google Shape;1701;p60"/>
          <p:cNvSpPr txBox="1"/>
          <p:nvPr/>
        </p:nvSpPr>
        <p:spPr>
          <a:xfrm>
            <a:off x="5305894" y="5893862"/>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300</a:t>
            </a:r>
            <a:endParaRPr/>
          </a:p>
        </p:txBody>
      </p:sp>
      <p:sp>
        <p:nvSpPr>
          <p:cNvPr id="1702" name="Google Shape;1702;p60"/>
          <p:cNvSpPr/>
          <p:nvPr/>
        </p:nvSpPr>
        <p:spPr>
          <a:xfrm rot="10800000">
            <a:off x="4860000" y="5944742"/>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1703" name="Google Shape;1703;p60"/>
          <p:cNvGrpSpPr/>
          <p:nvPr/>
        </p:nvGrpSpPr>
        <p:grpSpPr>
          <a:xfrm>
            <a:off x="2568712" y="2307277"/>
            <a:ext cx="247184" cy="223916"/>
            <a:chOff x="797287" y="3715227"/>
            <a:chExt cx="256611" cy="232456"/>
          </a:xfrm>
        </p:grpSpPr>
        <p:sp>
          <p:nvSpPr>
            <p:cNvPr id="1704" name="Google Shape;1704;p60"/>
            <p:cNvSpPr/>
            <p:nvPr/>
          </p:nvSpPr>
          <p:spPr>
            <a:xfrm>
              <a:off x="810780" y="3715227"/>
              <a:ext cx="224238" cy="224238"/>
            </a:xfrm>
            <a:prstGeom prst="ellipse">
              <a:avLst/>
            </a:prstGeom>
            <a:solidFill>
              <a:srgbClr val="FFFF00"/>
            </a:solidFill>
            <a:ln cap="flat" cmpd="sng" w="1270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705" name="Google Shape;1705;p60"/>
            <p:cNvSpPr/>
            <p:nvPr/>
          </p:nvSpPr>
          <p:spPr>
            <a:xfrm>
              <a:off x="797287" y="3724022"/>
              <a:ext cx="256611" cy="223661"/>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7</a:t>
              </a:r>
              <a:endParaRPr/>
            </a:p>
          </p:txBody>
        </p:sp>
      </p:grpSp>
      <p:grpSp>
        <p:nvGrpSpPr>
          <p:cNvPr id="1706" name="Google Shape;1706;p60"/>
          <p:cNvGrpSpPr/>
          <p:nvPr/>
        </p:nvGrpSpPr>
        <p:grpSpPr>
          <a:xfrm>
            <a:off x="2530414" y="2567405"/>
            <a:ext cx="300083" cy="223917"/>
            <a:chOff x="761592" y="3715226"/>
            <a:chExt cx="311527" cy="232457"/>
          </a:xfrm>
        </p:grpSpPr>
        <p:sp>
          <p:nvSpPr>
            <p:cNvPr id="1707" name="Google Shape;1707;p60"/>
            <p:cNvSpPr/>
            <p:nvPr/>
          </p:nvSpPr>
          <p:spPr>
            <a:xfrm>
              <a:off x="810780" y="3715226"/>
              <a:ext cx="224238" cy="224238"/>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708" name="Google Shape;1708;p60"/>
            <p:cNvSpPr/>
            <p:nvPr/>
          </p:nvSpPr>
          <p:spPr>
            <a:xfrm>
              <a:off x="761592" y="3724022"/>
              <a:ext cx="311527" cy="223661"/>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6a</a:t>
              </a:r>
              <a:endParaRPr/>
            </a:p>
          </p:txBody>
        </p:sp>
      </p:grpSp>
      <p:grpSp>
        <p:nvGrpSpPr>
          <p:cNvPr id="1709" name="Google Shape;1709;p60"/>
          <p:cNvGrpSpPr/>
          <p:nvPr/>
        </p:nvGrpSpPr>
        <p:grpSpPr>
          <a:xfrm>
            <a:off x="2574025" y="2841900"/>
            <a:ext cx="245580" cy="224238"/>
            <a:chOff x="802803" y="3715228"/>
            <a:chExt cx="245580" cy="224238"/>
          </a:xfrm>
        </p:grpSpPr>
        <p:sp>
          <p:nvSpPr>
            <p:cNvPr id="1710" name="Google Shape;1710;p6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711" name="Google Shape;1711;p60"/>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5</a:t>
              </a:r>
              <a:endParaRPr/>
            </a:p>
          </p:txBody>
        </p:sp>
      </p:grpSp>
      <p:grpSp>
        <p:nvGrpSpPr>
          <p:cNvPr id="1712" name="Google Shape;1712;p60"/>
          <p:cNvGrpSpPr/>
          <p:nvPr/>
        </p:nvGrpSpPr>
        <p:grpSpPr>
          <a:xfrm>
            <a:off x="2574025" y="3121887"/>
            <a:ext cx="245580" cy="224238"/>
            <a:chOff x="802803" y="3715228"/>
            <a:chExt cx="245580" cy="224238"/>
          </a:xfrm>
        </p:grpSpPr>
        <p:sp>
          <p:nvSpPr>
            <p:cNvPr id="1713" name="Google Shape;1713;p6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714" name="Google Shape;1714;p60"/>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3</a:t>
              </a:r>
              <a:endParaRPr/>
            </a:p>
          </p:txBody>
        </p:sp>
      </p:grpSp>
      <p:grpSp>
        <p:nvGrpSpPr>
          <p:cNvPr id="1715" name="Google Shape;1715;p60"/>
          <p:cNvGrpSpPr/>
          <p:nvPr/>
        </p:nvGrpSpPr>
        <p:grpSpPr>
          <a:xfrm>
            <a:off x="2574025" y="3385828"/>
            <a:ext cx="245580" cy="224238"/>
            <a:chOff x="802803" y="3715228"/>
            <a:chExt cx="245580" cy="224238"/>
          </a:xfrm>
        </p:grpSpPr>
        <p:sp>
          <p:nvSpPr>
            <p:cNvPr id="1716" name="Google Shape;1716;p6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717" name="Google Shape;1717;p60"/>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2</a:t>
              </a:r>
              <a:endParaRPr/>
            </a:p>
          </p:txBody>
        </p:sp>
      </p:grpSp>
      <p:grpSp>
        <p:nvGrpSpPr>
          <p:cNvPr id="1718" name="Google Shape;1718;p60"/>
          <p:cNvGrpSpPr/>
          <p:nvPr/>
        </p:nvGrpSpPr>
        <p:grpSpPr>
          <a:xfrm>
            <a:off x="2574025" y="3649299"/>
            <a:ext cx="245580" cy="224238"/>
            <a:chOff x="802803" y="3715228"/>
            <a:chExt cx="245580" cy="224238"/>
          </a:xfrm>
        </p:grpSpPr>
        <p:sp>
          <p:nvSpPr>
            <p:cNvPr id="1719" name="Google Shape;1719;p6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720" name="Google Shape;1720;p60"/>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a:t>
              </a:r>
              <a:endParaRPr/>
            </a:p>
          </p:txBody>
        </p:sp>
      </p:grpSp>
      <p:grpSp>
        <p:nvGrpSpPr>
          <p:cNvPr id="1721" name="Google Shape;1721;p60"/>
          <p:cNvGrpSpPr/>
          <p:nvPr/>
        </p:nvGrpSpPr>
        <p:grpSpPr>
          <a:xfrm>
            <a:off x="10117559" y="1755851"/>
            <a:ext cx="245580" cy="224238"/>
            <a:chOff x="802803" y="3715228"/>
            <a:chExt cx="245580" cy="224238"/>
          </a:xfrm>
        </p:grpSpPr>
        <p:sp>
          <p:nvSpPr>
            <p:cNvPr id="1722" name="Google Shape;1722;p6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723" name="Google Shape;1723;p60"/>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a:t>
              </a:r>
              <a:endParaRPr/>
            </a:p>
          </p:txBody>
        </p:sp>
      </p:grpSp>
      <p:grpSp>
        <p:nvGrpSpPr>
          <p:cNvPr id="1724" name="Google Shape;1724;p60"/>
          <p:cNvGrpSpPr/>
          <p:nvPr/>
        </p:nvGrpSpPr>
        <p:grpSpPr>
          <a:xfrm>
            <a:off x="10116000" y="3650400"/>
            <a:ext cx="245580" cy="224238"/>
            <a:chOff x="802803" y="3715228"/>
            <a:chExt cx="245580" cy="224238"/>
          </a:xfrm>
        </p:grpSpPr>
        <p:sp>
          <p:nvSpPr>
            <p:cNvPr id="1725" name="Google Shape;1725;p6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726" name="Google Shape;1726;p60"/>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2</a:t>
              </a:r>
              <a:endParaRPr/>
            </a:p>
          </p:txBody>
        </p:sp>
      </p:grpSp>
      <p:grpSp>
        <p:nvGrpSpPr>
          <p:cNvPr id="1727" name="Google Shape;1727;p60"/>
          <p:cNvGrpSpPr/>
          <p:nvPr/>
        </p:nvGrpSpPr>
        <p:grpSpPr>
          <a:xfrm>
            <a:off x="10117837" y="1489299"/>
            <a:ext cx="245580" cy="224238"/>
            <a:chOff x="802803" y="3715228"/>
            <a:chExt cx="245580" cy="224238"/>
          </a:xfrm>
        </p:grpSpPr>
        <p:sp>
          <p:nvSpPr>
            <p:cNvPr id="1728" name="Google Shape;1728;p6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729" name="Google Shape;1729;p60"/>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3</a:t>
              </a:r>
              <a:endParaRPr/>
            </a:p>
          </p:txBody>
        </p:sp>
      </p:grpSp>
      <p:grpSp>
        <p:nvGrpSpPr>
          <p:cNvPr id="1730" name="Google Shape;1730;p60"/>
          <p:cNvGrpSpPr/>
          <p:nvPr/>
        </p:nvGrpSpPr>
        <p:grpSpPr>
          <a:xfrm>
            <a:off x="6553087" y="1741845"/>
            <a:ext cx="245580" cy="224238"/>
            <a:chOff x="802803" y="3715228"/>
            <a:chExt cx="245580" cy="224238"/>
          </a:xfrm>
        </p:grpSpPr>
        <p:sp>
          <p:nvSpPr>
            <p:cNvPr id="1731" name="Google Shape;1731;p6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732" name="Google Shape;1732;p60"/>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4</a:t>
              </a:r>
              <a:endParaRPr/>
            </a:p>
          </p:txBody>
        </p:sp>
      </p:grpSp>
      <p:grpSp>
        <p:nvGrpSpPr>
          <p:cNvPr id="1733" name="Google Shape;1733;p60"/>
          <p:cNvGrpSpPr/>
          <p:nvPr/>
        </p:nvGrpSpPr>
        <p:grpSpPr>
          <a:xfrm>
            <a:off x="784605" y="3629276"/>
            <a:ext cx="245580" cy="224238"/>
            <a:chOff x="802803" y="3715228"/>
            <a:chExt cx="245580" cy="224238"/>
          </a:xfrm>
        </p:grpSpPr>
        <p:sp>
          <p:nvSpPr>
            <p:cNvPr id="1734" name="Google Shape;1734;p6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735" name="Google Shape;1735;p60"/>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4</a:t>
              </a:r>
              <a:endParaRPr/>
            </a:p>
          </p:txBody>
        </p:sp>
      </p:grpSp>
      <p:grpSp>
        <p:nvGrpSpPr>
          <p:cNvPr id="1736" name="Google Shape;1736;p60"/>
          <p:cNvGrpSpPr/>
          <p:nvPr/>
        </p:nvGrpSpPr>
        <p:grpSpPr>
          <a:xfrm>
            <a:off x="4359077" y="3641899"/>
            <a:ext cx="245580" cy="224238"/>
            <a:chOff x="802803" y="3715228"/>
            <a:chExt cx="245580" cy="224238"/>
          </a:xfrm>
        </p:grpSpPr>
        <p:sp>
          <p:nvSpPr>
            <p:cNvPr id="1737" name="Google Shape;1737;p6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738" name="Google Shape;1738;p60"/>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5</a:t>
              </a:r>
              <a:endParaRPr/>
            </a:p>
          </p:txBody>
        </p:sp>
      </p:grpSp>
      <p:grpSp>
        <p:nvGrpSpPr>
          <p:cNvPr id="1739" name="Google Shape;1739;p60"/>
          <p:cNvGrpSpPr/>
          <p:nvPr/>
        </p:nvGrpSpPr>
        <p:grpSpPr>
          <a:xfrm>
            <a:off x="6484980" y="5931080"/>
            <a:ext cx="300082" cy="224238"/>
            <a:chOff x="775552" y="3715228"/>
            <a:chExt cx="300082" cy="224238"/>
          </a:xfrm>
        </p:grpSpPr>
        <p:sp>
          <p:nvSpPr>
            <p:cNvPr id="1740" name="Google Shape;1740;p6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741" name="Google Shape;1741;p60"/>
            <p:cNvSpPr/>
            <p:nvPr/>
          </p:nvSpPr>
          <p:spPr>
            <a:xfrm>
              <a:off x="775552" y="3724022"/>
              <a:ext cx="300082"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6a</a:t>
              </a:r>
              <a:endParaRPr/>
            </a:p>
          </p:txBody>
        </p:sp>
      </p:grpSp>
      <p:grpSp>
        <p:nvGrpSpPr>
          <p:cNvPr id="1742" name="Google Shape;1742;p60"/>
          <p:cNvGrpSpPr/>
          <p:nvPr/>
        </p:nvGrpSpPr>
        <p:grpSpPr>
          <a:xfrm>
            <a:off x="4325561" y="3388584"/>
            <a:ext cx="309700" cy="224238"/>
            <a:chOff x="770743" y="3715228"/>
            <a:chExt cx="309700" cy="224238"/>
          </a:xfrm>
        </p:grpSpPr>
        <p:sp>
          <p:nvSpPr>
            <p:cNvPr id="1743" name="Google Shape;1743;p6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744" name="Google Shape;1744;p60"/>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6b</a:t>
              </a:r>
              <a:endParaRPr/>
            </a:p>
          </p:txBody>
        </p:sp>
      </p:grpSp>
      <p:grpSp>
        <p:nvGrpSpPr>
          <p:cNvPr id="1745" name="Google Shape;1745;p60"/>
          <p:cNvGrpSpPr/>
          <p:nvPr/>
        </p:nvGrpSpPr>
        <p:grpSpPr>
          <a:xfrm>
            <a:off x="4372912" y="5940000"/>
            <a:ext cx="309700" cy="224238"/>
            <a:chOff x="770743" y="3715228"/>
            <a:chExt cx="309700" cy="224238"/>
          </a:xfrm>
        </p:grpSpPr>
        <p:sp>
          <p:nvSpPr>
            <p:cNvPr id="1746" name="Google Shape;1746;p6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747" name="Google Shape;1747;p60"/>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6b</a:t>
              </a:r>
              <a:endParaRPr/>
            </a:p>
          </p:txBody>
        </p:sp>
      </p:grpSp>
      <p:grpSp>
        <p:nvGrpSpPr>
          <p:cNvPr id="1748" name="Google Shape;1748;p60"/>
          <p:cNvGrpSpPr/>
          <p:nvPr/>
        </p:nvGrpSpPr>
        <p:grpSpPr>
          <a:xfrm>
            <a:off x="2681463" y="5057611"/>
            <a:ext cx="245580" cy="224238"/>
            <a:chOff x="802803" y="3715228"/>
            <a:chExt cx="245580" cy="224238"/>
          </a:xfrm>
        </p:grpSpPr>
        <p:sp>
          <p:nvSpPr>
            <p:cNvPr id="1749" name="Google Shape;1749;p60"/>
            <p:cNvSpPr/>
            <p:nvPr/>
          </p:nvSpPr>
          <p:spPr>
            <a:xfrm>
              <a:off x="810781" y="3715228"/>
              <a:ext cx="216000" cy="216000"/>
            </a:xfrm>
            <a:prstGeom prst="ellipse">
              <a:avLst/>
            </a:prstGeom>
            <a:solidFill>
              <a:srgbClr val="FFFF00"/>
            </a:solidFill>
            <a:ln cap="flat" cmpd="sng" w="1270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750" name="Google Shape;1750;p60"/>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7</a:t>
              </a:r>
              <a:endParaRPr/>
            </a:p>
          </p:txBody>
        </p:sp>
      </p:grpSp>
      <p:sp>
        <p:nvSpPr>
          <p:cNvPr id="1751" name="Google Shape;1751;p60"/>
          <p:cNvSpPr txBox="1"/>
          <p:nvPr/>
        </p:nvSpPr>
        <p:spPr>
          <a:xfrm>
            <a:off x="6252890" y="2028286"/>
            <a:ext cx="1987133"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Accounts payable</a:t>
            </a:r>
            <a:endParaRPr/>
          </a:p>
        </p:txBody>
      </p:sp>
      <p:sp>
        <p:nvSpPr>
          <p:cNvPr id="1752" name="Google Shape;1752;p60"/>
          <p:cNvSpPr txBox="1"/>
          <p:nvPr/>
        </p:nvSpPr>
        <p:spPr>
          <a:xfrm>
            <a:off x="9504213" y="373659"/>
            <a:ext cx="2279791" cy="40011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000">
                <a:solidFill>
                  <a:schemeClr val="accent2"/>
                </a:solidFill>
                <a:latin typeface="Avenir"/>
                <a:ea typeface="Avenir"/>
                <a:cs typeface="Avenir"/>
                <a:sym typeface="Avenir"/>
              </a:rPr>
              <a:t>Sources of funds</a:t>
            </a:r>
            <a:endParaRPr/>
          </a:p>
        </p:txBody>
      </p:sp>
      <p:sp>
        <p:nvSpPr>
          <p:cNvPr id="1753" name="Google Shape;1753;p60"/>
          <p:cNvSpPr txBox="1"/>
          <p:nvPr/>
        </p:nvSpPr>
        <p:spPr>
          <a:xfrm>
            <a:off x="492858" y="373659"/>
            <a:ext cx="1880643" cy="40011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000">
                <a:solidFill>
                  <a:schemeClr val="accent6"/>
                </a:solidFill>
                <a:latin typeface="Avenir"/>
                <a:ea typeface="Avenir"/>
                <a:cs typeface="Avenir"/>
                <a:sym typeface="Avenir"/>
              </a:rPr>
              <a:t>Uses of funds</a:t>
            </a:r>
            <a:endParaRPr/>
          </a:p>
        </p:txBody>
      </p:sp>
      <p:grpSp>
        <p:nvGrpSpPr>
          <p:cNvPr id="1754" name="Google Shape;1754;p60"/>
          <p:cNvGrpSpPr/>
          <p:nvPr/>
        </p:nvGrpSpPr>
        <p:grpSpPr>
          <a:xfrm>
            <a:off x="2556000" y="4767598"/>
            <a:ext cx="1620000" cy="613673"/>
            <a:chOff x="3810000" y="2381250"/>
            <a:chExt cx="1390650" cy="1230631"/>
          </a:xfrm>
        </p:grpSpPr>
        <p:sp>
          <p:nvSpPr>
            <p:cNvPr id="1755" name="Google Shape;1755;p60"/>
            <p:cNvSpPr/>
            <p:nvPr/>
          </p:nvSpPr>
          <p:spPr>
            <a:xfrm flipH="1">
              <a:off x="4505325" y="2381250"/>
              <a:ext cx="695325" cy="1230631"/>
            </a:xfrm>
            <a:prstGeom prst="corner">
              <a:avLst>
                <a:gd fmla="val 9300"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1756" name="Google Shape;1756;p60"/>
            <p:cNvSpPr/>
            <p:nvPr/>
          </p:nvSpPr>
          <p:spPr>
            <a:xfrm>
              <a:off x="3810000" y="2381250"/>
              <a:ext cx="695325" cy="1230631"/>
            </a:xfrm>
            <a:prstGeom prst="corner">
              <a:avLst>
                <a:gd fmla="val 9300"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1757" name="Google Shape;1757;p60"/>
          <p:cNvGrpSpPr/>
          <p:nvPr/>
        </p:nvGrpSpPr>
        <p:grpSpPr>
          <a:xfrm>
            <a:off x="4292494" y="5448381"/>
            <a:ext cx="1620000" cy="796276"/>
            <a:chOff x="3810000" y="2015069"/>
            <a:chExt cx="1390650" cy="1596814"/>
          </a:xfrm>
        </p:grpSpPr>
        <p:sp>
          <p:nvSpPr>
            <p:cNvPr id="1758" name="Google Shape;1758;p60"/>
            <p:cNvSpPr/>
            <p:nvPr/>
          </p:nvSpPr>
          <p:spPr>
            <a:xfrm flipH="1">
              <a:off x="4505325" y="2015073"/>
              <a:ext cx="695325" cy="1596810"/>
            </a:xfrm>
            <a:prstGeom prst="corner">
              <a:avLst>
                <a:gd fmla="val 7267" name="adj1"/>
                <a:gd fmla="val 7888"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1759" name="Google Shape;1759;p60"/>
            <p:cNvSpPr/>
            <p:nvPr/>
          </p:nvSpPr>
          <p:spPr>
            <a:xfrm>
              <a:off x="3810000" y="2015069"/>
              <a:ext cx="695325" cy="1596812"/>
            </a:xfrm>
            <a:prstGeom prst="corner">
              <a:avLst>
                <a:gd fmla="val 7268" name="adj1"/>
                <a:gd fmla="val 7888"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1760" name="Google Shape;1760;p60"/>
          <p:cNvGrpSpPr/>
          <p:nvPr/>
        </p:nvGrpSpPr>
        <p:grpSpPr>
          <a:xfrm>
            <a:off x="6382456" y="5448381"/>
            <a:ext cx="1620000" cy="796276"/>
            <a:chOff x="3810000" y="2015069"/>
            <a:chExt cx="1390650" cy="1596814"/>
          </a:xfrm>
        </p:grpSpPr>
        <p:sp>
          <p:nvSpPr>
            <p:cNvPr id="1761" name="Google Shape;1761;p60"/>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1762" name="Google Shape;1762;p60"/>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1763" name="Google Shape;1763;p60"/>
          <p:cNvGrpSpPr/>
          <p:nvPr/>
        </p:nvGrpSpPr>
        <p:grpSpPr>
          <a:xfrm>
            <a:off x="9983452" y="3159099"/>
            <a:ext cx="1620000" cy="796276"/>
            <a:chOff x="3810000" y="2015069"/>
            <a:chExt cx="1390650" cy="1596814"/>
          </a:xfrm>
        </p:grpSpPr>
        <p:sp>
          <p:nvSpPr>
            <p:cNvPr id="1764" name="Google Shape;1764;p60"/>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1765" name="Google Shape;1765;p60"/>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1766" name="Google Shape;1766;p60"/>
          <p:cNvGrpSpPr/>
          <p:nvPr/>
        </p:nvGrpSpPr>
        <p:grpSpPr>
          <a:xfrm>
            <a:off x="10006085" y="1263488"/>
            <a:ext cx="1620000" cy="796276"/>
            <a:chOff x="3810000" y="2015069"/>
            <a:chExt cx="1390650" cy="1596814"/>
          </a:xfrm>
        </p:grpSpPr>
        <p:sp>
          <p:nvSpPr>
            <p:cNvPr id="1767" name="Google Shape;1767;p60"/>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1768" name="Google Shape;1768;p60"/>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1769" name="Google Shape;1769;p60"/>
          <p:cNvGrpSpPr/>
          <p:nvPr/>
        </p:nvGrpSpPr>
        <p:grpSpPr>
          <a:xfrm>
            <a:off x="6428511" y="1266563"/>
            <a:ext cx="1620000" cy="796276"/>
            <a:chOff x="3810000" y="2015069"/>
            <a:chExt cx="1390650" cy="1596814"/>
          </a:xfrm>
        </p:grpSpPr>
        <p:sp>
          <p:nvSpPr>
            <p:cNvPr id="1770" name="Google Shape;1770;p60"/>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1771" name="Google Shape;1771;p60"/>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sp>
        <p:nvSpPr>
          <p:cNvPr id="1772" name="Google Shape;1772;p60"/>
          <p:cNvSpPr/>
          <p:nvPr/>
        </p:nvSpPr>
        <p:spPr>
          <a:xfrm rot="10800000">
            <a:off x="10548000" y="3653367"/>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1773" name="Google Shape;1773;p60"/>
          <p:cNvSpPr/>
          <p:nvPr/>
        </p:nvSpPr>
        <p:spPr>
          <a:xfrm>
            <a:off x="1497367" y="755696"/>
            <a:ext cx="10538419" cy="1312708"/>
          </a:xfrm>
          <a:prstGeom prst="rect">
            <a:avLst/>
          </a:prstGeom>
          <a:solidFill>
            <a:srgbClr val="F2F2F2">
              <a:alpha val="86666"/>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1774" name="Google Shape;1774;p60"/>
          <p:cNvGrpSpPr/>
          <p:nvPr/>
        </p:nvGrpSpPr>
        <p:grpSpPr>
          <a:xfrm>
            <a:off x="1697491" y="1029048"/>
            <a:ext cx="10188967" cy="756004"/>
            <a:chOff x="926134" y="1719856"/>
            <a:chExt cx="9204181" cy="750147"/>
          </a:xfrm>
        </p:grpSpPr>
        <p:sp>
          <p:nvSpPr>
            <p:cNvPr id="1775" name="Google Shape;1775;p60"/>
            <p:cNvSpPr txBox="1"/>
            <p:nvPr/>
          </p:nvSpPr>
          <p:spPr>
            <a:xfrm>
              <a:off x="1641585" y="1719860"/>
              <a:ext cx="5447935"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139700" marR="0" rtl="0" algn="l">
                <a:spcBef>
                  <a:spcPts val="0"/>
                </a:spcBef>
                <a:spcAft>
                  <a:spcPts val="0"/>
                </a:spcAft>
                <a:buNone/>
              </a:pPr>
              <a:r>
                <a:rPr lang="en-US" sz="2000">
                  <a:solidFill>
                    <a:schemeClr val="dk1"/>
                  </a:solidFill>
                  <a:latin typeface="Calibri"/>
                  <a:ea typeface="Calibri"/>
                  <a:cs typeface="Calibri"/>
                  <a:sym typeface="Calibri"/>
                </a:rPr>
                <a:t>오늘 진열창 청소를 해준 창문 청소업자에게 현금으로 비용을 지불함. 창문이 정말 깨끗해졌어요!</a:t>
              </a:r>
              <a:endParaRPr sz="2000">
                <a:solidFill>
                  <a:schemeClr val="dk1"/>
                </a:solidFill>
                <a:latin typeface="Avenir"/>
                <a:ea typeface="Avenir"/>
                <a:cs typeface="Avenir"/>
                <a:sym typeface="Avenir"/>
              </a:endParaRPr>
            </a:p>
          </p:txBody>
        </p:sp>
        <p:sp>
          <p:nvSpPr>
            <p:cNvPr id="1776" name="Google Shape;1776;p60"/>
            <p:cNvSpPr txBox="1"/>
            <p:nvPr/>
          </p:nvSpPr>
          <p:spPr>
            <a:xfrm>
              <a:off x="7089520" y="1719858"/>
              <a:ext cx="1520398" cy="745310"/>
            </a:xfrm>
            <a:prstGeom prst="rect">
              <a:avLst/>
            </a:prstGeom>
            <a:solidFill>
              <a:srgbClr val="E1EFD8"/>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Cleaning</a:t>
              </a: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50</a:t>
              </a:r>
              <a:endParaRPr/>
            </a:p>
          </p:txBody>
        </p:sp>
        <p:sp>
          <p:nvSpPr>
            <p:cNvPr id="1777" name="Google Shape;1777;p60"/>
            <p:cNvSpPr txBox="1"/>
            <p:nvPr/>
          </p:nvSpPr>
          <p:spPr>
            <a:xfrm>
              <a:off x="8609917" y="1719858"/>
              <a:ext cx="1520398" cy="745310"/>
            </a:xfrm>
            <a:prstGeom prst="rect">
              <a:avLst/>
            </a:prstGeom>
            <a:solidFill>
              <a:srgbClr val="FBE4D4"/>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Cash</a:t>
              </a:r>
              <a:endParaRPr b="1" sz="1600">
                <a:solidFill>
                  <a:srgbClr val="BFBFBF"/>
                </a:solidFill>
                <a:latin typeface="Avenir"/>
                <a:ea typeface="Avenir"/>
                <a:cs typeface="Avenir"/>
                <a:sym typeface="Aveni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50</a:t>
              </a:r>
              <a:endParaRPr/>
            </a:p>
          </p:txBody>
        </p:sp>
        <p:sp>
          <p:nvSpPr>
            <p:cNvPr id="1778" name="Google Shape;1778;p60"/>
            <p:cNvSpPr txBox="1"/>
            <p:nvPr/>
          </p:nvSpPr>
          <p:spPr>
            <a:xfrm>
              <a:off x="926134" y="1719856"/>
              <a:ext cx="715451"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7</a:t>
              </a:r>
              <a:endParaRPr/>
            </a:p>
          </p:txBody>
        </p:sp>
      </p:grpSp>
      <p:sp>
        <p:nvSpPr>
          <p:cNvPr id="1779" name="Google Shape;1779;p60"/>
          <p:cNvSpPr txBox="1"/>
          <p:nvPr/>
        </p:nvSpPr>
        <p:spPr>
          <a:xfrm>
            <a:off x="8518420" y="1028297"/>
            <a:ext cx="1683070" cy="756000"/>
          </a:xfrm>
          <a:prstGeom prst="rect">
            <a:avLst/>
          </a:prstGeom>
          <a:solidFill>
            <a:srgbClr val="548135"/>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50</a:t>
            </a:r>
            <a:endParaRPr/>
          </a:p>
        </p:txBody>
      </p:sp>
      <p:sp>
        <p:nvSpPr>
          <p:cNvPr id="1780" name="Google Shape;1780;p60"/>
          <p:cNvSpPr txBox="1"/>
          <p:nvPr/>
        </p:nvSpPr>
        <p:spPr>
          <a:xfrm>
            <a:off x="10201490" y="1032410"/>
            <a:ext cx="1683070" cy="756000"/>
          </a:xfrm>
          <a:prstGeom prst="rect">
            <a:avLst/>
          </a:prstGeom>
          <a:solidFill>
            <a:schemeClr val="accent2"/>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50</a:t>
            </a:r>
            <a:endParaRPr/>
          </a:p>
        </p:txBody>
      </p:sp>
      <p:sp>
        <p:nvSpPr>
          <p:cNvPr id="1781" name="Google Shape;1781;p60"/>
          <p:cNvSpPr/>
          <p:nvPr/>
        </p:nvSpPr>
        <p:spPr>
          <a:xfrm rot="10800000">
            <a:off x="153289" y="4549188"/>
            <a:ext cx="950259" cy="1037381"/>
          </a:xfrm>
          <a:prstGeom prst="downArrow">
            <a:avLst>
              <a:gd fmla="val 50000" name="adj1"/>
              <a:gd fmla="val 50000" name="adj2"/>
            </a:avLst>
          </a:prstGeom>
          <a:solidFill>
            <a:schemeClr val="accent6">
              <a:alpha val="77647"/>
            </a:schemeClr>
          </a:solidFill>
          <a:ln>
            <a:noFill/>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782" name="Google Shape;1782;p60"/>
          <p:cNvSpPr/>
          <p:nvPr/>
        </p:nvSpPr>
        <p:spPr>
          <a:xfrm>
            <a:off x="152838" y="842384"/>
            <a:ext cx="950259" cy="1037381"/>
          </a:xfrm>
          <a:prstGeom prst="downArrow">
            <a:avLst>
              <a:gd fmla="val 50000" name="adj1"/>
              <a:gd fmla="val 50000" name="adj2"/>
            </a:avLst>
          </a:prstGeom>
          <a:solidFill>
            <a:schemeClr val="accent2">
              <a:alpha val="77647"/>
            </a:schemeClr>
          </a:solidFill>
          <a:ln>
            <a:noFill/>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783" name="Google Shape;1783;p60"/>
          <p:cNvSpPr txBox="1"/>
          <p:nvPr/>
        </p:nvSpPr>
        <p:spPr>
          <a:xfrm>
            <a:off x="6423872" y="3419412"/>
            <a:ext cx="1548343" cy="566133"/>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350</a:t>
            </a:r>
            <a:endParaRPr sz="2400">
              <a:solidFill>
                <a:schemeClr val="dk1"/>
              </a:solidFill>
              <a:latin typeface="Calibri"/>
              <a:ea typeface="Calibri"/>
              <a:cs typeface="Calibri"/>
              <a:sym typeface="Calibri"/>
            </a:endParaRPr>
          </a:p>
        </p:txBody>
      </p:sp>
      <p:sp>
        <p:nvSpPr>
          <p:cNvPr id="1784" name="Google Shape;1784;p60"/>
          <p:cNvSpPr txBox="1"/>
          <p:nvPr/>
        </p:nvSpPr>
        <p:spPr>
          <a:xfrm>
            <a:off x="6403129" y="3419412"/>
            <a:ext cx="1548343" cy="566133"/>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400</a:t>
            </a:r>
            <a:endParaRPr sz="2400">
              <a:solidFill>
                <a:schemeClr val="dk1"/>
              </a:solidFill>
              <a:latin typeface="Calibri"/>
              <a:ea typeface="Calibri"/>
              <a:cs typeface="Calibri"/>
              <a:sym typeface="Calibri"/>
            </a:endParaRPr>
          </a:p>
        </p:txBody>
      </p:sp>
    </p:spTree>
  </p:cSld>
  <p:clrMapOvr>
    <a:masterClrMapping/>
  </p:clrMapOvr>
  <mc:AlternateContent>
    <mc:Choice Requires="p14">
      <p:transition spd="slow" p14:dur="700">
        <p:fade/>
      </p:transition>
    </mc:Choice>
    <mc:Fallback>
      <p:transition spd="slow">
        <p:fade/>
      </p:transition>
    </mc:Fallback>
  </mc:AlternateContent>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afterEffect" presetClass="exit" presetID="10" presetSubtype="0">
                                  <p:stCondLst>
                                    <p:cond delay="0"/>
                                  </p:stCondLst>
                                  <p:childTnLst>
                                    <p:animEffect filter="fade" transition="out">
                                      <p:cBhvr>
                                        <p:cTn dur="1000"/>
                                        <p:tgtEl>
                                          <p:spTgt spid="1780"/>
                                        </p:tgtEl>
                                      </p:cBhvr>
                                    </p:animEffect>
                                    <p:set>
                                      <p:cBhvr>
                                        <p:cTn dur="1" fill="hold">
                                          <p:stCondLst>
                                            <p:cond delay="1000"/>
                                          </p:stCondLst>
                                        </p:cTn>
                                        <p:tgtEl>
                                          <p:spTgt spid="1780"/>
                                        </p:tgtEl>
                                        <p:attrNameLst>
                                          <p:attrName>style.visibility</p:attrName>
                                        </p:attrNameLst>
                                      </p:cBhvr>
                                      <p:to>
                                        <p:strVal val="hidden"/>
                                      </p:to>
                                    </p:set>
                                  </p:childTnLst>
                                </p:cTn>
                              </p:par>
                              <p:par>
                                <p:cTn fill="hold" nodeType="withEffect" presetClass="entr" presetID="10" presetSubtype="0">
                                  <p:stCondLst>
                                    <p:cond delay="0"/>
                                  </p:stCondLst>
                                  <p:childTnLst>
                                    <p:set>
                                      <p:cBhvr>
                                        <p:cTn dur="1" fill="hold">
                                          <p:stCondLst>
                                            <p:cond delay="0"/>
                                          </p:stCondLst>
                                        </p:cTn>
                                        <p:tgtEl>
                                          <p:spTgt spid="1703"/>
                                        </p:tgtEl>
                                        <p:attrNameLst>
                                          <p:attrName>style.visibility</p:attrName>
                                        </p:attrNameLst>
                                      </p:cBhvr>
                                      <p:to>
                                        <p:strVal val="visible"/>
                                      </p:to>
                                    </p:set>
                                    <p:animEffect filter="fade" transition="in">
                                      <p:cBhvr>
                                        <p:cTn dur="1000"/>
                                        <p:tgtEl>
                                          <p:spTgt spid="1703"/>
                                        </p:tgtEl>
                                      </p:cBhvr>
                                    </p:animEffect>
                                  </p:childTnLst>
                                </p:cTn>
                              </p:par>
                              <p:par>
                                <p:cTn fill="hold" nodeType="withEffect" presetClass="entr" presetID="10" presetSubtype="0">
                                  <p:stCondLst>
                                    <p:cond delay="0"/>
                                  </p:stCondLst>
                                  <p:childTnLst>
                                    <p:set>
                                      <p:cBhvr>
                                        <p:cTn dur="1" fill="hold">
                                          <p:stCondLst>
                                            <p:cond delay="0"/>
                                          </p:stCondLst>
                                        </p:cTn>
                                        <p:tgtEl>
                                          <p:spTgt spid="1679"/>
                                        </p:tgtEl>
                                        <p:attrNameLst>
                                          <p:attrName>style.visibility</p:attrName>
                                        </p:attrNameLst>
                                      </p:cBhvr>
                                      <p:to>
                                        <p:strVal val="visible"/>
                                      </p:to>
                                    </p:set>
                                    <p:animEffect filter="fade" transition="in">
                                      <p:cBhvr>
                                        <p:cTn dur="1000"/>
                                        <p:tgtEl>
                                          <p:spTgt spid="1679"/>
                                        </p:tgtEl>
                                      </p:cBhvr>
                                    </p:animEffect>
                                  </p:childTnLst>
                                </p:cTn>
                              </p:par>
                              <p:par>
                                <p:cTn fill="hold" nodeType="withEffect" presetClass="entr" presetID="10" presetSubtype="0">
                                  <p:stCondLst>
                                    <p:cond delay="0"/>
                                  </p:stCondLst>
                                  <p:childTnLst>
                                    <p:set>
                                      <p:cBhvr>
                                        <p:cTn dur="1" fill="hold">
                                          <p:stCondLst>
                                            <p:cond delay="0"/>
                                          </p:stCondLst>
                                        </p:cTn>
                                        <p:tgtEl>
                                          <p:spTgt spid="1675"/>
                                        </p:tgtEl>
                                        <p:attrNameLst>
                                          <p:attrName>style.visibility</p:attrName>
                                        </p:attrNameLst>
                                      </p:cBhvr>
                                      <p:to>
                                        <p:strVal val="visible"/>
                                      </p:to>
                                    </p:set>
                                    <p:animEffect filter="fade" transition="in">
                                      <p:cBhvr>
                                        <p:cTn dur="1000"/>
                                        <p:tgtEl>
                                          <p:spTgt spid="167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667"/>
                                        </p:tgtEl>
                                        <p:attrNameLst>
                                          <p:attrName>style.visibility</p:attrName>
                                        </p:attrNameLst>
                                      </p:cBhvr>
                                      <p:to>
                                        <p:strVal val="visible"/>
                                      </p:to>
                                    </p:set>
                                    <p:animEffect filter="fade" transition="in">
                                      <p:cBhvr>
                                        <p:cTn dur="500"/>
                                        <p:tgtEl>
                                          <p:spTgt spid="1667"/>
                                        </p:tgtEl>
                                      </p:cBhvr>
                                    </p:animEffect>
                                  </p:childTnLst>
                                </p:cTn>
                              </p:par>
                              <p:par>
                                <p:cTn fill="hold" nodeType="withEffect" presetClass="entr" presetID="10" presetSubtype="0">
                                  <p:stCondLst>
                                    <p:cond delay="0"/>
                                  </p:stCondLst>
                                  <p:childTnLst>
                                    <p:set>
                                      <p:cBhvr>
                                        <p:cTn dur="1" fill="hold">
                                          <p:stCondLst>
                                            <p:cond delay="0"/>
                                          </p:stCondLst>
                                        </p:cTn>
                                        <p:tgtEl>
                                          <p:spTgt spid="1754"/>
                                        </p:tgtEl>
                                        <p:attrNameLst>
                                          <p:attrName>style.visibility</p:attrName>
                                        </p:attrNameLst>
                                      </p:cBhvr>
                                      <p:to>
                                        <p:strVal val="visible"/>
                                      </p:to>
                                    </p:set>
                                    <p:animEffect filter="fade" transition="in">
                                      <p:cBhvr>
                                        <p:cTn dur="500"/>
                                        <p:tgtEl>
                                          <p:spTgt spid="1754"/>
                                        </p:tgtEl>
                                      </p:cBhvr>
                                    </p:animEffect>
                                  </p:childTnLst>
                                </p:cTn>
                              </p:par>
                            </p:childTnLst>
                          </p:cTn>
                        </p:par>
                        <p:par>
                          <p:cTn fill="hold">
                            <p:stCondLst>
                              <p:cond delay="500"/>
                            </p:stCondLst>
                            <p:childTnLst>
                              <p:par>
                                <p:cTn fill="hold" nodeType="afterEffect" presetClass="exit" presetID="10" presetSubtype="0">
                                  <p:stCondLst>
                                    <p:cond delay="0"/>
                                  </p:stCondLst>
                                  <p:childTnLst>
                                    <p:animEffect filter="fade" transition="out">
                                      <p:cBhvr>
                                        <p:cTn dur="1000"/>
                                        <p:tgtEl>
                                          <p:spTgt spid="1779"/>
                                        </p:tgtEl>
                                      </p:cBhvr>
                                    </p:animEffect>
                                    <p:set>
                                      <p:cBhvr>
                                        <p:cTn dur="1" fill="hold">
                                          <p:stCondLst>
                                            <p:cond delay="1000"/>
                                          </p:stCondLst>
                                        </p:cTn>
                                        <p:tgtEl>
                                          <p:spTgt spid="1779"/>
                                        </p:tgtEl>
                                        <p:attrNameLst>
                                          <p:attrName>style.visibility</p:attrName>
                                        </p:attrNameLst>
                                      </p:cBhvr>
                                      <p:to>
                                        <p:strVal val="hidden"/>
                                      </p:to>
                                    </p:set>
                                  </p:childTnLst>
                                </p:cTn>
                              </p:par>
                              <p:par>
                                <p:cTn fill="hold" nodeType="withEffect" presetClass="entr" presetID="10" presetSubtype="0">
                                  <p:stCondLst>
                                    <p:cond delay="0"/>
                                  </p:stCondLst>
                                  <p:childTnLst>
                                    <p:set>
                                      <p:cBhvr>
                                        <p:cTn dur="1" fill="hold">
                                          <p:stCondLst>
                                            <p:cond delay="0"/>
                                          </p:stCondLst>
                                        </p:cTn>
                                        <p:tgtEl>
                                          <p:spTgt spid="1748"/>
                                        </p:tgtEl>
                                        <p:attrNameLst>
                                          <p:attrName>style.visibility</p:attrName>
                                        </p:attrNameLst>
                                      </p:cBhvr>
                                      <p:to>
                                        <p:strVal val="visible"/>
                                      </p:to>
                                    </p:set>
                                    <p:animEffect filter="fade" transition="in">
                                      <p:cBhvr>
                                        <p:cTn dur="1000"/>
                                        <p:tgtEl>
                                          <p:spTgt spid="1748"/>
                                        </p:tgtEl>
                                      </p:cBhvr>
                                    </p:animEffect>
                                  </p:childTnLst>
                                </p:cTn>
                              </p:par>
                              <p:par>
                                <p:cTn fill="hold" nodeType="withEffect" presetClass="entr" presetID="10" presetSubtype="0">
                                  <p:stCondLst>
                                    <p:cond delay="0"/>
                                  </p:stCondLst>
                                  <p:childTnLst>
                                    <p:set>
                                      <p:cBhvr>
                                        <p:cTn dur="1" fill="hold">
                                          <p:stCondLst>
                                            <p:cond delay="0"/>
                                          </p:stCondLst>
                                        </p:cTn>
                                        <p:tgtEl>
                                          <p:spTgt spid="1693"/>
                                        </p:tgtEl>
                                        <p:attrNameLst>
                                          <p:attrName>style.visibility</p:attrName>
                                        </p:attrNameLst>
                                      </p:cBhvr>
                                      <p:to>
                                        <p:strVal val="visible"/>
                                      </p:to>
                                    </p:set>
                                    <p:animEffect filter="fade" transition="in">
                                      <p:cBhvr>
                                        <p:cTn dur="1000"/>
                                        <p:tgtEl>
                                          <p:spTgt spid="1693"/>
                                        </p:tgtEl>
                                      </p:cBhvr>
                                    </p:animEffect>
                                  </p:childTnLst>
                                </p:cTn>
                              </p:par>
                              <p:par>
                                <p:cTn fill="hold" nodeType="withEffect" presetClass="entr" presetID="10" presetSubtype="0">
                                  <p:stCondLst>
                                    <p:cond delay="0"/>
                                  </p:stCondLst>
                                  <p:childTnLst>
                                    <p:set>
                                      <p:cBhvr>
                                        <p:cTn dur="1" fill="hold">
                                          <p:stCondLst>
                                            <p:cond delay="0"/>
                                          </p:stCondLst>
                                        </p:cTn>
                                        <p:tgtEl>
                                          <p:spTgt spid="1676"/>
                                        </p:tgtEl>
                                        <p:attrNameLst>
                                          <p:attrName>style.visibility</p:attrName>
                                        </p:attrNameLst>
                                      </p:cBhvr>
                                      <p:to>
                                        <p:strVal val="visible"/>
                                      </p:to>
                                    </p:set>
                                    <p:animEffect filter="fade" transition="in">
                                      <p:cBhvr>
                                        <p:cTn dur="1000"/>
                                        <p:tgtEl>
                                          <p:spTgt spid="1676"/>
                                        </p:tgtEl>
                                      </p:cBhvr>
                                    </p:animEffect>
                                  </p:childTnLst>
                                </p:cTn>
                              </p:par>
                            </p:childTnLst>
                          </p:cTn>
                        </p:par>
                        <p:par>
                          <p:cTn fill="hold">
                            <p:stCondLst>
                              <p:cond delay="1500"/>
                            </p:stCondLst>
                            <p:childTnLst>
                              <p:par>
                                <p:cTn fill="hold" nodeType="afterEffect" presetClass="entr" presetID="10" presetSubtype="0">
                                  <p:stCondLst>
                                    <p:cond delay="0"/>
                                  </p:stCondLst>
                                  <p:childTnLst>
                                    <p:set>
                                      <p:cBhvr>
                                        <p:cTn dur="1" fill="hold">
                                          <p:stCondLst>
                                            <p:cond delay="0"/>
                                          </p:stCondLst>
                                        </p:cTn>
                                        <p:tgtEl>
                                          <p:spTgt spid="1783"/>
                                        </p:tgtEl>
                                        <p:attrNameLst>
                                          <p:attrName>style.visibility</p:attrName>
                                        </p:attrNameLst>
                                      </p:cBhvr>
                                      <p:to>
                                        <p:strVal val="visible"/>
                                      </p:to>
                                    </p:set>
                                    <p:animEffect filter="fade" transition="in">
                                      <p:cBhvr>
                                        <p:cTn dur="1000"/>
                                        <p:tgtEl>
                                          <p:spTgt spid="1783"/>
                                        </p:tgtEl>
                                      </p:cBhvr>
                                    </p:animEffect>
                                  </p:childTnLst>
                                </p:cTn>
                              </p:par>
                              <p:par>
                                <p:cTn fill="hold" nodeType="withEffect" presetClass="exit" presetID="10" presetSubtype="0">
                                  <p:stCondLst>
                                    <p:cond delay="0"/>
                                  </p:stCondLst>
                                  <p:childTnLst>
                                    <p:animEffect filter="fade" transition="out">
                                      <p:cBhvr>
                                        <p:cTn dur="500"/>
                                        <p:tgtEl>
                                          <p:spTgt spid="1784"/>
                                        </p:tgtEl>
                                      </p:cBhvr>
                                    </p:animEffect>
                                    <p:set>
                                      <p:cBhvr>
                                        <p:cTn dur="1" fill="hold">
                                          <p:stCondLst>
                                            <p:cond delay="500"/>
                                          </p:stCondLst>
                                        </p:cTn>
                                        <p:tgtEl>
                                          <p:spTgt spid="1784"/>
                                        </p:tgtEl>
                                        <p:attrNameLst>
                                          <p:attrName>style.visibility</p:attrName>
                                        </p:attrNameLst>
                                      </p:cBhvr>
                                      <p:to>
                                        <p:strVal val="hidden"/>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781"/>
                                        </p:tgtEl>
                                        <p:attrNameLst>
                                          <p:attrName>style.visibility</p:attrName>
                                        </p:attrNameLst>
                                      </p:cBhvr>
                                      <p:to>
                                        <p:strVal val="visible"/>
                                      </p:to>
                                    </p:set>
                                    <p:animEffect filter="fade" transition="in">
                                      <p:cBhvr>
                                        <p:cTn dur="1000"/>
                                        <p:tgtEl>
                                          <p:spTgt spid="1781"/>
                                        </p:tgtEl>
                                      </p:cBhvr>
                                    </p:animEffect>
                                  </p:childTnLst>
                                </p:cTn>
                              </p:par>
                              <p:par>
                                <p:cTn fill="hold" nodeType="withEffect" presetClass="entr" presetID="10" presetSubtype="0">
                                  <p:stCondLst>
                                    <p:cond delay="0"/>
                                  </p:stCondLst>
                                  <p:childTnLst>
                                    <p:set>
                                      <p:cBhvr>
                                        <p:cTn dur="1" fill="hold">
                                          <p:stCondLst>
                                            <p:cond delay="0"/>
                                          </p:stCondLst>
                                        </p:cTn>
                                        <p:tgtEl>
                                          <p:spTgt spid="1782"/>
                                        </p:tgtEl>
                                        <p:attrNameLst>
                                          <p:attrName>style.visibility</p:attrName>
                                        </p:attrNameLst>
                                      </p:cBhvr>
                                      <p:to>
                                        <p:strVal val="visible"/>
                                      </p:to>
                                    </p:set>
                                    <p:animEffect filter="fade" transition="in">
                                      <p:cBhvr>
                                        <p:cTn dur="1000"/>
                                        <p:tgtEl>
                                          <p:spTgt spid="178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89" name="Shape 1789"/>
        <p:cNvGrpSpPr/>
        <p:nvPr/>
      </p:nvGrpSpPr>
      <p:grpSpPr>
        <a:xfrm>
          <a:off x="0" y="0"/>
          <a:ext cx="0" cy="0"/>
          <a:chOff x="0" y="0"/>
          <a:chExt cx="0" cy="0"/>
        </a:xfrm>
      </p:grpSpPr>
      <p:sp>
        <p:nvSpPr>
          <p:cNvPr id="1790" name="Google Shape;1790;p61"/>
          <p:cNvSpPr txBox="1"/>
          <p:nvPr/>
        </p:nvSpPr>
        <p:spPr>
          <a:xfrm>
            <a:off x="4187006" y="284371"/>
            <a:ext cx="3629520"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cxnSp>
        <p:nvCxnSpPr>
          <p:cNvPr id="1791" name="Google Shape;1791;p61"/>
          <p:cNvCxnSpPr/>
          <p:nvPr/>
        </p:nvCxnSpPr>
        <p:spPr>
          <a:xfrm>
            <a:off x="4316098" y="717845"/>
            <a:ext cx="3375212" cy="0"/>
          </a:xfrm>
          <a:prstGeom prst="straightConnector1">
            <a:avLst/>
          </a:prstGeom>
          <a:noFill/>
          <a:ln cap="flat" cmpd="sng" w="28575">
            <a:solidFill>
              <a:schemeClr val="accent1"/>
            </a:solidFill>
            <a:prstDash val="dot"/>
            <a:miter lim="800000"/>
            <a:headEnd len="sm" w="sm" type="none"/>
            <a:tailEnd len="sm" w="sm" type="none"/>
          </a:ln>
        </p:spPr>
      </p:cxnSp>
      <p:grpSp>
        <p:nvGrpSpPr>
          <p:cNvPr id="1792" name="Google Shape;1792;p61"/>
          <p:cNvGrpSpPr/>
          <p:nvPr/>
        </p:nvGrpSpPr>
        <p:grpSpPr>
          <a:xfrm>
            <a:off x="1284576" y="2130924"/>
            <a:ext cx="10188969" cy="756004"/>
            <a:chOff x="926134" y="1719856"/>
            <a:chExt cx="9204181" cy="750147"/>
          </a:xfrm>
        </p:grpSpPr>
        <p:sp>
          <p:nvSpPr>
            <p:cNvPr id="1793" name="Google Shape;1793;p61"/>
            <p:cNvSpPr txBox="1"/>
            <p:nvPr/>
          </p:nvSpPr>
          <p:spPr>
            <a:xfrm>
              <a:off x="1641585" y="1719860"/>
              <a:ext cx="5447935"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139700" marR="0" rtl="0" algn="l">
                <a:spcBef>
                  <a:spcPts val="0"/>
                </a:spcBef>
                <a:spcAft>
                  <a:spcPts val="0"/>
                </a:spcAft>
                <a:buNone/>
              </a:pPr>
              <a:r>
                <a:rPr lang="en-US" sz="2000">
                  <a:solidFill>
                    <a:schemeClr val="dk1"/>
                  </a:solidFill>
                  <a:latin typeface="Calibri"/>
                  <a:ea typeface="Calibri"/>
                  <a:cs typeface="Calibri"/>
                  <a:sym typeface="Calibri"/>
                </a:rPr>
                <a:t>고객 B에게 또 다른 판매를 진행함. 그녀는 결제 담당자가 내일 와서 결제할 것이라고 말함.</a:t>
              </a:r>
              <a:endParaRPr sz="2000">
                <a:solidFill>
                  <a:schemeClr val="dk1"/>
                </a:solidFill>
                <a:latin typeface="Avenir"/>
                <a:ea typeface="Avenir"/>
                <a:cs typeface="Avenir"/>
                <a:sym typeface="Avenir"/>
              </a:endParaRPr>
            </a:p>
          </p:txBody>
        </p:sp>
        <p:sp>
          <p:nvSpPr>
            <p:cNvPr id="1794" name="Google Shape;1794;p61"/>
            <p:cNvSpPr txBox="1"/>
            <p:nvPr/>
          </p:nvSpPr>
          <p:spPr>
            <a:xfrm>
              <a:off x="7089520" y="1719858"/>
              <a:ext cx="1520398" cy="745310"/>
            </a:xfrm>
            <a:prstGeom prst="rect">
              <a:avLst/>
            </a:prstGeom>
            <a:solidFill>
              <a:srgbClr val="E1EFD8"/>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Accounts receivable</a:t>
              </a: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600</a:t>
              </a:r>
              <a:endParaRPr/>
            </a:p>
          </p:txBody>
        </p:sp>
        <p:sp>
          <p:nvSpPr>
            <p:cNvPr id="1795" name="Google Shape;1795;p61"/>
            <p:cNvSpPr txBox="1"/>
            <p:nvPr/>
          </p:nvSpPr>
          <p:spPr>
            <a:xfrm>
              <a:off x="8609917" y="1719858"/>
              <a:ext cx="1520398" cy="745310"/>
            </a:xfrm>
            <a:prstGeom prst="rect">
              <a:avLst/>
            </a:prstGeom>
            <a:solidFill>
              <a:srgbClr val="FBE4D4"/>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Sales</a:t>
              </a:r>
              <a:endParaRPr b="1" sz="1600">
                <a:solidFill>
                  <a:srgbClr val="BFBFBF"/>
                </a:solidFill>
                <a:latin typeface="Avenir"/>
                <a:ea typeface="Avenir"/>
                <a:cs typeface="Avenir"/>
                <a:sym typeface="Aveni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600</a:t>
              </a:r>
              <a:endParaRPr/>
            </a:p>
          </p:txBody>
        </p:sp>
        <p:sp>
          <p:nvSpPr>
            <p:cNvPr id="1796" name="Google Shape;1796;p61"/>
            <p:cNvSpPr txBox="1"/>
            <p:nvPr/>
          </p:nvSpPr>
          <p:spPr>
            <a:xfrm>
              <a:off x="926134" y="1719856"/>
              <a:ext cx="715451"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8a</a:t>
              </a:r>
              <a:endParaRPr/>
            </a:p>
          </p:txBody>
        </p:sp>
      </p:grpSp>
      <p:sp>
        <p:nvSpPr>
          <p:cNvPr id="1797" name="Google Shape;1797;p61"/>
          <p:cNvSpPr txBox="1"/>
          <p:nvPr/>
        </p:nvSpPr>
        <p:spPr>
          <a:xfrm>
            <a:off x="8109273" y="2126055"/>
            <a:ext cx="1681200" cy="756000"/>
          </a:xfrm>
          <a:prstGeom prst="rect">
            <a:avLst/>
          </a:prstGeom>
          <a:solidFill>
            <a:srgbClr val="548135"/>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600</a:t>
            </a:r>
            <a:endParaRPr/>
          </a:p>
        </p:txBody>
      </p:sp>
      <p:sp>
        <p:nvSpPr>
          <p:cNvPr id="1798" name="Google Shape;1798;p61"/>
          <p:cNvSpPr txBox="1"/>
          <p:nvPr/>
        </p:nvSpPr>
        <p:spPr>
          <a:xfrm>
            <a:off x="9792343" y="2126055"/>
            <a:ext cx="1681200" cy="756000"/>
          </a:xfrm>
          <a:prstGeom prst="rect">
            <a:avLst/>
          </a:prstGeom>
          <a:solidFill>
            <a:schemeClr val="accent2"/>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600</a:t>
            </a:r>
            <a:endParaRPr/>
          </a:p>
        </p:txBody>
      </p:sp>
      <p:sp>
        <p:nvSpPr>
          <p:cNvPr id="1799" name="Google Shape;1799;p61"/>
          <p:cNvSpPr/>
          <p:nvPr/>
        </p:nvSpPr>
        <p:spPr>
          <a:xfrm>
            <a:off x="1284578" y="1520543"/>
            <a:ext cx="2024679" cy="42011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2130">
                <a:solidFill>
                  <a:schemeClr val="dk1"/>
                </a:solidFill>
                <a:latin typeface="Avenir"/>
                <a:ea typeface="Avenir"/>
                <a:cs typeface="Avenir"/>
                <a:sym typeface="Avenir"/>
              </a:rPr>
              <a:t>7 February</a:t>
            </a:r>
            <a:endParaRPr sz="2130">
              <a:solidFill>
                <a:schemeClr val="dk1"/>
              </a:solidFill>
              <a:latin typeface="Avenir"/>
              <a:ea typeface="Avenir"/>
              <a:cs typeface="Avenir"/>
              <a:sym typeface="Avenir"/>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04" name="Shape 1804"/>
        <p:cNvGrpSpPr/>
        <p:nvPr/>
      </p:nvGrpSpPr>
      <p:grpSpPr>
        <a:xfrm>
          <a:off x="0" y="0"/>
          <a:ext cx="0" cy="0"/>
          <a:chOff x="0" y="0"/>
          <a:chExt cx="0" cy="0"/>
        </a:xfrm>
      </p:grpSpPr>
      <p:sp>
        <p:nvSpPr>
          <p:cNvPr id="1805" name="Google Shape;1805;p62"/>
          <p:cNvSpPr txBox="1"/>
          <p:nvPr/>
        </p:nvSpPr>
        <p:spPr>
          <a:xfrm>
            <a:off x="4187006" y="133386"/>
            <a:ext cx="3629520"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cxnSp>
        <p:nvCxnSpPr>
          <p:cNvPr id="1806" name="Google Shape;1806;p62"/>
          <p:cNvCxnSpPr/>
          <p:nvPr/>
        </p:nvCxnSpPr>
        <p:spPr>
          <a:xfrm>
            <a:off x="4316098" y="566860"/>
            <a:ext cx="3375212" cy="0"/>
          </a:xfrm>
          <a:prstGeom prst="straightConnector1">
            <a:avLst/>
          </a:prstGeom>
          <a:noFill/>
          <a:ln cap="flat" cmpd="sng" w="28575">
            <a:solidFill>
              <a:schemeClr val="accent1"/>
            </a:solidFill>
            <a:prstDash val="dot"/>
            <a:miter lim="800000"/>
            <a:headEnd len="sm" w="sm" type="none"/>
            <a:tailEnd len="sm" w="sm" type="none"/>
          </a:ln>
        </p:spPr>
      </p:cxnSp>
      <p:grpSp>
        <p:nvGrpSpPr>
          <p:cNvPr id="1807" name="Google Shape;1807;p62"/>
          <p:cNvGrpSpPr/>
          <p:nvPr/>
        </p:nvGrpSpPr>
        <p:grpSpPr>
          <a:xfrm>
            <a:off x="492858" y="773769"/>
            <a:ext cx="11291146" cy="5895963"/>
            <a:chOff x="492858" y="773769"/>
            <a:chExt cx="11291146" cy="5895963"/>
          </a:xfrm>
        </p:grpSpPr>
        <p:sp>
          <p:nvSpPr>
            <p:cNvPr id="1808" name="Google Shape;1808;p62"/>
            <p:cNvSpPr txBox="1"/>
            <p:nvPr/>
          </p:nvSpPr>
          <p:spPr>
            <a:xfrm>
              <a:off x="6227788" y="2623662"/>
              <a:ext cx="5556216" cy="1692844"/>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Equity</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1809" name="Google Shape;1809;p62"/>
            <p:cNvSpPr txBox="1"/>
            <p:nvPr/>
          </p:nvSpPr>
          <p:spPr>
            <a:xfrm>
              <a:off x="6410845" y="3135649"/>
              <a:ext cx="1544844" cy="770509"/>
            </a:xfrm>
            <a:prstGeom prst="rect">
              <a:avLst/>
            </a:prstGeom>
            <a:noFill/>
            <a:ln cap="flat" cmpd="sng" w="5715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ctr">
                <a:lnSpc>
                  <a:spcPct val="120000"/>
                </a:lnSpc>
                <a:spcBef>
                  <a:spcPts val="0"/>
                </a:spcBef>
                <a:spcAft>
                  <a:spcPts val="0"/>
                </a:spcAft>
                <a:buNone/>
              </a:pPr>
              <a:r>
                <a:rPr b="1" lang="en-US" sz="2200">
                  <a:solidFill>
                    <a:srgbClr val="942093"/>
                  </a:solidFill>
                  <a:latin typeface="Avenir"/>
                  <a:ea typeface="Avenir"/>
                  <a:cs typeface="Avenir"/>
                  <a:sym typeface="Avenir"/>
                </a:rPr>
                <a:t>Profit</a:t>
              </a:r>
              <a:endParaRPr/>
            </a:p>
          </p:txBody>
        </p:sp>
        <p:sp>
          <p:nvSpPr>
            <p:cNvPr id="1810" name="Google Shape;1810;p62"/>
            <p:cNvSpPr txBox="1"/>
            <p:nvPr/>
          </p:nvSpPr>
          <p:spPr>
            <a:xfrm>
              <a:off x="6227788" y="773769"/>
              <a:ext cx="5556216" cy="1702674"/>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Liabilities</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grpSp>
          <p:nvGrpSpPr>
            <p:cNvPr id="1811" name="Google Shape;1811;p62"/>
            <p:cNvGrpSpPr/>
            <p:nvPr/>
          </p:nvGrpSpPr>
          <p:grpSpPr>
            <a:xfrm>
              <a:off x="492858" y="3906158"/>
              <a:ext cx="11291146" cy="2763574"/>
              <a:chOff x="1354633" y="4399872"/>
              <a:chExt cx="9550931" cy="2121952"/>
            </a:xfrm>
          </p:grpSpPr>
          <p:sp>
            <p:nvSpPr>
              <p:cNvPr id="1812" name="Google Shape;1812;p62"/>
              <p:cNvSpPr txBox="1"/>
              <p:nvPr/>
            </p:nvSpPr>
            <p:spPr>
              <a:xfrm>
                <a:off x="1354633" y="4813260"/>
                <a:ext cx="9550931" cy="1708564"/>
              </a:xfrm>
              <a:prstGeom prst="rect">
                <a:avLst/>
              </a:prstGeom>
              <a:solidFill>
                <a:srgbClr val="FCECFB"/>
              </a:solidFill>
              <a:ln cap="flat" cmpd="sng" w="7620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b="1" lang="en-US" sz="2800">
                    <a:solidFill>
                      <a:schemeClr val="dk1"/>
                    </a:solidFill>
                    <a:latin typeface="Avenir"/>
                    <a:ea typeface="Avenir"/>
                    <a:cs typeface="Avenir"/>
                    <a:sym typeface="Avenir"/>
                  </a:rPr>
                  <a:t> </a:t>
                </a:r>
                <a:endParaRPr/>
              </a:p>
            </p:txBody>
          </p:sp>
          <p:sp>
            <p:nvSpPr>
              <p:cNvPr id="1813" name="Google Shape;1813;p62"/>
              <p:cNvSpPr txBox="1"/>
              <p:nvPr/>
            </p:nvSpPr>
            <p:spPr>
              <a:xfrm>
                <a:off x="6199863" y="4921166"/>
                <a:ext cx="4576976" cy="1495361"/>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Income</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1814" name="Google Shape;1814;p62"/>
              <p:cNvSpPr txBox="1"/>
              <p:nvPr/>
            </p:nvSpPr>
            <p:spPr>
              <a:xfrm>
                <a:off x="1481256" y="4921166"/>
                <a:ext cx="4552539" cy="1495361"/>
              </a:xfrm>
              <a:prstGeom prst="rect">
                <a:avLst/>
              </a:prstGeom>
              <a:solidFill>
                <a:srgbClr val="E1EFD8"/>
              </a:solid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None/>
                </a:pPr>
                <a:r>
                  <a:rPr b="1" lang="en-US" sz="2800">
                    <a:solidFill>
                      <a:srgbClr val="E1EFD8"/>
                    </a:solidFill>
                    <a:latin typeface="Avenir"/>
                    <a:ea typeface="Avenir"/>
                    <a:cs typeface="Avenir"/>
                    <a:sym typeface="Avenir"/>
                  </a:rPr>
                  <a:t>_</a:t>
                </a:r>
                <a:r>
                  <a:rPr b="1" lang="en-US" sz="2000">
                    <a:solidFill>
                      <a:schemeClr val="dk1"/>
                    </a:solidFill>
                    <a:latin typeface="Avenir"/>
                    <a:ea typeface="Avenir"/>
                    <a:cs typeface="Avenir"/>
                    <a:sym typeface="Avenir"/>
                  </a:rPr>
                  <a:t>Expenses</a:t>
                </a:r>
                <a:endParaRPr b="1" sz="2800">
                  <a:solidFill>
                    <a:schemeClr val="dk1"/>
                  </a:solidFill>
                  <a:latin typeface="Avenir"/>
                  <a:ea typeface="Avenir"/>
                  <a:cs typeface="Avenir"/>
                  <a:sym typeface="Avenir"/>
                </a:endParaRPr>
              </a:p>
            </p:txBody>
          </p:sp>
          <p:cxnSp>
            <p:nvCxnSpPr>
              <p:cNvPr id="1815" name="Google Shape;1815;p62"/>
              <p:cNvCxnSpPr>
                <a:stCxn id="1809" idx="2"/>
              </p:cNvCxnSpPr>
              <p:nvPr/>
            </p:nvCxnSpPr>
            <p:spPr>
              <a:xfrm>
                <a:off x="7013902" y="4399872"/>
                <a:ext cx="7500" cy="434700"/>
              </a:xfrm>
              <a:prstGeom prst="straightConnector1">
                <a:avLst/>
              </a:prstGeom>
              <a:noFill/>
              <a:ln cap="flat" cmpd="sng" w="76200">
                <a:solidFill>
                  <a:srgbClr val="942093"/>
                </a:solidFill>
                <a:prstDash val="solid"/>
                <a:miter lim="800000"/>
                <a:headEnd len="sm" w="sm" type="none"/>
                <a:tailEnd len="sm" w="sm" type="none"/>
              </a:ln>
            </p:spPr>
          </p:cxnSp>
        </p:grpSp>
        <p:sp>
          <p:nvSpPr>
            <p:cNvPr id="1816" name="Google Shape;1816;p62"/>
            <p:cNvSpPr txBox="1"/>
            <p:nvPr/>
          </p:nvSpPr>
          <p:spPr>
            <a:xfrm>
              <a:off x="492858" y="773769"/>
              <a:ext cx="5544457" cy="3542737"/>
            </a:xfrm>
            <a:prstGeom prst="rect">
              <a:avLst/>
            </a:prstGeom>
            <a:solidFill>
              <a:srgbClr val="E1EFD8"/>
            </a:solid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None/>
              </a:pPr>
              <a:r>
                <a:rPr b="1" lang="en-US" sz="2800">
                  <a:solidFill>
                    <a:srgbClr val="E1EFD8"/>
                  </a:solidFill>
                  <a:latin typeface="Avenir"/>
                  <a:ea typeface="Avenir"/>
                  <a:cs typeface="Avenir"/>
                  <a:sym typeface="Avenir"/>
                </a:rPr>
                <a:t>_</a:t>
              </a:r>
              <a:r>
                <a:rPr b="1" lang="en-US" sz="2000">
                  <a:solidFill>
                    <a:schemeClr val="dk1"/>
                  </a:solidFill>
                  <a:latin typeface="Avenir"/>
                  <a:ea typeface="Avenir"/>
                  <a:cs typeface="Avenir"/>
                  <a:sym typeface="Avenir"/>
                </a:rPr>
                <a:t>Assets</a:t>
              </a:r>
              <a:endParaRPr b="1" sz="2800">
                <a:solidFill>
                  <a:schemeClr val="dk1"/>
                </a:solidFill>
                <a:latin typeface="Avenir"/>
                <a:ea typeface="Avenir"/>
                <a:cs typeface="Avenir"/>
                <a:sym typeface="Avenir"/>
              </a:endParaRPr>
            </a:p>
          </p:txBody>
        </p:sp>
      </p:grpSp>
      <p:grpSp>
        <p:nvGrpSpPr>
          <p:cNvPr id="1817" name="Google Shape;1817;p62"/>
          <p:cNvGrpSpPr/>
          <p:nvPr/>
        </p:nvGrpSpPr>
        <p:grpSpPr>
          <a:xfrm>
            <a:off x="4248000" y="2850495"/>
            <a:ext cx="1620000" cy="1116000"/>
            <a:chOff x="3810000" y="2381250"/>
            <a:chExt cx="1390650" cy="1230631"/>
          </a:xfrm>
        </p:grpSpPr>
        <p:sp>
          <p:nvSpPr>
            <p:cNvPr id="1818" name="Google Shape;1818;p62"/>
            <p:cNvSpPr/>
            <p:nvPr/>
          </p:nvSpPr>
          <p:spPr>
            <a:xfrm flipH="1">
              <a:off x="4505325" y="2381250"/>
              <a:ext cx="695325" cy="1230631"/>
            </a:xfrm>
            <a:prstGeom prst="corner">
              <a:avLst>
                <a:gd fmla="val 7073" name="adj1"/>
                <a:gd fmla="val 694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1819" name="Google Shape;1819;p62"/>
            <p:cNvSpPr/>
            <p:nvPr/>
          </p:nvSpPr>
          <p:spPr>
            <a:xfrm>
              <a:off x="3810000" y="2381250"/>
              <a:ext cx="695325" cy="1230631"/>
            </a:xfrm>
            <a:prstGeom prst="corner">
              <a:avLst>
                <a:gd fmla="val 7073" name="adj1"/>
                <a:gd fmla="val 694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1820" name="Google Shape;1820;p62"/>
          <p:cNvGrpSpPr/>
          <p:nvPr/>
        </p:nvGrpSpPr>
        <p:grpSpPr>
          <a:xfrm>
            <a:off x="2458800" y="2246586"/>
            <a:ext cx="1620000" cy="1710000"/>
            <a:chOff x="671549" y="1402787"/>
            <a:chExt cx="1620000" cy="2549293"/>
          </a:xfrm>
        </p:grpSpPr>
        <p:sp>
          <p:nvSpPr>
            <p:cNvPr id="1821" name="Google Shape;1821;p62"/>
            <p:cNvSpPr/>
            <p:nvPr/>
          </p:nvSpPr>
          <p:spPr>
            <a:xfrm flipH="1">
              <a:off x="1481549" y="1402787"/>
              <a:ext cx="810000" cy="2549293"/>
            </a:xfrm>
            <a:prstGeom prst="corner">
              <a:avLst>
                <a:gd fmla="val 6497" name="adj1"/>
                <a:gd fmla="val 694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1800">
                <a:solidFill>
                  <a:schemeClr val="lt1"/>
                </a:solidFill>
                <a:latin typeface="Avenir"/>
                <a:ea typeface="Avenir"/>
                <a:cs typeface="Avenir"/>
                <a:sym typeface="Avenir"/>
              </a:endParaRPr>
            </a:p>
          </p:txBody>
        </p:sp>
        <p:sp>
          <p:nvSpPr>
            <p:cNvPr id="1822" name="Google Shape;1822;p62"/>
            <p:cNvSpPr/>
            <p:nvPr/>
          </p:nvSpPr>
          <p:spPr>
            <a:xfrm>
              <a:off x="671549" y="1402787"/>
              <a:ext cx="810000" cy="2549293"/>
            </a:xfrm>
            <a:prstGeom prst="corner">
              <a:avLst>
                <a:gd fmla="val 6497" name="adj1"/>
                <a:gd fmla="val 7336"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1800">
                <a:solidFill>
                  <a:schemeClr val="lt1"/>
                </a:solidFill>
                <a:latin typeface="Avenir"/>
                <a:ea typeface="Avenir"/>
                <a:cs typeface="Avenir"/>
                <a:sym typeface="Avenir"/>
              </a:endParaRPr>
            </a:p>
          </p:txBody>
        </p:sp>
      </p:grpSp>
      <p:grpSp>
        <p:nvGrpSpPr>
          <p:cNvPr id="1823" name="Google Shape;1823;p62"/>
          <p:cNvGrpSpPr/>
          <p:nvPr/>
        </p:nvGrpSpPr>
        <p:grpSpPr>
          <a:xfrm>
            <a:off x="673200" y="3340800"/>
            <a:ext cx="1620000" cy="613673"/>
            <a:chOff x="3810000" y="2381250"/>
            <a:chExt cx="1390650" cy="1230631"/>
          </a:xfrm>
        </p:grpSpPr>
        <p:sp>
          <p:nvSpPr>
            <p:cNvPr id="1824" name="Google Shape;1824;p62"/>
            <p:cNvSpPr/>
            <p:nvPr/>
          </p:nvSpPr>
          <p:spPr>
            <a:xfrm flipH="1">
              <a:off x="4505325"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1825" name="Google Shape;1825;p62"/>
            <p:cNvSpPr/>
            <p:nvPr/>
          </p:nvSpPr>
          <p:spPr>
            <a:xfrm>
              <a:off x="3810000"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sp>
        <p:nvSpPr>
          <p:cNvPr id="1826" name="Google Shape;1826;p62"/>
          <p:cNvSpPr txBox="1"/>
          <p:nvPr/>
        </p:nvSpPr>
        <p:spPr>
          <a:xfrm>
            <a:off x="2551146" y="3924000"/>
            <a:ext cx="1393331"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Cash at bank</a:t>
            </a:r>
            <a:endParaRPr/>
          </a:p>
        </p:txBody>
      </p:sp>
      <p:sp>
        <p:nvSpPr>
          <p:cNvPr id="1827" name="Google Shape;1827;p62"/>
          <p:cNvSpPr txBox="1"/>
          <p:nvPr/>
        </p:nvSpPr>
        <p:spPr>
          <a:xfrm>
            <a:off x="4292494" y="3924000"/>
            <a:ext cx="1531779"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Inventory</a:t>
            </a:r>
            <a:endParaRPr/>
          </a:p>
        </p:txBody>
      </p:sp>
      <p:sp>
        <p:nvSpPr>
          <p:cNvPr id="1828" name="Google Shape;1828;p62"/>
          <p:cNvSpPr txBox="1"/>
          <p:nvPr/>
        </p:nvSpPr>
        <p:spPr>
          <a:xfrm>
            <a:off x="661400" y="3924000"/>
            <a:ext cx="1647322"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Equipment</a:t>
            </a:r>
            <a:endParaRPr/>
          </a:p>
        </p:txBody>
      </p:sp>
      <p:sp>
        <p:nvSpPr>
          <p:cNvPr id="1829" name="Google Shape;1829;p62"/>
          <p:cNvSpPr txBox="1"/>
          <p:nvPr/>
        </p:nvSpPr>
        <p:spPr>
          <a:xfrm>
            <a:off x="2596439" y="5339671"/>
            <a:ext cx="1590567"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Cleaning</a:t>
            </a:r>
            <a:endParaRPr/>
          </a:p>
        </p:txBody>
      </p:sp>
      <p:sp>
        <p:nvSpPr>
          <p:cNvPr id="1830" name="Google Shape;1830;p62"/>
          <p:cNvSpPr txBox="1"/>
          <p:nvPr/>
        </p:nvSpPr>
        <p:spPr>
          <a:xfrm>
            <a:off x="4306077" y="6192000"/>
            <a:ext cx="1606417"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Cost of sales</a:t>
            </a:r>
            <a:endParaRPr/>
          </a:p>
        </p:txBody>
      </p:sp>
      <p:sp>
        <p:nvSpPr>
          <p:cNvPr id="1831" name="Google Shape;1831;p62"/>
          <p:cNvSpPr txBox="1"/>
          <p:nvPr/>
        </p:nvSpPr>
        <p:spPr>
          <a:xfrm>
            <a:off x="6295758" y="6192000"/>
            <a:ext cx="1842786"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Revenue (sales)</a:t>
            </a:r>
            <a:endParaRPr/>
          </a:p>
        </p:txBody>
      </p:sp>
      <p:sp>
        <p:nvSpPr>
          <p:cNvPr id="1832" name="Google Shape;1832;p62"/>
          <p:cNvSpPr txBox="1"/>
          <p:nvPr/>
        </p:nvSpPr>
        <p:spPr>
          <a:xfrm>
            <a:off x="10028967" y="2029411"/>
            <a:ext cx="1593685"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Bank loan</a:t>
            </a:r>
            <a:endParaRPr/>
          </a:p>
        </p:txBody>
      </p:sp>
      <p:sp>
        <p:nvSpPr>
          <p:cNvPr id="1833" name="Google Shape;1833;p62"/>
          <p:cNvSpPr txBox="1"/>
          <p:nvPr/>
        </p:nvSpPr>
        <p:spPr>
          <a:xfrm>
            <a:off x="3184560" y="3614709"/>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30,000</a:t>
            </a:r>
            <a:endParaRPr/>
          </a:p>
        </p:txBody>
      </p:sp>
      <p:sp>
        <p:nvSpPr>
          <p:cNvPr id="1834" name="Google Shape;1834;p62"/>
          <p:cNvSpPr txBox="1"/>
          <p:nvPr/>
        </p:nvSpPr>
        <p:spPr>
          <a:xfrm>
            <a:off x="3184560" y="3344709"/>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20,000</a:t>
            </a:r>
            <a:endParaRPr/>
          </a:p>
        </p:txBody>
      </p:sp>
      <p:sp>
        <p:nvSpPr>
          <p:cNvPr id="1835" name="Google Shape;1835;p62"/>
          <p:cNvSpPr txBox="1"/>
          <p:nvPr/>
        </p:nvSpPr>
        <p:spPr>
          <a:xfrm>
            <a:off x="3298373" y="3074709"/>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5,000</a:t>
            </a:r>
            <a:endParaRPr/>
          </a:p>
        </p:txBody>
      </p:sp>
      <p:sp>
        <p:nvSpPr>
          <p:cNvPr id="1836" name="Google Shape;1836;p62"/>
          <p:cNvSpPr txBox="1"/>
          <p:nvPr/>
        </p:nvSpPr>
        <p:spPr>
          <a:xfrm>
            <a:off x="3469894" y="2534709"/>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700</a:t>
            </a:r>
            <a:endParaRPr/>
          </a:p>
        </p:txBody>
      </p:sp>
      <p:sp>
        <p:nvSpPr>
          <p:cNvPr id="1837" name="Google Shape;1837;p62"/>
          <p:cNvSpPr txBox="1"/>
          <p:nvPr/>
        </p:nvSpPr>
        <p:spPr>
          <a:xfrm>
            <a:off x="3583708" y="2264709"/>
            <a:ext cx="412292"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50</a:t>
            </a:r>
            <a:endParaRPr/>
          </a:p>
        </p:txBody>
      </p:sp>
      <p:sp>
        <p:nvSpPr>
          <p:cNvPr id="1838" name="Google Shape;1838;p62"/>
          <p:cNvSpPr txBox="1"/>
          <p:nvPr/>
        </p:nvSpPr>
        <p:spPr>
          <a:xfrm>
            <a:off x="3713366" y="5031445"/>
            <a:ext cx="412292"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50</a:t>
            </a:r>
            <a:endParaRPr/>
          </a:p>
        </p:txBody>
      </p:sp>
      <p:sp>
        <p:nvSpPr>
          <p:cNvPr id="1839" name="Google Shape;1839;p62"/>
          <p:cNvSpPr txBox="1"/>
          <p:nvPr/>
        </p:nvSpPr>
        <p:spPr>
          <a:xfrm>
            <a:off x="3184560" y="2804709"/>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10,000</a:t>
            </a:r>
            <a:endParaRPr/>
          </a:p>
        </p:txBody>
      </p:sp>
      <p:sp>
        <p:nvSpPr>
          <p:cNvPr id="1840" name="Google Shape;1840;p62"/>
          <p:cNvSpPr txBox="1"/>
          <p:nvPr/>
        </p:nvSpPr>
        <p:spPr>
          <a:xfrm>
            <a:off x="10026434" y="3924000"/>
            <a:ext cx="1757569"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contributed capital</a:t>
            </a:r>
            <a:endParaRPr/>
          </a:p>
        </p:txBody>
      </p:sp>
      <p:sp>
        <p:nvSpPr>
          <p:cNvPr id="1841" name="Google Shape;1841;p62"/>
          <p:cNvSpPr/>
          <p:nvPr/>
        </p:nvSpPr>
        <p:spPr>
          <a:xfrm>
            <a:off x="3011371" y="23367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842" name="Google Shape;1842;p62"/>
          <p:cNvSpPr/>
          <p:nvPr/>
        </p:nvSpPr>
        <p:spPr>
          <a:xfrm rot="10800000">
            <a:off x="3011371" y="258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843" name="Google Shape;1843;p62"/>
          <p:cNvSpPr/>
          <p:nvPr/>
        </p:nvSpPr>
        <p:spPr>
          <a:xfrm>
            <a:off x="3011371" y="28767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844" name="Google Shape;1844;p62"/>
          <p:cNvSpPr/>
          <p:nvPr/>
        </p:nvSpPr>
        <p:spPr>
          <a:xfrm>
            <a:off x="3011371" y="31467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845" name="Google Shape;1845;p62"/>
          <p:cNvSpPr/>
          <p:nvPr/>
        </p:nvSpPr>
        <p:spPr>
          <a:xfrm rot="10800000">
            <a:off x="3011371" y="339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846" name="Google Shape;1846;p62"/>
          <p:cNvSpPr/>
          <p:nvPr/>
        </p:nvSpPr>
        <p:spPr>
          <a:xfrm rot="10800000">
            <a:off x="3011371" y="366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847" name="Google Shape;1847;p62"/>
          <p:cNvSpPr txBox="1"/>
          <p:nvPr/>
        </p:nvSpPr>
        <p:spPr>
          <a:xfrm>
            <a:off x="10785455" y="1718255"/>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30,000</a:t>
            </a:r>
            <a:endParaRPr/>
          </a:p>
        </p:txBody>
      </p:sp>
      <p:sp>
        <p:nvSpPr>
          <p:cNvPr id="1848" name="Google Shape;1848;p62"/>
          <p:cNvSpPr/>
          <p:nvPr/>
        </p:nvSpPr>
        <p:spPr>
          <a:xfrm rot="10800000">
            <a:off x="10548000" y="1757882"/>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1849" name="Google Shape;1849;p62"/>
          <p:cNvSpPr txBox="1"/>
          <p:nvPr/>
        </p:nvSpPr>
        <p:spPr>
          <a:xfrm>
            <a:off x="10776926" y="3605780"/>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20,000</a:t>
            </a:r>
            <a:endParaRPr/>
          </a:p>
        </p:txBody>
      </p:sp>
      <p:sp>
        <p:nvSpPr>
          <p:cNvPr id="1850" name="Google Shape;1850;p62"/>
          <p:cNvSpPr txBox="1"/>
          <p:nvPr/>
        </p:nvSpPr>
        <p:spPr>
          <a:xfrm>
            <a:off x="10732895" y="1448255"/>
            <a:ext cx="86400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5,000</a:t>
            </a:r>
            <a:endParaRPr/>
          </a:p>
        </p:txBody>
      </p:sp>
      <p:sp>
        <p:nvSpPr>
          <p:cNvPr id="1851" name="Google Shape;1851;p62"/>
          <p:cNvSpPr/>
          <p:nvPr/>
        </p:nvSpPr>
        <p:spPr>
          <a:xfrm>
            <a:off x="10548000" y="1505882"/>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548135"/>
              </a:solidFill>
              <a:latin typeface="Calibri"/>
              <a:ea typeface="Calibri"/>
              <a:cs typeface="Calibri"/>
              <a:sym typeface="Calibri"/>
            </a:endParaRPr>
          </a:p>
        </p:txBody>
      </p:sp>
      <p:sp>
        <p:nvSpPr>
          <p:cNvPr id="1852" name="Google Shape;1852;p62"/>
          <p:cNvSpPr txBox="1"/>
          <p:nvPr/>
        </p:nvSpPr>
        <p:spPr>
          <a:xfrm>
            <a:off x="4984560" y="3610092"/>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10,000</a:t>
            </a:r>
            <a:endParaRPr/>
          </a:p>
        </p:txBody>
      </p:sp>
      <p:sp>
        <p:nvSpPr>
          <p:cNvPr id="1853" name="Google Shape;1853;p62"/>
          <p:cNvSpPr txBox="1"/>
          <p:nvPr/>
        </p:nvSpPr>
        <p:spPr>
          <a:xfrm>
            <a:off x="7429894" y="5905082"/>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700</a:t>
            </a:r>
            <a:endParaRPr/>
          </a:p>
        </p:txBody>
      </p:sp>
      <p:sp>
        <p:nvSpPr>
          <p:cNvPr id="1854" name="Google Shape;1854;p62"/>
          <p:cNvSpPr/>
          <p:nvPr/>
        </p:nvSpPr>
        <p:spPr>
          <a:xfrm rot="10800000">
            <a:off x="6984000" y="5943076"/>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1855" name="Google Shape;1855;p62"/>
          <p:cNvSpPr/>
          <p:nvPr/>
        </p:nvSpPr>
        <p:spPr>
          <a:xfrm rot="10800000">
            <a:off x="3096000" y="5082325"/>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856" name="Google Shape;1856;p62"/>
          <p:cNvSpPr txBox="1"/>
          <p:nvPr/>
        </p:nvSpPr>
        <p:spPr>
          <a:xfrm>
            <a:off x="7315968" y="1713373"/>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6,000</a:t>
            </a:r>
            <a:endParaRPr/>
          </a:p>
        </p:txBody>
      </p:sp>
      <p:sp>
        <p:nvSpPr>
          <p:cNvPr id="1857" name="Google Shape;1857;p62"/>
          <p:cNvSpPr/>
          <p:nvPr/>
        </p:nvSpPr>
        <p:spPr>
          <a:xfrm rot="10800000">
            <a:off x="6984000" y="1749046"/>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1858" name="Google Shape;1858;p62"/>
          <p:cNvSpPr txBox="1"/>
          <p:nvPr/>
        </p:nvSpPr>
        <p:spPr>
          <a:xfrm>
            <a:off x="1501235" y="3588336"/>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6,000</a:t>
            </a:r>
            <a:endParaRPr/>
          </a:p>
        </p:txBody>
      </p:sp>
      <p:sp>
        <p:nvSpPr>
          <p:cNvPr id="1859" name="Google Shape;1859;p62"/>
          <p:cNvSpPr/>
          <p:nvPr/>
        </p:nvSpPr>
        <p:spPr>
          <a:xfrm rot="10800000">
            <a:off x="1249425" y="3637660"/>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860" name="Google Shape;1860;p62"/>
          <p:cNvSpPr txBox="1"/>
          <p:nvPr/>
        </p:nvSpPr>
        <p:spPr>
          <a:xfrm>
            <a:off x="5269894" y="3365080"/>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300</a:t>
            </a:r>
            <a:endParaRPr/>
          </a:p>
        </p:txBody>
      </p:sp>
      <p:sp>
        <p:nvSpPr>
          <p:cNvPr id="1861" name="Google Shape;1861;p62"/>
          <p:cNvSpPr/>
          <p:nvPr/>
        </p:nvSpPr>
        <p:spPr>
          <a:xfrm>
            <a:off x="4824000" y="3429341"/>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862" name="Google Shape;1862;p62"/>
          <p:cNvSpPr/>
          <p:nvPr/>
        </p:nvSpPr>
        <p:spPr>
          <a:xfrm rot="10800000">
            <a:off x="4824000" y="3662508"/>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863" name="Google Shape;1863;p62"/>
          <p:cNvSpPr txBox="1"/>
          <p:nvPr/>
        </p:nvSpPr>
        <p:spPr>
          <a:xfrm>
            <a:off x="5305894" y="5893862"/>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300</a:t>
            </a:r>
            <a:endParaRPr/>
          </a:p>
        </p:txBody>
      </p:sp>
      <p:sp>
        <p:nvSpPr>
          <p:cNvPr id="1864" name="Google Shape;1864;p62"/>
          <p:cNvSpPr/>
          <p:nvPr/>
        </p:nvSpPr>
        <p:spPr>
          <a:xfrm rot="10800000">
            <a:off x="4860000" y="5944742"/>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865" name="Google Shape;1865;p62"/>
          <p:cNvSpPr txBox="1"/>
          <p:nvPr/>
        </p:nvSpPr>
        <p:spPr>
          <a:xfrm>
            <a:off x="7429894" y="5645244"/>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600</a:t>
            </a:r>
            <a:endParaRPr/>
          </a:p>
        </p:txBody>
      </p:sp>
      <p:sp>
        <p:nvSpPr>
          <p:cNvPr id="1866" name="Google Shape;1866;p62"/>
          <p:cNvSpPr/>
          <p:nvPr/>
        </p:nvSpPr>
        <p:spPr>
          <a:xfrm rot="10800000">
            <a:off x="6984000" y="5695376"/>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grpSp>
        <p:nvGrpSpPr>
          <p:cNvPr id="1867" name="Google Shape;1867;p62"/>
          <p:cNvGrpSpPr/>
          <p:nvPr/>
        </p:nvGrpSpPr>
        <p:grpSpPr>
          <a:xfrm>
            <a:off x="2568712" y="2307277"/>
            <a:ext cx="247184" cy="223916"/>
            <a:chOff x="797287" y="3715227"/>
            <a:chExt cx="256611" cy="232456"/>
          </a:xfrm>
        </p:grpSpPr>
        <p:sp>
          <p:nvSpPr>
            <p:cNvPr id="1868" name="Google Shape;1868;p62"/>
            <p:cNvSpPr/>
            <p:nvPr/>
          </p:nvSpPr>
          <p:spPr>
            <a:xfrm>
              <a:off x="810780" y="3715227"/>
              <a:ext cx="224238" cy="224238"/>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869" name="Google Shape;1869;p62"/>
            <p:cNvSpPr/>
            <p:nvPr/>
          </p:nvSpPr>
          <p:spPr>
            <a:xfrm>
              <a:off x="797287" y="3724022"/>
              <a:ext cx="256611" cy="223661"/>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7</a:t>
              </a:r>
              <a:endParaRPr/>
            </a:p>
          </p:txBody>
        </p:sp>
      </p:grpSp>
      <p:grpSp>
        <p:nvGrpSpPr>
          <p:cNvPr id="1870" name="Google Shape;1870;p62"/>
          <p:cNvGrpSpPr/>
          <p:nvPr/>
        </p:nvGrpSpPr>
        <p:grpSpPr>
          <a:xfrm>
            <a:off x="2530414" y="2567405"/>
            <a:ext cx="300083" cy="223917"/>
            <a:chOff x="761592" y="3715226"/>
            <a:chExt cx="311527" cy="232457"/>
          </a:xfrm>
        </p:grpSpPr>
        <p:sp>
          <p:nvSpPr>
            <p:cNvPr id="1871" name="Google Shape;1871;p62"/>
            <p:cNvSpPr/>
            <p:nvPr/>
          </p:nvSpPr>
          <p:spPr>
            <a:xfrm>
              <a:off x="810780" y="3715226"/>
              <a:ext cx="224238" cy="224238"/>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872" name="Google Shape;1872;p62"/>
            <p:cNvSpPr/>
            <p:nvPr/>
          </p:nvSpPr>
          <p:spPr>
            <a:xfrm>
              <a:off x="761592" y="3724022"/>
              <a:ext cx="311527" cy="223661"/>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6a</a:t>
              </a:r>
              <a:endParaRPr/>
            </a:p>
          </p:txBody>
        </p:sp>
      </p:grpSp>
      <p:grpSp>
        <p:nvGrpSpPr>
          <p:cNvPr id="1873" name="Google Shape;1873;p62"/>
          <p:cNvGrpSpPr/>
          <p:nvPr/>
        </p:nvGrpSpPr>
        <p:grpSpPr>
          <a:xfrm>
            <a:off x="2574025" y="2841900"/>
            <a:ext cx="245580" cy="224238"/>
            <a:chOff x="802803" y="3715228"/>
            <a:chExt cx="245580" cy="224238"/>
          </a:xfrm>
        </p:grpSpPr>
        <p:sp>
          <p:nvSpPr>
            <p:cNvPr id="1874" name="Google Shape;1874;p6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875" name="Google Shape;1875;p62"/>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5</a:t>
              </a:r>
              <a:endParaRPr/>
            </a:p>
          </p:txBody>
        </p:sp>
      </p:grpSp>
      <p:grpSp>
        <p:nvGrpSpPr>
          <p:cNvPr id="1876" name="Google Shape;1876;p62"/>
          <p:cNvGrpSpPr/>
          <p:nvPr/>
        </p:nvGrpSpPr>
        <p:grpSpPr>
          <a:xfrm>
            <a:off x="2574025" y="3121887"/>
            <a:ext cx="245580" cy="224238"/>
            <a:chOff x="802803" y="3715228"/>
            <a:chExt cx="245580" cy="224238"/>
          </a:xfrm>
        </p:grpSpPr>
        <p:sp>
          <p:nvSpPr>
            <p:cNvPr id="1877" name="Google Shape;1877;p6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878" name="Google Shape;1878;p62"/>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3</a:t>
              </a:r>
              <a:endParaRPr/>
            </a:p>
          </p:txBody>
        </p:sp>
      </p:grpSp>
      <p:grpSp>
        <p:nvGrpSpPr>
          <p:cNvPr id="1879" name="Google Shape;1879;p62"/>
          <p:cNvGrpSpPr/>
          <p:nvPr/>
        </p:nvGrpSpPr>
        <p:grpSpPr>
          <a:xfrm>
            <a:off x="2574025" y="3385828"/>
            <a:ext cx="245580" cy="224238"/>
            <a:chOff x="802803" y="3715228"/>
            <a:chExt cx="245580" cy="224238"/>
          </a:xfrm>
        </p:grpSpPr>
        <p:sp>
          <p:nvSpPr>
            <p:cNvPr id="1880" name="Google Shape;1880;p6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881" name="Google Shape;1881;p62"/>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2</a:t>
              </a:r>
              <a:endParaRPr/>
            </a:p>
          </p:txBody>
        </p:sp>
      </p:grpSp>
      <p:grpSp>
        <p:nvGrpSpPr>
          <p:cNvPr id="1882" name="Google Shape;1882;p62"/>
          <p:cNvGrpSpPr/>
          <p:nvPr/>
        </p:nvGrpSpPr>
        <p:grpSpPr>
          <a:xfrm>
            <a:off x="2574025" y="3649299"/>
            <a:ext cx="245580" cy="224238"/>
            <a:chOff x="802803" y="3715228"/>
            <a:chExt cx="245580" cy="224238"/>
          </a:xfrm>
        </p:grpSpPr>
        <p:sp>
          <p:nvSpPr>
            <p:cNvPr id="1883" name="Google Shape;1883;p6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884" name="Google Shape;1884;p62"/>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a:t>
              </a:r>
              <a:endParaRPr/>
            </a:p>
          </p:txBody>
        </p:sp>
      </p:grpSp>
      <p:grpSp>
        <p:nvGrpSpPr>
          <p:cNvPr id="1885" name="Google Shape;1885;p62"/>
          <p:cNvGrpSpPr/>
          <p:nvPr/>
        </p:nvGrpSpPr>
        <p:grpSpPr>
          <a:xfrm>
            <a:off x="10117559" y="1755851"/>
            <a:ext cx="245580" cy="224238"/>
            <a:chOff x="802803" y="3715228"/>
            <a:chExt cx="245580" cy="224238"/>
          </a:xfrm>
        </p:grpSpPr>
        <p:sp>
          <p:nvSpPr>
            <p:cNvPr id="1886" name="Google Shape;1886;p6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887" name="Google Shape;1887;p62"/>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a:t>
              </a:r>
              <a:endParaRPr/>
            </a:p>
          </p:txBody>
        </p:sp>
      </p:grpSp>
      <p:grpSp>
        <p:nvGrpSpPr>
          <p:cNvPr id="1888" name="Google Shape;1888;p62"/>
          <p:cNvGrpSpPr/>
          <p:nvPr/>
        </p:nvGrpSpPr>
        <p:grpSpPr>
          <a:xfrm>
            <a:off x="10116000" y="3650400"/>
            <a:ext cx="245580" cy="224238"/>
            <a:chOff x="802803" y="3715228"/>
            <a:chExt cx="245580" cy="224238"/>
          </a:xfrm>
        </p:grpSpPr>
        <p:sp>
          <p:nvSpPr>
            <p:cNvPr id="1889" name="Google Shape;1889;p6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890" name="Google Shape;1890;p62"/>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2</a:t>
              </a:r>
              <a:endParaRPr/>
            </a:p>
          </p:txBody>
        </p:sp>
      </p:grpSp>
      <p:grpSp>
        <p:nvGrpSpPr>
          <p:cNvPr id="1891" name="Google Shape;1891;p62"/>
          <p:cNvGrpSpPr/>
          <p:nvPr/>
        </p:nvGrpSpPr>
        <p:grpSpPr>
          <a:xfrm>
            <a:off x="10117837" y="1489299"/>
            <a:ext cx="245580" cy="224238"/>
            <a:chOff x="802803" y="3715228"/>
            <a:chExt cx="245580" cy="224238"/>
          </a:xfrm>
        </p:grpSpPr>
        <p:sp>
          <p:nvSpPr>
            <p:cNvPr id="1892" name="Google Shape;1892;p6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893" name="Google Shape;1893;p62"/>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3</a:t>
              </a:r>
              <a:endParaRPr/>
            </a:p>
          </p:txBody>
        </p:sp>
      </p:grpSp>
      <p:grpSp>
        <p:nvGrpSpPr>
          <p:cNvPr id="1894" name="Google Shape;1894;p62"/>
          <p:cNvGrpSpPr/>
          <p:nvPr/>
        </p:nvGrpSpPr>
        <p:grpSpPr>
          <a:xfrm>
            <a:off x="6553087" y="1741845"/>
            <a:ext cx="245580" cy="224238"/>
            <a:chOff x="802803" y="3715228"/>
            <a:chExt cx="245580" cy="224238"/>
          </a:xfrm>
        </p:grpSpPr>
        <p:sp>
          <p:nvSpPr>
            <p:cNvPr id="1895" name="Google Shape;1895;p6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896" name="Google Shape;1896;p62"/>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4</a:t>
              </a:r>
              <a:endParaRPr/>
            </a:p>
          </p:txBody>
        </p:sp>
      </p:grpSp>
      <p:grpSp>
        <p:nvGrpSpPr>
          <p:cNvPr id="1897" name="Google Shape;1897;p62"/>
          <p:cNvGrpSpPr/>
          <p:nvPr/>
        </p:nvGrpSpPr>
        <p:grpSpPr>
          <a:xfrm>
            <a:off x="784605" y="3629276"/>
            <a:ext cx="245580" cy="224238"/>
            <a:chOff x="802803" y="3715228"/>
            <a:chExt cx="245580" cy="224238"/>
          </a:xfrm>
        </p:grpSpPr>
        <p:sp>
          <p:nvSpPr>
            <p:cNvPr id="1898" name="Google Shape;1898;p6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899" name="Google Shape;1899;p62"/>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4</a:t>
              </a:r>
              <a:endParaRPr/>
            </a:p>
          </p:txBody>
        </p:sp>
      </p:grpSp>
      <p:grpSp>
        <p:nvGrpSpPr>
          <p:cNvPr id="1900" name="Google Shape;1900;p62"/>
          <p:cNvGrpSpPr/>
          <p:nvPr/>
        </p:nvGrpSpPr>
        <p:grpSpPr>
          <a:xfrm>
            <a:off x="4359077" y="3641899"/>
            <a:ext cx="245580" cy="224238"/>
            <a:chOff x="802803" y="3715228"/>
            <a:chExt cx="245580" cy="224238"/>
          </a:xfrm>
        </p:grpSpPr>
        <p:sp>
          <p:nvSpPr>
            <p:cNvPr id="1901" name="Google Shape;1901;p6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902" name="Google Shape;1902;p62"/>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5</a:t>
              </a:r>
              <a:endParaRPr/>
            </a:p>
          </p:txBody>
        </p:sp>
      </p:grpSp>
      <p:grpSp>
        <p:nvGrpSpPr>
          <p:cNvPr id="1903" name="Google Shape;1903;p62"/>
          <p:cNvGrpSpPr/>
          <p:nvPr/>
        </p:nvGrpSpPr>
        <p:grpSpPr>
          <a:xfrm>
            <a:off x="6484980" y="5931080"/>
            <a:ext cx="300082" cy="224238"/>
            <a:chOff x="775552" y="3715228"/>
            <a:chExt cx="300082" cy="224238"/>
          </a:xfrm>
        </p:grpSpPr>
        <p:sp>
          <p:nvSpPr>
            <p:cNvPr id="1904" name="Google Shape;1904;p6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905" name="Google Shape;1905;p62"/>
            <p:cNvSpPr/>
            <p:nvPr/>
          </p:nvSpPr>
          <p:spPr>
            <a:xfrm>
              <a:off x="775552" y="3724022"/>
              <a:ext cx="300082"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6a</a:t>
              </a:r>
              <a:endParaRPr/>
            </a:p>
          </p:txBody>
        </p:sp>
      </p:grpSp>
      <p:grpSp>
        <p:nvGrpSpPr>
          <p:cNvPr id="1906" name="Google Shape;1906;p62"/>
          <p:cNvGrpSpPr/>
          <p:nvPr/>
        </p:nvGrpSpPr>
        <p:grpSpPr>
          <a:xfrm>
            <a:off x="4325561" y="3388584"/>
            <a:ext cx="309700" cy="224238"/>
            <a:chOff x="770743" y="3715228"/>
            <a:chExt cx="309700" cy="224238"/>
          </a:xfrm>
        </p:grpSpPr>
        <p:sp>
          <p:nvSpPr>
            <p:cNvPr id="1907" name="Google Shape;1907;p6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908" name="Google Shape;1908;p62"/>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6b</a:t>
              </a:r>
              <a:endParaRPr/>
            </a:p>
          </p:txBody>
        </p:sp>
      </p:grpSp>
      <p:grpSp>
        <p:nvGrpSpPr>
          <p:cNvPr id="1909" name="Google Shape;1909;p62"/>
          <p:cNvGrpSpPr/>
          <p:nvPr/>
        </p:nvGrpSpPr>
        <p:grpSpPr>
          <a:xfrm>
            <a:off x="4372912" y="5940000"/>
            <a:ext cx="309700" cy="224238"/>
            <a:chOff x="770743" y="3715228"/>
            <a:chExt cx="309700" cy="224238"/>
          </a:xfrm>
        </p:grpSpPr>
        <p:sp>
          <p:nvSpPr>
            <p:cNvPr id="1910" name="Google Shape;1910;p6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911" name="Google Shape;1911;p62"/>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6b</a:t>
              </a:r>
              <a:endParaRPr/>
            </a:p>
          </p:txBody>
        </p:sp>
      </p:grpSp>
      <p:grpSp>
        <p:nvGrpSpPr>
          <p:cNvPr id="1912" name="Google Shape;1912;p62"/>
          <p:cNvGrpSpPr/>
          <p:nvPr/>
        </p:nvGrpSpPr>
        <p:grpSpPr>
          <a:xfrm>
            <a:off x="6484980" y="5676798"/>
            <a:ext cx="300082" cy="224238"/>
            <a:chOff x="775552" y="3715228"/>
            <a:chExt cx="300082" cy="224238"/>
          </a:xfrm>
        </p:grpSpPr>
        <p:sp>
          <p:nvSpPr>
            <p:cNvPr id="1913" name="Google Shape;1913;p62"/>
            <p:cNvSpPr/>
            <p:nvPr/>
          </p:nvSpPr>
          <p:spPr>
            <a:xfrm>
              <a:off x="810781" y="3715228"/>
              <a:ext cx="216000" cy="216000"/>
            </a:xfrm>
            <a:prstGeom prst="ellipse">
              <a:avLst/>
            </a:prstGeom>
            <a:solidFill>
              <a:srgbClr val="FFFF00"/>
            </a:solidFill>
            <a:ln cap="flat" cmpd="sng" w="1270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914" name="Google Shape;1914;p62"/>
            <p:cNvSpPr/>
            <p:nvPr/>
          </p:nvSpPr>
          <p:spPr>
            <a:xfrm>
              <a:off x="775552" y="3724022"/>
              <a:ext cx="300082"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8a</a:t>
              </a:r>
              <a:endParaRPr/>
            </a:p>
          </p:txBody>
        </p:sp>
      </p:grpSp>
      <p:grpSp>
        <p:nvGrpSpPr>
          <p:cNvPr id="1915" name="Google Shape;1915;p62"/>
          <p:cNvGrpSpPr/>
          <p:nvPr/>
        </p:nvGrpSpPr>
        <p:grpSpPr>
          <a:xfrm>
            <a:off x="2681463" y="5057611"/>
            <a:ext cx="245580" cy="224238"/>
            <a:chOff x="802803" y="3715228"/>
            <a:chExt cx="245580" cy="224238"/>
          </a:xfrm>
        </p:grpSpPr>
        <p:sp>
          <p:nvSpPr>
            <p:cNvPr id="1916" name="Google Shape;1916;p6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917" name="Google Shape;1917;p62"/>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7</a:t>
              </a:r>
              <a:endParaRPr/>
            </a:p>
          </p:txBody>
        </p:sp>
      </p:grpSp>
      <p:sp>
        <p:nvSpPr>
          <p:cNvPr id="1918" name="Google Shape;1918;p62"/>
          <p:cNvSpPr txBox="1"/>
          <p:nvPr/>
        </p:nvSpPr>
        <p:spPr>
          <a:xfrm>
            <a:off x="4033926" y="1538024"/>
            <a:ext cx="2015578"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Accounts receivable</a:t>
            </a:r>
            <a:endParaRPr/>
          </a:p>
        </p:txBody>
      </p:sp>
      <p:sp>
        <p:nvSpPr>
          <p:cNvPr id="1919" name="Google Shape;1919;p62"/>
          <p:cNvSpPr txBox="1"/>
          <p:nvPr/>
        </p:nvSpPr>
        <p:spPr>
          <a:xfrm>
            <a:off x="6252890" y="2028286"/>
            <a:ext cx="1987133"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Accounts payable</a:t>
            </a:r>
            <a:endParaRPr/>
          </a:p>
        </p:txBody>
      </p:sp>
      <p:sp>
        <p:nvSpPr>
          <p:cNvPr id="1920" name="Google Shape;1920;p62"/>
          <p:cNvSpPr txBox="1"/>
          <p:nvPr/>
        </p:nvSpPr>
        <p:spPr>
          <a:xfrm>
            <a:off x="9504213" y="373659"/>
            <a:ext cx="2279791" cy="40011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000">
                <a:solidFill>
                  <a:schemeClr val="accent2"/>
                </a:solidFill>
                <a:latin typeface="Avenir"/>
                <a:ea typeface="Avenir"/>
                <a:cs typeface="Avenir"/>
                <a:sym typeface="Avenir"/>
              </a:rPr>
              <a:t>Sources of funds</a:t>
            </a:r>
            <a:endParaRPr/>
          </a:p>
        </p:txBody>
      </p:sp>
      <p:sp>
        <p:nvSpPr>
          <p:cNvPr id="1921" name="Google Shape;1921;p62"/>
          <p:cNvSpPr txBox="1"/>
          <p:nvPr/>
        </p:nvSpPr>
        <p:spPr>
          <a:xfrm>
            <a:off x="492858" y="373659"/>
            <a:ext cx="1880643" cy="40011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000">
                <a:solidFill>
                  <a:schemeClr val="accent6"/>
                </a:solidFill>
                <a:latin typeface="Avenir"/>
                <a:ea typeface="Avenir"/>
                <a:cs typeface="Avenir"/>
                <a:sym typeface="Avenir"/>
              </a:rPr>
              <a:t>Uses of funds</a:t>
            </a:r>
            <a:endParaRPr/>
          </a:p>
        </p:txBody>
      </p:sp>
      <p:grpSp>
        <p:nvGrpSpPr>
          <p:cNvPr id="1922" name="Google Shape;1922;p62"/>
          <p:cNvGrpSpPr/>
          <p:nvPr/>
        </p:nvGrpSpPr>
        <p:grpSpPr>
          <a:xfrm>
            <a:off x="4247500" y="957969"/>
            <a:ext cx="1620000" cy="613673"/>
            <a:chOff x="3810000" y="2381250"/>
            <a:chExt cx="1390650" cy="1230631"/>
          </a:xfrm>
        </p:grpSpPr>
        <p:sp>
          <p:nvSpPr>
            <p:cNvPr id="1923" name="Google Shape;1923;p62"/>
            <p:cNvSpPr/>
            <p:nvPr/>
          </p:nvSpPr>
          <p:spPr>
            <a:xfrm flipH="1">
              <a:off x="4505325"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1924" name="Google Shape;1924;p62"/>
            <p:cNvSpPr/>
            <p:nvPr/>
          </p:nvSpPr>
          <p:spPr>
            <a:xfrm>
              <a:off x="3810000"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1925" name="Google Shape;1925;p62"/>
          <p:cNvGrpSpPr/>
          <p:nvPr/>
        </p:nvGrpSpPr>
        <p:grpSpPr>
          <a:xfrm>
            <a:off x="2556000" y="4767598"/>
            <a:ext cx="1620000" cy="613673"/>
            <a:chOff x="3810000" y="2381250"/>
            <a:chExt cx="1390650" cy="1230631"/>
          </a:xfrm>
        </p:grpSpPr>
        <p:sp>
          <p:nvSpPr>
            <p:cNvPr id="1926" name="Google Shape;1926;p62"/>
            <p:cNvSpPr/>
            <p:nvPr/>
          </p:nvSpPr>
          <p:spPr>
            <a:xfrm flipH="1">
              <a:off x="4505325" y="2381250"/>
              <a:ext cx="695325" cy="1230631"/>
            </a:xfrm>
            <a:prstGeom prst="corner">
              <a:avLst>
                <a:gd fmla="val 9300"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1927" name="Google Shape;1927;p62"/>
            <p:cNvSpPr/>
            <p:nvPr/>
          </p:nvSpPr>
          <p:spPr>
            <a:xfrm>
              <a:off x="3810000" y="2381250"/>
              <a:ext cx="695325" cy="1230631"/>
            </a:xfrm>
            <a:prstGeom prst="corner">
              <a:avLst>
                <a:gd fmla="val 9300"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1928" name="Google Shape;1928;p62"/>
          <p:cNvGrpSpPr/>
          <p:nvPr/>
        </p:nvGrpSpPr>
        <p:grpSpPr>
          <a:xfrm>
            <a:off x="4292494" y="5448381"/>
            <a:ext cx="1620000" cy="796276"/>
            <a:chOff x="3810000" y="2015069"/>
            <a:chExt cx="1390650" cy="1596814"/>
          </a:xfrm>
        </p:grpSpPr>
        <p:sp>
          <p:nvSpPr>
            <p:cNvPr id="1929" name="Google Shape;1929;p62"/>
            <p:cNvSpPr/>
            <p:nvPr/>
          </p:nvSpPr>
          <p:spPr>
            <a:xfrm flipH="1">
              <a:off x="4505325" y="2015073"/>
              <a:ext cx="695325" cy="1596810"/>
            </a:xfrm>
            <a:prstGeom prst="corner">
              <a:avLst>
                <a:gd fmla="val 7267" name="adj1"/>
                <a:gd fmla="val 7888"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1930" name="Google Shape;1930;p62"/>
            <p:cNvSpPr/>
            <p:nvPr/>
          </p:nvSpPr>
          <p:spPr>
            <a:xfrm>
              <a:off x="3810000" y="2015069"/>
              <a:ext cx="695325" cy="1596812"/>
            </a:xfrm>
            <a:prstGeom prst="corner">
              <a:avLst>
                <a:gd fmla="val 7268" name="adj1"/>
                <a:gd fmla="val 7888"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1931" name="Google Shape;1931;p62"/>
          <p:cNvGrpSpPr/>
          <p:nvPr/>
        </p:nvGrpSpPr>
        <p:grpSpPr>
          <a:xfrm>
            <a:off x="6382456" y="5448381"/>
            <a:ext cx="1620000" cy="796276"/>
            <a:chOff x="3810000" y="2015069"/>
            <a:chExt cx="1390650" cy="1596814"/>
          </a:xfrm>
        </p:grpSpPr>
        <p:sp>
          <p:nvSpPr>
            <p:cNvPr id="1932" name="Google Shape;1932;p62"/>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1933" name="Google Shape;1933;p62"/>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1934" name="Google Shape;1934;p62"/>
          <p:cNvGrpSpPr/>
          <p:nvPr/>
        </p:nvGrpSpPr>
        <p:grpSpPr>
          <a:xfrm>
            <a:off x="9983452" y="3159099"/>
            <a:ext cx="1620000" cy="796276"/>
            <a:chOff x="3810000" y="2015069"/>
            <a:chExt cx="1390650" cy="1596814"/>
          </a:xfrm>
        </p:grpSpPr>
        <p:sp>
          <p:nvSpPr>
            <p:cNvPr id="1935" name="Google Shape;1935;p62"/>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1936" name="Google Shape;1936;p62"/>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1937" name="Google Shape;1937;p62"/>
          <p:cNvGrpSpPr/>
          <p:nvPr/>
        </p:nvGrpSpPr>
        <p:grpSpPr>
          <a:xfrm>
            <a:off x="10006085" y="1263488"/>
            <a:ext cx="1620000" cy="796276"/>
            <a:chOff x="3810000" y="2015069"/>
            <a:chExt cx="1390650" cy="1596814"/>
          </a:xfrm>
        </p:grpSpPr>
        <p:sp>
          <p:nvSpPr>
            <p:cNvPr id="1938" name="Google Shape;1938;p62"/>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1939" name="Google Shape;1939;p62"/>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1940" name="Google Shape;1940;p62"/>
          <p:cNvGrpSpPr/>
          <p:nvPr/>
        </p:nvGrpSpPr>
        <p:grpSpPr>
          <a:xfrm>
            <a:off x="6428511" y="1266563"/>
            <a:ext cx="1620000" cy="796276"/>
            <a:chOff x="3810000" y="2015069"/>
            <a:chExt cx="1390650" cy="1596814"/>
          </a:xfrm>
        </p:grpSpPr>
        <p:sp>
          <p:nvSpPr>
            <p:cNvPr id="1941" name="Google Shape;1941;p62"/>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1942" name="Google Shape;1942;p62"/>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sp>
        <p:nvSpPr>
          <p:cNvPr id="1943" name="Google Shape;1943;p62"/>
          <p:cNvSpPr/>
          <p:nvPr/>
        </p:nvSpPr>
        <p:spPr>
          <a:xfrm rot="10800000">
            <a:off x="10548000" y="3653367"/>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1944" name="Google Shape;1944;p62"/>
          <p:cNvSpPr/>
          <p:nvPr/>
        </p:nvSpPr>
        <p:spPr>
          <a:xfrm>
            <a:off x="951992" y="1906445"/>
            <a:ext cx="10744019" cy="1312708"/>
          </a:xfrm>
          <a:prstGeom prst="rect">
            <a:avLst/>
          </a:prstGeom>
          <a:solidFill>
            <a:srgbClr val="F2F2F2">
              <a:alpha val="86666"/>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1945" name="Google Shape;1945;p62"/>
          <p:cNvGrpSpPr/>
          <p:nvPr/>
        </p:nvGrpSpPr>
        <p:grpSpPr>
          <a:xfrm>
            <a:off x="1158550" y="2179797"/>
            <a:ext cx="10188967" cy="756004"/>
            <a:chOff x="926134" y="1719856"/>
            <a:chExt cx="9204181" cy="750147"/>
          </a:xfrm>
        </p:grpSpPr>
        <p:sp>
          <p:nvSpPr>
            <p:cNvPr id="1946" name="Google Shape;1946;p62"/>
            <p:cNvSpPr txBox="1"/>
            <p:nvPr/>
          </p:nvSpPr>
          <p:spPr>
            <a:xfrm>
              <a:off x="1641585" y="1719860"/>
              <a:ext cx="5447935"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139700" marR="0" rtl="0" algn="l">
                <a:spcBef>
                  <a:spcPts val="0"/>
                </a:spcBef>
                <a:spcAft>
                  <a:spcPts val="0"/>
                </a:spcAft>
                <a:buNone/>
              </a:pPr>
              <a:r>
                <a:rPr lang="en-US" sz="2000">
                  <a:solidFill>
                    <a:schemeClr val="dk1"/>
                  </a:solidFill>
                  <a:latin typeface="Calibri"/>
                  <a:ea typeface="Calibri"/>
                  <a:cs typeface="Calibri"/>
                  <a:sym typeface="Calibri"/>
                </a:rPr>
                <a:t>고객 B에게 또 다른 판매를 진행함. 그녀는 결제 담당자가 내일 와서 결제할 것이라고 말함.</a:t>
              </a:r>
              <a:endParaRPr sz="2000">
                <a:solidFill>
                  <a:schemeClr val="dk1"/>
                </a:solidFill>
                <a:latin typeface="Avenir"/>
                <a:ea typeface="Avenir"/>
                <a:cs typeface="Avenir"/>
                <a:sym typeface="Avenir"/>
              </a:endParaRPr>
            </a:p>
          </p:txBody>
        </p:sp>
        <p:sp>
          <p:nvSpPr>
            <p:cNvPr id="1947" name="Google Shape;1947;p62"/>
            <p:cNvSpPr txBox="1"/>
            <p:nvPr/>
          </p:nvSpPr>
          <p:spPr>
            <a:xfrm>
              <a:off x="7089520" y="1719858"/>
              <a:ext cx="1520398" cy="745310"/>
            </a:xfrm>
            <a:prstGeom prst="rect">
              <a:avLst/>
            </a:prstGeom>
            <a:solidFill>
              <a:srgbClr val="E1EFD8"/>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Accounts receivable</a:t>
              </a: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600</a:t>
              </a:r>
              <a:endParaRPr/>
            </a:p>
          </p:txBody>
        </p:sp>
        <p:sp>
          <p:nvSpPr>
            <p:cNvPr id="1948" name="Google Shape;1948;p62"/>
            <p:cNvSpPr txBox="1"/>
            <p:nvPr/>
          </p:nvSpPr>
          <p:spPr>
            <a:xfrm>
              <a:off x="8609917" y="1719858"/>
              <a:ext cx="1520398" cy="745310"/>
            </a:xfrm>
            <a:prstGeom prst="rect">
              <a:avLst/>
            </a:prstGeom>
            <a:solidFill>
              <a:srgbClr val="FBE4D4"/>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Sales</a:t>
              </a:r>
              <a:endParaRPr b="1" sz="1600">
                <a:solidFill>
                  <a:srgbClr val="BFBFBF"/>
                </a:solidFill>
                <a:latin typeface="Avenir"/>
                <a:ea typeface="Avenir"/>
                <a:cs typeface="Avenir"/>
                <a:sym typeface="Aveni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600</a:t>
              </a:r>
              <a:endParaRPr/>
            </a:p>
          </p:txBody>
        </p:sp>
        <p:sp>
          <p:nvSpPr>
            <p:cNvPr id="1949" name="Google Shape;1949;p62"/>
            <p:cNvSpPr txBox="1"/>
            <p:nvPr/>
          </p:nvSpPr>
          <p:spPr>
            <a:xfrm>
              <a:off x="926134" y="1719856"/>
              <a:ext cx="715451"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8a</a:t>
              </a:r>
              <a:endParaRPr/>
            </a:p>
          </p:txBody>
        </p:sp>
      </p:grpSp>
      <p:sp>
        <p:nvSpPr>
          <p:cNvPr id="1950" name="Google Shape;1950;p62"/>
          <p:cNvSpPr txBox="1"/>
          <p:nvPr/>
        </p:nvSpPr>
        <p:spPr>
          <a:xfrm>
            <a:off x="7985392" y="2176993"/>
            <a:ext cx="1683070" cy="756000"/>
          </a:xfrm>
          <a:prstGeom prst="rect">
            <a:avLst/>
          </a:prstGeom>
          <a:solidFill>
            <a:srgbClr val="548135"/>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600</a:t>
            </a:r>
            <a:endParaRPr/>
          </a:p>
        </p:txBody>
      </p:sp>
      <p:sp>
        <p:nvSpPr>
          <p:cNvPr id="1951" name="Google Shape;1951;p62"/>
          <p:cNvSpPr txBox="1"/>
          <p:nvPr/>
        </p:nvSpPr>
        <p:spPr>
          <a:xfrm>
            <a:off x="9668462" y="2181106"/>
            <a:ext cx="1683070" cy="756000"/>
          </a:xfrm>
          <a:prstGeom prst="rect">
            <a:avLst/>
          </a:prstGeom>
          <a:solidFill>
            <a:schemeClr val="accent2"/>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600</a:t>
            </a:r>
            <a:endParaRPr/>
          </a:p>
        </p:txBody>
      </p:sp>
      <p:sp>
        <p:nvSpPr>
          <p:cNvPr id="1952" name="Google Shape;1952;p62"/>
          <p:cNvSpPr/>
          <p:nvPr/>
        </p:nvSpPr>
        <p:spPr>
          <a:xfrm rot="10800000">
            <a:off x="11184791" y="4628172"/>
            <a:ext cx="950259" cy="1037381"/>
          </a:xfrm>
          <a:prstGeom prst="downArrow">
            <a:avLst>
              <a:gd fmla="val 50000" name="adj1"/>
              <a:gd fmla="val 50000" name="adj2"/>
            </a:avLst>
          </a:prstGeom>
          <a:solidFill>
            <a:schemeClr val="accent2">
              <a:alpha val="77647"/>
            </a:schemeClr>
          </a:solidFill>
          <a:ln>
            <a:noFill/>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953" name="Google Shape;1953;p62"/>
          <p:cNvSpPr/>
          <p:nvPr/>
        </p:nvSpPr>
        <p:spPr>
          <a:xfrm rot="10800000">
            <a:off x="141439" y="830760"/>
            <a:ext cx="950259" cy="1037381"/>
          </a:xfrm>
          <a:prstGeom prst="downArrow">
            <a:avLst>
              <a:gd fmla="val 50000" name="adj1"/>
              <a:gd fmla="val 50000" name="adj2"/>
            </a:avLst>
          </a:prstGeom>
          <a:solidFill>
            <a:schemeClr val="accent6">
              <a:alpha val="77647"/>
            </a:schemeClr>
          </a:solidFill>
          <a:ln>
            <a:noFill/>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1954" name="Google Shape;1954;p62"/>
          <p:cNvSpPr txBox="1"/>
          <p:nvPr/>
        </p:nvSpPr>
        <p:spPr>
          <a:xfrm>
            <a:off x="5269894" y="1222069"/>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600</a:t>
            </a:r>
            <a:endParaRPr/>
          </a:p>
        </p:txBody>
      </p:sp>
      <p:sp>
        <p:nvSpPr>
          <p:cNvPr id="1955" name="Google Shape;1955;p62"/>
          <p:cNvSpPr/>
          <p:nvPr/>
        </p:nvSpPr>
        <p:spPr>
          <a:xfrm rot="10800000">
            <a:off x="4824771" y="1263348"/>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1956" name="Google Shape;1956;p62"/>
          <p:cNvGrpSpPr/>
          <p:nvPr/>
        </p:nvGrpSpPr>
        <p:grpSpPr>
          <a:xfrm>
            <a:off x="4322372" y="1240114"/>
            <a:ext cx="300082" cy="224238"/>
            <a:chOff x="775552" y="3715228"/>
            <a:chExt cx="300082" cy="224238"/>
          </a:xfrm>
        </p:grpSpPr>
        <p:sp>
          <p:nvSpPr>
            <p:cNvPr id="1957" name="Google Shape;1957;p62"/>
            <p:cNvSpPr/>
            <p:nvPr/>
          </p:nvSpPr>
          <p:spPr>
            <a:xfrm>
              <a:off x="810781" y="3715228"/>
              <a:ext cx="216000" cy="216000"/>
            </a:xfrm>
            <a:prstGeom prst="ellipse">
              <a:avLst/>
            </a:prstGeom>
            <a:solidFill>
              <a:srgbClr val="FFFF00"/>
            </a:solidFill>
            <a:ln cap="flat" cmpd="sng" w="1270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1958" name="Google Shape;1958;p62"/>
            <p:cNvSpPr/>
            <p:nvPr/>
          </p:nvSpPr>
          <p:spPr>
            <a:xfrm>
              <a:off x="775552" y="3724022"/>
              <a:ext cx="300082"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8a</a:t>
              </a:r>
              <a:endParaRPr/>
            </a:p>
          </p:txBody>
        </p:sp>
      </p:grpSp>
      <p:sp>
        <p:nvSpPr>
          <p:cNvPr id="1959" name="Google Shape;1959;p62"/>
          <p:cNvSpPr txBox="1"/>
          <p:nvPr/>
        </p:nvSpPr>
        <p:spPr>
          <a:xfrm>
            <a:off x="6403129" y="3419412"/>
            <a:ext cx="1548343" cy="566133"/>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950</a:t>
            </a:r>
            <a:endParaRPr sz="2400">
              <a:solidFill>
                <a:schemeClr val="dk1"/>
              </a:solidFill>
              <a:latin typeface="Calibri"/>
              <a:ea typeface="Calibri"/>
              <a:cs typeface="Calibri"/>
              <a:sym typeface="Calibri"/>
            </a:endParaRPr>
          </a:p>
        </p:txBody>
      </p:sp>
      <p:sp>
        <p:nvSpPr>
          <p:cNvPr id="1960" name="Google Shape;1960;p62"/>
          <p:cNvSpPr txBox="1"/>
          <p:nvPr/>
        </p:nvSpPr>
        <p:spPr>
          <a:xfrm>
            <a:off x="6403129" y="3419412"/>
            <a:ext cx="1548343" cy="566133"/>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350</a:t>
            </a:r>
            <a:endParaRPr sz="2400">
              <a:solidFill>
                <a:schemeClr val="dk1"/>
              </a:solidFill>
              <a:latin typeface="Calibri"/>
              <a:ea typeface="Calibri"/>
              <a:cs typeface="Calibri"/>
              <a:sym typeface="Calibri"/>
            </a:endParaRPr>
          </a:p>
        </p:txBody>
      </p:sp>
    </p:spTree>
  </p:cSld>
  <p:clrMapOvr>
    <a:masterClrMapping/>
  </p:clrMapOvr>
  <mc:AlternateContent>
    <mc:Choice Requires="p14">
      <p:transition spd="slow" p14:dur="700">
        <p:fade/>
      </p:transition>
    </mc:Choice>
    <mc:Fallback>
      <p:transition spd="slow">
        <p:fade/>
      </p:transition>
    </mc:Fallback>
  </mc:AlternateContent>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afterEffect" presetClass="exit" presetID="10" presetSubtype="0">
                                  <p:stCondLst>
                                    <p:cond delay="0"/>
                                  </p:stCondLst>
                                  <p:childTnLst>
                                    <p:animEffect filter="fade" transition="out">
                                      <p:cBhvr>
                                        <p:cTn dur="1000"/>
                                        <p:tgtEl>
                                          <p:spTgt spid="1951"/>
                                        </p:tgtEl>
                                      </p:cBhvr>
                                    </p:animEffect>
                                    <p:set>
                                      <p:cBhvr>
                                        <p:cTn dur="1" fill="hold">
                                          <p:stCondLst>
                                            <p:cond delay="1000"/>
                                          </p:stCondLst>
                                        </p:cTn>
                                        <p:tgtEl>
                                          <p:spTgt spid="1951"/>
                                        </p:tgtEl>
                                        <p:attrNameLst>
                                          <p:attrName>style.visibility</p:attrName>
                                        </p:attrNameLst>
                                      </p:cBhvr>
                                      <p:to>
                                        <p:strVal val="hidden"/>
                                      </p:to>
                                    </p:set>
                                  </p:childTnLst>
                                </p:cTn>
                              </p:par>
                              <p:par>
                                <p:cTn fill="hold" nodeType="withEffect" presetClass="entr" presetID="10" presetSubtype="0">
                                  <p:stCondLst>
                                    <p:cond delay="0"/>
                                  </p:stCondLst>
                                  <p:childTnLst>
                                    <p:set>
                                      <p:cBhvr>
                                        <p:cTn dur="1" fill="hold">
                                          <p:stCondLst>
                                            <p:cond delay="0"/>
                                          </p:stCondLst>
                                        </p:cTn>
                                        <p:tgtEl>
                                          <p:spTgt spid="1912"/>
                                        </p:tgtEl>
                                        <p:attrNameLst>
                                          <p:attrName>style.visibility</p:attrName>
                                        </p:attrNameLst>
                                      </p:cBhvr>
                                      <p:to>
                                        <p:strVal val="visible"/>
                                      </p:to>
                                    </p:set>
                                    <p:animEffect filter="fade" transition="in">
                                      <p:cBhvr>
                                        <p:cTn dur="1000"/>
                                        <p:tgtEl>
                                          <p:spTgt spid="1912"/>
                                        </p:tgtEl>
                                      </p:cBhvr>
                                    </p:animEffect>
                                  </p:childTnLst>
                                </p:cTn>
                              </p:par>
                              <p:par>
                                <p:cTn fill="hold" nodeType="withEffect" presetClass="entr" presetID="10" presetSubtype="0">
                                  <p:stCondLst>
                                    <p:cond delay="0"/>
                                  </p:stCondLst>
                                  <p:childTnLst>
                                    <p:set>
                                      <p:cBhvr>
                                        <p:cTn dur="1" fill="hold">
                                          <p:stCondLst>
                                            <p:cond delay="0"/>
                                          </p:stCondLst>
                                        </p:cTn>
                                        <p:tgtEl>
                                          <p:spTgt spid="1866"/>
                                        </p:tgtEl>
                                        <p:attrNameLst>
                                          <p:attrName>style.visibility</p:attrName>
                                        </p:attrNameLst>
                                      </p:cBhvr>
                                      <p:to>
                                        <p:strVal val="visible"/>
                                      </p:to>
                                    </p:set>
                                    <p:animEffect filter="fade" transition="in">
                                      <p:cBhvr>
                                        <p:cTn dur="1000"/>
                                        <p:tgtEl>
                                          <p:spTgt spid="1866"/>
                                        </p:tgtEl>
                                      </p:cBhvr>
                                    </p:animEffect>
                                  </p:childTnLst>
                                </p:cTn>
                              </p:par>
                              <p:par>
                                <p:cTn fill="hold" nodeType="withEffect" presetClass="entr" presetID="10" presetSubtype="0">
                                  <p:stCondLst>
                                    <p:cond delay="0"/>
                                  </p:stCondLst>
                                  <p:childTnLst>
                                    <p:set>
                                      <p:cBhvr>
                                        <p:cTn dur="1" fill="hold">
                                          <p:stCondLst>
                                            <p:cond delay="0"/>
                                          </p:stCondLst>
                                        </p:cTn>
                                        <p:tgtEl>
                                          <p:spTgt spid="1865"/>
                                        </p:tgtEl>
                                        <p:attrNameLst>
                                          <p:attrName>style.visibility</p:attrName>
                                        </p:attrNameLst>
                                      </p:cBhvr>
                                      <p:to>
                                        <p:strVal val="visible"/>
                                      </p:to>
                                    </p:set>
                                    <p:animEffect filter="fade" transition="in">
                                      <p:cBhvr>
                                        <p:cTn dur="1000"/>
                                        <p:tgtEl>
                                          <p:spTgt spid="1865"/>
                                        </p:tgtEl>
                                      </p:cBhvr>
                                    </p:animEffect>
                                  </p:childTnLst>
                                </p:cTn>
                              </p:par>
                            </p:childTnLst>
                          </p:cTn>
                        </p:par>
                        <p:par>
                          <p:cTn fill="hold">
                            <p:stCondLst>
                              <p:cond delay="1000"/>
                            </p:stCondLst>
                            <p:childTnLst>
                              <p:par>
                                <p:cTn fill="hold" nodeType="afterEffect" presetClass="entr" presetID="10" presetSubtype="0">
                                  <p:stCondLst>
                                    <p:cond delay="0"/>
                                  </p:stCondLst>
                                  <p:childTnLst>
                                    <p:set>
                                      <p:cBhvr>
                                        <p:cTn dur="1" fill="hold">
                                          <p:stCondLst>
                                            <p:cond delay="0"/>
                                          </p:stCondLst>
                                        </p:cTn>
                                        <p:tgtEl>
                                          <p:spTgt spid="1959"/>
                                        </p:tgtEl>
                                        <p:attrNameLst>
                                          <p:attrName>style.visibility</p:attrName>
                                        </p:attrNameLst>
                                      </p:cBhvr>
                                      <p:to>
                                        <p:strVal val="visible"/>
                                      </p:to>
                                    </p:set>
                                    <p:animEffect filter="fade" transition="in">
                                      <p:cBhvr>
                                        <p:cTn dur="1000"/>
                                        <p:tgtEl>
                                          <p:spTgt spid="1959"/>
                                        </p:tgtEl>
                                      </p:cBhvr>
                                    </p:animEffect>
                                  </p:childTnLst>
                                </p:cTn>
                              </p:par>
                              <p:par>
                                <p:cTn fill="hold" nodeType="withEffect" presetClass="exit" presetID="10" presetSubtype="0">
                                  <p:stCondLst>
                                    <p:cond delay="0"/>
                                  </p:stCondLst>
                                  <p:childTnLst>
                                    <p:animEffect filter="fade" transition="out">
                                      <p:cBhvr>
                                        <p:cTn dur="500"/>
                                        <p:tgtEl>
                                          <p:spTgt spid="1960"/>
                                        </p:tgtEl>
                                      </p:cBhvr>
                                    </p:animEffect>
                                    <p:set>
                                      <p:cBhvr>
                                        <p:cTn dur="1" fill="hold">
                                          <p:stCondLst>
                                            <p:cond delay="500"/>
                                          </p:stCondLst>
                                        </p:cTn>
                                        <p:tgtEl>
                                          <p:spTgt spid="1960"/>
                                        </p:tgtEl>
                                        <p:attrNameLst>
                                          <p:attrName>style.visibility</p:attrName>
                                        </p:attrNameLst>
                                      </p:cBhvr>
                                      <p:to>
                                        <p:strVal val="hidden"/>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18"/>
                                        </p:tgtEl>
                                        <p:attrNameLst>
                                          <p:attrName>style.visibility</p:attrName>
                                        </p:attrNameLst>
                                      </p:cBhvr>
                                      <p:to>
                                        <p:strVal val="visible"/>
                                      </p:to>
                                    </p:set>
                                    <p:animEffect filter="fade" transition="in">
                                      <p:cBhvr>
                                        <p:cTn dur="500"/>
                                        <p:tgtEl>
                                          <p:spTgt spid="1918"/>
                                        </p:tgtEl>
                                      </p:cBhvr>
                                    </p:animEffect>
                                  </p:childTnLst>
                                </p:cTn>
                              </p:par>
                              <p:par>
                                <p:cTn fill="hold" nodeType="withEffect" presetClass="entr" presetID="10" presetSubtype="0">
                                  <p:stCondLst>
                                    <p:cond delay="0"/>
                                  </p:stCondLst>
                                  <p:childTnLst>
                                    <p:set>
                                      <p:cBhvr>
                                        <p:cTn dur="1" fill="hold">
                                          <p:stCondLst>
                                            <p:cond delay="0"/>
                                          </p:stCondLst>
                                        </p:cTn>
                                        <p:tgtEl>
                                          <p:spTgt spid="1922"/>
                                        </p:tgtEl>
                                        <p:attrNameLst>
                                          <p:attrName>style.visibility</p:attrName>
                                        </p:attrNameLst>
                                      </p:cBhvr>
                                      <p:to>
                                        <p:strVal val="visible"/>
                                      </p:to>
                                    </p:set>
                                    <p:animEffect filter="fade" transition="in">
                                      <p:cBhvr>
                                        <p:cTn dur="500"/>
                                        <p:tgtEl>
                                          <p:spTgt spid="1922"/>
                                        </p:tgtEl>
                                      </p:cBhvr>
                                    </p:animEffect>
                                  </p:childTnLst>
                                </p:cTn>
                              </p:par>
                            </p:childTnLst>
                          </p:cTn>
                        </p:par>
                        <p:par>
                          <p:cTn fill="hold">
                            <p:stCondLst>
                              <p:cond delay="500"/>
                            </p:stCondLst>
                            <p:childTnLst>
                              <p:par>
                                <p:cTn fill="hold" nodeType="afterEffect" presetClass="exit" presetID="10" presetSubtype="0">
                                  <p:stCondLst>
                                    <p:cond delay="0"/>
                                  </p:stCondLst>
                                  <p:childTnLst>
                                    <p:animEffect filter="fade" transition="out">
                                      <p:cBhvr>
                                        <p:cTn dur="1000"/>
                                        <p:tgtEl>
                                          <p:spTgt spid="1950"/>
                                        </p:tgtEl>
                                      </p:cBhvr>
                                    </p:animEffect>
                                    <p:set>
                                      <p:cBhvr>
                                        <p:cTn dur="1" fill="hold">
                                          <p:stCondLst>
                                            <p:cond delay="1000"/>
                                          </p:stCondLst>
                                        </p:cTn>
                                        <p:tgtEl>
                                          <p:spTgt spid="1950"/>
                                        </p:tgtEl>
                                        <p:attrNameLst>
                                          <p:attrName>style.visibility</p:attrName>
                                        </p:attrNameLst>
                                      </p:cBhvr>
                                      <p:to>
                                        <p:strVal val="hidden"/>
                                      </p:to>
                                    </p:set>
                                  </p:childTnLst>
                                </p:cTn>
                              </p:par>
                              <p:par>
                                <p:cTn fill="hold" nodeType="withEffect" presetClass="entr" presetID="10" presetSubtype="0">
                                  <p:stCondLst>
                                    <p:cond delay="0"/>
                                  </p:stCondLst>
                                  <p:childTnLst>
                                    <p:set>
                                      <p:cBhvr>
                                        <p:cTn dur="1" fill="hold">
                                          <p:stCondLst>
                                            <p:cond delay="0"/>
                                          </p:stCondLst>
                                        </p:cTn>
                                        <p:tgtEl>
                                          <p:spTgt spid="1956"/>
                                        </p:tgtEl>
                                        <p:attrNameLst>
                                          <p:attrName>style.visibility</p:attrName>
                                        </p:attrNameLst>
                                      </p:cBhvr>
                                      <p:to>
                                        <p:strVal val="visible"/>
                                      </p:to>
                                    </p:set>
                                    <p:animEffect filter="fade" transition="in">
                                      <p:cBhvr>
                                        <p:cTn dur="1000"/>
                                        <p:tgtEl>
                                          <p:spTgt spid="1956"/>
                                        </p:tgtEl>
                                      </p:cBhvr>
                                    </p:animEffect>
                                  </p:childTnLst>
                                </p:cTn>
                              </p:par>
                              <p:par>
                                <p:cTn fill="hold" nodeType="withEffect" presetClass="entr" presetID="10" presetSubtype="0">
                                  <p:stCondLst>
                                    <p:cond delay="0"/>
                                  </p:stCondLst>
                                  <p:childTnLst>
                                    <p:set>
                                      <p:cBhvr>
                                        <p:cTn dur="1" fill="hold">
                                          <p:stCondLst>
                                            <p:cond delay="0"/>
                                          </p:stCondLst>
                                        </p:cTn>
                                        <p:tgtEl>
                                          <p:spTgt spid="1955"/>
                                        </p:tgtEl>
                                        <p:attrNameLst>
                                          <p:attrName>style.visibility</p:attrName>
                                        </p:attrNameLst>
                                      </p:cBhvr>
                                      <p:to>
                                        <p:strVal val="visible"/>
                                      </p:to>
                                    </p:set>
                                    <p:animEffect filter="fade" transition="in">
                                      <p:cBhvr>
                                        <p:cTn dur="1000"/>
                                        <p:tgtEl>
                                          <p:spTgt spid="1955"/>
                                        </p:tgtEl>
                                      </p:cBhvr>
                                    </p:animEffect>
                                  </p:childTnLst>
                                </p:cTn>
                              </p:par>
                              <p:par>
                                <p:cTn fill="hold" nodeType="withEffect" presetClass="entr" presetID="10" presetSubtype="0">
                                  <p:stCondLst>
                                    <p:cond delay="0"/>
                                  </p:stCondLst>
                                  <p:childTnLst>
                                    <p:set>
                                      <p:cBhvr>
                                        <p:cTn dur="1" fill="hold">
                                          <p:stCondLst>
                                            <p:cond delay="0"/>
                                          </p:stCondLst>
                                        </p:cTn>
                                        <p:tgtEl>
                                          <p:spTgt spid="1954"/>
                                        </p:tgtEl>
                                        <p:attrNameLst>
                                          <p:attrName>style.visibility</p:attrName>
                                        </p:attrNameLst>
                                      </p:cBhvr>
                                      <p:to>
                                        <p:strVal val="visible"/>
                                      </p:to>
                                    </p:set>
                                    <p:animEffect filter="fade" transition="in">
                                      <p:cBhvr>
                                        <p:cTn dur="1000"/>
                                        <p:tgtEl>
                                          <p:spTgt spid="195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52"/>
                                        </p:tgtEl>
                                        <p:attrNameLst>
                                          <p:attrName>style.visibility</p:attrName>
                                        </p:attrNameLst>
                                      </p:cBhvr>
                                      <p:to>
                                        <p:strVal val="visible"/>
                                      </p:to>
                                    </p:set>
                                    <p:animEffect filter="fade" transition="in">
                                      <p:cBhvr>
                                        <p:cTn dur="1000"/>
                                        <p:tgtEl>
                                          <p:spTgt spid="1952"/>
                                        </p:tgtEl>
                                      </p:cBhvr>
                                    </p:animEffect>
                                  </p:childTnLst>
                                </p:cTn>
                              </p:par>
                              <p:par>
                                <p:cTn fill="hold" nodeType="withEffect" presetClass="entr" presetID="10" presetSubtype="0">
                                  <p:stCondLst>
                                    <p:cond delay="0"/>
                                  </p:stCondLst>
                                  <p:childTnLst>
                                    <p:set>
                                      <p:cBhvr>
                                        <p:cTn dur="1" fill="hold">
                                          <p:stCondLst>
                                            <p:cond delay="0"/>
                                          </p:stCondLst>
                                        </p:cTn>
                                        <p:tgtEl>
                                          <p:spTgt spid="1953"/>
                                        </p:tgtEl>
                                        <p:attrNameLst>
                                          <p:attrName>style.visibility</p:attrName>
                                        </p:attrNameLst>
                                      </p:cBhvr>
                                      <p:to>
                                        <p:strVal val="visible"/>
                                      </p:to>
                                    </p:set>
                                    <p:animEffect filter="fade" transition="in">
                                      <p:cBhvr>
                                        <p:cTn dur="1000"/>
                                        <p:tgtEl>
                                          <p:spTgt spid="195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5" name="Shape 1965"/>
        <p:cNvGrpSpPr/>
        <p:nvPr/>
      </p:nvGrpSpPr>
      <p:grpSpPr>
        <a:xfrm>
          <a:off x="0" y="0"/>
          <a:ext cx="0" cy="0"/>
          <a:chOff x="0" y="0"/>
          <a:chExt cx="0" cy="0"/>
        </a:xfrm>
      </p:grpSpPr>
      <p:sp>
        <p:nvSpPr>
          <p:cNvPr id="1966" name="Google Shape;1966;p63"/>
          <p:cNvSpPr txBox="1"/>
          <p:nvPr/>
        </p:nvSpPr>
        <p:spPr>
          <a:xfrm>
            <a:off x="4187006" y="284371"/>
            <a:ext cx="3629520"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cxnSp>
        <p:nvCxnSpPr>
          <p:cNvPr id="1967" name="Google Shape;1967;p63"/>
          <p:cNvCxnSpPr/>
          <p:nvPr/>
        </p:nvCxnSpPr>
        <p:spPr>
          <a:xfrm>
            <a:off x="4316098" y="717845"/>
            <a:ext cx="3375212" cy="0"/>
          </a:xfrm>
          <a:prstGeom prst="straightConnector1">
            <a:avLst/>
          </a:prstGeom>
          <a:noFill/>
          <a:ln cap="flat" cmpd="sng" w="28575">
            <a:solidFill>
              <a:schemeClr val="accent1"/>
            </a:solidFill>
            <a:prstDash val="dot"/>
            <a:miter lim="800000"/>
            <a:headEnd len="sm" w="sm" type="none"/>
            <a:tailEnd len="sm" w="sm" type="none"/>
          </a:ln>
        </p:spPr>
      </p:cxnSp>
      <p:grpSp>
        <p:nvGrpSpPr>
          <p:cNvPr id="1968" name="Google Shape;1968;p63"/>
          <p:cNvGrpSpPr/>
          <p:nvPr/>
        </p:nvGrpSpPr>
        <p:grpSpPr>
          <a:xfrm>
            <a:off x="1284576" y="2130924"/>
            <a:ext cx="10188969" cy="756004"/>
            <a:chOff x="926134" y="1719856"/>
            <a:chExt cx="9204181" cy="750147"/>
          </a:xfrm>
        </p:grpSpPr>
        <p:sp>
          <p:nvSpPr>
            <p:cNvPr id="1969" name="Google Shape;1969;p63"/>
            <p:cNvSpPr txBox="1"/>
            <p:nvPr/>
          </p:nvSpPr>
          <p:spPr>
            <a:xfrm>
              <a:off x="1641585" y="1719860"/>
              <a:ext cx="5447935"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139700" marR="0" rtl="0" algn="l">
                <a:spcBef>
                  <a:spcPts val="0"/>
                </a:spcBef>
                <a:spcAft>
                  <a:spcPts val="0"/>
                </a:spcAft>
                <a:buNone/>
              </a:pPr>
              <a:r>
                <a:rPr lang="en-US" sz="2000">
                  <a:solidFill>
                    <a:schemeClr val="dk1"/>
                  </a:solidFill>
                  <a:latin typeface="Calibri"/>
                  <a:ea typeface="Calibri"/>
                  <a:cs typeface="Calibri"/>
                  <a:sym typeface="Calibri"/>
                </a:rPr>
                <a:t>고객 B에게 판매하면서 일부 재고를 사용함.</a:t>
              </a:r>
              <a:endParaRPr sz="2000">
                <a:solidFill>
                  <a:schemeClr val="dk1"/>
                </a:solidFill>
                <a:latin typeface="Avenir"/>
                <a:ea typeface="Avenir"/>
                <a:cs typeface="Avenir"/>
                <a:sym typeface="Avenir"/>
              </a:endParaRPr>
            </a:p>
          </p:txBody>
        </p:sp>
        <p:sp>
          <p:nvSpPr>
            <p:cNvPr id="1970" name="Google Shape;1970;p63"/>
            <p:cNvSpPr txBox="1"/>
            <p:nvPr/>
          </p:nvSpPr>
          <p:spPr>
            <a:xfrm>
              <a:off x="7089520" y="1719858"/>
              <a:ext cx="1520398" cy="745310"/>
            </a:xfrm>
            <a:prstGeom prst="rect">
              <a:avLst/>
            </a:prstGeom>
            <a:solidFill>
              <a:srgbClr val="E1EFD8"/>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Cost of sales</a:t>
              </a: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300</a:t>
              </a:r>
              <a:endParaRPr/>
            </a:p>
          </p:txBody>
        </p:sp>
        <p:sp>
          <p:nvSpPr>
            <p:cNvPr id="1971" name="Google Shape;1971;p63"/>
            <p:cNvSpPr txBox="1"/>
            <p:nvPr/>
          </p:nvSpPr>
          <p:spPr>
            <a:xfrm>
              <a:off x="8609917" y="1719858"/>
              <a:ext cx="1520398" cy="745310"/>
            </a:xfrm>
            <a:prstGeom prst="rect">
              <a:avLst/>
            </a:prstGeom>
            <a:solidFill>
              <a:srgbClr val="FBE4D4"/>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Inventory</a:t>
              </a:r>
              <a:endParaRPr b="1" sz="1600">
                <a:solidFill>
                  <a:srgbClr val="BFBFBF"/>
                </a:solidFill>
                <a:latin typeface="Avenir"/>
                <a:ea typeface="Avenir"/>
                <a:cs typeface="Avenir"/>
                <a:sym typeface="Aveni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300</a:t>
              </a:r>
              <a:endParaRPr/>
            </a:p>
          </p:txBody>
        </p:sp>
        <p:sp>
          <p:nvSpPr>
            <p:cNvPr id="1972" name="Google Shape;1972;p63"/>
            <p:cNvSpPr txBox="1"/>
            <p:nvPr/>
          </p:nvSpPr>
          <p:spPr>
            <a:xfrm>
              <a:off x="926134" y="1719856"/>
              <a:ext cx="715451"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8b</a:t>
              </a:r>
              <a:endParaRPr/>
            </a:p>
          </p:txBody>
        </p:sp>
      </p:grpSp>
      <p:sp>
        <p:nvSpPr>
          <p:cNvPr id="1973" name="Google Shape;1973;p63"/>
          <p:cNvSpPr txBox="1"/>
          <p:nvPr/>
        </p:nvSpPr>
        <p:spPr>
          <a:xfrm>
            <a:off x="8107403" y="2130924"/>
            <a:ext cx="1681200" cy="756000"/>
          </a:xfrm>
          <a:prstGeom prst="rect">
            <a:avLst/>
          </a:prstGeom>
          <a:solidFill>
            <a:srgbClr val="548135"/>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300</a:t>
            </a:r>
            <a:endParaRPr/>
          </a:p>
        </p:txBody>
      </p:sp>
      <p:sp>
        <p:nvSpPr>
          <p:cNvPr id="1974" name="Google Shape;1974;p63"/>
          <p:cNvSpPr txBox="1"/>
          <p:nvPr/>
        </p:nvSpPr>
        <p:spPr>
          <a:xfrm>
            <a:off x="9790473" y="2130924"/>
            <a:ext cx="1681200" cy="756000"/>
          </a:xfrm>
          <a:prstGeom prst="rect">
            <a:avLst/>
          </a:prstGeom>
          <a:solidFill>
            <a:schemeClr val="accent2"/>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300</a:t>
            </a:r>
            <a:endParaRPr/>
          </a:p>
        </p:txBody>
      </p:sp>
      <p:sp>
        <p:nvSpPr>
          <p:cNvPr id="1975" name="Google Shape;1975;p63"/>
          <p:cNvSpPr/>
          <p:nvPr/>
        </p:nvSpPr>
        <p:spPr>
          <a:xfrm>
            <a:off x="1284578" y="1520543"/>
            <a:ext cx="2024679" cy="42011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2130">
                <a:solidFill>
                  <a:schemeClr val="dk1"/>
                </a:solidFill>
                <a:latin typeface="Avenir"/>
                <a:ea typeface="Avenir"/>
                <a:cs typeface="Avenir"/>
                <a:sym typeface="Avenir"/>
              </a:rPr>
              <a:t>7 February</a:t>
            </a:r>
            <a:endParaRPr sz="2130">
              <a:solidFill>
                <a:schemeClr val="dk1"/>
              </a:solidFill>
              <a:latin typeface="Avenir"/>
              <a:ea typeface="Avenir"/>
              <a:cs typeface="Avenir"/>
              <a:sym typeface="Avenir"/>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0" name="Shape 1980"/>
        <p:cNvGrpSpPr/>
        <p:nvPr/>
      </p:nvGrpSpPr>
      <p:grpSpPr>
        <a:xfrm>
          <a:off x="0" y="0"/>
          <a:ext cx="0" cy="0"/>
          <a:chOff x="0" y="0"/>
          <a:chExt cx="0" cy="0"/>
        </a:xfrm>
      </p:grpSpPr>
      <p:sp>
        <p:nvSpPr>
          <p:cNvPr id="1981" name="Google Shape;1981;p64"/>
          <p:cNvSpPr txBox="1"/>
          <p:nvPr/>
        </p:nvSpPr>
        <p:spPr>
          <a:xfrm>
            <a:off x="4187006" y="133386"/>
            <a:ext cx="3629520"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cxnSp>
        <p:nvCxnSpPr>
          <p:cNvPr id="1982" name="Google Shape;1982;p64"/>
          <p:cNvCxnSpPr/>
          <p:nvPr/>
        </p:nvCxnSpPr>
        <p:spPr>
          <a:xfrm>
            <a:off x="4316098" y="566860"/>
            <a:ext cx="3375212" cy="0"/>
          </a:xfrm>
          <a:prstGeom prst="straightConnector1">
            <a:avLst/>
          </a:prstGeom>
          <a:noFill/>
          <a:ln cap="flat" cmpd="sng" w="28575">
            <a:solidFill>
              <a:schemeClr val="accent1"/>
            </a:solidFill>
            <a:prstDash val="dot"/>
            <a:miter lim="800000"/>
            <a:headEnd len="sm" w="sm" type="none"/>
            <a:tailEnd len="sm" w="sm" type="none"/>
          </a:ln>
        </p:spPr>
      </p:cxnSp>
      <p:grpSp>
        <p:nvGrpSpPr>
          <p:cNvPr id="1983" name="Google Shape;1983;p64"/>
          <p:cNvGrpSpPr/>
          <p:nvPr/>
        </p:nvGrpSpPr>
        <p:grpSpPr>
          <a:xfrm>
            <a:off x="492858" y="773769"/>
            <a:ext cx="11291146" cy="5895963"/>
            <a:chOff x="492858" y="773769"/>
            <a:chExt cx="11291146" cy="5895963"/>
          </a:xfrm>
        </p:grpSpPr>
        <p:sp>
          <p:nvSpPr>
            <p:cNvPr id="1984" name="Google Shape;1984;p64"/>
            <p:cNvSpPr txBox="1"/>
            <p:nvPr/>
          </p:nvSpPr>
          <p:spPr>
            <a:xfrm>
              <a:off x="6227788" y="2623662"/>
              <a:ext cx="5556216" cy="1692844"/>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Equity</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1985" name="Google Shape;1985;p64"/>
            <p:cNvSpPr txBox="1"/>
            <p:nvPr/>
          </p:nvSpPr>
          <p:spPr>
            <a:xfrm>
              <a:off x="6410845" y="3135649"/>
              <a:ext cx="1544844" cy="770509"/>
            </a:xfrm>
            <a:prstGeom prst="rect">
              <a:avLst/>
            </a:prstGeom>
            <a:noFill/>
            <a:ln cap="flat" cmpd="sng" w="5715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ctr">
                <a:lnSpc>
                  <a:spcPct val="120000"/>
                </a:lnSpc>
                <a:spcBef>
                  <a:spcPts val="0"/>
                </a:spcBef>
                <a:spcAft>
                  <a:spcPts val="0"/>
                </a:spcAft>
                <a:buNone/>
              </a:pPr>
              <a:r>
                <a:rPr b="1" lang="en-US" sz="2200">
                  <a:solidFill>
                    <a:srgbClr val="942093"/>
                  </a:solidFill>
                  <a:latin typeface="Avenir"/>
                  <a:ea typeface="Avenir"/>
                  <a:cs typeface="Avenir"/>
                  <a:sym typeface="Avenir"/>
                </a:rPr>
                <a:t>Profit</a:t>
              </a:r>
              <a:endParaRPr/>
            </a:p>
          </p:txBody>
        </p:sp>
        <p:sp>
          <p:nvSpPr>
            <p:cNvPr id="1986" name="Google Shape;1986;p64"/>
            <p:cNvSpPr txBox="1"/>
            <p:nvPr/>
          </p:nvSpPr>
          <p:spPr>
            <a:xfrm>
              <a:off x="6227788" y="773769"/>
              <a:ext cx="5556216" cy="1702674"/>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Liabilities</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grpSp>
          <p:nvGrpSpPr>
            <p:cNvPr id="1987" name="Google Shape;1987;p64"/>
            <p:cNvGrpSpPr/>
            <p:nvPr/>
          </p:nvGrpSpPr>
          <p:grpSpPr>
            <a:xfrm>
              <a:off x="492858" y="3906158"/>
              <a:ext cx="11291146" cy="2763574"/>
              <a:chOff x="1354633" y="4399872"/>
              <a:chExt cx="9550931" cy="2121952"/>
            </a:xfrm>
          </p:grpSpPr>
          <p:sp>
            <p:nvSpPr>
              <p:cNvPr id="1988" name="Google Shape;1988;p64"/>
              <p:cNvSpPr txBox="1"/>
              <p:nvPr/>
            </p:nvSpPr>
            <p:spPr>
              <a:xfrm>
                <a:off x="1354633" y="4813260"/>
                <a:ext cx="9550931" cy="1708564"/>
              </a:xfrm>
              <a:prstGeom prst="rect">
                <a:avLst/>
              </a:prstGeom>
              <a:solidFill>
                <a:srgbClr val="FCECFB"/>
              </a:solidFill>
              <a:ln cap="flat" cmpd="sng" w="7620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b="1" lang="en-US" sz="2800">
                    <a:solidFill>
                      <a:schemeClr val="dk1"/>
                    </a:solidFill>
                    <a:latin typeface="Avenir"/>
                    <a:ea typeface="Avenir"/>
                    <a:cs typeface="Avenir"/>
                    <a:sym typeface="Avenir"/>
                  </a:rPr>
                  <a:t> </a:t>
                </a:r>
                <a:endParaRPr/>
              </a:p>
            </p:txBody>
          </p:sp>
          <p:sp>
            <p:nvSpPr>
              <p:cNvPr id="1989" name="Google Shape;1989;p64"/>
              <p:cNvSpPr txBox="1"/>
              <p:nvPr/>
            </p:nvSpPr>
            <p:spPr>
              <a:xfrm>
                <a:off x="6199863" y="4921166"/>
                <a:ext cx="4576976" cy="1495361"/>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Income</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1990" name="Google Shape;1990;p64"/>
              <p:cNvSpPr txBox="1"/>
              <p:nvPr/>
            </p:nvSpPr>
            <p:spPr>
              <a:xfrm>
                <a:off x="1481256" y="4921166"/>
                <a:ext cx="4552539" cy="1495361"/>
              </a:xfrm>
              <a:prstGeom prst="rect">
                <a:avLst/>
              </a:prstGeom>
              <a:solidFill>
                <a:srgbClr val="E1EFD8"/>
              </a:solid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None/>
                </a:pPr>
                <a:r>
                  <a:rPr b="1" lang="en-US" sz="2800">
                    <a:solidFill>
                      <a:srgbClr val="E1EFD8"/>
                    </a:solidFill>
                    <a:latin typeface="Avenir"/>
                    <a:ea typeface="Avenir"/>
                    <a:cs typeface="Avenir"/>
                    <a:sym typeface="Avenir"/>
                  </a:rPr>
                  <a:t>_</a:t>
                </a:r>
                <a:r>
                  <a:rPr b="1" lang="en-US" sz="2000">
                    <a:solidFill>
                      <a:schemeClr val="dk1"/>
                    </a:solidFill>
                    <a:latin typeface="Avenir"/>
                    <a:ea typeface="Avenir"/>
                    <a:cs typeface="Avenir"/>
                    <a:sym typeface="Avenir"/>
                  </a:rPr>
                  <a:t>Expenses</a:t>
                </a:r>
                <a:endParaRPr b="1" sz="2800">
                  <a:solidFill>
                    <a:schemeClr val="dk1"/>
                  </a:solidFill>
                  <a:latin typeface="Avenir"/>
                  <a:ea typeface="Avenir"/>
                  <a:cs typeface="Avenir"/>
                  <a:sym typeface="Avenir"/>
                </a:endParaRPr>
              </a:p>
            </p:txBody>
          </p:sp>
          <p:cxnSp>
            <p:nvCxnSpPr>
              <p:cNvPr id="1991" name="Google Shape;1991;p64"/>
              <p:cNvCxnSpPr>
                <a:stCxn id="1985" idx="2"/>
              </p:cNvCxnSpPr>
              <p:nvPr/>
            </p:nvCxnSpPr>
            <p:spPr>
              <a:xfrm>
                <a:off x="7013902" y="4399872"/>
                <a:ext cx="7500" cy="434700"/>
              </a:xfrm>
              <a:prstGeom prst="straightConnector1">
                <a:avLst/>
              </a:prstGeom>
              <a:noFill/>
              <a:ln cap="flat" cmpd="sng" w="76200">
                <a:solidFill>
                  <a:srgbClr val="942093"/>
                </a:solidFill>
                <a:prstDash val="solid"/>
                <a:miter lim="800000"/>
                <a:headEnd len="sm" w="sm" type="none"/>
                <a:tailEnd len="sm" w="sm" type="none"/>
              </a:ln>
            </p:spPr>
          </p:cxnSp>
        </p:grpSp>
        <p:sp>
          <p:nvSpPr>
            <p:cNvPr id="1992" name="Google Shape;1992;p64"/>
            <p:cNvSpPr txBox="1"/>
            <p:nvPr/>
          </p:nvSpPr>
          <p:spPr>
            <a:xfrm>
              <a:off x="492858" y="773769"/>
              <a:ext cx="5544457" cy="3542737"/>
            </a:xfrm>
            <a:prstGeom prst="rect">
              <a:avLst/>
            </a:prstGeom>
            <a:solidFill>
              <a:srgbClr val="E1EFD8"/>
            </a:solid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None/>
              </a:pPr>
              <a:r>
                <a:rPr b="1" lang="en-US" sz="2800">
                  <a:solidFill>
                    <a:srgbClr val="E1EFD8"/>
                  </a:solidFill>
                  <a:latin typeface="Avenir"/>
                  <a:ea typeface="Avenir"/>
                  <a:cs typeface="Avenir"/>
                  <a:sym typeface="Avenir"/>
                </a:rPr>
                <a:t>_</a:t>
              </a:r>
              <a:r>
                <a:rPr b="1" lang="en-US" sz="2000">
                  <a:solidFill>
                    <a:schemeClr val="dk1"/>
                  </a:solidFill>
                  <a:latin typeface="Avenir"/>
                  <a:ea typeface="Avenir"/>
                  <a:cs typeface="Avenir"/>
                  <a:sym typeface="Avenir"/>
                </a:rPr>
                <a:t>Assets</a:t>
              </a:r>
              <a:endParaRPr b="1" sz="2800">
                <a:solidFill>
                  <a:schemeClr val="dk1"/>
                </a:solidFill>
                <a:latin typeface="Avenir"/>
                <a:ea typeface="Avenir"/>
                <a:cs typeface="Avenir"/>
                <a:sym typeface="Avenir"/>
              </a:endParaRPr>
            </a:p>
          </p:txBody>
        </p:sp>
      </p:grpSp>
      <p:grpSp>
        <p:nvGrpSpPr>
          <p:cNvPr id="1993" name="Google Shape;1993;p64"/>
          <p:cNvGrpSpPr/>
          <p:nvPr/>
        </p:nvGrpSpPr>
        <p:grpSpPr>
          <a:xfrm>
            <a:off x="4248000" y="2850495"/>
            <a:ext cx="1620000" cy="1116000"/>
            <a:chOff x="3810000" y="2381250"/>
            <a:chExt cx="1390650" cy="1230631"/>
          </a:xfrm>
        </p:grpSpPr>
        <p:sp>
          <p:nvSpPr>
            <p:cNvPr id="1994" name="Google Shape;1994;p64"/>
            <p:cNvSpPr/>
            <p:nvPr/>
          </p:nvSpPr>
          <p:spPr>
            <a:xfrm flipH="1">
              <a:off x="4505325" y="2381250"/>
              <a:ext cx="695325" cy="1230631"/>
            </a:xfrm>
            <a:prstGeom prst="corner">
              <a:avLst>
                <a:gd fmla="val 7073" name="adj1"/>
                <a:gd fmla="val 694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1995" name="Google Shape;1995;p64"/>
            <p:cNvSpPr/>
            <p:nvPr/>
          </p:nvSpPr>
          <p:spPr>
            <a:xfrm>
              <a:off x="3810000" y="2381250"/>
              <a:ext cx="695325" cy="1230631"/>
            </a:xfrm>
            <a:prstGeom prst="corner">
              <a:avLst>
                <a:gd fmla="val 7073" name="adj1"/>
                <a:gd fmla="val 694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1996" name="Google Shape;1996;p64"/>
          <p:cNvGrpSpPr/>
          <p:nvPr/>
        </p:nvGrpSpPr>
        <p:grpSpPr>
          <a:xfrm>
            <a:off x="2458800" y="2246586"/>
            <a:ext cx="1620000" cy="1710000"/>
            <a:chOff x="671549" y="1402787"/>
            <a:chExt cx="1620000" cy="2549293"/>
          </a:xfrm>
        </p:grpSpPr>
        <p:sp>
          <p:nvSpPr>
            <p:cNvPr id="1997" name="Google Shape;1997;p64"/>
            <p:cNvSpPr/>
            <p:nvPr/>
          </p:nvSpPr>
          <p:spPr>
            <a:xfrm flipH="1">
              <a:off x="1481549" y="1402787"/>
              <a:ext cx="810000" cy="2549293"/>
            </a:xfrm>
            <a:prstGeom prst="corner">
              <a:avLst>
                <a:gd fmla="val 6497" name="adj1"/>
                <a:gd fmla="val 694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1800">
                <a:solidFill>
                  <a:schemeClr val="lt1"/>
                </a:solidFill>
                <a:latin typeface="Avenir"/>
                <a:ea typeface="Avenir"/>
                <a:cs typeface="Avenir"/>
                <a:sym typeface="Avenir"/>
              </a:endParaRPr>
            </a:p>
          </p:txBody>
        </p:sp>
        <p:sp>
          <p:nvSpPr>
            <p:cNvPr id="1998" name="Google Shape;1998;p64"/>
            <p:cNvSpPr/>
            <p:nvPr/>
          </p:nvSpPr>
          <p:spPr>
            <a:xfrm>
              <a:off x="671549" y="1402787"/>
              <a:ext cx="810000" cy="2549293"/>
            </a:xfrm>
            <a:prstGeom prst="corner">
              <a:avLst>
                <a:gd fmla="val 6497" name="adj1"/>
                <a:gd fmla="val 7336"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1800">
                <a:solidFill>
                  <a:schemeClr val="lt1"/>
                </a:solidFill>
                <a:latin typeface="Avenir"/>
                <a:ea typeface="Avenir"/>
                <a:cs typeface="Avenir"/>
                <a:sym typeface="Avenir"/>
              </a:endParaRPr>
            </a:p>
          </p:txBody>
        </p:sp>
      </p:grpSp>
      <p:grpSp>
        <p:nvGrpSpPr>
          <p:cNvPr id="1999" name="Google Shape;1999;p64"/>
          <p:cNvGrpSpPr/>
          <p:nvPr/>
        </p:nvGrpSpPr>
        <p:grpSpPr>
          <a:xfrm>
            <a:off x="673200" y="3340800"/>
            <a:ext cx="1620000" cy="613673"/>
            <a:chOff x="3810000" y="2381250"/>
            <a:chExt cx="1390650" cy="1230631"/>
          </a:xfrm>
        </p:grpSpPr>
        <p:sp>
          <p:nvSpPr>
            <p:cNvPr id="2000" name="Google Shape;2000;p64"/>
            <p:cNvSpPr/>
            <p:nvPr/>
          </p:nvSpPr>
          <p:spPr>
            <a:xfrm flipH="1">
              <a:off x="4505325"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2001" name="Google Shape;2001;p64"/>
            <p:cNvSpPr/>
            <p:nvPr/>
          </p:nvSpPr>
          <p:spPr>
            <a:xfrm>
              <a:off x="3810000"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sp>
        <p:nvSpPr>
          <p:cNvPr id="2002" name="Google Shape;2002;p64"/>
          <p:cNvSpPr txBox="1"/>
          <p:nvPr/>
        </p:nvSpPr>
        <p:spPr>
          <a:xfrm>
            <a:off x="2551146" y="3924000"/>
            <a:ext cx="1393331"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Cash at bank</a:t>
            </a:r>
            <a:endParaRPr/>
          </a:p>
        </p:txBody>
      </p:sp>
      <p:sp>
        <p:nvSpPr>
          <p:cNvPr id="2003" name="Google Shape;2003;p64"/>
          <p:cNvSpPr txBox="1"/>
          <p:nvPr/>
        </p:nvSpPr>
        <p:spPr>
          <a:xfrm>
            <a:off x="4292494" y="3924000"/>
            <a:ext cx="1531779"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Inventory</a:t>
            </a:r>
            <a:endParaRPr/>
          </a:p>
        </p:txBody>
      </p:sp>
      <p:sp>
        <p:nvSpPr>
          <p:cNvPr id="2004" name="Google Shape;2004;p64"/>
          <p:cNvSpPr txBox="1"/>
          <p:nvPr/>
        </p:nvSpPr>
        <p:spPr>
          <a:xfrm>
            <a:off x="661400" y="3924000"/>
            <a:ext cx="1647322"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Equipment</a:t>
            </a:r>
            <a:endParaRPr/>
          </a:p>
        </p:txBody>
      </p:sp>
      <p:sp>
        <p:nvSpPr>
          <p:cNvPr id="2005" name="Google Shape;2005;p64"/>
          <p:cNvSpPr txBox="1"/>
          <p:nvPr/>
        </p:nvSpPr>
        <p:spPr>
          <a:xfrm>
            <a:off x="2596439" y="5339671"/>
            <a:ext cx="1590567"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Cleaning</a:t>
            </a:r>
            <a:endParaRPr/>
          </a:p>
        </p:txBody>
      </p:sp>
      <p:sp>
        <p:nvSpPr>
          <p:cNvPr id="2006" name="Google Shape;2006;p64"/>
          <p:cNvSpPr txBox="1"/>
          <p:nvPr/>
        </p:nvSpPr>
        <p:spPr>
          <a:xfrm>
            <a:off x="4306077" y="6192000"/>
            <a:ext cx="1606417"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Cost of sales</a:t>
            </a:r>
            <a:endParaRPr/>
          </a:p>
        </p:txBody>
      </p:sp>
      <p:sp>
        <p:nvSpPr>
          <p:cNvPr id="2007" name="Google Shape;2007;p64"/>
          <p:cNvSpPr txBox="1"/>
          <p:nvPr/>
        </p:nvSpPr>
        <p:spPr>
          <a:xfrm>
            <a:off x="6295758" y="6192000"/>
            <a:ext cx="1842786"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Revenue (sales)</a:t>
            </a:r>
            <a:endParaRPr/>
          </a:p>
        </p:txBody>
      </p:sp>
      <p:sp>
        <p:nvSpPr>
          <p:cNvPr id="2008" name="Google Shape;2008;p64"/>
          <p:cNvSpPr txBox="1"/>
          <p:nvPr/>
        </p:nvSpPr>
        <p:spPr>
          <a:xfrm>
            <a:off x="10028967" y="2029411"/>
            <a:ext cx="1593685"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Bank loan</a:t>
            </a:r>
            <a:endParaRPr/>
          </a:p>
        </p:txBody>
      </p:sp>
      <p:sp>
        <p:nvSpPr>
          <p:cNvPr id="2009" name="Google Shape;2009;p64"/>
          <p:cNvSpPr txBox="1"/>
          <p:nvPr/>
        </p:nvSpPr>
        <p:spPr>
          <a:xfrm>
            <a:off x="3184560" y="3614709"/>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30,000</a:t>
            </a:r>
            <a:endParaRPr/>
          </a:p>
        </p:txBody>
      </p:sp>
      <p:sp>
        <p:nvSpPr>
          <p:cNvPr id="2010" name="Google Shape;2010;p64"/>
          <p:cNvSpPr txBox="1"/>
          <p:nvPr/>
        </p:nvSpPr>
        <p:spPr>
          <a:xfrm>
            <a:off x="3184560" y="3344709"/>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20,000</a:t>
            </a:r>
            <a:endParaRPr/>
          </a:p>
        </p:txBody>
      </p:sp>
      <p:sp>
        <p:nvSpPr>
          <p:cNvPr id="2011" name="Google Shape;2011;p64"/>
          <p:cNvSpPr txBox="1"/>
          <p:nvPr/>
        </p:nvSpPr>
        <p:spPr>
          <a:xfrm>
            <a:off x="3298373" y="3074709"/>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5,000</a:t>
            </a:r>
            <a:endParaRPr/>
          </a:p>
        </p:txBody>
      </p:sp>
      <p:sp>
        <p:nvSpPr>
          <p:cNvPr id="2012" name="Google Shape;2012;p64"/>
          <p:cNvSpPr txBox="1"/>
          <p:nvPr/>
        </p:nvSpPr>
        <p:spPr>
          <a:xfrm>
            <a:off x="3469894" y="2534709"/>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700</a:t>
            </a:r>
            <a:endParaRPr/>
          </a:p>
        </p:txBody>
      </p:sp>
      <p:sp>
        <p:nvSpPr>
          <p:cNvPr id="2013" name="Google Shape;2013;p64"/>
          <p:cNvSpPr txBox="1"/>
          <p:nvPr/>
        </p:nvSpPr>
        <p:spPr>
          <a:xfrm>
            <a:off x="3583708" y="2264709"/>
            <a:ext cx="412292"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50</a:t>
            </a:r>
            <a:endParaRPr/>
          </a:p>
        </p:txBody>
      </p:sp>
      <p:sp>
        <p:nvSpPr>
          <p:cNvPr id="2014" name="Google Shape;2014;p64"/>
          <p:cNvSpPr txBox="1"/>
          <p:nvPr/>
        </p:nvSpPr>
        <p:spPr>
          <a:xfrm>
            <a:off x="3713366" y="5031445"/>
            <a:ext cx="412292"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50</a:t>
            </a:r>
            <a:endParaRPr/>
          </a:p>
        </p:txBody>
      </p:sp>
      <p:sp>
        <p:nvSpPr>
          <p:cNvPr id="2015" name="Google Shape;2015;p64"/>
          <p:cNvSpPr txBox="1"/>
          <p:nvPr/>
        </p:nvSpPr>
        <p:spPr>
          <a:xfrm>
            <a:off x="3184560" y="2804709"/>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10,000</a:t>
            </a:r>
            <a:endParaRPr/>
          </a:p>
        </p:txBody>
      </p:sp>
      <p:sp>
        <p:nvSpPr>
          <p:cNvPr id="2016" name="Google Shape;2016;p64"/>
          <p:cNvSpPr txBox="1"/>
          <p:nvPr/>
        </p:nvSpPr>
        <p:spPr>
          <a:xfrm>
            <a:off x="10026434" y="3924000"/>
            <a:ext cx="1757569"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contributed capital</a:t>
            </a:r>
            <a:endParaRPr/>
          </a:p>
        </p:txBody>
      </p:sp>
      <p:sp>
        <p:nvSpPr>
          <p:cNvPr id="2017" name="Google Shape;2017;p64"/>
          <p:cNvSpPr/>
          <p:nvPr/>
        </p:nvSpPr>
        <p:spPr>
          <a:xfrm>
            <a:off x="3011371" y="23367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018" name="Google Shape;2018;p64"/>
          <p:cNvSpPr/>
          <p:nvPr/>
        </p:nvSpPr>
        <p:spPr>
          <a:xfrm rot="10800000">
            <a:off x="3011371" y="258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019" name="Google Shape;2019;p64"/>
          <p:cNvSpPr/>
          <p:nvPr/>
        </p:nvSpPr>
        <p:spPr>
          <a:xfrm>
            <a:off x="3011371" y="28767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020" name="Google Shape;2020;p64"/>
          <p:cNvSpPr/>
          <p:nvPr/>
        </p:nvSpPr>
        <p:spPr>
          <a:xfrm>
            <a:off x="3011371" y="31467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021" name="Google Shape;2021;p64"/>
          <p:cNvSpPr/>
          <p:nvPr/>
        </p:nvSpPr>
        <p:spPr>
          <a:xfrm rot="10800000">
            <a:off x="3011371" y="339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022" name="Google Shape;2022;p64"/>
          <p:cNvSpPr/>
          <p:nvPr/>
        </p:nvSpPr>
        <p:spPr>
          <a:xfrm rot="10800000">
            <a:off x="3011371" y="366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023" name="Google Shape;2023;p64"/>
          <p:cNvSpPr txBox="1"/>
          <p:nvPr/>
        </p:nvSpPr>
        <p:spPr>
          <a:xfrm>
            <a:off x="10785455" y="1718255"/>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30,000</a:t>
            </a:r>
            <a:endParaRPr/>
          </a:p>
        </p:txBody>
      </p:sp>
      <p:sp>
        <p:nvSpPr>
          <p:cNvPr id="2024" name="Google Shape;2024;p64"/>
          <p:cNvSpPr/>
          <p:nvPr/>
        </p:nvSpPr>
        <p:spPr>
          <a:xfrm rot="10800000">
            <a:off x="10548000" y="1757882"/>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2025" name="Google Shape;2025;p64"/>
          <p:cNvSpPr txBox="1"/>
          <p:nvPr/>
        </p:nvSpPr>
        <p:spPr>
          <a:xfrm>
            <a:off x="10776926" y="3605780"/>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20,000</a:t>
            </a:r>
            <a:endParaRPr/>
          </a:p>
        </p:txBody>
      </p:sp>
      <p:sp>
        <p:nvSpPr>
          <p:cNvPr id="2026" name="Google Shape;2026;p64"/>
          <p:cNvSpPr txBox="1"/>
          <p:nvPr/>
        </p:nvSpPr>
        <p:spPr>
          <a:xfrm>
            <a:off x="10732895" y="1448255"/>
            <a:ext cx="86400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5,000</a:t>
            </a:r>
            <a:endParaRPr/>
          </a:p>
        </p:txBody>
      </p:sp>
      <p:sp>
        <p:nvSpPr>
          <p:cNvPr id="2027" name="Google Shape;2027;p64"/>
          <p:cNvSpPr/>
          <p:nvPr/>
        </p:nvSpPr>
        <p:spPr>
          <a:xfrm>
            <a:off x="10548000" y="1505882"/>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548135"/>
              </a:solidFill>
              <a:latin typeface="Calibri"/>
              <a:ea typeface="Calibri"/>
              <a:cs typeface="Calibri"/>
              <a:sym typeface="Calibri"/>
            </a:endParaRPr>
          </a:p>
        </p:txBody>
      </p:sp>
      <p:sp>
        <p:nvSpPr>
          <p:cNvPr id="2028" name="Google Shape;2028;p64"/>
          <p:cNvSpPr txBox="1"/>
          <p:nvPr/>
        </p:nvSpPr>
        <p:spPr>
          <a:xfrm>
            <a:off x="4984560" y="3610092"/>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10,000</a:t>
            </a:r>
            <a:endParaRPr/>
          </a:p>
        </p:txBody>
      </p:sp>
      <p:sp>
        <p:nvSpPr>
          <p:cNvPr id="2029" name="Google Shape;2029;p64"/>
          <p:cNvSpPr txBox="1"/>
          <p:nvPr/>
        </p:nvSpPr>
        <p:spPr>
          <a:xfrm>
            <a:off x="7429894" y="5905082"/>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700</a:t>
            </a:r>
            <a:endParaRPr/>
          </a:p>
        </p:txBody>
      </p:sp>
      <p:sp>
        <p:nvSpPr>
          <p:cNvPr id="2030" name="Google Shape;2030;p64"/>
          <p:cNvSpPr/>
          <p:nvPr/>
        </p:nvSpPr>
        <p:spPr>
          <a:xfrm rot="10800000">
            <a:off x="6984000" y="5943076"/>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2031" name="Google Shape;2031;p64"/>
          <p:cNvSpPr/>
          <p:nvPr/>
        </p:nvSpPr>
        <p:spPr>
          <a:xfrm rot="10800000">
            <a:off x="3096000" y="5082325"/>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032" name="Google Shape;2032;p64"/>
          <p:cNvSpPr txBox="1"/>
          <p:nvPr/>
        </p:nvSpPr>
        <p:spPr>
          <a:xfrm>
            <a:off x="7315968" y="1713373"/>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6,000</a:t>
            </a:r>
            <a:endParaRPr/>
          </a:p>
        </p:txBody>
      </p:sp>
      <p:sp>
        <p:nvSpPr>
          <p:cNvPr id="2033" name="Google Shape;2033;p64"/>
          <p:cNvSpPr/>
          <p:nvPr/>
        </p:nvSpPr>
        <p:spPr>
          <a:xfrm rot="10800000">
            <a:off x="6984000" y="1749046"/>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2034" name="Google Shape;2034;p64"/>
          <p:cNvSpPr txBox="1"/>
          <p:nvPr/>
        </p:nvSpPr>
        <p:spPr>
          <a:xfrm>
            <a:off x="1501235" y="3588336"/>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6,000</a:t>
            </a:r>
            <a:endParaRPr/>
          </a:p>
        </p:txBody>
      </p:sp>
      <p:sp>
        <p:nvSpPr>
          <p:cNvPr id="2035" name="Google Shape;2035;p64"/>
          <p:cNvSpPr/>
          <p:nvPr/>
        </p:nvSpPr>
        <p:spPr>
          <a:xfrm rot="10800000">
            <a:off x="1249425" y="3637660"/>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036" name="Google Shape;2036;p64"/>
          <p:cNvSpPr txBox="1"/>
          <p:nvPr/>
        </p:nvSpPr>
        <p:spPr>
          <a:xfrm>
            <a:off x="5269894" y="3365080"/>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300</a:t>
            </a:r>
            <a:endParaRPr/>
          </a:p>
        </p:txBody>
      </p:sp>
      <p:sp>
        <p:nvSpPr>
          <p:cNvPr id="2037" name="Google Shape;2037;p64"/>
          <p:cNvSpPr/>
          <p:nvPr/>
        </p:nvSpPr>
        <p:spPr>
          <a:xfrm>
            <a:off x="4824000" y="3429341"/>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038" name="Google Shape;2038;p64"/>
          <p:cNvSpPr/>
          <p:nvPr/>
        </p:nvSpPr>
        <p:spPr>
          <a:xfrm rot="10800000">
            <a:off x="4824000" y="3662508"/>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039" name="Google Shape;2039;p64"/>
          <p:cNvSpPr txBox="1"/>
          <p:nvPr/>
        </p:nvSpPr>
        <p:spPr>
          <a:xfrm>
            <a:off x="5305894" y="5893862"/>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300</a:t>
            </a:r>
            <a:endParaRPr/>
          </a:p>
        </p:txBody>
      </p:sp>
      <p:sp>
        <p:nvSpPr>
          <p:cNvPr id="2040" name="Google Shape;2040;p64"/>
          <p:cNvSpPr/>
          <p:nvPr/>
        </p:nvSpPr>
        <p:spPr>
          <a:xfrm rot="10800000">
            <a:off x="4860000" y="5944742"/>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041" name="Google Shape;2041;p64"/>
          <p:cNvSpPr txBox="1"/>
          <p:nvPr/>
        </p:nvSpPr>
        <p:spPr>
          <a:xfrm>
            <a:off x="7429894" y="5645244"/>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600</a:t>
            </a:r>
            <a:endParaRPr/>
          </a:p>
        </p:txBody>
      </p:sp>
      <p:sp>
        <p:nvSpPr>
          <p:cNvPr id="2042" name="Google Shape;2042;p64"/>
          <p:cNvSpPr/>
          <p:nvPr/>
        </p:nvSpPr>
        <p:spPr>
          <a:xfrm rot="10800000">
            <a:off x="6984000" y="5695376"/>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2043" name="Google Shape;2043;p64"/>
          <p:cNvSpPr txBox="1"/>
          <p:nvPr/>
        </p:nvSpPr>
        <p:spPr>
          <a:xfrm>
            <a:off x="5269894" y="1222069"/>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600</a:t>
            </a:r>
            <a:endParaRPr/>
          </a:p>
        </p:txBody>
      </p:sp>
      <p:sp>
        <p:nvSpPr>
          <p:cNvPr id="2044" name="Google Shape;2044;p64"/>
          <p:cNvSpPr/>
          <p:nvPr/>
        </p:nvSpPr>
        <p:spPr>
          <a:xfrm rot="10800000">
            <a:off x="4824771" y="1263348"/>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045" name="Google Shape;2045;p64"/>
          <p:cNvSpPr txBox="1"/>
          <p:nvPr/>
        </p:nvSpPr>
        <p:spPr>
          <a:xfrm>
            <a:off x="5269894" y="3118060"/>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300</a:t>
            </a:r>
            <a:endParaRPr/>
          </a:p>
        </p:txBody>
      </p:sp>
      <p:sp>
        <p:nvSpPr>
          <p:cNvPr id="2046" name="Google Shape;2046;p64"/>
          <p:cNvSpPr/>
          <p:nvPr/>
        </p:nvSpPr>
        <p:spPr>
          <a:xfrm>
            <a:off x="4824000" y="3182321"/>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047" name="Google Shape;2047;p64"/>
          <p:cNvSpPr txBox="1"/>
          <p:nvPr/>
        </p:nvSpPr>
        <p:spPr>
          <a:xfrm>
            <a:off x="5305894" y="5646024"/>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300</a:t>
            </a:r>
            <a:endParaRPr/>
          </a:p>
        </p:txBody>
      </p:sp>
      <p:sp>
        <p:nvSpPr>
          <p:cNvPr id="2048" name="Google Shape;2048;p64"/>
          <p:cNvSpPr/>
          <p:nvPr/>
        </p:nvSpPr>
        <p:spPr>
          <a:xfrm rot="10800000">
            <a:off x="4860000" y="5696904"/>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2049" name="Google Shape;2049;p64"/>
          <p:cNvGrpSpPr/>
          <p:nvPr/>
        </p:nvGrpSpPr>
        <p:grpSpPr>
          <a:xfrm>
            <a:off x="2568712" y="2307277"/>
            <a:ext cx="247184" cy="223916"/>
            <a:chOff x="797287" y="3715227"/>
            <a:chExt cx="256611" cy="232456"/>
          </a:xfrm>
        </p:grpSpPr>
        <p:sp>
          <p:nvSpPr>
            <p:cNvPr id="2050" name="Google Shape;2050;p64"/>
            <p:cNvSpPr/>
            <p:nvPr/>
          </p:nvSpPr>
          <p:spPr>
            <a:xfrm>
              <a:off x="810780" y="3715227"/>
              <a:ext cx="224238" cy="224238"/>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051" name="Google Shape;2051;p64"/>
            <p:cNvSpPr/>
            <p:nvPr/>
          </p:nvSpPr>
          <p:spPr>
            <a:xfrm>
              <a:off x="797287" y="3724022"/>
              <a:ext cx="256611" cy="223661"/>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7</a:t>
              </a:r>
              <a:endParaRPr/>
            </a:p>
          </p:txBody>
        </p:sp>
      </p:grpSp>
      <p:grpSp>
        <p:nvGrpSpPr>
          <p:cNvPr id="2052" name="Google Shape;2052;p64"/>
          <p:cNvGrpSpPr/>
          <p:nvPr/>
        </p:nvGrpSpPr>
        <p:grpSpPr>
          <a:xfrm>
            <a:off x="2530414" y="2567405"/>
            <a:ext cx="300083" cy="223917"/>
            <a:chOff x="761592" y="3715226"/>
            <a:chExt cx="311527" cy="232457"/>
          </a:xfrm>
        </p:grpSpPr>
        <p:sp>
          <p:nvSpPr>
            <p:cNvPr id="2053" name="Google Shape;2053;p64"/>
            <p:cNvSpPr/>
            <p:nvPr/>
          </p:nvSpPr>
          <p:spPr>
            <a:xfrm>
              <a:off x="810780" y="3715226"/>
              <a:ext cx="224238" cy="224238"/>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054" name="Google Shape;2054;p64"/>
            <p:cNvSpPr/>
            <p:nvPr/>
          </p:nvSpPr>
          <p:spPr>
            <a:xfrm>
              <a:off x="761592" y="3724022"/>
              <a:ext cx="311527" cy="223661"/>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6a</a:t>
              </a:r>
              <a:endParaRPr/>
            </a:p>
          </p:txBody>
        </p:sp>
      </p:grpSp>
      <p:grpSp>
        <p:nvGrpSpPr>
          <p:cNvPr id="2055" name="Google Shape;2055;p64"/>
          <p:cNvGrpSpPr/>
          <p:nvPr/>
        </p:nvGrpSpPr>
        <p:grpSpPr>
          <a:xfrm>
            <a:off x="2574025" y="2841900"/>
            <a:ext cx="245580" cy="224238"/>
            <a:chOff x="802803" y="3715228"/>
            <a:chExt cx="245580" cy="224238"/>
          </a:xfrm>
        </p:grpSpPr>
        <p:sp>
          <p:nvSpPr>
            <p:cNvPr id="2056" name="Google Shape;2056;p64"/>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057" name="Google Shape;2057;p64"/>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5</a:t>
              </a:r>
              <a:endParaRPr/>
            </a:p>
          </p:txBody>
        </p:sp>
      </p:grpSp>
      <p:grpSp>
        <p:nvGrpSpPr>
          <p:cNvPr id="2058" name="Google Shape;2058;p64"/>
          <p:cNvGrpSpPr/>
          <p:nvPr/>
        </p:nvGrpSpPr>
        <p:grpSpPr>
          <a:xfrm>
            <a:off x="2574025" y="3121887"/>
            <a:ext cx="245580" cy="224238"/>
            <a:chOff x="802803" y="3715228"/>
            <a:chExt cx="245580" cy="224238"/>
          </a:xfrm>
        </p:grpSpPr>
        <p:sp>
          <p:nvSpPr>
            <p:cNvPr id="2059" name="Google Shape;2059;p64"/>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060" name="Google Shape;2060;p64"/>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3</a:t>
              </a:r>
              <a:endParaRPr/>
            </a:p>
          </p:txBody>
        </p:sp>
      </p:grpSp>
      <p:grpSp>
        <p:nvGrpSpPr>
          <p:cNvPr id="2061" name="Google Shape;2061;p64"/>
          <p:cNvGrpSpPr/>
          <p:nvPr/>
        </p:nvGrpSpPr>
        <p:grpSpPr>
          <a:xfrm>
            <a:off x="2574025" y="3385828"/>
            <a:ext cx="245580" cy="224238"/>
            <a:chOff x="802803" y="3715228"/>
            <a:chExt cx="245580" cy="224238"/>
          </a:xfrm>
        </p:grpSpPr>
        <p:sp>
          <p:nvSpPr>
            <p:cNvPr id="2062" name="Google Shape;2062;p64"/>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063" name="Google Shape;2063;p64"/>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2</a:t>
              </a:r>
              <a:endParaRPr/>
            </a:p>
          </p:txBody>
        </p:sp>
      </p:grpSp>
      <p:grpSp>
        <p:nvGrpSpPr>
          <p:cNvPr id="2064" name="Google Shape;2064;p64"/>
          <p:cNvGrpSpPr/>
          <p:nvPr/>
        </p:nvGrpSpPr>
        <p:grpSpPr>
          <a:xfrm>
            <a:off x="2574025" y="3649299"/>
            <a:ext cx="245580" cy="224238"/>
            <a:chOff x="802803" y="3715228"/>
            <a:chExt cx="245580" cy="224238"/>
          </a:xfrm>
        </p:grpSpPr>
        <p:sp>
          <p:nvSpPr>
            <p:cNvPr id="2065" name="Google Shape;2065;p64"/>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066" name="Google Shape;2066;p64"/>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a:t>
              </a:r>
              <a:endParaRPr/>
            </a:p>
          </p:txBody>
        </p:sp>
      </p:grpSp>
      <p:grpSp>
        <p:nvGrpSpPr>
          <p:cNvPr id="2067" name="Google Shape;2067;p64"/>
          <p:cNvGrpSpPr/>
          <p:nvPr/>
        </p:nvGrpSpPr>
        <p:grpSpPr>
          <a:xfrm>
            <a:off x="10117559" y="1755851"/>
            <a:ext cx="245580" cy="224238"/>
            <a:chOff x="802803" y="3715228"/>
            <a:chExt cx="245580" cy="224238"/>
          </a:xfrm>
        </p:grpSpPr>
        <p:sp>
          <p:nvSpPr>
            <p:cNvPr id="2068" name="Google Shape;2068;p64"/>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069" name="Google Shape;2069;p64"/>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a:t>
              </a:r>
              <a:endParaRPr/>
            </a:p>
          </p:txBody>
        </p:sp>
      </p:grpSp>
      <p:grpSp>
        <p:nvGrpSpPr>
          <p:cNvPr id="2070" name="Google Shape;2070;p64"/>
          <p:cNvGrpSpPr/>
          <p:nvPr/>
        </p:nvGrpSpPr>
        <p:grpSpPr>
          <a:xfrm>
            <a:off x="10116000" y="3650400"/>
            <a:ext cx="245580" cy="224238"/>
            <a:chOff x="802803" y="3715228"/>
            <a:chExt cx="245580" cy="224238"/>
          </a:xfrm>
        </p:grpSpPr>
        <p:sp>
          <p:nvSpPr>
            <p:cNvPr id="2071" name="Google Shape;2071;p64"/>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072" name="Google Shape;2072;p64"/>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2</a:t>
              </a:r>
              <a:endParaRPr/>
            </a:p>
          </p:txBody>
        </p:sp>
      </p:grpSp>
      <p:grpSp>
        <p:nvGrpSpPr>
          <p:cNvPr id="2073" name="Google Shape;2073;p64"/>
          <p:cNvGrpSpPr/>
          <p:nvPr/>
        </p:nvGrpSpPr>
        <p:grpSpPr>
          <a:xfrm>
            <a:off x="10117837" y="1489299"/>
            <a:ext cx="245580" cy="224238"/>
            <a:chOff x="802803" y="3715228"/>
            <a:chExt cx="245580" cy="224238"/>
          </a:xfrm>
        </p:grpSpPr>
        <p:sp>
          <p:nvSpPr>
            <p:cNvPr id="2074" name="Google Shape;2074;p64"/>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075" name="Google Shape;2075;p64"/>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3</a:t>
              </a:r>
              <a:endParaRPr/>
            </a:p>
          </p:txBody>
        </p:sp>
      </p:grpSp>
      <p:grpSp>
        <p:nvGrpSpPr>
          <p:cNvPr id="2076" name="Google Shape;2076;p64"/>
          <p:cNvGrpSpPr/>
          <p:nvPr/>
        </p:nvGrpSpPr>
        <p:grpSpPr>
          <a:xfrm>
            <a:off x="6553087" y="1741845"/>
            <a:ext cx="245580" cy="224238"/>
            <a:chOff x="802803" y="3715228"/>
            <a:chExt cx="245580" cy="224238"/>
          </a:xfrm>
        </p:grpSpPr>
        <p:sp>
          <p:nvSpPr>
            <p:cNvPr id="2077" name="Google Shape;2077;p64"/>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078" name="Google Shape;2078;p64"/>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4</a:t>
              </a:r>
              <a:endParaRPr/>
            </a:p>
          </p:txBody>
        </p:sp>
      </p:grpSp>
      <p:grpSp>
        <p:nvGrpSpPr>
          <p:cNvPr id="2079" name="Google Shape;2079;p64"/>
          <p:cNvGrpSpPr/>
          <p:nvPr/>
        </p:nvGrpSpPr>
        <p:grpSpPr>
          <a:xfrm>
            <a:off x="784605" y="3629276"/>
            <a:ext cx="245580" cy="224238"/>
            <a:chOff x="802803" y="3715228"/>
            <a:chExt cx="245580" cy="224238"/>
          </a:xfrm>
        </p:grpSpPr>
        <p:sp>
          <p:nvSpPr>
            <p:cNvPr id="2080" name="Google Shape;2080;p64"/>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081" name="Google Shape;2081;p64"/>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4</a:t>
              </a:r>
              <a:endParaRPr/>
            </a:p>
          </p:txBody>
        </p:sp>
      </p:grpSp>
      <p:grpSp>
        <p:nvGrpSpPr>
          <p:cNvPr id="2082" name="Google Shape;2082;p64"/>
          <p:cNvGrpSpPr/>
          <p:nvPr/>
        </p:nvGrpSpPr>
        <p:grpSpPr>
          <a:xfrm>
            <a:off x="4359077" y="3641899"/>
            <a:ext cx="245580" cy="224238"/>
            <a:chOff x="802803" y="3715228"/>
            <a:chExt cx="245580" cy="224238"/>
          </a:xfrm>
        </p:grpSpPr>
        <p:sp>
          <p:nvSpPr>
            <p:cNvPr id="2083" name="Google Shape;2083;p64"/>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084" name="Google Shape;2084;p64"/>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5</a:t>
              </a:r>
              <a:endParaRPr/>
            </a:p>
          </p:txBody>
        </p:sp>
      </p:grpSp>
      <p:grpSp>
        <p:nvGrpSpPr>
          <p:cNvPr id="2085" name="Google Shape;2085;p64"/>
          <p:cNvGrpSpPr/>
          <p:nvPr/>
        </p:nvGrpSpPr>
        <p:grpSpPr>
          <a:xfrm>
            <a:off x="6484980" y="5931080"/>
            <a:ext cx="300082" cy="224238"/>
            <a:chOff x="775552" y="3715228"/>
            <a:chExt cx="300082" cy="224238"/>
          </a:xfrm>
        </p:grpSpPr>
        <p:sp>
          <p:nvSpPr>
            <p:cNvPr id="2086" name="Google Shape;2086;p64"/>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087" name="Google Shape;2087;p64"/>
            <p:cNvSpPr/>
            <p:nvPr/>
          </p:nvSpPr>
          <p:spPr>
            <a:xfrm>
              <a:off x="775552" y="3724022"/>
              <a:ext cx="300082"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6a</a:t>
              </a:r>
              <a:endParaRPr/>
            </a:p>
          </p:txBody>
        </p:sp>
      </p:grpSp>
      <p:grpSp>
        <p:nvGrpSpPr>
          <p:cNvPr id="2088" name="Google Shape;2088;p64"/>
          <p:cNvGrpSpPr/>
          <p:nvPr/>
        </p:nvGrpSpPr>
        <p:grpSpPr>
          <a:xfrm>
            <a:off x="4325561" y="3388584"/>
            <a:ext cx="309700" cy="224238"/>
            <a:chOff x="770743" y="3715228"/>
            <a:chExt cx="309700" cy="224238"/>
          </a:xfrm>
        </p:grpSpPr>
        <p:sp>
          <p:nvSpPr>
            <p:cNvPr id="2089" name="Google Shape;2089;p64"/>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090" name="Google Shape;2090;p64"/>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6b</a:t>
              </a:r>
              <a:endParaRPr/>
            </a:p>
          </p:txBody>
        </p:sp>
      </p:grpSp>
      <p:grpSp>
        <p:nvGrpSpPr>
          <p:cNvPr id="2091" name="Google Shape;2091;p64"/>
          <p:cNvGrpSpPr/>
          <p:nvPr/>
        </p:nvGrpSpPr>
        <p:grpSpPr>
          <a:xfrm>
            <a:off x="4372912" y="5940000"/>
            <a:ext cx="309700" cy="224238"/>
            <a:chOff x="770743" y="3715228"/>
            <a:chExt cx="309700" cy="224238"/>
          </a:xfrm>
        </p:grpSpPr>
        <p:sp>
          <p:nvSpPr>
            <p:cNvPr id="2092" name="Google Shape;2092;p64"/>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093" name="Google Shape;2093;p64"/>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6b</a:t>
              </a:r>
              <a:endParaRPr/>
            </a:p>
          </p:txBody>
        </p:sp>
      </p:grpSp>
      <p:grpSp>
        <p:nvGrpSpPr>
          <p:cNvPr id="2094" name="Google Shape;2094;p64"/>
          <p:cNvGrpSpPr/>
          <p:nvPr/>
        </p:nvGrpSpPr>
        <p:grpSpPr>
          <a:xfrm>
            <a:off x="4330045" y="3136880"/>
            <a:ext cx="309700" cy="224238"/>
            <a:chOff x="770743" y="3715228"/>
            <a:chExt cx="309700" cy="224238"/>
          </a:xfrm>
        </p:grpSpPr>
        <p:sp>
          <p:nvSpPr>
            <p:cNvPr id="2095" name="Google Shape;2095;p64"/>
            <p:cNvSpPr/>
            <p:nvPr/>
          </p:nvSpPr>
          <p:spPr>
            <a:xfrm>
              <a:off x="810781" y="3715228"/>
              <a:ext cx="216000" cy="216000"/>
            </a:xfrm>
            <a:prstGeom prst="ellipse">
              <a:avLst/>
            </a:prstGeom>
            <a:solidFill>
              <a:srgbClr val="FFFF00"/>
            </a:solidFill>
            <a:ln cap="flat" cmpd="sng" w="1270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096" name="Google Shape;2096;p64"/>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8b</a:t>
              </a:r>
              <a:endParaRPr/>
            </a:p>
          </p:txBody>
        </p:sp>
      </p:grpSp>
      <p:grpSp>
        <p:nvGrpSpPr>
          <p:cNvPr id="2097" name="Google Shape;2097;p64"/>
          <p:cNvGrpSpPr/>
          <p:nvPr/>
        </p:nvGrpSpPr>
        <p:grpSpPr>
          <a:xfrm>
            <a:off x="4377396" y="5681195"/>
            <a:ext cx="309700" cy="224238"/>
            <a:chOff x="770743" y="3715228"/>
            <a:chExt cx="309700" cy="224238"/>
          </a:xfrm>
        </p:grpSpPr>
        <p:sp>
          <p:nvSpPr>
            <p:cNvPr id="2098" name="Google Shape;2098;p64"/>
            <p:cNvSpPr/>
            <p:nvPr/>
          </p:nvSpPr>
          <p:spPr>
            <a:xfrm>
              <a:off x="810781" y="3715228"/>
              <a:ext cx="216000" cy="216000"/>
            </a:xfrm>
            <a:prstGeom prst="ellipse">
              <a:avLst/>
            </a:prstGeom>
            <a:solidFill>
              <a:srgbClr val="FFFF00"/>
            </a:solidFill>
            <a:ln cap="flat" cmpd="sng" w="1270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099" name="Google Shape;2099;p64"/>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8b</a:t>
              </a:r>
              <a:endParaRPr/>
            </a:p>
          </p:txBody>
        </p:sp>
      </p:grpSp>
      <p:grpSp>
        <p:nvGrpSpPr>
          <p:cNvPr id="2100" name="Google Shape;2100;p64"/>
          <p:cNvGrpSpPr/>
          <p:nvPr/>
        </p:nvGrpSpPr>
        <p:grpSpPr>
          <a:xfrm>
            <a:off x="6484980" y="5676798"/>
            <a:ext cx="300082" cy="224238"/>
            <a:chOff x="775552" y="3715228"/>
            <a:chExt cx="300082" cy="224238"/>
          </a:xfrm>
        </p:grpSpPr>
        <p:sp>
          <p:nvSpPr>
            <p:cNvPr id="2101" name="Google Shape;2101;p64"/>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102" name="Google Shape;2102;p64"/>
            <p:cNvSpPr/>
            <p:nvPr/>
          </p:nvSpPr>
          <p:spPr>
            <a:xfrm>
              <a:off x="775552" y="3724022"/>
              <a:ext cx="300082"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8a</a:t>
              </a:r>
              <a:endParaRPr/>
            </a:p>
          </p:txBody>
        </p:sp>
      </p:grpSp>
      <p:grpSp>
        <p:nvGrpSpPr>
          <p:cNvPr id="2103" name="Google Shape;2103;p64"/>
          <p:cNvGrpSpPr/>
          <p:nvPr/>
        </p:nvGrpSpPr>
        <p:grpSpPr>
          <a:xfrm>
            <a:off x="2681463" y="5057611"/>
            <a:ext cx="245580" cy="224238"/>
            <a:chOff x="802803" y="3715228"/>
            <a:chExt cx="245580" cy="224238"/>
          </a:xfrm>
        </p:grpSpPr>
        <p:sp>
          <p:nvSpPr>
            <p:cNvPr id="2104" name="Google Shape;2104;p64"/>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105" name="Google Shape;2105;p64"/>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7</a:t>
              </a:r>
              <a:endParaRPr/>
            </a:p>
          </p:txBody>
        </p:sp>
      </p:grpSp>
      <p:grpSp>
        <p:nvGrpSpPr>
          <p:cNvPr id="2106" name="Google Shape;2106;p64"/>
          <p:cNvGrpSpPr/>
          <p:nvPr/>
        </p:nvGrpSpPr>
        <p:grpSpPr>
          <a:xfrm>
            <a:off x="4322372" y="1240114"/>
            <a:ext cx="300082" cy="224238"/>
            <a:chOff x="775552" y="3715228"/>
            <a:chExt cx="300082" cy="224238"/>
          </a:xfrm>
        </p:grpSpPr>
        <p:sp>
          <p:nvSpPr>
            <p:cNvPr id="2107" name="Google Shape;2107;p64"/>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108" name="Google Shape;2108;p64"/>
            <p:cNvSpPr/>
            <p:nvPr/>
          </p:nvSpPr>
          <p:spPr>
            <a:xfrm>
              <a:off x="775552" y="3724022"/>
              <a:ext cx="300082"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8a</a:t>
              </a:r>
              <a:endParaRPr/>
            </a:p>
          </p:txBody>
        </p:sp>
      </p:grpSp>
      <p:sp>
        <p:nvSpPr>
          <p:cNvPr id="2109" name="Google Shape;2109;p64"/>
          <p:cNvSpPr txBox="1"/>
          <p:nvPr/>
        </p:nvSpPr>
        <p:spPr>
          <a:xfrm>
            <a:off x="4033926" y="1538024"/>
            <a:ext cx="2015578"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Accounts receivable</a:t>
            </a:r>
            <a:endParaRPr/>
          </a:p>
        </p:txBody>
      </p:sp>
      <p:sp>
        <p:nvSpPr>
          <p:cNvPr id="2110" name="Google Shape;2110;p64"/>
          <p:cNvSpPr txBox="1"/>
          <p:nvPr/>
        </p:nvSpPr>
        <p:spPr>
          <a:xfrm>
            <a:off x="6252890" y="2028286"/>
            <a:ext cx="1987133"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Accounts payable</a:t>
            </a:r>
            <a:endParaRPr/>
          </a:p>
        </p:txBody>
      </p:sp>
      <p:sp>
        <p:nvSpPr>
          <p:cNvPr id="2111" name="Google Shape;2111;p64"/>
          <p:cNvSpPr txBox="1"/>
          <p:nvPr/>
        </p:nvSpPr>
        <p:spPr>
          <a:xfrm>
            <a:off x="9504213" y="373659"/>
            <a:ext cx="2279791" cy="40011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000">
                <a:solidFill>
                  <a:schemeClr val="accent2"/>
                </a:solidFill>
                <a:latin typeface="Avenir"/>
                <a:ea typeface="Avenir"/>
                <a:cs typeface="Avenir"/>
                <a:sym typeface="Avenir"/>
              </a:rPr>
              <a:t>Sources of funds</a:t>
            </a:r>
            <a:endParaRPr/>
          </a:p>
        </p:txBody>
      </p:sp>
      <p:sp>
        <p:nvSpPr>
          <p:cNvPr id="2112" name="Google Shape;2112;p64"/>
          <p:cNvSpPr txBox="1"/>
          <p:nvPr/>
        </p:nvSpPr>
        <p:spPr>
          <a:xfrm>
            <a:off x="492858" y="373659"/>
            <a:ext cx="1880643" cy="40011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000">
                <a:solidFill>
                  <a:schemeClr val="accent6"/>
                </a:solidFill>
                <a:latin typeface="Avenir"/>
                <a:ea typeface="Avenir"/>
                <a:cs typeface="Avenir"/>
                <a:sym typeface="Avenir"/>
              </a:rPr>
              <a:t>Uses of funds</a:t>
            </a:r>
            <a:endParaRPr/>
          </a:p>
        </p:txBody>
      </p:sp>
      <p:grpSp>
        <p:nvGrpSpPr>
          <p:cNvPr id="2113" name="Google Shape;2113;p64"/>
          <p:cNvGrpSpPr/>
          <p:nvPr/>
        </p:nvGrpSpPr>
        <p:grpSpPr>
          <a:xfrm>
            <a:off x="4247500" y="957969"/>
            <a:ext cx="1620000" cy="613673"/>
            <a:chOff x="3810000" y="2381250"/>
            <a:chExt cx="1390650" cy="1230631"/>
          </a:xfrm>
        </p:grpSpPr>
        <p:sp>
          <p:nvSpPr>
            <p:cNvPr id="2114" name="Google Shape;2114;p64"/>
            <p:cNvSpPr/>
            <p:nvPr/>
          </p:nvSpPr>
          <p:spPr>
            <a:xfrm flipH="1">
              <a:off x="4505325"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2115" name="Google Shape;2115;p64"/>
            <p:cNvSpPr/>
            <p:nvPr/>
          </p:nvSpPr>
          <p:spPr>
            <a:xfrm>
              <a:off x="3810000"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2116" name="Google Shape;2116;p64"/>
          <p:cNvGrpSpPr/>
          <p:nvPr/>
        </p:nvGrpSpPr>
        <p:grpSpPr>
          <a:xfrm>
            <a:off x="2556000" y="4767598"/>
            <a:ext cx="1620000" cy="613673"/>
            <a:chOff x="3810000" y="2381250"/>
            <a:chExt cx="1390650" cy="1230631"/>
          </a:xfrm>
        </p:grpSpPr>
        <p:sp>
          <p:nvSpPr>
            <p:cNvPr id="2117" name="Google Shape;2117;p64"/>
            <p:cNvSpPr/>
            <p:nvPr/>
          </p:nvSpPr>
          <p:spPr>
            <a:xfrm flipH="1">
              <a:off x="4505325" y="2381250"/>
              <a:ext cx="695325" cy="1230631"/>
            </a:xfrm>
            <a:prstGeom prst="corner">
              <a:avLst>
                <a:gd fmla="val 9300"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2118" name="Google Shape;2118;p64"/>
            <p:cNvSpPr/>
            <p:nvPr/>
          </p:nvSpPr>
          <p:spPr>
            <a:xfrm>
              <a:off x="3810000" y="2381250"/>
              <a:ext cx="695325" cy="1230631"/>
            </a:xfrm>
            <a:prstGeom prst="corner">
              <a:avLst>
                <a:gd fmla="val 9300"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2119" name="Google Shape;2119;p64"/>
          <p:cNvGrpSpPr/>
          <p:nvPr/>
        </p:nvGrpSpPr>
        <p:grpSpPr>
          <a:xfrm>
            <a:off x="4292494" y="5448381"/>
            <a:ext cx="1620000" cy="796276"/>
            <a:chOff x="3810000" y="2015069"/>
            <a:chExt cx="1390650" cy="1596814"/>
          </a:xfrm>
        </p:grpSpPr>
        <p:sp>
          <p:nvSpPr>
            <p:cNvPr id="2120" name="Google Shape;2120;p64"/>
            <p:cNvSpPr/>
            <p:nvPr/>
          </p:nvSpPr>
          <p:spPr>
            <a:xfrm flipH="1">
              <a:off x="4505325" y="2015073"/>
              <a:ext cx="695325" cy="1596810"/>
            </a:xfrm>
            <a:prstGeom prst="corner">
              <a:avLst>
                <a:gd fmla="val 7267" name="adj1"/>
                <a:gd fmla="val 7888"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2121" name="Google Shape;2121;p64"/>
            <p:cNvSpPr/>
            <p:nvPr/>
          </p:nvSpPr>
          <p:spPr>
            <a:xfrm>
              <a:off x="3810000" y="2015069"/>
              <a:ext cx="695325" cy="1596812"/>
            </a:xfrm>
            <a:prstGeom prst="corner">
              <a:avLst>
                <a:gd fmla="val 7268" name="adj1"/>
                <a:gd fmla="val 7888"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2122" name="Google Shape;2122;p64"/>
          <p:cNvGrpSpPr/>
          <p:nvPr/>
        </p:nvGrpSpPr>
        <p:grpSpPr>
          <a:xfrm>
            <a:off x="6382456" y="5448381"/>
            <a:ext cx="1620000" cy="796276"/>
            <a:chOff x="3810000" y="2015069"/>
            <a:chExt cx="1390650" cy="1596814"/>
          </a:xfrm>
        </p:grpSpPr>
        <p:sp>
          <p:nvSpPr>
            <p:cNvPr id="2123" name="Google Shape;2123;p64"/>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2124" name="Google Shape;2124;p64"/>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2125" name="Google Shape;2125;p64"/>
          <p:cNvGrpSpPr/>
          <p:nvPr/>
        </p:nvGrpSpPr>
        <p:grpSpPr>
          <a:xfrm>
            <a:off x="9983452" y="3159099"/>
            <a:ext cx="1620000" cy="796276"/>
            <a:chOff x="3810000" y="2015069"/>
            <a:chExt cx="1390650" cy="1596814"/>
          </a:xfrm>
        </p:grpSpPr>
        <p:sp>
          <p:nvSpPr>
            <p:cNvPr id="2126" name="Google Shape;2126;p64"/>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2127" name="Google Shape;2127;p64"/>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2128" name="Google Shape;2128;p64"/>
          <p:cNvGrpSpPr/>
          <p:nvPr/>
        </p:nvGrpSpPr>
        <p:grpSpPr>
          <a:xfrm>
            <a:off x="10006085" y="1263488"/>
            <a:ext cx="1620000" cy="796276"/>
            <a:chOff x="3810000" y="2015069"/>
            <a:chExt cx="1390650" cy="1596814"/>
          </a:xfrm>
        </p:grpSpPr>
        <p:sp>
          <p:nvSpPr>
            <p:cNvPr id="2129" name="Google Shape;2129;p64"/>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2130" name="Google Shape;2130;p64"/>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2131" name="Google Shape;2131;p64"/>
          <p:cNvGrpSpPr/>
          <p:nvPr/>
        </p:nvGrpSpPr>
        <p:grpSpPr>
          <a:xfrm>
            <a:off x="6428511" y="1266563"/>
            <a:ext cx="1620000" cy="796276"/>
            <a:chOff x="3810000" y="2015069"/>
            <a:chExt cx="1390650" cy="1596814"/>
          </a:xfrm>
        </p:grpSpPr>
        <p:sp>
          <p:nvSpPr>
            <p:cNvPr id="2132" name="Google Shape;2132;p64"/>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2133" name="Google Shape;2133;p64"/>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sp>
        <p:nvSpPr>
          <p:cNvPr id="2134" name="Google Shape;2134;p64"/>
          <p:cNvSpPr/>
          <p:nvPr/>
        </p:nvSpPr>
        <p:spPr>
          <a:xfrm rot="10800000">
            <a:off x="10548000" y="3653367"/>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2135" name="Google Shape;2135;p64"/>
          <p:cNvSpPr/>
          <p:nvPr/>
        </p:nvSpPr>
        <p:spPr>
          <a:xfrm>
            <a:off x="843550" y="1396091"/>
            <a:ext cx="10744019" cy="1312708"/>
          </a:xfrm>
          <a:prstGeom prst="rect">
            <a:avLst/>
          </a:prstGeom>
          <a:solidFill>
            <a:srgbClr val="F2F2F2">
              <a:alpha val="86666"/>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2136" name="Google Shape;2136;p64"/>
          <p:cNvGrpSpPr/>
          <p:nvPr/>
        </p:nvGrpSpPr>
        <p:grpSpPr>
          <a:xfrm>
            <a:off x="1050108" y="1669443"/>
            <a:ext cx="10188967" cy="756004"/>
            <a:chOff x="926134" y="1719856"/>
            <a:chExt cx="9204181" cy="750147"/>
          </a:xfrm>
        </p:grpSpPr>
        <p:sp>
          <p:nvSpPr>
            <p:cNvPr id="2137" name="Google Shape;2137;p64"/>
            <p:cNvSpPr txBox="1"/>
            <p:nvPr/>
          </p:nvSpPr>
          <p:spPr>
            <a:xfrm>
              <a:off x="1641585" y="1719860"/>
              <a:ext cx="5447935"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139700" marR="0" rtl="0" algn="l">
                <a:spcBef>
                  <a:spcPts val="0"/>
                </a:spcBef>
                <a:spcAft>
                  <a:spcPts val="0"/>
                </a:spcAft>
                <a:buNone/>
              </a:pPr>
              <a:r>
                <a:rPr lang="en-US" sz="2000">
                  <a:solidFill>
                    <a:schemeClr val="dk1"/>
                  </a:solidFill>
                  <a:latin typeface="Calibri"/>
                  <a:ea typeface="Calibri"/>
                  <a:cs typeface="Calibri"/>
                  <a:sym typeface="Calibri"/>
                </a:rPr>
                <a:t>고객 B에게 판매하면서 일부 재고를 사용함.</a:t>
              </a:r>
              <a:endParaRPr sz="2000">
                <a:solidFill>
                  <a:schemeClr val="dk1"/>
                </a:solidFill>
                <a:latin typeface="Avenir"/>
                <a:ea typeface="Avenir"/>
                <a:cs typeface="Avenir"/>
                <a:sym typeface="Avenir"/>
              </a:endParaRPr>
            </a:p>
          </p:txBody>
        </p:sp>
        <p:sp>
          <p:nvSpPr>
            <p:cNvPr id="2138" name="Google Shape;2138;p64"/>
            <p:cNvSpPr txBox="1"/>
            <p:nvPr/>
          </p:nvSpPr>
          <p:spPr>
            <a:xfrm>
              <a:off x="7089520" y="1719858"/>
              <a:ext cx="1520398" cy="745310"/>
            </a:xfrm>
            <a:prstGeom prst="rect">
              <a:avLst/>
            </a:prstGeom>
            <a:solidFill>
              <a:srgbClr val="E1EFD8"/>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Cost of sales</a:t>
              </a: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300</a:t>
              </a:r>
              <a:endParaRPr/>
            </a:p>
          </p:txBody>
        </p:sp>
        <p:sp>
          <p:nvSpPr>
            <p:cNvPr id="2139" name="Google Shape;2139;p64"/>
            <p:cNvSpPr txBox="1"/>
            <p:nvPr/>
          </p:nvSpPr>
          <p:spPr>
            <a:xfrm>
              <a:off x="8609917" y="1719858"/>
              <a:ext cx="1520398" cy="745310"/>
            </a:xfrm>
            <a:prstGeom prst="rect">
              <a:avLst/>
            </a:prstGeom>
            <a:solidFill>
              <a:srgbClr val="FBE4D4"/>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Inventory</a:t>
              </a:r>
              <a:endParaRPr b="1" sz="1600">
                <a:solidFill>
                  <a:srgbClr val="BFBFBF"/>
                </a:solidFill>
                <a:latin typeface="Avenir"/>
                <a:ea typeface="Avenir"/>
                <a:cs typeface="Avenir"/>
                <a:sym typeface="Aveni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300</a:t>
              </a:r>
              <a:endParaRPr/>
            </a:p>
          </p:txBody>
        </p:sp>
        <p:sp>
          <p:nvSpPr>
            <p:cNvPr id="2140" name="Google Shape;2140;p64"/>
            <p:cNvSpPr txBox="1"/>
            <p:nvPr/>
          </p:nvSpPr>
          <p:spPr>
            <a:xfrm>
              <a:off x="926134" y="1719856"/>
              <a:ext cx="715451"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8b</a:t>
              </a:r>
              <a:endParaRPr/>
            </a:p>
          </p:txBody>
        </p:sp>
      </p:grpSp>
      <p:sp>
        <p:nvSpPr>
          <p:cNvPr id="2141" name="Google Shape;2141;p64"/>
          <p:cNvSpPr/>
          <p:nvPr/>
        </p:nvSpPr>
        <p:spPr>
          <a:xfrm rot="10800000">
            <a:off x="153289" y="4549188"/>
            <a:ext cx="950259" cy="1037381"/>
          </a:xfrm>
          <a:prstGeom prst="downArrow">
            <a:avLst>
              <a:gd fmla="val 50000" name="adj1"/>
              <a:gd fmla="val 50000" name="adj2"/>
            </a:avLst>
          </a:prstGeom>
          <a:solidFill>
            <a:schemeClr val="accent6">
              <a:alpha val="77647"/>
            </a:schemeClr>
          </a:solidFill>
          <a:ln>
            <a:noFill/>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142" name="Google Shape;2142;p64"/>
          <p:cNvSpPr/>
          <p:nvPr/>
        </p:nvSpPr>
        <p:spPr>
          <a:xfrm>
            <a:off x="152838" y="842384"/>
            <a:ext cx="950259" cy="1037381"/>
          </a:xfrm>
          <a:prstGeom prst="downArrow">
            <a:avLst>
              <a:gd fmla="val 50000" name="adj1"/>
              <a:gd fmla="val 50000" name="adj2"/>
            </a:avLst>
          </a:prstGeom>
          <a:solidFill>
            <a:schemeClr val="accent2">
              <a:alpha val="77647"/>
            </a:schemeClr>
          </a:solidFill>
          <a:ln>
            <a:noFill/>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143" name="Google Shape;2143;p64"/>
          <p:cNvSpPr txBox="1"/>
          <p:nvPr/>
        </p:nvSpPr>
        <p:spPr>
          <a:xfrm>
            <a:off x="6403129" y="3419412"/>
            <a:ext cx="1548343" cy="566133"/>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650</a:t>
            </a:r>
            <a:endParaRPr sz="2400">
              <a:solidFill>
                <a:schemeClr val="dk1"/>
              </a:solidFill>
              <a:latin typeface="Calibri"/>
              <a:ea typeface="Calibri"/>
              <a:cs typeface="Calibri"/>
              <a:sym typeface="Calibri"/>
            </a:endParaRPr>
          </a:p>
        </p:txBody>
      </p:sp>
      <p:sp>
        <p:nvSpPr>
          <p:cNvPr id="2144" name="Google Shape;2144;p64"/>
          <p:cNvSpPr txBox="1"/>
          <p:nvPr/>
        </p:nvSpPr>
        <p:spPr>
          <a:xfrm>
            <a:off x="6403129" y="3419412"/>
            <a:ext cx="1548343" cy="566133"/>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950</a:t>
            </a:r>
            <a:endParaRPr sz="2400">
              <a:solidFill>
                <a:schemeClr val="dk1"/>
              </a:solidFill>
              <a:latin typeface="Calibri"/>
              <a:ea typeface="Calibri"/>
              <a:cs typeface="Calibri"/>
              <a:sym typeface="Calibri"/>
            </a:endParaRPr>
          </a:p>
        </p:txBody>
      </p:sp>
      <p:sp>
        <p:nvSpPr>
          <p:cNvPr id="2145" name="Google Shape;2145;p64"/>
          <p:cNvSpPr txBox="1"/>
          <p:nvPr/>
        </p:nvSpPr>
        <p:spPr>
          <a:xfrm>
            <a:off x="7879596" y="1668508"/>
            <a:ext cx="1683070" cy="756000"/>
          </a:xfrm>
          <a:prstGeom prst="rect">
            <a:avLst/>
          </a:prstGeom>
          <a:solidFill>
            <a:srgbClr val="548135"/>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300</a:t>
            </a:r>
            <a:endParaRPr/>
          </a:p>
        </p:txBody>
      </p:sp>
      <p:sp>
        <p:nvSpPr>
          <p:cNvPr id="2146" name="Google Shape;2146;p64"/>
          <p:cNvSpPr txBox="1"/>
          <p:nvPr/>
        </p:nvSpPr>
        <p:spPr>
          <a:xfrm>
            <a:off x="9562666" y="1672621"/>
            <a:ext cx="1683070" cy="756000"/>
          </a:xfrm>
          <a:prstGeom prst="rect">
            <a:avLst/>
          </a:prstGeom>
          <a:solidFill>
            <a:schemeClr val="accent2"/>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300</a:t>
            </a:r>
            <a:endParaRPr/>
          </a:p>
        </p:txBody>
      </p:sp>
    </p:spTree>
  </p:cSld>
  <p:clrMapOvr>
    <a:masterClrMapping/>
  </p:clrMapOvr>
  <mc:AlternateContent>
    <mc:Choice Requires="p14">
      <p:transition spd="slow" p14:dur="700">
        <p:fade/>
      </p:transition>
    </mc:Choice>
    <mc:Fallback>
      <p:transition spd="slow">
        <p:fade/>
      </p:transition>
    </mc:Fallback>
  </mc:AlternateContent>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afterEffect" presetClass="exit" presetID="10" presetSubtype="0">
                                  <p:stCondLst>
                                    <p:cond delay="0"/>
                                  </p:stCondLst>
                                  <p:childTnLst>
                                    <p:animEffect filter="fade" transition="out">
                                      <p:cBhvr>
                                        <p:cTn dur="1000"/>
                                        <p:tgtEl>
                                          <p:spTgt spid="2146"/>
                                        </p:tgtEl>
                                      </p:cBhvr>
                                    </p:animEffect>
                                    <p:set>
                                      <p:cBhvr>
                                        <p:cTn dur="1" fill="hold">
                                          <p:stCondLst>
                                            <p:cond delay="1000"/>
                                          </p:stCondLst>
                                        </p:cTn>
                                        <p:tgtEl>
                                          <p:spTgt spid="2146"/>
                                        </p:tgtEl>
                                        <p:attrNameLst>
                                          <p:attrName>style.visibility</p:attrName>
                                        </p:attrNameLst>
                                      </p:cBhvr>
                                      <p:to>
                                        <p:strVal val="hidden"/>
                                      </p:to>
                                    </p:set>
                                  </p:childTnLst>
                                </p:cTn>
                              </p:par>
                              <p:par>
                                <p:cTn fill="hold" nodeType="withEffect" presetClass="entr" presetID="10" presetSubtype="0">
                                  <p:stCondLst>
                                    <p:cond delay="0"/>
                                  </p:stCondLst>
                                  <p:childTnLst>
                                    <p:set>
                                      <p:cBhvr>
                                        <p:cTn dur="1" fill="hold">
                                          <p:stCondLst>
                                            <p:cond delay="0"/>
                                          </p:stCondLst>
                                        </p:cTn>
                                        <p:tgtEl>
                                          <p:spTgt spid="2094"/>
                                        </p:tgtEl>
                                        <p:attrNameLst>
                                          <p:attrName>style.visibility</p:attrName>
                                        </p:attrNameLst>
                                      </p:cBhvr>
                                      <p:to>
                                        <p:strVal val="visible"/>
                                      </p:to>
                                    </p:set>
                                    <p:animEffect filter="fade" transition="in">
                                      <p:cBhvr>
                                        <p:cTn dur="1000"/>
                                        <p:tgtEl>
                                          <p:spTgt spid="2094"/>
                                        </p:tgtEl>
                                      </p:cBhvr>
                                    </p:animEffect>
                                  </p:childTnLst>
                                </p:cTn>
                              </p:par>
                              <p:par>
                                <p:cTn fill="hold" nodeType="withEffect" presetClass="entr" presetID="10" presetSubtype="0">
                                  <p:stCondLst>
                                    <p:cond delay="0"/>
                                  </p:stCondLst>
                                  <p:childTnLst>
                                    <p:set>
                                      <p:cBhvr>
                                        <p:cTn dur="1" fill="hold">
                                          <p:stCondLst>
                                            <p:cond delay="0"/>
                                          </p:stCondLst>
                                        </p:cTn>
                                        <p:tgtEl>
                                          <p:spTgt spid="2046"/>
                                        </p:tgtEl>
                                        <p:attrNameLst>
                                          <p:attrName>style.visibility</p:attrName>
                                        </p:attrNameLst>
                                      </p:cBhvr>
                                      <p:to>
                                        <p:strVal val="visible"/>
                                      </p:to>
                                    </p:set>
                                    <p:animEffect filter="fade" transition="in">
                                      <p:cBhvr>
                                        <p:cTn dur="1000"/>
                                        <p:tgtEl>
                                          <p:spTgt spid="2046"/>
                                        </p:tgtEl>
                                      </p:cBhvr>
                                    </p:animEffect>
                                  </p:childTnLst>
                                </p:cTn>
                              </p:par>
                              <p:par>
                                <p:cTn fill="hold" nodeType="withEffect" presetClass="entr" presetID="10" presetSubtype="0">
                                  <p:stCondLst>
                                    <p:cond delay="0"/>
                                  </p:stCondLst>
                                  <p:childTnLst>
                                    <p:set>
                                      <p:cBhvr>
                                        <p:cTn dur="1" fill="hold">
                                          <p:stCondLst>
                                            <p:cond delay="0"/>
                                          </p:stCondLst>
                                        </p:cTn>
                                        <p:tgtEl>
                                          <p:spTgt spid="2045"/>
                                        </p:tgtEl>
                                        <p:attrNameLst>
                                          <p:attrName>style.visibility</p:attrName>
                                        </p:attrNameLst>
                                      </p:cBhvr>
                                      <p:to>
                                        <p:strVal val="visible"/>
                                      </p:to>
                                    </p:set>
                                    <p:animEffect filter="fade" transition="in">
                                      <p:cBhvr>
                                        <p:cTn dur="1000"/>
                                        <p:tgtEl>
                                          <p:spTgt spid="2045"/>
                                        </p:tgtEl>
                                      </p:cBhvr>
                                    </p:animEffect>
                                  </p:childTnLst>
                                </p:cTn>
                              </p:par>
                            </p:childTnLst>
                          </p:cTn>
                        </p:par>
                        <p:par>
                          <p:cTn fill="hold">
                            <p:stCondLst>
                              <p:cond delay="1000"/>
                            </p:stCondLst>
                            <p:childTnLst>
                              <p:par>
                                <p:cTn fill="hold" nodeType="afterEffect" presetClass="exit" presetID="10" presetSubtype="0">
                                  <p:stCondLst>
                                    <p:cond delay="0"/>
                                  </p:stCondLst>
                                  <p:childTnLst>
                                    <p:animEffect filter="fade" transition="out">
                                      <p:cBhvr>
                                        <p:cTn dur="1000"/>
                                        <p:tgtEl>
                                          <p:spTgt spid="2145"/>
                                        </p:tgtEl>
                                      </p:cBhvr>
                                    </p:animEffect>
                                    <p:set>
                                      <p:cBhvr>
                                        <p:cTn dur="1" fill="hold">
                                          <p:stCondLst>
                                            <p:cond delay="1000"/>
                                          </p:stCondLst>
                                        </p:cTn>
                                        <p:tgtEl>
                                          <p:spTgt spid="2145"/>
                                        </p:tgtEl>
                                        <p:attrNameLst>
                                          <p:attrName>style.visibility</p:attrName>
                                        </p:attrNameLst>
                                      </p:cBhvr>
                                      <p:to>
                                        <p:strVal val="hidden"/>
                                      </p:to>
                                    </p:set>
                                  </p:childTnLst>
                                </p:cTn>
                              </p:par>
                              <p:par>
                                <p:cTn fill="hold" nodeType="withEffect" presetClass="entr" presetID="10" presetSubtype="0">
                                  <p:stCondLst>
                                    <p:cond delay="0"/>
                                  </p:stCondLst>
                                  <p:childTnLst>
                                    <p:set>
                                      <p:cBhvr>
                                        <p:cTn dur="1" fill="hold">
                                          <p:stCondLst>
                                            <p:cond delay="0"/>
                                          </p:stCondLst>
                                        </p:cTn>
                                        <p:tgtEl>
                                          <p:spTgt spid="2097"/>
                                        </p:tgtEl>
                                        <p:attrNameLst>
                                          <p:attrName>style.visibility</p:attrName>
                                        </p:attrNameLst>
                                      </p:cBhvr>
                                      <p:to>
                                        <p:strVal val="visible"/>
                                      </p:to>
                                    </p:set>
                                    <p:animEffect filter="fade" transition="in">
                                      <p:cBhvr>
                                        <p:cTn dur="1000"/>
                                        <p:tgtEl>
                                          <p:spTgt spid="2097"/>
                                        </p:tgtEl>
                                      </p:cBhvr>
                                    </p:animEffect>
                                  </p:childTnLst>
                                </p:cTn>
                              </p:par>
                              <p:par>
                                <p:cTn fill="hold" nodeType="withEffect" presetClass="entr" presetID="10" presetSubtype="0">
                                  <p:stCondLst>
                                    <p:cond delay="0"/>
                                  </p:stCondLst>
                                  <p:childTnLst>
                                    <p:set>
                                      <p:cBhvr>
                                        <p:cTn dur="1" fill="hold">
                                          <p:stCondLst>
                                            <p:cond delay="0"/>
                                          </p:stCondLst>
                                        </p:cTn>
                                        <p:tgtEl>
                                          <p:spTgt spid="2048"/>
                                        </p:tgtEl>
                                        <p:attrNameLst>
                                          <p:attrName>style.visibility</p:attrName>
                                        </p:attrNameLst>
                                      </p:cBhvr>
                                      <p:to>
                                        <p:strVal val="visible"/>
                                      </p:to>
                                    </p:set>
                                    <p:animEffect filter="fade" transition="in">
                                      <p:cBhvr>
                                        <p:cTn dur="1000"/>
                                        <p:tgtEl>
                                          <p:spTgt spid="2048"/>
                                        </p:tgtEl>
                                      </p:cBhvr>
                                    </p:animEffect>
                                  </p:childTnLst>
                                </p:cTn>
                              </p:par>
                              <p:par>
                                <p:cTn fill="hold" nodeType="withEffect" presetClass="entr" presetID="10" presetSubtype="0">
                                  <p:stCondLst>
                                    <p:cond delay="0"/>
                                  </p:stCondLst>
                                  <p:childTnLst>
                                    <p:set>
                                      <p:cBhvr>
                                        <p:cTn dur="1" fill="hold">
                                          <p:stCondLst>
                                            <p:cond delay="0"/>
                                          </p:stCondLst>
                                        </p:cTn>
                                        <p:tgtEl>
                                          <p:spTgt spid="2047"/>
                                        </p:tgtEl>
                                        <p:attrNameLst>
                                          <p:attrName>style.visibility</p:attrName>
                                        </p:attrNameLst>
                                      </p:cBhvr>
                                      <p:to>
                                        <p:strVal val="visible"/>
                                      </p:to>
                                    </p:set>
                                    <p:animEffect filter="fade" transition="in">
                                      <p:cBhvr>
                                        <p:cTn dur="1000"/>
                                        <p:tgtEl>
                                          <p:spTgt spid="2047"/>
                                        </p:tgtEl>
                                      </p:cBhvr>
                                    </p:animEffect>
                                  </p:childTnLst>
                                </p:cTn>
                              </p:par>
                            </p:childTnLst>
                          </p:cTn>
                        </p:par>
                        <p:par>
                          <p:cTn fill="hold">
                            <p:stCondLst>
                              <p:cond delay="2000"/>
                            </p:stCondLst>
                            <p:childTnLst>
                              <p:par>
                                <p:cTn fill="hold" nodeType="afterEffect" presetClass="entr" presetID="10" presetSubtype="0">
                                  <p:stCondLst>
                                    <p:cond delay="0"/>
                                  </p:stCondLst>
                                  <p:childTnLst>
                                    <p:set>
                                      <p:cBhvr>
                                        <p:cTn dur="1" fill="hold">
                                          <p:stCondLst>
                                            <p:cond delay="0"/>
                                          </p:stCondLst>
                                        </p:cTn>
                                        <p:tgtEl>
                                          <p:spTgt spid="2143"/>
                                        </p:tgtEl>
                                        <p:attrNameLst>
                                          <p:attrName>style.visibility</p:attrName>
                                        </p:attrNameLst>
                                      </p:cBhvr>
                                      <p:to>
                                        <p:strVal val="visible"/>
                                      </p:to>
                                    </p:set>
                                    <p:animEffect filter="fade" transition="in">
                                      <p:cBhvr>
                                        <p:cTn dur="1000"/>
                                        <p:tgtEl>
                                          <p:spTgt spid="2143"/>
                                        </p:tgtEl>
                                      </p:cBhvr>
                                    </p:animEffect>
                                  </p:childTnLst>
                                </p:cTn>
                              </p:par>
                              <p:par>
                                <p:cTn fill="hold" nodeType="withEffect" presetClass="exit" presetID="10" presetSubtype="0">
                                  <p:stCondLst>
                                    <p:cond delay="0"/>
                                  </p:stCondLst>
                                  <p:childTnLst>
                                    <p:animEffect filter="fade" transition="out">
                                      <p:cBhvr>
                                        <p:cTn dur="500"/>
                                        <p:tgtEl>
                                          <p:spTgt spid="2144"/>
                                        </p:tgtEl>
                                      </p:cBhvr>
                                    </p:animEffect>
                                    <p:set>
                                      <p:cBhvr>
                                        <p:cTn dur="1" fill="hold">
                                          <p:stCondLst>
                                            <p:cond delay="500"/>
                                          </p:stCondLst>
                                        </p:cTn>
                                        <p:tgtEl>
                                          <p:spTgt spid="2144"/>
                                        </p:tgtEl>
                                        <p:attrNameLst>
                                          <p:attrName>style.visibility</p:attrName>
                                        </p:attrNameLst>
                                      </p:cBhvr>
                                      <p:to>
                                        <p:strVal val="hidden"/>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141"/>
                                        </p:tgtEl>
                                        <p:attrNameLst>
                                          <p:attrName>style.visibility</p:attrName>
                                        </p:attrNameLst>
                                      </p:cBhvr>
                                      <p:to>
                                        <p:strVal val="visible"/>
                                      </p:to>
                                    </p:set>
                                    <p:animEffect filter="fade" transition="in">
                                      <p:cBhvr>
                                        <p:cTn dur="1000"/>
                                        <p:tgtEl>
                                          <p:spTgt spid="2141"/>
                                        </p:tgtEl>
                                      </p:cBhvr>
                                    </p:animEffect>
                                  </p:childTnLst>
                                </p:cTn>
                              </p:par>
                              <p:par>
                                <p:cTn fill="hold" nodeType="withEffect" presetClass="entr" presetID="10" presetSubtype="0">
                                  <p:stCondLst>
                                    <p:cond delay="0"/>
                                  </p:stCondLst>
                                  <p:childTnLst>
                                    <p:set>
                                      <p:cBhvr>
                                        <p:cTn dur="1" fill="hold">
                                          <p:stCondLst>
                                            <p:cond delay="0"/>
                                          </p:stCondLst>
                                        </p:cTn>
                                        <p:tgtEl>
                                          <p:spTgt spid="2142"/>
                                        </p:tgtEl>
                                        <p:attrNameLst>
                                          <p:attrName>style.visibility</p:attrName>
                                        </p:attrNameLst>
                                      </p:cBhvr>
                                      <p:to>
                                        <p:strVal val="visible"/>
                                      </p:to>
                                    </p:set>
                                    <p:animEffect filter="fade" transition="in">
                                      <p:cBhvr>
                                        <p:cTn dur="1000"/>
                                        <p:tgtEl>
                                          <p:spTgt spid="214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51" name="Shape 2151"/>
        <p:cNvGrpSpPr/>
        <p:nvPr/>
      </p:nvGrpSpPr>
      <p:grpSpPr>
        <a:xfrm>
          <a:off x="0" y="0"/>
          <a:ext cx="0" cy="0"/>
          <a:chOff x="0" y="0"/>
          <a:chExt cx="0" cy="0"/>
        </a:xfrm>
      </p:grpSpPr>
      <p:sp>
        <p:nvSpPr>
          <p:cNvPr id="2152" name="Google Shape;2152;p65"/>
          <p:cNvSpPr txBox="1"/>
          <p:nvPr/>
        </p:nvSpPr>
        <p:spPr>
          <a:xfrm>
            <a:off x="4187006" y="284371"/>
            <a:ext cx="3629520"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grpSp>
        <p:nvGrpSpPr>
          <p:cNvPr id="2153" name="Google Shape;2153;p65"/>
          <p:cNvGrpSpPr/>
          <p:nvPr/>
        </p:nvGrpSpPr>
        <p:grpSpPr>
          <a:xfrm>
            <a:off x="1284576" y="2130924"/>
            <a:ext cx="10188969" cy="756004"/>
            <a:chOff x="926134" y="1719856"/>
            <a:chExt cx="9204181" cy="750147"/>
          </a:xfrm>
        </p:grpSpPr>
        <p:sp>
          <p:nvSpPr>
            <p:cNvPr id="2154" name="Google Shape;2154;p65"/>
            <p:cNvSpPr txBox="1"/>
            <p:nvPr/>
          </p:nvSpPr>
          <p:spPr>
            <a:xfrm>
              <a:off x="1641585" y="1719860"/>
              <a:ext cx="5447935"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139700" marR="0" rtl="0" algn="l">
                <a:spcBef>
                  <a:spcPts val="0"/>
                </a:spcBef>
                <a:spcAft>
                  <a:spcPts val="0"/>
                </a:spcAft>
                <a:buNone/>
              </a:pPr>
              <a:r>
                <a:rPr lang="en-US" sz="2000">
                  <a:solidFill>
                    <a:schemeClr val="dk1"/>
                  </a:solidFill>
                  <a:latin typeface="Calibri"/>
                  <a:ea typeface="Calibri"/>
                  <a:cs typeface="Calibri"/>
                  <a:sym typeface="Calibri"/>
                </a:rPr>
                <a:t>오늘 Ace Cleaners가 가게를 청소했으며, 14일 이내에 결제할 수 있는 청구서를 남겼습니다.</a:t>
              </a:r>
              <a:endParaRPr sz="2000">
                <a:solidFill>
                  <a:schemeClr val="dk1"/>
                </a:solidFill>
                <a:latin typeface="Avenir"/>
                <a:ea typeface="Avenir"/>
                <a:cs typeface="Avenir"/>
                <a:sym typeface="Avenir"/>
              </a:endParaRPr>
            </a:p>
          </p:txBody>
        </p:sp>
        <p:sp>
          <p:nvSpPr>
            <p:cNvPr id="2155" name="Google Shape;2155;p65"/>
            <p:cNvSpPr txBox="1"/>
            <p:nvPr/>
          </p:nvSpPr>
          <p:spPr>
            <a:xfrm>
              <a:off x="7089520" y="1719858"/>
              <a:ext cx="1520398" cy="745310"/>
            </a:xfrm>
            <a:prstGeom prst="rect">
              <a:avLst/>
            </a:prstGeom>
            <a:solidFill>
              <a:srgbClr val="E1EFD8"/>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Cleaning</a:t>
              </a: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250</a:t>
              </a:r>
              <a:endParaRPr/>
            </a:p>
          </p:txBody>
        </p:sp>
        <p:sp>
          <p:nvSpPr>
            <p:cNvPr id="2156" name="Google Shape;2156;p65"/>
            <p:cNvSpPr txBox="1"/>
            <p:nvPr/>
          </p:nvSpPr>
          <p:spPr>
            <a:xfrm>
              <a:off x="8609917" y="1719858"/>
              <a:ext cx="1520398" cy="745310"/>
            </a:xfrm>
            <a:prstGeom prst="rect">
              <a:avLst/>
            </a:prstGeom>
            <a:solidFill>
              <a:srgbClr val="FBE4D4"/>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Accounts payable</a:t>
              </a:r>
              <a:endParaRPr b="1" sz="1600">
                <a:solidFill>
                  <a:srgbClr val="BFBFBF"/>
                </a:solidFill>
                <a:latin typeface="Avenir"/>
                <a:ea typeface="Avenir"/>
                <a:cs typeface="Avenir"/>
                <a:sym typeface="Aveni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250</a:t>
              </a:r>
              <a:endParaRPr/>
            </a:p>
          </p:txBody>
        </p:sp>
        <p:sp>
          <p:nvSpPr>
            <p:cNvPr id="2157" name="Google Shape;2157;p65"/>
            <p:cNvSpPr txBox="1"/>
            <p:nvPr/>
          </p:nvSpPr>
          <p:spPr>
            <a:xfrm>
              <a:off x="926134" y="1719856"/>
              <a:ext cx="715451"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9</a:t>
              </a:r>
              <a:endParaRPr/>
            </a:p>
          </p:txBody>
        </p:sp>
      </p:grpSp>
      <p:sp>
        <p:nvSpPr>
          <p:cNvPr id="2158" name="Google Shape;2158;p65"/>
          <p:cNvSpPr txBox="1"/>
          <p:nvPr/>
        </p:nvSpPr>
        <p:spPr>
          <a:xfrm>
            <a:off x="8109273" y="2126055"/>
            <a:ext cx="1681200" cy="756000"/>
          </a:xfrm>
          <a:prstGeom prst="rect">
            <a:avLst/>
          </a:prstGeom>
          <a:solidFill>
            <a:srgbClr val="548135"/>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250</a:t>
            </a:r>
            <a:endParaRPr/>
          </a:p>
        </p:txBody>
      </p:sp>
      <p:sp>
        <p:nvSpPr>
          <p:cNvPr id="2159" name="Google Shape;2159;p65"/>
          <p:cNvSpPr txBox="1"/>
          <p:nvPr/>
        </p:nvSpPr>
        <p:spPr>
          <a:xfrm>
            <a:off x="9792343" y="2126055"/>
            <a:ext cx="1681200" cy="756000"/>
          </a:xfrm>
          <a:prstGeom prst="rect">
            <a:avLst/>
          </a:prstGeom>
          <a:solidFill>
            <a:schemeClr val="accent2"/>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250</a:t>
            </a:r>
            <a:endParaRPr/>
          </a:p>
        </p:txBody>
      </p:sp>
      <p:cxnSp>
        <p:nvCxnSpPr>
          <p:cNvPr id="2160" name="Google Shape;2160;p65"/>
          <p:cNvCxnSpPr/>
          <p:nvPr/>
        </p:nvCxnSpPr>
        <p:spPr>
          <a:xfrm>
            <a:off x="4316098" y="717845"/>
            <a:ext cx="3375212" cy="0"/>
          </a:xfrm>
          <a:prstGeom prst="straightConnector1">
            <a:avLst/>
          </a:prstGeom>
          <a:noFill/>
          <a:ln cap="flat" cmpd="sng" w="28575">
            <a:solidFill>
              <a:schemeClr val="accent1"/>
            </a:solidFill>
            <a:prstDash val="dot"/>
            <a:miter lim="800000"/>
            <a:headEnd len="sm" w="sm" type="none"/>
            <a:tailEnd len="sm" w="sm" type="none"/>
          </a:ln>
        </p:spPr>
      </p:cxnSp>
      <p:sp>
        <p:nvSpPr>
          <p:cNvPr id="2161" name="Google Shape;2161;p65"/>
          <p:cNvSpPr/>
          <p:nvPr/>
        </p:nvSpPr>
        <p:spPr>
          <a:xfrm>
            <a:off x="1284578" y="1520543"/>
            <a:ext cx="2024679" cy="42011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2130">
                <a:solidFill>
                  <a:schemeClr val="dk1"/>
                </a:solidFill>
                <a:latin typeface="Avenir"/>
                <a:ea typeface="Avenir"/>
                <a:cs typeface="Avenir"/>
                <a:sym typeface="Avenir"/>
              </a:rPr>
              <a:t>20 February</a:t>
            </a:r>
            <a:endParaRPr sz="2130">
              <a:solidFill>
                <a:schemeClr val="dk1"/>
              </a:solidFill>
              <a:latin typeface="Avenir"/>
              <a:ea typeface="Avenir"/>
              <a:cs typeface="Avenir"/>
              <a:sym typeface="Avenir"/>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6" name="Shape 2166"/>
        <p:cNvGrpSpPr/>
        <p:nvPr/>
      </p:nvGrpSpPr>
      <p:grpSpPr>
        <a:xfrm>
          <a:off x="0" y="0"/>
          <a:ext cx="0" cy="0"/>
          <a:chOff x="0" y="0"/>
          <a:chExt cx="0" cy="0"/>
        </a:xfrm>
      </p:grpSpPr>
      <p:sp>
        <p:nvSpPr>
          <p:cNvPr id="2167" name="Google Shape;2167;p66"/>
          <p:cNvSpPr txBox="1"/>
          <p:nvPr/>
        </p:nvSpPr>
        <p:spPr>
          <a:xfrm>
            <a:off x="4187006" y="133386"/>
            <a:ext cx="3629520"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cxnSp>
        <p:nvCxnSpPr>
          <p:cNvPr id="2168" name="Google Shape;2168;p66"/>
          <p:cNvCxnSpPr/>
          <p:nvPr/>
        </p:nvCxnSpPr>
        <p:spPr>
          <a:xfrm>
            <a:off x="4316098" y="566860"/>
            <a:ext cx="3375212" cy="0"/>
          </a:xfrm>
          <a:prstGeom prst="straightConnector1">
            <a:avLst/>
          </a:prstGeom>
          <a:noFill/>
          <a:ln cap="flat" cmpd="sng" w="28575">
            <a:solidFill>
              <a:schemeClr val="accent1"/>
            </a:solidFill>
            <a:prstDash val="dot"/>
            <a:miter lim="800000"/>
            <a:headEnd len="sm" w="sm" type="none"/>
            <a:tailEnd len="sm" w="sm" type="none"/>
          </a:ln>
        </p:spPr>
      </p:cxnSp>
      <p:grpSp>
        <p:nvGrpSpPr>
          <p:cNvPr id="2169" name="Google Shape;2169;p66"/>
          <p:cNvGrpSpPr/>
          <p:nvPr/>
        </p:nvGrpSpPr>
        <p:grpSpPr>
          <a:xfrm>
            <a:off x="492858" y="773769"/>
            <a:ext cx="11291146" cy="5895963"/>
            <a:chOff x="492858" y="773769"/>
            <a:chExt cx="11291146" cy="5895963"/>
          </a:xfrm>
        </p:grpSpPr>
        <p:sp>
          <p:nvSpPr>
            <p:cNvPr id="2170" name="Google Shape;2170;p66"/>
            <p:cNvSpPr txBox="1"/>
            <p:nvPr/>
          </p:nvSpPr>
          <p:spPr>
            <a:xfrm>
              <a:off x="6227788" y="2623662"/>
              <a:ext cx="5556216" cy="1692844"/>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Equity</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2171" name="Google Shape;2171;p66"/>
            <p:cNvSpPr txBox="1"/>
            <p:nvPr/>
          </p:nvSpPr>
          <p:spPr>
            <a:xfrm>
              <a:off x="6410845" y="3135649"/>
              <a:ext cx="1544844" cy="770509"/>
            </a:xfrm>
            <a:prstGeom prst="rect">
              <a:avLst/>
            </a:prstGeom>
            <a:noFill/>
            <a:ln cap="flat" cmpd="sng" w="5715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ctr">
                <a:lnSpc>
                  <a:spcPct val="120000"/>
                </a:lnSpc>
                <a:spcBef>
                  <a:spcPts val="0"/>
                </a:spcBef>
                <a:spcAft>
                  <a:spcPts val="0"/>
                </a:spcAft>
                <a:buNone/>
              </a:pPr>
              <a:r>
                <a:rPr b="1" lang="en-US" sz="2200">
                  <a:solidFill>
                    <a:srgbClr val="942093"/>
                  </a:solidFill>
                  <a:latin typeface="Avenir"/>
                  <a:ea typeface="Avenir"/>
                  <a:cs typeface="Avenir"/>
                  <a:sym typeface="Avenir"/>
                </a:rPr>
                <a:t>Profit</a:t>
              </a:r>
              <a:endParaRPr/>
            </a:p>
          </p:txBody>
        </p:sp>
        <p:sp>
          <p:nvSpPr>
            <p:cNvPr id="2172" name="Google Shape;2172;p66"/>
            <p:cNvSpPr txBox="1"/>
            <p:nvPr/>
          </p:nvSpPr>
          <p:spPr>
            <a:xfrm>
              <a:off x="6227788" y="773769"/>
              <a:ext cx="5556216" cy="1702674"/>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Liabilities</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grpSp>
          <p:nvGrpSpPr>
            <p:cNvPr id="2173" name="Google Shape;2173;p66"/>
            <p:cNvGrpSpPr/>
            <p:nvPr/>
          </p:nvGrpSpPr>
          <p:grpSpPr>
            <a:xfrm>
              <a:off x="492858" y="3906158"/>
              <a:ext cx="11291146" cy="2763574"/>
              <a:chOff x="1354633" y="4399872"/>
              <a:chExt cx="9550931" cy="2121952"/>
            </a:xfrm>
          </p:grpSpPr>
          <p:sp>
            <p:nvSpPr>
              <p:cNvPr id="2174" name="Google Shape;2174;p66"/>
              <p:cNvSpPr txBox="1"/>
              <p:nvPr/>
            </p:nvSpPr>
            <p:spPr>
              <a:xfrm>
                <a:off x="1354633" y="4813260"/>
                <a:ext cx="9550931" cy="1708564"/>
              </a:xfrm>
              <a:prstGeom prst="rect">
                <a:avLst/>
              </a:prstGeom>
              <a:solidFill>
                <a:srgbClr val="FCECFB"/>
              </a:solidFill>
              <a:ln cap="flat" cmpd="sng" w="7620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b="1" lang="en-US" sz="2800">
                    <a:solidFill>
                      <a:schemeClr val="dk1"/>
                    </a:solidFill>
                    <a:latin typeface="Avenir"/>
                    <a:ea typeface="Avenir"/>
                    <a:cs typeface="Avenir"/>
                    <a:sym typeface="Avenir"/>
                  </a:rPr>
                  <a:t> </a:t>
                </a:r>
                <a:endParaRPr/>
              </a:p>
            </p:txBody>
          </p:sp>
          <p:sp>
            <p:nvSpPr>
              <p:cNvPr id="2175" name="Google Shape;2175;p66"/>
              <p:cNvSpPr txBox="1"/>
              <p:nvPr/>
            </p:nvSpPr>
            <p:spPr>
              <a:xfrm>
                <a:off x="6199863" y="4921166"/>
                <a:ext cx="4576976" cy="1495361"/>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Income</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2176" name="Google Shape;2176;p66"/>
              <p:cNvSpPr txBox="1"/>
              <p:nvPr/>
            </p:nvSpPr>
            <p:spPr>
              <a:xfrm>
                <a:off x="1481256" y="4921166"/>
                <a:ext cx="4552539" cy="1495361"/>
              </a:xfrm>
              <a:prstGeom prst="rect">
                <a:avLst/>
              </a:prstGeom>
              <a:solidFill>
                <a:srgbClr val="E1EFD8"/>
              </a:solid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None/>
                </a:pPr>
                <a:r>
                  <a:rPr b="1" lang="en-US" sz="2800">
                    <a:solidFill>
                      <a:srgbClr val="E1EFD8"/>
                    </a:solidFill>
                    <a:latin typeface="Avenir"/>
                    <a:ea typeface="Avenir"/>
                    <a:cs typeface="Avenir"/>
                    <a:sym typeface="Avenir"/>
                  </a:rPr>
                  <a:t>_</a:t>
                </a:r>
                <a:r>
                  <a:rPr b="1" lang="en-US" sz="2000">
                    <a:solidFill>
                      <a:schemeClr val="dk1"/>
                    </a:solidFill>
                    <a:latin typeface="Avenir"/>
                    <a:ea typeface="Avenir"/>
                    <a:cs typeface="Avenir"/>
                    <a:sym typeface="Avenir"/>
                  </a:rPr>
                  <a:t>Expenses</a:t>
                </a:r>
                <a:endParaRPr b="1" sz="2800">
                  <a:solidFill>
                    <a:schemeClr val="dk1"/>
                  </a:solidFill>
                  <a:latin typeface="Avenir"/>
                  <a:ea typeface="Avenir"/>
                  <a:cs typeface="Avenir"/>
                  <a:sym typeface="Avenir"/>
                </a:endParaRPr>
              </a:p>
            </p:txBody>
          </p:sp>
          <p:cxnSp>
            <p:nvCxnSpPr>
              <p:cNvPr id="2177" name="Google Shape;2177;p66"/>
              <p:cNvCxnSpPr>
                <a:stCxn id="2171" idx="2"/>
              </p:cNvCxnSpPr>
              <p:nvPr/>
            </p:nvCxnSpPr>
            <p:spPr>
              <a:xfrm>
                <a:off x="7013902" y="4399872"/>
                <a:ext cx="7500" cy="434700"/>
              </a:xfrm>
              <a:prstGeom prst="straightConnector1">
                <a:avLst/>
              </a:prstGeom>
              <a:noFill/>
              <a:ln cap="flat" cmpd="sng" w="76200">
                <a:solidFill>
                  <a:srgbClr val="942093"/>
                </a:solidFill>
                <a:prstDash val="solid"/>
                <a:miter lim="800000"/>
                <a:headEnd len="sm" w="sm" type="none"/>
                <a:tailEnd len="sm" w="sm" type="none"/>
              </a:ln>
            </p:spPr>
          </p:cxnSp>
        </p:grpSp>
        <p:sp>
          <p:nvSpPr>
            <p:cNvPr id="2178" name="Google Shape;2178;p66"/>
            <p:cNvSpPr txBox="1"/>
            <p:nvPr/>
          </p:nvSpPr>
          <p:spPr>
            <a:xfrm>
              <a:off x="492858" y="773769"/>
              <a:ext cx="5544457" cy="3542737"/>
            </a:xfrm>
            <a:prstGeom prst="rect">
              <a:avLst/>
            </a:prstGeom>
            <a:solidFill>
              <a:srgbClr val="E1EFD8"/>
            </a:solid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None/>
              </a:pPr>
              <a:r>
                <a:rPr b="1" lang="en-US" sz="2800">
                  <a:solidFill>
                    <a:srgbClr val="E1EFD8"/>
                  </a:solidFill>
                  <a:latin typeface="Avenir"/>
                  <a:ea typeface="Avenir"/>
                  <a:cs typeface="Avenir"/>
                  <a:sym typeface="Avenir"/>
                </a:rPr>
                <a:t>_</a:t>
              </a:r>
              <a:r>
                <a:rPr b="1" lang="en-US" sz="2000">
                  <a:solidFill>
                    <a:schemeClr val="dk1"/>
                  </a:solidFill>
                  <a:latin typeface="Avenir"/>
                  <a:ea typeface="Avenir"/>
                  <a:cs typeface="Avenir"/>
                  <a:sym typeface="Avenir"/>
                </a:rPr>
                <a:t>Assets</a:t>
              </a:r>
              <a:endParaRPr b="1" sz="2800">
                <a:solidFill>
                  <a:schemeClr val="dk1"/>
                </a:solidFill>
                <a:latin typeface="Avenir"/>
                <a:ea typeface="Avenir"/>
                <a:cs typeface="Avenir"/>
                <a:sym typeface="Avenir"/>
              </a:endParaRPr>
            </a:p>
          </p:txBody>
        </p:sp>
      </p:grpSp>
      <p:grpSp>
        <p:nvGrpSpPr>
          <p:cNvPr id="2179" name="Google Shape;2179;p66"/>
          <p:cNvGrpSpPr/>
          <p:nvPr/>
        </p:nvGrpSpPr>
        <p:grpSpPr>
          <a:xfrm>
            <a:off x="4248000" y="2850495"/>
            <a:ext cx="1620000" cy="1116000"/>
            <a:chOff x="3810000" y="2381250"/>
            <a:chExt cx="1390650" cy="1230631"/>
          </a:xfrm>
        </p:grpSpPr>
        <p:sp>
          <p:nvSpPr>
            <p:cNvPr id="2180" name="Google Shape;2180;p66"/>
            <p:cNvSpPr/>
            <p:nvPr/>
          </p:nvSpPr>
          <p:spPr>
            <a:xfrm flipH="1">
              <a:off x="4505325" y="2381250"/>
              <a:ext cx="695325" cy="1230631"/>
            </a:xfrm>
            <a:prstGeom prst="corner">
              <a:avLst>
                <a:gd fmla="val 7073" name="adj1"/>
                <a:gd fmla="val 694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2181" name="Google Shape;2181;p66"/>
            <p:cNvSpPr/>
            <p:nvPr/>
          </p:nvSpPr>
          <p:spPr>
            <a:xfrm>
              <a:off x="3810000" y="2381250"/>
              <a:ext cx="695325" cy="1230631"/>
            </a:xfrm>
            <a:prstGeom prst="corner">
              <a:avLst>
                <a:gd fmla="val 7073" name="adj1"/>
                <a:gd fmla="val 694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2182" name="Google Shape;2182;p66"/>
          <p:cNvGrpSpPr/>
          <p:nvPr/>
        </p:nvGrpSpPr>
        <p:grpSpPr>
          <a:xfrm>
            <a:off x="2458800" y="2246586"/>
            <a:ext cx="1620000" cy="1712111"/>
            <a:chOff x="671549" y="1402787"/>
            <a:chExt cx="1620000" cy="2549293"/>
          </a:xfrm>
        </p:grpSpPr>
        <p:sp>
          <p:nvSpPr>
            <p:cNvPr id="2183" name="Google Shape;2183;p66"/>
            <p:cNvSpPr/>
            <p:nvPr/>
          </p:nvSpPr>
          <p:spPr>
            <a:xfrm flipH="1">
              <a:off x="1481549" y="1402787"/>
              <a:ext cx="810000" cy="2549293"/>
            </a:xfrm>
            <a:prstGeom prst="corner">
              <a:avLst>
                <a:gd fmla="val 6497" name="adj1"/>
                <a:gd fmla="val 694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1800">
                <a:solidFill>
                  <a:schemeClr val="lt1"/>
                </a:solidFill>
                <a:latin typeface="Avenir"/>
                <a:ea typeface="Avenir"/>
                <a:cs typeface="Avenir"/>
                <a:sym typeface="Avenir"/>
              </a:endParaRPr>
            </a:p>
          </p:txBody>
        </p:sp>
        <p:sp>
          <p:nvSpPr>
            <p:cNvPr id="2184" name="Google Shape;2184;p66"/>
            <p:cNvSpPr/>
            <p:nvPr/>
          </p:nvSpPr>
          <p:spPr>
            <a:xfrm>
              <a:off x="671549" y="1402787"/>
              <a:ext cx="810000" cy="2549293"/>
            </a:xfrm>
            <a:prstGeom prst="corner">
              <a:avLst>
                <a:gd fmla="val 6497" name="adj1"/>
                <a:gd fmla="val 7336"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1800">
                <a:solidFill>
                  <a:schemeClr val="lt1"/>
                </a:solidFill>
                <a:latin typeface="Avenir"/>
                <a:ea typeface="Avenir"/>
                <a:cs typeface="Avenir"/>
                <a:sym typeface="Avenir"/>
              </a:endParaRPr>
            </a:p>
          </p:txBody>
        </p:sp>
      </p:grpSp>
      <p:grpSp>
        <p:nvGrpSpPr>
          <p:cNvPr id="2185" name="Google Shape;2185;p66"/>
          <p:cNvGrpSpPr/>
          <p:nvPr/>
        </p:nvGrpSpPr>
        <p:grpSpPr>
          <a:xfrm>
            <a:off x="673200" y="3340800"/>
            <a:ext cx="1620000" cy="613673"/>
            <a:chOff x="3810000" y="2381250"/>
            <a:chExt cx="1390650" cy="1230631"/>
          </a:xfrm>
        </p:grpSpPr>
        <p:sp>
          <p:nvSpPr>
            <p:cNvPr id="2186" name="Google Shape;2186;p66"/>
            <p:cNvSpPr/>
            <p:nvPr/>
          </p:nvSpPr>
          <p:spPr>
            <a:xfrm flipH="1">
              <a:off x="4505325"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2187" name="Google Shape;2187;p66"/>
            <p:cNvSpPr/>
            <p:nvPr/>
          </p:nvSpPr>
          <p:spPr>
            <a:xfrm>
              <a:off x="3810000"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sp>
        <p:nvSpPr>
          <p:cNvPr id="2188" name="Google Shape;2188;p66"/>
          <p:cNvSpPr txBox="1"/>
          <p:nvPr/>
        </p:nvSpPr>
        <p:spPr>
          <a:xfrm>
            <a:off x="2551146" y="3924000"/>
            <a:ext cx="1393331"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Cash at bank</a:t>
            </a:r>
            <a:endParaRPr/>
          </a:p>
        </p:txBody>
      </p:sp>
      <p:sp>
        <p:nvSpPr>
          <p:cNvPr id="2189" name="Google Shape;2189;p66"/>
          <p:cNvSpPr txBox="1"/>
          <p:nvPr/>
        </p:nvSpPr>
        <p:spPr>
          <a:xfrm>
            <a:off x="4292494" y="3924000"/>
            <a:ext cx="1531779"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Inventory</a:t>
            </a:r>
            <a:endParaRPr/>
          </a:p>
        </p:txBody>
      </p:sp>
      <p:sp>
        <p:nvSpPr>
          <p:cNvPr id="2190" name="Google Shape;2190;p66"/>
          <p:cNvSpPr txBox="1"/>
          <p:nvPr/>
        </p:nvSpPr>
        <p:spPr>
          <a:xfrm>
            <a:off x="661400" y="3924000"/>
            <a:ext cx="1647322"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Equipment</a:t>
            </a:r>
            <a:endParaRPr/>
          </a:p>
        </p:txBody>
      </p:sp>
      <p:sp>
        <p:nvSpPr>
          <p:cNvPr id="2191" name="Google Shape;2191;p66"/>
          <p:cNvSpPr txBox="1"/>
          <p:nvPr/>
        </p:nvSpPr>
        <p:spPr>
          <a:xfrm>
            <a:off x="2596439" y="5339671"/>
            <a:ext cx="1590567"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Cleaning</a:t>
            </a:r>
            <a:endParaRPr/>
          </a:p>
        </p:txBody>
      </p:sp>
      <p:sp>
        <p:nvSpPr>
          <p:cNvPr id="2192" name="Google Shape;2192;p66"/>
          <p:cNvSpPr txBox="1"/>
          <p:nvPr/>
        </p:nvSpPr>
        <p:spPr>
          <a:xfrm>
            <a:off x="4306077" y="6192000"/>
            <a:ext cx="1606417"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Cost of sales</a:t>
            </a:r>
            <a:endParaRPr/>
          </a:p>
        </p:txBody>
      </p:sp>
      <p:sp>
        <p:nvSpPr>
          <p:cNvPr id="2193" name="Google Shape;2193;p66"/>
          <p:cNvSpPr txBox="1"/>
          <p:nvPr/>
        </p:nvSpPr>
        <p:spPr>
          <a:xfrm>
            <a:off x="6295758" y="6192000"/>
            <a:ext cx="1842786"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Revenue (sales)</a:t>
            </a:r>
            <a:endParaRPr/>
          </a:p>
        </p:txBody>
      </p:sp>
      <p:sp>
        <p:nvSpPr>
          <p:cNvPr id="2194" name="Google Shape;2194;p66"/>
          <p:cNvSpPr txBox="1"/>
          <p:nvPr/>
        </p:nvSpPr>
        <p:spPr>
          <a:xfrm>
            <a:off x="10028967" y="2029411"/>
            <a:ext cx="1593685"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Bank loan</a:t>
            </a:r>
            <a:endParaRPr/>
          </a:p>
        </p:txBody>
      </p:sp>
      <p:sp>
        <p:nvSpPr>
          <p:cNvPr id="2195" name="Google Shape;2195;p66"/>
          <p:cNvSpPr txBox="1"/>
          <p:nvPr/>
        </p:nvSpPr>
        <p:spPr>
          <a:xfrm>
            <a:off x="3184560" y="3614709"/>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30,000</a:t>
            </a:r>
            <a:endParaRPr/>
          </a:p>
        </p:txBody>
      </p:sp>
      <p:sp>
        <p:nvSpPr>
          <p:cNvPr id="2196" name="Google Shape;2196;p66"/>
          <p:cNvSpPr txBox="1"/>
          <p:nvPr/>
        </p:nvSpPr>
        <p:spPr>
          <a:xfrm>
            <a:off x="3184560" y="3344709"/>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20,000</a:t>
            </a:r>
            <a:endParaRPr/>
          </a:p>
        </p:txBody>
      </p:sp>
      <p:sp>
        <p:nvSpPr>
          <p:cNvPr id="2197" name="Google Shape;2197;p66"/>
          <p:cNvSpPr txBox="1"/>
          <p:nvPr/>
        </p:nvSpPr>
        <p:spPr>
          <a:xfrm>
            <a:off x="3298373" y="3074709"/>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5,000</a:t>
            </a:r>
            <a:endParaRPr/>
          </a:p>
        </p:txBody>
      </p:sp>
      <p:sp>
        <p:nvSpPr>
          <p:cNvPr id="2198" name="Google Shape;2198;p66"/>
          <p:cNvSpPr txBox="1"/>
          <p:nvPr/>
        </p:nvSpPr>
        <p:spPr>
          <a:xfrm>
            <a:off x="3469894" y="2534709"/>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700</a:t>
            </a:r>
            <a:endParaRPr/>
          </a:p>
        </p:txBody>
      </p:sp>
      <p:sp>
        <p:nvSpPr>
          <p:cNvPr id="2199" name="Google Shape;2199;p66"/>
          <p:cNvSpPr txBox="1"/>
          <p:nvPr/>
        </p:nvSpPr>
        <p:spPr>
          <a:xfrm>
            <a:off x="3583708" y="2264709"/>
            <a:ext cx="412292"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50</a:t>
            </a:r>
            <a:endParaRPr/>
          </a:p>
        </p:txBody>
      </p:sp>
      <p:sp>
        <p:nvSpPr>
          <p:cNvPr id="2200" name="Google Shape;2200;p66"/>
          <p:cNvSpPr txBox="1"/>
          <p:nvPr/>
        </p:nvSpPr>
        <p:spPr>
          <a:xfrm>
            <a:off x="3713366" y="5031445"/>
            <a:ext cx="412292"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50</a:t>
            </a:r>
            <a:endParaRPr/>
          </a:p>
        </p:txBody>
      </p:sp>
      <p:sp>
        <p:nvSpPr>
          <p:cNvPr id="2201" name="Google Shape;2201;p66"/>
          <p:cNvSpPr txBox="1"/>
          <p:nvPr/>
        </p:nvSpPr>
        <p:spPr>
          <a:xfrm>
            <a:off x="3184560" y="2804709"/>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10,000</a:t>
            </a:r>
            <a:endParaRPr/>
          </a:p>
        </p:txBody>
      </p:sp>
      <p:sp>
        <p:nvSpPr>
          <p:cNvPr id="2202" name="Google Shape;2202;p66"/>
          <p:cNvSpPr txBox="1"/>
          <p:nvPr/>
        </p:nvSpPr>
        <p:spPr>
          <a:xfrm>
            <a:off x="10026434" y="3924000"/>
            <a:ext cx="1757569"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contributed capital</a:t>
            </a:r>
            <a:endParaRPr/>
          </a:p>
        </p:txBody>
      </p:sp>
      <p:sp>
        <p:nvSpPr>
          <p:cNvPr id="2203" name="Google Shape;2203;p66"/>
          <p:cNvSpPr/>
          <p:nvPr/>
        </p:nvSpPr>
        <p:spPr>
          <a:xfrm>
            <a:off x="3011371" y="23367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204" name="Google Shape;2204;p66"/>
          <p:cNvSpPr/>
          <p:nvPr/>
        </p:nvSpPr>
        <p:spPr>
          <a:xfrm rot="10800000">
            <a:off x="3011371" y="258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205" name="Google Shape;2205;p66"/>
          <p:cNvSpPr/>
          <p:nvPr/>
        </p:nvSpPr>
        <p:spPr>
          <a:xfrm>
            <a:off x="3011371" y="28767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206" name="Google Shape;2206;p66"/>
          <p:cNvSpPr/>
          <p:nvPr/>
        </p:nvSpPr>
        <p:spPr>
          <a:xfrm>
            <a:off x="3011371" y="31467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207" name="Google Shape;2207;p66"/>
          <p:cNvSpPr/>
          <p:nvPr/>
        </p:nvSpPr>
        <p:spPr>
          <a:xfrm rot="10800000">
            <a:off x="3011371" y="339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208" name="Google Shape;2208;p66"/>
          <p:cNvSpPr/>
          <p:nvPr/>
        </p:nvSpPr>
        <p:spPr>
          <a:xfrm rot="10800000">
            <a:off x="3011371" y="366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209" name="Google Shape;2209;p66"/>
          <p:cNvSpPr txBox="1"/>
          <p:nvPr/>
        </p:nvSpPr>
        <p:spPr>
          <a:xfrm>
            <a:off x="10785455" y="1718255"/>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30,000</a:t>
            </a:r>
            <a:endParaRPr/>
          </a:p>
        </p:txBody>
      </p:sp>
      <p:sp>
        <p:nvSpPr>
          <p:cNvPr id="2210" name="Google Shape;2210;p66"/>
          <p:cNvSpPr/>
          <p:nvPr/>
        </p:nvSpPr>
        <p:spPr>
          <a:xfrm rot="10800000">
            <a:off x="10548000" y="1757882"/>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2211" name="Google Shape;2211;p66"/>
          <p:cNvSpPr txBox="1"/>
          <p:nvPr/>
        </p:nvSpPr>
        <p:spPr>
          <a:xfrm>
            <a:off x="10776926" y="3605780"/>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20,000</a:t>
            </a:r>
            <a:endParaRPr/>
          </a:p>
        </p:txBody>
      </p:sp>
      <p:sp>
        <p:nvSpPr>
          <p:cNvPr id="2212" name="Google Shape;2212;p66"/>
          <p:cNvSpPr txBox="1"/>
          <p:nvPr/>
        </p:nvSpPr>
        <p:spPr>
          <a:xfrm>
            <a:off x="10732895" y="1448255"/>
            <a:ext cx="86400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5,000</a:t>
            </a:r>
            <a:endParaRPr/>
          </a:p>
        </p:txBody>
      </p:sp>
      <p:sp>
        <p:nvSpPr>
          <p:cNvPr id="2213" name="Google Shape;2213;p66"/>
          <p:cNvSpPr/>
          <p:nvPr/>
        </p:nvSpPr>
        <p:spPr>
          <a:xfrm>
            <a:off x="10548000" y="1505882"/>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548135"/>
              </a:solidFill>
              <a:latin typeface="Calibri"/>
              <a:ea typeface="Calibri"/>
              <a:cs typeface="Calibri"/>
              <a:sym typeface="Calibri"/>
            </a:endParaRPr>
          </a:p>
        </p:txBody>
      </p:sp>
      <p:sp>
        <p:nvSpPr>
          <p:cNvPr id="2214" name="Google Shape;2214;p66"/>
          <p:cNvSpPr txBox="1"/>
          <p:nvPr/>
        </p:nvSpPr>
        <p:spPr>
          <a:xfrm>
            <a:off x="4984560" y="3610092"/>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10,000</a:t>
            </a:r>
            <a:endParaRPr/>
          </a:p>
        </p:txBody>
      </p:sp>
      <p:sp>
        <p:nvSpPr>
          <p:cNvPr id="2215" name="Google Shape;2215;p66"/>
          <p:cNvSpPr txBox="1"/>
          <p:nvPr/>
        </p:nvSpPr>
        <p:spPr>
          <a:xfrm>
            <a:off x="7429894" y="5905082"/>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700</a:t>
            </a:r>
            <a:endParaRPr/>
          </a:p>
        </p:txBody>
      </p:sp>
      <p:sp>
        <p:nvSpPr>
          <p:cNvPr id="2216" name="Google Shape;2216;p66"/>
          <p:cNvSpPr/>
          <p:nvPr/>
        </p:nvSpPr>
        <p:spPr>
          <a:xfrm rot="10800000">
            <a:off x="6984000" y="5943076"/>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2217" name="Google Shape;2217;p66"/>
          <p:cNvSpPr/>
          <p:nvPr/>
        </p:nvSpPr>
        <p:spPr>
          <a:xfrm rot="10800000">
            <a:off x="3096000" y="5082325"/>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218" name="Google Shape;2218;p66"/>
          <p:cNvSpPr txBox="1"/>
          <p:nvPr/>
        </p:nvSpPr>
        <p:spPr>
          <a:xfrm>
            <a:off x="7315968" y="1713373"/>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6,000</a:t>
            </a:r>
            <a:endParaRPr/>
          </a:p>
        </p:txBody>
      </p:sp>
      <p:sp>
        <p:nvSpPr>
          <p:cNvPr id="2219" name="Google Shape;2219;p66"/>
          <p:cNvSpPr/>
          <p:nvPr/>
        </p:nvSpPr>
        <p:spPr>
          <a:xfrm rot="10800000">
            <a:off x="6984000" y="1749046"/>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2220" name="Google Shape;2220;p66"/>
          <p:cNvSpPr txBox="1"/>
          <p:nvPr/>
        </p:nvSpPr>
        <p:spPr>
          <a:xfrm>
            <a:off x="1501235" y="3588336"/>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6,000</a:t>
            </a:r>
            <a:endParaRPr/>
          </a:p>
        </p:txBody>
      </p:sp>
      <p:sp>
        <p:nvSpPr>
          <p:cNvPr id="2221" name="Google Shape;2221;p66"/>
          <p:cNvSpPr/>
          <p:nvPr/>
        </p:nvSpPr>
        <p:spPr>
          <a:xfrm rot="10800000">
            <a:off x="1249425" y="3637660"/>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222" name="Google Shape;2222;p66"/>
          <p:cNvSpPr txBox="1"/>
          <p:nvPr/>
        </p:nvSpPr>
        <p:spPr>
          <a:xfrm>
            <a:off x="5269894" y="3365080"/>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300</a:t>
            </a:r>
            <a:endParaRPr/>
          </a:p>
        </p:txBody>
      </p:sp>
      <p:sp>
        <p:nvSpPr>
          <p:cNvPr id="2223" name="Google Shape;2223;p66"/>
          <p:cNvSpPr/>
          <p:nvPr/>
        </p:nvSpPr>
        <p:spPr>
          <a:xfrm>
            <a:off x="4824000" y="3429341"/>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224" name="Google Shape;2224;p66"/>
          <p:cNvSpPr/>
          <p:nvPr/>
        </p:nvSpPr>
        <p:spPr>
          <a:xfrm rot="10800000">
            <a:off x="4824000" y="3662508"/>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225" name="Google Shape;2225;p66"/>
          <p:cNvSpPr txBox="1"/>
          <p:nvPr/>
        </p:nvSpPr>
        <p:spPr>
          <a:xfrm>
            <a:off x="5305894" y="5893862"/>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300</a:t>
            </a:r>
            <a:endParaRPr/>
          </a:p>
        </p:txBody>
      </p:sp>
      <p:sp>
        <p:nvSpPr>
          <p:cNvPr id="2226" name="Google Shape;2226;p66"/>
          <p:cNvSpPr/>
          <p:nvPr/>
        </p:nvSpPr>
        <p:spPr>
          <a:xfrm rot="10800000">
            <a:off x="4860000" y="5944742"/>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227" name="Google Shape;2227;p66"/>
          <p:cNvSpPr txBox="1"/>
          <p:nvPr/>
        </p:nvSpPr>
        <p:spPr>
          <a:xfrm>
            <a:off x="7429894" y="5645244"/>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600</a:t>
            </a:r>
            <a:endParaRPr/>
          </a:p>
        </p:txBody>
      </p:sp>
      <p:sp>
        <p:nvSpPr>
          <p:cNvPr id="2228" name="Google Shape;2228;p66"/>
          <p:cNvSpPr/>
          <p:nvPr/>
        </p:nvSpPr>
        <p:spPr>
          <a:xfrm rot="10800000">
            <a:off x="6984000" y="5695376"/>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2229" name="Google Shape;2229;p66"/>
          <p:cNvSpPr txBox="1"/>
          <p:nvPr/>
        </p:nvSpPr>
        <p:spPr>
          <a:xfrm>
            <a:off x="5269894" y="1222069"/>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600</a:t>
            </a:r>
            <a:endParaRPr/>
          </a:p>
        </p:txBody>
      </p:sp>
      <p:sp>
        <p:nvSpPr>
          <p:cNvPr id="2230" name="Google Shape;2230;p66"/>
          <p:cNvSpPr/>
          <p:nvPr/>
        </p:nvSpPr>
        <p:spPr>
          <a:xfrm rot="10800000">
            <a:off x="4824771" y="1263348"/>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231" name="Google Shape;2231;p66"/>
          <p:cNvSpPr txBox="1"/>
          <p:nvPr/>
        </p:nvSpPr>
        <p:spPr>
          <a:xfrm>
            <a:off x="5269894" y="3118060"/>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300</a:t>
            </a:r>
            <a:endParaRPr/>
          </a:p>
        </p:txBody>
      </p:sp>
      <p:sp>
        <p:nvSpPr>
          <p:cNvPr id="2232" name="Google Shape;2232;p66"/>
          <p:cNvSpPr/>
          <p:nvPr/>
        </p:nvSpPr>
        <p:spPr>
          <a:xfrm>
            <a:off x="4824000" y="3182321"/>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233" name="Google Shape;2233;p66"/>
          <p:cNvSpPr txBox="1"/>
          <p:nvPr/>
        </p:nvSpPr>
        <p:spPr>
          <a:xfrm>
            <a:off x="5305894" y="5646024"/>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300</a:t>
            </a:r>
            <a:endParaRPr/>
          </a:p>
        </p:txBody>
      </p:sp>
      <p:sp>
        <p:nvSpPr>
          <p:cNvPr id="2234" name="Google Shape;2234;p66"/>
          <p:cNvSpPr/>
          <p:nvPr/>
        </p:nvSpPr>
        <p:spPr>
          <a:xfrm rot="10800000">
            <a:off x="4860000" y="5696904"/>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235" name="Google Shape;2235;p66"/>
          <p:cNvSpPr txBox="1"/>
          <p:nvPr/>
        </p:nvSpPr>
        <p:spPr>
          <a:xfrm>
            <a:off x="3599552" y="4796571"/>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250</a:t>
            </a:r>
            <a:endParaRPr/>
          </a:p>
        </p:txBody>
      </p:sp>
      <p:sp>
        <p:nvSpPr>
          <p:cNvPr id="2236" name="Google Shape;2236;p66"/>
          <p:cNvSpPr/>
          <p:nvPr/>
        </p:nvSpPr>
        <p:spPr>
          <a:xfrm rot="10800000">
            <a:off x="3096000" y="4847451"/>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237" name="Google Shape;2237;p66"/>
          <p:cNvSpPr txBox="1"/>
          <p:nvPr/>
        </p:nvSpPr>
        <p:spPr>
          <a:xfrm>
            <a:off x="7487489" y="1462635"/>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250</a:t>
            </a:r>
            <a:endParaRPr/>
          </a:p>
        </p:txBody>
      </p:sp>
      <p:sp>
        <p:nvSpPr>
          <p:cNvPr id="2238" name="Google Shape;2238;p66"/>
          <p:cNvSpPr/>
          <p:nvPr/>
        </p:nvSpPr>
        <p:spPr>
          <a:xfrm rot="10800000">
            <a:off x="6984000" y="14983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grpSp>
        <p:nvGrpSpPr>
          <p:cNvPr id="2239" name="Google Shape;2239;p66"/>
          <p:cNvGrpSpPr/>
          <p:nvPr/>
        </p:nvGrpSpPr>
        <p:grpSpPr>
          <a:xfrm>
            <a:off x="2568712" y="2307277"/>
            <a:ext cx="247184" cy="223916"/>
            <a:chOff x="797287" y="3715227"/>
            <a:chExt cx="256611" cy="232456"/>
          </a:xfrm>
        </p:grpSpPr>
        <p:sp>
          <p:nvSpPr>
            <p:cNvPr id="2240" name="Google Shape;2240;p66"/>
            <p:cNvSpPr/>
            <p:nvPr/>
          </p:nvSpPr>
          <p:spPr>
            <a:xfrm>
              <a:off x="810780" y="3715227"/>
              <a:ext cx="224238" cy="224238"/>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241" name="Google Shape;2241;p66"/>
            <p:cNvSpPr/>
            <p:nvPr/>
          </p:nvSpPr>
          <p:spPr>
            <a:xfrm>
              <a:off x="797287" y="3724022"/>
              <a:ext cx="256611" cy="223661"/>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7</a:t>
              </a:r>
              <a:endParaRPr/>
            </a:p>
          </p:txBody>
        </p:sp>
      </p:grpSp>
      <p:grpSp>
        <p:nvGrpSpPr>
          <p:cNvPr id="2242" name="Google Shape;2242;p66"/>
          <p:cNvGrpSpPr/>
          <p:nvPr/>
        </p:nvGrpSpPr>
        <p:grpSpPr>
          <a:xfrm>
            <a:off x="2530414" y="2567405"/>
            <a:ext cx="300083" cy="223917"/>
            <a:chOff x="761592" y="3715226"/>
            <a:chExt cx="311527" cy="232457"/>
          </a:xfrm>
        </p:grpSpPr>
        <p:sp>
          <p:nvSpPr>
            <p:cNvPr id="2243" name="Google Shape;2243;p66"/>
            <p:cNvSpPr/>
            <p:nvPr/>
          </p:nvSpPr>
          <p:spPr>
            <a:xfrm>
              <a:off x="810780" y="3715226"/>
              <a:ext cx="224238" cy="224238"/>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244" name="Google Shape;2244;p66"/>
            <p:cNvSpPr/>
            <p:nvPr/>
          </p:nvSpPr>
          <p:spPr>
            <a:xfrm>
              <a:off x="761592" y="3724022"/>
              <a:ext cx="311527" cy="223661"/>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6a</a:t>
              </a:r>
              <a:endParaRPr/>
            </a:p>
          </p:txBody>
        </p:sp>
      </p:grpSp>
      <p:grpSp>
        <p:nvGrpSpPr>
          <p:cNvPr id="2245" name="Google Shape;2245;p66"/>
          <p:cNvGrpSpPr/>
          <p:nvPr/>
        </p:nvGrpSpPr>
        <p:grpSpPr>
          <a:xfrm>
            <a:off x="2574025" y="2841900"/>
            <a:ext cx="245580" cy="224238"/>
            <a:chOff x="802803" y="3715228"/>
            <a:chExt cx="245580" cy="224238"/>
          </a:xfrm>
        </p:grpSpPr>
        <p:sp>
          <p:nvSpPr>
            <p:cNvPr id="2246" name="Google Shape;2246;p66"/>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247" name="Google Shape;2247;p66"/>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5</a:t>
              </a:r>
              <a:endParaRPr/>
            </a:p>
          </p:txBody>
        </p:sp>
      </p:grpSp>
      <p:grpSp>
        <p:nvGrpSpPr>
          <p:cNvPr id="2248" name="Google Shape;2248;p66"/>
          <p:cNvGrpSpPr/>
          <p:nvPr/>
        </p:nvGrpSpPr>
        <p:grpSpPr>
          <a:xfrm>
            <a:off x="2574025" y="3121887"/>
            <a:ext cx="245580" cy="224238"/>
            <a:chOff x="802803" y="3715228"/>
            <a:chExt cx="245580" cy="224238"/>
          </a:xfrm>
        </p:grpSpPr>
        <p:sp>
          <p:nvSpPr>
            <p:cNvPr id="2249" name="Google Shape;2249;p66"/>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250" name="Google Shape;2250;p66"/>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3</a:t>
              </a:r>
              <a:endParaRPr/>
            </a:p>
          </p:txBody>
        </p:sp>
      </p:grpSp>
      <p:grpSp>
        <p:nvGrpSpPr>
          <p:cNvPr id="2251" name="Google Shape;2251;p66"/>
          <p:cNvGrpSpPr/>
          <p:nvPr/>
        </p:nvGrpSpPr>
        <p:grpSpPr>
          <a:xfrm>
            <a:off x="2574025" y="3385828"/>
            <a:ext cx="245580" cy="224238"/>
            <a:chOff x="802803" y="3715228"/>
            <a:chExt cx="245580" cy="224238"/>
          </a:xfrm>
        </p:grpSpPr>
        <p:sp>
          <p:nvSpPr>
            <p:cNvPr id="2252" name="Google Shape;2252;p66"/>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253" name="Google Shape;2253;p66"/>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2</a:t>
              </a:r>
              <a:endParaRPr/>
            </a:p>
          </p:txBody>
        </p:sp>
      </p:grpSp>
      <p:grpSp>
        <p:nvGrpSpPr>
          <p:cNvPr id="2254" name="Google Shape;2254;p66"/>
          <p:cNvGrpSpPr/>
          <p:nvPr/>
        </p:nvGrpSpPr>
        <p:grpSpPr>
          <a:xfrm>
            <a:off x="2574025" y="3649299"/>
            <a:ext cx="245580" cy="224238"/>
            <a:chOff x="802803" y="3715228"/>
            <a:chExt cx="245580" cy="224238"/>
          </a:xfrm>
        </p:grpSpPr>
        <p:sp>
          <p:nvSpPr>
            <p:cNvPr id="2255" name="Google Shape;2255;p66"/>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256" name="Google Shape;2256;p66"/>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a:t>
              </a:r>
              <a:endParaRPr/>
            </a:p>
          </p:txBody>
        </p:sp>
      </p:grpSp>
      <p:grpSp>
        <p:nvGrpSpPr>
          <p:cNvPr id="2257" name="Google Shape;2257;p66"/>
          <p:cNvGrpSpPr/>
          <p:nvPr/>
        </p:nvGrpSpPr>
        <p:grpSpPr>
          <a:xfrm>
            <a:off x="10117559" y="1755851"/>
            <a:ext cx="245580" cy="224238"/>
            <a:chOff x="802803" y="3715228"/>
            <a:chExt cx="245580" cy="224238"/>
          </a:xfrm>
        </p:grpSpPr>
        <p:sp>
          <p:nvSpPr>
            <p:cNvPr id="2258" name="Google Shape;2258;p66"/>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259" name="Google Shape;2259;p66"/>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a:t>
              </a:r>
              <a:endParaRPr/>
            </a:p>
          </p:txBody>
        </p:sp>
      </p:grpSp>
      <p:grpSp>
        <p:nvGrpSpPr>
          <p:cNvPr id="2260" name="Google Shape;2260;p66"/>
          <p:cNvGrpSpPr/>
          <p:nvPr/>
        </p:nvGrpSpPr>
        <p:grpSpPr>
          <a:xfrm>
            <a:off x="10116000" y="3650400"/>
            <a:ext cx="245580" cy="224238"/>
            <a:chOff x="802803" y="3715228"/>
            <a:chExt cx="245580" cy="224238"/>
          </a:xfrm>
        </p:grpSpPr>
        <p:sp>
          <p:nvSpPr>
            <p:cNvPr id="2261" name="Google Shape;2261;p66"/>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262" name="Google Shape;2262;p66"/>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2</a:t>
              </a:r>
              <a:endParaRPr/>
            </a:p>
          </p:txBody>
        </p:sp>
      </p:grpSp>
      <p:grpSp>
        <p:nvGrpSpPr>
          <p:cNvPr id="2263" name="Google Shape;2263;p66"/>
          <p:cNvGrpSpPr/>
          <p:nvPr/>
        </p:nvGrpSpPr>
        <p:grpSpPr>
          <a:xfrm>
            <a:off x="10117837" y="1489299"/>
            <a:ext cx="245580" cy="224238"/>
            <a:chOff x="802803" y="3715228"/>
            <a:chExt cx="245580" cy="224238"/>
          </a:xfrm>
        </p:grpSpPr>
        <p:sp>
          <p:nvSpPr>
            <p:cNvPr id="2264" name="Google Shape;2264;p66"/>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265" name="Google Shape;2265;p66"/>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3</a:t>
              </a:r>
              <a:endParaRPr/>
            </a:p>
          </p:txBody>
        </p:sp>
      </p:grpSp>
      <p:grpSp>
        <p:nvGrpSpPr>
          <p:cNvPr id="2266" name="Google Shape;2266;p66"/>
          <p:cNvGrpSpPr/>
          <p:nvPr/>
        </p:nvGrpSpPr>
        <p:grpSpPr>
          <a:xfrm>
            <a:off x="6553087" y="1741845"/>
            <a:ext cx="245580" cy="224238"/>
            <a:chOff x="802803" y="3715228"/>
            <a:chExt cx="245580" cy="224238"/>
          </a:xfrm>
        </p:grpSpPr>
        <p:sp>
          <p:nvSpPr>
            <p:cNvPr id="2267" name="Google Shape;2267;p66"/>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268" name="Google Shape;2268;p66"/>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4</a:t>
              </a:r>
              <a:endParaRPr/>
            </a:p>
          </p:txBody>
        </p:sp>
      </p:grpSp>
      <p:grpSp>
        <p:nvGrpSpPr>
          <p:cNvPr id="2269" name="Google Shape;2269;p66"/>
          <p:cNvGrpSpPr/>
          <p:nvPr/>
        </p:nvGrpSpPr>
        <p:grpSpPr>
          <a:xfrm>
            <a:off x="784605" y="3629276"/>
            <a:ext cx="245580" cy="224238"/>
            <a:chOff x="802803" y="3715228"/>
            <a:chExt cx="245580" cy="224238"/>
          </a:xfrm>
        </p:grpSpPr>
        <p:sp>
          <p:nvSpPr>
            <p:cNvPr id="2270" name="Google Shape;2270;p66"/>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271" name="Google Shape;2271;p66"/>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4</a:t>
              </a:r>
              <a:endParaRPr/>
            </a:p>
          </p:txBody>
        </p:sp>
      </p:grpSp>
      <p:grpSp>
        <p:nvGrpSpPr>
          <p:cNvPr id="2272" name="Google Shape;2272;p66"/>
          <p:cNvGrpSpPr/>
          <p:nvPr/>
        </p:nvGrpSpPr>
        <p:grpSpPr>
          <a:xfrm>
            <a:off x="4359077" y="3641899"/>
            <a:ext cx="245580" cy="224238"/>
            <a:chOff x="802803" y="3715228"/>
            <a:chExt cx="245580" cy="224238"/>
          </a:xfrm>
        </p:grpSpPr>
        <p:sp>
          <p:nvSpPr>
            <p:cNvPr id="2273" name="Google Shape;2273;p66"/>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274" name="Google Shape;2274;p66"/>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5</a:t>
              </a:r>
              <a:endParaRPr/>
            </a:p>
          </p:txBody>
        </p:sp>
      </p:grpSp>
      <p:grpSp>
        <p:nvGrpSpPr>
          <p:cNvPr id="2275" name="Google Shape;2275;p66"/>
          <p:cNvGrpSpPr/>
          <p:nvPr/>
        </p:nvGrpSpPr>
        <p:grpSpPr>
          <a:xfrm>
            <a:off x="6484980" y="5931080"/>
            <a:ext cx="300082" cy="224238"/>
            <a:chOff x="775552" y="3715228"/>
            <a:chExt cx="300082" cy="224238"/>
          </a:xfrm>
        </p:grpSpPr>
        <p:sp>
          <p:nvSpPr>
            <p:cNvPr id="2276" name="Google Shape;2276;p66"/>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277" name="Google Shape;2277;p66"/>
            <p:cNvSpPr/>
            <p:nvPr/>
          </p:nvSpPr>
          <p:spPr>
            <a:xfrm>
              <a:off x="775552" y="3724022"/>
              <a:ext cx="300082"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6a</a:t>
              </a:r>
              <a:endParaRPr/>
            </a:p>
          </p:txBody>
        </p:sp>
      </p:grpSp>
      <p:grpSp>
        <p:nvGrpSpPr>
          <p:cNvPr id="2278" name="Google Shape;2278;p66"/>
          <p:cNvGrpSpPr/>
          <p:nvPr/>
        </p:nvGrpSpPr>
        <p:grpSpPr>
          <a:xfrm>
            <a:off x="4325561" y="3388584"/>
            <a:ext cx="309700" cy="224238"/>
            <a:chOff x="770743" y="3715228"/>
            <a:chExt cx="309700" cy="224238"/>
          </a:xfrm>
        </p:grpSpPr>
        <p:sp>
          <p:nvSpPr>
            <p:cNvPr id="2279" name="Google Shape;2279;p66"/>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280" name="Google Shape;2280;p66"/>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6b</a:t>
              </a:r>
              <a:endParaRPr/>
            </a:p>
          </p:txBody>
        </p:sp>
      </p:grpSp>
      <p:grpSp>
        <p:nvGrpSpPr>
          <p:cNvPr id="2281" name="Google Shape;2281;p66"/>
          <p:cNvGrpSpPr/>
          <p:nvPr/>
        </p:nvGrpSpPr>
        <p:grpSpPr>
          <a:xfrm>
            <a:off x="4372912" y="5940000"/>
            <a:ext cx="309700" cy="224238"/>
            <a:chOff x="770743" y="3715228"/>
            <a:chExt cx="309700" cy="224238"/>
          </a:xfrm>
        </p:grpSpPr>
        <p:sp>
          <p:nvSpPr>
            <p:cNvPr id="2282" name="Google Shape;2282;p66"/>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283" name="Google Shape;2283;p66"/>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6b</a:t>
              </a:r>
              <a:endParaRPr/>
            </a:p>
          </p:txBody>
        </p:sp>
      </p:grpSp>
      <p:grpSp>
        <p:nvGrpSpPr>
          <p:cNvPr id="2284" name="Google Shape;2284;p66"/>
          <p:cNvGrpSpPr/>
          <p:nvPr/>
        </p:nvGrpSpPr>
        <p:grpSpPr>
          <a:xfrm>
            <a:off x="4330045" y="3136880"/>
            <a:ext cx="309700" cy="224238"/>
            <a:chOff x="770743" y="3715228"/>
            <a:chExt cx="309700" cy="224238"/>
          </a:xfrm>
        </p:grpSpPr>
        <p:sp>
          <p:nvSpPr>
            <p:cNvPr id="2285" name="Google Shape;2285;p66"/>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286" name="Google Shape;2286;p66"/>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8b</a:t>
              </a:r>
              <a:endParaRPr/>
            </a:p>
          </p:txBody>
        </p:sp>
      </p:grpSp>
      <p:grpSp>
        <p:nvGrpSpPr>
          <p:cNvPr id="2287" name="Google Shape;2287;p66"/>
          <p:cNvGrpSpPr/>
          <p:nvPr/>
        </p:nvGrpSpPr>
        <p:grpSpPr>
          <a:xfrm>
            <a:off x="4377396" y="5681195"/>
            <a:ext cx="309700" cy="224238"/>
            <a:chOff x="770743" y="3715228"/>
            <a:chExt cx="309700" cy="224238"/>
          </a:xfrm>
        </p:grpSpPr>
        <p:sp>
          <p:nvSpPr>
            <p:cNvPr id="2288" name="Google Shape;2288;p66"/>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289" name="Google Shape;2289;p66"/>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8b</a:t>
              </a:r>
              <a:endParaRPr/>
            </a:p>
          </p:txBody>
        </p:sp>
      </p:grpSp>
      <p:grpSp>
        <p:nvGrpSpPr>
          <p:cNvPr id="2290" name="Google Shape;2290;p66"/>
          <p:cNvGrpSpPr/>
          <p:nvPr/>
        </p:nvGrpSpPr>
        <p:grpSpPr>
          <a:xfrm>
            <a:off x="6484980" y="5676798"/>
            <a:ext cx="300082" cy="224238"/>
            <a:chOff x="775552" y="3715228"/>
            <a:chExt cx="300082" cy="224238"/>
          </a:xfrm>
        </p:grpSpPr>
        <p:sp>
          <p:nvSpPr>
            <p:cNvPr id="2291" name="Google Shape;2291;p66"/>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292" name="Google Shape;2292;p66"/>
            <p:cNvSpPr/>
            <p:nvPr/>
          </p:nvSpPr>
          <p:spPr>
            <a:xfrm>
              <a:off x="775552" y="3724022"/>
              <a:ext cx="300082"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8a</a:t>
              </a:r>
              <a:endParaRPr/>
            </a:p>
          </p:txBody>
        </p:sp>
      </p:grpSp>
      <p:grpSp>
        <p:nvGrpSpPr>
          <p:cNvPr id="2293" name="Google Shape;2293;p66"/>
          <p:cNvGrpSpPr/>
          <p:nvPr/>
        </p:nvGrpSpPr>
        <p:grpSpPr>
          <a:xfrm>
            <a:off x="2681463" y="5057611"/>
            <a:ext cx="245580" cy="224238"/>
            <a:chOff x="802803" y="3715228"/>
            <a:chExt cx="245580" cy="224238"/>
          </a:xfrm>
        </p:grpSpPr>
        <p:sp>
          <p:nvSpPr>
            <p:cNvPr id="2294" name="Google Shape;2294;p66"/>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295" name="Google Shape;2295;p66"/>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7</a:t>
              </a:r>
              <a:endParaRPr/>
            </a:p>
          </p:txBody>
        </p:sp>
      </p:grpSp>
      <p:grpSp>
        <p:nvGrpSpPr>
          <p:cNvPr id="2296" name="Google Shape;2296;p66"/>
          <p:cNvGrpSpPr/>
          <p:nvPr/>
        </p:nvGrpSpPr>
        <p:grpSpPr>
          <a:xfrm>
            <a:off x="2680630" y="4808856"/>
            <a:ext cx="245580" cy="224238"/>
            <a:chOff x="802803" y="3715228"/>
            <a:chExt cx="245580" cy="224238"/>
          </a:xfrm>
        </p:grpSpPr>
        <p:sp>
          <p:nvSpPr>
            <p:cNvPr id="2297" name="Google Shape;2297;p66"/>
            <p:cNvSpPr/>
            <p:nvPr/>
          </p:nvSpPr>
          <p:spPr>
            <a:xfrm>
              <a:off x="810781" y="3715228"/>
              <a:ext cx="216000" cy="216000"/>
            </a:xfrm>
            <a:prstGeom prst="ellipse">
              <a:avLst/>
            </a:prstGeom>
            <a:solidFill>
              <a:srgbClr val="FFFF00"/>
            </a:solidFill>
            <a:ln cap="flat" cmpd="sng" w="1270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298" name="Google Shape;2298;p66"/>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9</a:t>
              </a:r>
              <a:endParaRPr/>
            </a:p>
          </p:txBody>
        </p:sp>
      </p:grpSp>
      <p:grpSp>
        <p:nvGrpSpPr>
          <p:cNvPr id="2299" name="Google Shape;2299;p66"/>
          <p:cNvGrpSpPr/>
          <p:nvPr/>
        </p:nvGrpSpPr>
        <p:grpSpPr>
          <a:xfrm>
            <a:off x="6550922" y="1481480"/>
            <a:ext cx="245580" cy="224238"/>
            <a:chOff x="802803" y="3715228"/>
            <a:chExt cx="245580" cy="224238"/>
          </a:xfrm>
        </p:grpSpPr>
        <p:sp>
          <p:nvSpPr>
            <p:cNvPr id="2300" name="Google Shape;2300;p66"/>
            <p:cNvSpPr/>
            <p:nvPr/>
          </p:nvSpPr>
          <p:spPr>
            <a:xfrm>
              <a:off x="810781" y="3715228"/>
              <a:ext cx="216000" cy="216000"/>
            </a:xfrm>
            <a:prstGeom prst="ellipse">
              <a:avLst/>
            </a:prstGeom>
            <a:solidFill>
              <a:srgbClr val="FFFF00"/>
            </a:solidFill>
            <a:ln cap="flat" cmpd="sng" w="1270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301" name="Google Shape;2301;p66"/>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9</a:t>
              </a:r>
              <a:endParaRPr/>
            </a:p>
          </p:txBody>
        </p:sp>
      </p:grpSp>
      <p:grpSp>
        <p:nvGrpSpPr>
          <p:cNvPr id="2302" name="Google Shape;2302;p66"/>
          <p:cNvGrpSpPr/>
          <p:nvPr/>
        </p:nvGrpSpPr>
        <p:grpSpPr>
          <a:xfrm>
            <a:off x="4322372" y="1240114"/>
            <a:ext cx="300082" cy="224238"/>
            <a:chOff x="775552" y="3715228"/>
            <a:chExt cx="300082" cy="224238"/>
          </a:xfrm>
        </p:grpSpPr>
        <p:sp>
          <p:nvSpPr>
            <p:cNvPr id="2303" name="Google Shape;2303;p66"/>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304" name="Google Shape;2304;p66"/>
            <p:cNvSpPr/>
            <p:nvPr/>
          </p:nvSpPr>
          <p:spPr>
            <a:xfrm>
              <a:off x="775552" y="3724022"/>
              <a:ext cx="300082"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8a</a:t>
              </a:r>
              <a:endParaRPr/>
            </a:p>
          </p:txBody>
        </p:sp>
      </p:grpSp>
      <p:sp>
        <p:nvSpPr>
          <p:cNvPr id="2305" name="Google Shape;2305;p66"/>
          <p:cNvSpPr txBox="1"/>
          <p:nvPr/>
        </p:nvSpPr>
        <p:spPr>
          <a:xfrm>
            <a:off x="4033926" y="1538024"/>
            <a:ext cx="2015578"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Accounts receivable</a:t>
            </a:r>
            <a:endParaRPr/>
          </a:p>
        </p:txBody>
      </p:sp>
      <p:sp>
        <p:nvSpPr>
          <p:cNvPr id="2306" name="Google Shape;2306;p66"/>
          <p:cNvSpPr txBox="1"/>
          <p:nvPr/>
        </p:nvSpPr>
        <p:spPr>
          <a:xfrm>
            <a:off x="6252890" y="2028286"/>
            <a:ext cx="1987133"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Accounts payable</a:t>
            </a:r>
            <a:endParaRPr/>
          </a:p>
        </p:txBody>
      </p:sp>
      <p:sp>
        <p:nvSpPr>
          <p:cNvPr id="2307" name="Google Shape;2307;p66"/>
          <p:cNvSpPr txBox="1"/>
          <p:nvPr/>
        </p:nvSpPr>
        <p:spPr>
          <a:xfrm>
            <a:off x="9504213" y="373659"/>
            <a:ext cx="2279791" cy="40011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000">
                <a:solidFill>
                  <a:schemeClr val="accent2"/>
                </a:solidFill>
                <a:latin typeface="Avenir"/>
                <a:ea typeface="Avenir"/>
                <a:cs typeface="Avenir"/>
                <a:sym typeface="Avenir"/>
              </a:rPr>
              <a:t>Sources of funds</a:t>
            </a:r>
            <a:endParaRPr/>
          </a:p>
        </p:txBody>
      </p:sp>
      <p:sp>
        <p:nvSpPr>
          <p:cNvPr id="2308" name="Google Shape;2308;p66"/>
          <p:cNvSpPr txBox="1"/>
          <p:nvPr/>
        </p:nvSpPr>
        <p:spPr>
          <a:xfrm>
            <a:off x="492858" y="373659"/>
            <a:ext cx="1880643" cy="40011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000">
                <a:solidFill>
                  <a:schemeClr val="accent6"/>
                </a:solidFill>
                <a:latin typeface="Avenir"/>
                <a:ea typeface="Avenir"/>
                <a:cs typeface="Avenir"/>
                <a:sym typeface="Avenir"/>
              </a:rPr>
              <a:t>Uses of funds</a:t>
            </a:r>
            <a:endParaRPr/>
          </a:p>
        </p:txBody>
      </p:sp>
      <p:grpSp>
        <p:nvGrpSpPr>
          <p:cNvPr id="2309" name="Google Shape;2309;p66"/>
          <p:cNvGrpSpPr/>
          <p:nvPr/>
        </p:nvGrpSpPr>
        <p:grpSpPr>
          <a:xfrm>
            <a:off x="4247500" y="957969"/>
            <a:ext cx="1620000" cy="613673"/>
            <a:chOff x="3810000" y="2381250"/>
            <a:chExt cx="1390650" cy="1230631"/>
          </a:xfrm>
        </p:grpSpPr>
        <p:sp>
          <p:nvSpPr>
            <p:cNvPr id="2310" name="Google Shape;2310;p66"/>
            <p:cNvSpPr/>
            <p:nvPr/>
          </p:nvSpPr>
          <p:spPr>
            <a:xfrm flipH="1">
              <a:off x="4505325"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2311" name="Google Shape;2311;p66"/>
            <p:cNvSpPr/>
            <p:nvPr/>
          </p:nvSpPr>
          <p:spPr>
            <a:xfrm>
              <a:off x="3810000"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2312" name="Google Shape;2312;p66"/>
          <p:cNvGrpSpPr/>
          <p:nvPr/>
        </p:nvGrpSpPr>
        <p:grpSpPr>
          <a:xfrm>
            <a:off x="2556000" y="4767598"/>
            <a:ext cx="1620000" cy="613673"/>
            <a:chOff x="3810000" y="2381250"/>
            <a:chExt cx="1390650" cy="1230631"/>
          </a:xfrm>
        </p:grpSpPr>
        <p:sp>
          <p:nvSpPr>
            <p:cNvPr id="2313" name="Google Shape;2313;p66"/>
            <p:cNvSpPr/>
            <p:nvPr/>
          </p:nvSpPr>
          <p:spPr>
            <a:xfrm flipH="1">
              <a:off x="4505325" y="2381250"/>
              <a:ext cx="695325" cy="1230631"/>
            </a:xfrm>
            <a:prstGeom prst="corner">
              <a:avLst>
                <a:gd fmla="val 9300"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2314" name="Google Shape;2314;p66"/>
            <p:cNvSpPr/>
            <p:nvPr/>
          </p:nvSpPr>
          <p:spPr>
            <a:xfrm>
              <a:off x="3810000" y="2381250"/>
              <a:ext cx="695325" cy="1230631"/>
            </a:xfrm>
            <a:prstGeom prst="corner">
              <a:avLst>
                <a:gd fmla="val 9300"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2315" name="Google Shape;2315;p66"/>
          <p:cNvGrpSpPr/>
          <p:nvPr/>
        </p:nvGrpSpPr>
        <p:grpSpPr>
          <a:xfrm>
            <a:off x="4292494" y="5448381"/>
            <a:ext cx="1620000" cy="796276"/>
            <a:chOff x="3810000" y="2015069"/>
            <a:chExt cx="1390650" cy="1596814"/>
          </a:xfrm>
        </p:grpSpPr>
        <p:sp>
          <p:nvSpPr>
            <p:cNvPr id="2316" name="Google Shape;2316;p66"/>
            <p:cNvSpPr/>
            <p:nvPr/>
          </p:nvSpPr>
          <p:spPr>
            <a:xfrm flipH="1">
              <a:off x="4505325" y="2015073"/>
              <a:ext cx="695325" cy="1596810"/>
            </a:xfrm>
            <a:prstGeom prst="corner">
              <a:avLst>
                <a:gd fmla="val 7267" name="adj1"/>
                <a:gd fmla="val 7888"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2317" name="Google Shape;2317;p66"/>
            <p:cNvSpPr/>
            <p:nvPr/>
          </p:nvSpPr>
          <p:spPr>
            <a:xfrm>
              <a:off x="3810000" y="2015069"/>
              <a:ext cx="695325" cy="1596812"/>
            </a:xfrm>
            <a:prstGeom prst="corner">
              <a:avLst>
                <a:gd fmla="val 7268" name="adj1"/>
                <a:gd fmla="val 7888"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2318" name="Google Shape;2318;p66"/>
          <p:cNvGrpSpPr/>
          <p:nvPr/>
        </p:nvGrpSpPr>
        <p:grpSpPr>
          <a:xfrm>
            <a:off x="6382456" y="5448381"/>
            <a:ext cx="1620000" cy="796276"/>
            <a:chOff x="3810000" y="2015069"/>
            <a:chExt cx="1390650" cy="1596814"/>
          </a:xfrm>
        </p:grpSpPr>
        <p:sp>
          <p:nvSpPr>
            <p:cNvPr id="2319" name="Google Shape;2319;p66"/>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2320" name="Google Shape;2320;p66"/>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2321" name="Google Shape;2321;p66"/>
          <p:cNvGrpSpPr/>
          <p:nvPr/>
        </p:nvGrpSpPr>
        <p:grpSpPr>
          <a:xfrm>
            <a:off x="9983452" y="3159099"/>
            <a:ext cx="1620000" cy="796276"/>
            <a:chOff x="3810000" y="2015069"/>
            <a:chExt cx="1390650" cy="1596814"/>
          </a:xfrm>
        </p:grpSpPr>
        <p:sp>
          <p:nvSpPr>
            <p:cNvPr id="2322" name="Google Shape;2322;p66"/>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2323" name="Google Shape;2323;p66"/>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2324" name="Google Shape;2324;p66"/>
          <p:cNvGrpSpPr/>
          <p:nvPr/>
        </p:nvGrpSpPr>
        <p:grpSpPr>
          <a:xfrm>
            <a:off x="10006085" y="1263488"/>
            <a:ext cx="1620000" cy="796276"/>
            <a:chOff x="3810000" y="2015069"/>
            <a:chExt cx="1390650" cy="1596814"/>
          </a:xfrm>
        </p:grpSpPr>
        <p:sp>
          <p:nvSpPr>
            <p:cNvPr id="2325" name="Google Shape;2325;p66"/>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2326" name="Google Shape;2326;p66"/>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2327" name="Google Shape;2327;p66"/>
          <p:cNvGrpSpPr/>
          <p:nvPr/>
        </p:nvGrpSpPr>
        <p:grpSpPr>
          <a:xfrm>
            <a:off x="6428511" y="1266563"/>
            <a:ext cx="1620000" cy="796276"/>
            <a:chOff x="3810000" y="2015069"/>
            <a:chExt cx="1390650" cy="1596814"/>
          </a:xfrm>
        </p:grpSpPr>
        <p:sp>
          <p:nvSpPr>
            <p:cNvPr id="2328" name="Google Shape;2328;p66"/>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2329" name="Google Shape;2329;p66"/>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sp>
        <p:nvSpPr>
          <p:cNvPr id="2330" name="Google Shape;2330;p66"/>
          <p:cNvSpPr/>
          <p:nvPr/>
        </p:nvSpPr>
        <p:spPr>
          <a:xfrm rot="10800000">
            <a:off x="10548000" y="3653367"/>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2331" name="Google Shape;2331;p66"/>
          <p:cNvSpPr/>
          <p:nvPr/>
        </p:nvSpPr>
        <p:spPr>
          <a:xfrm>
            <a:off x="237688" y="2237771"/>
            <a:ext cx="10744019" cy="1312708"/>
          </a:xfrm>
          <a:prstGeom prst="rect">
            <a:avLst/>
          </a:prstGeom>
          <a:solidFill>
            <a:srgbClr val="F2F2F2">
              <a:alpha val="86666"/>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2332" name="Google Shape;2332;p66"/>
          <p:cNvGrpSpPr/>
          <p:nvPr/>
        </p:nvGrpSpPr>
        <p:grpSpPr>
          <a:xfrm>
            <a:off x="460156" y="2506817"/>
            <a:ext cx="10188967" cy="756003"/>
            <a:chOff x="926134" y="1719857"/>
            <a:chExt cx="9204181" cy="750146"/>
          </a:xfrm>
        </p:grpSpPr>
        <p:sp>
          <p:nvSpPr>
            <p:cNvPr id="2333" name="Google Shape;2333;p66"/>
            <p:cNvSpPr txBox="1"/>
            <p:nvPr/>
          </p:nvSpPr>
          <p:spPr>
            <a:xfrm>
              <a:off x="1641585" y="1719860"/>
              <a:ext cx="5447935"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139700" marR="0" rtl="0" algn="l">
                <a:spcBef>
                  <a:spcPts val="0"/>
                </a:spcBef>
                <a:spcAft>
                  <a:spcPts val="0"/>
                </a:spcAft>
                <a:buNone/>
              </a:pPr>
              <a:r>
                <a:rPr lang="en-US" sz="2000">
                  <a:solidFill>
                    <a:schemeClr val="dk1"/>
                  </a:solidFill>
                  <a:latin typeface="Calibri"/>
                  <a:ea typeface="Calibri"/>
                  <a:cs typeface="Calibri"/>
                  <a:sym typeface="Calibri"/>
                </a:rPr>
                <a:t>오늘 Ace Cleaners가 가게를 청소했으며, 14일 이내에 결제할 수 있는 청구서를 남겼습니다.</a:t>
              </a:r>
              <a:endParaRPr sz="2000">
                <a:solidFill>
                  <a:schemeClr val="dk1"/>
                </a:solidFill>
                <a:latin typeface="Avenir"/>
                <a:ea typeface="Avenir"/>
                <a:cs typeface="Avenir"/>
                <a:sym typeface="Avenir"/>
              </a:endParaRPr>
            </a:p>
          </p:txBody>
        </p:sp>
        <p:sp>
          <p:nvSpPr>
            <p:cNvPr id="2334" name="Google Shape;2334;p66"/>
            <p:cNvSpPr txBox="1"/>
            <p:nvPr/>
          </p:nvSpPr>
          <p:spPr>
            <a:xfrm>
              <a:off x="7089520" y="1719858"/>
              <a:ext cx="1520398" cy="745310"/>
            </a:xfrm>
            <a:prstGeom prst="rect">
              <a:avLst/>
            </a:prstGeom>
            <a:solidFill>
              <a:srgbClr val="E1EFD8"/>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Cleaning</a:t>
              </a: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250</a:t>
              </a:r>
              <a:endParaRPr/>
            </a:p>
          </p:txBody>
        </p:sp>
        <p:sp>
          <p:nvSpPr>
            <p:cNvPr id="2335" name="Google Shape;2335;p66"/>
            <p:cNvSpPr txBox="1"/>
            <p:nvPr/>
          </p:nvSpPr>
          <p:spPr>
            <a:xfrm>
              <a:off x="8609917" y="1719858"/>
              <a:ext cx="1520398" cy="745310"/>
            </a:xfrm>
            <a:prstGeom prst="rect">
              <a:avLst/>
            </a:prstGeom>
            <a:solidFill>
              <a:srgbClr val="FBE4D4"/>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Accounts payable</a:t>
              </a:r>
              <a:endParaRPr b="1" sz="1600">
                <a:solidFill>
                  <a:srgbClr val="BFBFBF"/>
                </a:solidFill>
                <a:latin typeface="Avenir"/>
                <a:ea typeface="Avenir"/>
                <a:cs typeface="Avenir"/>
                <a:sym typeface="Aveni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250</a:t>
              </a:r>
              <a:endParaRPr/>
            </a:p>
          </p:txBody>
        </p:sp>
        <p:sp>
          <p:nvSpPr>
            <p:cNvPr id="2336" name="Google Shape;2336;p66"/>
            <p:cNvSpPr txBox="1"/>
            <p:nvPr/>
          </p:nvSpPr>
          <p:spPr>
            <a:xfrm>
              <a:off x="926134" y="1719857"/>
              <a:ext cx="715451"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9</a:t>
              </a:r>
              <a:endParaRPr/>
            </a:p>
          </p:txBody>
        </p:sp>
      </p:grpSp>
      <p:sp>
        <p:nvSpPr>
          <p:cNvPr id="2337" name="Google Shape;2337;p66"/>
          <p:cNvSpPr/>
          <p:nvPr/>
        </p:nvSpPr>
        <p:spPr>
          <a:xfrm rot="10800000">
            <a:off x="153289" y="4549188"/>
            <a:ext cx="950259" cy="1037381"/>
          </a:xfrm>
          <a:prstGeom prst="downArrow">
            <a:avLst>
              <a:gd fmla="val 50000" name="adj1"/>
              <a:gd fmla="val 50000" name="adj2"/>
            </a:avLst>
          </a:prstGeom>
          <a:solidFill>
            <a:schemeClr val="accent6">
              <a:alpha val="77647"/>
            </a:schemeClr>
          </a:solidFill>
          <a:ln>
            <a:noFill/>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338" name="Google Shape;2338;p66"/>
          <p:cNvSpPr/>
          <p:nvPr/>
        </p:nvSpPr>
        <p:spPr>
          <a:xfrm rot="10800000">
            <a:off x="11212336" y="839631"/>
            <a:ext cx="950259" cy="1037381"/>
          </a:xfrm>
          <a:prstGeom prst="downArrow">
            <a:avLst>
              <a:gd fmla="val 50000" name="adj1"/>
              <a:gd fmla="val 50000" name="adj2"/>
            </a:avLst>
          </a:prstGeom>
          <a:solidFill>
            <a:schemeClr val="accent2">
              <a:alpha val="77647"/>
            </a:schemeClr>
          </a:solidFill>
          <a:ln>
            <a:noFill/>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339" name="Google Shape;2339;p66"/>
          <p:cNvSpPr txBox="1"/>
          <p:nvPr/>
        </p:nvSpPr>
        <p:spPr>
          <a:xfrm>
            <a:off x="6403129" y="3421071"/>
            <a:ext cx="1548343" cy="566133"/>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400</a:t>
            </a:r>
            <a:endParaRPr sz="2400">
              <a:solidFill>
                <a:schemeClr val="dk1"/>
              </a:solidFill>
              <a:latin typeface="Calibri"/>
              <a:ea typeface="Calibri"/>
              <a:cs typeface="Calibri"/>
              <a:sym typeface="Calibri"/>
            </a:endParaRPr>
          </a:p>
        </p:txBody>
      </p:sp>
      <p:sp>
        <p:nvSpPr>
          <p:cNvPr id="2340" name="Google Shape;2340;p66"/>
          <p:cNvSpPr txBox="1"/>
          <p:nvPr/>
        </p:nvSpPr>
        <p:spPr>
          <a:xfrm>
            <a:off x="6403129" y="3419412"/>
            <a:ext cx="1548343" cy="566133"/>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650</a:t>
            </a:r>
            <a:endParaRPr sz="2400">
              <a:solidFill>
                <a:schemeClr val="dk1"/>
              </a:solidFill>
              <a:latin typeface="Calibri"/>
              <a:ea typeface="Calibri"/>
              <a:cs typeface="Calibri"/>
              <a:sym typeface="Calibri"/>
            </a:endParaRPr>
          </a:p>
        </p:txBody>
      </p:sp>
      <p:sp>
        <p:nvSpPr>
          <p:cNvPr id="2341" name="Google Shape;2341;p66"/>
          <p:cNvSpPr txBox="1"/>
          <p:nvPr/>
        </p:nvSpPr>
        <p:spPr>
          <a:xfrm>
            <a:off x="7267073" y="2508895"/>
            <a:ext cx="1683070" cy="756000"/>
          </a:xfrm>
          <a:prstGeom prst="rect">
            <a:avLst/>
          </a:prstGeom>
          <a:solidFill>
            <a:srgbClr val="548135"/>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250</a:t>
            </a:r>
            <a:endParaRPr/>
          </a:p>
        </p:txBody>
      </p:sp>
      <p:sp>
        <p:nvSpPr>
          <p:cNvPr id="2342" name="Google Shape;2342;p66"/>
          <p:cNvSpPr txBox="1"/>
          <p:nvPr/>
        </p:nvSpPr>
        <p:spPr>
          <a:xfrm>
            <a:off x="8950143" y="2513008"/>
            <a:ext cx="1683070" cy="756000"/>
          </a:xfrm>
          <a:prstGeom prst="rect">
            <a:avLst/>
          </a:prstGeom>
          <a:solidFill>
            <a:schemeClr val="accent2"/>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250</a:t>
            </a:r>
            <a:endParaRPr/>
          </a:p>
        </p:txBody>
      </p:sp>
    </p:spTree>
  </p:cSld>
  <p:clrMapOvr>
    <a:masterClrMapping/>
  </p:clrMapOvr>
  <mc:AlternateContent>
    <mc:Choice Requires="p14">
      <p:transition spd="slow" p14:dur="700">
        <p:fade/>
      </p:transition>
    </mc:Choice>
    <mc:Fallback>
      <p:transition spd="slow">
        <p:fade/>
      </p:transition>
    </mc:Fallback>
  </mc:AlternateContent>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afterEffect" presetClass="exit" presetID="10" presetSubtype="0">
                                  <p:stCondLst>
                                    <p:cond delay="0"/>
                                  </p:stCondLst>
                                  <p:childTnLst>
                                    <p:animEffect filter="fade" transition="out">
                                      <p:cBhvr>
                                        <p:cTn dur="1000"/>
                                        <p:tgtEl>
                                          <p:spTgt spid="2341"/>
                                        </p:tgtEl>
                                      </p:cBhvr>
                                    </p:animEffect>
                                    <p:set>
                                      <p:cBhvr>
                                        <p:cTn dur="1" fill="hold">
                                          <p:stCondLst>
                                            <p:cond delay="1000"/>
                                          </p:stCondLst>
                                        </p:cTn>
                                        <p:tgtEl>
                                          <p:spTgt spid="2341"/>
                                        </p:tgtEl>
                                        <p:attrNameLst>
                                          <p:attrName>style.visibility</p:attrName>
                                        </p:attrNameLst>
                                      </p:cBhvr>
                                      <p:to>
                                        <p:strVal val="hidden"/>
                                      </p:to>
                                    </p:set>
                                  </p:childTnLst>
                                </p:cTn>
                              </p:par>
                              <p:par>
                                <p:cTn fill="hold" nodeType="withEffect" presetClass="entr" presetID="10" presetSubtype="0">
                                  <p:stCondLst>
                                    <p:cond delay="0"/>
                                  </p:stCondLst>
                                  <p:childTnLst>
                                    <p:set>
                                      <p:cBhvr>
                                        <p:cTn dur="1" fill="hold">
                                          <p:stCondLst>
                                            <p:cond delay="0"/>
                                          </p:stCondLst>
                                        </p:cTn>
                                        <p:tgtEl>
                                          <p:spTgt spid="2296"/>
                                        </p:tgtEl>
                                        <p:attrNameLst>
                                          <p:attrName>style.visibility</p:attrName>
                                        </p:attrNameLst>
                                      </p:cBhvr>
                                      <p:to>
                                        <p:strVal val="visible"/>
                                      </p:to>
                                    </p:set>
                                    <p:animEffect filter="fade" transition="in">
                                      <p:cBhvr>
                                        <p:cTn dur="1000"/>
                                        <p:tgtEl>
                                          <p:spTgt spid="2296"/>
                                        </p:tgtEl>
                                      </p:cBhvr>
                                    </p:animEffect>
                                  </p:childTnLst>
                                </p:cTn>
                              </p:par>
                              <p:par>
                                <p:cTn fill="hold" nodeType="withEffect" presetClass="entr" presetID="10" presetSubtype="0">
                                  <p:stCondLst>
                                    <p:cond delay="0"/>
                                  </p:stCondLst>
                                  <p:childTnLst>
                                    <p:set>
                                      <p:cBhvr>
                                        <p:cTn dur="1" fill="hold">
                                          <p:stCondLst>
                                            <p:cond delay="0"/>
                                          </p:stCondLst>
                                        </p:cTn>
                                        <p:tgtEl>
                                          <p:spTgt spid="2236"/>
                                        </p:tgtEl>
                                        <p:attrNameLst>
                                          <p:attrName>style.visibility</p:attrName>
                                        </p:attrNameLst>
                                      </p:cBhvr>
                                      <p:to>
                                        <p:strVal val="visible"/>
                                      </p:to>
                                    </p:set>
                                    <p:animEffect filter="fade" transition="in">
                                      <p:cBhvr>
                                        <p:cTn dur="1000"/>
                                        <p:tgtEl>
                                          <p:spTgt spid="2236"/>
                                        </p:tgtEl>
                                      </p:cBhvr>
                                    </p:animEffect>
                                  </p:childTnLst>
                                </p:cTn>
                              </p:par>
                              <p:par>
                                <p:cTn fill="hold" nodeType="withEffect" presetClass="entr" presetID="10" presetSubtype="0">
                                  <p:stCondLst>
                                    <p:cond delay="0"/>
                                  </p:stCondLst>
                                  <p:childTnLst>
                                    <p:set>
                                      <p:cBhvr>
                                        <p:cTn dur="1" fill="hold">
                                          <p:stCondLst>
                                            <p:cond delay="0"/>
                                          </p:stCondLst>
                                        </p:cTn>
                                        <p:tgtEl>
                                          <p:spTgt spid="2235"/>
                                        </p:tgtEl>
                                        <p:attrNameLst>
                                          <p:attrName>style.visibility</p:attrName>
                                        </p:attrNameLst>
                                      </p:cBhvr>
                                      <p:to>
                                        <p:strVal val="visible"/>
                                      </p:to>
                                    </p:set>
                                    <p:animEffect filter="fade" transition="in">
                                      <p:cBhvr>
                                        <p:cTn dur="1000"/>
                                        <p:tgtEl>
                                          <p:spTgt spid="2235"/>
                                        </p:tgtEl>
                                      </p:cBhvr>
                                    </p:animEffect>
                                  </p:childTnLst>
                                </p:cTn>
                              </p:par>
                            </p:childTnLst>
                          </p:cTn>
                        </p:par>
                        <p:par>
                          <p:cTn fill="hold">
                            <p:stCondLst>
                              <p:cond delay="1000"/>
                            </p:stCondLst>
                            <p:childTnLst>
                              <p:par>
                                <p:cTn fill="hold" nodeType="afterEffect" presetClass="entr" presetID="10" presetSubtype="0">
                                  <p:stCondLst>
                                    <p:cond delay="0"/>
                                  </p:stCondLst>
                                  <p:childTnLst>
                                    <p:set>
                                      <p:cBhvr>
                                        <p:cTn dur="1" fill="hold">
                                          <p:stCondLst>
                                            <p:cond delay="0"/>
                                          </p:stCondLst>
                                        </p:cTn>
                                        <p:tgtEl>
                                          <p:spTgt spid="2339"/>
                                        </p:tgtEl>
                                        <p:attrNameLst>
                                          <p:attrName>style.visibility</p:attrName>
                                        </p:attrNameLst>
                                      </p:cBhvr>
                                      <p:to>
                                        <p:strVal val="visible"/>
                                      </p:to>
                                    </p:set>
                                    <p:animEffect filter="fade" transition="in">
                                      <p:cBhvr>
                                        <p:cTn dur="1000"/>
                                        <p:tgtEl>
                                          <p:spTgt spid="2339"/>
                                        </p:tgtEl>
                                      </p:cBhvr>
                                    </p:animEffect>
                                  </p:childTnLst>
                                </p:cTn>
                              </p:par>
                              <p:par>
                                <p:cTn fill="hold" nodeType="withEffect" presetClass="exit" presetID="10" presetSubtype="0">
                                  <p:stCondLst>
                                    <p:cond delay="0"/>
                                  </p:stCondLst>
                                  <p:childTnLst>
                                    <p:animEffect filter="fade" transition="out">
                                      <p:cBhvr>
                                        <p:cTn dur="500"/>
                                        <p:tgtEl>
                                          <p:spTgt spid="2340"/>
                                        </p:tgtEl>
                                      </p:cBhvr>
                                    </p:animEffect>
                                    <p:set>
                                      <p:cBhvr>
                                        <p:cTn dur="1" fill="hold">
                                          <p:stCondLst>
                                            <p:cond delay="500"/>
                                          </p:stCondLst>
                                        </p:cTn>
                                        <p:tgtEl>
                                          <p:spTgt spid="2340"/>
                                        </p:tgtEl>
                                        <p:attrNameLst>
                                          <p:attrName>style.visibility</p:attrName>
                                        </p:attrNameLst>
                                      </p:cBhvr>
                                      <p:to>
                                        <p:strVal val="hidden"/>
                                      </p:to>
                                    </p:set>
                                  </p:childTnLst>
                                </p:cTn>
                              </p:par>
                            </p:childTnLst>
                          </p:cTn>
                        </p:par>
                        <p:par>
                          <p:cTn fill="hold">
                            <p:stCondLst>
                              <p:cond delay="2000"/>
                            </p:stCondLst>
                            <p:childTnLst>
                              <p:par>
                                <p:cTn fill="hold" nodeType="afterEffect" presetClass="exit" presetID="10" presetSubtype="0">
                                  <p:stCondLst>
                                    <p:cond delay="0"/>
                                  </p:stCondLst>
                                  <p:childTnLst>
                                    <p:animEffect filter="fade" transition="out">
                                      <p:cBhvr>
                                        <p:cTn dur="1000"/>
                                        <p:tgtEl>
                                          <p:spTgt spid="2342"/>
                                        </p:tgtEl>
                                      </p:cBhvr>
                                    </p:animEffect>
                                    <p:set>
                                      <p:cBhvr>
                                        <p:cTn dur="1" fill="hold">
                                          <p:stCondLst>
                                            <p:cond delay="1000"/>
                                          </p:stCondLst>
                                        </p:cTn>
                                        <p:tgtEl>
                                          <p:spTgt spid="2342"/>
                                        </p:tgtEl>
                                        <p:attrNameLst>
                                          <p:attrName>style.visibility</p:attrName>
                                        </p:attrNameLst>
                                      </p:cBhvr>
                                      <p:to>
                                        <p:strVal val="hidden"/>
                                      </p:to>
                                    </p:set>
                                  </p:childTnLst>
                                </p:cTn>
                              </p:par>
                              <p:par>
                                <p:cTn fill="hold" nodeType="withEffect" presetClass="entr" presetID="10" presetSubtype="0">
                                  <p:stCondLst>
                                    <p:cond delay="0"/>
                                  </p:stCondLst>
                                  <p:childTnLst>
                                    <p:set>
                                      <p:cBhvr>
                                        <p:cTn dur="1" fill="hold">
                                          <p:stCondLst>
                                            <p:cond delay="0"/>
                                          </p:stCondLst>
                                        </p:cTn>
                                        <p:tgtEl>
                                          <p:spTgt spid="2299"/>
                                        </p:tgtEl>
                                        <p:attrNameLst>
                                          <p:attrName>style.visibility</p:attrName>
                                        </p:attrNameLst>
                                      </p:cBhvr>
                                      <p:to>
                                        <p:strVal val="visible"/>
                                      </p:to>
                                    </p:set>
                                    <p:animEffect filter="fade" transition="in">
                                      <p:cBhvr>
                                        <p:cTn dur="1000"/>
                                        <p:tgtEl>
                                          <p:spTgt spid="2299"/>
                                        </p:tgtEl>
                                      </p:cBhvr>
                                    </p:animEffect>
                                  </p:childTnLst>
                                </p:cTn>
                              </p:par>
                              <p:par>
                                <p:cTn fill="hold" nodeType="withEffect" presetClass="entr" presetID="10" presetSubtype="0">
                                  <p:stCondLst>
                                    <p:cond delay="0"/>
                                  </p:stCondLst>
                                  <p:childTnLst>
                                    <p:set>
                                      <p:cBhvr>
                                        <p:cTn dur="1" fill="hold">
                                          <p:stCondLst>
                                            <p:cond delay="0"/>
                                          </p:stCondLst>
                                        </p:cTn>
                                        <p:tgtEl>
                                          <p:spTgt spid="2238"/>
                                        </p:tgtEl>
                                        <p:attrNameLst>
                                          <p:attrName>style.visibility</p:attrName>
                                        </p:attrNameLst>
                                      </p:cBhvr>
                                      <p:to>
                                        <p:strVal val="visible"/>
                                      </p:to>
                                    </p:set>
                                    <p:animEffect filter="fade" transition="in">
                                      <p:cBhvr>
                                        <p:cTn dur="1000"/>
                                        <p:tgtEl>
                                          <p:spTgt spid="2238"/>
                                        </p:tgtEl>
                                      </p:cBhvr>
                                    </p:animEffect>
                                  </p:childTnLst>
                                </p:cTn>
                              </p:par>
                              <p:par>
                                <p:cTn fill="hold" nodeType="withEffect" presetClass="entr" presetID="10" presetSubtype="0">
                                  <p:stCondLst>
                                    <p:cond delay="0"/>
                                  </p:stCondLst>
                                  <p:childTnLst>
                                    <p:set>
                                      <p:cBhvr>
                                        <p:cTn dur="1" fill="hold">
                                          <p:stCondLst>
                                            <p:cond delay="0"/>
                                          </p:stCondLst>
                                        </p:cTn>
                                        <p:tgtEl>
                                          <p:spTgt spid="2237"/>
                                        </p:tgtEl>
                                        <p:attrNameLst>
                                          <p:attrName>style.visibility</p:attrName>
                                        </p:attrNameLst>
                                      </p:cBhvr>
                                      <p:to>
                                        <p:strVal val="visible"/>
                                      </p:to>
                                    </p:set>
                                    <p:animEffect filter="fade" transition="in">
                                      <p:cBhvr>
                                        <p:cTn dur="1000"/>
                                        <p:tgtEl>
                                          <p:spTgt spid="223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337"/>
                                        </p:tgtEl>
                                        <p:attrNameLst>
                                          <p:attrName>style.visibility</p:attrName>
                                        </p:attrNameLst>
                                      </p:cBhvr>
                                      <p:to>
                                        <p:strVal val="visible"/>
                                      </p:to>
                                    </p:set>
                                    <p:animEffect filter="fade" transition="in">
                                      <p:cBhvr>
                                        <p:cTn dur="1000"/>
                                        <p:tgtEl>
                                          <p:spTgt spid="2337"/>
                                        </p:tgtEl>
                                      </p:cBhvr>
                                    </p:animEffect>
                                  </p:childTnLst>
                                </p:cTn>
                              </p:par>
                              <p:par>
                                <p:cTn fill="hold" nodeType="withEffect" presetClass="entr" presetID="10" presetSubtype="0">
                                  <p:stCondLst>
                                    <p:cond delay="0"/>
                                  </p:stCondLst>
                                  <p:childTnLst>
                                    <p:set>
                                      <p:cBhvr>
                                        <p:cTn dur="1" fill="hold">
                                          <p:stCondLst>
                                            <p:cond delay="0"/>
                                          </p:stCondLst>
                                        </p:cTn>
                                        <p:tgtEl>
                                          <p:spTgt spid="2338"/>
                                        </p:tgtEl>
                                        <p:attrNameLst>
                                          <p:attrName>style.visibility</p:attrName>
                                        </p:attrNameLst>
                                      </p:cBhvr>
                                      <p:to>
                                        <p:strVal val="visible"/>
                                      </p:to>
                                    </p:set>
                                    <p:animEffect filter="fade" transition="in">
                                      <p:cBhvr>
                                        <p:cTn dur="1000"/>
                                        <p:tgtEl>
                                          <p:spTgt spid="233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47" name="Shape 2347"/>
        <p:cNvGrpSpPr/>
        <p:nvPr/>
      </p:nvGrpSpPr>
      <p:grpSpPr>
        <a:xfrm>
          <a:off x="0" y="0"/>
          <a:ext cx="0" cy="0"/>
          <a:chOff x="0" y="0"/>
          <a:chExt cx="0" cy="0"/>
        </a:xfrm>
      </p:grpSpPr>
      <p:sp>
        <p:nvSpPr>
          <p:cNvPr id="2348" name="Google Shape;2348;p67"/>
          <p:cNvSpPr txBox="1"/>
          <p:nvPr/>
        </p:nvSpPr>
        <p:spPr>
          <a:xfrm>
            <a:off x="4187006" y="284371"/>
            <a:ext cx="3629520"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grpSp>
        <p:nvGrpSpPr>
          <p:cNvPr id="2349" name="Google Shape;2349;p67"/>
          <p:cNvGrpSpPr/>
          <p:nvPr/>
        </p:nvGrpSpPr>
        <p:grpSpPr>
          <a:xfrm>
            <a:off x="1284576" y="2130924"/>
            <a:ext cx="10188969" cy="756004"/>
            <a:chOff x="926134" y="1719856"/>
            <a:chExt cx="9204181" cy="750147"/>
          </a:xfrm>
        </p:grpSpPr>
        <p:sp>
          <p:nvSpPr>
            <p:cNvPr id="2350" name="Google Shape;2350;p67"/>
            <p:cNvSpPr txBox="1"/>
            <p:nvPr/>
          </p:nvSpPr>
          <p:spPr>
            <a:xfrm>
              <a:off x="1641585" y="1719860"/>
              <a:ext cx="5447935"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139700" marR="0" rtl="0" algn="l">
                <a:spcBef>
                  <a:spcPts val="0"/>
                </a:spcBef>
                <a:spcAft>
                  <a:spcPts val="0"/>
                </a:spcAft>
                <a:buNone/>
              </a:pPr>
              <a:r>
                <a:rPr lang="en-US" sz="2000">
                  <a:solidFill>
                    <a:schemeClr val="dk1"/>
                  </a:solidFill>
                  <a:latin typeface="Calibri"/>
                  <a:ea typeface="Calibri"/>
                  <a:cs typeface="Calibri"/>
                  <a:sym typeface="Calibri"/>
                </a:rPr>
                <a:t>고객 C가 방문하여 선물용 상품권을 현금으로 구매함. 현금은 은행에 입금함.</a:t>
              </a:r>
              <a:endParaRPr sz="2000">
                <a:solidFill>
                  <a:schemeClr val="dk1"/>
                </a:solidFill>
                <a:latin typeface="Avenir"/>
                <a:ea typeface="Avenir"/>
                <a:cs typeface="Avenir"/>
                <a:sym typeface="Avenir"/>
              </a:endParaRPr>
            </a:p>
          </p:txBody>
        </p:sp>
        <p:sp>
          <p:nvSpPr>
            <p:cNvPr id="2351" name="Google Shape;2351;p67"/>
            <p:cNvSpPr txBox="1"/>
            <p:nvPr/>
          </p:nvSpPr>
          <p:spPr>
            <a:xfrm>
              <a:off x="7089520" y="1719858"/>
              <a:ext cx="1520398" cy="745310"/>
            </a:xfrm>
            <a:prstGeom prst="rect">
              <a:avLst/>
            </a:prstGeom>
            <a:solidFill>
              <a:srgbClr val="E1EFD8"/>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Cash</a:t>
              </a: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100</a:t>
              </a:r>
              <a:endParaRPr/>
            </a:p>
          </p:txBody>
        </p:sp>
        <p:sp>
          <p:nvSpPr>
            <p:cNvPr id="2352" name="Google Shape;2352;p67"/>
            <p:cNvSpPr txBox="1"/>
            <p:nvPr/>
          </p:nvSpPr>
          <p:spPr>
            <a:xfrm>
              <a:off x="8609917" y="1719858"/>
              <a:ext cx="1520398" cy="745310"/>
            </a:xfrm>
            <a:prstGeom prst="rect">
              <a:avLst/>
            </a:prstGeom>
            <a:solidFill>
              <a:srgbClr val="FBE4D4"/>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Deferred income</a:t>
              </a:r>
              <a:endParaRPr b="1" sz="1600">
                <a:solidFill>
                  <a:srgbClr val="BFBFBF"/>
                </a:solidFill>
                <a:latin typeface="Avenir"/>
                <a:ea typeface="Avenir"/>
                <a:cs typeface="Avenir"/>
                <a:sym typeface="Aveni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100</a:t>
              </a:r>
              <a:endParaRPr/>
            </a:p>
          </p:txBody>
        </p:sp>
        <p:sp>
          <p:nvSpPr>
            <p:cNvPr id="2353" name="Google Shape;2353;p67"/>
            <p:cNvSpPr txBox="1"/>
            <p:nvPr/>
          </p:nvSpPr>
          <p:spPr>
            <a:xfrm>
              <a:off x="926134" y="1719856"/>
              <a:ext cx="715451"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10</a:t>
              </a:r>
              <a:endParaRPr/>
            </a:p>
          </p:txBody>
        </p:sp>
      </p:grpSp>
      <p:sp>
        <p:nvSpPr>
          <p:cNvPr id="2354" name="Google Shape;2354;p67"/>
          <p:cNvSpPr txBox="1"/>
          <p:nvPr/>
        </p:nvSpPr>
        <p:spPr>
          <a:xfrm>
            <a:off x="8111143" y="2130928"/>
            <a:ext cx="1681200" cy="756000"/>
          </a:xfrm>
          <a:prstGeom prst="rect">
            <a:avLst/>
          </a:prstGeom>
          <a:solidFill>
            <a:srgbClr val="548135"/>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100</a:t>
            </a:r>
            <a:endParaRPr/>
          </a:p>
        </p:txBody>
      </p:sp>
      <p:sp>
        <p:nvSpPr>
          <p:cNvPr id="2355" name="Google Shape;2355;p67"/>
          <p:cNvSpPr txBox="1"/>
          <p:nvPr/>
        </p:nvSpPr>
        <p:spPr>
          <a:xfrm>
            <a:off x="9794213" y="2130928"/>
            <a:ext cx="1681200" cy="756000"/>
          </a:xfrm>
          <a:prstGeom prst="rect">
            <a:avLst/>
          </a:prstGeom>
          <a:solidFill>
            <a:schemeClr val="accent2"/>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100</a:t>
            </a:r>
            <a:endParaRPr/>
          </a:p>
        </p:txBody>
      </p:sp>
      <p:cxnSp>
        <p:nvCxnSpPr>
          <p:cNvPr id="2356" name="Google Shape;2356;p67"/>
          <p:cNvCxnSpPr/>
          <p:nvPr/>
        </p:nvCxnSpPr>
        <p:spPr>
          <a:xfrm>
            <a:off x="4316098" y="717845"/>
            <a:ext cx="3375212" cy="0"/>
          </a:xfrm>
          <a:prstGeom prst="straightConnector1">
            <a:avLst/>
          </a:prstGeom>
          <a:noFill/>
          <a:ln cap="flat" cmpd="sng" w="28575">
            <a:solidFill>
              <a:schemeClr val="accent1"/>
            </a:solidFill>
            <a:prstDash val="dot"/>
            <a:miter lim="800000"/>
            <a:headEnd len="sm" w="sm" type="none"/>
            <a:tailEnd len="sm" w="sm" type="none"/>
          </a:ln>
        </p:spPr>
      </p:cxnSp>
      <p:sp>
        <p:nvSpPr>
          <p:cNvPr id="2357" name="Google Shape;2357;p67"/>
          <p:cNvSpPr/>
          <p:nvPr/>
        </p:nvSpPr>
        <p:spPr>
          <a:xfrm>
            <a:off x="1284578" y="1520543"/>
            <a:ext cx="2024679" cy="42011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2130">
                <a:solidFill>
                  <a:schemeClr val="dk1"/>
                </a:solidFill>
                <a:latin typeface="Avenir"/>
                <a:ea typeface="Avenir"/>
                <a:cs typeface="Avenir"/>
                <a:sym typeface="Avenir"/>
              </a:rPr>
              <a:t>21 February</a:t>
            </a:r>
            <a:endParaRPr sz="2130">
              <a:solidFill>
                <a:schemeClr val="dk1"/>
              </a:solidFill>
              <a:latin typeface="Avenir"/>
              <a:ea typeface="Avenir"/>
              <a:cs typeface="Avenir"/>
              <a:sym typeface="Avenir"/>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62" name="Shape 2362"/>
        <p:cNvGrpSpPr/>
        <p:nvPr/>
      </p:nvGrpSpPr>
      <p:grpSpPr>
        <a:xfrm>
          <a:off x="0" y="0"/>
          <a:ext cx="0" cy="0"/>
          <a:chOff x="0" y="0"/>
          <a:chExt cx="0" cy="0"/>
        </a:xfrm>
      </p:grpSpPr>
      <p:sp>
        <p:nvSpPr>
          <p:cNvPr id="2363" name="Google Shape;2363;p68"/>
          <p:cNvSpPr txBox="1"/>
          <p:nvPr/>
        </p:nvSpPr>
        <p:spPr>
          <a:xfrm>
            <a:off x="4187006" y="133386"/>
            <a:ext cx="3629520"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cxnSp>
        <p:nvCxnSpPr>
          <p:cNvPr id="2364" name="Google Shape;2364;p68"/>
          <p:cNvCxnSpPr/>
          <p:nvPr/>
        </p:nvCxnSpPr>
        <p:spPr>
          <a:xfrm>
            <a:off x="4316098" y="566860"/>
            <a:ext cx="3375212" cy="0"/>
          </a:xfrm>
          <a:prstGeom prst="straightConnector1">
            <a:avLst/>
          </a:prstGeom>
          <a:noFill/>
          <a:ln cap="flat" cmpd="sng" w="28575">
            <a:solidFill>
              <a:schemeClr val="accent1"/>
            </a:solidFill>
            <a:prstDash val="dot"/>
            <a:miter lim="800000"/>
            <a:headEnd len="sm" w="sm" type="none"/>
            <a:tailEnd len="sm" w="sm" type="none"/>
          </a:ln>
        </p:spPr>
      </p:cxnSp>
      <p:grpSp>
        <p:nvGrpSpPr>
          <p:cNvPr id="2365" name="Google Shape;2365;p68"/>
          <p:cNvGrpSpPr/>
          <p:nvPr/>
        </p:nvGrpSpPr>
        <p:grpSpPr>
          <a:xfrm>
            <a:off x="492858" y="773769"/>
            <a:ext cx="11291146" cy="5895963"/>
            <a:chOff x="492858" y="773769"/>
            <a:chExt cx="11291146" cy="5895963"/>
          </a:xfrm>
        </p:grpSpPr>
        <p:sp>
          <p:nvSpPr>
            <p:cNvPr id="2366" name="Google Shape;2366;p68"/>
            <p:cNvSpPr txBox="1"/>
            <p:nvPr/>
          </p:nvSpPr>
          <p:spPr>
            <a:xfrm>
              <a:off x="6227788" y="2623662"/>
              <a:ext cx="5556216" cy="1692844"/>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Equity</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2367" name="Google Shape;2367;p68"/>
            <p:cNvSpPr txBox="1"/>
            <p:nvPr/>
          </p:nvSpPr>
          <p:spPr>
            <a:xfrm>
              <a:off x="6410845" y="3135649"/>
              <a:ext cx="1544844" cy="770509"/>
            </a:xfrm>
            <a:prstGeom prst="rect">
              <a:avLst/>
            </a:prstGeom>
            <a:noFill/>
            <a:ln cap="flat" cmpd="sng" w="5715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ctr">
                <a:lnSpc>
                  <a:spcPct val="120000"/>
                </a:lnSpc>
                <a:spcBef>
                  <a:spcPts val="0"/>
                </a:spcBef>
                <a:spcAft>
                  <a:spcPts val="0"/>
                </a:spcAft>
                <a:buNone/>
              </a:pPr>
              <a:r>
                <a:rPr b="1" lang="en-US" sz="2200">
                  <a:solidFill>
                    <a:srgbClr val="942093"/>
                  </a:solidFill>
                  <a:latin typeface="Avenir"/>
                  <a:ea typeface="Avenir"/>
                  <a:cs typeface="Avenir"/>
                  <a:sym typeface="Avenir"/>
                </a:rPr>
                <a:t>Profit</a:t>
              </a:r>
              <a:endParaRPr/>
            </a:p>
          </p:txBody>
        </p:sp>
        <p:sp>
          <p:nvSpPr>
            <p:cNvPr id="2368" name="Google Shape;2368;p68"/>
            <p:cNvSpPr txBox="1"/>
            <p:nvPr/>
          </p:nvSpPr>
          <p:spPr>
            <a:xfrm>
              <a:off x="6227788" y="773769"/>
              <a:ext cx="5556216" cy="1702674"/>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Liabilities</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grpSp>
          <p:nvGrpSpPr>
            <p:cNvPr id="2369" name="Google Shape;2369;p68"/>
            <p:cNvGrpSpPr/>
            <p:nvPr/>
          </p:nvGrpSpPr>
          <p:grpSpPr>
            <a:xfrm>
              <a:off x="492858" y="3906158"/>
              <a:ext cx="11291146" cy="2763574"/>
              <a:chOff x="1354633" y="4399872"/>
              <a:chExt cx="9550931" cy="2121952"/>
            </a:xfrm>
          </p:grpSpPr>
          <p:sp>
            <p:nvSpPr>
              <p:cNvPr id="2370" name="Google Shape;2370;p68"/>
              <p:cNvSpPr txBox="1"/>
              <p:nvPr/>
            </p:nvSpPr>
            <p:spPr>
              <a:xfrm>
                <a:off x="1354633" y="4813260"/>
                <a:ext cx="9550931" cy="1708564"/>
              </a:xfrm>
              <a:prstGeom prst="rect">
                <a:avLst/>
              </a:prstGeom>
              <a:solidFill>
                <a:srgbClr val="FCECFB"/>
              </a:solidFill>
              <a:ln cap="flat" cmpd="sng" w="7620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b="1" lang="en-US" sz="2800">
                    <a:solidFill>
                      <a:schemeClr val="dk1"/>
                    </a:solidFill>
                    <a:latin typeface="Avenir"/>
                    <a:ea typeface="Avenir"/>
                    <a:cs typeface="Avenir"/>
                    <a:sym typeface="Avenir"/>
                  </a:rPr>
                  <a:t> </a:t>
                </a:r>
                <a:endParaRPr/>
              </a:p>
            </p:txBody>
          </p:sp>
          <p:sp>
            <p:nvSpPr>
              <p:cNvPr id="2371" name="Google Shape;2371;p68"/>
              <p:cNvSpPr txBox="1"/>
              <p:nvPr/>
            </p:nvSpPr>
            <p:spPr>
              <a:xfrm>
                <a:off x="6199863" y="4921166"/>
                <a:ext cx="4576976" cy="1495361"/>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Income</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2372" name="Google Shape;2372;p68"/>
              <p:cNvSpPr txBox="1"/>
              <p:nvPr/>
            </p:nvSpPr>
            <p:spPr>
              <a:xfrm>
                <a:off x="1481256" y="4921166"/>
                <a:ext cx="4552539" cy="1495361"/>
              </a:xfrm>
              <a:prstGeom prst="rect">
                <a:avLst/>
              </a:prstGeom>
              <a:solidFill>
                <a:srgbClr val="E1EFD8"/>
              </a:solid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None/>
                </a:pPr>
                <a:r>
                  <a:rPr b="1" lang="en-US" sz="2800">
                    <a:solidFill>
                      <a:srgbClr val="E1EFD8"/>
                    </a:solidFill>
                    <a:latin typeface="Avenir"/>
                    <a:ea typeface="Avenir"/>
                    <a:cs typeface="Avenir"/>
                    <a:sym typeface="Avenir"/>
                  </a:rPr>
                  <a:t>_</a:t>
                </a:r>
                <a:r>
                  <a:rPr b="1" lang="en-US" sz="2000">
                    <a:solidFill>
                      <a:schemeClr val="dk1"/>
                    </a:solidFill>
                    <a:latin typeface="Avenir"/>
                    <a:ea typeface="Avenir"/>
                    <a:cs typeface="Avenir"/>
                    <a:sym typeface="Avenir"/>
                  </a:rPr>
                  <a:t>Expenses</a:t>
                </a:r>
                <a:endParaRPr b="1" sz="2800">
                  <a:solidFill>
                    <a:schemeClr val="dk1"/>
                  </a:solidFill>
                  <a:latin typeface="Avenir"/>
                  <a:ea typeface="Avenir"/>
                  <a:cs typeface="Avenir"/>
                  <a:sym typeface="Avenir"/>
                </a:endParaRPr>
              </a:p>
            </p:txBody>
          </p:sp>
          <p:cxnSp>
            <p:nvCxnSpPr>
              <p:cNvPr id="2373" name="Google Shape;2373;p68"/>
              <p:cNvCxnSpPr>
                <a:stCxn id="2367" idx="2"/>
              </p:cNvCxnSpPr>
              <p:nvPr/>
            </p:nvCxnSpPr>
            <p:spPr>
              <a:xfrm>
                <a:off x="7013902" y="4399872"/>
                <a:ext cx="7500" cy="434700"/>
              </a:xfrm>
              <a:prstGeom prst="straightConnector1">
                <a:avLst/>
              </a:prstGeom>
              <a:noFill/>
              <a:ln cap="flat" cmpd="sng" w="76200">
                <a:solidFill>
                  <a:srgbClr val="942093"/>
                </a:solidFill>
                <a:prstDash val="solid"/>
                <a:miter lim="800000"/>
                <a:headEnd len="sm" w="sm" type="none"/>
                <a:tailEnd len="sm" w="sm" type="none"/>
              </a:ln>
            </p:spPr>
          </p:cxnSp>
        </p:grpSp>
        <p:sp>
          <p:nvSpPr>
            <p:cNvPr id="2374" name="Google Shape;2374;p68"/>
            <p:cNvSpPr txBox="1"/>
            <p:nvPr/>
          </p:nvSpPr>
          <p:spPr>
            <a:xfrm>
              <a:off x="492858" y="773769"/>
              <a:ext cx="5544457" cy="3542737"/>
            </a:xfrm>
            <a:prstGeom prst="rect">
              <a:avLst/>
            </a:prstGeom>
            <a:solidFill>
              <a:srgbClr val="E1EFD8"/>
            </a:solid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None/>
              </a:pPr>
              <a:r>
                <a:rPr b="1" lang="en-US" sz="2800">
                  <a:solidFill>
                    <a:srgbClr val="E1EFD8"/>
                  </a:solidFill>
                  <a:latin typeface="Avenir"/>
                  <a:ea typeface="Avenir"/>
                  <a:cs typeface="Avenir"/>
                  <a:sym typeface="Avenir"/>
                </a:rPr>
                <a:t>_</a:t>
              </a:r>
              <a:r>
                <a:rPr b="1" lang="en-US" sz="2000">
                  <a:solidFill>
                    <a:schemeClr val="dk1"/>
                  </a:solidFill>
                  <a:latin typeface="Avenir"/>
                  <a:ea typeface="Avenir"/>
                  <a:cs typeface="Avenir"/>
                  <a:sym typeface="Avenir"/>
                </a:rPr>
                <a:t>Assets</a:t>
              </a:r>
              <a:endParaRPr b="1" sz="2800">
                <a:solidFill>
                  <a:schemeClr val="dk1"/>
                </a:solidFill>
                <a:latin typeface="Avenir"/>
                <a:ea typeface="Avenir"/>
                <a:cs typeface="Avenir"/>
                <a:sym typeface="Avenir"/>
              </a:endParaRPr>
            </a:p>
          </p:txBody>
        </p:sp>
      </p:grpSp>
      <p:grpSp>
        <p:nvGrpSpPr>
          <p:cNvPr id="2375" name="Google Shape;2375;p68"/>
          <p:cNvGrpSpPr/>
          <p:nvPr/>
        </p:nvGrpSpPr>
        <p:grpSpPr>
          <a:xfrm>
            <a:off x="4248000" y="2850495"/>
            <a:ext cx="1620000" cy="1116000"/>
            <a:chOff x="3810000" y="2381250"/>
            <a:chExt cx="1390650" cy="1230631"/>
          </a:xfrm>
        </p:grpSpPr>
        <p:sp>
          <p:nvSpPr>
            <p:cNvPr id="2376" name="Google Shape;2376;p68"/>
            <p:cNvSpPr/>
            <p:nvPr/>
          </p:nvSpPr>
          <p:spPr>
            <a:xfrm flipH="1">
              <a:off x="4505325" y="2381250"/>
              <a:ext cx="695325" cy="1230631"/>
            </a:xfrm>
            <a:prstGeom prst="corner">
              <a:avLst>
                <a:gd fmla="val 7073" name="adj1"/>
                <a:gd fmla="val 694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2377" name="Google Shape;2377;p68"/>
            <p:cNvSpPr/>
            <p:nvPr/>
          </p:nvSpPr>
          <p:spPr>
            <a:xfrm>
              <a:off x="3810000" y="2381250"/>
              <a:ext cx="695325" cy="1230631"/>
            </a:xfrm>
            <a:prstGeom prst="corner">
              <a:avLst>
                <a:gd fmla="val 7073" name="adj1"/>
                <a:gd fmla="val 694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2378" name="Google Shape;2378;p68"/>
          <p:cNvGrpSpPr/>
          <p:nvPr/>
        </p:nvGrpSpPr>
        <p:grpSpPr>
          <a:xfrm>
            <a:off x="2458800" y="1994708"/>
            <a:ext cx="1620000" cy="1963989"/>
            <a:chOff x="671549" y="1402787"/>
            <a:chExt cx="1620000" cy="2549293"/>
          </a:xfrm>
        </p:grpSpPr>
        <p:sp>
          <p:nvSpPr>
            <p:cNvPr id="2379" name="Google Shape;2379;p68"/>
            <p:cNvSpPr/>
            <p:nvPr/>
          </p:nvSpPr>
          <p:spPr>
            <a:xfrm flipH="1">
              <a:off x="1481549" y="1402787"/>
              <a:ext cx="810000" cy="2549293"/>
            </a:xfrm>
            <a:prstGeom prst="corner">
              <a:avLst>
                <a:gd fmla="val 6497" name="adj1"/>
                <a:gd fmla="val 694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1800">
                <a:solidFill>
                  <a:schemeClr val="lt1"/>
                </a:solidFill>
                <a:latin typeface="Avenir"/>
                <a:ea typeface="Avenir"/>
                <a:cs typeface="Avenir"/>
                <a:sym typeface="Avenir"/>
              </a:endParaRPr>
            </a:p>
          </p:txBody>
        </p:sp>
        <p:sp>
          <p:nvSpPr>
            <p:cNvPr id="2380" name="Google Shape;2380;p68"/>
            <p:cNvSpPr/>
            <p:nvPr/>
          </p:nvSpPr>
          <p:spPr>
            <a:xfrm>
              <a:off x="671549" y="1402787"/>
              <a:ext cx="810000" cy="2549293"/>
            </a:xfrm>
            <a:prstGeom prst="corner">
              <a:avLst>
                <a:gd fmla="val 6497" name="adj1"/>
                <a:gd fmla="val 7336"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1800">
                <a:solidFill>
                  <a:schemeClr val="lt1"/>
                </a:solidFill>
                <a:latin typeface="Avenir"/>
                <a:ea typeface="Avenir"/>
                <a:cs typeface="Avenir"/>
                <a:sym typeface="Avenir"/>
              </a:endParaRPr>
            </a:p>
          </p:txBody>
        </p:sp>
      </p:grpSp>
      <p:grpSp>
        <p:nvGrpSpPr>
          <p:cNvPr id="2381" name="Google Shape;2381;p68"/>
          <p:cNvGrpSpPr/>
          <p:nvPr/>
        </p:nvGrpSpPr>
        <p:grpSpPr>
          <a:xfrm>
            <a:off x="673200" y="3340800"/>
            <a:ext cx="1620000" cy="613673"/>
            <a:chOff x="3810000" y="2381250"/>
            <a:chExt cx="1390650" cy="1230631"/>
          </a:xfrm>
        </p:grpSpPr>
        <p:sp>
          <p:nvSpPr>
            <p:cNvPr id="2382" name="Google Shape;2382;p68"/>
            <p:cNvSpPr/>
            <p:nvPr/>
          </p:nvSpPr>
          <p:spPr>
            <a:xfrm flipH="1">
              <a:off x="4505325"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2383" name="Google Shape;2383;p68"/>
            <p:cNvSpPr/>
            <p:nvPr/>
          </p:nvSpPr>
          <p:spPr>
            <a:xfrm>
              <a:off x="3810000"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sp>
        <p:nvSpPr>
          <p:cNvPr id="2384" name="Google Shape;2384;p68"/>
          <p:cNvSpPr txBox="1"/>
          <p:nvPr/>
        </p:nvSpPr>
        <p:spPr>
          <a:xfrm>
            <a:off x="2551146" y="3924000"/>
            <a:ext cx="1393331"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Cash at bank</a:t>
            </a:r>
            <a:endParaRPr/>
          </a:p>
        </p:txBody>
      </p:sp>
      <p:sp>
        <p:nvSpPr>
          <p:cNvPr id="2385" name="Google Shape;2385;p68"/>
          <p:cNvSpPr txBox="1"/>
          <p:nvPr/>
        </p:nvSpPr>
        <p:spPr>
          <a:xfrm>
            <a:off x="4292494" y="3924000"/>
            <a:ext cx="1531779"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Inventory</a:t>
            </a:r>
            <a:endParaRPr/>
          </a:p>
        </p:txBody>
      </p:sp>
      <p:sp>
        <p:nvSpPr>
          <p:cNvPr id="2386" name="Google Shape;2386;p68"/>
          <p:cNvSpPr txBox="1"/>
          <p:nvPr/>
        </p:nvSpPr>
        <p:spPr>
          <a:xfrm>
            <a:off x="661400" y="3924000"/>
            <a:ext cx="1647322"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Equipment</a:t>
            </a:r>
            <a:endParaRPr/>
          </a:p>
        </p:txBody>
      </p:sp>
      <p:sp>
        <p:nvSpPr>
          <p:cNvPr id="2387" name="Google Shape;2387;p68"/>
          <p:cNvSpPr txBox="1"/>
          <p:nvPr/>
        </p:nvSpPr>
        <p:spPr>
          <a:xfrm>
            <a:off x="2596439" y="5339671"/>
            <a:ext cx="1590567"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Cleaning</a:t>
            </a:r>
            <a:endParaRPr/>
          </a:p>
        </p:txBody>
      </p:sp>
      <p:sp>
        <p:nvSpPr>
          <p:cNvPr id="2388" name="Google Shape;2388;p68"/>
          <p:cNvSpPr txBox="1"/>
          <p:nvPr/>
        </p:nvSpPr>
        <p:spPr>
          <a:xfrm>
            <a:off x="4306077" y="6192000"/>
            <a:ext cx="1606417"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Cost of sales</a:t>
            </a:r>
            <a:endParaRPr/>
          </a:p>
        </p:txBody>
      </p:sp>
      <p:sp>
        <p:nvSpPr>
          <p:cNvPr id="2389" name="Google Shape;2389;p68"/>
          <p:cNvSpPr txBox="1"/>
          <p:nvPr/>
        </p:nvSpPr>
        <p:spPr>
          <a:xfrm>
            <a:off x="6295758" y="6192000"/>
            <a:ext cx="1842786"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Revenue (sales)</a:t>
            </a:r>
            <a:endParaRPr/>
          </a:p>
        </p:txBody>
      </p:sp>
      <p:sp>
        <p:nvSpPr>
          <p:cNvPr id="2390" name="Google Shape;2390;p68"/>
          <p:cNvSpPr txBox="1"/>
          <p:nvPr/>
        </p:nvSpPr>
        <p:spPr>
          <a:xfrm>
            <a:off x="10028967" y="2029411"/>
            <a:ext cx="1593685"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Bank loan</a:t>
            </a:r>
            <a:endParaRPr/>
          </a:p>
        </p:txBody>
      </p:sp>
      <p:sp>
        <p:nvSpPr>
          <p:cNvPr id="2391" name="Google Shape;2391;p68"/>
          <p:cNvSpPr txBox="1"/>
          <p:nvPr/>
        </p:nvSpPr>
        <p:spPr>
          <a:xfrm>
            <a:off x="8114313" y="2028286"/>
            <a:ext cx="1864201"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Deferred income</a:t>
            </a:r>
            <a:endParaRPr/>
          </a:p>
        </p:txBody>
      </p:sp>
      <p:sp>
        <p:nvSpPr>
          <p:cNvPr id="2392" name="Google Shape;2392;p68"/>
          <p:cNvSpPr txBox="1"/>
          <p:nvPr/>
        </p:nvSpPr>
        <p:spPr>
          <a:xfrm>
            <a:off x="3184560" y="3614709"/>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30,000</a:t>
            </a:r>
            <a:endParaRPr/>
          </a:p>
        </p:txBody>
      </p:sp>
      <p:sp>
        <p:nvSpPr>
          <p:cNvPr id="2393" name="Google Shape;2393;p68"/>
          <p:cNvSpPr txBox="1"/>
          <p:nvPr/>
        </p:nvSpPr>
        <p:spPr>
          <a:xfrm>
            <a:off x="3184560" y="3344709"/>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20,000</a:t>
            </a:r>
            <a:endParaRPr/>
          </a:p>
        </p:txBody>
      </p:sp>
      <p:sp>
        <p:nvSpPr>
          <p:cNvPr id="2394" name="Google Shape;2394;p68"/>
          <p:cNvSpPr txBox="1"/>
          <p:nvPr/>
        </p:nvSpPr>
        <p:spPr>
          <a:xfrm>
            <a:off x="3298373" y="3074709"/>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5,000</a:t>
            </a:r>
            <a:endParaRPr/>
          </a:p>
        </p:txBody>
      </p:sp>
      <p:sp>
        <p:nvSpPr>
          <p:cNvPr id="2395" name="Google Shape;2395;p68"/>
          <p:cNvSpPr txBox="1"/>
          <p:nvPr/>
        </p:nvSpPr>
        <p:spPr>
          <a:xfrm>
            <a:off x="3469894" y="2534709"/>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700</a:t>
            </a:r>
            <a:endParaRPr/>
          </a:p>
        </p:txBody>
      </p:sp>
      <p:sp>
        <p:nvSpPr>
          <p:cNvPr id="2396" name="Google Shape;2396;p68"/>
          <p:cNvSpPr txBox="1"/>
          <p:nvPr/>
        </p:nvSpPr>
        <p:spPr>
          <a:xfrm>
            <a:off x="3583708" y="2264709"/>
            <a:ext cx="412292"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50</a:t>
            </a:r>
            <a:endParaRPr/>
          </a:p>
        </p:txBody>
      </p:sp>
      <p:sp>
        <p:nvSpPr>
          <p:cNvPr id="2397" name="Google Shape;2397;p68"/>
          <p:cNvSpPr txBox="1"/>
          <p:nvPr/>
        </p:nvSpPr>
        <p:spPr>
          <a:xfrm>
            <a:off x="3713366" y="5031445"/>
            <a:ext cx="412292"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50</a:t>
            </a:r>
            <a:endParaRPr/>
          </a:p>
        </p:txBody>
      </p:sp>
      <p:sp>
        <p:nvSpPr>
          <p:cNvPr id="2398" name="Google Shape;2398;p68"/>
          <p:cNvSpPr txBox="1"/>
          <p:nvPr/>
        </p:nvSpPr>
        <p:spPr>
          <a:xfrm>
            <a:off x="3184560" y="2804709"/>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10,000</a:t>
            </a:r>
            <a:endParaRPr/>
          </a:p>
        </p:txBody>
      </p:sp>
      <p:sp>
        <p:nvSpPr>
          <p:cNvPr id="2399" name="Google Shape;2399;p68"/>
          <p:cNvSpPr txBox="1"/>
          <p:nvPr/>
        </p:nvSpPr>
        <p:spPr>
          <a:xfrm>
            <a:off x="10026434" y="3924000"/>
            <a:ext cx="1757569"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contributed capital</a:t>
            </a:r>
            <a:endParaRPr/>
          </a:p>
        </p:txBody>
      </p:sp>
      <p:sp>
        <p:nvSpPr>
          <p:cNvPr id="2400" name="Google Shape;2400;p68"/>
          <p:cNvSpPr/>
          <p:nvPr/>
        </p:nvSpPr>
        <p:spPr>
          <a:xfrm>
            <a:off x="3011371" y="23367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401" name="Google Shape;2401;p68"/>
          <p:cNvSpPr/>
          <p:nvPr/>
        </p:nvSpPr>
        <p:spPr>
          <a:xfrm rot="10800000">
            <a:off x="3011371" y="258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402" name="Google Shape;2402;p68"/>
          <p:cNvSpPr/>
          <p:nvPr/>
        </p:nvSpPr>
        <p:spPr>
          <a:xfrm>
            <a:off x="3011371" y="28767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403" name="Google Shape;2403;p68"/>
          <p:cNvSpPr/>
          <p:nvPr/>
        </p:nvSpPr>
        <p:spPr>
          <a:xfrm>
            <a:off x="3011371" y="31467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404" name="Google Shape;2404;p68"/>
          <p:cNvSpPr/>
          <p:nvPr/>
        </p:nvSpPr>
        <p:spPr>
          <a:xfrm rot="10800000">
            <a:off x="3011371" y="339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405" name="Google Shape;2405;p68"/>
          <p:cNvSpPr/>
          <p:nvPr/>
        </p:nvSpPr>
        <p:spPr>
          <a:xfrm rot="10800000">
            <a:off x="3011371" y="366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406" name="Google Shape;2406;p68"/>
          <p:cNvSpPr txBox="1"/>
          <p:nvPr/>
        </p:nvSpPr>
        <p:spPr>
          <a:xfrm>
            <a:off x="10785455" y="1718255"/>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30,000</a:t>
            </a:r>
            <a:endParaRPr/>
          </a:p>
        </p:txBody>
      </p:sp>
      <p:sp>
        <p:nvSpPr>
          <p:cNvPr id="2407" name="Google Shape;2407;p68"/>
          <p:cNvSpPr/>
          <p:nvPr/>
        </p:nvSpPr>
        <p:spPr>
          <a:xfrm rot="10800000">
            <a:off x="10548000" y="1757882"/>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2408" name="Google Shape;2408;p68"/>
          <p:cNvSpPr txBox="1"/>
          <p:nvPr/>
        </p:nvSpPr>
        <p:spPr>
          <a:xfrm>
            <a:off x="10776926" y="3605780"/>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20,000</a:t>
            </a:r>
            <a:endParaRPr/>
          </a:p>
        </p:txBody>
      </p:sp>
      <p:sp>
        <p:nvSpPr>
          <p:cNvPr id="2409" name="Google Shape;2409;p68"/>
          <p:cNvSpPr txBox="1"/>
          <p:nvPr/>
        </p:nvSpPr>
        <p:spPr>
          <a:xfrm>
            <a:off x="10732895" y="1448255"/>
            <a:ext cx="86400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5,000</a:t>
            </a:r>
            <a:endParaRPr/>
          </a:p>
        </p:txBody>
      </p:sp>
      <p:sp>
        <p:nvSpPr>
          <p:cNvPr id="2410" name="Google Shape;2410;p68"/>
          <p:cNvSpPr/>
          <p:nvPr/>
        </p:nvSpPr>
        <p:spPr>
          <a:xfrm>
            <a:off x="10548000" y="1505882"/>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548135"/>
              </a:solidFill>
              <a:latin typeface="Calibri"/>
              <a:ea typeface="Calibri"/>
              <a:cs typeface="Calibri"/>
              <a:sym typeface="Calibri"/>
            </a:endParaRPr>
          </a:p>
        </p:txBody>
      </p:sp>
      <p:sp>
        <p:nvSpPr>
          <p:cNvPr id="2411" name="Google Shape;2411;p68"/>
          <p:cNvSpPr txBox="1"/>
          <p:nvPr/>
        </p:nvSpPr>
        <p:spPr>
          <a:xfrm>
            <a:off x="4984560" y="3610092"/>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10,000</a:t>
            </a:r>
            <a:endParaRPr/>
          </a:p>
        </p:txBody>
      </p:sp>
      <p:sp>
        <p:nvSpPr>
          <p:cNvPr id="2412" name="Google Shape;2412;p68"/>
          <p:cNvSpPr txBox="1"/>
          <p:nvPr/>
        </p:nvSpPr>
        <p:spPr>
          <a:xfrm>
            <a:off x="7429894" y="5905082"/>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700</a:t>
            </a:r>
            <a:endParaRPr/>
          </a:p>
        </p:txBody>
      </p:sp>
      <p:sp>
        <p:nvSpPr>
          <p:cNvPr id="2413" name="Google Shape;2413;p68"/>
          <p:cNvSpPr/>
          <p:nvPr/>
        </p:nvSpPr>
        <p:spPr>
          <a:xfrm rot="10800000">
            <a:off x="6984000" y="5943076"/>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2414" name="Google Shape;2414;p68"/>
          <p:cNvSpPr/>
          <p:nvPr/>
        </p:nvSpPr>
        <p:spPr>
          <a:xfrm rot="10800000">
            <a:off x="3096000" y="5082325"/>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415" name="Google Shape;2415;p68"/>
          <p:cNvSpPr txBox="1"/>
          <p:nvPr/>
        </p:nvSpPr>
        <p:spPr>
          <a:xfrm>
            <a:off x="3469894" y="1994709"/>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100</a:t>
            </a:r>
            <a:endParaRPr/>
          </a:p>
        </p:txBody>
      </p:sp>
      <p:sp>
        <p:nvSpPr>
          <p:cNvPr id="2416" name="Google Shape;2416;p68"/>
          <p:cNvSpPr/>
          <p:nvPr/>
        </p:nvSpPr>
        <p:spPr>
          <a:xfrm rot="10800000">
            <a:off x="3007666" y="2049930"/>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417" name="Google Shape;2417;p68"/>
          <p:cNvSpPr txBox="1"/>
          <p:nvPr/>
        </p:nvSpPr>
        <p:spPr>
          <a:xfrm>
            <a:off x="7315968" y="1713373"/>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6,000</a:t>
            </a:r>
            <a:endParaRPr/>
          </a:p>
        </p:txBody>
      </p:sp>
      <p:sp>
        <p:nvSpPr>
          <p:cNvPr id="2418" name="Google Shape;2418;p68"/>
          <p:cNvSpPr/>
          <p:nvPr/>
        </p:nvSpPr>
        <p:spPr>
          <a:xfrm rot="10800000">
            <a:off x="6984000" y="1749046"/>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2419" name="Google Shape;2419;p68"/>
          <p:cNvSpPr txBox="1"/>
          <p:nvPr/>
        </p:nvSpPr>
        <p:spPr>
          <a:xfrm>
            <a:off x="1501235" y="3588336"/>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6,000</a:t>
            </a:r>
            <a:endParaRPr/>
          </a:p>
        </p:txBody>
      </p:sp>
      <p:sp>
        <p:nvSpPr>
          <p:cNvPr id="2420" name="Google Shape;2420;p68"/>
          <p:cNvSpPr/>
          <p:nvPr/>
        </p:nvSpPr>
        <p:spPr>
          <a:xfrm rot="10800000">
            <a:off x="1249425" y="3637660"/>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421" name="Google Shape;2421;p68"/>
          <p:cNvSpPr txBox="1"/>
          <p:nvPr/>
        </p:nvSpPr>
        <p:spPr>
          <a:xfrm>
            <a:off x="5269894" y="3365080"/>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300</a:t>
            </a:r>
            <a:endParaRPr/>
          </a:p>
        </p:txBody>
      </p:sp>
      <p:sp>
        <p:nvSpPr>
          <p:cNvPr id="2422" name="Google Shape;2422;p68"/>
          <p:cNvSpPr/>
          <p:nvPr/>
        </p:nvSpPr>
        <p:spPr>
          <a:xfrm>
            <a:off x="4824000" y="3429341"/>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423" name="Google Shape;2423;p68"/>
          <p:cNvSpPr/>
          <p:nvPr/>
        </p:nvSpPr>
        <p:spPr>
          <a:xfrm rot="10800000">
            <a:off x="4824000" y="3662508"/>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424" name="Google Shape;2424;p68"/>
          <p:cNvSpPr txBox="1"/>
          <p:nvPr/>
        </p:nvSpPr>
        <p:spPr>
          <a:xfrm>
            <a:off x="5305894" y="5893862"/>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300</a:t>
            </a:r>
            <a:endParaRPr/>
          </a:p>
        </p:txBody>
      </p:sp>
      <p:sp>
        <p:nvSpPr>
          <p:cNvPr id="2425" name="Google Shape;2425;p68"/>
          <p:cNvSpPr/>
          <p:nvPr/>
        </p:nvSpPr>
        <p:spPr>
          <a:xfrm rot="10800000">
            <a:off x="4860000" y="5944742"/>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426" name="Google Shape;2426;p68"/>
          <p:cNvSpPr txBox="1"/>
          <p:nvPr/>
        </p:nvSpPr>
        <p:spPr>
          <a:xfrm>
            <a:off x="7429894" y="5645244"/>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600</a:t>
            </a:r>
            <a:endParaRPr/>
          </a:p>
        </p:txBody>
      </p:sp>
      <p:sp>
        <p:nvSpPr>
          <p:cNvPr id="2427" name="Google Shape;2427;p68"/>
          <p:cNvSpPr/>
          <p:nvPr/>
        </p:nvSpPr>
        <p:spPr>
          <a:xfrm rot="10800000">
            <a:off x="6984000" y="5695376"/>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2428" name="Google Shape;2428;p68"/>
          <p:cNvSpPr txBox="1"/>
          <p:nvPr/>
        </p:nvSpPr>
        <p:spPr>
          <a:xfrm>
            <a:off x="5269894" y="1222069"/>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600</a:t>
            </a:r>
            <a:endParaRPr/>
          </a:p>
        </p:txBody>
      </p:sp>
      <p:sp>
        <p:nvSpPr>
          <p:cNvPr id="2429" name="Google Shape;2429;p68"/>
          <p:cNvSpPr/>
          <p:nvPr/>
        </p:nvSpPr>
        <p:spPr>
          <a:xfrm rot="10800000">
            <a:off x="4824771" y="1263348"/>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430" name="Google Shape;2430;p68"/>
          <p:cNvSpPr txBox="1"/>
          <p:nvPr/>
        </p:nvSpPr>
        <p:spPr>
          <a:xfrm>
            <a:off x="5269894" y="3118060"/>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300</a:t>
            </a:r>
            <a:endParaRPr/>
          </a:p>
        </p:txBody>
      </p:sp>
      <p:sp>
        <p:nvSpPr>
          <p:cNvPr id="2431" name="Google Shape;2431;p68"/>
          <p:cNvSpPr/>
          <p:nvPr/>
        </p:nvSpPr>
        <p:spPr>
          <a:xfrm>
            <a:off x="4824000" y="3182321"/>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432" name="Google Shape;2432;p68"/>
          <p:cNvSpPr txBox="1"/>
          <p:nvPr/>
        </p:nvSpPr>
        <p:spPr>
          <a:xfrm>
            <a:off x="5305894" y="5646024"/>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300</a:t>
            </a:r>
            <a:endParaRPr/>
          </a:p>
        </p:txBody>
      </p:sp>
      <p:sp>
        <p:nvSpPr>
          <p:cNvPr id="2433" name="Google Shape;2433;p68"/>
          <p:cNvSpPr/>
          <p:nvPr/>
        </p:nvSpPr>
        <p:spPr>
          <a:xfrm rot="10800000">
            <a:off x="4860000" y="5696904"/>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434" name="Google Shape;2434;p68"/>
          <p:cNvSpPr txBox="1"/>
          <p:nvPr/>
        </p:nvSpPr>
        <p:spPr>
          <a:xfrm>
            <a:off x="3599552" y="4796571"/>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250</a:t>
            </a:r>
            <a:endParaRPr/>
          </a:p>
        </p:txBody>
      </p:sp>
      <p:sp>
        <p:nvSpPr>
          <p:cNvPr id="2435" name="Google Shape;2435;p68"/>
          <p:cNvSpPr/>
          <p:nvPr/>
        </p:nvSpPr>
        <p:spPr>
          <a:xfrm rot="10800000">
            <a:off x="3096000" y="4847451"/>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436" name="Google Shape;2436;p68"/>
          <p:cNvSpPr txBox="1"/>
          <p:nvPr/>
        </p:nvSpPr>
        <p:spPr>
          <a:xfrm>
            <a:off x="7487489" y="1462635"/>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250</a:t>
            </a:r>
            <a:endParaRPr/>
          </a:p>
        </p:txBody>
      </p:sp>
      <p:sp>
        <p:nvSpPr>
          <p:cNvPr id="2437" name="Google Shape;2437;p68"/>
          <p:cNvSpPr/>
          <p:nvPr/>
        </p:nvSpPr>
        <p:spPr>
          <a:xfrm rot="10800000">
            <a:off x="6984000" y="14983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2438" name="Google Shape;2438;p68"/>
          <p:cNvSpPr txBox="1"/>
          <p:nvPr/>
        </p:nvSpPr>
        <p:spPr>
          <a:xfrm>
            <a:off x="9285817" y="1715500"/>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100</a:t>
            </a:r>
            <a:endParaRPr/>
          </a:p>
        </p:txBody>
      </p:sp>
      <p:sp>
        <p:nvSpPr>
          <p:cNvPr id="2439" name="Google Shape;2439;p68"/>
          <p:cNvSpPr/>
          <p:nvPr/>
        </p:nvSpPr>
        <p:spPr>
          <a:xfrm rot="10800000">
            <a:off x="8784000" y="1751173"/>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grpSp>
        <p:nvGrpSpPr>
          <p:cNvPr id="2440" name="Google Shape;2440;p68"/>
          <p:cNvGrpSpPr/>
          <p:nvPr/>
        </p:nvGrpSpPr>
        <p:grpSpPr>
          <a:xfrm>
            <a:off x="2528691" y="2037441"/>
            <a:ext cx="309700" cy="223916"/>
            <a:chOff x="756599" y="3715227"/>
            <a:chExt cx="321512" cy="232456"/>
          </a:xfrm>
        </p:grpSpPr>
        <p:sp>
          <p:nvSpPr>
            <p:cNvPr id="2441" name="Google Shape;2441;p68"/>
            <p:cNvSpPr/>
            <p:nvPr/>
          </p:nvSpPr>
          <p:spPr>
            <a:xfrm>
              <a:off x="810780" y="3715227"/>
              <a:ext cx="224238" cy="224238"/>
            </a:xfrm>
            <a:prstGeom prst="ellipse">
              <a:avLst/>
            </a:prstGeom>
            <a:solidFill>
              <a:srgbClr val="FFFF00"/>
            </a:solidFill>
            <a:ln cap="flat" cmpd="sng" w="1270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442" name="Google Shape;2442;p68"/>
            <p:cNvSpPr/>
            <p:nvPr/>
          </p:nvSpPr>
          <p:spPr>
            <a:xfrm>
              <a:off x="756599" y="3724022"/>
              <a:ext cx="321512" cy="223661"/>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10</a:t>
              </a:r>
              <a:endParaRPr/>
            </a:p>
          </p:txBody>
        </p:sp>
      </p:grpSp>
      <p:grpSp>
        <p:nvGrpSpPr>
          <p:cNvPr id="2443" name="Google Shape;2443;p68"/>
          <p:cNvGrpSpPr/>
          <p:nvPr/>
        </p:nvGrpSpPr>
        <p:grpSpPr>
          <a:xfrm>
            <a:off x="2568712" y="2307277"/>
            <a:ext cx="247184" cy="223916"/>
            <a:chOff x="797287" y="3715227"/>
            <a:chExt cx="256611" cy="232456"/>
          </a:xfrm>
        </p:grpSpPr>
        <p:sp>
          <p:nvSpPr>
            <p:cNvPr id="2444" name="Google Shape;2444;p68"/>
            <p:cNvSpPr/>
            <p:nvPr/>
          </p:nvSpPr>
          <p:spPr>
            <a:xfrm>
              <a:off x="810780" y="3715227"/>
              <a:ext cx="224238" cy="224238"/>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445" name="Google Shape;2445;p68"/>
            <p:cNvSpPr/>
            <p:nvPr/>
          </p:nvSpPr>
          <p:spPr>
            <a:xfrm>
              <a:off x="797287" y="3724022"/>
              <a:ext cx="256611" cy="223661"/>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7</a:t>
              </a:r>
              <a:endParaRPr/>
            </a:p>
          </p:txBody>
        </p:sp>
      </p:grpSp>
      <p:grpSp>
        <p:nvGrpSpPr>
          <p:cNvPr id="2446" name="Google Shape;2446;p68"/>
          <p:cNvGrpSpPr/>
          <p:nvPr/>
        </p:nvGrpSpPr>
        <p:grpSpPr>
          <a:xfrm>
            <a:off x="2530414" y="2567405"/>
            <a:ext cx="300083" cy="223917"/>
            <a:chOff x="761592" y="3715226"/>
            <a:chExt cx="311527" cy="232457"/>
          </a:xfrm>
        </p:grpSpPr>
        <p:sp>
          <p:nvSpPr>
            <p:cNvPr id="2447" name="Google Shape;2447;p68"/>
            <p:cNvSpPr/>
            <p:nvPr/>
          </p:nvSpPr>
          <p:spPr>
            <a:xfrm>
              <a:off x="810780" y="3715226"/>
              <a:ext cx="224238" cy="224238"/>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448" name="Google Shape;2448;p68"/>
            <p:cNvSpPr/>
            <p:nvPr/>
          </p:nvSpPr>
          <p:spPr>
            <a:xfrm>
              <a:off x="761592" y="3724022"/>
              <a:ext cx="311527" cy="223661"/>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6a</a:t>
              </a:r>
              <a:endParaRPr/>
            </a:p>
          </p:txBody>
        </p:sp>
      </p:grpSp>
      <p:grpSp>
        <p:nvGrpSpPr>
          <p:cNvPr id="2449" name="Google Shape;2449;p68"/>
          <p:cNvGrpSpPr/>
          <p:nvPr/>
        </p:nvGrpSpPr>
        <p:grpSpPr>
          <a:xfrm>
            <a:off x="2574025" y="2841900"/>
            <a:ext cx="245580" cy="224238"/>
            <a:chOff x="802803" y="3715228"/>
            <a:chExt cx="245580" cy="224238"/>
          </a:xfrm>
        </p:grpSpPr>
        <p:sp>
          <p:nvSpPr>
            <p:cNvPr id="2450" name="Google Shape;2450;p68"/>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451" name="Google Shape;2451;p68"/>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5</a:t>
              </a:r>
              <a:endParaRPr/>
            </a:p>
          </p:txBody>
        </p:sp>
      </p:grpSp>
      <p:grpSp>
        <p:nvGrpSpPr>
          <p:cNvPr id="2452" name="Google Shape;2452;p68"/>
          <p:cNvGrpSpPr/>
          <p:nvPr/>
        </p:nvGrpSpPr>
        <p:grpSpPr>
          <a:xfrm>
            <a:off x="2574025" y="3121887"/>
            <a:ext cx="245580" cy="224238"/>
            <a:chOff x="802803" y="3715228"/>
            <a:chExt cx="245580" cy="224238"/>
          </a:xfrm>
        </p:grpSpPr>
        <p:sp>
          <p:nvSpPr>
            <p:cNvPr id="2453" name="Google Shape;2453;p68"/>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454" name="Google Shape;2454;p68"/>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3</a:t>
              </a:r>
              <a:endParaRPr/>
            </a:p>
          </p:txBody>
        </p:sp>
      </p:grpSp>
      <p:grpSp>
        <p:nvGrpSpPr>
          <p:cNvPr id="2455" name="Google Shape;2455;p68"/>
          <p:cNvGrpSpPr/>
          <p:nvPr/>
        </p:nvGrpSpPr>
        <p:grpSpPr>
          <a:xfrm>
            <a:off x="2574025" y="3385828"/>
            <a:ext cx="245580" cy="224238"/>
            <a:chOff x="802803" y="3715228"/>
            <a:chExt cx="245580" cy="224238"/>
          </a:xfrm>
        </p:grpSpPr>
        <p:sp>
          <p:nvSpPr>
            <p:cNvPr id="2456" name="Google Shape;2456;p68"/>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457" name="Google Shape;2457;p68"/>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2</a:t>
              </a:r>
              <a:endParaRPr/>
            </a:p>
          </p:txBody>
        </p:sp>
      </p:grpSp>
      <p:grpSp>
        <p:nvGrpSpPr>
          <p:cNvPr id="2458" name="Google Shape;2458;p68"/>
          <p:cNvGrpSpPr/>
          <p:nvPr/>
        </p:nvGrpSpPr>
        <p:grpSpPr>
          <a:xfrm>
            <a:off x="2574025" y="3649299"/>
            <a:ext cx="245580" cy="224238"/>
            <a:chOff x="802803" y="3715228"/>
            <a:chExt cx="245580" cy="224238"/>
          </a:xfrm>
        </p:grpSpPr>
        <p:sp>
          <p:nvSpPr>
            <p:cNvPr id="2459" name="Google Shape;2459;p68"/>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460" name="Google Shape;2460;p68"/>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a:t>
              </a:r>
              <a:endParaRPr/>
            </a:p>
          </p:txBody>
        </p:sp>
      </p:grpSp>
      <p:grpSp>
        <p:nvGrpSpPr>
          <p:cNvPr id="2461" name="Google Shape;2461;p68"/>
          <p:cNvGrpSpPr/>
          <p:nvPr/>
        </p:nvGrpSpPr>
        <p:grpSpPr>
          <a:xfrm>
            <a:off x="10117559" y="1755851"/>
            <a:ext cx="245580" cy="224238"/>
            <a:chOff x="802803" y="3715228"/>
            <a:chExt cx="245580" cy="224238"/>
          </a:xfrm>
        </p:grpSpPr>
        <p:sp>
          <p:nvSpPr>
            <p:cNvPr id="2462" name="Google Shape;2462;p68"/>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463" name="Google Shape;2463;p68"/>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a:t>
              </a:r>
              <a:endParaRPr/>
            </a:p>
          </p:txBody>
        </p:sp>
      </p:grpSp>
      <p:grpSp>
        <p:nvGrpSpPr>
          <p:cNvPr id="2464" name="Google Shape;2464;p68"/>
          <p:cNvGrpSpPr/>
          <p:nvPr/>
        </p:nvGrpSpPr>
        <p:grpSpPr>
          <a:xfrm>
            <a:off x="10116000" y="3650400"/>
            <a:ext cx="245580" cy="224238"/>
            <a:chOff x="802803" y="3715228"/>
            <a:chExt cx="245580" cy="224238"/>
          </a:xfrm>
        </p:grpSpPr>
        <p:sp>
          <p:nvSpPr>
            <p:cNvPr id="2465" name="Google Shape;2465;p68"/>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466" name="Google Shape;2466;p68"/>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2</a:t>
              </a:r>
              <a:endParaRPr/>
            </a:p>
          </p:txBody>
        </p:sp>
      </p:grpSp>
      <p:grpSp>
        <p:nvGrpSpPr>
          <p:cNvPr id="2467" name="Google Shape;2467;p68"/>
          <p:cNvGrpSpPr/>
          <p:nvPr/>
        </p:nvGrpSpPr>
        <p:grpSpPr>
          <a:xfrm>
            <a:off x="10117837" y="1489299"/>
            <a:ext cx="245580" cy="224238"/>
            <a:chOff x="802803" y="3715228"/>
            <a:chExt cx="245580" cy="224238"/>
          </a:xfrm>
        </p:grpSpPr>
        <p:sp>
          <p:nvSpPr>
            <p:cNvPr id="2468" name="Google Shape;2468;p68"/>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469" name="Google Shape;2469;p68"/>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3</a:t>
              </a:r>
              <a:endParaRPr/>
            </a:p>
          </p:txBody>
        </p:sp>
      </p:grpSp>
      <p:grpSp>
        <p:nvGrpSpPr>
          <p:cNvPr id="2470" name="Google Shape;2470;p68"/>
          <p:cNvGrpSpPr/>
          <p:nvPr/>
        </p:nvGrpSpPr>
        <p:grpSpPr>
          <a:xfrm>
            <a:off x="6553087" y="1741845"/>
            <a:ext cx="245580" cy="224238"/>
            <a:chOff x="802803" y="3715228"/>
            <a:chExt cx="245580" cy="224238"/>
          </a:xfrm>
        </p:grpSpPr>
        <p:sp>
          <p:nvSpPr>
            <p:cNvPr id="2471" name="Google Shape;2471;p68"/>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472" name="Google Shape;2472;p68"/>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4</a:t>
              </a:r>
              <a:endParaRPr/>
            </a:p>
          </p:txBody>
        </p:sp>
      </p:grpSp>
      <p:grpSp>
        <p:nvGrpSpPr>
          <p:cNvPr id="2473" name="Google Shape;2473;p68"/>
          <p:cNvGrpSpPr/>
          <p:nvPr/>
        </p:nvGrpSpPr>
        <p:grpSpPr>
          <a:xfrm>
            <a:off x="784605" y="3629276"/>
            <a:ext cx="245580" cy="224238"/>
            <a:chOff x="802803" y="3715228"/>
            <a:chExt cx="245580" cy="224238"/>
          </a:xfrm>
        </p:grpSpPr>
        <p:sp>
          <p:nvSpPr>
            <p:cNvPr id="2474" name="Google Shape;2474;p68"/>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475" name="Google Shape;2475;p68"/>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4</a:t>
              </a:r>
              <a:endParaRPr/>
            </a:p>
          </p:txBody>
        </p:sp>
      </p:grpSp>
      <p:grpSp>
        <p:nvGrpSpPr>
          <p:cNvPr id="2476" name="Google Shape;2476;p68"/>
          <p:cNvGrpSpPr/>
          <p:nvPr/>
        </p:nvGrpSpPr>
        <p:grpSpPr>
          <a:xfrm>
            <a:off x="4359077" y="3641899"/>
            <a:ext cx="245580" cy="224238"/>
            <a:chOff x="802803" y="3715228"/>
            <a:chExt cx="245580" cy="224238"/>
          </a:xfrm>
        </p:grpSpPr>
        <p:sp>
          <p:nvSpPr>
            <p:cNvPr id="2477" name="Google Shape;2477;p68"/>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478" name="Google Shape;2478;p68"/>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5</a:t>
              </a:r>
              <a:endParaRPr/>
            </a:p>
          </p:txBody>
        </p:sp>
      </p:grpSp>
      <p:grpSp>
        <p:nvGrpSpPr>
          <p:cNvPr id="2479" name="Google Shape;2479;p68"/>
          <p:cNvGrpSpPr/>
          <p:nvPr/>
        </p:nvGrpSpPr>
        <p:grpSpPr>
          <a:xfrm>
            <a:off x="6484980" y="5931080"/>
            <a:ext cx="300082" cy="224238"/>
            <a:chOff x="775552" y="3715228"/>
            <a:chExt cx="300082" cy="224238"/>
          </a:xfrm>
        </p:grpSpPr>
        <p:sp>
          <p:nvSpPr>
            <p:cNvPr id="2480" name="Google Shape;2480;p68"/>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481" name="Google Shape;2481;p68"/>
            <p:cNvSpPr/>
            <p:nvPr/>
          </p:nvSpPr>
          <p:spPr>
            <a:xfrm>
              <a:off x="775552" y="3724022"/>
              <a:ext cx="300082"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6a</a:t>
              </a:r>
              <a:endParaRPr/>
            </a:p>
          </p:txBody>
        </p:sp>
      </p:grpSp>
      <p:grpSp>
        <p:nvGrpSpPr>
          <p:cNvPr id="2482" name="Google Shape;2482;p68"/>
          <p:cNvGrpSpPr/>
          <p:nvPr/>
        </p:nvGrpSpPr>
        <p:grpSpPr>
          <a:xfrm>
            <a:off x="4325561" y="3388584"/>
            <a:ext cx="309700" cy="224238"/>
            <a:chOff x="770743" y="3715228"/>
            <a:chExt cx="309700" cy="224238"/>
          </a:xfrm>
        </p:grpSpPr>
        <p:sp>
          <p:nvSpPr>
            <p:cNvPr id="2483" name="Google Shape;2483;p68"/>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484" name="Google Shape;2484;p68"/>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6b</a:t>
              </a:r>
              <a:endParaRPr/>
            </a:p>
          </p:txBody>
        </p:sp>
      </p:grpSp>
      <p:grpSp>
        <p:nvGrpSpPr>
          <p:cNvPr id="2485" name="Google Shape;2485;p68"/>
          <p:cNvGrpSpPr/>
          <p:nvPr/>
        </p:nvGrpSpPr>
        <p:grpSpPr>
          <a:xfrm>
            <a:off x="4372912" y="5940000"/>
            <a:ext cx="309700" cy="224238"/>
            <a:chOff x="770743" y="3715228"/>
            <a:chExt cx="309700" cy="224238"/>
          </a:xfrm>
        </p:grpSpPr>
        <p:sp>
          <p:nvSpPr>
            <p:cNvPr id="2486" name="Google Shape;2486;p68"/>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487" name="Google Shape;2487;p68"/>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6b</a:t>
              </a:r>
              <a:endParaRPr/>
            </a:p>
          </p:txBody>
        </p:sp>
      </p:grpSp>
      <p:grpSp>
        <p:nvGrpSpPr>
          <p:cNvPr id="2488" name="Google Shape;2488;p68"/>
          <p:cNvGrpSpPr/>
          <p:nvPr/>
        </p:nvGrpSpPr>
        <p:grpSpPr>
          <a:xfrm>
            <a:off x="4330045" y="3136880"/>
            <a:ext cx="309700" cy="224238"/>
            <a:chOff x="770743" y="3715228"/>
            <a:chExt cx="309700" cy="224238"/>
          </a:xfrm>
        </p:grpSpPr>
        <p:sp>
          <p:nvSpPr>
            <p:cNvPr id="2489" name="Google Shape;2489;p68"/>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490" name="Google Shape;2490;p68"/>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8b</a:t>
              </a:r>
              <a:endParaRPr/>
            </a:p>
          </p:txBody>
        </p:sp>
      </p:grpSp>
      <p:grpSp>
        <p:nvGrpSpPr>
          <p:cNvPr id="2491" name="Google Shape;2491;p68"/>
          <p:cNvGrpSpPr/>
          <p:nvPr/>
        </p:nvGrpSpPr>
        <p:grpSpPr>
          <a:xfrm>
            <a:off x="4377396" y="5681195"/>
            <a:ext cx="309700" cy="224238"/>
            <a:chOff x="770743" y="3715228"/>
            <a:chExt cx="309700" cy="224238"/>
          </a:xfrm>
        </p:grpSpPr>
        <p:sp>
          <p:nvSpPr>
            <p:cNvPr id="2492" name="Google Shape;2492;p68"/>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493" name="Google Shape;2493;p68"/>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8b</a:t>
              </a:r>
              <a:endParaRPr/>
            </a:p>
          </p:txBody>
        </p:sp>
      </p:grpSp>
      <p:grpSp>
        <p:nvGrpSpPr>
          <p:cNvPr id="2494" name="Google Shape;2494;p68"/>
          <p:cNvGrpSpPr/>
          <p:nvPr/>
        </p:nvGrpSpPr>
        <p:grpSpPr>
          <a:xfrm>
            <a:off x="6484980" y="5676798"/>
            <a:ext cx="300082" cy="224238"/>
            <a:chOff x="775552" y="3715228"/>
            <a:chExt cx="300082" cy="224238"/>
          </a:xfrm>
        </p:grpSpPr>
        <p:sp>
          <p:nvSpPr>
            <p:cNvPr id="2495" name="Google Shape;2495;p68"/>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496" name="Google Shape;2496;p68"/>
            <p:cNvSpPr/>
            <p:nvPr/>
          </p:nvSpPr>
          <p:spPr>
            <a:xfrm>
              <a:off x="775552" y="3724022"/>
              <a:ext cx="300082"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8a</a:t>
              </a:r>
              <a:endParaRPr/>
            </a:p>
          </p:txBody>
        </p:sp>
      </p:grpSp>
      <p:grpSp>
        <p:nvGrpSpPr>
          <p:cNvPr id="2497" name="Google Shape;2497;p68"/>
          <p:cNvGrpSpPr/>
          <p:nvPr/>
        </p:nvGrpSpPr>
        <p:grpSpPr>
          <a:xfrm>
            <a:off x="2681463" y="5057611"/>
            <a:ext cx="245580" cy="224238"/>
            <a:chOff x="802803" y="3715228"/>
            <a:chExt cx="245580" cy="224238"/>
          </a:xfrm>
        </p:grpSpPr>
        <p:sp>
          <p:nvSpPr>
            <p:cNvPr id="2498" name="Google Shape;2498;p68"/>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499" name="Google Shape;2499;p68"/>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7</a:t>
              </a:r>
              <a:endParaRPr/>
            </a:p>
          </p:txBody>
        </p:sp>
      </p:grpSp>
      <p:grpSp>
        <p:nvGrpSpPr>
          <p:cNvPr id="2500" name="Google Shape;2500;p68"/>
          <p:cNvGrpSpPr/>
          <p:nvPr/>
        </p:nvGrpSpPr>
        <p:grpSpPr>
          <a:xfrm>
            <a:off x="2680630" y="4808856"/>
            <a:ext cx="245580" cy="224238"/>
            <a:chOff x="802803" y="3715228"/>
            <a:chExt cx="245580" cy="224238"/>
          </a:xfrm>
        </p:grpSpPr>
        <p:sp>
          <p:nvSpPr>
            <p:cNvPr id="2501" name="Google Shape;2501;p68"/>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502" name="Google Shape;2502;p68"/>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9</a:t>
              </a:r>
              <a:endParaRPr/>
            </a:p>
          </p:txBody>
        </p:sp>
      </p:grpSp>
      <p:grpSp>
        <p:nvGrpSpPr>
          <p:cNvPr id="2503" name="Google Shape;2503;p68"/>
          <p:cNvGrpSpPr/>
          <p:nvPr/>
        </p:nvGrpSpPr>
        <p:grpSpPr>
          <a:xfrm>
            <a:off x="6550922" y="1481480"/>
            <a:ext cx="245580" cy="224238"/>
            <a:chOff x="802803" y="3715228"/>
            <a:chExt cx="245580" cy="224238"/>
          </a:xfrm>
        </p:grpSpPr>
        <p:sp>
          <p:nvSpPr>
            <p:cNvPr id="2504" name="Google Shape;2504;p68"/>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505" name="Google Shape;2505;p68"/>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9</a:t>
              </a:r>
              <a:endParaRPr/>
            </a:p>
          </p:txBody>
        </p:sp>
      </p:grpSp>
      <p:grpSp>
        <p:nvGrpSpPr>
          <p:cNvPr id="2506" name="Google Shape;2506;p68"/>
          <p:cNvGrpSpPr/>
          <p:nvPr/>
        </p:nvGrpSpPr>
        <p:grpSpPr>
          <a:xfrm>
            <a:off x="8311967" y="1742779"/>
            <a:ext cx="309700" cy="224238"/>
            <a:chOff x="770743" y="3715228"/>
            <a:chExt cx="309700" cy="224238"/>
          </a:xfrm>
        </p:grpSpPr>
        <p:sp>
          <p:nvSpPr>
            <p:cNvPr id="2507" name="Google Shape;2507;p68"/>
            <p:cNvSpPr/>
            <p:nvPr/>
          </p:nvSpPr>
          <p:spPr>
            <a:xfrm>
              <a:off x="810781" y="3715228"/>
              <a:ext cx="216000" cy="216000"/>
            </a:xfrm>
            <a:prstGeom prst="ellipse">
              <a:avLst/>
            </a:prstGeom>
            <a:solidFill>
              <a:srgbClr val="FFFF00"/>
            </a:solidFill>
            <a:ln cap="flat" cmpd="sng" w="1270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508" name="Google Shape;2508;p68"/>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10</a:t>
              </a:r>
              <a:endParaRPr/>
            </a:p>
          </p:txBody>
        </p:sp>
      </p:grpSp>
      <p:grpSp>
        <p:nvGrpSpPr>
          <p:cNvPr id="2509" name="Google Shape;2509;p68"/>
          <p:cNvGrpSpPr/>
          <p:nvPr/>
        </p:nvGrpSpPr>
        <p:grpSpPr>
          <a:xfrm>
            <a:off x="4322372" y="1240114"/>
            <a:ext cx="300082" cy="224238"/>
            <a:chOff x="775552" y="3715228"/>
            <a:chExt cx="300082" cy="224238"/>
          </a:xfrm>
        </p:grpSpPr>
        <p:sp>
          <p:nvSpPr>
            <p:cNvPr id="2510" name="Google Shape;2510;p68"/>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511" name="Google Shape;2511;p68"/>
            <p:cNvSpPr/>
            <p:nvPr/>
          </p:nvSpPr>
          <p:spPr>
            <a:xfrm>
              <a:off x="775552" y="3724022"/>
              <a:ext cx="300082"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8a</a:t>
              </a:r>
              <a:endParaRPr/>
            </a:p>
          </p:txBody>
        </p:sp>
      </p:grpSp>
      <p:sp>
        <p:nvSpPr>
          <p:cNvPr id="2512" name="Google Shape;2512;p68"/>
          <p:cNvSpPr txBox="1"/>
          <p:nvPr/>
        </p:nvSpPr>
        <p:spPr>
          <a:xfrm>
            <a:off x="4033926" y="1538024"/>
            <a:ext cx="2015578"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Accounts receivable</a:t>
            </a:r>
            <a:endParaRPr/>
          </a:p>
        </p:txBody>
      </p:sp>
      <p:sp>
        <p:nvSpPr>
          <p:cNvPr id="2513" name="Google Shape;2513;p68"/>
          <p:cNvSpPr txBox="1"/>
          <p:nvPr/>
        </p:nvSpPr>
        <p:spPr>
          <a:xfrm>
            <a:off x="6252890" y="2028286"/>
            <a:ext cx="1987133"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Accounts payable</a:t>
            </a:r>
            <a:endParaRPr/>
          </a:p>
        </p:txBody>
      </p:sp>
      <p:sp>
        <p:nvSpPr>
          <p:cNvPr id="2514" name="Google Shape;2514;p68"/>
          <p:cNvSpPr txBox="1"/>
          <p:nvPr/>
        </p:nvSpPr>
        <p:spPr>
          <a:xfrm>
            <a:off x="9504213" y="373659"/>
            <a:ext cx="2279791" cy="40011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000">
                <a:solidFill>
                  <a:schemeClr val="accent2"/>
                </a:solidFill>
                <a:latin typeface="Avenir"/>
                <a:ea typeface="Avenir"/>
                <a:cs typeface="Avenir"/>
                <a:sym typeface="Avenir"/>
              </a:rPr>
              <a:t>Sources of funds</a:t>
            </a:r>
            <a:endParaRPr/>
          </a:p>
        </p:txBody>
      </p:sp>
      <p:sp>
        <p:nvSpPr>
          <p:cNvPr id="2515" name="Google Shape;2515;p68"/>
          <p:cNvSpPr txBox="1"/>
          <p:nvPr/>
        </p:nvSpPr>
        <p:spPr>
          <a:xfrm>
            <a:off x="492858" y="373659"/>
            <a:ext cx="1880643" cy="40011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000">
                <a:solidFill>
                  <a:schemeClr val="accent6"/>
                </a:solidFill>
                <a:latin typeface="Avenir"/>
                <a:ea typeface="Avenir"/>
                <a:cs typeface="Avenir"/>
                <a:sym typeface="Avenir"/>
              </a:rPr>
              <a:t>Uses of funds</a:t>
            </a:r>
            <a:endParaRPr/>
          </a:p>
        </p:txBody>
      </p:sp>
      <p:grpSp>
        <p:nvGrpSpPr>
          <p:cNvPr id="2516" name="Google Shape;2516;p68"/>
          <p:cNvGrpSpPr/>
          <p:nvPr/>
        </p:nvGrpSpPr>
        <p:grpSpPr>
          <a:xfrm>
            <a:off x="4247500" y="957969"/>
            <a:ext cx="1620000" cy="613673"/>
            <a:chOff x="3810000" y="2381250"/>
            <a:chExt cx="1390650" cy="1230631"/>
          </a:xfrm>
        </p:grpSpPr>
        <p:sp>
          <p:nvSpPr>
            <p:cNvPr id="2517" name="Google Shape;2517;p68"/>
            <p:cNvSpPr/>
            <p:nvPr/>
          </p:nvSpPr>
          <p:spPr>
            <a:xfrm flipH="1">
              <a:off x="4505325"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2518" name="Google Shape;2518;p68"/>
            <p:cNvSpPr/>
            <p:nvPr/>
          </p:nvSpPr>
          <p:spPr>
            <a:xfrm>
              <a:off x="3810000"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2519" name="Google Shape;2519;p68"/>
          <p:cNvGrpSpPr/>
          <p:nvPr/>
        </p:nvGrpSpPr>
        <p:grpSpPr>
          <a:xfrm>
            <a:off x="2556000" y="4767598"/>
            <a:ext cx="1620000" cy="613673"/>
            <a:chOff x="3810000" y="2381250"/>
            <a:chExt cx="1390650" cy="1230631"/>
          </a:xfrm>
        </p:grpSpPr>
        <p:sp>
          <p:nvSpPr>
            <p:cNvPr id="2520" name="Google Shape;2520;p68"/>
            <p:cNvSpPr/>
            <p:nvPr/>
          </p:nvSpPr>
          <p:spPr>
            <a:xfrm flipH="1">
              <a:off x="4505325" y="2381250"/>
              <a:ext cx="695325" cy="1230631"/>
            </a:xfrm>
            <a:prstGeom prst="corner">
              <a:avLst>
                <a:gd fmla="val 9300"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2521" name="Google Shape;2521;p68"/>
            <p:cNvSpPr/>
            <p:nvPr/>
          </p:nvSpPr>
          <p:spPr>
            <a:xfrm>
              <a:off x="3810000" y="2381250"/>
              <a:ext cx="695325" cy="1230631"/>
            </a:xfrm>
            <a:prstGeom prst="corner">
              <a:avLst>
                <a:gd fmla="val 9300"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2522" name="Google Shape;2522;p68"/>
          <p:cNvGrpSpPr/>
          <p:nvPr/>
        </p:nvGrpSpPr>
        <p:grpSpPr>
          <a:xfrm>
            <a:off x="4292494" y="5448381"/>
            <a:ext cx="1620000" cy="796276"/>
            <a:chOff x="3810000" y="2015069"/>
            <a:chExt cx="1390650" cy="1596814"/>
          </a:xfrm>
        </p:grpSpPr>
        <p:sp>
          <p:nvSpPr>
            <p:cNvPr id="2523" name="Google Shape;2523;p68"/>
            <p:cNvSpPr/>
            <p:nvPr/>
          </p:nvSpPr>
          <p:spPr>
            <a:xfrm flipH="1">
              <a:off x="4505325" y="2015073"/>
              <a:ext cx="695325" cy="1596810"/>
            </a:xfrm>
            <a:prstGeom prst="corner">
              <a:avLst>
                <a:gd fmla="val 7267" name="adj1"/>
                <a:gd fmla="val 7888"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2524" name="Google Shape;2524;p68"/>
            <p:cNvSpPr/>
            <p:nvPr/>
          </p:nvSpPr>
          <p:spPr>
            <a:xfrm>
              <a:off x="3810000" y="2015069"/>
              <a:ext cx="695325" cy="1596812"/>
            </a:xfrm>
            <a:prstGeom prst="corner">
              <a:avLst>
                <a:gd fmla="val 7268" name="adj1"/>
                <a:gd fmla="val 7888"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2525" name="Google Shape;2525;p68"/>
          <p:cNvGrpSpPr/>
          <p:nvPr/>
        </p:nvGrpSpPr>
        <p:grpSpPr>
          <a:xfrm>
            <a:off x="6382456" y="5448381"/>
            <a:ext cx="1620000" cy="796276"/>
            <a:chOff x="3810000" y="2015069"/>
            <a:chExt cx="1390650" cy="1596814"/>
          </a:xfrm>
        </p:grpSpPr>
        <p:sp>
          <p:nvSpPr>
            <p:cNvPr id="2526" name="Google Shape;2526;p68"/>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2527" name="Google Shape;2527;p68"/>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2528" name="Google Shape;2528;p68"/>
          <p:cNvGrpSpPr/>
          <p:nvPr/>
        </p:nvGrpSpPr>
        <p:grpSpPr>
          <a:xfrm>
            <a:off x="9983452" y="3159099"/>
            <a:ext cx="1620000" cy="796276"/>
            <a:chOff x="3810000" y="2015069"/>
            <a:chExt cx="1390650" cy="1596814"/>
          </a:xfrm>
        </p:grpSpPr>
        <p:sp>
          <p:nvSpPr>
            <p:cNvPr id="2529" name="Google Shape;2529;p68"/>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2530" name="Google Shape;2530;p68"/>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2531" name="Google Shape;2531;p68"/>
          <p:cNvGrpSpPr/>
          <p:nvPr/>
        </p:nvGrpSpPr>
        <p:grpSpPr>
          <a:xfrm>
            <a:off x="8214558" y="1260018"/>
            <a:ext cx="1620000" cy="796276"/>
            <a:chOff x="3810000" y="2015069"/>
            <a:chExt cx="1390650" cy="1596814"/>
          </a:xfrm>
        </p:grpSpPr>
        <p:sp>
          <p:nvSpPr>
            <p:cNvPr id="2532" name="Google Shape;2532;p68"/>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2533" name="Google Shape;2533;p68"/>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2534" name="Google Shape;2534;p68"/>
          <p:cNvGrpSpPr/>
          <p:nvPr/>
        </p:nvGrpSpPr>
        <p:grpSpPr>
          <a:xfrm>
            <a:off x="10006085" y="1263488"/>
            <a:ext cx="1620000" cy="796276"/>
            <a:chOff x="3810000" y="2015069"/>
            <a:chExt cx="1390650" cy="1596814"/>
          </a:xfrm>
        </p:grpSpPr>
        <p:sp>
          <p:nvSpPr>
            <p:cNvPr id="2535" name="Google Shape;2535;p68"/>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2536" name="Google Shape;2536;p68"/>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2537" name="Google Shape;2537;p68"/>
          <p:cNvGrpSpPr/>
          <p:nvPr/>
        </p:nvGrpSpPr>
        <p:grpSpPr>
          <a:xfrm>
            <a:off x="6428511" y="1266563"/>
            <a:ext cx="1620000" cy="796276"/>
            <a:chOff x="3810000" y="2015069"/>
            <a:chExt cx="1390650" cy="1596814"/>
          </a:xfrm>
        </p:grpSpPr>
        <p:sp>
          <p:nvSpPr>
            <p:cNvPr id="2538" name="Google Shape;2538;p68"/>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2539" name="Google Shape;2539;p68"/>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sp>
        <p:nvSpPr>
          <p:cNvPr id="2540" name="Google Shape;2540;p68"/>
          <p:cNvSpPr/>
          <p:nvPr/>
        </p:nvSpPr>
        <p:spPr>
          <a:xfrm rot="10800000">
            <a:off x="10548000" y="3653367"/>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2541" name="Google Shape;2541;p68"/>
          <p:cNvSpPr/>
          <p:nvPr/>
        </p:nvSpPr>
        <p:spPr>
          <a:xfrm>
            <a:off x="1146817" y="4522208"/>
            <a:ext cx="10744019" cy="1312708"/>
          </a:xfrm>
          <a:prstGeom prst="rect">
            <a:avLst/>
          </a:prstGeom>
          <a:solidFill>
            <a:srgbClr val="F2F2F2">
              <a:alpha val="86666"/>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2542" name="Google Shape;2542;p68"/>
          <p:cNvGrpSpPr/>
          <p:nvPr/>
        </p:nvGrpSpPr>
        <p:grpSpPr>
          <a:xfrm>
            <a:off x="1353375" y="4790659"/>
            <a:ext cx="10188967" cy="756004"/>
            <a:chOff x="926134" y="1719856"/>
            <a:chExt cx="9204181" cy="750147"/>
          </a:xfrm>
        </p:grpSpPr>
        <p:sp>
          <p:nvSpPr>
            <p:cNvPr id="2543" name="Google Shape;2543;p68"/>
            <p:cNvSpPr txBox="1"/>
            <p:nvPr/>
          </p:nvSpPr>
          <p:spPr>
            <a:xfrm>
              <a:off x="1641585" y="1719860"/>
              <a:ext cx="5447935"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139700" marR="0" rtl="0" algn="l">
                <a:spcBef>
                  <a:spcPts val="0"/>
                </a:spcBef>
                <a:spcAft>
                  <a:spcPts val="0"/>
                </a:spcAft>
                <a:buNone/>
              </a:pPr>
              <a:r>
                <a:rPr lang="en-US" sz="2000">
                  <a:solidFill>
                    <a:schemeClr val="dk1"/>
                  </a:solidFill>
                  <a:latin typeface="Calibri"/>
                  <a:ea typeface="Calibri"/>
                  <a:cs typeface="Calibri"/>
                  <a:sym typeface="Calibri"/>
                </a:rPr>
                <a:t>고객 C가 방문하여 선물용 상품권을 현금으로 구매함. 현금은 은행에 입금함.</a:t>
              </a:r>
              <a:endParaRPr sz="2000">
                <a:solidFill>
                  <a:schemeClr val="dk1"/>
                </a:solidFill>
                <a:latin typeface="Avenir"/>
                <a:ea typeface="Avenir"/>
                <a:cs typeface="Avenir"/>
                <a:sym typeface="Avenir"/>
              </a:endParaRPr>
            </a:p>
          </p:txBody>
        </p:sp>
        <p:sp>
          <p:nvSpPr>
            <p:cNvPr id="2544" name="Google Shape;2544;p68"/>
            <p:cNvSpPr txBox="1"/>
            <p:nvPr/>
          </p:nvSpPr>
          <p:spPr>
            <a:xfrm>
              <a:off x="7089520" y="1719858"/>
              <a:ext cx="1520398" cy="745310"/>
            </a:xfrm>
            <a:prstGeom prst="rect">
              <a:avLst/>
            </a:prstGeom>
            <a:solidFill>
              <a:srgbClr val="E1EFD8"/>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Cash</a:t>
              </a: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100</a:t>
              </a:r>
              <a:endParaRPr/>
            </a:p>
          </p:txBody>
        </p:sp>
        <p:sp>
          <p:nvSpPr>
            <p:cNvPr id="2545" name="Google Shape;2545;p68"/>
            <p:cNvSpPr txBox="1"/>
            <p:nvPr/>
          </p:nvSpPr>
          <p:spPr>
            <a:xfrm>
              <a:off x="8609917" y="1719858"/>
              <a:ext cx="1520398" cy="745310"/>
            </a:xfrm>
            <a:prstGeom prst="rect">
              <a:avLst/>
            </a:prstGeom>
            <a:solidFill>
              <a:srgbClr val="FBE4D4"/>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Deferred income</a:t>
              </a:r>
              <a:endParaRPr b="1" sz="1600">
                <a:solidFill>
                  <a:srgbClr val="BFBFBF"/>
                </a:solidFill>
                <a:latin typeface="Avenir"/>
                <a:ea typeface="Avenir"/>
                <a:cs typeface="Avenir"/>
                <a:sym typeface="Aveni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100</a:t>
              </a:r>
              <a:endParaRPr/>
            </a:p>
          </p:txBody>
        </p:sp>
        <p:sp>
          <p:nvSpPr>
            <p:cNvPr id="2546" name="Google Shape;2546;p68"/>
            <p:cNvSpPr txBox="1"/>
            <p:nvPr/>
          </p:nvSpPr>
          <p:spPr>
            <a:xfrm>
              <a:off x="926134" y="1719856"/>
              <a:ext cx="715451"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10</a:t>
              </a:r>
              <a:endParaRPr/>
            </a:p>
          </p:txBody>
        </p:sp>
      </p:grpSp>
      <p:sp>
        <p:nvSpPr>
          <p:cNvPr id="2547" name="Google Shape;2547;p68"/>
          <p:cNvSpPr txBox="1"/>
          <p:nvPr/>
        </p:nvSpPr>
        <p:spPr>
          <a:xfrm>
            <a:off x="8176202" y="4793332"/>
            <a:ext cx="1683070" cy="756000"/>
          </a:xfrm>
          <a:prstGeom prst="rect">
            <a:avLst/>
          </a:prstGeom>
          <a:solidFill>
            <a:srgbClr val="548135"/>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100</a:t>
            </a:r>
            <a:endParaRPr/>
          </a:p>
        </p:txBody>
      </p:sp>
      <p:sp>
        <p:nvSpPr>
          <p:cNvPr id="2548" name="Google Shape;2548;p68"/>
          <p:cNvSpPr txBox="1"/>
          <p:nvPr/>
        </p:nvSpPr>
        <p:spPr>
          <a:xfrm>
            <a:off x="9859272" y="4797445"/>
            <a:ext cx="1683070" cy="756000"/>
          </a:xfrm>
          <a:prstGeom prst="rect">
            <a:avLst/>
          </a:prstGeom>
          <a:solidFill>
            <a:schemeClr val="accent2"/>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100</a:t>
            </a:r>
            <a:endParaRPr/>
          </a:p>
        </p:txBody>
      </p:sp>
      <p:sp>
        <p:nvSpPr>
          <p:cNvPr id="2549" name="Google Shape;2549;p68"/>
          <p:cNvSpPr/>
          <p:nvPr/>
        </p:nvSpPr>
        <p:spPr>
          <a:xfrm rot="10800000">
            <a:off x="153289" y="824059"/>
            <a:ext cx="950259" cy="1037381"/>
          </a:xfrm>
          <a:prstGeom prst="downArrow">
            <a:avLst>
              <a:gd fmla="val 50000" name="adj1"/>
              <a:gd fmla="val 50000" name="adj2"/>
            </a:avLst>
          </a:prstGeom>
          <a:solidFill>
            <a:schemeClr val="accent6">
              <a:alpha val="77647"/>
            </a:schemeClr>
          </a:solidFill>
          <a:ln>
            <a:noFill/>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550" name="Google Shape;2550;p68"/>
          <p:cNvSpPr/>
          <p:nvPr/>
        </p:nvSpPr>
        <p:spPr>
          <a:xfrm rot="10800000">
            <a:off x="11196000" y="826738"/>
            <a:ext cx="950259" cy="1037381"/>
          </a:xfrm>
          <a:prstGeom prst="downArrow">
            <a:avLst>
              <a:gd fmla="val 50000" name="adj1"/>
              <a:gd fmla="val 50000" name="adj2"/>
            </a:avLst>
          </a:prstGeom>
          <a:solidFill>
            <a:schemeClr val="accent2">
              <a:alpha val="77647"/>
            </a:schemeClr>
          </a:solidFill>
          <a:ln>
            <a:noFill/>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551" name="Google Shape;2551;p68"/>
          <p:cNvSpPr txBox="1"/>
          <p:nvPr/>
        </p:nvSpPr>
        <p:spPr>
          <a:xfrm>
            <a:off x="6403129" y="3421071"/>
            <a:ext cx="1548343" cy="566133"/>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400</a:t>
            </a:r>
            <a:endParaRPr sz="2400">
              <a:solidFill>
                <a:schemeClr val="dk1"/>
              </a:solidFill>
              <a:latin typeface="Calibri"/>
              <a:ea typeface="Calibri"/>
              <a:cs typeface="Calibri"/>
              <a:sym typeface="Calibri"/>
            </a:endParaRPr>
          </a:p>
        </p:txBody>
      </p:sp>
    </p:spTree>
  </p:cSld>
  <p:clrMapOvr>
    <a:masterClrMapping/>
  </p:clrMapOvr>
  <mc:AlternateContent>
    <mc:Choice Requires="p14">
      <p:transition spd="slow" p14:dur="700">
        <p:fade/>
      </p:transition>
    </mc:Choice>
    <mc:Fallback>
      <p:transition spd="slow">
        <p:fade/>
      </p:transition>
    </mc:Fallback>
  </mc:AlternateContent>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afterEffect" presetClass="exit" presetID="10" presetSubtype="0">
                                  <p:stCondLst>
                                    <p:cond delay="0"/>
                                  </p:stCondLst>
                                  <p:childTnLst>
                                    <p:animEffect filter="fade" transition="out">
                                      <p:cBhvr>
                                        <p:cTn dur="1000"/>
                                        <p:tgtEl>
                                          <p:spTgt spid="2547"/>
                                        </p:tgtEl>
                                      </p:cBhvr>
                                    </p:animEffect>
                                    <p:set>
                                      <p:cBhvr>
                                        <p:cTn dur="1" fill="hold">
                                          <p:stCondLst>
                                            <p:cond delay="1000"/>
                                          </p:stCondLst>
                                        </p:cTn>
                                        <p:tgtEl>
                                          <p:spTgt spid="2547"/>
                                        </p:tgtEl>
                                        <p:attrNameLst>
                                          <p:attrName>style.visibility</p:attrName>
                                        </p:attrNameLst>
                                      </p:cBhvr>
                                      <p:to>
                                        <p:strVal val="hidden"/>
                                      </p:to>
                                    </p:set>
                                  </p:childTnLst>
                                </p:cTn>
                              </p:par>
                              <p:par>
                                <p:cTn fill="hold" nodeType="withEffect" presetClass="entr" presetID="10" presetSubtype="0">
                                  <p:stCondLst>
                                    <p:cond delay="0"/>
                                  </p:stCondLst>
                                  <p:childTnLst>
                                    <p:set>
                                      <p:cBhvr>
                                        <p:cTn dur="1" fill="hold">
                                          <p:stCondLst>
                                            <p:cond delay="0"/>
                                          </p:stCondLst>
                                        </p:cTn>
                                        <p:tgtEl>
                                          <p:spTgt spid="2440"/>
                                        </p:tgtEl>
                                        <p:attrNameLst>
                                          <p:attrName>style.visibility</p:attrName>
                                        </p:attrNameLst>
                                      </p:cBhvr>
                                      <p:to>
                                        <p:strVal val="visible"/>
                                      </p:to>
                                    </p:set>
                                    <p:animEffect filter="fade" transition="in">
                                      <p:cBhvr>
                                        <p:cTn dur="1000"/>
                                        <p:tgtEl>
                                          <p:spTgt spid="2440"/>
                                        </p:tgtEl>
                                      </p:cBhvr>
                                    </p:animEffect>
                                  </p:childTnLst>
                                </p:cTn>
                              </p:par>
                              <p:par>
                                <p:cTn fill="hold" nodeType="withEffect" presetClass="entr" presetID="10" presetSubtype="0">
                                  <p:stCondLst>
                                    <p:cond delay="0"/>
                                  </p:stCondLst>
                                  <p:childTnLst>
                                    <p:set>
                                      <p:cBhvr>
                                        <p:cTn dur="1" fill="hold">
                                          <p:stCondLst>
                                            <p:cond delay="0"/>
                                          </p:stCondLst>
                                        </p:cTn>
                                        <p:tgtEl>
                                          <p:spTgt spid="2416"/>
                                        </p:tgtEl>
                                        <p:attrNameLst>
                                          <p:attrName>style.visibility</p:attrName>
                                        </p:attrNameLst>
                                      </p:cBhvr>
                                      <p:to>
                                        <p:strVal val="visible"/>
                                      </p:to>
                                    </p:set>
                                    <p:animEffect filter="fade" transition="in">
                                      <p:cBhvr>
                                        <p:cTn dur="1000"/>
                                        <p:tgtEl>
                                          <p:spTgt spid="2416"/>
                                        </p:tgtEl>
                                      </p:cBhvr>
                                    </p:animEffect>
                                  </p:childTnLst>
                                </p:cTn>
                              </p:par>
                              <p:par>
                                <p:cTn fill="hold" nodeType="withEffect" presetClass="entr" presetID="10" presetSubtype="0">
                                  <p:stCondLst>
                                    <p:cond delay="0"/>
                                  </p:stCondLst>
                                  <p:childTnLst>
                                    <p:set>
                                      <p:cBhvr>
                                        <p:cTn dur="1" fill="hold">
                                          <p:stCondLst>
                                            <p:cond delay="0"/>
                                          </p:stCondLst>
                                        </p:cTn>
                                        <p:tgtEl>
                                          <p:spTgt spid="2415"/>
                                        </p:tgtEl>
                                        <p:attrNameLst>
                                          <p:attrName>style.visibility</p:attrName>
                                        </p:attrNameLst>
                                      </p:cBhvr>
                                      <p:to>
                                        <p:strVal val="visible"/>
                                      </p:to>
                                    </p:set>
                                    <p:animEffect filter="fade" transition="in">
                                      <p:cBhvr>
                                        <p:cTn dur="1000"/>
                                        <p:tgtEl>
                                          <p:spTgt spid="241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391"/>
                                        </p:tgtEl>
                                        <p:attrNameLst>
                                          <p:attrName>style.visibility</p:attrName>
                                        </p:attrNameLst>
                                      </p:cBhvr>
                                      <p:to>
                                        <p:strVal val="visible"/>
                                      </p:to>
                                    </p:set>
                                    <p:animEffect filter="fade" transition="in">
                                      <p:cBhvr>
                                        <p:cTn dur="500"/>
                                        <p:tgtEl>
                                          <p:spTgt spid="2391"/>
                                        </p:tgtEl>
                                      </p:cBhvr>
                                    </p:animEffect>
                                  </p:childTnLst>
                                </p:cTn>
                              </p:par>
                              <p:par>
                                <p:cTn fill="hold" nodeType="withEffect" presetClass="entr" presetID="10" presetSubtype="0">
                                  <p:stCondLst>
                                    <p:cond delay="0"/>
                                  </p:stCondLst>
                                  <p:childTnLst>
                                    <p:set>
                                      <p:cBhvr>
                                        <p:cTn dur="1" fill="hold">
                                          <p:stCondLst>
                                            <p:cond delay="0"/>
                                          </p:stCondLst>
                                        </p:cTn>
                                        <p:tgtEl>
                                          <p:spTgt spid="2531"/>
                                        </p:tgtEl>
                                        <p:attrNameLst>
                                          <p:attrName>style.visibility</p:attrName>
                                        </p:attrNameLst>
                                      </p:cBhvr>
                                      <p:to>
                                        <p:strVal val="visible"/>
                                      </p:to>
                                    </p:set>
                                    <p:animEffect filter="fade" transition="in">
                                      <p:cBhvr>
                                        <p:cTn dur="500"/>
                                        <p:tgtEl>
                                          <p:spTgt spid="2531"/>
                                        </p:tgtEl>
                                      </p:cBhvr>
                                    </p:animEffect>
                                  </p:childTnLst>
                                </p:cTn>
                              </p:par>
                            </p:childTnLst>
                          </p:cTn>
                        </p:par>
                        <p:par>
                          <p:cTn fill="hold">
                            <p:stCondLst>
                              <p:cond delay="500"/>
                            </p:stCondLst>
                            <p:childTnLst>
                              <p:par>
                                <p:cTn fill="hold" nodeType="afterEffect" presetClass="exit" presetID="10" presetSubtype="0">
                                  <p:stCondLst>
                                    <p:cond delay="0"/>
                                  </p:stCondLst>
                                  <p:childTnLst>
                                    <p:animEffect filter="fade" transition="out">
                                      <p:cBhvr>
                                        <p:cTn dur="1000"/>
                                        <p:tgtEl>
                                          <p:spTgt spid="2548"/>
                                        </p:tgtEl>
                                      </p:cBhvr>
                                    </p:animEffect>
                                    <p:set>
                                      <p:cBhvr>
                                        <p:cTn dur="1" fill="hold">
                                          <p:stCondLst>
                                            <p:cond delay="1000"/>
                                          </p:stCondLst>
                                        </p:cTn>
                                        <p:tgtEl>
                                          <p:spTgt spid="2548"/>
                                        </p:tgtEl>
                                        <p:attrNameLst>
                                          <p:attrName>style.visibility</p:attrName>
                                        </p:attrNameLst>
                                      </p:cBhvr>
                                      <p:to>
                                        <p:strVal val="hidden"/>
                                      </p:to>
                                    </p:set>
                                  </p:childTnLst>
                                </p:cTn>
                              </p:par>
                              <p:par>
                                <p:cTn fill="hold" nodeType="withEffect" presetClass="entr" presetID="10" presetSubtype="0">
                                  <p:stCondLst>
                                    <p:cond delay="0"/>
                                  </p:stCondLst>
                                  <p:childTnLst>
                                    <p:set>
                                      <p:cBhvr>
                                        <p:cTn dur="1" fill="hold">
                                          <p:stCondLst>
                                            <p:cond delay="0"/>
                                          </p:stCondLst>
                                        </p:cTn>
                                        <p:tgtEl>
                                          <p:spTgt spid="2506"/>
                                        </p:tgtEl>
                                        <p:attrNameLst>
                                          <p:attrName>style.visibility</p:attrName>
                                        </p:attrNameLst>
                                      </p:cBhvr>
                                      <p:to>
                                        <p:strVal val="visible"/>
                                      </p:to>
                                    </p:set>
                                    <p:animEffect filter="fade" transition="in">
                                      <p:cBhvr>
                                        <p:cTn dur="1000"/>
                                        <p:tgtEl>
                                          <p:spTgt spid="2506"/>
                                        </p:tgtEl>
                                      </p:cBhvr>
                                    </p:animEffect>
                                  </p:childTnLst>
                                </p:cTn>
                              </p:par>
                              <p:par>
                                <p:cTn fill="hold" nodeType="withEffect" presetClass="entr" presetID="10" presetSubtype="0">
                                  <p:stCondLst>
                                    <p:cond delay="0"/>
                                  </p:stCondLst>
                                  <p:childTnLst>
                                    <p:set>
                                      <p:cBhvr>
                                        <p:cTn dur="1" fill="hold">
                                          <p:stCondLst>
                                            <p:cond delay="0"/>
                                          </p:stCondLst>
                                        </p:cTn>
                                        <p:tgtEl>
                                          <p:spTgt spid="2439"/>
                                        </p:tgtEl>
                                        <p:attrNameLst>
                                          <p:attrName>style.visibility</p:attrName>
                                        </p:attrNameLst>
                                      </p:cBhvr>
                                      <p:to>
                                        <p:strVal val="visible"/>
                                      </p:to>
                                    </p:set>
                                    <p:animEffect filter="fade" transition="in">
                                      <p:cBhvr>
                                        <p:cTn dur="1000"/>
                                        <p:tgtEl>
                                          <p:spTgt spid="2439"/>
                                        </p:tgtEl>
                                      </p:cBhvr>
                                    </p:animEffect>
                                  </p:childTnLst>
                                </p:cTn>
                              </p:par>
                              <p:par>
                                <p:cTn fill="hold" nodeType="withEffect" presetClass="entr" presetID="10" presetSubtype="0">
                                  <p:stCondLst>
                                    <p:cond delay="0"/>
                                  </p:stCondLst>
                                  <p:childTnLst>
                                    <p:set>
                                      <p:cBhvr>
                                        <p:cTn dur="1" fill="hold">
                                          <p:stCondLst>
                                            <p:cond delay="0"/>
                                          </p:stCondLst>
                                        </p:cTn>
                                        <p:tgtEl>
                                          <p:spTgt spid="2438"/>
                                        </p:tgtEl>
                                        <p:attrNameLst>
                                          <p:attrName>style.visibility</p:attrName>
                                        </p:attrNameLst>
                                      </p:cBhvr>
                                      <p:to>
                                        <p:strVal val="visible"/>
                                      </p:to>
                                    </p:set>
                                    <p:animEffect filter="fade" transition="in">
                                      <p:cBhvr>
                                        <p:cTn dur="1000"/>
                                        <p:tgtEl>
                                          <p:spTgt spid="243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549"/>
                                        </p:tgtEl>
                                        <p:attrNameLst>
                                          <p:attrName>style.visibility</p:attrName>
                                        </p:attrNameLst>
                                      </p:cBhvr>
                                      <p:to>
                                        <p:strVal val="visible"/>
                                      </p:to>
                                    </p:set>
                                    <p:animEffect filter="fade" transition="in">
                                      <p:cBhvr>
                                        <p:cTn dur="1000"/>
                                        <p:tgtEl>
                                          <p:spTgt spid="2549"/>
                                        </p:tgtEl>
                                      </p:cBhvr>
                                    </p:animEffect>
                                  </p:childTnLst>
                                </p:cTn>
                              </p:par>
                              <p:par>
                                <p:cTn fill="hold" nodeType="withEffect" presetClass="entr" presetID="10" presetSubtype="0">
                                  <p:stCondLst>
                                    <p:cond delay="0"/>
                                  </p:stCondLst>
                                  <p:childTnLst>
                                    <p:set>
                                      <p:cBhvr>
                                        <p:cTn dur="1" fill="hold">
                                          <p:stCondLst>
                                            <p:cond delay="0"/>
                                          </p:stCondLst>
                                        </p:cTn>
                                        <p:tgtEl>
                                          <p:spTgt spid="2550"/>
                                        </p:tgtEl>
                                        <p:attrNameLst>
                                          <p:attrName>style.visibility</p:attrName>
                                        </p:attrNameLst>
                                      </p:cBhvr>
                                      <p:to>
                                        <p:strVal val="visible"/>
                                      </p:to>
                                    </p:set>
                                    <p:animEffect filter="fade" transition="in">
                                      <p:cBhvr>
                                        <p:cTn dur="1000"/>
                                        <p:tgtEl>
                                          <p:spTgt spid="255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56" name="Shape 2556"/>
        <p:cNvGrpSpPr/>
        <p:nvPr/>
      </p:nvGrpSpPr>
      <p:grpSpPr>
        <a:xfrm>
          <a:off x="0" y="0"/>
          <a:ext cx="0" cy="0"/>
          <a:chOff x="0" y="0"/>
          <a:chExt cx="0" cy="0"/>
        </a:xfrm>
      </p:grpSpPr>
      <p:sp>
        <p:nvSpPr>
          <p:cNvPr id="2557" name="Google Shape;2557;p69"/>
          <p:cNvSpPr txBox="1"/>
          <p:nvPr/>
        </p:nvSpPr>
        <p:spPr>
          <a:xfrm>
            <a:off x="4187006" y="284371"/>
            <a:ext cx="3629520"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grpSp>
        <p:nvGrpSpPr>
          <p:cNvPr id="2558" name="Google Shape;2558;p69"/>
          <p:cNvGrpSpPr/>
          <p:nvPr/>
        </p:nvGrpSpPr>
        <p:grpSpPr>
          <a:xfrm>
            <a:off x="1284576" y="2130924"/>
            <a:ext cx="10188969" cy="756004"/>
            <a:chOff x="926134" y="1719856"/>
            <a:chExt cx="9204181" cy="750147"/>
          </a:xfrm>
        </p:grpSpPr>
        <p:sp>
          <p:nvSpPr>
            <p:cNvPr id="2559" name="Google Shape;2559;p69"/>
            <p:cNvSpPr txBox="1"/>
            <p:nvPr/>
          </p:nvSpPr>
          <p:spPr>
            <a:xfrm>
              <a:off x="1641585" y="1719860"/>
              <a:ext cx="5447935"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139700" marR="0" rtl="0" algn="l">
                <a:spcBef>
                  <a:spcPts val="0"/>
                </a:spcBef>
                <a:spcAft>
                  <a:spcPts val="0"/>
                </a:spcAft>
                <a:buNone/>
              </a:pPr>
              <a:r>
                <a:rPr lang="en-US" sz="2000">
                  <a:solidFill>
                    <a:schemeClr val="dk1"/>
                  </a:solidFill>
                  <a:latin typeface="Calibri"/>
                  <a:ea typeface="Calibri"/>
                  <a:cs typeface="Calibri"/>
                  <a:sym typeface="Calibri"/>
                </a:rPr>
                <a:t>고객 B의 비서가 방문하여 미지급 금액 전액을 결제함. 현금은 은행에 입금함.</a:t>
              </a:r>
              <a:endParaRPr sz="2000">
                <a:solidFill>
                  <a:schemeClr val="dk1"/>
                </a:solidFill>
                <a:latin typeface="Avenir"/>
                <a:ea typeface="Avenir"/>
                <a:cs typeface="Avenir"/>
                <a:sym typeface="Avenir"/>
              </a:endParaRPr>
            </a:p>
          </p:txBody>
        </p:sp>
        <p:sp>
          <p:nvSpPr>
            <p:cNvPr id="2560" name="Google Shape;2560;p69"/>
            <p:cNvSpPr txBox="1"/>
            <p:nvPr/>
          </p:nvSpPr>
          <p:spPr>
            <a:xfrm>
              <a:off x="7089520" y="1719858"/>
              <a:ext cx="1520398" cy="745310"/>
            </a:xfrm>
            <a:prstGeom prst="rect">
              <a:avLst/>
            </a:prstGeom>
            <a:solidFill>
              <a:srgbClr val="E1EFD8"/>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Cash</a:t>
              </a: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600</a:t>
              </a:r>
              <a:endParaRPr/>
            </a:p>
          </p:txBody>
        </p:sp>
        <p:sp>
          <p:nvSpPr>
            <p:cNvPr id="2561" name="Google Shape;2561;p69"/>
            <p:cNvSpPr txBox="1"/>
            <p:nvPr/>
          </p:nvSpPr>
          <p:spPr>
            <a:xfrm>
              <a:off x="8609917" y="1719858"/>
              <a:ext cx="1520398" cy="745310"/>
            </a:xfrm>
            <a:prstGeom prst="rect">
              <a:avLst/>
            </a:prstGeom>
            <a:solidFill>
              <a:srgbClr val="FBE4D4"/>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Accounts receivable</a:t>
              </a:r>
              <a:endParaRPr b="1" sz="1600">
                <a:solidFill>
                  <a:srgbClr val="BFBFBF"/>
                </a:solidFill>
                <a:latin typeface="Avenir"/>
                <a:ea typeface="Avenir"/>
                <a:cs typeface="Avenir"/>
                <a:sym typeface="Aveni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600</a:t>
              </a:r>
              <a:endParaRPr/>
            </a:p>
          </p:txBody>
        </p:sp>
        <p:sp>
          <p:nvSpPr>
            <p:cNvPr id="2562" name="Google Shape;2562;p69"/>
            <p:cNvSpPr txBox="1"/>
            <p:nvPr/>
          </p:nvSpPr>
          <p:spPr>
            <a:xfrm>
              <a:off x="926134" y="1719856"/>
              <a:ext cx="715451"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11</a:t>
              </a:r>
              <a:endParaRPr/>
            </a:p>
          </p:txBody>
        </p:sp>
      </p:grpSp>
      <p:sp>
        <p:nvSpPr>
          <p:cNvPr id="2563" name="Google Shape;2563;p69"/>
          <p:cNvSpPr txBox="1"/>
          <p:nvPr/>
        </p:nvSpPr>
        <p:spPr>
          <a:xfrm>
            <a:off x="8109273" y="2130928"/>
            <a:ext cx="1681200" cy="756000"/>
          </a:xfrm>
          <a:prstGeom prst="rect">
            <a:avLst/>
          </a:prstGeom>
          <a:solidFill>
            <a:srgbClr val="548135"/>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600</a:t>
            </a:r>
            <a:endParaRPr/>
          </a:p>
        </p:txBody>
      </p:sp>
      <p:sp>
        <p:nvSpPr>
          <p:cNvPr id="2564" name="Google Shape;2564;p69"/>
          <p:cNvSpPr txBox="1"/>
          <p:nvPr/>
        </p:nvSpPr>
        <p:spPr>
          <a:xfrm>
            <a:off x="9792343" y="2130928"/>
            <a:ext cx="1681200" cy="756000"/>
          </a:xfrm>
          <a:prstGeom prst="rect">
            <a:avLst/>
          </a:prstGeom>
          <a:solidFill>
            <a:schemeClr val="accent2"/>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600</a:t>
            </a:r>
            <a:endParaRPr/>
          </a:p>
        </p:txBody>
      </p:sp>
      <p:cxnSp>
        <p:nvCxnSpPr>
          <p:cNvPr id="2565" name="Google Shape;2565;p69"/>
          <p:cNvCxnSpPr/>
          <p:nvPr/>
        </p:nvCxnSpPr>
        <p:spPr>
          <a:xfrm>
            <a:off x="4316098" y="717845"/>
            <a:ext cx="3375212" cy="0"/>
          </a:xfrm>
          <a:prstGeom prst="straightConnector1">
            <a:avLst/>
          </a:prstGeom>
          <a:noFill/>
          <a:ln cap="flat" cmpd="sng" w="28575">
            <a:solidFill>
              <a:schemeClr val="accent1"/>
            </a:solidFill>
            <a:prstDash val="dot"/>
            <a:miter lim="800000"/>
            <a:headEnd len="sm" w="sm" type="none"/>
            <a:tailEnd len="sm" w="sm" type="none"/>
          </a:ln>
        </p:spPr>
      </p:cxnSp>
      <p:sp>
        <p:nvSpPr>
          <p:cNvPr id="2566" name="Google Shape;2566;p69"/>
          <p:cNvSpPr/>
          <p:nvPr/>
        </p:nvSpPr>
        <p:spPr>
          <a:xfrm>
            <a:off x="1284578" y="1520543"/>
            <a:ext cx="2024679" cy="42011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2130">
                <a:solidFill>
                  <a:schemeClr val="dk1"/>
                </a:solidFill>
                <a:latin typeface="Avenir"/>
                <a:ea typeface="Avenir"/>
                <a:cs typeface="Avenir"/>
                <a:sym typeface="Avenir"/>
              </a:rPr>
              <a:t>21 February</a:t>
            </a:r>
            <a:endParaRPr sz="2130">
              <a:solidFill>
                <a:schemeClr val="dk1"/>
              </a:solidFill>
              <a:latin typeface="Avenir"/>
              <a:ea typeface="Avenir"/>
              <a:cs typeface="Avenir"/>
              <a:sym typeface="Avenir"/>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1" name="Shape 2571"/>
        <p:cNvGrpSpPr/>
        <p:nvPr/>
      </p:nvGrpSpPr>
      <p:grpSpPr>
        <a:xfrm>
          <a:off x="0" y="0"/>
          <a:ext cx="0" cy="0"/>
          <a:chOff x="0" y="0"/>
          <a:chExt cx="0" cy="0"/>
        </a:xfrm>
      </p:grpSpPr>
      <p:sp>
        <p:nvSpPr>
          <p:cNvPr id="2572" name="Google Shape;2572;p70"/>
          <p:cNvSpPr txBox="1"/>
          <p:nvPr/>
        </p:nvSpPr>
        <p:spPr>
          <a:xfrm>
            <a:off x="4187006" y="133386"/>
            <a:ext cx="3629520"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cxnSp>
        <p:nvCxnSpPr>
          <p:cNvPr id="2573" name="Google Shape;2573;p70"/>
          <p:cNvCxnSpPr/>
          <p:nvPr/>
        </p:nvCxnSpPr>
        <p:spPr>
          <a:xfrm>
            <a:off x="4316098" y="566860"/>
            <a:ext cx="3375212" cy="0"/>
          </a:xfrm>
          <a:prstGeom prst="straightConnector1">
            <a:avLst/>
          </a:prstGeom>
          <a:noFill/>
          <a:ln cap="flat" cmpd="sng" w="28575">
            <a:solidFill>
              <a:schemeClr val="accent1"/>
            </a:solidFill>
            <a:prstDash val="dot"/>
            <a:miter lim="800000"/>
            <a:headEnd len="sm" w="sm" type="none"/>
            <a:tailEnd len="sm" w="sm" type="none"/>
          </a:ln>
        </p:spPr>
      </p:cxnSp>
      <p:grpSp>
        <p:nvGrpSpPr>
          <p:cNvPr id="2574" name="Google Shape;2574;p70"/>
          <p:cNvGrpSpPr/>
          <p:nvPr/>
        </p:nvGrpSpPr>
        <p:grpSpPr>
          <a:xfrm>
            <a:off x="492858" y="773769"/>
            <a:ext cx="11291146" cy="5895963"/>
            <a:chOff x="492858" y="773769"/>
            <a:chExt cx="11291146" cy="5895963"/>
          </a:xfrm>
        </p:grpSpPr>
        <p:sp>
          <p:nvSpPr>
            <p:cNvPr id="2575" name="Google Shape;2575;p70"/>
            <p:cNvSpPr txBox="1"/>
            <p:nvPr/>
          </p:nvSpPr>
          <p:spPr>
            <a:xfrm>
              <a:off x="6227788" y="2623662"/>
              <a:ext cx="5556216" cy="1692844"/>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Equity</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2576" name="Google Shape;2576;p70"/>
            <p:cNvSpPr txBox="1"/>
            <p:nvPr/>
          </p:nvSpPr>
          <p:spPr>
            <a:xfrm>
              <a:off x="6410845" y="3135649"/>
              <a:ext cx="1544844" cy="770509"/>
            </a:xfrm>
            <a:prstGeom prst="rect">
              <a:avLst/>
            </a:prstGeom>
            <a:noFill/>
            <a:ln cap="flat" cmpd="sng" w="5715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ctr">
                <a:lnSpc>
                  <a:spcPct val="120000"/>
                </a:lnSpc>
                <a:spcBef>
                  <a:spcPts val="0"/>
                </a:spcBef>
                <a:spcAft>
                  <a:spcPts val="0"/>
                </a:spcAft>
                <a:buNone/>
              </a:pPr>
              <a:r>
                <a:rPr b="1" lang="en-US" sz="2200">
                  <a:solidFill>
                    <a:srgbClr val="942093"/>
                  </a:solidFill>
                  <a:latin typeface="Avenir"/>
                  <a:ea typeface="Avenir"/>
                  <a:cs typeface="Avenir"/>
                  <a:sym typeface="Avenir"/>
                </a:rPr>
                <a:t>Profit</a:t>
              </a:r>
              <a:endParaRPr/>
            </a:p>
          </p:txBody>
        </p:sp>
        <p:sp>
          <p:nvSpPr>
            <p:cNvPr id="2577" name="Google Shape;2577;p70"/>
            <p:cNvSpPr txBox="1"/>
            <p:nvPr/>
          </p:nvSpPr>
          <p:spPr>
            <a:xfrm>
              <a:off x="6227788" y="773769"/>
              <a:ext cx="5556216" cy="1702674"/>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Liabilities</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grpSp>
          <p:nvGrpSpPr>
            <p:cNvPr id="2578" name="Google Shape;2578;p70"/>
            <p:cNvGrpSpPr/>
            <p:nvPr/>
          </p:nvGrpSpPr>
          <p:grpSpPr>
            <a:xfrm>
              <a:off x="492858" y="3906158"/>
              <a:ext cx="11291146" cy="2763574"/>
              <a:chOff x="1354633" y="4399872"/>
              <a:chExt cx="9550931" cy="2121952"/>
            </a:xfrm>
          </p:grpSpPr>
          <p:sp>
            <p:nvSpPr>
              <p:cNvPr id="2579" name="Google Shape;2579;p70"/>
              <p:cNvSpPr txBox="1"/>
              <p:nvPr/>
            </p:nvSpPr>
            <p:spPr>
              <a:xfrm>
                <a:off x="1354633" y="4813260"/>
                <a:ext cx="9550931" cy="1708564"/>
              </a:xfrm>
              <a:prstGeom prst="rect">
                <a:avLst/>
              </a:prstGeom>
              <a:solidFill>
                <a:srgbClr val="FCECFB"/>
              </a:solidFill>
              <a:ln cap="flat" cmpd="sng" w="7620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b="1" lang="en-US" sz="2800">
                    <a:solidFill>
                      <a:schemeClr val="dk1"/>
                    </a:solidFill>
                    <a:latin typeface="Avenir"/>
                    <a:ea typeface="Avenir"/>
                    <a:cs typeface="Avenir"/>
                    <a:sym typeface="Avenir"/>
                  </a:rPr>
                  <a:t> </a:t>
                </a:r>
                <a:endParaRPr/>
              </a:p>
            </p:txBody>
          </p:sp>
          <p:sp>
            <p:nvSpPr>
              <p:cNvPr id="2580" name="Google Shape;2580;p70"/>
              <p:cNvSpPr txBox="1"/>
              <p:nvPr/>
            </p:nvSpPr>
            <p:spPr>
              <a:xfrm>
                <a:off x="6199863" y="4921166"/>
                <a:ext cx="4576976" cy="1495361"/>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Income</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2581" name="Google Shape;2581;p70"/>
              <p:cNvSpPr txBox="1"/>
              <p:nvPr/>
            </p:nvSpPr>
            <p:spPr>
              <a:xfrm>
                <a:off x="1481256" y="4921166"/>
                <a:ext cx="4552539" cy="1495361"/>
              </a:xfrm>
              <a:prstGeom prst="rect">
                <a:avLst/>
              </a:prstGeom>
              <a:solidFill>
                <a:srgbClr val="E1EFD8"/>
              </a:solid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None/>
                </a:pPr>
                <a:r>
                  <a:rPr b="1" lang="en-US" sz="2800">
                    <a:solidFill>
                      <a:srgbClr val="E1EFD8"/>
                    </a:solidFill>
                    <a:latin typeface="Avenir"/>
                    <a:ea typeface="Avenir"/>
                    <a:cs typeface="Avenir"/>
                    <a:sym typeface="Avenir"/>
                  </a:rPr>
                  <a:t>_</a:t>
                </a:r>
                <a:r>
                  <a:rPr b="1" lang="en-US" sz="2000">
                    <a:solidFill>
                      <a:schemeClr val="dk1"/>
                    </a:solidFill>
                    <a:latin typeface="Avenir"/>
                    <a:ea typeface="Avenir"/>
                    <a:cs typeface="Avenir"/>
                    <a:sym typeface="Avenir"/>
                  </a:rPr>
                  <a:t>Expenses</a:t>
                </a:r>
                <a:endParaRPr b="1" sz="2800">
                  <a:solidFill>
                    <a:schemeClr val="dk1"/>
                  </a:solidFill>
                  <a:latin typeface="Avenir"/>
                  <a:ea typeface="Avenir"/>
                  <a:cs typeface="Avenir"/>
                  <a:sym typeface="Avenir"/>
                </a:endParaRPr>
              </a:p>
            </p:txBody>
          </p:sp>
          <p:cxnSp>
            <p:nvCxnSpPr>
              <p:cNvPr id="2582" name="Google Shape;2582;p70"/>
              <p:cNvCxnSpPr>
                <a:stCxn id="2576" idx="2"/>
              </p:cNvCxnSpPr>
              <p:nvPr/>
            </p:nvCxnSpPr>
            <p:spPr>
              <a:xfrm>
                <a:off x="7013902" y="4399872"/>
                <a:ext cx="7500" cy="434700"/>
              </a:xfrm>
              <a:prstGeom prst="straightConnector1">
                <a:avLst/>
              </a:prstGeom>
              <a:noFill/>
              <a:ln cap="flat" cmpd="sng" w="76200">
                <a:solidFill>
                  <a:srgbClr val="942093"/>
                </a:solidFill>
                <a:prstDash val="solid"/>
                <a:miter lim="800000"/>
                <a:headEnd len="sm" w="sm" type="none"/>
                <a:tailEnd len="sm" w="sm" type="none"/>
              </a:ln>
            </p:spPr>
          </p:cxnSp>
        </p:grpSp>
        <p:sp>
          <p:nvSpPr>
            <p:cNvPr id="2583" name="Google Shape;2583;p70"/>
            <p:cNvSpPr txBox="1"/>
            <p:nvPr/>
          </p:nvSpPr>
          <p:spPr>
            <a:xfrm>
              <a:off x="492858" y="773769"/>
              <a:ext cx="5544457" cy="3542737"/>
            </a:xfrm>
            <a:prstGeom prst="rect">
              <a:avLst/>
            </a:prstGeom>
            <a:solidFill>
              <a:srgbClr val="E1EFD8"/>
            </a:solid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None/>
              </a:pPr>
              <a:r>
                <a:rPr b="1" lang="en-US" sz="2800">
                  <a:solidFill>
                    <a:srgbClr val="E1EFD8"/>
                  </a:solidFill>
                  <a:latin typeface="Avenir"/>
                  <a:ea typeface="Avenir"/>
                  <a:cs typeface="Avenir"/>
                  <a:sym typeface="Avenir"/>
                </a:rPr>
                <a:t>_</a:t>
              </a:r>
              <a:r>
                <a:rPr b="1" lang="en-US" sz="2000">
                  <a:solidFill>
                    <a:schemeClr val="dk1"/>
                  </a:solidFill>
                  <a:latin typeface="Avenir"/>
                  <a:ea typeface="Avenir"/>
                  <a:cs typeface="Avenir"/>
                  <a:sym typeface="Avenir"/>
                </a:rPr>
                <a:t>Assets</a:t>
              </a:r>
              <a:endParaRPr b="1" sz="2800">
                <a:solidFill>
                  <a:schemeClr val="dk1"/>
                </a:solidFill>
                <a:latin typeface="Avenir"/>
                <a:ea typeface="Avenir"/>
                <a:cs typeface="Avenir"/>
                <a:sym typeface="Avenir"/>
              </a:endParaRPr>
            </a:p>
          </p:txBody>
        </p:sp>
      </p:grpSp>
      <p:grpSp>
        <p:nvGrpSpPr>
          <p:cNvPr id="2584" name="Google Shape;2584;p70"/>
          <p:cNvGrpSpPr/>
          <p:nvPr/>
        </p:nvGrpSpPr>
        <p:grpSpPr>
          <a:xfrm>
            <a:off x="4248000" y="2850495"/>
            <a:ext cx="1620000" cy="1116000"/>
            <a:chOff x="3810000" y="2381250"/>
            <a:chExt cx="1390650" cy="1230631"/>
          </a:xfrm>
        </p:grpSpPr>
        <p:sp>
          <p:nvSpPr>
            <p:cNvPr id="2585" name="Google Shape;2585;p70"/>
            <p:cNvSpPr/>
            <p:nvPr/>
          </p:nvSpPr>
          <p:spPr>
            <a:xfrm flipH="1">
              <a:off x="4505325" y="2381250"/>
              <a:ext cx="695325" cy="1230631"/>
            </a:xfrm>
            <a:prstGeom prst="corner">
              <a:avLst>
                <a:gd fmla="val 7073" name="adj1"/>
                <a:gd fmla="val 694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2586" name="Google Shape;2586;p70"/>
            <p:cNvSpPr/>
            <p:nvPr/>
          </p:nvSpPr>
          <p:spPr>
            <a:xfrm>
              <a:off x="3810000" y="2381250"/>
              <a:ext cx="695325" cy="1230631"/>
            </a:xfrm>
            <a:prstGeom prst="corner">
              <a:avLst>
                <a:gd fmla="val 7073" name="adj1"/>
                <a:gd fmla="val 694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2587" name="Google Shape;2587;p70"/>
          <p:cNvGrpSpPr/>
          <p:nvPr/>
        </p:nvGrpSpPr>
        <p:grpSpPr>
          <a:xfrm>
            <a:off x="2458800" y="1713372"/>
            <a:ext cx="1620000" cy="2245325"/>
            <a:chOff x="671549" y="1402787"/>
            <a:chExt cx="1620000" cy="2549293"/>
          </a:xfrm>
        </p:grpSpPr>
        <p:sp>
          <p:nvSpPr>
            <p:cNvPr id="2588" name="Google Shape;2588;p70"/>
            <p:cNvSpPr/>
            <p:nvPr/>
          </p:nvSpPr>
          <p:spPr>
            <a:xfrm flipH="1">
              <a:off x="1481549" y="1402787"/>
              <a:ext cx="810000" cy="2549293"/>
            </a:xfrm>
            <a:prstGeom prst="corner">
              <a:avLst>
                <a:gd fmla="val 6497" name="adj1"/>
                <a:gd fmla="val 694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1800">
                <a:solidFill>
                  <a:schemeClr val="lt1"/>
                </a:solidFill>
                <a:latin typeface="Avenir"/>
                <a:ea typeface="Avenir"/>
                <a:cs typeface="Avenir"/>
                <a:sym typeface="Avenir"/>
              </a:endParaRPr>
            </a:p>
          </p:txBody>
        </p:sp>
        <p:sp>
          <p:nvSpPr>
            <p:cNvPr id="2589" name="Google Shape;2589;p70"/>
            <p:cNvSpPr/>
            <p:nvPr/>
          </p:nvSpPr>
          <p:spPr>
            <a:xfrm>
              <a:off x="671549" y="1402787"/>
              <a:ext cx="810000" cy="2549293"/>
            </a:xfrm>
            <a:prstGeom prst="corner">
              <a:avLst>
                <a:gd fmla="val 6497" name="adj1"/>
                <a:gd fmla="val 7336"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1800">
                <a:solidFill>
                  <a:schemeClr val="lt1"/>
                </a:solidFill>
                <a:latin typeface="Avenir"/>
                <a:ea typeface="Avenir"/>
                <a:cs typeface="Avenir"/>
                <a:sym typeface="Avenir"/>
              </a:endParaRPr>
            </a:p>
          </p:txBody>
        </p:sp>
      </p:grpSp>
      <p:grpSp>
        <p:nvGrpSpPr>
          <p:cNvPr id="2590" name="Google Shape;2590;p70"/>
          <p:cNvGrpSpPr/>
          <p:nvPr/>
        </p:nvGrpSpPr>
        <p:grpSpPr>
          <a:xfrm>
            <a:off x="673200" y="3340800"/>
            <a:ext cx="1620000" cy="613673"/>
            <a:chOff x="3810000" y="2381250"/>
            <a:chExt cx="1390650" cy="1230631"/>
          </a:xfrm>
        </p:grpSpPr>
        <p:sp>
          <p:nvSpPr>
            <p:cNvPr id="2591" name="Google Shape;2591;p70"/>
            <p:cNvSpPr/>
            <p:nvPr/>
          </p:nvSpPr>
          <p:spPr>
            <a:xfrm flipH="1">
              <a:off x="4505325"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2592" name="Google Shape;2592;p70"/>
            <p:cNvSpPr/>
            <p:nvPr/>
          </p:nvSpPr>
          <p:spPr>
            <a:xfrm>
              <a:off x="3810000"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sp>
        <p:nvSpPr>
          <p:cNvPr id="2593" name="Google Shape;2593;p70"/>
          <p:cNvSpPr txBox="1"/>
          <p:nvPr/>
        </p:nvSpPr>
        <p:spPr>
          <a:xfrm>
            <a:off x="2551146" y="3924000"/>
            <a:ext cx="1393331"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Cash at bank</a:t>
            </a:r>
            <a:endParaRPr/>
          </a:p>
        </p:txBody>
      </p:sp>
      <p:sp>
        <p:nvSpPr>
          <p:cNvPr id="2594" name="Google Shape;2594;p70"/>
          <p:cNvSpPr txBox="1"/>
          <p:nvPr/>
        </p:nvSpPr>
        <p:spPr>
          <a:xfrm>
            <a:off x="4292494" y="3924000"/>
            <a:ext cx="1531779"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Inventory</a:t>
            </a:r>
            <a:endParaRPr/>
          </a:p>
        </p:txBody>
      </p:sp>
      <p:sp>
        <p:nvSpPr>
          <p:cNvPr id="2595" name="Google Shape;2595;p70"/>
          <p:cNvSpPr txBox="1"/>
          <p:nvPr/>
        </p:nvSpPr>
        <p:spPr>
          <a:xfrm>
            <a:off x="661400" y="3924000"/>
            <a:ext cx="1647322"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Equipment</a:t>
            </a:r>
            <a:endParaRPr/>
          </a:p>
        </p:txBody>
      </p:sp>
      <p:sp>
        <p:nvSpPr>
          <p:cNvPr id="2596" name="Google Shape;2596;p70"/>
          <p:cNvSpPr txBox="1"/>
          <p:nvPr/>
        </p:nvSpPr>
        <p:spPr>
          <a:xfrm>
            <a:off x="2596439" y="5339671"/>
            <a:ext cx="1590567"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Cleaning</a:t>
            </a:r>
            <a:endParaRPr/>
          </a:p>
        </p:txBody>
      </p:sp>
      <p:sp>
        <p:nvSpPr>
          <p:cNvPr id="2597" name="Google Shape;2597;p70"/>
          <p:cNvSpPr txBox="1"/>
          <p:nvPr/>
        </p:nvSpPr>
        <p:spPr>
          <a:xfrm>
            <a:off x="4306077" y="6192000"/>
            <a:ext cx="1606417"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Cost of sales</a:t>
            </a:r>
            <a:endParaRPr/>
          </a:p>
        </p:txBody>
      </p:sp>
      <p:sp>
        <p:nvSpPr>
          <p:cNvPr id="2598" name="Google Shape;2598;p70"/>
          <p:cNvSpPr txBox="1"/>
          <p:nvPr/>
        </p:nvSpPr>
        <p:spPr>
          <a:xfrm>
            <a:off x="6295758" y="6192000"/>
            <a:ext cx="1842786"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Revenue (sales)</a:t>
            </a:r>
            <a:endParaRPr/>
          </a:p>
        </p:txBody>
      </p:sp>
      <p:sp>
        <p:nvSpPr>
          <p:cNvPr id="2599" name="Google Shape;2599;p70"/>
          <p:cNvSpPr txBox="1"/>
          <p:nvPr/>
        </p:nvSpPr>
        <p:spPr>
          <a:xfrm>
            <a:off x="10028967" y="2029411"/>
            <a:ext cx="1593685"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Bank loan</a:t>
            </a:r>
            <a:endParaRPr/>
          </a:p>
        </p:txBody>
      </p:sp>
      <p:sp>
        <p:nvSpPr>
          <p:cNvPr id="2600" name="Google Shape;2600;p70"/>
          <p:cNvSpPr txBox="1"/>
          <p:nvPr/>
        </p:nvSpPr>
        <p:spPr>
          <a:xfrm>
            <a:off x="8114313" y="2028286"/>
            <a:ext cx="1864201"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Deferred income</a:t>
            </a:r>
            <a:endParaRPr/>
          </a:p>
        </p:txBody>
      </p:sp>
      <p:sp>
        <p:nvSpPr>
          <p:cNvPr id="2601" name="Google Shape;2601;p70"/>
          <p:cNvSpPr txBox="1"/>
          <p:nvPr/>
        </p:nvSpPr>
        <p:spPr>
          <a:xfrm>
            <a:off x="3184560" y="3614709"/>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30,000</a:t>
            </a:r>
            <a:endParaRPr/>
          </a:p>
        </p:txBody>
      </p:sp>
      <p:sp>
        <p:nvSpPr>
          <p:cNvPr id="2602" name="Google Shape;2602;p70"/>
          <p:cNvSpPr txBox="1"/>
          <p:nvPr/>
        </p:nvSpPr>
        <p:spPr>
          <a:xfrm>
            <a:off x="3184560" y="3344709"/>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20,000</a:t>
            </a:r>
            <a:endParaRPr/>
          </a:p>
        </p:txBody>
      </p:sp>
      <p:sp>
        <p:nvSpPr>
          <p:cNvPr id="2603" name="Google Shape;2603;p70"/>
          <p:cNvSpPr txBox="1"/>
          <p:nvPr/>
        </p:nvSpPr>
        <p:spPr>
          <a:xfrm>
            <a:off x="3298373" y="3074709"/>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5,000</a:t>
            </a:r>
            <a:endParaRPr/>
          </a:p>
        </p:txBody>
      </p:sp>
      <p:sp>
        <p:nvSpPr>
          <p:cNvPr id="2604" name="Google Shape;2604;p70"/>
          <p:cNvSpPr txBox="1"/>
          <p:nvPr/>
        </p:nvSpPr>
        <p:spPr>
          <a:xfrm>
            <a:off x="3469894" y="2534709"/>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700</a:t>
            </a:r>
            <a:endParaRPr/>
          </a:p>
        </p:txBody>
      </p:sp>
      <p:sp>
        <p:nvSpPr>
          <p:cNvPr id="2605" name="Google Shape;2605;p70"/>
          <p:cNvSpPr txBox="1"/>
          <p:nvPr/>
        </p:nvSpPr>
        <p:spPr>
          <a:xfrm>
            <a:off x="3583708" y="2264709"/>
            <a:ext cx="412292"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50</a:t>
            </a:r>
            <a:endParaRPr/>
          </a:p>
        </p:txBody>
      </p:sp>
      <p:sp>
        <p:nvSpPr>
          <p:cNvPr id="2606" name="Google Shape;2606;p70"/>
          <p:cNvSpPr txBox="1"/>
          <p:nvPr/>
        </p:nvSpPr>
        <p:spPr>
          <a:xfrm>
            <a:off x="3713366" y="5031445"/>
            <a:ext cx="412292"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50</a:t>
            </a:r>
            <a:endParaRPr/>
          </a:p>
        </p:txBody>
      </p:sp>
      <p:sp>
        <p:nvSpPr>
          <p:cNvPr id="2607" name="Google Shape;2607;p70"/>
          <p:cNvSpPr txBox="1"/>
          <p:nvPr/>
        </p:nvSpPr>
        <p:spPr>
          <a:xfrm>
            <a:off x="3469894" y="1724709"/>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600</a:t>
            </a:r>
            <a:endParaRPr/>
          </a:p>
        </p:txBody>
      </p:sp>
      <p:sp>
        <p:nvSpPr>
          <p:cNvPr id="2608" name="Google Shape;2608;p70"/>
          <p:cNvSpPr txBox="1"/>
          <p:nvPr/>
        </p:nvSpPr>
        <p:spPr>
          <a:xfrm>
            <a:off x="3184560" y="2804709"/>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10,000</a:t>
            </a:r>
            <a:endParaRPr/>
          </a:p>
        </p:txBody>
      </p:sp>
      <p:sp>
        <p:nvSpPr>
          <p:cNvPr id="2609" name="Google Shape;2609;p70"/>
          <p:cNvSpPr txBox="1"/>
          <p:nvPr/>
        </p:nvSpPr>
        <p:spPr>
          <a:xfrm>
            <a:off x="10026434" y="3924000"/>
            <a:ext cx="1757569"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contributed capital</a:t>
            </a:r>
            <a:endParaRPr/>
          </a:p>
        </p:txBody>
      </p:sp>
      <p:sp>
        <p:nvSpPr>
          <p:cNvPr id="2610" name="Google Shape;2610;p70"/>
          <p:cNvSpPr/>
          <p:nvPr/>
        </p:nvSpPr>
        <p:spPr>
          <a:xfrm rot="10800000">
            <a:off x="3011371" y="177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611" name="Google Shape;2611;p70"/>
          <p:cNvSpPr/>
          <p:nvPr/>
        </p:nvSpPr>
        <p:spPr>
          <a:xfrm>
            <a:off x="3011371" y="23367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612" name="Google Shape;2612;p70"/>
          <p:cNvSpPr/>
          <p:nvPr/>
        </p:nvSpPr>
        <p:spPr>
          <a:xfrm rot="10800000">
            <a:off x="3011371" y="258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613" name="Google Shape;2613;p70"/>
          <p:cNvSpPr/>
          <p:nvPr/>
        </p:nvSpPr>
        <p:spPr>
          <a:xfrm>
            <a:off x="3011371" y="28767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614" name="Google Shape;2614;p70"/>
          <p:cNvSpPr/>
          <p:nvPr/>
        </p:nvSpPr>
        <p:spPr>
          <a:xfrm>
            <a:off x="3011371" y="31467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615" name="Google Shape;2615;p70"/>
          <p:cNvSpPr/>
          <p:nvPr/>
        </p:nvSpPr>
        <p:spPr>
          <a:xfrm rot="10800000">
            <a:off x="3011371" y="339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616" name="Google Shape;2616;p70"/>
          <p:cNvSpPr/>
          <p:nvPr/>
        </p:nvSpPr>
        <p:spPr>
          <a:xfrm rot="10800000">
            <a:off x="3011371" y="366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617" name="Google Shape;2617;p70"/>
          <p:cNvSpPr txBox="1"/>
          <p:nvPr/>
        </p:nvSpPr>
        <p:spPr>
          <a:xfrm>
            <a:off x="10785455" y="1718255"/>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30,000</a:t>
            </a:r>
            <a:endParaRPr/>
          </a:p>
        </p:txBody>
      </p:sp>
      <p:sp>
        <p:nvSpPr>
          <p:cNvPr id="2618" name="Google Shape;2618;p70"/>
          <p:cNvSpPr/>
          <p:nvPr/>
        </p:nvSpPr>
        <p:spPr>
          <a:xfrm rot="10800000">
            <a:off x="10548000" y="1757882"/>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2619" name="Google Shape;2619;p70"/>
          <p:cNvSpPr txBox="1"/>
          <p:nvPr/>
        </p:nvSpPr>
        <p:spPr>
          <a:xfrm>
            <a:off x="10776926" y="3605780"/>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20,000</a:t>
            </a:r>
            <a:endParaRPr/>
          </a:p>
        </p:txBody>
      </p:sp>
      <p:sp>
        <p:nvSpPr>
          <p:cNvPr id="2620" name="Google Shape;2620;p70"/>
          <p:cNvSpPr txBox="1"/>
          <p:nvPr/>
        </p:nvSpPr>
        <p:spPr>
          <a:xfrm>
            <a:off x="10732895" y="1448255"/>
            <a:ext cx="86400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5,000</a:t>
            </a:r>
            <a:endParaRPr/>
          </a:p>
        </p:txBody>
      </p:sp>
      <p:sp>
        <p:nvSpPr>
          <p:cNvPr id="2621" name="Google Shape;2621;p70"/>
          <p:cNvSpPr/>
          <p:nvPr/>
        </p:nvSpPr>
        <p:spPr>
          <a:xfrm>
            <a:off x="10548000" y="1505882"/>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548135"/>
              </a:solidFill>
              <a:latin typeface="Calibri"/>
              <a:ea typeface="Calibri"/>
              <a:cs typeface="Calibri"/>
              <a:sym typeface="Calibri"/>
            </a:endParaRPr>
          </a:p>
        </p:txBody>
      </p:sp>
      <p:sp>
        <p:nvSpPr>
          <p:cNvPr id="2622" name="Google Shape;2622;p70"/>
          <p:cNvSpPr txBox="1"/>
          <p:nvPr/>
        </p:nvSpPr>
        <p:spPr>
          <a:xfrm>
            <a:off x="4984560" y="3610092"/>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10,000</a:t>
            </a:r>
            <a:endParaRPr/>
          </a:p>
        </p:txBody>
      </p:sp>
      <p:sp>
        <p:nvSpPr>
          <p:cNvPr id="2623" name="Google Shape;2623;p70"/>
          <p:cNvSpPr txBox="1"/>
          <p:nvPr/>
        </p:nvSpPr>
        <p:spPr>
          <a:xfrm>
            <a:off x="7429894" y="5905082"/>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700</a:t>
            </a:r>
            <a:endParaRPr/>
          </a:p>
        </p:txBody>
      </p:sp>
      <p:sp>
        <p:nvSpPr>
          <p:cNvPr id="2624" name="Google Shape;2624;p70"/>
          <p:cNvSpPr/>
          <p:nvPr/>
        </p:nvSpPr>
        <p:spPr>
          <a:xfrm rot="10800000">
            <a:off x="6984000" y="5943076"/>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2625" name="Google Shape;2625;p70"/>
          <p:cNvSpPr/>
          <p:nvPr/>
        </p:nvSpPr>
        <p:spPr>
          <a:xfrm rot="10800000">
            <a:off x="3096000" y="5082325"/>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626" name="Google Shape;2626;p70"/>
          <p:cNvSpPr txBox="1"/>
          <p:nvPr/>
        </p:nvSpPr>
        <p:spPr>
          <a:xfrm>
            <a:off x="3469894" y="1994709"/>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100</a:t>
            </a:r>
            <a:endParaRPr/>
          </a:p>
        </p:txBody>
      </p:sp>
      <p:sp>
        <p:nvSpPr>
          <p:cNvPr id="2627" name="Google Shape;2627;p70"/>
          <p:cNvSpPr/>
          <p:nvPr/>
        </p:nvSpPr>
        <p:spPr>
          <a:xfrm rot="10800000">
            <a:off x="3007666" y="2049930"/>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628" name="Google Shape;2628;p70"/>
          <p:cNvSpPr txBox="1"/>
          <p:nvPr/>
        </p:nvSpPr>
        <p:spPr>
          <a:xfrm>
            <a:off x="7315968" y="1713373"/>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6,000</a:t>
            </a:r>
            <a:endParaRPr/>
          </a:p>
        </p:txBody>
      </p:sp>
      <p:sp>
        <p:nvSpPr>
          <p:cNvPr id="2629" name="Google Shape;2629;p70"/>
          <p:cNvSpPr/>
          <p:nvPr/>
        </p:nvSpPr>
        <p:spPr>
          <a:xfrm rot="10800000">
            <a:off x="6984000" y="1749046"/>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2630" name="Google Shape;2630;p70"/>
          <p:cNvSpPr txBox="1"/>
          <p:nvPr/>
        </p:nvSpPr>
        <p:spPr>
          <a:xfrm>
            <a:off x="1501235" y="3588336"/>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6,000</a:t>
            </a:r>
            <a:endParaRPr/>
          </a:p>
        </p:txBody>
      </p:sp>
      <p:sp>
        <p:nvSpPr>
          <p:cNvPr id="2631" name="Google Shape;2631;p70"/>
          <p:cNvSpPr/>
          <p:nvPr/>
        </p:nvSpPr>
        <p:spPr>
          <a:xfrm rot="10800000">
            <a:off x="1249425" y="3637660"/>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632" name="Google Shape;2632;p70"/>
          <p:cNvSpPr txBox="1"/>
          <p:nvPr/>
        </p:nvSpPr>
        <p:spPr>
          <a:xfrm>
            <a:off x="5269894" y="3365080"/>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300</a:t>
            </a:r>
            <a:endParaRPr/>
          </a:p>
        </p:txBody>
      </p:sp>
      <p:sp>
        <p:nvSpPr>
          <p:cNvPr id="2633" name="Google Shape;2633;p70"/>
          <p:cNvSpPr/>
          <p:nvPr/>
        </p:nvSpPr>
        <p:spPr>
          <a:xfrm>
            <a:off x="4824000" y="3429341"/>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634" name="Google Shape;2634;p70"/>
          <p:cNvSpPr/>
          <p:nvPr/>
        </p:nvSpPr>
        <p:spPr>
          <a:xfrm rot="10800000">
            <a:off x="4824000" y="3662508"/>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635" name="Google Shape;2635;p70"/>
          <p:cNvSpPr txBox="1"/>
          <p:nvPr/>
        </p:nvSpPr>
        <p:spPr>
          <a:xfrm>
            <a:off x="5305894" y="5893862"/>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300</a:t>
            </a:r>
            <a:endParaRPr/>
          </a:p>
        </p:txBody>
      </p:sp>
      <p:sp>
        <p:nvSpPr>
          <p:cNvPr id="2636" name="Google Shape;2636;p70"/>
          <p:cNvSpPr/>
          <p:nvPr/>
        </p:nvSpPr>
        <p:spPr>
          <a:xfrm rot="10800000">
            <a:off x="4860000" y="5944742"/>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637" name="Google Shape;2637;p70"/>
          <p:cNvSpPr txBox="1"/>
          <p:nvPr/>
        </p:nvSpPr>
        <p:spPr>
          <a:xfrm>
            <a:off x="7429894" y="5645244"/>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600</a:t>
            </a:r>
            <a:endParaRPr/>
          </a:p>
        </p:txBody>
      </p:sp>
      <p:sp>
        <p:nvSpPr>
          <p:cNvPr id="2638" name="Google Shape;2638;p70"/>
          <p:cNvSpPr/>
          <p:nvPr/>
        </p:nvSpPr>
        <p:spPr>
          <a:xfrm rot="10800000">
            <a:off x="6984000" y="5695376"/>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2639" name="Google Shape;2639;p70"/>
          <p:cNvSpPr txBox="1"/>
          <p:nvPr/>
        </p:nvSpPr>
        <p:spPr>
          <a:xfrm>
            <a:off x="5269894" y="1222069"/>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600</a:t>
            </a:r>
            <a:endParaRPr/>
          </a:p>
        </p:txBody>
      </p:sp>
      <p:sp>
        <p:nvSpPr>
          <p:cNvPr id="2640" name="Google Shape;2640;p70"/>
          <p:cNvSpPr/>
          <p:nvPr/>
        </p:nvSpPr>
        <p:spPr>
          <a:xfrm rot="10800000">
            <a:off x="4824771" y="1263348"/>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641" name="Google Shape;2641;p70"/>
          <p:cNvSpPr txBox="1"/>
          <p:nvPr/>
        </p:nvSpPr>
        <p:spPr>
          <a:xfrm>
            <a:off x="5269894" y="3118060"/>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300</a:t>
            </a:r>
            <a:endParaRPr/>
          </a:p>
        </p:txBody>
      </p:sp>
      <p:sp>
        <p:nvSpPr>
          <p:cNvPr id="2642" name="Google Shape;2642;p70"/>
          <p:cNvSpPr/>
          <p:nvPr/>
        </p:nvSpPr>
        <p:spPr>
          <a:xfrm>
            <a:off x="4824000" y="3182321"/>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643" name="Google Shape;2643;p70"/>
          <p:cNvSpPr txBox="1"/>
          <p:nvPr/>
        </p:nvSpPr>
        <p:spPr>
          <a:xfrm>
            <a:off x="5305894" y="5646024"/>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300</a:t>
            </a:r>
            <a:endParaRPr/>
          </a:p>
        </p:txBody>
      </p:sp>
      <p:sp>
        <p:nvSpPr>
          <p:cNvPr id="2644" name="Google Shape;2644;p70"/>
          <p:cNvSpPr/>
          <p:nvPr/>
        </p:nvSpPr>
        <p:spPr>
          <a:xfrm rot="10800000">
            <a:off x="4860000" y="5696904"/>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645" name="Google Shape;2645;p70"/>
          <p:cNvSpPr txBox="1"/>
          <p:nvPr/>
        </p:nvSpPr>
        <p:spPr>
          <a:xfrm>
            <a:off x="3599552" y="4796571"/>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250</a:t>
            </a:r>
            <a:endParaRPr/>
          </a:p>
        </p:txBody>
      </p:sp>
      <p:sp>
        <p:nvSpPr>
          <p:cNvPr id="2646" name="Google Shape;2646;p70"/>
          <p:cNvSpPr/>
          <p:nvPr/>
        </p:nvSpPr>
        <p:spPr>
          <a:xfrm rot="10800000">
            <a:off x="3096000" y="4847451"/>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647" name="Google Shape;2647;p70"/>
          <p:cNvSpPr txBox="1"/>
          <p:nvPr/>
        </p:nvSpPr>
        <p:spPr>
          <a:xfrm>
            <a:off x="7487489" y="1462635"/>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250</a:t>
            </a:r>
            <a:endParaRPr/>
          </a:p>
        </p:txBody>
      </p:sp>
      <p:sp>
        <p:nvSpPr>
          <p:cNvPr id="2648" name="Google Shape;2648;p70"/>
          <p:cNvSpPr/>
          <p:nvPr/>
        </p:nvSpPr>
        <p:spPr>
          <a:xfrm rot="10800000">
            <a:off x="6984000" y="14983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2649" name="Google Shape;2649;p70"/>
          <p:cNvSpPr txBox="1"/>
          <p:nvPr/>
        </p:nvSpPr>
        <p:spPr>
          <a:xfrm>
            <a:off x="9285817" y="1715500"/>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100</a:t>
            </a:r>
            <a:endParaRPr/>
          </a:p>
        </p:txBody>
      </p:sp>
      <p:sp>
        <p:nvSpPr>
          <p:cNvPr id="2650" name="Google Shape;2650;p70"/>
          <p:cNvSpPr/>
          <p:nvPr/>
        </p:nvSpPr>
        <p:spPr>
          <a:xfrm rot="10800000">
            <a:off x="8784000" y="1751173"/>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2651" name="Google Shape;2651;p70"/>
          <p:cNvSpPr txBox="1"/>
          <p:nvPr/>
        </p:nvSpPr>
        <p:spPr>
          <a:xfrm>
            <a:off x="5269894" y="965882"/>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600</a:t>
            </a:r>
            <a:endParaRPr/>
          </a:p>
        </p:txBody>
      </p:sp>
      <p:sp>
        <p:nvSpPr>
          <p:cNvPr id="2652" name="Google Shape;2652;p70"/>
          <p:cNvSpPr/>
          <p:nvPr/>
        </p:nvSpPr>
        <p:spPr>
          <a:xfrm>
            <a:off x="4825605" y="102209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2653" name="Google Shape;2653;p70"/>
          <p:cNvGrpSpPr/>
          <p:nvPr/>
        </p:nvGrpSpPr>
        <p:grpSpPr>
          <a:xfrm>
            <a:off x="2528691" y="1763611"/>
            <a:ext cx="309700" cy="223916"/>
            <a:chOff x="756599" y="3715227"/>
            <a:chExt cx="321512" cy="232456"/>
          </a:xfrm>
        </p:grpSpPr>
        <p:sp>
          <p:nvSpPr>
            <p:cNvPr id="2654" name="Google Shape;2654;p70"/>
            <p:cNvSpPr/>
            <p:nvPr/>
          </p:nvSpPr>
          <p:spPr>
            <a:xfrm>
              <a:off x="810780" y="3715227"/>
              <a:ext cx="224238" cy="224238"/>
            </a:xfrm>
            <a:prstGeom prst="ellipse">
              <a:avLst/>
            </a:prstGeom>
            <a:solidFill>
              <a:srgbClr val="FFFF00"/>
            </a:solidFill>
            <a:ln cap="flat" cmpd="sng" w="1270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655" name="Google Shape;2655;p70"/>
            <p:cNvSpPr/>
            <p:nvPr/>
          </p:nvSpPr>
          <p:spPr>
            <a:xfrm>
              <a:off x="756599" y="3724022"/>
              <a:ext cx="321512" cy="223661"/>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11</a:t>
              </a:r>
              <a:endParaRPr/>
            </a:p>
          </p:txBody>
        </p:sp>
      </p:grpSp>
      <p:grpSp>
        <p:nvGrpSpPr>
          <p:cNvPr id="2656" name="Google Shape;2656;p70"/>
          <p:cNvGrpSpPr/>
          <p:nvPr/>
        </p:nvGrpSpPr>
        <p:grpSpPr>
          <a:xfrm>
            <a:off x="2528691" y="2037441"/>
            <a:ext cx="309700" cy="223916"/>
            <a:chOff x="756599" y="3715227"/>
            <a:chExt cx="321512" cy="232456"/>
          </a:xfrm>
        </p:grpSpPr>
        <p:sp>
          <p:nvSpPr>
            <p:cNvPr id="2657" name="Google Shape;2657;p70"/>
            <p:cNvSpPr/>
            <p:nvPr/>
          </p:nvSpPr>
          <p:spPr>
            <a:xfrm>
              <a:off x="810780" y="3715227"/>
              <a:ext cx="224238" cy="224238"/>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658" name="Google Shape;2658;p70"/>
            <p:cNvSpPr/>
            <p:nvPr/>
          </p:nvSpPr>
          <p:spPr>
            <a:xfrm>
              <a:off x="756599" y="3724022"/>
              <a:ext cx="321512" cy="223661"/>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10</a:t>
              </a:r>
              <a:endParaRPr/>
            </a:p>
          </p:txBody>
        </p:sp>
      </p:grpSp>
      <p:grpSp>
        <p:nvGrpSpPr>
          <p:cNvPr id="2659" name="Google Shape;2659;p70"/>
          <p:cNvGrpSpPr/>
          <p:nvPr/>
        </p:nvGrpSpPr>
        <p:grpSpPr>
          <a:xfrm>
            <a:off x="2568712" y="2307277"/>
            <a:ext cx="247184" cy="223916"/>
            <a:chOff x="797287" y="3715227"/>
            <a:chExt cx="256611" cy="232456"/>
          </a:xfrm>
        </p:grpSpPr>
        <p:sp>
          <p:nvSpPr>
            <p:cNvPr id="2660" name="Google Shape;2660;p70"/>
            <p:cNvSpPr/>
            <p:nvPr/>
          </p:nvSpPr>
          <p:spPr>
            <a:xfrm>
              <a:off x="810780" y="3715227"/>
              <a:ext cx="224238" cy="224238"/>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661" name="Google Shape;2661;p70"/>
            <p:cNvSpPr/>
            <p:nvPr/>
          </p:nvSpPr>
          <p:spPr>
            <a:xfrm>
              <a:off x="797287" y="3724022"/>
              <a:ext cx="256611" cy="223661"/>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7</a:t>
              </a:r>
              <a:endParaRPr/>
            </a:p>
          </p:txBody>
        </p:sp>
      </p:grpSp>
      <p:grpSp>
        <p:nvGrpSpPr>
          <p:cNvPr id="2662" name="Google Shape;2662;p70"/>
          <p:cNvGrpSpPr/>
          <p:nvPr/>
        </p:nvGrpSpPr>
        <p:grpSpPr>
          <a:xfrm>
            <a:off x="2530414" y="2567405"/>
            <a:ext cx="300083" cy="223917"/>
            <a:chOff x="761592" y="3715226"/>
            <a:chExt cx="311527" cy="232457"/>
          </a:xfrm>
        </p:grpSpPr>
        <p:sp>
          <p:nvSpPr>
            <p:cNvPr id="2663" name="Google Shape;2663;p70"/>
            <p:cNvSpPr/>
            <p:nvPr/>
          </p:nvSpPr>
          <p:spPr>
            <a:xfrm>
              <a:off x="810780" y="3715226"/>
              <a:ext cx="224238" cy="224238"/>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664" name="Google Shape;2664;p70"/>
            <p:cNvSpPr/>
            <p:nvPr/>
          </p:nvSpPr>
          <p:spPr>
            <a:xfrm>
              <a:off x="761592" y="3724022"/>
              <a:ext cx="311527" cy="223661"/>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6a</a:t>
              </a:r>
              <a:endParaRPr/>
            </a:p>
          </p:txBody>
        </p:sp>
      </p:grpSp>
      <p:grpSp>
        <p:nvGrpSpPr>
          <p:cNvPr id="2665" name="Google Shape;2665;p70"/>
          <p:cNvGrpSpPr/>
          <p:nvPr/>
        </p:nvGrpSpPr>
        <p:grpSpPr>
          <a:xfrm>
            <a:off x="2574025" y="2841900"/>
            <a:ext cx="245580" cy="224238"/>
            <a:chOff x="802803" y="3715228"/>
            <a:chExt cx="245580" cy="224238"/>
          </a:xfrm>
        </p:grpSpPr>
        <p:sp>
          <p:nvSpPr>
            <p:cNvPr id="2666" name="Google Shape;2666;p7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667" name="Google Shape;2667;p70"/>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5</a:t>
              </a:r>
              <a:endParaRPr/>
            </a:p>
          </p:txBody>
        </p:sp>
      </p:grpSp>
      <p:grpSp>
        <p:nvGrpSpPr>
          <p:cNvPr id="2668" name="Google Shape;2668;p70"/>
          <p:cNvGrpSpPr/>
          <p:nvPr/>
        </p:nvGrpSpPr>
        <p:grpSpPr>
          <a:xfrm>
            <a:off x="2574025" y="3121887"/>
            <a:ext cx="245580" cy="224238"/>
            <a:chOff x="802803" y="3715228"/>
            <a:chExt cx="245580" cy="224238"/>
          </a:xfrm>
        </p:grpSpPr>
        <p:sp>
          <p:nvSpPr>
            <p:cNvPr id="2669" name="Google Shape;2669;p7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670" name="Google Shape;2670;p70"/>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3</a:t>
              </a:r>
              <a:endParaRPr/>
            </a:p>
          </p:txBody>
        </p:sp>
      </p:grpSp>
      <p:grpSp>
        <p:nvGrpSpPr>
          <p:cNvPr id="2671" name="Google Shape;2671;p70"/>
          <p:cNvGrpSpPr/>
          <p:nvPr/>
        </p:nvGrpSpPr>
        <p:grpSpPr>
          <a:xfrm>
            <a:off x="2574025" y="3385828"/>
            <a:ext cx="245580" cy="224238"/>
            <a:chOff x="802803" y="3715228"/>
            <a:chExt cx="245580" cy="224238"/>
          </a:xfrm>
        </p:grpSpPr>
        <p:sp>
          <p:nvSpPr>
            <p:cNvPr id="2672" name="Google Shape;2672;p7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673" name="Google Shape;2673;p70"/>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2</a:t>
              </a:r>
              <a:endParaRPr/>
            </a:p>
          </p:txBody>
        </p:sp>
      </p:grpSp>
      <p:grpSp>
        <p:nvGrpSpPr>
          <p:cNvPr id="2674" name="Google Shape;2674;p70"/>
          <p:cNvGrpSpPr/>
          <p:nvPr/>
        </p:nvGrpSpPr>
        <p:grpSpPr>
          <a:xfrm>
            <a:off x="2574025" y="3649299"/>
            <a:ext cx="245580" cy="224238"/>
            <a:chOff x="802803" y="3715228"/>
            <a:chExt cx="245580" cy="224238"/>
          </a:xfrm>
        </p:grpSpPr>
        <p:sp>
          <p:nvSpPr>
            <p:cNvPr id="2675" name="Google Shape;2675;p7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676" name="Google Shape;2676;p70"/>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a:t>
              </a:r>
              <a:endParaRPr/>
            </a:p>
          </p:txBody>
        </p:sp>
      </p:grpSp>
      <p:grpSp>
        <p:nvGrpSpPr>
          <p:cNvPr id="2677" name="Google Shape;2677;p70"/>
          <p:cNvGrpSpPr/>
          <p:nvPr/>
        </p:nvGrpSpPr>
        <p:grpSpPr>
          <a:xfrm>
            <a:off x="10117559" y="1755851"/>
            <a:ext cx="245580" cy="224238"/>
            <a:chOff x="802803" y="3715228"/>
            <a:chExt cx="245580" cy="224238"/>
          </a:xfrm>
        </p:grpSpPr>
        <p:sp>
          <p:nvSpPr>
            <p:cNvPr id="2678" name="Google Shape;2678;p7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679" name="Google Shape;2679;p70"/>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a:t>
              </a:r>
              <a:endParaRPr/>
            </a:p>
          </p:txBody>
        </p:sp>
      </p:grpSp>
      <p:grpSp>
        <p:nvGrpSpPr>
          <p:cNvPr id="2680" name="Google Shape;2680;p70"/>
          <p:cNvGrpSpPr/>
          <p:nvPr/>
        </p:nvGrpSpPr>
        <p:grpSpPr>
          <a:xfrm>
            <a:off x="10116000" y="3650400"/>
            <a:ext cx="245580" cy="224238"/>
            <a:chOff x="802803" y="3715228"/>
            <a:chExt cx="245580" cy="224238"/>
          </a:xfrm>
        </p:grpSpPr>
        <p:sp>
          <p:nvSpPr>
            <p:cNvPr id="2681" name="Google Shape;2681;p7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682" name="Google Shape;2682;p70"/>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2</a:t>
              </a:r>
              <a:endParaRPr/>
            </a:p>
          </p:txBody>
        </p:sp>
      </p:grpSp>
      <p:grpSp>
        <p:nvGrpSpPr>
          <p:cNvPr id="2683" name="Google Shape;2683;p70"/>
          <p:cNvGrpSpPr/>
          <p:nvPr/>
        </p:nvGrpSpPr>
        <p:grpSpPr>
          <a:xfrm>
            <a:off x="10117837" y="1489299"/>
            <a:ext cx="245580" cy="224238"/>
            <a:chOff x="802803" y="3715228"/>
            <a:chExt cx="245580" cy="224238"/>
          </a:xfrm>
        </p:grpSpPr>
        <p:sp>
          <p:nvSpPr>
            <p:cNvPr id="2684" name="Google Shape;2684;p7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685" name="Google Shape;2685;p70"/>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3</a:t>
              </a:r>
              <a:endParaRPr/>
            </a:p>
          </p:txBody>
        </p:sp>
      </p:grpSp>
      <p:grpSp>
        <p:nvGrpSpPr>
          <p:cNvPr id="2686" name="Google Shape;2686;p70"/>
          <p:cNvGrpSpPr/>
          <p:nvPr/>
        </p:nvGrpSpPr>
        <p:grpSpPr>
          <a:xfrm>
            <a:off x="6553087" y="1741845"/>
            <a:ext cx="245580" cy="224238"/>
            <a:chOff x="802803" y="3715228"/>
            <a:chExt cx="245580" cy="224238"/>
          </a:xfrm>
        </p:grpSpPr>
        <p:sp>
          <p:nvSpPr>
            <p:cNvPr id="2687" name="Google Shape;2687;p7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688" name="Google Shape;2688;p70"/>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4</a:t>
              </a:r>
              <a:endParaRPr/>
            </a:p>
          </p:txBody>
        </p:sp>
      </p:grpSp>
      <p:grpSp>
        <p:nvGrpSpPr>
          <p:cNvPr id="2689" name="Google Shape;2689;p70"/>
          <p:cNvGrpSpPr/>
          <p:nvPr/>
        </p:nvGrpSpPr>
        <p:grpSpPr>
          <a:xfrm>
            <a:off x="784605" y="3629276"/>
            <a:ext cx="245580" cy="224238"/>
            <a:chOff x="802803" y="3715228"/>
            <a:chExt cx="245580" cy="224238"/>
          </a:xfrm>
        </p:grpSpPr>
        <p:sp>
          <p:nvSpPr>
            <p:cNvPr id="2690" name="Google Shape;2690;p7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691" name="Google Shape;2691;p70"/>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4</a:t>
              </a:r>
              <a:endParaRPr/>
            </a:p>
          </p:txBody>
        </p:sp>
      </p:grpSp>
      <p:grpSp>
        <p:nvGrpSpPr>
          <p:cNvPr id="2692" name="Google Shape;2692;p70"/>
          <p:cNvGrpSpPr/>
          <p:nvPr/>
        </p:nvGrpSpPr>
        <p:grpSpPr>
          <a:xfrm>
            <a:off x="4359077" y="3641899"/>
            <a:ext cx="245580" cy="224238"/>
            <a:chOff x="802803" y="3715228"/>
            <a:chExt cx="245580" cy="224238"/>
          </a:xfrm>
        </p:grpSpPr>
        <p:sp>
          <p:nvSpPr>
            <p:cNvPr id="2693" name="Google Shape;2693;p7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694" name="Google Shape;2694;p70"/>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5</a:t>
              </a:r>
              <a:endParaRPr/>
            </a:p>
          </p:txBody>
        </p:sp>
      </p:grpSp>
      <p:grpSp>
        <p:nvGrpSpPr>
          <p:cNvPr id="2695" name="Google Shape;2695;p70"/>
          <p:cNvGrpSpPr/>
          <p:nvPr/>
        </p:nvGrpSpPr>
        <p:grpSpPr>
          <a:xfrm>
            <a:off x="6484980" y="5931080"/>
            <a:ext cx="300082" cy="224238"/>
            <a:chOff x="775552" y="3715228"/>
            <a:chExt cx="300082" cy="224238"/>
          </a:xfrm>
        </p:grpSpPr>
        <p:sp>
          <p:nvSpPr>
            <p:cNvPr id="2696" name="Google Shape;2696;p7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697" name="Google Shape;2697;p70"/>
            <p:cNvSpPr/>
            <p:nvPr/>
          </p:nvSpPr>
          <p:spPr>
            <a:xfrm>
              <a:off x="775552" y="3724022"/>
              <a:ext cx="300082"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6a</a:t>
              </a:r>
              <a:endParaRPr/>
            </a:p>
          </p:txBody>
        </p:sp>
      </p:grpSp>
      <p:grpSp>
        <p:nvGrpSpPr>
          <p:cNvPr id="2698" name="Google Shape;2698;p70"/>
          <p:cNvGrpSpPr/>
          <p:nvPr/>
        </p:nvGrpSpPr>
        <p:grpSpPr>
          <a:xfrm>
            <a:off x="4325561" y="3388584"/>
            <a:ext cx="309700" cy="224238"/>
            <a:chOff x="770743" y="3715228"/>
            <a:chExt cx="309700" cy="224238"/>
          </a:xfrm>
        </p:grpSpPr>
        <p:sp>
          <p:nvSpPr>
            <p:cNvPr id="2699" name="Google Shape;2699;p7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700" name="Google Shape;2700;p70"/>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6b</a:t>
              </a:r>
              <a:endParaRPr/>
            </a:p>
          </p:txBody>
        </p:sp>
      </p:grpSp>
      <p:grpSp>
        <p:nvGrpSpPr>
          <p:cNvPr id="2701" name="Google Shape;2701;p70"/>
          <p:cNvGrpSpPr/>
          <p:nvPr/>
        </p:nvGrpSpPr>
        <p:grpSpPr>
          <a:xfrm>
            <a:off x="4372912" y="5940000"/>
            <a:ext cx="309700" cy="224238"/>
            <a:chOff x="770743" y="3715228"/>
            <a:chExt cx="309700" cy="224238"/>
          </a:xfrm>
        </p:grpSpPr>
        <p:sp>
          <p:nvSpPr>
            <p:cNvPr id="2702" name="Google Shape;2702;p7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703" name="Google Shape;2703;p70"/>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6b</a:t>
              </a:r>
              <a:endParaRPr/>
            </a:p>
          </p:txBody>
        </p:sp>
      </p:grpSp>
      <p:grpSp>
        <p:nvGrpSpPr>
          <p:cNvPr id="2704" name="Google Shape;2704;p70"/>
          <p:cNvGrpSpPr/>
          <p:nvPr/>
        </p:nvGrpSpPr>
        <p:grpSpPr>
          <a:xfrm>
            <a:off x="4330045" y="3136880"/>
            <a:ext cx="309700" cy="224238"/>
            <a:chOff x="770743" y="3715228"/>
            <a:chExt cx="309700" cy="224238"/>
          </a:xfrm>
        </p:grpSpPr>
        <p:sp>
          <p:nvSpPr>
            <p:cNvPr id="2705" name="Google Shape;2705;p7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706" name="Google Shape;2706;p70"/>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8b</a:t>
              </a:r>
              <a:endParaRPr/>
            </a:p>
          </p:txBody>
        </p:sp>
      </p:grpSp>
      <p:grpSp>
        <p:nvGrpSpPr>
          <p:cNvPr id="2707" name="Google Shape;2707;p70"/>
          <p:cNvGrpSpPr/>
          <p:nvPr/>
        </p:nvGrpSpPr>
        <p:grpSpPr>
          <a:xfrm>
            <a:off x="4377396" y="5681195"/>
            <a:ext cx="309700" cy="224238"/>
            <a:chOff x="770743" y="3715228"/>
            <a:chExt cx="309700" cy="224238"/>
          </a:xfrm>
        </p:grpSpPr>
        <p:sp>
          <p:nvSpPr>
            <p:cNvPr id="2708" name="Google Shape;2708;p7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709" name="Google Shape;2709;p70"/>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8b</a:t>
              </a:r>
              <a:endParaRPr/>
            </a:p>
          </p:txBody>
        </p:sp>
      </p:grpSp>
      <p:grpSp>
        <p:nvGrpSpPr>
          <p:cNvPr id="2710" name="Google Shape;2710;p70"/>
          <p:cNvGrpSpPr/>
          <p:nvPr/>
        </p:nvGrpSpPr>
        <p:grpSpPr>
          <a:xfrm>
            <a:off x="6484980" y="5676798"/>
            <a:ext cx="300082" cy="224238"/>
            <a:chOff x="775552" y="3715228"/>
            <a:chExt cx="300082" cy="224238"/>
          </a:xfrm>
        </p:grpSpPr>
        <p:sp>
          <p:nvSpPr>
            <p:cNvPr id="2711" name="Google Shape;2711;p7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712" name="Google Shape;2712;p70"/>
            <p:cNvSpPr/>
            <p:nvPr/>
          </p:nvSpPr>
          <p:spPr>
            <a:xfrm>
              <a:off x="775552" y="3724022"/>
              <a:ext cx="300082"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8a</a:t>
              </a:r>
              <a:endParaRPr/>
            </a:p>
          </p:txBody>
        </p:sp>
      </p:grpSp>
      <p:grpSp>
        <p:nvGrpSpPr>
          <p:cNvPr id="2713" name="Google Shape;2713;p70"/>
          <p:cNvGrpSpPr/>
          <p:nvPr/>
        </p:nvGrpSpPr>
        <p:grpSpPr>
          <a:xfrm>
            <a:off x="2681463" y="5057611"/>
            <a:ext cx="245580" cy="224238"/>
            <a:chOff x="802803" y="3715228"/>
            <a:chExt cx="245580" cy="224238"/>
          </a:xfrm>
        </p:grpSpPr>
        <p:sp>
          <p:nvSpPr>
            <p:cNvPr id="2714" name="Google Shape;2714;p7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715" name="Google Shape;2715;p70"/>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7</a:t>
              </a:r>
              <a:endParaRPr/>
            </a:p>
          </p:txBody>
        </p:sp>
      </p:grpSp>
      <p:grpSp>
        <p:nvGrpSpPr>
          <p:cNvPr id="2716" name="Google Shape;2716;p70"/>
          <p:cNvGrpSpPr/>
          <p:nvPr/>
        </p:nvGrpSpPr>
        <p:grpSpPr>
          <a:xfrm>
            <a:off x="2680630" y="4808856"/>
            <a:ext cx="245580" cy="224238"/>
            <a:chOff x="802803" y="3715228"/>
            <a:chExt cx="245580" cy="224238"/>
          </a:xfrm>
        </p:grpSpPr>
        <p:sp>
          <p:nvSpPr>
            <p:cNvPr id="2717" name="Google Shape;2717;p7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718" name="Google Shape;2718;p70"/>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9</a:t>
              </a:r>
              <a:endParaRPr/>
            </a:p>
          </p:txBody>
        </p:sp>
      </p:grpSp>
      <p:grpSp>
        <p:nvGrpSpPr>
          <p:cNvPr id="2719" name="Google Shape;2719;p70"/>
          <p:cNvGrpSpPr/>
          <p:nvPr/>
        </p:nvGrpSpPr>
        <p:grpSpPr>
          <a:xfrm>
            <a:off x="6550922" y="1481480"/>
            <a:ext cx="245580" cy="224238"/>
            <a:chOff x="802803" y="3715228"/>
            <a:chExt cx="245580" cy="224238"/>
          </a:xfrm>
        </p:grpSpPr>
        <p:sp>
          <p:nvSpPr>
            <p:cNvPr id="2720" name="Google Shape;2720;p7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721" name="Google Shape;2721;p70"/>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9</a:t>
              </a:r>
              <a:endParaRPr/>
            </a:p>
          </p:txBody>
        </p:sp>
      </p:grpSp>
      <p:grpSp>
        <p:nvGrpSpPr>
          <p:cNvPr id="2722" name="Google Shape;2722;p70"/>
          <p:cNvGrpSpPr/>
          <p:nvPr/>
        </p:nvGrpSpPr>
        <p:grpSpPr>
          <a:xfrm>
            <a:off x="8311967" y="1742779"/>
            <a:ext cx="309700" cy="224238"/>
            <a:chOff x="770743" y="3715228"/>
            <a:chExt cx="309700" cy="224238"/>
          </a:xfrm>
        </p:grpSpPr>
        <p:sp>
          <p:nvSpPr>
            <p:cNvPr id="2723" name="Google Shape;2723;p7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724" name="Google Shape;2724;p70"/>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10</a:t>
              </a:r>
              <a:endParaRPr/>
            </a:p>
          </p:txBody>
        </p:sp>
      </p:grpSp>
      <p:grpSp>
        <p:nvGrpSpPr>
          <p:cNvPr id="2725" name="Google Shape;2725;p70"/>
          <p:cNvGrpSpPr/>
          <p:nvPr/>
        </p:nvGrpSpPr>
        <p:grpSpPr>
          <a:xfrm>
            <a:off x="4322372" y="1240114"/>
            <a:ext cx="300082" cy="224238"/>
            <a:chOff x="775552" y="3715228"/>
            <a:chExt cx="300082" cy="224238"/>
          </a:xfrm>
        </p:grpSpPr>
        <p:sp>
          <p:nvSpPr>
            <p:cNvPr id="2726" name="Google Shape;2726;p7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727" name="Google Shape;2727;p70"/>
            <p:cNvSpPr/>
            <p:nvPr/>
          </p:nvSpPr>
          <p:spPr>
            <a:xfrm>
              <a:off x="775552" y="3724022"/>
              <a:ext cx="300082"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8a</a:t>
              </a:r>
              <a:endParaRPr/>
            </a:p>
          </p:txBody>
        </p:sp>
      </p:grpSp>
      <p:grpSp>
        <p:nvGrpSpPr>
          <p:cNvPr id="2728" name="Google Shape;2728;p70"/>
          <p:cNvGrpSpPr/>
          <p:nvPr/>
        </p:nvGrpSpPr>
        <p:grpSpPr>
          <a:xfrm>
            <a:off x="4319927" y="983503"/>
            <a:ext cx="309700" cy="224238"/>
            <a:chOff x="770743" y="3715228"/>
            <a:chExt cx="309700" cy="224238"/>
          </a:xfrm>
        </p:grpSpPr>
        <p:sp>
          <p:nvSpPr>
            <p:cNvPr id="2729" name="Google Shape;2729;p70"/>
            <p:cNvSpPr/>
            <p:nvPr/>
          </p:nvSpPr>
          <p:spPr>
            <a:xfrm>
              <a:off x="810781" y="3715228"/>
              <a:ext cx="216000" cy="216000"/>
            </a:xfrm>
            <a:prstGeom prst="ellipse">
              <a:avLst/>
            </a:prstGeom>
            <a:solidFill>
              <a:srgbClr val="FFFF00"/>
            </a:solidFill>
            <a:ln cap="flat" cmpd="sng" w="1270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730" name="Google Shape;2730;p70"/>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11</a:t>
              </a:r>
              <a:endParaRPr/>
            </a:p>
          </p:txBody>
        </p:sp>
      </p:grpSp>
      <p:sp>
        <p:nvSpPr>
          <p:cNvPr id="2731" name="Google Shape;2731;p70"/>
          <p:cNvSpPr txBox="1"/>
          <p:nvPr/>
        </p:nvSpPr>
        <p:spPr>
          <a:xfrm>
            <a:off x="4033926" y="1538024"/>
            <a:ext cx="2015578"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Accounts receivable</a:t>
            </a:r>
            <a:endParaRPr/>
          </a:p>
        </p:txBody>
      </p:sp>
      <p:sp>
        <p:nvSpPr>
          <p:cNvPr id="2732" name="Google Shape;2732;p70"/>
          <p:cNvSpPr txBox="1"/>
          <p:nvPr/>
        </p:nvSpPr>
        <p:spPr>
          <a:xfrm>
            <a:off x="6252890" y="2028286"/>
            <a:ext cx="1987133"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Accounts payable</a:t>
            </a:r>
            <a:endParaRPr/>
          </a:p>
        </p:txBody>
      </p:sp>
      <p:sp>
        <p:nvSpPr>
          <p:cNvPr id="2733" name="Google Shape;2733;p70"/>
          <p:cNvSpPr txBox="1"/>
          <p:nvPr/>
        </p:nvSpPr>
        <p:spPr>
          <a:xfrm>
            <a:off x="9504213" y="373659"/>
            <a:ext cx="2279791" cy="40011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000">
                <a:solidFill>
                  <a:schemeClr val="accent2"/>
                </a:solidFill>
                <a:latin typeface="Avenir"/>
                <a:ea typeface="Avenir"/>
                <a:cs typeface="Avenir"/>
                <a:sym typeface="Avenir"/>
              </a:rPr>
              <a:t>Sources of funds</a:t>
            </a:r>
            <a:endParaRPr/>
          </a:p>
        </p:txBody>
      </p:sp>
      <p:sp>
        <p:nvSpPr>
          <p:cNvPr id="2734" name="Google Shape;2734;p70"/>
          <p:cNvSpPr txBox="1"/>
          <p:nvPr/>
        </p:nvSpPr>
        <p:spPr>
          <a:xfrm>
            <a:off x="492858" y="373659"/>
            <a:ext cx="1880643" cy="40011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000">
                <a:solidFill>
                  <a:schemeClr val="accent6"/>
                </a:solidFill>
                <a:latin typeface="Avenir"/>
                <a:ea typeface="Avenir"/>
                <a:cs typeface="Avenir"/>
                <a:sym typeface="Avenir"/>
              </a:rPr>
              <a:t>Uses of funds</a:t>
            </a:r>
            <a:endParaRPr/>
          </a:p>
        </p:txBody>
      </p:sp>
      <p:grpSp>
        <p:nvGrpSpPr>
          <p:cNvPr id="2735" name="Google Shape;2735;p70"/>
          <p:cNvGrpSpPr/>
          <p:nvPr/>
        </p:nvGrpSpPr>
        <p:grpSpPr>
          <a:xfrm>
            <a:off x="4247500" y="957969"/>
            <a:ext cx="1620000" cy="613673"/>
            <a:chOff x="3810000" y="2381250"/>
            <a:chExt cx="1390650" cy="1230631"/>
          </a:xfrm>
        </p:grpSpPr>
        <p:sp>
          <p:nvSpPr>
            <p:cNvPr id="2736" name="Google Shape;2736;p70"/>
            <p:cNvSpPr/>
            <p:nvPr/>
          </p:nvSpPr>
          <p:spPr>
            <a:xfrm flipH="1">
              <a:off x="4505325"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2737" name="Google Shape;2737;p70"/>
            <p:cNvSpPr/>
            <p:nvPr/>
          </p:nvSpPr>
          <p:spPr>
            <a:xfrm>
              <a:off x="3810000"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2738" name="Google Shape;2738;p70"/>
          <p:cNvGrpSpPr/>
          <p:nvPr/>
        </p:nvGrpSpPr>
        <p:grpSpPr>
          <a:xfrm>
            <a:off x="2556000" y="4767598"/>
            <a:ext cx="1620000" cy="613673"/>
            <a:chOff x="3810000" y="2381250"/>
            <a:chExt cx="1390650" cy="1230631"/>
          </a:xfrm>
        </p:grpSpPr>
        <p:sp>
          <p:nvSpPr>
            <p:cNvPr id="2739" name="Google Shape;2739;p70"/>
            <p:cNvSpPr/>
            <p:nvPr/>
          </p:nvSpPr>
          <p:spPr>
            <a:xfrm flipH="1">
              <a:off x="4505325" y="2381250"/>
              <a:ext cx="695325" cy="1230631"/>
            </a:xfrm>
            <a:prstGeom prst="corner">
              <a:avLst>
                <a:gd fmla="val 9300"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2740" name="Google Shape;2740;p70"/>
            <p:cNvSpPr/>
            <p:nvPr/>
          </p:nvSpPr>
          <p:spPr>
            <a:xfrm>
              <a:off x="3810000" y="2381250"/>
              <a:ext cx="695325" cy="1230631"/>
            </a:xfrm>
            <a:prstGeom prst="corner">
              <a:avLst>
                <a:gd fmla="val 9300"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2741" name="Google Shape;2741;p70"/>
          <p:cNvGrpSpPr/>
          <p:nvPr/>
        </p:nvGrpSpPr>
        <p:grpSpPr>
          <a:xfrm>
            <a:off x="4292494" y="5448381"/>
            <a:ext cx="1620000" cy="796276"/>
            <a:chOff x="3810000" y="2015069"/>
            <a:chExt cx="1390650" cy="1596814"/>
          </a:xfrm>
        </p:grpSpPr>
        <p:sp>
          <p:nvSpPr>
            <p:cNvPr id="2742" name="Google Shape;2742;p70"/>
            <p:cNvSpPr/>
            <p:nvPr/>
          </p:nvSpPr>
          <p:spPr>
            <a:xfrm flipH="1">
              <a:off x="4505325" y="2015073"/>
              <a:ext cx="695325" cy="1596810"/>
            </a:xfrm>
            <a:prstGeom prst="corner">
              <a:avLst>
                <a:gd fmla="val 7267" name="adj1"/>
                <a:gd fmla="val 7888"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2743" name="Google Shape;2743;p70"/>
            <p:cNvSpPr/>
            <p:nvPr/>
          </p:nvSpPr>
          <p:spPr>
            <a:xfrm>
              <a:off x="3810000" y="2015069"/>
              <a:ext cx="695325" cy="1596812"/>
            </a:xfrm>
            <a:prstGeom prst="corner">
              <a:avLst>
                <a:gd fmla="val 7268" name="adj1"/>
                <a:gd fmla="val 7888"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2744" name="Google Shape;2744;p70"/>
          <p:cNvGrpSpPr/>
          <p:nvPr/>
        </p:nvGrpSpPr>
        <p:grpSpPr>
          <a:xfrm>
            <a:off x="6382456" y="5448381"/>
            <a:ext cx="1620000" cy="796276"/>
            <a:chOff x="3810000" y="2015069"/>
            <a:chExt cx="1390650" cy="1596814"/>
          </a:xfrm>
        </p:grpSpPr>
        <p:sp>
          <p:nvSpPr>
            <p:cNvPr id="2745" name="Google Shape;2745;p70"/>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2746" name="Google Shape;2746;p70"/>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2747" name="Google Shape;2747;p70"/>
          <p:cNvGrpSpPr/>
          <p:nvPr/>
        </p:nvGrpSpPr>
        <p:grpSpPr>
          <a:xfrm>
            <a:off x="9983452" y="3159099"/>
            <a:ext cx="1620000" cy="796276"/>
            <a:chOff x="3810000" y="2015069"/>
            <a:chExt cx="1390650" cy="1596814"/>
          </a:xfrm>
        </p:grpSpPr>
        <p:sp>
          <p:nvSpPr>
            <p:cNvPr id="2748" name="Google Shape;2748;p70"/>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2749" name="Google Shape;2749;p70"/>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2750" name="Google Shape;2750;p70"/>
          <p:cNvGrpSpPr/>
          <p:nvPr/>
        </p:nvGrpSpPr>
        <p:grpSpPr>
          <a:xfrm>
            <a:off x="8214558" y="1260018"/>
            <a:ext cx="1620000" cy="796276"/>
            <a:chOff x="3810000" y="2015069"/>
            <a:chExt cx="1390650" cy="1596814"/>
          </a:xfrm>
        </p:grpSpPr>
        <p:sp>
          <p:nvSpPr>
            <p:cNvPr id="2751" name="Google Shape;2751;p70"/>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2752" name="Google Shape;2752;p70"/>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2753" name="Google Shape;2753;p70"/>
          <p:cNvGrpSpPr/>
          <p:nvPr/>
        </p:nvGrpSpPr>
        <p:grpSpPr>
          <a:xfrm>
            <a:off x="10006085" y="1263488"/>
            <a:ext cx="1620000" cy="796276"/>
            <a:chOff x="3810000" y="2015069"/>
            <a:chExt cx="1390650" cy="1596814"/>
          </a:xfrm>
        </p:grpSpPr>
        <p:sp>
          <p:nvSpPr>
            <p:cNvPr id="2754" name="Google Shape;2754;p70"/>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2755" name="Google Shape;2755;p70"/>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2756" name="Google Shape;2756;p70"/>
          <p:cNvGrpSpPr/>
          <p:nvPr/>
        </p:nvGrpSpPr>
        <p:grpSpPr>
          <a:xfrm>
            <a:off x="6428511" y="1266563"/>
            <a:ext cx="1620000" cy="796276"/>
            <a:chOff x="3810000" y="2015069"/>
            <a:chExt cx="1390650" cy="1596814"/>
          </a:xfrm>
        </p:grpSpPr>
        <p:sp>
          <p:nvSpPr>
            <p:cNvPr id="2757" name="Google Shape;2757;p70"/>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2758" name="Google Shape;2758;p70"/>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sp>
        <p:nvSpPr>
          <p:cNvPr id="2759" name="Google Shape;2759;p70"/>
          <p:cNvSpPr/>
          <p:nvPr/>
        </p:nvSpPr>
        <p:spPr>
          <a:xfrm rot="10800000">
            <a:off x="10548000" y="3653367"/>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2760" name="Google Shape;2760;p70"/>
          <p:cNvSpPr/>
          <p:nvPr/>
        </p:nvSpPr>
        <p:spPr>
          <a:xfrm>
            <a:off x="1146817" y="4522208"/>
            <a:ext cx="10744019" cy="1312708"/>
          </a:xfrm>
          <a:prstGeom prst="rect">
            <a:avLst/>
          </a:prstGeom>
          <a:solidFill>
            <a:srgbClr val="F2F2F2">
              <a:alpha val="86666"/>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2761" name="Google Shape;2761;p70"/>
          <p:cNvGrpSpPr/>
          <p:nvPr/>
        </p:nvGrpSpPr>
        <p:grpSpPr>
          <a:xfrm>
            <a:off x="1366103" y="4803175"/>
            <a:ext cx="10188967" cy="756004"/>
            <a:chOff x="926134" y="1719856"/>
            <a:chExt cx="9204181" cy="750147"/>
          </a:xfrm>
        </p:grpSpPr>
        <p:sp>
          <p:nvSpPr>
            <p:cNvPr id="2762" name="Google Shape;2762;p70"/>
            <p:cNvSpPr txBox="1"/>
            <p:nvPr/>
          </p:nvSpPr>
          <p:spPr>
            <a:xfrm>
              <a:off x="1641585" y="1719860"/>
              <a:ext cx="5447935"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139700" marR="0" rtl="0" algn="l">
                <a:spcBef>
                  <a:spcPts val="0"/>
                </a:spcBef>
                <a:spcAft>
                  <a:spcPts val="0"/>
                </a:spcAft>
                <a:buNone/>
              </a:pPr>
              <a:r>
                <a:rPr lang="en-US" sz="2000">
                  <a:solidFill>
                    <a:schemeClr val="dk1"/>
                  </a:solidFill>
                  <a:latin typeface="Calibri"/>
                  <a:ea typeface="Calibri"/>
                  <a:cs typeface="Calibri"/>
                  <a:sym typeface="Calibri"/>
                </a:rPr>
                <a:t>고객 B의 비서가 방문하여 미지급 금액 전액을 결제함. 현금은 은행에 입금함.</a:t>
              </a:r>
              <a:endParaRPr sz="2000">
                <a:solidFill>
                  <a:schemeClr val="dk1"/>
                </a:solidFill>
                <a:latin typeface="Avenir"/>
                <a:ea typeface="Avenir"/>
                <a:cs typeface="Avenir"/>
                <a:sym typeface="Avenir"/>
              </a:endParaRPr>
            </a:p>
          </p:txBody>
        </p:sp>
        <p:sp>
          <p:nvSpPr>
            <p:cNvPr id="2763" name="Google Shape;2763;p70"/>
            <p:cNvSpPr txBox="1"/>
            <p:nvPr/>
          </p:nvSpPr>
          <p:spPr>
            <a:xfrm>
              <a:off x="7089520" y="1719858"/>
              <a:ext cx="1520398" cy="745310"/>
            </a:xfrm>
            <a:prstGeom prst="rect">
              <a:avLst/>
            </a:prstGeom>
            <a:solidFill>
              <a:srgbClr val="E1EFD8"/>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Cash</a:t>
              </a: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600</a:t>
              </a:r>
              <a:endParaRPr/>
            </a:p>
          </p:txBody>
        </p:sp>
        <p:sp>
          <p:nvSpPr>
            <p:cNvPr id="2764" name="Google Shape;2764;p70"/>
            <p:cNvSpPr txBox="1"/>
            <p:nvPr/>
          </p:nvSpPr>
          <p:spPr>
            <a:xfrm>
              <a:off x="8609917" y="1719858"/>
              <a:ext cx="1520398" cy="745310"/>
            </a:xfrm>
            <a:prstGeom prst="rect">
              <a:avLst/>
            </a:prstGeom>
            <a:solidFill>
              <a:srgbClr val="FBE4D4"/>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Accounts receivable</a:t>
              </a:r>
              <a:endParaRPr b="1" sz="1600">
                <a:solidFill>
                  <a:srgbClr val="BFBFBF"/>
                </a:solidFill>
                <a:latin typeface="Avenir"/>
                <a:ea typeface="Avenir"/>
                <a:cs typeface="Avenir"/>
                <a:sym typeface="Aveni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600</a:t>
              </a:r>
              <a:endParaRPr/>
            </a:p>
          </p:txBody>
        </p:sp>
        <p:sp>
          <p:nvSpPr>
            <p:cNvPr id="2765" name="Google Shape;2765;p70"/>
            <p:cNvSpPr txBox="1"/>
            <p:nvPr/>
          </p:nvSpPr>
          <p:spPr>
            <a:xfrm>
              <a:off x="926134" y="1719856"/>
              <a:ext cx="715451"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11</a:t>
              </a:r>
              <a:endParaRPr/>
            </a:p>
          </p:txBody>
        </p:sp>
      </p:grpSp>
      <p:sp>
        <p:nvSpPr>
          <p:cNvPr id="2766" name="Google Shape;2766;p70"/>
          <p:cNvSpPr txBox="1"/>
          <p:nvPr/>
        </p:nvSpPr>
        <p:spPr>
          <a:xfrm>
            <a:off x="8176202" y="4793332"/>
            <a:ext cx="1683070" cy="756000"/>
          </a:xfrm>
          <a:prstGeom prst="rect">
            <a:avLst/>
          </a:prstGeom>
          <a:solidFill>
            <a:srgbClr val="548135"/>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600</a:t>
            </a:r>
            <a:endParaRPr/>
          </a:p>
        </p:txBody>
      </p:sp>
      <p:sp>
        <p:nvSpPr>
          <p:cNvPr id="2767" name="Google Shape;2767;p70"/>
          <p:cNvSpPr txBox="1"/>
          <p:nvPr/>
        </p:nvSpPr>
        <p:spPr>
          <a:xfrm>
            <a:off x="9859272" y="4797445"/>
            <a:ext cx="1683070" cy="756000"/>
          </a:xfrm>
          <a:prstGeom prst="rect">
            <a:avLst/>
          </a:prstGeom>
          <a:solidFill>
            <a:schemeClr val="accent2"/>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600</a:t>
            </a:r>
            <a:endParaRPr/>
          </a:p>
        </p:txBody>
      </p:sp>
      <p:sp>
        <p:nvSpPr>
          <p:cNvPr id="2768" name="Google Shape;2768;p70"/>
          <p:cNvSpPr/>
          <p:nvPr/>
        </p:nvSpPr>
        <p:spPr>
          <a:xfrm rot="10800000">
            <a:off x="153289" y="837337"/>
            <a:ext cx="950259" cy="1037381"/>
          </a:xfrm>
          <a:prstGeom prst="downArrow">
            <a:avLst>
              <a:gd fmla="val 50000" name="adj1"/>
              <a:gd fmla="val 50000" name="adj2"/>
            </a:avLst>
          </a:prstGeom>
          <a:solidFill>
            <a:schemeClr val="accent6">
              <a:alpha val="77647"/>
            </a:schemeClr>
          </a:solidFill>
          <a:ln>
            <a:noFill/>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769" name="Google Shape;2769;p70"/>
          <p:cNvSpPr/>
          <p:nvPr/>
        </p:nvSpPr>
        <p:spPr>
          <a:xfrm>
            <a:off x="137389" y="1922421"/>
            <a:ext cx="950259" cy="1037381"/>
          </a:xfrm>
          <a:prstGeom prst="downArrow">
            <a:avLst>
              <a:gd fmla="val 50000" name="adj1"/>
              <a:gd fmla="val 50000" name="adj2"/>
            </a:avLst>
          </a:prstGeom>
          <a:solidFill>
            <a:schemeClr val="accent2">
              <a:alpha val="77647"/>
            </a:schemeClr>
          </a:solidFill>
          <a:ln>
            <a:noFill/>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770" name="Google Shape;2770;p70"/>
          <p:cNvSpPr txBox="1"/>
          <p:nvPr/>
        </p:nvSpPr>
        <p:spPr>
          <a:xfrm>
            <a:off x="6403129" y="3421071"/>
            <a:ext cx="1548343" cy="566133"/>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400</a:t>
            </a:r>
            <a:endParaRPr sz="2400">
              <a:solidFill>
                <a:schemeClr val="dk1"/>
              </a:solidFill>
              <a:latin typeface="Calibri"/>
              <a:ea typeface="Calibri"/>
              <a:cs typeface="Calibri"/>
              <a:sym typeface="Calibri"/>
            </a:endParaRPr>
          </a:p>
        </p:txBody>
      </p:sp>
    </p:spTree>
  </p:cSld>
  <p:clrMapOvr>
    <a:masterClrMapping/>
  </p:clrMapOvr>
  <mc:AlternateContent>
    <mc:Choice Requires="p14">
      <p:transition spd="slow" p14:dur="700">
        <p:fade/>
      </p:transition>
    </mc:Choice>
    <mc:Fallback>
      <p:transition spd="slow">
        <p:fade/>
      </p:transition>
    </mc:Fallback>
  </mc:AlternateContent>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afterEffect" presetClass="exit" presetID="10" presetSubtype="0">
                                  <p:stCondLst>
                                    <p:cond delay="0"/>
                                  </p:stCondLst>
                                  <p:childTnLst>
                                    <p:animEffect filter="fade" transition="out">
                                      <p:cBhvr>
                                        <p:cTn dur="1000"/>
                                        <p:tgtEl>
                                          <p:spTgt spid="2766"/>
                                        </p:tgtEl>
                                      </p:cBhvr>
                                    </p:animEffect>
                                    <p:set>
                                      <p:cBhvr>
                                        <p:cTn dur="1" fill="hold">
                                          <p:stCondLst>
                                            <p:cond delay="1000"/>
                                          </p:stCondLst>
                                        </p:cTn>
                                        <p:tgtEl>
                                          <p:spTgt spid="2766"/>
                                        </p:tgtEl>
                                        <p:attrNameLst>
                                          <p:attrName>style.visibility</p:attrName>
                                        </p:attrNameLst>
                                      </p:cBhvr>
                                      <p:to>
                                        <p:strVal val="hidden"/>
                                      </p:to>
                                    </p:set>
                                  </p:childTnLst>
                                </p:cTn>
                              </p:par>
                              <p:par>
                                <p:cTn fill="hold" nodeType="withEffect" presetClass="entr" presetID="10" presetSubtype="0">
                                  <p:stCondLst>
                                    <p:cond delay="0"/>
                                  </p:stCondLst>
                                  <p:childTnLst>
                                    <p:set>
                                      <p:cBhvr>
                                        <p:cTn dur="1" fill="hold">
                                          <p:stCondLst>
                                            <p:cond delay="0"/>
                                          </p:stCondLst>
                                        </p:cTn>
                                        <p:tgtEl>
                                          <p:spTgt spid="2653"/>
                                        </p:tgtEl>
                                        <p:attrNameLst>
                                          <p:attrName>style.visibility</p:attrName>
                                        </p:attrNameLst>
                                      </p:cBhvr>
                                      <p:to>
                                        <p:strVal val="visible"/>
                                      </p:to>
                                    </p:set>
                                    <p:animEffect filter="fade" transition="in">
                                      <p:cBhvr>
                                        <p:cTn dur="1000"/>
                                        <p:tgtEl>
                                          <p:spTgt spid="2653"/>
                                        </p:tgtEl>
                                      </p:cBhvr>
                                    </p:animEffect>
                                  </p:childTnLst>
                                </p:cTn>
                              </p:par>
                              <p:par>
                                <p:cTn fill="hold" nodeType="withEffect" presetClass="entr" presetID="10" presetSubtype="0">
                                  <p:stCondLst>
                                    <p:cond delay="0"/>
                                  </p:stCondLst>
                                  <p:childTnLst>
                                    <p:set>
                                      <p:cBhvr>
                                        <p:cTn dur="1" fill="hold">
                                          <p:stCondLst>
                                            <p:cond delay="0"/>
                                          </p:stCondLst>
                                        </p:cTn>
                                        <p:tgtEl>
                                          <p:spTgt spid="2610"/>
                                        </p:tgtEl>
                                        <p:attrNameLst>
                                          <p:attrName>style.visibility</p:attrName>
                                        </p:attrNameLst>
                                      </p:cBhvr>
                                      <p:to>
                                        <p:strVal val="visible"/>
                                      </p:to>
                                    </p:set>
                                    <p:animEffect filter="fade" transition="in">
                                      <p:cBhvr>
                                        <p:cTn dur="1000"/>
                                        <p:tgtEl>
                                          <p:spTgt spid="2610"/>
                                        </p:tgtEl>
                                      </p:cBhvr>
                                    </p:animEffect>
                                  </p:childTnLst>
                                </p:cTn>
                              </p:par>
                              <p:par>
                                <p:cTn fill="hold" nodeType="withEffect" presetClass="entr" presetID="10" presetSubtype="0">
                                  <p:stCondLst>
                                    <p:cond delay="0"/>
                                  </p:stCondLst>
                                  <p:childTnLst>
                                    <p:set>
                                      <p:cBhvr>
                                        <p:cTn dur="1" fill="hold">
                                          <p:stCondLst>
                                            <p:cond delay="0"/>
                                          </p:stCondLst>
                                        </p:cTn>
                                        <p:tgtEl>
                                          <p:spTgt spid="2607"/>
                                        </p:tgtEl>
                                        <p:attrNameLst>
                                          <p:attrName>style.visibility</p:attrName>
                                        </p:attrNameLst>
                                      </p:cBhvr>
                                      <p:to>
                                        <p:strVal val="visible"/>
                                      </p:to>
                                    </p:set>
                                    <p:animEffect filter="fade" transition="in">
                                      <p:cBhvr>
                                        <p:cTn dur="1000"/>
                                        <p:tgtEl>
                                          <p:spTgt spid="2607"/>
                                        </p:tgtEl>
                                      </p:cBhvr>
                                    </p:animEffect>
                                  </p:childTnLst>
                                </p:cTn>
                              </p:par>
                            </p:childTnLst>
                          </p:cTn>
                        </p:par>
                        <p:par>
                          <p:cTn fill="hold">
                            <p:stCondLst>
                              <p:cond delay="1000"/>
                            </p:stCondLst>
                            <p:childTnLst>
                              <p:par>
                                <p:cTn fill="hold" nodeType="afterEffect" presetClass="exit" presetID="10" presetSubtype="0">
                                  <p:stCondLst>
                                    <p:cond delay="0"/>
                                  </p:stCondLst>
                                  <p:childTnLst>
                                    <p:animEffect filter="fade" transition="out">
                                      <p:cBhvr>
                                        <p:cTn dur="1000"/>
                                        <p:tgtEl>
                                          <p:spTgt spid="2767"/>
                                        </p:tgtEl>
                                      </p:cBhvr>
                                    </p:animEffect>
                                    <p:set>
                                      <p:cBhvr>
                                        <p:cTn dur="1" fill="hold">
                                          <p:stCondLst>
                                            <p:cond delay="1000"/>
                                          </p:stCondLst>
                                        </p:cTn>
                                        <p:tgtEl>
                                          <p:spTgt spid="2767"/>
                                        </p:tgtEl>
                                        <p:attrNameLst>
                                          <p:attrName>style.visibility</p:attrName>
                                        </p:attrNameLst>
                                      </p:cBhvr>
                                      <p:to>
                                        <p:strVal val="hidden"/>
                                      </p:to>
                                    </p:set>
                                  </p:childTnLst>
                                </p:cTn>
                              </p:par>
                              <p:par>
                                <p:cTn fill="hold" nodeType="withEffect" presetClass="entr" presetID="10" presetSubtype="0">
                                  <p:stCondLst>
                                    <p:cond delay="0"/>
                                  </p:stCondLst>
                                  <p:childTnLst>
                                    <p:set>
                                      <p:cBhvr>
                                        <p:cTn dur="1" fill="hold">
                                          <p:stCondLst>
                                            <p:cond delay="0"/>
                                          </p:stCondLst>
                                        </p:cTn>
                                        <p:tgtEl>
                                          <p:spTgt spid="2728"/>
                                        </p:tgtEl>
                                        <p:attrNameLst>
                                          <p:attrName>style.visibility</p:attrName>
                                        </p:attrNameLst>
                                      </p:cBhvr>
                                      <p:to>
                                        <p:strVal val="visible"/>
                                      </p:to>
                                    </p:set>
                                    <p:animEffect filter="fade" transition="in">
                                      <p:cBhvr>
                                        <p:cTn dur="1000"/>
                                        <p:tgtEl>
                                          <p:spTgt spid="2728"/>
                                        </p:tgtEl>
                                      </p:cBhvr>
                                    </p:animEffect>
                                  </p:childTnLst>
                                </p:cTn>
                              </p:par>
                              <p:par>
                                <p:cTn fill="hold" nodeType="withEffect" presetClass="entr" presetID="10" presetSubtype="0">
                                  <p:stCondLst>
                                    <p:cond delay="0"/>
                                  </p:stCondLst>
                                  <p:childTnLst>
                                    <p:set>
                                      <p:cBhvr>
                                        <p:cTn dur="1" fill="hold">
                                          <p:stCondLst>
                                            <p:cond delay="0"/>
                                          </p:stCondLst>
                                        </p:cTn>
                                        <p:tgtEl>
                                          <p:spTgt spid="2652"/>
                                        </p:tgtEl>
                                        <p:attrNameLst>
                                          <p:attrName>style.visibility</p:attrName>
                                        </p:attrNameLst>
                                      </p:cBhvr>
                                      <p:to>
                                        <p:strVal val="visible"/>
                                      </p:to>
                                    </p:set>
                                    <p:animEffect filter="fade" transition="in">
                                      <p:cBhvr>
                                        <p:cTn dur="1000"/>
                                        <p:tgtEl>
                                          <p:spTgt spid="2652"/>
                                        </p:tgtEl>
                                      </p:cBhvr>
                                    </p:animEffect>
                                  </p:childTnLst>
                                </p:cTn>
                              </p:par>
                              <p:par>
                                <p:cTn fill="hold" nodeType="withEffect" presetClass="entr" presetID="10" presetSubtype="0">
                                  <p:stCondLst>
                                    <p:cond delay="0"/>
                                  </p:stCondLst>
                                  <p:childTnLst>
                                    <p:set>
                                      <p:cBhvr>
                                        <p:cTn dur="1" fill="hold">
                                          <p:stCondLst>
                                            <p:cond delay="0"/>
                                          </p:stCondLst>
                                        </p:cTn>
                                        <p:tgtEl>
                                          <p:spTgt spid="2651"/>
                                        </p:tgtEl>
                                        <p:attrNameLst>
                                          <p:attrName>style.visibility</p:attrName>
                                        </p:attrNameLst>
                                      </p:cBhvr>
                                      <p:to>
                                        <p:strVal val="visible"/>
                                      </p:to>
                                    </p:set>
                                    <p:animEffect filter="fade" transition="in">
                                      <p:cBhvr>
                                        <p:cTn dur="1000"/>
                                        <p:tgtEl>
                                          <p:spTgt spid="265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768"/>
                                        </p:tgtEl>
                                        <p:attrNameLst>
                                          <p:attrName>style.visibility</p:attrName>
                                        </p:attrNameLst>
                                      </p:cBhvr>
                                      <p:to>
                                        <p:strVal val="visible"/>
                                      </p:to>
                                    </p:set>
                                    <p:animEffect filter="fade" transition="in">
                                      <p:cBhvr>
                                        <p:cTn dur="1000"/>
                                        <p:tgtEl>
                                          <p:spTgt spid="2768"/>
                                        </p:tgtEl>
                                      </p:cBhvr>
                                    </p:animEffect>
                                  </p:childTnLst>
                                </p:cTn>
                              </p:par>
                              <p:par>
                                <p:cTn fill="hold" nodeType="withEffect" presetClass="entr" presetID="10" presetSubtype="0">
                                  <p:stCondLst>
                                    <p:cond delay="0"/>
                                  </p:stCondLst>
                                  <p:childTnLst>
                                    <p:set>
                                      <p:cBhvr>
                                        <p:cTn dur="1" fill="hold">
                                          <p:stCondLst>
                                            <p:cond delay="0"/>
                                          </p:stCondLst>
                                        </p:cTn>
                                        <p:tgtEl>
                                          <p:spTgt spid="2769"/>
                                        </p:tgtEl>
                                        <p:attrNameLst>
                                          <p:attrName>style.visibility</p:attrName>
                                        </p:attrNameLst>
                                      </p:cBhvr>
                                      <p:to>
                                        <p:strVal val="visible"/>
                                      </p:to>
                                    </p:set>
                                    <p:animEffect filter="fade" transition="in">
                                      <p:cBhvr>
                                        <p:cTn dur="1000"/>
                                        <p:tgtEl>
                                          <p:spTgt spid="2769"/>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5" name="Shape 2775"/>
        <p:cNvGrpSpPr/>
        <p:nvPr/>
      </p:nvGrpSpPr>
      <p:grpSpPr>
        <a:xfrm>
          <a:off x="0" y="0"/>
          <a:ext cx="0" cy="0"/>
          <a:chOff x="0" y="0"/>
          <a:chExt cx="0" cy="0"/>
        </a:xfrm>
      </p:grpSpPr>
      <p:sp>
        <p:nvSpPr>
          <p:cNvPr id="2776" name="Google Shape;2776;p71"/>
          <p:cNvSpPr txBox="1"/>
          <p:nvPr/>
        </p:nvSpPr>
        <p:spPr>
          <a:xfrm>
            <a:off x="4187006" y="284371"/>
            <a:ext cx="3629520"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grpSp>
        <p:nvGrpSpPr>
          <p:cNvPr id="2777" name="Google Shape;2777;p71"/>
          <p:cNvGrpSpPr/>
          <p:nvPr/>
        </p:nvGrpSpPr>
        <p:grpSpPr>
          <a:xfrm>
            <a:off x="1284576" y="2130924"/>
            <a:ext cx="10188969" cy="756004"/>
            <a:chOff x="926134" y="1719856"/>
            <a:chExt cx="9204181" cy="750147"/>
          </a:xfrm>
        </p:grpSpPr>
        <p:sp>
          <p:nvSpPr>
            <p:cNvPr id="2778" name="Google Shape;2778;p71"/>
            <p:cNvSpPr txBox="1"/>
            <p:nvPr/>
          </p:nvSpPr>
          <p:spPr>
            <a:xfrm>
              <a:off x="1641585" y="1719860"/>
              <a:ext cx="5447935"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139700" marR="0" rtl="0" algn="l">
                <a:spcBef>
                  <a:spcPts val="0"/>
                </a:spcBef>
                <a:spcAft>
                  <a:spcPts val="0"/>
                </a:spcAft>
                <a:buNone/>
              </a:pPr>
              <a:r>
                <a:rPr lang="en-US" sz="2000">
                  <a:solidFill>
                    <a:schemeClr val="dk1"/>
                  </a:solidFill>
                  <a:latin typeface="Calibri"/>
                  <a:ea typeface="Calibri"/>
                  <a:cs typeface="Calibri"/>
                  <a:sym typeface="Calibri"/>
                </a:rPr>
                <a:t>고객 D가 일부 상품을 구매하고, 결제 수단으로 상품권을 제시함.</a:t>
              </a:r>
              <a:endParaRPr sz="2000">
                <a:solidFill>
                  <a:schemeClr val="dk1"/>
                </a:solidFill>
                <a:latin typeface="Avenir"/>
                <a:ea typeface="Avenir"/>
                <a:cs typeface="Avenir"/>
                <a:sym typeface="Avenir"/>
              </a:endParaRPr>
            </a:p>
          </p:txBody>
        </p:sp>
        <p:sp>
          <p:nvSpPr>
            <p:cNvPr id="2779" name="Google Shape;2779;p71"/>
            <p:cNvSpPr txBox="1"/>
            <p:nvPr/>
          </p:nvSpPr>
          <p:spPr>
            <a:xfrm>
              <a:off x="7089520" y="1719858"/>
              <a:ext cx="1520398" cy="745310"/>
            </a:xfrm>
            <a:prstGeom prst="rect">
              <a:avLst/>
            </a:prstGeom>
            <a:solidFill>
              <a:srgbClr val="E1EFD8"/>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Deferred income</a:t>
              </a: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90</a:t>
              </a:r>
              <a:endParaRPr/>
            </a:p>
          </p:txBody>
        </p:sp>
        <p:sp>
          <p:nvSpPr>
            <p:cNvPr id="2780" name="Google Shape;2780;p71"/>
            <p:cNvSpPr txBox="1"/>
            <p:nvPr/>
          </p:nvSpPr>
          <p:spPr>
            <a:xfrm>
              <a:off x="8609917" y="1719858"/>
              <a:ext cx="1520398" cy="745310"/>
            </a:xfrm>
            <a:prstGeom prst="rect">
              <a:avLst/>
            </a:prstGeom>
            <a:solidFill>
              <a:srgbClr val="FBE4D4"/>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Sales</a:t>
              </a:r>
              <a:endParaRPr b="1" sz="1600">
                <a:solidFill>
                  <a:srgbClr val="BFBFBF"/>
                </a:solidFill>
                <a:latin typeface="Avenir"/>
                <a:ea typeface="Avenir"/>
                <a:cs typeface="Avenir"/>
                <a:sym typeface="Aveni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90</a:t>
              </a:r>
              <a:endParaRPr/>
            </a:p>
          </p:txBody>
        </p:sp>
        <p:sp>
          <p:nvSpPr>
            <p:cNvPr id="2781" name="Google Shape;2781;p71"/>
            <p:cNvSpPr txBox="1"/>
            <p:nvPr/>
          </p:nvSpPr>
          <p:spPr>
            <a:xfrm>
              <a:off x="926134" y="1719856"/>
              <a:ext cx="715451"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12a</a:t>
              </a:r>
              <a:endParaRPr/>
            </a:p>
          </p:txBody>
        </p:sp>
      </p:grpSp>
      <p:sp>
        <p:nvSpPr>
          <p:cNvPr id="2782" name="Google Shape;2782;p71"/>
          <p:cNvSpPr txBox="1"/>
          <p:nvPr/>
        </p:nvSpPr>
        <p:spPr>
          <a:xfrm>
            <a:off x="8107404" y="2130924"/>
            <a:ext cx="1681200" cy="756000"/>
          </a:xfrm>
          <a:prstGeom prst="rect">
            <a:avLst/>
          </a:prstGeom>
          <a:solidFill>
            <a:srgbClr val="548135"/>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90</a:t>
            </a:r>
            <a:endParaRPr/>
          </a:p>
        </p:txBody>
      </p:sp>
      <p:sp>
        <p:nvSpPr>
          <p:cNvPr id="2783" name="Google Shape;2783;p71"/>
          <p:cNvSpPr txBox="1"/>
          <p:nvPr/>
        </p:nvSpPr>
        <p:spPr>
          <a:xfrm>
            <a:off x="9790474" y="2130924"/>
            <a:ext cx="1681200" cy="756000"/>
          </a:xfrm>
          <a:prstGeom prst="rect">
            <a:avLst/>
          </a:prstGeom>
          <a:solidFill>
            <a:schemeClr val="accent2"/>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90</a:t>
            </a:r>
            <a:endParaRPr/>
          </a:p>
        </p:txBody>
      </p:sp>
      <p:cxnSp>
        <p:nvCxnSpPr>
          <p:cNvPr id="2784" name="Google Shape;2784;p71"/>
          <p:cNvCxnSpPr/>
          <p:nvPr/>
        </p:nvCxnSpPr>
        <p:spPr>
          <a:xfrm>
            <a:off x="4316098" y="717845"/>
            <a:ext cx="3375212" cy="0"/>
          </a:xfrm>
          <a:prstGeom prst="straightConnector1">
            <a:avLst/>
          </a:prstGeom>
          <a:noFill/>
          <a:ln cap="flat" cmpd="sng" w="28575">
            <a:solidFill>
              <a:schemeClr val="accent1"/>
            </a:solidFill>
            <a:prstDash val="dot"/>
            <a:miter lim="800000"/>
            <a:headEnd len="sm" w="sm" type="none"/>
            <a:tailEnd len="sm" w="sm" type="none"/>
          </a:ln>
        </p:spPr>
      </p:cxnSp>
      <p:sp>
        <p:nvSpPr>
          <p:cNvPr id="2785" name="Google Shape;2785;p71"/>
          <p:cNvSpPr/>
          <p:nvPr/>
        </p:nvSpPr>
        <p:spPr>
          <a:xfrm>
            <a:off x="1284578" y="1520543"/>
            <a:ext cx="2024679" cy="42011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2130">
                <a:solidFill>
                  <a:schemeClr val="dk1"/>
                </a:solidFill>
                <a:latin typeface="Avenir"/>
                <a:ea typeface="Avenir"/>
                <a:cs typeface="Avenir"/>
                <a:sym typeface="Avenir"/>
              </a:rPr>
              <a:t>26 February</a:t>
            </a:r>
            <a:endParaRPr sz="2130">
              <a:solidFill>
                <a:schemeClr val="dk1"/>
              </a:solidFill>
              <a:latin typeface="Avenir"/>
              <a:ea typeface="Avenir"/>
              <a:cs typeface="Avenir"/>
              <a:sym typeface="Avenir"/>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90" name="Shape 2790"/>
        <p:cNvGrpSpPr/>
        <p:nvPr/>
      </p:nvGrpSpPr>
      <p:grpSpPr>
        <a:xfrm>
          <a:off x="0" y="0"/>
          <a:ext cx="0" cy="0"/>
          <a:chOff x="0" y="0"/>
          <a:chExt cx="0" cy="0"/>
        </a:xfrm>
      </p:grpSpPr>
      <p:sp>
        <p:nvSpPr>
          <p:cNvPr id="2791" name="Google Shape;2791;p72"/>
          <p:cNvSpPr txBox="1"/>
          <p:nvPr/>
        </p:nvSpPr>
        <p:spPr>
          <a:xfrm>
            <a:off x="4187006" y="133386"/>
            <a:ext cx="3629520"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cxnSp>
        <p:nvCxnSpPr>
          <p:cNvPr id="2792" name="Google Shape;2792;p72"/>
          <p:cNvCxnSpPr/>
          <p:nvPr/>
        </p:nvCxnSpPr>
        <p:spPr>
          <a:xfrm>
            <a:off x="4316098" y="566860"/>
            <a:ext cx="3375212" cy="0"/>
          </a:xfrm>
          <a:prstGeom prst="straightConnector1">
            <a:avLst/>
          </a:prstGeom>
          <a:noFill/>
          <a:ln cap="flat" cmpd="sng" w="28575">
            <a:solidFill>
              <a:schemeClr val="accent1"/>
            </a:solidFill>
            <a:prstDash val="dot"/>
            <a:miter lim="800000"/>
            <a:headEnd len="sm" w="sm" type="none"/>
            <a:tailEnd len="sm" w="sm" type="none"/>
          </a:ln>
        </p:spPr>
      </p:cxnSp>
      <p:grpSp>
        <p:nvGrpSpPr>
          <p:cNvPr id="2793" name="Google Shape;2793;p72"/>
          <p:cNvGrpSpPr/>
          <p:nvPr/>
        </p:nvGrpSpPr>
        <p:grpSpPr>
          <a:xfrm>
            <a:off x="492858" y="773769"/>
            <a:ext cx="11291146" cy="5895963"/>
            <a:chOff x="492858" y="773769"/>
            <a:chExt cx="11291146" cy="5895963"/>
          </a:xfrm>
        </p:grpSpPr>
        <p:sp>
          <p:nvSpPr>
            <p:cNvPr id="2794" name="Google Shape;2794;p72"/>
            <p:cNvSpPr txBox="1"/>
            <p:nvPr/>
          </p:nvSpPr>
          <p:spPr>
            <a:xfrm>
              <a:off x="6227788" y="2623662"/>
              <a:ext cx="5556216" cy="1692844"/>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Equity</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2795" name="Google Shape;2795;p72"/>
            <p:cNvSpPr txBox="1"/>
            <p:nvPr/>
          </p:nvSpPr>
          <p:spPr>
            <a:xfrm>
              <a:off x="6410845" y="3135649"/>
              <a:ext cx="1544844" cy="770509"/>
            </a:xfrm>
            <a:prstGeom prst="rect">
              <a:avLst/>
            </a:prstGeom>
            <a:noFill/>
            <a:ln cap="flat" cmpd="sng" w="5715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ctr">
                <a:lnSpc>
                  <a:spcPct val="120000"/>
                </a:lnSpc>
                <a:spcBef>
                  <a:spcPts val="0"/>
                </a:spcBef>
                <a:spcAft>
                  <a:spcPts val="0"/>
                </a:spcAft>
                <a:buNone/>
              </a:pPr>
              <a:r>
                <a:rPr b="1" lang="en-US" sz="2200">
                  <a:solidFill>
                    <a:srgbClr val="942093"/>
                  </a:solidFill>
                  <a:latin typeface="Avenir"/>
                  <a:ea typeface="Avenir"/>
                  <a:cs typeface="Avenir"/>
                  <a:sym typeface="Avenir"/>
                </a:rPr>
                <a:t>Profit</a:t>
              </a:r>
              <a:endParaRPr/>
            </a:p>
          </p:txBody>
        </p:sp>
        <p:sp>
          <p:nvSpPr>
            <p:cNvPr id="2796" name="Google Shape;2796;p72"/>
            <p:cNvSpPr txBox="1"/>
            <p:nvPr/>
          </p:nvSpPr>
          <p:spPr>
            <a:xfrm>
              <a:off x="6227788" y="773769"/>
              <a:ext cx="5556216" cy="1702674"/>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Liabilities</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grpSp>
          <p:nvGrpSpPr>
            <p:cNvPr id="2797" name="Google Shape;2797;p72"/>
            <p:cNvGrpSpPr/>
            <p:nvPr/>
          </p:nvGrpSpPr>
          <p:grpSpPr>
            <a:xfrm>
              <a:off x="492858" y="3906158"/>
              <a:ext cx="11291146" cy="2763574"/>
              <a:chOff x="1354633" y="4399872"/>
              <a:chExt cx="9550931" cy="2121952"/>
            </a:xfrm>
          </p:grpSpPr>
          <p:sp>
            <p:nvSpPr>
              <p:cNvPr id="2798" name="Google Shape;2798;p72"/>
              <p:cNvSpPr txBox="1"/>
              <p:nvPr/>
            </p:nvSpPr>
            <p:spPr>
              <a:xfrm>
                <a:off x="1354633" y="4813260"/>
                <a:ext cx="9550931" cy="1708564"/>
              </a:xfrm>
              <a:prstGeom prst="rect">
                <a:avLst/>
              </a:prstGeom>
              <a:solidFill>
                <a:srgbClr val="FCECFB"/>
              </a:solidFill>
              <a:ln cap="flat" cmpd="sng" w="7620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b="1" lang="en-US" sz="2800">
                    <a:solidFill>
                      <a:schemeClr val="dk1"/>
                    </a:solidFill>
                    <a:latin typeface="Avenir"/>
                    <a:ea typeface="Avenir"/>
                    <a:cs typeface="Avenir"/>
                    <a:sym typeface="Avenir"/>
                  </a:rPr>
                  <a:t> </a:t>
                </a:r>
                <a:endParaRPr/>
              </a:p>
            </p:txBody>
          </p:sp>
          <p:sp>
            <p:nvSpPr>
              <p:cNvPr id="2799" name="Google Shape;2799;p72"/>
              <p:cNvSpPr txBox="1"/>
              <p:nvPr/>
            </p:nvSpPr>
            <p:spPr>
              <a:xfrm>
                <a:off x="6199863" y="4921166"/>
                <a:ext cx="4576976" cy="1495361"/>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Income</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2800" name="Google Shape;2800;p72"/>
              <p:cNvSpPr txBox="1"/>
              <p:nvPr/>
            </p:nvSpPr>
            <p:spPr>
              <a:xfrm>
                <a:off x="1481256" y="4921166"/>
                <a:ext cx="4552539" cy="1495361"/>
              </a:xfrm>
              <a:prstGeom prst="rect">
                <a:avLst/>
              </a:prstGeom>
              <a:solidFill>
                <a:srgbClr val="E1EFD8"/>
              </a:solid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None/>
                </a:pPr>
                <a:r>
                  <a:rPr b="1" lang="en-US" sz="2800">
                    <a:solidFill>
                      <a:srgbClr val="E1EFD8"/>
                    </a:solidFill>
                    <a:latin typeface="Avenir"/>
                    <a:ea typeface="Avenir"/>
                    <a:cs typeface="Avenir"/>
                    <a:sym typeface="Avenir"/>
                  </a:rPr>
                  <a:t>_</a:t>
                </a:r>
                <a:r>
                  <a:rPr b="1" lang="en-US" sz="2000">
                    <a:solidFill>
                      <a:schemeClr val="dk1"/>
                    </a:solidFill>
                    <a:latin typeface="Avenir"/>
                    <a:ea typeface="Avenir"/>
                    <a:cs typeface="Avenir"/>
                    <a:sym typeface="Avenir"/>
                  </a:rPr>
                  <a:t>Expenses</a:t>
                </a:r>
                <a:endParaRPr b="1" sz="2800">
                  <a:solidFill>
                    <a:schemeClr val="dk1"/>
                  </a:solidFill>
                  <a:latin typeface="Avenir"/>
                  <a:ea typeface="Avenir"/>
                  <a:cs typeface="Avenir"/>
                  <a:sym typeface="Avenir"/>
                </a:endParaRPr>
              </a:p>
            </p:txBody>
          </p:sp>
          <p:cxnSp>
            <p:nvCxnSpPr>
              <p:cNvPr id="2801" name="Google Shape;2801;p72"/>
              <p:cNvCxnSpPr>
                <a:stCxn id="2795" idx="2"/>
              </p:cNvCxnSpPr>
              <p:nvPr/>
            </p:nvCxnSpPr>
            <p:spPr>
              <a:xfrm>
                <a:off x="7013902" y="4399872"/>
                <a:ext cx="7500" cy="434700"/>
              </a:xfrm>
              <a:prstGeom prst="straightConnector1">
                <a:avLst/>
              </a:prstGeom>
              <a:noFill/>
              <a:ln cap="flat" cmpd="sng" w="76200">
                <a:solidFill>
                  <a:srgbClr val="942093"/>
                </a:solidFill>
                <a:prstDash val="solid"/>
                <a:miter lim="800000"/>
                <a:headEnd len="sm" w="sm" type="none"/>
                <a:tailEnd len="sm" w="sm" type="none"/>
              </a:ln>
            </p:spPr>
          </p:cxnSp>
        </p:grpSp>
        <p:sp>
          <p:nvSpPr>
            <p:cNvPr id="2802" name="Google Shape;2802;p72"/>
            <p:cNvSpPr txBox="1"/>
            <p:nvPr/>
          </p:nvSpPr>
          <p:spPr>
            <a:xfrm>
              <a:off x="492858" y="773769"/>
              <a:ext cx="5544457" cy="3542737"/>
            </a:xfrm>
            <a:prstGeom prst="rect">
              <a:avLst/>
            </a:prstGeom>
            <a:solidFill>
              <a:srgbClr val="E1EFD8"/>
            </a:solid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None/>
              </a:pPr>
              <a:r>
                <a:rPr b="1" lang="en-US" sz="2800">
                  <a:solidFill>
                    <a:srgbClr val="E1EFD8"/>
                  </a:solidFill>
                  <a:latin typeface="Avenir"/>
                  <a:ea typeface="Avenir"/>
                  <a:cs typeface="Avenir"/>
                  <a:sym typeface="Avenir"/>
                </a:rPr>
                <a:t>_</a:t>
              </a:r>
              <a:r>
                <a:rPr b="1" lang="en-US" sz="2000">
                  <a:solidFill>
                    <a:schemeClr val="dk1"/>
                  </a:solidFill>
                  <a:latin typeface="Avenir"/>
                  <a:ea typeface="Avenir"/>
                  <a:cs typeface="Avenir"/>
                  <a:sym typeface="Avenir"/>
                </a:rPr>
                <a:t>Assets</a:t>
              </a:r>
              <a:endParaRPr b="1" sz="2800">
                <a:solidFill>
                  <a:schemeClr val="dk1"/>
                </a:solidFill>
                <a:latin typeface="Avenir"/>
                <a:ea typeface="Avenir"/>
                <a:cs typeface="Avenir"/>
                <a:sym typeface="Avenir"/>
              </a:endParaRPr>
            </a:p>
          </p:txBody>
        </p:sp>
      </p:grpSp>
      <p:grpSp>
        <p:nvGrpSpPr>
          <p:cNvPr id="2803" name="Google Shape;2803;p72"/>
          <p:cNvGrpSpPr/>
          <p:nvPr/>
        </p:nvGrpSpPr>
        <p:grpSpPr>
          <a:xfrm>
            <a:off x="4248000" y="2850495"/>
            <a:ext cx="1620000" cy="1116000"/>
            <a:chOff x="3810000" y="2381250"/>
            <a:chExt cx="1390650" cy="1230631"/>
          </a:xfrm>
        </p:grpSpPr>
        <p:sp>
          <p:nvSpPr>
            <p:cNvPr id="2804" name="Google Shape;2804;p72"/>
            <p:cNvSpPr/>
            <p:nvPr/>
          </p:nvSpPr>
          <p:spPr>
            <a:xfrm flipH="1">
              <a:off x="4505325" y="2381250"/>
              <a:ext cx="695325" cy="1230631"/>
            </a:xfrm>
            <a:prstGeom prst="corner">
              <a:avLst>
                <a:gd fmla="val 7073" name="adj1"/>
                <a:gd fmla="val 694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2805" name="Google Shape;2805;p72"/>
            <p:cNvSpPr/>
            <p:nvPr/>
          </p:nvSpPr>
          <p:spPr>
            <a:xfrm>
              <a:off x="3810000" y="2381250"/>
              <a:ext cx="695325" cy="1230631"/>
            </a:xfrm>
            <a:prstGeom prst="corner">
              <a:avLst>
                <a:gd fmla="val 7073" name="adj1"/>
                <a:gd fmla="val 694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2806" name="Google Shape;2806;p72"/>
          <p:cNvGrpSpPr/>
          <p:nvPr/>
        </p:nvGrpSpPr>
        <p:grpSpPr>
          <a:xfrm>
            <a:off x="2458800" y="1713372"/>
            <a:ext cx="1620000" cy="2245325"/>
            <a:chOff x="671549" y="1402787"/>
            <a:chExt cx="1620000" cy="2549293"/>
          </a:xfrm>
        </p:grpSpPr>
        <p:sp>
          <p:nvSpPr>
            <p:cNvPr id="2807" name="Google Shape;2807;p72"/>
            <p:cNvSpPr/>
            <p:nvPr/>
          </p:nvSpPr>
          <p:spPr>
            <a:xfrm flipH="1">
              <a:off x="1481549" y="1402787"/>
              <a:ext cx="810000" cy="2549293"/>
            </a:xfrm>
            <a:prstGeom prst="corner">
              <a:avLst>
                <a:gd fmla="val 6497" name="adj1"/>
                <a:gd fmla="val 694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1800">
                <a:solidFill>
                  <a:schemeClr val="lt1"/>
                </a:solidFill>
                <a:latin typeface="Avenir"/>
                <a:ea typeface="Avenir"/>
                <a:cs typeface="Avenir"/>
                <a:sym typeface="Avenir"/>
              </a:endParaRPr>
            </a:p>
          </p:txBody>
        </p:sp>
        <p:sp>
          <p:nvSpPr>
            <p:cNvPr id="2808" name="Google Shape;2808;p72"/>
            <p:cNvSpPr/>
            <p:nvPr/>
          </p:nvSpPr>
          <p:spPr>
            <a:xfrm>
              <a:off x="671549" y="1402787"/>
              <a:ext cx="810000" cy="2549293"/>
            </a:xfrm>
            <a:prstGeom prst="corner">
              <a:avLst>
                <a:gd fmla="val 6497" name="adj1"/>
                <a:gd fmla="val 7336"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1800">
                <a:solidFill>
                  <a:schemeClr val="lt1"/>
                </a:solidFill>
                <a:latin typeface="Avenir"/>
                <a:ea typeface="Avenir"/>
                <a:cs typeface="Avenir"/>
                <a:sym typeface="Avenir"/>
              </a:endParaRPr>
            </a:p>
          </p:txBody>
        </p:sp>
      </p:grpSp>
      <p:grpSp>
        <p:nvGrpSpPr>
          <p:cNvPr id="2809" name="Google Shape;2809;p72"/>
          <p:cNvGrpSpPr/>
          <p:nvPr/>
        </p:nvGrpSpPr>
        <p:grpSpPr>
          <a:xfrm>
            <a:off x="673200" y="3340800"/>
            <a:ext cx="1620000" cy="613673"/>
            <a:chOff x="3810000" y="2381250"/>
            <a:chExt cx="1390650" cy="1230631"/>
          </a:xfrm>
        </p:grpSpPr>
        <p:sp>
          <p:nvSpPr>
            <p:cNvPr id="2810" name="Google Shape;2810;p72"/>
            <p:cNvSpPr/>
            <p:nvPr/>
          </p:nvSpPr>
          <p:spPr>
            <a:xfrm flipH="1">
              <a:off x="4505325"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2811" name="Google Shape;2811;p72"/>
            <p:cNvSpPr/>
            <p:nvPr/>
          </p:nvSpPr>
          <p:spPr>
            <a:xfrm>
              <a:off x="3810000"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sp>
        <p:nvSpPr>
          <p:cNvPr id="2812" name="Google Shape;2812;p72"/>
          <p:cNvSpPr txBox="1"/>
          <p:nvPr/>
        </p:nvSpPr>
        <p:spPr>
          <a:xfrm>
            <a:off x="2551146" y="3924000"/>
            <a:ext cx="1393331"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Cash at bank</a:t>
            </a:r>
            <a:endParaRPr/>
          </a:p>
        </p:txBody>
      </p:sp>
      <p:sp>
        <p:nvSpPr>
          <p:cNvPr id="2813" name="Google Shape;2813;p72"/>
          <p:cNvSpPr txBox="1"/>
          <p:nvPr/>
        </p:nvSpPr>
        <p:spPr>
          <a:xfrm>
            <a:off x="4292494" y="3924000"/>
            <a:ext cx="1531779"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Inventory</a:t>
            </a:r>
            <a:endParaRPr/>
          </a:p>
        </p:txBody>
      </p:sp>
      <p:sp>
        <p:nvSpPr>
          <p:cNvPr id="2814" name="Google Shape;2814;p72"/>
          <p:cNvSpPr txBox="1"/>
          <p:nvPr/>
        </p:nvSpPr>
        <p:spPr>
          <a:xfrm>
            <a:off x="661400" y="3924000"/>
            <a:ext cx="1647322"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Equipment</a:t>
            </a:r>
            <a:endParaRPr/>
          </a:p>
        </p:txBody>
      </p:sp>
      <p:sp>
        <p:nvSpPr>
          <p:cNvPr id="2815" name="Google Shape;2815;p72"/>
          <p:cNvSpPr txBox="1"/>
          <p:nvPr/>
        </p:nvSpPr>
        <p:spPr>
          <a:xfrm>
            <a:off x="2596439" y="5339671"/>
            <a:ext cx="1590567"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Cleaning</a:t>
            </a:r>
            <a:endParaRPr/>
          </a:p>
        </p:txBody>
      </p:sp>
      <p:sp>
        <p:nvSpPr>
          <p:cNvPr id="2816" name="Google Shape;2816;p72"/>
          <p:cNvSpPr txBox="1"/>
          <p:nvPr/>
        </p:nvSpPr>
        <p:spPr>
          <a:xfrm>
            <a:off x="4306077" y="6192000"/>
            <a:ext cx="1606417"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Cost of sales</a:t>
            </a:r>
            <a:endParaRPr/>
          </a:p>
        </p:txBody>
      </p:sp>
      <p:sp>
        <p:nvSpPr>
          <p:cNvPr id="2817" name="Google Shape;2817;p72"/>
          <p:cNvSpPr txBox="1"/>
          <p:nvPr/>
        </p:nvSpPr>
        <p:spPr>
          <a:xfrm>
            <a:off x="6295758" y="6192000"/>
            <a:ext cx="1842786"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Revenue (sales)</a:t>
            </a:r>
            <a:endParaRPr/>
          </a:p>
        </p:txBody>
      </p:sp>
      <p:sp>
        <p:nvSpPr>
          <p:cNvPr id="2818" name="Google Shape;2818;p72"/>
          <p:cNvSpPr txBox="1"/>
          <p:nvPr/>
        </p:nvSpPr>
        <p:spPr>
          <a:xfrm>
            <a:off x="10028967" y="2029411"/>
            <a:ext cx="1593685"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Bank loan</a:t>
            </a:r>
            <a:endParaRPr/>
          </a:p>
        </p:txBody>
      </p:sp>
      <p:sp>
        <p:nvSpPr>
          <p:cNvPr id="2819" name="Google Shape;2819;p72"/>
          <p:cNvSpPr txBox="1"/>
          <p:nvPr/>
        </p:nvSpPr>
        <p:spPr>
          <a:xfrm>
            <a:off x="8114313" y="2028286"/>
            <a:ext cx="1864201"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Deferred income</a:t>
            </a:r>
            <a:endParaRPr/>
          </a:p>
        </p:txBody>
      </p:sp>
      <p:sp>
        <p:nvSpPr>
          <p:cNvPr id="2820" name="Google Shape;2820;p72"/>
          <p:cNvSpPr txBox="1"/>
          <p:nvPr/>
        </p:nvSpPr>
        <p:spPr>
          <a:xfrm>
            <a:off x="3184560" y="3614709"/>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30,000</a:t>
            </a:r>
            <a:endParaRPr/>
          </a:p>
        </p:txBody>
      </p:sp>
      <p:sp>
        <p:nvSpPr>
          <p:cNvPr id="2821" name="Google Shape;2821;p72"/>
          <p:cNvSpPr txBox="1"/>
          <p:nvPr/>
        </p:nvSpPr>
        <p:spPr>
          <a:xfrm>
            <a:off x="3184560" y="3344709"/>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20,000</a:t>
            </a:r>
            <a:endParaRPr/>
          </a:p>
        </p:txBody>
      </p:sp>
      <p:sp>
        <p:nvSpPr>
          <p:cNvPr id="2822" name="Google Shape;2822;p72"/>
          <p:cNvSpPr txBox="1"/>
          <p:nvPr/>
        </p:nvSpPr>
        <p:spPr>
          <a:xfrm>
            <a:off x="3298373" y="3074709"/>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5,000</a:t>
            </a:r>
            <a:endParaRPr/>
          </a:p>
        </p:txBody>
      </p:sp>
      <p:sp>
        <p:nvSpPr>
          <p:cNvPr id="2823" name="Google Shape;2823;p72"/>
          <p:cNvSpPr txBox="1"/>
          <p:nvPr/>
        </p:nvSpPr>
        <p:spPr>
          <a:xfrm>
            <a:off x="3469894" y="2534709"/>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700</a:t>
            </a:r>
            <a:endParaRPr/>
          </a:p>
        </p:txBody>
      </p:sp>
      <p:sp>
        <p:nvSpPr>
          <p:cNvPr id="2824" name="Google Shape;2824;p72"/>
          <p:cNvSpPr txBox="1"/>
          <p:nvPr/>
        </p:nvSpPr>
        <p:spPr>
          <a:xfrm>
            <a:off x="3583708" y="2264709"/>
            <a:ext cx="412292"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50</a:t>
            </a:r>
            <a:endParaRPr/>
          </a:p>
        </p:txBody>
      </p:sp>
      <p:sp>
        <p:nvSpPr>
          <p:cNvPr id="2825" name="Google Shape;2825;p72"/>
          <p:cNvSpPr txBox="1"/>
          <p:nvPr/>
        </p:nvSpPr>
        <p:spPr>
          <a:xfrm>
            <a:off x="3713366" y="5031445"/>
            <a:ext cx="412292"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50</a:t>
            </a:r>
            <a:endParaRPr/>
          </a:p>
        </p:txBody>
      </p:sp>
      <p:sp>
        <p:nvSpPr>
          <p:cNvPr id="2826" name="Google Shape;2826;p72"/>
          <p:cNvSpPr txBox="1"/>
          <p:nvPr/>
        </p:nvSpPr>
        <p:spPr>
          <a:xfrm>
            <a:off x="3469894" y="1724709"/>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600</a:t>
            </a:r>
            <a:endParaRPr/>
          </a:p>
        </p:txBody>
      </p:sp>
      <p:sp>
        <p:nvSpPr>
          <p:cNvPr id="2827" name="Google Shape;2827;p72"/>
          <p:cNvSpPr txBox="1"/>
          <p:nvPr/>
        </p:nvSpPr>
        <p:spPr>
          <a:xfrm>
            <a:off x="3184560" y="2804709"/>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10,000</a:t>
            </a:r>
            <a:endParaRPr/>
          </a:p>
        </p:txBody>
      </p:sp>
      <p:sp>
        <p:nvSpPr>
          <p:cNvPr id="2828" name="Google Shape;2828;p72"/>
          <p:cNvSpPr txBox="1"/>
          <p:nvPr/>
        </p:nvSpPr>
        <p:spPr>
          <a:xfrm>
            <a:off x="10026434" y="3924000"/>
            <a:ext cx="1757569"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contributed capital</a:t>
            </a:r>
            <a:endParaRPr/>
          </a:p>
        </p:txBody>
      </p:sp>
      <p:sp>
        <p:nvSpPr>
          <p:cNvPr id="2829" name="Google Shape;2829;p72"/>
          <p:cNvSpPr/>
          <p:nvPr/>
        </p:nvSpPr>
        <p:spPr>
          <a:xfrm rot="10800000">
            <a:off x="3011371" y="177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830" name="Google Shape;2830;p72"/>
          <p:cNvSpPr/>
          <p:nvPr/>
        </p:nvSpPr>
        <p:spPr>
          <a:xfrm>
            <a:off x="3011371" y="23367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831" name="Google Shape;2831;p72"/>
          <p:cNvSpPr/>
          <p:nvPr/>
        </p:nvSpPr>
        <p:spPr>
          <a:xfrm rot="10800000">
            <a:off x="3011371" y="258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832" name="Google Shape;2832;p72"/>
          <p:cNvSpPr/>
          <p:nvPr/>
        </p:nvSpPr>
        <p:spPr>
          <a:xfrm>
            <a:off x="3011371" y="28767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833" name="Google Shape;2833;p72"/>
          <p:cNvSpPr/>
          <p:nvPr/>
        </p:nvSpPr>
        <p:spPr>
          <a:xfrm>
            <a:off x="3011371" y="31467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834" name="Google Shape;2834;p72"/>
          <p:cNvSpPr/>
          <p:nvPr/>
        </p:nvSpPr>
        <p:spPr>
          <a:xfrm rot="10800000">
            <a:off x="3011371" y="339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835" name="Google Shape;2835;p72"/>
          <p:cNvSpPr/>
          <p:nvPr/>
        </p:nvSpPr>
        <p:spPr>
          <a:xfrm rot="10800000">
            <a:off x="3011371" y="366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836" name="Google Shape;2836;p72"/>
          <p:cNvSpPr txBox="1"/>
          <p:nvPr/>
        </p:nvSpPr>
        <p:spPr>
          <a:xfrm>
            <a:off x="10785455" y="1718255"/>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30,000</a:t>
            </a:r>
            <a:endParaRPr/>
          </a:p>
        </p:txBody>
      </p:sp>
      <p:sp>
        <p:nvSpPr>
          <p:cNvPr id="2837" name="Google Shape;2837;p72"/>
          <p:cNvSpPr/>
          <p:nvPr/>
        </p:nvSpPr>
        <p:spPr>
          <a:xfrm rot="10800000">
            <a:off x="10548000" y="1757882"/>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2838" name="Google Shape;2838;p72"/>
          <p:cNvSpPr txBox="1"/>
          <p:nvPr/>
        </p:nvSpPr>
        <p:spPr>
          <a:xfrm>
            <a:off x="10776926" y="3605780"/>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20,000</a:t>
            </a:r>
            <a:endParaRPr/>
          </a:p>
        </p:txBody>
      </p:sp>
      <p:sp>
        <p:nvSpPr>
          <p:cNvPr id="2839" name="Google Shape;2839;p72"/>
          <p:cNvSpPr txBox="1"/>
          <p:nvPr/>
        </p:nvSpPr>
        <p:spPr>
          <a:xfrm>
            <a:off x="10732895" y="1448255"/>
            <a:ext cx="86400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5,000</a:t>
            </a:r>
            <a:endParaRPr/>
          </a:p>
        </p:txBody>
      </p:sp>
      <p:sp>
        <p:nvSpPr>
          <p:cNvPr id="2840" name="Google Shape;2840;p72"/>
          <p:cNvSpPr/>
          <p:nvPr/>
        </p:nvSpPr>
        <p:spPr>
          <a:xfrm>
            <a:off x="10548000" y="1505882"/>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548135"/>
              </a:solidFill>
              <a:latin typeface="Calibri"/>
              <a:ea typeface="Calibri"/>
              <a:cs typeface="Calibri"/>
              <a:sym typeface="Calibri"/>
            </a:endParaRPr>
          </a:p>
        </p:txBody>
      </p:sp>
      <p:sp>
        <p:nvSpPr>
          <p:cNvPr id="2841" name="Google Shape;2841;p72"/>
          <p:cNvSpPr txBox="1"/>
          <p:nvPr/>
        </p:nvSpPr>
        <p:spPr>
          <a:xfrm>
            <a:off x="4984560" y="3610092"/>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10,000</a:t>
            </a:r>
            <a:endParaRPr/>
          </a:p>
        </p:txBody>
      </p:sp>
      <p:sp>
        <p:nvSpPr>
          <p:cNvPr id="2842" name="Google Shape;2842;p72"/>
          <p:cNvSpPr txBox="1"/>
          <p:nvPr/>
        </p:nvSpPr>
        <p:spPr>
          <a:xfrm>
            <a:off x="7429894" y="5905082"/>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700</a:t>
            </a:r>
            <a:endParaRPr/>
          </a:p>
        </p:txBody>
      </p:sp>
      <p:sp>
        <p:nvSpPr>
          <p:cNvPr id="2843" name="Google Shape;2843;p72"/>
          <p:cNvSpPr/>
          <p:nvPr/>
        </p:nvSpPr>
        <p:spPr>
          <a:xfrm rot="10800000">
            <a:off x="6984000" y="5943076"/>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2844" name="Google Shape;2844;p72"/>
          <p:cNvSpPr/>
          <p:nvPr/>
        </p:nvSpPr>
        <p:spPr>
          <a:xfrm rot="10800000">
            <a:off x="3096000" y="5082325"/>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845" name="Google Shape;2845;p72"/>
          <p:cNvSpPr txBox="1"/>
          <p:nvPr/>
        </p:nvSpPr>
        <p:spPr>
          <a:xfrm>
            <a:off x="3469894" y="1994709"/>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100</a:t>
            </a:r>
            <a:endParaRPr/>
          </a:p>
        </p:txBody>
      </p:sp>
      <p:sp>
        <p:nvSpPr>
          <p:cNvPr id="2846" name="Google Shape;2846;p72"/>
          <p:cNvSpPr/>
          <p:nvPr/>
        </p:nvSpPr>
        <p:spPr>
          <a:xfrm rot="10800000">
            <a:off x="3007666" y="2049930"/>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847" name="Google Shape;2847;p72"/>
          <p:cNvSpPr txBox="1"/>
          <p:nvPr/>
        </p:nvSpPr>
        <p:spPr>
          <a:xfrm>
            <a:off x="7315968" y="1713373"/>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6,000</a:t>
            </a:r>
            <a:endParaRPr/>
          </a:p>
        </p:txBody>
      </p:sp>
      <p:sp>
        <p:nvSpPr>
          <p:cNvPr id="2848" name="Google Shape;2848;p72"/>
          <p:cNvSpPr/>
          <p:nvPr/>
        </p:nvSpPr>
        <p:spPr>
          <a:xfrm rot="10800000">
            <a:off x="6984000" y="1749046"/>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2849" name="Google Shape;2849;p72"/>
          <p:cNvSpPr txBox="1"/>
          <p:nvPr/>
        </p:nvSpPr>
        <p:spPr>
          <a:xfrm>
            <a:off x="1501235" y="3588336"/>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6,000</a:t>
            </a:r>
            <a:endParaRPr/>
          </a:p>
        </p:txBody>
      </p:sp>
      <p:sp>
        <p:nvSpPr>
          <p:cNvPr id="2850" name="Google Shape;2850;p72"/>
          <p:cNvSpPr/>
          <p:nvPr/>
        </p:nvSpPr>
        <p:spPr>
          <a:xfrm rot="10800000">
            <a:off x="1249425" y="3637660"/>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851" name="Google Shape;2851;p72"/>
          <p:cNvSpPr txBox="1"/>
          <p:nvPr/>
        </p:nvSpPr>
        <p:spPr>
          <a:xfrm>
            <a:off x="5269894" y="3365080"/>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300</a:t>
            </a:r>
            <a:endParaRPr/>
          </a:p>
        </p:txBody>
      </p:sp>
      <p:sp>
        <p:nvSpPr>
          <p:cNvPr id="2852" name="Google Shape;2852;p72"/>
          <p:cNvSpPr/>
          <p:nvPr/>
        </p:nvSpPr>
        <p:spPr>
          <a:xfrm>
            <a:off x="4824000" y="3429341"/>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853" name="Google Shape;2853;p72"/>
          <p:cNvSpPr/>
          <p:nvPr/>
        </p:nvSpPr>
        <p:spPr>
          <a:xfrm rot="10800000">
            <a:off x="4824000" y="3662508"/>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854" name="Google Shape;2854;p72"/>
          <p:cNvSpPr txBox="1"/>
          <p:nvPr/>
        </p:nvSpPr>
        <p:spPr>
          <a:xfrm>
            <a:off x="5305894" y="5893862"/>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300</a:t>
            </a:r>
            <a:endParaRPr/>
          </a:p>
        </p:txBody>
      </p:sp>
      <p:sp>
        <p:nvSpPr>
          <p:cNvPr id="2855" name="Google Shape;2855;p72"/>
          <p:cNvSpPr/>
          <p:nvPr/>
        </p:nvSpPr>
        <p:spPr>
          <a:xfrm rot="10800000">
            <a:off x="4860000" y="5944742"/>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856" name="Google Shape;2856;p72"/>
          <p:cNvSpPr txBox="1"/>
          <p:nvPr/>
        </p:nvSpPr>
        <p:spPr>
          <a:xfrm>
            <a:off x="7429894" y="5645244"/>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600</a:t>
            </a:r>
            <a:endParaRPr/>
          </a:p>
        </p:txBody>
      </p:sp>
      <p:sp>
        <p:nvSpPr>
          <p:cNvPr id="2857" name="Google Shape;2857;p72"/>
          <p:cNvSpPr/>
          <p:nvPr/>
        </p:nvSpPr>
        <p:spPr>
          <a:xfrm rot="10800000">
            <a:off x="6984000" y="5695376"/>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2858" name="Google Shape;2858;p72"/>
          <p:cNvSpPr txBox="1"/>
          <p:nvPr/>
        </p:nvSpPr>
        <p:spPr>
          <a:xfrm>
            <a:off x="5269894" y="1222069"/>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600</a:t>
            </a:r>
            <a:endParaRPr/>
          </a:p>
        </p:txBody>
      </p:sp>
      <p:sp>
        <p:nvSpPr>
          <p:cNvPr id="2859" name="Google Shape;2859;p72"/>
          <p:cNvSpPr/>
          <p:nvPr/>
        </p:nvSpPr>
        <p:spPr>
          <a:xfrm rot="10800000">
            <a:off x="4824771" y="1263348"/>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860" name="Google Shape;2860;p72"/>
          <p:cNvSpPr txBox="1"/>
          <p:nvPr/>
        </p:nvSpPr>
        <p:spPr>
          <a:xfrm>
            <a:off x="5269894" y="3118060"/>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300</a:t>
            </a:r>
            <a:endParaRPr/>
          </a:p>
        </p:txBody>
      </p:sp>
      <p:sp>
        <p:nvSpPr>
          <p:cNvPr id="2861" name="Google Shape;2861;p72"/>
          <p:cNvSpPr/>
          <p:nvPr/>
        </p:nvSpPr>
        <p:spPr>
          <a:xfrm>
            <a:off x="4824000" y="3182321"/>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862" name="Google Shape;2862;p72"/>
          <p:cNvSpPr txBox="1"/>
          <p:nvPr/>
        </p:nvSpPr>
        <p:spPr>
          <a:xfrm>
            <a:off x="5305894" y="5646024"/>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300</a:t>
            </a:r>
            <a:endParaRPr/>
          </a:p>
        </p:txBody>
      </p:sp>
      <p:sp>
        <p:nvSpPr>
          <p:cNvPr id="2863" name="Google Shape;2863;p72"/>
          <p:cNvSpPr/>
          <p:nvPr/>
        </p:nvSpPr>
        <p:spPr>
          <a:xfrm rot="10800000">
            <a:off x="4860000" y="5696904"/>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864" name="Google Shape;2864;p72"/>
          <p:cNvSpPr txBox="1"/>
          <p:nvPr/>
        </p:nvSpPr>
        <p:spPr>
          <a:xfrm>
            <a:off x="3599552" y="4796571"/>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250</a:t>
            </a:r>
            <a:endParaRPr/>
          </a:p>
        </p:txBody>
      </p:sp>
      <p:sp>
        <p:nvSpPr>
          <p:cNvPr id="2865" name="Google Shape;2865;p72"/>
          <p:cNvSpPr/>
          <p:nvPr/>
        </p:nvSpPr>
        <p:spPr>
          <a:xfrm rot="10800000">
            <a:off x="3096000" y="4847451"/>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866" name="Google Shape;2866;p72"/>
          <p:cNvSpPr txBox="1"/>
          <p:nvPr/>
        </p:nvSpPr>
        <p:spPr>
          <a:xfrm>
            <a:off x="7487489" y="1462635"/>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250</a:t>
            </a:r>
            <a:endParaRPr/>
          </a:p>
        </p:txBody>
      </p:sp>
      <p:sp>
        <p:nvSpPr>
          <p:cNvPr id="2867" name="Google Shape;2867;p72"/>
          <p:cNvSpPr/>
          <p:nvPr/>
        </p:nvSpPr>
        <p:spPr>
          <a:xfrm rot="10800000">
            <a:off x="6984000" y="14983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2868" name="Google Shape;2868;p72"/>
          <p:cNvSpPr txBox="1"/>
          <p:nvPr/>
        </p:nvSpPr>
        <p:spPr>
          <a:xfrm>
            <a:off x="9285817" y="1715500"/>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100</a:t>
            </a:r>
            <a:endParaRPr/>
          </a:p>
        </p:txBody>
      </p:sp>
      <p:sp>
        <p:nvSpPr>
          <p:cNvPr id="2869" name="Google Shape;2869;p72"/>
          <p:cNvSpPr/>
          <p:nvPr/>
        </p:nvSpPr>
        <p:spPr>
          <a:xfrm rot="10800000">
            <a:off x="8784000" y="1751173"/>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2870" name="Google Shape;2870;p72"/>
          <p:cNvSpPr txBox="1"/>
          <p:nvPr/>
        </p:nvSpPr>
        <p:spPr>
          <a:xfrm>
            <a:off x="5269894" y="965882"/>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600</a:t>
            </a:r>
            <a:endParaRPr/>
          </a:p>
        </p:txBody>
      </p:sp>
      <p:sp>
        <p:nvSpPr>
          <p:cNvPr id="2871" name="Google Shape;2871;p72"/>
          <p:cNvSpPr/>
          <p:nvPr/>
        </p:nvSpPr>
        <p:spPr>
          <a:xfrm>
            <a:off x="4825605" y="102209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872" name="Google Shape;2872;p72"/>
          <p:cNvSpPr txBox="1"/>
          <p:nvPr/>
        </p:nvSpPr>
        <p:spPr>
          <a:xfrm>
            <a:off x="7543708" y="5375143"/>
            <a:ext cx="412292"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90</a:t>
            </a:r>
            <a:endParaRPr/>
          </a:p>
        </p:txBody>
      </p:sp>
      <p:sp>
        <p:nvSpPr>
          <p:cNvPr id="2873" name="Google Shape;2873;p72"/>
          <p:cNvSpPr/>
          <p:nvPr/>
        </p:nvSpPr>
        <p:spPr>
          <a:xfrm rot="10800000">
            <a:off x="6984000" y="5425275"/>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2874" name="Google Shape;2874;p72"/>
          <p:cNvSpPr txBox="1"/>
          <p:nvPr/>
        </p:nvSpPr>
        <p:spPr>
          <a:xfrm>
            <a:off x="8947923" y="1452209"/>
            <a:ext cx="86400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90</a:t>
            </a:r>
            <a:endParaRPr/>
          </a:p>
        </p:txBody>
      </p:sp>
      <p:sp>
        <p:nvSpPr>
          <p:cNvPr id="2875" name="Google Shape;2875;p72"/>
          <p:cNvSpPr/>
          <p:nvPr/>
        </p:nvSpPr>
        <p:spPr>
          <a:xfrm>
            <a:off x="8784000" y="1505882"/>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548135"/>
              </a:solidFill>
              <a:latin typeface="Calibri"/>
              <a:ea typeface="Calibri"/>
              <a:cs typeface="Calibri"/>
              <a:sym typeface="Calibri"/>
            </a:endParaRPr>
          </a:p>
        </p:txBody>
      </p:sp>
      <p:grpSp>
        <p:nvGrpSpPr>
          <p:cNvPr id="2876" name="Google Shape;2876;p72"/>
          <p:cNvGrpSpPr/>
          <p:nvPr/>
        </p:nvGrpSpPr>
        <p:grpSpPr>
          <a:xfrm>
            <a:off x="2528691" y="1763611"/>
            <a:ext cx="309700" cy="223916"/>
            <a:chOff x="756599" y="3715227"/>
            <a:chExt cx="321512" cy="232456"/>
          </a:xfrm>
        </p:grpSpPr>
        <p:sp>
          <p:nvSpPr>
            <p:cNvPr id="2877" name="Google Shape;2877;p72"/>
            <p:cNvSpPr/>
            <p:nvPr/>
          </p:nvSpPr>
          <p:spPr>
            <a:xfrm>
              <a:off x="810780" y="3715227"/>
              <a:ext cx="224238" cy="224238"/>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878" name="Google Shape;2878;p72"/>
            <p:cNvSpPr/>
            <p:nvPr/>
          </p:nvSpPr>
          <p:spPr>
            <a:xfrm>
              <a:off x="756599" y="3724022"/>
              <a:ext cx="321512" cy="223661"/>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11</a:t>
              </a:r>
              <a:endParaRPr/>
            </a:p>
          </p:txBody>
        </p:sp>
      </p:grpSp>
      <p:grpSp>
        <p:nvGrpSpPr>
          <p:cNvPr id="2879" name="Google Shape;2879;p72"/>
          <p:cNvGrpSpPr/>
          <p:nvPr/>
        </p:nvGrpSpPr>
        <p:grpSpPr>
          <a:xfrm>
            <a:off x="2528691" y="2037441"/>
            <a:ext cx="309700" cy="223916"/>
            <a:chOff x="756599" y="3715227"/>
            <a:chExt cx="321512" cy="232456"/>
          </a:xfrm>
        </p:grpSpPr>
        <p:sp>
          <p:nvSpPr>
            <p:cNvPr id="2880" name="Google Shape;2880;p72"/>
            <p:cNvSpPr/>
            <p:nvPr/>
          </p:nvSpPr>
          <p:spPr>
            <a:xfrm>
              <a:off x="810780" y="3715227"/>
              <a:ext cx="224238" cy="224238"/>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881" name="Google Shape;2881;p72"/>
            <p:cNvSpPr/>
            <p:nvPr/>
          </p:nvSpPr>
          <p:spPr>
            <a:xfrm>
              <a:off x="756599" y="3724022"/>
              <a:ext cx="321512" cy="223661"/>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10</a:t>
              </a:r>
              <a:endParaRPr/>
            </a:p>
          </p:txBody>
        </p:sp>
      </p:grpSp>
      <p:grpSp>
        <p:nvGrpSpPr>
          <p:cNvPr id="2882" name="Google Shape;2882;p72"/>
          <p:cNvGrpSpPr/>
          <p:nvPr/>
        </p:nvGrpSpPr>
        <p:grpSpPr>
          <a:xfrm>
            <a:off x="2568712" y="2307277"/>
            <a:ext cx="247184" cy="223916"/>
            <a:chOff x="797287" y="3715227"/>
            <a:chExt cx="256611" cy="232456"/>
          </a:xfrm>
        </p:grpSpPr>
        <p:sp>
          <p:nvSpPr>
            <p:cNvPr id="2883" name="Google Shape;2883;p72"/>
            <p:cNvSpPr/>
            <p:nvPr/>
          </p:nvSpPr>
          <p:spPr>
            <a:xfrm>
              <a:off x="810780" y="3715227"/>
              <a:ext cx="224238" cy="224238"/>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884" name="Google Shape;2884;p72"/>
            <p:cNvSpPr/>
            <p:nvPr/>
          </p:nvSpPr>
          <p:spPr>
            <a:xfrm>
              <a:off x="797287" y="3724022"/>
              <a:ext cx="256611" cy="223661"/>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7</a:t>
              </a:r>
              <a:endParaRPr/>
            </a:p>
          </p:txBody>
        </p:sp>
      </p:grpSp>
      <p:grpSp>
        <p:nvGrpSpPr>
          <p:cNvPr id="2885" name="Google Shape;2885;p72"/>
          <p:cNvGrpSpPr/>
          <p:nvPr/>
        </p:nvGrpSpPr>
        <p:grpSpPr>
          <a:xfrm>
            <a:off x="2530414" y="2567405"/>
            <a:ext cx="300083" cy="223917"/>
            <a:chOff x="761592" y="3715226"/>
            <a:chExt cx="311527" cy="232457"/>
          </a:xfrm>
        </p:grpSpPr>
        <p:sp>
          <p:nvSpPr>
            <p:cNvPr id="2886" name="Google Shape;2886;p72"/>
            <p:cNvSpPr/>
            <p:nvPr/>
          </p:nvSpPr>
          <p:spPr>
            <a:xfrm>
              <a:off x="810780" y="3715226"/>
              <a:ext cx="224238" cy="224238"/>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887" name="Google Shape;2887;p72"/>
            <p:cNvSpPr/>
            <p:nvPr/>
          </p:nvSpPr>
          <p:spPr>
            <a:xfrm>
              <a:off x="761592" y="3724022"/>
              <a:ext cx="311527" cy="223661"/>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6a</a:t>
              </a:r>
              <a:endParaRPr/>
            </a:p>
          </p:txBody>
        </p:sp>
      </p:grpSp>
      <p:grpSp>
        <p:nvGrpSpPr>
          <p:cNvPr id="2888" name="Google Shape;2888;p72"/>
          <p:cNvGrpSpPr/>
          <p:nvPr/>
        </p:nvGrpSpPr>
        <p:grpSpPr>
          <a:xfrm>
            <a:off x="2574025" y="2841900"/>
            <a:ext cx="245580" cy="224238"/>
            <a:chOff x="802803" y="3715228"/>
            <a:chExt cx="245580" cy="224238"/>
          </a:xfrm>
        </p:grpSpPr>
        <p:sp>
          <p:nvSpPr>
            <p:cNvPr id="2889" name="Google Shape;2889;p7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890" name="Google Shape;2890;p72"/>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5</a:t>
              </a:r>
              <a:endParaRPr/>
            </a:p>
          </p:txBody>
        </p:sp>
      </p:grpSp>
      <p:grpSp>
        <p:nvGrpSpPr>
          <p:cNvPr id="2891" name="Google Shape;2891;p72"/>
          <p:cNvGrpSpPr/>
          <p:nvPr/>
        </p:nvGrpSpPr>
        <p:grpSpPr>
          <a:xfrm>
            <a:off x="2574025" y="3121887"/>
            <a:ext cx="245580" cy="224238"/>
            <a:chOff x="802803" y="3715228"/>
            <a:chExt cx="245580" cy="224238"/>
          </a:xfrm>
        </p:grpSpPr>
        <p:sp>
          <p:nvSpPr>
            <p:cNvPr id="2892" name="Google Shape;2892;p7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893" name="Google Shape;2893;p72"/>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3</a:t>
              </a:r>
              <a:endParaRPr/>
            </a:p>
          </p:txBody>
        </p:sp>
      </p:grpSp>
      <p:grpSp>
        <p:nvGrpSpPr>
          <p:cNvPr id="2894" name="Google Shape;2894;p72"/>
          <p:cNvGrpSpPr/>
          <p:nvPr/>
        </p:nvGrpSpPr>
        <p:grpSpPr>
          <a:xfrm>
            <a:off x="2574025" y="3385828"/>
            <a:ext cx="245580" cy="224238"/>
            <a:chOff x="802803" y="3715228"/>
            <a:chExt cx="245580" cy="224238"/>
          </a:xfrm>
        </p:grpSpPr>
        <p:sp>
          <p:nvSpPr>
            <p:cNvPr id="2895" name="Google Shape;2895;p7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896" name="Google Shape;2896;p72"/>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2</a:t>
              </a:r>
              <a:endParaRPr/>
            </a:p>
          </p:txBody>
        </p:sp>
      </p:grpSp>
      <p:grpSp>
        <p:nvGrpSpPr>
          <p:cNvPr id="2897" name="Google Shape;2897;p72"/>
          <p:cNvGrpSpPr/>
          <p:nvPr/>
        </p:nvGrpSpPr>
        <p:grpSpPr>
          <a:xfrm>
            <a:off x="2574025" y="3649299"/>
            <a:ext cx="245580" cy="224238"/>
            <a:chOff x="802803" y="3715228"/>
            <a:chExt cx="245580" cy="224238"/>
          </a:xfrm>
        </p:grpSpPr>
        <p:sp>
          <p:nvSpPr>
            <p:cNvPr id="2898" name="Google Shape;2898;p7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899" name="Google Shape;2899;p72"/>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a:t>
              </a:r>
              <a:endParaRPr/>
            </a:p>
          </p:txBody>
        </p:sp>
      </p:grpSp>
      <p:grpSp>
        <p:nvGrpSpPr>
          <p:cNvPr id="2900" name="Google Shape;2900;p72"/>
          <p:cNvGrpSpPr/>
          <p:nvPr/>
        </p:nvGrpSpPr>
        <p:grpSpPr>
          <a:xfrm>
            <a:off x="10117559" y="1755851"/>
            <a:ext cx="245580" cy="224238"/>
            <a:chOff x="802803" y="3715228"/>
            <a:chExt cx="245580" cy="224238"/>
          </a:xfrm>
        </p:grpSpPr>
        <p:sp>
          <p:nvSpPr>
            <p:cNvPr id="2901" name="Google Shape;2901;p7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902" name="Google Shape;2902;p72"/>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a:t>
              </a:r>
              <a:endParaRPr/>
            </a:p>
          </p:txBody>
        </p:sp>
      </p:grpSp>
      <p:grpSp>
        <p:nvGrpSpPr>
          <p:cNvPr id="2903" name="Google Shape;2903;p72"/>
          <p:cNvGrpSpPr/>
          <p:nvPr/>
        </p:nvGrpSpPr>
        <p:grpSpPr>
          <a:xfrm>
            <a:off x="10116000" y="3650400"/>
            <a:ext cx="245580" cy="224238"/>
            <a:chOff x="802803" y="3715228"/>
            <a:chExt cx="245580" cy="224238"/>
          </a:xfrm>
        </p:grpSpPr>
        <p:sp>
          <p:nvSpPr>
            <p:cNvPr id="2904" name="Google Shape;2904;p7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905" name="Google Shape;2905;p72"/>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2</a:t>
              </a:r>
              <a:endParaRPr/>
            </a:p>
          </p:txBody>
        </p:sp>
      </p:grpSp>
      <p:grpSp>
        <p:nvGrpSpPr>
          <p:cNvPr id="2906" name="Google Shape;2906;p72"/>
          <p:cNvGrpSpPr/>
          <p:nvPr/>
        </p:nvGrpSpPr>
        <p:grpSpPr>
          <a:xfrm>
            <a:off x="10117837" y="1489299"/>
            <a:ext cx="245580" cy="224238"/>
            <a:chOff x="802803" y="3715228"/>
            <a:chExt cx="245580" cy="224238"/>
          </a:xfrm>
        </p:grpSpPr>
        <p:sp>
          <p:nvSpPr>
            <p:cNvPr id="2907" name="Google Shape;2907;p7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908" name="Google Shape;2908;p72"/>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3</a:t>
              </a:r>
              <a:endParaRPr/>
            </a:p>
          </p:txBody>
        </p:sp>
      </p:grpSp>
      <p:grpSp>
        <p:nvGrpSpPr>
          <p:cNvPr id="2909" name="Google Shape;2909;p72"/>
          <p:cNvGrpSpPr/>
          <p:nvPr/>
        </p:nvGrpSpPr>
        <p:grpSpPr>
          <a:xfrm>
            <a:off x="6553087" y="1741845"/>
            <a:ext cx="245580" cy="224238"/>
            <a:chOff x="802803" y="3715228"/>
            <a:chExt cx="245580" cy="224238"/>
          </a:xfrm>
        </p:grpSpPr>
        <p:sp>
          <p:nvSpPr>
            <p:cNvPr id="2910" name="Google Shape;2910;p7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911" name="Google Shape;2911;p72"/>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4</a:t>
              </a:r>
              <a:endParaRPr/>
            </a:p>
          </p:txBody>
        </p:sp>
      </p:grpSp>
      <p:grpSp>
        <p:nvGrpSpPr>
          <p:cNvPr id="2912" name="Google Shape;2912;p72"/>
          <p:cNvGrpSpPr/>
          <p:nvPr/>
        </p:nvGrpSpPr>
        <p:grpSpPr>
          <a:xfrm>
            <a:off x="784605" y="3629276"/>
            <a:ext cx="245580" cy="224238"/>
            <a:chOff x="802803" y="3715228"/>
            <a:chExt cx="245580" cy="224238"/>
          </a:xfrm>
        </p:grpSpPr>
        <p:sp>
          <p:nvSpPr>
            <p:cNvPr id="2913" name="Google Shape;2913;p7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914" name="Google Shape;2914;p72"/>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4</a:t>
              </a:r>
              <a:endParaRPr/>
            </a:p>
          </p:txBody>
        </p:sp>
      </p:grpSp>
      <p:grpSp>
        <p:nvGrpSpPr>
          <p:cNvPr id="2915" name="Google Shape;2915;p72"/>
          <p:cNvGrpSpPr/>
          <p:nvPr/>
        </p:nvGrpSpPr>
        <p:grpSpPr>
          <a:xfrm>
            <a:off x="4359077" y="3641899"/>
            <a:ext cx="245580" cy="224238"/>
            <a:chOff x="802803" y="3715228"/>
            <a:chExt cx="245580" cy="224238"/>
          </a:xfrm>
        </p:grpSpPr>
        <p:sp>
          <p:nvSpPr>
            <p:cNvPr id="2916" name="Google Shape;2916;p7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917" name="Google Shape;2917;p72"/>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5</a:t>
              </a:r>
              <a:endParaRPr/>
            </a:p>
          </p:txBody>
        </p:sp>
      </p:grpSp>
      <p:grpSp>
        <p:nvGrpSpPr>
          <p:cNvPr id="2918" name="Google Shape;2918;p72"/>
          <p:cNvGrpSpPr/>
          <p:nvPr/>
        </p:nvGrpSpPr>
        <p:grpSpPr>
          <a:xfrm>
            <a:off x="6484980" y="5931080"/>
            <a:ext cx="300082" cy="224238"/>
            <a:chOff x="775552" y="3715228"/>
            <a:chExt cx="300082" cy="224238"/>
          </a:xfrm>
        </p:grpSpPr>
        <p:sp>
          <p:nvSpPr>
            <p:cNvPr id="2919" name="Google Shape;2919;p7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920" name="Google Shape;2920;p72"/>
            <p:cNvSpPr/>
            <p:nvPr/>
          </p:nvSpPr>
          <p:spPr>
            <a:xfrm>
              <a:off x="775552" y="3724022"/>
              <a:ext cx="300082"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6a</a:t>
              </a:r>
              <a:endParaRPr/>
            </a:p>
          </p:txBody>
        </p:sp>
      </p:grpSp>
      <p:grpSp>
        <p:nvGrpSpPr>
          <p:cNvPr id="2921" name="Google Shape;2921;p72"/>
          <p:cNvGrpSpPr/>
          <p:nvPr/>
        </p:nvGrpSpPr>
        <p:grpSpPr>
          <a:xfrm>
            <a:off x="4325561" y="3388584"/>
            <a:ext cx="309700" cy="224238"/>
            <a:chOff x="770743" y="3715228"/>
            <a:chExt cx="309700" cy="224238"/>
          </a:xfrm>
        </p:grpSpPr>
        <p:sp>
          <p:nvSpPr>
            <p:cNvPr id="2922" name="Google Shape;2922;p7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923" name="Google Shape;2923;p72"/>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6b</a:t>
              </a:r>
              <a:endParaRPr/>
            </a:p>
          </p:txBody>
        </p:sp>
      </p:grpSp>
      <p:grpSp>
        <p:nvGrpSpPr>
          <p:cNvPr id="2924" name="Google Shape;2924;p72"/>
          <p:cNvGrpSpPr/>
          <p:nvPr/>
        </p:nvGrpSpPr>
        <p:grpSpPr>
          <a:xfrm>
            <a:off x="4372912" y="5940000"/>
            <a:ext cx="309700" cy="224238"/>
            <a:chOff x="770743" y="3715228"/>
            <a:chExt cx="309700" cy="224238"/>
          </a:xfrm>
        </p:grpSpPr>
        <p:sp>
          <p:nvSpPr>
            <p:cNvPr id="2925" name="Google Shape;2925;p7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926" name="Google Shape;2926;p72"/>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6b</a:t>
              </a:r>
              <a:endParaRPr/>
            </a:p>
          </p:txBody>
        </p:sp>
      </p:grpSp>
      <p:grpSp>
        <p:nvGrpSpPr>
          <p:cNvPr id="2927" name="Google Shape;2927;p72"/>
          <p:cNvGrpSpPr/>
          <p:nvPr/>
        </p:nvGrpSpPr>
        <p:grpSpPr>
          <a:xfrm>
            <a:off x="4330045" y="3136880"/>
            <a:ext cx="309700" cy="224238"/>
            <a:chOff x="770743" y="3715228"/>
            <a:chExt cx="309700" cy="224238"/>
          </a:xfrm>
        </p:grpSpPr>
        <p:sp>
          <p:nvSpPr>
            <p:cNvPr id="2928" name="Google Shape;2928;p7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929" name="Google Shape;2929;p72"/>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8b</a:t>
              </a:r>
              <a:endParaRPr/>
            </a:p>
          </p:txBody>
        </p:sp>
      </p:grpSp>
      <p:grpSp>
        <p:nvGrpSpPr>
          <p:cNvPr id="2930" name="Google Shape;2930;p72"/>
          <p:cNvGrpSpPr/>
          <p:nvPr/>
        </p:nvGrpSpPr>
        <p:grpSpPr>
          <a:xfrm>
            <a:off x="4377396" y="5681195"/>
            <a:ext cx="309700" cy="224238"/>
            <a:chOff x="770743" y="3715228"/>
            <a:chExt cx="309700" cy="224238"/>
          </a:xfrm>
        </p:grpSpPr>
        <p:sp>
          <p:nvSpPr>
            <p:cNvPr id="2931" name="Google Shape;2931;p7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932" name="Google Shape;2932;p72"/>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8b</a:t>
              </a:r>
              <a:endParaRPr/>
            </a:p>
          </p:txBody>
        </p:sp>
      </p:grpSp>
      <p:grpSp>
        <p:nvGrpSpPr>
          <p:cNvPr id="2933" name="Google Shape;2933;p72"/>
          <p:cNvGrpSpPr/>
          <p:nvPr/>
        </p:nvGrpSpPr>
        <p:grpSpPr>
          <a:xfrm>
            <a:off x="6484980" y="5676798"/>
            <a:ext cx="300082" cy="224238"/>
            <a:chOff x="775552" y="3715228"/>
            <a:chExt cx="300082" cy="224238"/>
          </a:xfrm>
        </p:grpSpPr>
        <p:sp>
          <p:nvSpPr>
            <p:cNvPr id="2934" name="Google Shape;2934;p7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935" name="Google Shape;2935;p72"/>
            <p:cNvSpPr/>
            <p:nvPr/>
          </p:nvSpPr>
          <p:spPr>
            <a:xfrm>
              <a:off x="775552" y="3724022"/>
              <a:ext cx="300082"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8a</a:t>
              </a:r>
              <a:endParaRPr/>
            </a:p>
          </p:txBody>
        </p:sp>
      </p:grpSp>
      <p:grpSp>
        <p:nvGrpSpPr>
          <p:cNvPr id="2936" name="Google Shape;2936;p72"/>
          <p:cNvGrpSpPr/>
          <p:nvPr/>
        </p:nvGrpSpPr>
        <p:grpSpPr>
          <a:xfrm>
            <a:off x="6448807" y="5416132"/>
            <a:ext cx="360996" cy="224238"/>
            <a:chOff x="736857" y="3715228"/>
            <a:chExt cx="360996" cy="224238"/>
          </a:xfrm>
        </p:grpSpPr>
        <p:sp>
          <p:nvSpPr>
            <p:cNvPr id="2937" name="Google Shape;2937;p72"/>
            <p:cNvSpPr/>
            <p:nvPr/>
          </p:nvSpPr>
          <p:spPr>
            <a:xfrm>
              <a:off x="810781" y="3715228"/>
              <a:ext cx="216000" cy="216000"/>
            </a:xfrm>
            <a:prstGeom prst="ellipse">
              <a:avLst/>
            </a:prstGeom>
            <a:solidFill>
              <a:srgbClr val="FFFF00"/>
            </a:solidFill>
            <a:ln cap="flat" cmpd="sng" w="1270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938" name="Google Shape;2938;p72"/>
            <p:cNvSpPr/>
            <p:nvPr/>
          </p:nvSpPr>
          <p:spPr>
            <a:xfrm>
              <a:off x="736857" y="3724022"/>
              <a:ext cx="360996"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12a</a:t>
              </a:r>
              <a:endParaRPr/>
            </a:p>
          </p:txBody>
        </p:sp>
      </p:grpSp>
      <p:grpSp>
        <p:nvGrpSpPr>
          <p:cNvPr id="2939" name="Google Shape;2939;p72"/>
          <p:cNvGrpSpPr/>
          <p:nvPr/>
        </p:nvGrpSpPr>
        <p:grpSpPr>
          <a:xfrm>
            <a:off x="2681463" y="5057611"/>
            <a:ext cx="245580" cy="224238"/>
            <a:chOff x="802803" y="3715228"/>
            <a:chExt cx="245580" cy="224238"/>
          </a:xfrm>
        </p:grpSpPr>
        <p:sp>
          <p:nvSpPr>
            <p:cNvPr id="2940" name="Google Shape;2940;p7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941" name="Google Shape;2941;p72"/>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7</a:t>
              </a:r>
              <a:endParaRPr/>
            </a:p>
          </p:txBody>
        </p:sp>
      </p:grpSp>
      <p:grpSp>
        <p:nvGrpSpPr>
          <p:cNvPr id="2942" name="Google Shape;2942;p72"/>
          <p:cNvGrpSpPr/>
          <p:nvPr/>
        </p:nvGrpSpPr>
        <p:grpSpPr>
          <a:xfrm>
            <a:off x="2680630" y="4808856"/>
            <a:ext cx="245580" cy="224238"/>
            <a:chOff x="802803" y="3715228"/>
            <a:chExt cx="245580" cy="224238"/>
          </a:xfrm>
        </p:grpSpPr>
        <p:sp>
          <p:nvSpPr>
            <p:cNvPr id="2943" name="Google Shape;2943;p7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944" name="Google Shape;2944;p72"/>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9</a:t>
              </a:r>
              <a:endParaRPr/>
            </a:p>
          </p:txBody>
        </p:sp>
      </p:grpSp>
      <p:grpSp>
        <p:nvGrpSpPr>
          <p:cNvPr id="2945" name="Google Shape;2945;p72"/>
          <p:cNvGrpSpPr/>
          <p:nvPr/>
        </p:nvGrpSpPr>
        <p:grpSpPr>
          <a:xfrm>
            <a:off x="6550922" y="1481480"/>
            <a:ext cx="245580" cy="224238"/>
            <a:chOff x="802803" y="3715228"/>
            <a:chExt cx="245580" cy="224238"/>
          </a:xfrm>
        </p:grpSpPr>
        <p:sp>
          <p:nvSpPr>
            <p:cNvPr id="2946" name="Google Shape;2946;p7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947" name="Google Shape;2947;p72"/>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9</a:t>
              </a:r>
              <a:endParaRPr/>
            </a:p>
          </p:txBody>
        </p:sp>
      </p:grpSp>
      <p:grpSp>
        <p:nvGrpSpPr>
          <p:cNvPr id="2948" name="Google Shape;2948;p72"/>
          <p:cNvGrpSpPr/>
          <p:nvPr/>
        </p:nvGrpSpPr>
        <p:grpSpPr>
          <a:xfrm>
            <a:off x="8311967" y="1742779"/>
            <a:ext cx="309700" cy="224238"/>
            <a:chOff x="770743" y="3715228"/>
            <a:chExt cx="309700" cy="224238"/>
          </a:xfrm>
        </p:grpSpPr>
        <p:sp>
          <p:nvSpPr>
            <p:cNvPr id="2949" name="Google Shape;2949;p7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950" name="Google Shape;2950;p72"/>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10</a:t>
              </a:r>
              <a:endParaRPr/>
            </a:p>
          </p:txBody>
        </p:sp>
      </p:grpSp>
      <p:grpSp>
        <p:nvGrpSpPr>
          <p:cNvPr id="2951" name="Google Shape;2951;p72"/>
          <p:cNvGrpSpPr/>
          <p:nvPr/>
        </p:nvGrpSpPr>
        <p:grpSpPr>
          <a:xfrm>
            <a:off x="4322372" y="1240114"/>
            <a:ext cx="300082" cy="224238"/>
            <a:chOff x="775552" y="3715228"/>
            <a:chExt cx="300082" cy="224238"/>
          </a:xfrm>
        </p:grpSpPr>
        <p:sp>
          <p:nvSpPr>
            <p:cNvPr id="2952" name="Google Shape;2952;p7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953" name="Google Shape;2953;p72"/>
            <p:cNvSpPr/>
            <p:nvPr/>
          </p:nvSpPr>
          <p:spPr>
            <a:xfrm>
              <a:off x="775552" y="3724022"/>
              <a:ext cx="300082"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8a</a:t>
              </a:r>
              <a:endParaRPr/>
            </a:p>
          </p:txBody>
        </p:sp>
      </p:grpSp>
      <p:grpSp>
        <p:nvGrpSpPr>
          <p:cNvPr id="2954" name="Google Shape;2954;p72"/>
          <p:cNvGrpSpPr/>
          <p:nvPr/>
        </p:nvGrpSpPr>
        <p:grpSpPr>
          <a:xfrm>
            <a:off x="4319927" y="983503"/>
            <a:ext cx="309700" cy="224238"/>
            <a:chOff x="770743" y="3715228"/>
            <a:chExt cx="309700" cy="224238"/>
          </a:xfrm>
        </p:grpSpPr>
        <p:sp>
          <p:nvSpPr>
            <p:cNvPr id="2955" name="Google Shape;2955;p7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956" name="Google Shape;2956;p72"/>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11</a:t>
              </a:r>
              <a:endParaRPr/>
            </a:p>
          </p:txBody>
        </p:sp>
      </p:grpSp>
      <p:grpSp>
        <p:nvGrpSpPr>
          <p:cNvPr id="2957" name="Google Shape;2957;p72"/>
          <p:cNvGrpSpPr/>
          <p:nvPr/>
        </p:nvGrpSpPr>
        <p:grpSpPr>
          <a:xfrm>
            <a:off x="8280687" y="1478795"/>
            <a:ext cx="360996" cy="224238"/>
            <a:chOff x="736857" y="3715228"/>
            <a:chExt cx="360996" cy="224238"/>
          </a:xfrm>
        </p:grpSpPr>
        <p:sp>
          <p:nvSpPr>
            <p:cNvPr id="2958" name="Google Shape;2958;p72"/>
            <p:cNvSpPr/>
            <p:nvPr/>
          </p:nvSpPr>
          <p:spPr>
            <a:xfrm>
              <a:off x="810781" y="3715228"/>
              <a:ext cx="216000" cy="216000"/>
            </a:xfrm>
            <a:prstGeom prst="ellipse">
              <a:avLst/>
            </a:prstGeom>
            <a:solidFill>
              <a:srgbClr val="FFFF00"/>
            </a:solidFill>
            <a:ln cap="flat" cmpd="sng" w="1270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2959" name="Google Shape;2959;p72"/>
            <p:cNvSpPr/>
            <p:nvPr/>
          </p:nvSpPr>
          <p:spPr>
            <a:xfrm>
              <a:off x="736857" y="3724022"/>
              <a:ext cx="360996"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12a</a:t>
              </a:r>
              <a:endParaRPr/>
            </a:p>
          </p:txBody>
        </p:sp>
      </p:grpSp>
      <p:sp>
        <p:nvSpPr>
          <p:cNvPr id="2960" name="Google Shape;2960;p72"/>
          <p:cNvSpPr txBox="1"/>
          <p:nvPr/>
        </p:nvSpPr>
        <p:spPr>
          <a:xfrm>
            <a:off x="4033926" y="1538024"/>
            <a:ext cx="2015578"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Accounts receivable</a:t>
            </a:r>
            <a:endParaRPr/>
          </a:p>
        </p:txBody>
      </p:sp>
      <p:sp>
        <p:nvSpPr>
          <p:cNvPr id="2961" name="Google Shape;2961;p72"/>
          <p:cNvSpPr txBox="1"/>
          <p:nvPr/>
        </p:nvSpPr>
        <p:spPr>
          <a:xfrm>
            <a:off x="6252890" y="2028286"/>
            <a:ext cx="1987133"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Accounts payable</a:t>
            </a:r>
            <a:endParaRPr/>
          </a:p>
        </p:txBody>
      </p:sp>
      <p:sp>
        <p:nvSpPr>
          <p:cNvPr id="2962" name="Google Shape;2962;p72"/>
          <p:cNvSpPr txBox="1"/>
          <p:nvPr/>
        </p:nvSpPr>
        <p:spPr>
          <a:xfrm>
            <a:off x="9504213" y="373659"/>
            <a:ext cx="2279791" cy="40011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000">
                <a:solidFill>
                  <a:schemeClr val="accent2"/>
                </a:solidFill>
                <a:latin typeface="Avenir"/>
                <a:ea typeface="Avenir"/>
                <a:cs typeface="Avenir"/>
                <a:sym typeface="Avenir"/>
              </a:rPr>
              <a:t>Sources of funds</a:t>
            </a:r>
            <a:endParaRPr/>
          </a:p>
        </p:txBody>
      </p:sp>
      <p:sp>
        <p:nvSpPr>
          <p:cNvPr id="2963" name="Google Shape;2963;p72"/>
          <p:cNvSpPr txBox="1"/>
          <p:nvPr/>
        </p:nvSpPr>
        <p:spPr>
          <a:xfrm>
            <a:off x="492858" y="373659"/>
            <a:ext cx="1880643" cy="40011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000">
                <a:solidFill>
                  <a:schemeClr val="accent6"/>
                </a:solidFill>
                <a:latin typeface="Avenir"/>
                <a:ea typeface="Avenir"/>
                <a:cs typeface="Avenir"/>
                <a:sym typeface="Avenir"/>
              </a:rPr>
              <a:t>Uses of funds</a:t>
            </a:r>
            <a:endParaRPr/>
          </a:p>
        </p:txBody>
      </p:sp>
      <p:grpSp>
        <p:nvGrpSpPr>
          <p:cNvPr id="2964" name="Google Shape;2964;p72"/>
          <p:cNvGrpSpPr/>
          <p:nvPr/>
        </p:nvGrpSpPr>
        <p:grpSpPr>
          <a:xfrm>
            <a:off x="4247500" y="957969"/>
            <a:ext cx="1620000" cy="613673"/>
            <a:chOff x="3810000" y="2381250"/>
            <a:chExt cx="1390650" cy="1230631"/>
          </a:xfrm>
        </p:grpSpPr>
        <p:sp>
          <p:nvSpPr>
            <p:cNvPr id="2965" name="Google Shape;2965;p72"/>
            <p:cNvSpPr/>
            <p:nvPr/>
          </p:nvSpPr>
          <p:spPr>
            <a:xfrm flipH="1">
              <a:off x="4505325"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2966" name="Google Shape;2966;p72"/>
            <p:cNvSpPr/>
            <p:nvPr/>
          </p:nvSpPr>
          <p:spPr>
            <a:xfrm>
              <a:off x="3810000"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2967" name="Google Shape;2967;p72"/>
          <p:cNvGrpSpPr/>
          <p:nvPr/>
        </p:nvGrpSpPr>
        <p:grpSpPr>
          <a:xfrm>
            <a:off x="2556000" y="4767598"/>
            <a:ext cx="1620000" cy="613673"/>
            <a:chOff x="3810000" y="2381250"/>
            <a:chExt cx="1390650" cy="1230631"/>
          </a:xfrm>
        </p:grpSpPr>
        <p:sp>
          <p:nvSpPr>
            <p:cNvPr id="2968" name="Google Shape;2968;p72"/>
            <p:cNvSpPr/>
            <p:nvPr/>
          </p:nvSpPr>
          <p:spPr>
            <a:xfrm flipH="1">
              <a:off x="4505325" y="2381250"/>
              <a:ext cx="695325" cy="1230631"/>
            </a:xfrm>
            <a:prstGeom prst="corner">
              <a:avLst>
                <a:gd fmla="val 9300"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2969" name="Google Shape;2969;p72"/>
            <p:cNvSpPr/>
            <p:nvPr/>
          </p:nvSpPr>
          <p:spPr>
            <a:xfrm>
              <a:off x="3810000" y="2381250"/>
              <a:ext cx="695325" cy="1230631"/>
            </a:xfrm>
            <a:prstGeom prst="corner">
              <a:avLst>
                <a:gd fmla="val 9300"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2970" name="Google Shape;2970;p72"/>
          <p:cNvGrpSpPr/>
          <p:nvPr/>
        </p:nvGrpSpPr>
        <p:grpSpPr>
          <a:xfrm>
            <a:off x="4292494" y="5448381"/>
            <a:ext cx="1620000" cy="796276"/>
            <a:chOff x="3810000" y="2015069"/>
            <a:chExt cx="1390650" cy="1596814"/>
          </a:xfrm>
        </p:grpSpPr>
        <p:sp>
          <p:nvSpPr>
            <p:cNvPr id="2971" name="Google Shape;2971;p72"/>
            <p:cNvSpPr/>
            <p:nvPr/>
          </p:nvSpPr>
          <p:spPr>
            <a:xfrm flipH="1">
              <a:off x="4505325" y="2015073"/>
              <a:ext cx="695325" cy="1596810"/>
            </a:xfrm>
            <a:prstGeom prst="corner">
              <a:avLst>
                <a:gd fmla="val 7267" name="adj1"/>
                <a:gd fmla="val 7888"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2972" name="Google Shape;2972;p72"/>
            <p:cNvSpPr/>
            <p:nvPr/>
          </p:nvSpPr>
          <p:spPr>
            <a:xfrm>
              <a:off x="3810000" y="2015069"/>
              <a:ext cx="695325" cy="1596812"/>
            </a:xfrm>
            <a:prstGeom prst="corner">
              <a:avLst>
                <a:gd fmla="val 7268" name="adj1"/>
                <a:gd fmla="val 7888"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2973" name="Google Shape;2973;p72"/>
          <p:cNvGrpSpPr/>
          <p:nvPr/>
        </p:nvGrpSpPr>
        <p:grpSpPr>
          <a:xfrm>
            <a:off x="6382456" y="5448381"/>
            <a:ext cx="1620000" cy="796276"/>
            <a:chOff x="3810000" y="2015069"/>
            <a:chExt cx="1390650" cy="1596814"/>
          </a:xfrm>
        </p:grpSpPr>
        <p:sp>
          <p:nvSpPr>
            <p:cNvPr id="2974" name="Google Shape;2974;p72"/>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2975" name="Google Shape;2975;p72"/>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2976" name="Google Shape;2976;p72"/>
          <p:cNvGrpSpPr/>
          <p:nvPr/>
        </p:nvGrpSpPr>
        <p:grpSpPr>
          <a:xfrm>
            <a:off x="9983452" y="3159099"/>
            <a:ext cx="1620000" cy="796276"/>
            <a:chOff x="3810000" y="2015069"/>
            <a:chExt cx="1390650" cy="1596814"/>
          </a:xfrm>
        </p:grpSpPr>
        <p:sp>
          <p:nvSpPr>
            <p:cNvPr id="2977" name="Google Shape;2977;p72"/>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2978" name="Google Shape;2978;p72"/>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2979" name="Google Shape;2979;p72"/>
          <p:cNvGrpSpPr/>
          <p:nvPr/>
        </p:nvGrpSpPr>
        <p:grpSpPr>
          <a:xfrm>
            <a:off x="8214558" y="1260018"/>
            <a:ext cx="1620000" cy="796276"/>
            <a:chOff x="3810000" y="2015069"/>
            <a:chExt cx="1390650" cy="1596814"/>
          </a:xfrm>
        </p:grpSpPr>
        <p:sp>
          <p:nvSpPr>
            <p:cNvPr id="2980" name="Google Shape;2980;p72"/>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2981" name="Google Shape;2981;p72"/>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2982" name="Google Shape;2982;p72"/>
          <p:cNvGrpSpPr/>
          <p:nvPr/>
        </p:nvGrpSpPr>
        <p:grpSpPr>
          <a:xfrm>
            <a:off x="10006085" y="1263488"/>
            <a:ext cx="1620000" cy="796276"/>
            <a:chOff x="3810000" y="2015069"/>
            <a:chExt cx="1390650" cy="1596814"/>
          </a:xfrm>
        </p:grpSpPr>
        <p:sp>
          <p:nvSpPr>
            <p:cNvPr id="2983" name="Google Shape;2983;p72"/>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2984" name="Google Shape;2984;p72"/>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2985" name="Google Shape;2985;p72"/>
          <p:cNvGrpSpPr/>
          <p:nvPr/>
        </p:nvGrpSpPr>
        <p:grpSpPr>
          <a:xfrm>
            <a:off x="6428511" y="1266563"/>
            <a:ext cx="1620000" cy="796276"/>
            <a:chOff x="3810000" y="2015069"/>
            <a:chExt cx="1390650" cy="1596814"/>
          </a:xfrm>
        </p:grpSpPr>
        <p:sp>
          <p:nvSpPr>
            <p:cNvPr id="2986" name="Google Shape;2986;p72"/>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2987" name="Google Shape;2987;p72"/>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sp>
        <p:nvSpPr>
          <p:cNvPr id="2988" name="Google Shape;2988;p72"/>
          <p:cNvSpPr/>
          <p:nvPr/>
        </p:nvSpPr>
        <p:spPr>
          <a:xfrm rot="10800000">
            <a:off x="10548000" y="3653367"/>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2989" name="Google Shape;2989;p72"/>
          <p:cNvSpPr/>
          <p:nvPr/>
        </p:nvSpPr>
        <p:spPr>
          <a:xfrm>
            <a:off x="852876" y="2301814"/>
            <a:ext cx="10744019" cy="1312708"/>
          </a:xfrm>
          <a:prstGeom prst="rect">
            <a:avLst/>
          </a:prstGeom>
          <a:solidFill>
            <a:srgbClr val="F2F2F2">
              <a:alpha val="86666"/>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2990" name="Google Shape;2990;p72"/>
          <p:cNvGrpSpPr/>
          <p:nvPr/>
        </p:nvGrpSpPr>
        <p:grpSpPr>
          <a:xfrm>
            <a:off x="1059434" y="2575166"/>
            <a:ext cx="10188967" cy="756003"/>
            <a:chOff x="926134" y="1719856"/>
            <a:chExt cx="9204181" cy="750146"/>
          </a:xfrm>
        </p:grpSpPr>
        <p:sp>
          <p:nvSpPr>
            <p:cNvPr id="2991" name="Google Shape;2991;p72"/>
            <p:cNvSpPr txBox="1"/>
            <p:nvPr/>
          </p:nvSpPr>
          <p:spPr>
            <a:xfrm>
              <a:off x="1641585" y="1719859"/>
              <a:ext cx="5447935"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139700" marR="0" rtl="0" algn="l">
                <a:spcBef>
                  <a:spcPts val="0"/>
                </a:spcBef>
                <a:spcAft>
                  <a:spcPts val="0"/>
                </a:spcAft>
                <a:buNone/>
              </a:pPr>
              <a:r>
                <a:rPr lang="en-US" sz="2000">
                  <a:solidFill>
                    <a:schemeClr val="dk1"/>
                  </a:solidFill>
                  <a:latin typeface="Calibri"/>
                  <a:ea typeface="Calibri"/>
                  <a:cs typeface="Calibri"/>
                  <a:sym typeface="Calibri"/>
                </a:rPr>
                <a:t>고객 D가 일부 상품을 구매하고, 결제 수단으로 상품권을 제시함.</a:t>
              </a:r>
              <a:endParaRPr sz="2000">
                <a:solidFill>
                  <a:schemeClr val="dk1"/>
                </a:solidFill>
                <a:latin typeface="Avenir"/>
                <a:ea typeface="Avenir"/>
                <a:cs typeface="Avenir"/>
                <a:sym typeface="Avenir"/>
              </a:endParaRPr>
            </a:p>
          </p:txBody>
        </p:sp>
        <p:sp>
          <p:nvSpPr>
            <p:cNvPr id="2992" name="Google Shape;2992;p72"/>
            <p:cNvSpPr txBox="1"/>
            <p:nvPr/>
          </p:nvSpPr>
          <p:spPr>
            <a:xfrm>
              <a:off x="7089520" y="1719858"/>
              <a:ext cx="1520398" cy="745310"/>
            </a:xfrm>
            <a:prstGeom prst="rect">
              <a:avLst/>
            </a:prstGeom>
            <a:solidFill>
              <a:srgbClr val="E1EFD8"/>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Deferred income</a:t>
              </a: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90</a:t>
              </a:r>
              <a:endParaRPr/>
            </a:p>
          </p:txBody>
        </p:sp>
        <p:sp>
          <p:nvSpPr>
            <p:cNvPr id="2993" name="Google Shape;2993;p72"/>
            <p:cNvSpPr txBox="1"/>
            <p:nvPr/>
          </p:nvSpPr>
          <p:spPr>
            <a:xfrm>
              <a:off x="8609917" y="1719858"/>
              <a:ext cx="1520398" cy="745310"/>
            </a:xfrm>
            <a:prstGeom prst="rect">
              <a:avLst/>
            </a:prstGeom>
            <a:solidFill>
              <a:srgbClr val="FBE4D4"/>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Sales</a:t>
              </a:r>
              <a:endParaRPr b="1" sz="1600">
                <a:solidFill>
                  <a:srgbClr val="BFBFBF"/>
                </a:solidFill>
                <a:latin typeface="Avenir"/>
                <a:ea typeface="Avenir"/>
                <a:cs typeface="Avenir"/>
                <a:sym typeface="Aveni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90</a:t>
              </a:r>
              <a:endParaRPr/>
            </a:p>
          </p:txBody>
        </p:sp>
        <p:sp>
          <p:nvSpPr>
            <p:cNvPr id="2994" name="Google Shape;2994;p72"/>
            <p:cNvSpPr txBox="1"/>
            <p:nvPr/>
          </p:nvSpPr>
          <p:spPr>
            <a:xfrm>
              <a:off x="926134" y="1719856"/>
              <a:ext cx="715451"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en-US" sz="2000">
                  <a:solidFill>
                    <a:schemeClr val="dk1"/>
                  </a:solidFill>
                  <a:latin typeface="Avenir"/>
                  <a:ea typeface="Avenir"/>
                  <a:cs typeface="Avenir"/>
                  <a:sym typeface="Avenir"/>
                </a:rPr>
                <a:t>12a</a:t>
              </a:r>
              <a:endParaRPr/>
            </a:p>
          </p:txBody>
        </p:sp>
      </p:grpSp>
      <p:sp>
        <p:nvSpPr>
          <p:cNvPr id="2995" name="Google Shape;2995;p72"/>
          <p:cNvSpPr txBox="1"/>
          <p:nvPr/>
        </p:nvSpPr>
        <p:spPr>
          <a:xfrm>
            <a:off x="7881580" y="2570977"/>
            <a:ext cx="1683070" cy="756000"/>
          </a:xfrm>
          <a:prstGeom prst="rect">
            <a:avLst/>
          </a:prstGeom>
          <a:solidFill>
            <a:srgbClr val="548135"/>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90</a:t>
            </a:r>
            <a:endParaRPr/>
          </a:p>
        </p:txBody>
      </p:sp>
      <p:sp>
        <p:nvSpPr>
          <p:cNvPr id="2996" name="Google Shape;2996;p72"/>
          <p:cNvSpPr txBox="1"/>
          <p:nvPr/>
        </p:nvSpPr>
        <p:spPr>
          <a:xfrm>
            <a:off x="9564650" y="2575090"/>
            <a:ext cx="1683070" cy="756000"/>
          </a:xfrm>
          <a:prstGeom prst="rect">
            <a:avLst/>
          </a:prstGeom>
          <a:solidFill>
            <a:schemeClr val="accent2"/>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90</a:t>
            </a:r>
            <a:endParaRPr/>
          </a:p>
        </p:txBody>
      </p:sp>
      <p:sp>
        <p:nvSpPr>
          <p:cNvPr id="2997" name="Google Shape;2997;p72"/>
          <p:cNvSpPr/>
          <p:nvPr/>
        </p:nvSpPr>
        <p:spPr>
          <a:xfrm>
            <a:off x="11196000" y="839631"/>
            <a:ext cx="950259" cy="1037381"/>
          </a:xfrm>
          <a:prstGeom prst="downArrow">
            <a:avLst>
              <a:gd fmla="val 50000" name="adj1"/>
              <a:gd fmla="val 50000" name="adj2"/>
            </a:avLst>
          </a:prstGeom>
          <a:solidFill>
            <a:schemeClr val="accent6">
              <a:alpha val="77647"/>
            </a:schemeClr>
          </a:solidFill>
          <a:ln>
            <a:noFill/>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998" name="Google Shape;2998;p72"/>
          <p:cNvSpPr/>
          <p:nvPr/>
        </p:nvSpPr>
        <p:spPr>
          <a:xfrm rot="10800000">
            <a:off x="11196000" y="4551867"/>
            <a:ext cx="950259" cy="1037381"/>
          </a:xfrm>
          <a:prstGeom prst="downArrow">
            <a:avLst>
              <a:gd fmla="val 50000" name="adj1"/>
              <a:gd fmla="val 50000" name="adj2"/>
            </a:avLst>
          </a:prstGeom>
          <a:solidFill>
            <a:schemeClr val="accent2">
              <a:alpha val="77647"/>
            </a:schemeClr>
          </a:solidFill>
          <a:ln>
            <a:noFill/>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2999" name="Google Shape;2999;p72"/>
          <p:cNvSpPr txBox="1"/>
          <p:nvPr/>
        </p:nvSpPr>
        <p:spPr>
          <a:xfrm>
            <a:off x="6403128" y="3420567"/>
            <a:ext cx="1548343" cy="566133"/>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490</a:t>
            </a:r>
            <a:endParaRPr sz="2400">
              <a:solidFill>
                <a:schemeClr val="dk1"/>
              </a:solidFill>
              <a:latin typeface="Calibri"/>
              <a:ea typeface="Calibri"/>
              <a:cs typeface="Calibri"/>
              <a:sym typeface="Calibri"/>
            </a:endParaRPr>
          </a:p>
        </p:txBody>
      </p:sp>
      <p:sp>
        <p:nvSpPr>
          <p:cNvPr id="3000" name="Google Shape;3000;p72"/>
          <p:cNvSpPr txBox="1"/>
          <p:nvPr/>
        </p:nvSpPr>
        <p:spPr>
          <a:xfrm>
            <a:off x="6403129" y="3419412"/>
            <a:ext cx="1548343" cy="566133"/>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400</a:t>
            </a:r>
            <a:endParaRPr sz="2400">
              <a:solidFill>
                <a:schemeClr val="dk1"/>
              </a:solidFill>
              <a:latin typeface="Calibri"/>
              <a:ea typeface="Calibri"/>
              <a:cs typeface="Calibri"/>
              <a:sym typeface="Calibri"/>
            </a:endParaRPr>
          </a:p>
        </p:txBody>
      </p:sp>
    </p:spTree>
  </p:cSld>
  <p:clrMapOvr>
    <a:masterClrMapping/>
  </p:clrMapOvr>
  <mc:AlternateContent>
    <mc:Choice Requires="p14">
      <p:transition spd="slow" p14:dur="700">
        <p:fade/>
      </p:transition>
    </mc:Choice>
    <mc:Fallback>
      <p:transition spd="slow">
        <p:fade/>
      </p:transition>
    </mc:Fallback>
  </mc:AlternateContent>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afterEffect" presetClass="exit" presetID="10" presetSubtype="0">
                                  <p:stCondLst>
                                    <p:cond delay="0"/>
                                  </p:stCondLst>
                                  <p:childTnLst>
                                    <p:animEffect filter="fade" transition="out">
                                      <p:cBhvr>
                                        <p:cTn dur="1000"/>
                                        <p:tgtEl>
                                          <p:spTgt spid="2996"/>
                                        </p:tgtEl>
                                      </p:cBhvr>
                                    </p:animEffect>
                                    <p:set>
                                      <p:cBhvr>
                                        <p:cTn dur="1" fill="hold">
                                          <p:stCondLst>
                                            <p:cond delay="1000"/>
                                          </p:stCondLst>
                                        </p:cTn>
                                        <p:tgtEl>
                                          <p:spTgt spid="2996"/>
                                        </p:tgtEl>
                                        <p:attrNameLst>
                                          <p:attrName>style.visibility</p:attrName>
                                        </p:attrNameLst>
                                      </p:cBhvr>
                                      <p:to>
                                        <p:strVal val="hidden"/>
                                      </p:to>
                                    </p:set>
                                  </p:childTnLst>
                                </p:cTn>
                              </p:par>
                              <p:par>
                                <p:cTn fill="hold" nodeType="withEffect" presetClass="entr" presetID="10" presetSubtype="0">
                                  <p:stCondLst>
                                    <p:cond delay="0"/>
                                  </p:stCondLst>
                                  <p:childTnLst>
                                    <p:set>
                                      <p:cBhvr>
                                        <p:cTn dur="1" fill="hold">
                                          <p:stCondLst>
                                            <p:cond delay="0"/>
                                          </p:stCondLst>
                                        </p:cTn>
                                        <p:tgtEl>
                                          <p:spTgt spid="2936"/>
                                        </p:tgtEl>
                                        <p:attrNameLst>
                                          <p:attrName>style.visibility</p:attrName>
                                        </p:attrNameLst>
                                      </p:cBhvr>
                                      <p:to>
                                        <p:strVal val="visible"/>
                                      </p:to>
                                    </p:set>
                                    <p:animEffect filter="fade" transition="in">
                                      <p:cBhvr>
                                        <p:cTn dur="1000"/>
                                        <p:tgtEl>
                                          <p:spTgt spid="2936"/>
                                        </p:tgtEl>
                                      </p:cBhvr>
                                    </p:animEffect>
                                  </p:childTnLst>
                                </p:cTn>
                              </p:par>
                              <p:par>
                                <p:cTn fill="hold" nodeType="withEffect" presetClass="entr" presetID="10" presetSubtype="0">
                                  <p:stCondLst>
                                    <p:cond delay="0"/>
                                  </p:stCondLst>
                                  <p:childTnLst>
                                    <p:set>
                                      <p:cBhvr>
                                        <p:cTn dur="1" fill="hold">
                                          <p:stCondLst>
                                            <p:cond delay="0"/>
                                          </p:stCondLst>
                                        </p:cTn>
                                        <p:tgtEl>
                                          <p:spTgt spid="2873"/>
                                        </p:tgtEl>
                                        <p:attrNameLst>
                                          <p:attrName>style.visibility</p:attrName>
                                        </p:attrNameLst>
                                      </p:cBhvr>
                                      <p:to>
                                        <p:strVal val="visible"/>
                                      </p:to>
                                    </p:set>
                                    <p:animEffect filter="fade" transition="in">
                                      <p:cBhvr>
                                        <p:cTn dur="1000"/>
                                        <p:tgtEl>
                                          <p:spTgt spid="2873"/>
                                        </p:tgtEl>
                                      </p:cBhvr>
                                    </p:animEffect>
                                  </p:childTnLst>
                                </p:cTn>
                              </p:par>
                              <p:par>
                                <p:cTn fill="hold" nodeType="withEffect" presetClass="entr" presetID="10" presetSubtype="0">
                                  <p:stCondLst>
                                    <p:cond delay="0"/>
                                  </p:stCondLst>
                                  <p:childTnLst>
                                    <p:set>
                                      <p:cBhvr>
                                        <p:cTn dur="1" fill="hold">
                                          <p:stCondLst>
                                            <p:cond delay="0"/>
                                          </p:stCondLst>
                                        </p:cTn>
                                        <p:tgtEl>
                                          <p:spTgt spid="2872"/>
                                        </p:tgtEl>
                                        <p:attrNameLst>
                                          <p:attrName>style.visibility</p:attrName>
                                        </p:attrNameLst>
                                      </p:cBhvr>
                                      <p:to>
                                        <p:strVal val="visible"/>
                                      </p:to>
                                    </p:set>
                                    <p:animEffect filter="fade" transition="in">
                                      <p:cBhvr>
                                        <p:cTn dur="1000"/>
                                        <p:tgtEl>
                                          <p:spTgt spid="2872"/>
                                        </p:tgtEl>
                                      </p:cBhvr>
                                    </p:animEffect>
                                  </p:childTnLst>
                                </p:cTn>
                              </p:par>
                            </p:childTnLst>
                          </p:cTn>
                        </p:par>
                        <p:par>
                          <p:cTn fill="hold">
                            <p:stCondLst>
                              <p:cond delay="1000"/>
                            </p:stCondLst>
                            <p:childTnLst>
                              <p:par>
                                <p:cTn fill="hold" nodeType="afterEffect" presetClass="entr" presetID="10" presetSubtype="0">
                                  <p:stCondLst>
                                    <p:cond delay="0"/>
                                  </p:stCondLst>
                                  <p:childTnLst>
                                    <p:set>
                                      <p:cBhvr>
                                        <p:cTn dur="1" fill="hold">
                                          <p:stCondLst>
                                            <p:cond delay="0"/>
                                          </p:stCondLst>
                                        </p:cTn>
                                        <p:tgtEl>
                                          <p:spTgt spid="2999"/>
                                        </p:tgtEl>
                                        <p:attrNameLst>
                                          <p:attrName>style.visibility</p:attrName>
                                        </p:attrNameLst>
                                      </p:cBhvr>
                                      <p:to>
                                        <p:strVal val="visible"/>
                                      </p:to>
                                    </p:set>
                                    <p:animEffect filter="fade" transition="in">
                                      <p:cBhvr>
                                        <p:cTn dur="1000"/>
                                        <p:tgtEl>
                                          <p:spTgt spid="2999"/>
                                        </p:tgtEl>
                                      </p:cBhvr>
                                    </p:animEffect>
                                  </p:childTnLst>
                                </p:cTn>
                              </p:par>
                              <p:par>
                                <p:cTn fill="hold" nodeType="withEffect" presetClass="exit" presetID="10" presetSubtype="0">
                                  <p:stCondLst>
                                    <p:cond delay="0"/>
                                  </p:stCondLst>
                                  <p:childTnLst>
                                    <p:animEffect filter="fade" transition="out">
                                      <p:cBhvr>
                                        <p:cTn dur="500"/>
                                        <p:tgtEl>
                                          <p:spTgt spid="3000"/>
                                        </p:tgtEl>
                                      </p:cBhvr>
                                    </p:animEffect>
                                    <p:set>
                                      <p:cBhvr>
                                        <p:cTn dur="1" fill="hold">
                                          <p:stCondLst>
                                            <p:cond delay="500"/>
                                          </p:stCondLst>
                                        </p:cTn>
                                        <p:tgtEl>
                                          <p:spTgt spid="3000"/>
                                        </p:tgtEl>
                                        <p:attrNameLst>
                                          <p:attrName>style.visibility</p:attrName>
                                        </p:attrNameLst>
                                      </p:cBhvr>
                                      <p:to>
                                        <p:strVal val="hidden"/>
                                      </p:to>
                                    </p:set>
                                  </p:childTnLst>
                                </p:cTn>
                              </p:par>
                            </p:childTnLst>
                          </p:cTn>
                        </p:par>
                        <p:par>
                          <p:cTn fill="hold">
                            <p:stCondLst>
                              <p:cond delay="2000"/>
                            </p:stCondLst>
                            <p:childTnLst>
                              <p:par>
                                <p:cTn fill="hold" nodeType="afterEffect" presetClass="exit" presetID="10" presetSubtype="0">
                                  <p:stCondLst>
                                    <p:cond delay="0"/>
                                  </p:stCondLst>
                                  <p:childTnLst>
                                    <p:animEffect filter="fade" transition="out">
                                      <p:cBhvr>
                                        <p:cTn dur="1000"/>
                                        <p:tgtEl>
                                          <p:spTgt spid="2995"/>
                                        </p:tgtEl>
                                      </p:cBhvr>
                                    </p:animEffect>
                                    <p:set>
                                      <p:cBhvr>
                                        <p:cTn dur="1" fill="hold">
                                          <p:stCondLst>
                                            <p:cond delay="1000"/>
                                          </p:stCondLst>
                                        </p:cTn>
                                        <p:tgtEl>
                                          <p:spTgt spid="2995"/>
                                        </p:tgtEl>
                                        <p:attrNameLst>
                                          <p:attrName>style.visibility</p:attrName>
                                        </p:attrNameLst>
                                      </p:cBhvr>
                                      <p:to>
                                        <p:strVal val="hidden"/>
                                      </p:to>
                                    </p:set>
                                  </p:childTnLst>
                                </p:cTn>
                              </p:par>
                              <p:par>
                                <p:cTn fill="hold" nodeType="withEffect" presetClass="entr" presetID="10" presetSubtype="0">
                                  <p:stCondLst>
                                    <p:cond delay="0"/>
                                  </p:stCondLst>
                                  <p:childTnLst>
                                    <p:set>
                                      <p:cBhvr>
                                        <p:cTn dur="1" fill="hold">
                                          <p:stCondLst>
                                            <p:cond delay="0"/>
                                          </p:stCondLst>
                                        </p:cTn>
                                        <p:tgtEl>
                                          <p:spTgt spid="2957"/>
                                        </p:tgtEl>
                                        <p:attrNameLst>
                                          <p:attrName>style.visibility</p:attrName>
                                        </p:attrNameLst>
                                      </p:cBhvr>
                                      <p:to>
                                        <p:strVal val="visible"/>
                                      </p:to>
                                    </p:set>
                                    <p:animEffect filter="fade" transition="in">
                                      <p:cBhvr>
                                        <p:cTn dur="1000"/>
                                        <p:tgtEl>
                                          <p:spTgt spid="2957"/>
                                        </p:tgtEl>
                                      </p:cBhvr>
                                    </p:animEffect>
                                  </p:childTnLst>
                                </p:cTn>
                              </p:par>
                              <p:par>
                                <p:cTn fill="hold" nodeType="withEffect" presetClass="entr" presetID="10" presetSubtype="0">
                                  <p:stCondLst>
                                    <p:cond delay="0"/>
                                  </p:stCondLst>
                                  <p:childTnLst>
                                    <p:set>
                                      <p:cBhvr>
                                        <p:cTn dur="1" fill="hold">
                                          <p:stCondLst>
                                            <p:cond delay="0"/>
                                          </p:stCondLst>
                                        </p:cTn>
                                        <p:tgtEl>
                                          <p:spTgt spid="2875"/>
                                        </p:tgtEl>
                                        <p:attrNameLst>
                                          <p:attrName>style.visibility</p:attrName>
                                        </p:attrNameLst>
                                      </p:cBhvr>
                                      <p:to>
                                        <p:strVal val="visible"/>
                                      </p:to>
                                    </p:set>
                                    <p:animEffect filter="fade" transition="in">
                                      <p:cBhvr>
                                        <p:cTn dur="1000"/>
                                        <p:tgtEl>
                                          <p:spTgt spid="2875"/>
                                        </p:tgtEl>
                                      </p:cBhvr>
                                    </p:animEffect>
                                  </p:childTnLst>
                                </p:cTn>
                              </p:par>
                              <p:par>
                                <p:cTn fill="hold" nodeType="withEffect" presetClass="entr" presetID="10" presetSubtype="0">
                                  <p:stCondLst>
                                    <p:cond delay="0"/>
                                  </p:stCondLst>
                                  <p:childTnLst>
                                    <p:set>
                                      <p:cBhvr>
                                        <p:cTn dur="1" fill="hold">
                                          <p:stCondLst>
                                            <p:cond delay="0"/>
                                          </p:stCondLst>
                                        </p:cTn>
                                        <p:tgtEl>
                                          <p:spTgt spid="2874"/>
                                        </p:tgtEl>
                                        <p:attrNameLst>
                                          <p:attrName>style.visibility</p:attrName>
                                        </p:attrNameLst>
                                      </p:cBhvr>
                                      <p:to>
                                        <p:strVal val="visible"/>
                                      </p:to>
                                    </p:set>
                                    <p:animEffect filter="fade" transition="in">
                                      <p:cBhvr>
                                        <p:cTn dur="1000"/>
                                        <p:tgtEl>
                                          <p:spTgt spid="287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997"/>
                                        </p:tgtEl>
                                        <p:attrNameLst>
                                          <p:attrName>style.visibility</p:attrName>
                                        </p:attrNameLst>
                                      </p:cBhvr>
                                      <p:to>
                                        <p:strVal val="visible"/>
                                      </p:to>
                                    </p:set>
                                    <p:animEffect filter="fade" transition="in">
                                      <p:cBhvr>
                                        <p:cTn dur="1000"/>
                                        <p:tgtEl>
                                          <p:spTgt spid="2997"/>
                                        </p:tgtEl>
                                      </p:cBhvr>
                                    </p:animEffect>
                                  </p:childTnLst>
                                </p:cTn>
                              </p:par>
                              <p:par>
                                <p:cTn fill="hold" nodeType="withEffect" presetClass="entr" presetID="10" presetSubtype="0">
                                  <p:stCondLst>
                                    <p:cond delay="0"/>
                                  </p:stCondLst>
                                  <p:childTnLst>
                                    <p:set>
                                      <p:cBhvr>
                                        <p:cTn dur="1" fill="hold">
                                          <p:stCondLst>
                                            <p:cond delay="0"/>
                                          </p:stCondLst>
                                        </p:cTn>
                                        <p:tgtEl>
                                          <p:spTgt spid="2998"/>
                                        </p:tgtEl>
                                        <p:attrNameLst>
                                          <p:attrName>style.visibility</p:attrName>
                                        </p:attrNameLst>
                                      </p:cBhvr>
                                      <p:to>
                                        <p:strVal val="visible"/>
                                      </p:to>
                                    </p:set>
                                    <p:animEffect filter="fade" transition="in">
                                      <p:cBhvr>
                                        <p:cTn dur="1000"/>
                                        <p:tgtEl>
                                          <p:spTgt spid="299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2F2F2"/>
        </a:solidFill>
      </p:bgPr>
    </p:bg>
    <p:spTree>
      <p:nvGrpSpPr>
        <p:cNvPr id="3005" name="Shape 3005"/>
        <p:cNvGrpSpPr/>
        <p:nvPr/>
      </p:nvGrpSpPr>
      <p:grpSpPr>
        <a:xfrm>
          <a:off x="0" y="0"/>
          <a:ext cx="0" cy="0"/>
          <a:chOff x="0" y="0"/>
          <a:chExt cx="0" cy="0"/>
        </a:xfrm>
      </p:grpSpPr>
      <p:sp>
        <p:nvSpPr>
          <p:cNvPr id="3006" name="Google Shape;3006;p73"/>
          <p:cNvSpPr txBox="1"/>
          <p:nvPr/>
        </p:nvSpPr>
        <p:spPr>
          <a:xfrm>
            <a:off x="4187006" y="284371"/>
            <a:ext cx="3629520"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grpSp>
        <p:nvGrpSpPr>
          <p:cNvPr id="3007" name="Google Shape;3007;p73"/>
          <p:cNvGrpSpPr/>
          <p:nvPr/>
        </p:nvGrpSpPr>
        <p:grpSpPr>
          <a:xfrm>
            <a:off x="1284576" y="2130924"/>
            <a:ext cx="10188969" cy="756004"/>
            <a:chOff x="926134" y="1719856"/>
            <a:chExt cx="9204181" cy="750147"/>
          </a:xfrm>
        </p:grpSpPr>
        <p:sp>
          <p:nvSpPr>
            <p:cNvPr id="3008" name="Google Shape;3008;p73"/>
            <p:cNvSpPr txBox="1"/>
            <p:nvPr/>
          </p:nvSpPr>
          <p:spPr>
            <a:xfrm>
              <a:off x="1641585" y="1719860"/>
              <a:ext cx="5447935"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139700" marR="0" rtl="0" algn="l">
                <a:spcBef>
                  <a:spcPts val="0"/>
                </a:spcBef>
                <a:spcAft>
                  <a:spcPts val="0"/>
                </a:spcAft>
                <a:buNone/>
              </a:pPr>
              <a:r>
                <a:rPr lang="en-US" sz="2000">
                  <a:solidFill>
                    <a:schemeClr val="dk1"/>
                  </a:solidFill>
                  <a:latin typeface="Calibri"/>
                  <a:ea typeface="Calibri"/>
                  <a:cs typeface="Calibri"/>
                  <a:sym typeface="Calibri"/>
                </a:rPr>
                <a:t>고객 D에게 판매하면서 일부 재고를 사용함.</a:t>
              </a:r>
              <a:endParaRPr sz="2000">
                <a:solidFill>
                  <a:schemeClr val="dk1"/>
                </a:solidFill>
                <a:latin typeface="Avenir"/>
                <a:ea typeface="Avenir"/>
                <a:cs typeface="Avenir"/>
                <a:sym typeface="Avenir"/>
              </a:endParaRPr>
            </a:p>
          </p:txBody>
        </p:sp>
        <p:sp>
          <p:nvSpPr>
            <p:cNvPr id="3009" name="Google Shape;3009;p73"/>
            <p:cNvSpPr txBox="1"/>
            <p:nvPr/>
          </p:nvSpPr>
          <p:spPr>
            <a:xfrm>
              <a:off x="7089520" y="1719858"/>
              <a:ext cx="1520398" cy="745310"/>
            </a:xfrm>
            <a:prstGeom prst="rect">
              <a:avLst/>
            </a:prstGeom>
            <a:solidFill>
              <a:srgbClr val="E1EFD8"/>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Cost of sales</a:t>
              </a: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30</a:t>
              </a:r>
              <a:endParaRPr/>
            </a:p>
          </p:txBody>
        </p:sp>
        <p:sp>
          <p:nvSpPr>
            <p:cNvPr id="3010" name="Google Shape;3010;p73"/>
            <p:cNvSpPr txBox="1"/>
            <p:nvPr/>
          </p:nvSpPr>
          <p:spPr>
            <a:xfrm>
              <a:off x="8609917" y="1719858"/>
              <a:ext cx="1520398" cy="745310"/>
            </a:xfrm>
            <a:prstGeom prst="rect">
              <a:avLst/>
            </a:prstGeom>
            <a:solidFill>
              <a:srgbClr val="FBE4D4"/>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Inventory</a:t>
              </a:r>
              <a:endParaRPr b="1" sz="1600">
                <a:solidFill>
                  <a:srgbClr val="BFBFBF"/>
                </a:solidFill>
                <a:latin typeface="Avenir"/>
                <a:ea typeface="Avenir"/>
                <a:cs typeface="Avenir"/>
                <a:sym typeface="Aveni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30</a:t>
              </a:r>
              <a:endParaRPr/>
            </a:p>
          </p:txBody>
        </p:sp>
        <p:sp>
          <p:nvSpPr>
            <p:cNvPr id="3011" name="Google Shape;3011;p73"/>
            <p:cNvSpPr txBox="1"/>
            <p:nvPr/>
          </p:nvSpPr>
          <p:spPr>
            <a:xfrm>
              <a:off x="926134" y="1719856"/>
              <a:ext cx="715451"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12b</a:t>
              </a:r>
              <a:endParaRPr/>
            </a:p>
          </p:txBody>
        </p:sp>
      </p:grpSp>
      <p:sp>
        <p:nvSpPr>
          <p:cNvPr id="3012" name="Google Shape;3012;p73"/>
          <p:cNvSpPr txBox="1"/>
          <p:nvPr/>
        </p:nvSpPr>
        <p:spPr>
          <a:xfrm>
            <a:off x="8109275" y="2132123"/>
            <a:ext cx="1681200" cy="756000"/>
          </a:xfrm>
          <a:prstGeom prst="rect">
            <a:avLst/>
          </a:prstGeom>
          <a:solidFill>
            <a:srgbClr val="548135"/>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30</a:t>
            </a:r>
            <a:endParaRPr/>
          </a:p>
        </p:txBody>
      </p:sp>
      <p:sp>
        <p:nvSpPr>
          <p:cNvPr id="3013" name="Google Shape;3013;p73"/>
          <p:cNvSpPr txBox="1"/>
          <p:nvPr/>
        </p:nvSpPr>
        <p:spPr>
          <a:xfrm>
            <a:off x="9792345" y="2132123"/>
            <a:ext cx="1681200" cy="756000"/>
          </a:xfrm>
          <a:prstGeom prst="rect">
            <a:avLst/>
          </a:prstGeom>
          <a:solidFill>
            <a:schemeClr val="accent2"/>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30</a:t>
            </a:r>
            <a:endParaRPr/>
          </a:p>
        </p:txBody>
      </p:sp>
      <p:cxnSp>
        <p:nvCxnSpPr>
          <p:cNvPr id="3014" name="Google Shape;3014;p73"/>
          <p:cNvCxnSpPr/>
          <p:nvPr/>
        </p:nvCxnSpPr>
        <p:spPr>
          <a:xfrm>
            <a:off x="4316098" y="717845"/>
            <a:ext cx="3375212" cy="0"/>
          </a:xfrm>
          <a:prstGeom prst="straightConnector1">
            <a:avLst/>
          </a:prstGeom>
          <a:noFill/>
          <a:ln cap="flat" cmpd="sng" w="28575">
            <a:solidFill>
              <a:schemeClr val="accent1"/>
            </a:solidFill>
            <a:prstDash val="dot"/>
            <a:miter lim="800000"/>
            <a:headEnd len="sm" w="sm" type="none"/>
            <a:tailEnd len="sm" w="sm" type="none"/>
          </a:ln>
        </p:spPr>
      </p:cxnSp>
      <p:sp>
        <p:nvSpPr>
          <p:cNvPr id="3015" name="Google Shape;3015;p73"/>
          <p:cNvSpPr/>
          <p:nvPr/>
        </p:nvSpPr>
        <p:spPr>
          <a:xfrm>
            <a:off x="1284578" y="1520543"/>
            <a:ext cx="2024679" cy="42011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2130">
                <a:solidFill>
                  <a:schemeClr val="dk1"/>
                </a:solidFill>
                <a:latin typeface="Avenir"/>
                <a:ea typeface="Avenir"/>
                <a:cs typeface="Avenir"/>
                <a:sym typeface="Avenir"/>
              </a:rPr>
              <a:t>26 February</a:t>
            </a:r>
            <a:endParaRPr sz="2130">
              <a:solidFill>
                <a:schemeClr val="dk1"/>
              </a:solidFill>
              <a:latin typeface="Avenir"/>
              <a:ea typeface="Avenir"/>
              <a:cs typeface="Avenir"/>
              <a:sym typeface="Avenir"/>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0" name="Shape 3020"/>
        <p:cNvGrpSpPr/>
        <p:nvPr/>
      </p:nvGrpSpPr>
      <p:grpSpPr>
        <a:xfrm>
          <a:off x="0" y="0"/>
          <a:ext cx="0" cy="0"/>
          <a:chOff x="0" y="0"/>
          <a:chExt cx="0" cy="0"/>
        </a:xfrm>
      </p:grpSpPr>
      <p:sp>
        <p:nvSpPr>
          <p:cNvPr id="3021" name="Google Shape;3021;p74"/>
          <p:cNvSpPr txBox="1"/>
          <p:nvPr/>
        </p:nvSpPr>
        <p:spPr>
          <a:xfrm>
            <a:off x="4187006" y="133386"/>
            <a:ext cx="3629520"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cxnSp>
        <p:nvCxnSpPr>
          <p:cNvPr id="3022" name="Google Shape;3022;p74"/>
          <p:cNvCxnSpPr/>
          <p:nvPr/>
        </p:nvCxnSpPr>
        <p:spPr>
          <a:xfrm>
            <a:off x="4316098" y="566860"/>
            <a:ext cx="3375212" cy="0"/>
          </a:xfrm>
          <a:prstGeom prst="straightConnector1">
            <a:avLst/>
          </a:prstGeom>
          <a:noFill/>
          <a:ln cap="flat" cmpd="sng" w="28575">
            <a:solidFill>
              <a:schemeClr val="accent1"/>
            </a:solidFill>
            <a:prstDash val="dot"/>
            <a:miter lim="800000"/>
            <a:headEnd len="sm" w="sm" type="none"/>
            <a:tailEnd len="sm" w="sm" type="none"/>
          </a:ln>
        </p:spPr>
      </p:cxnSp>
      <p:grpSp>
        <p:nvGrpSpPr>
          <p:cNvPr id="3023" name="Google Shape;3023;p74"/>
          <p:cNvGrpSpPr/>
          <p:nvPr/>
        </p:nvGrpSpPr>
        <p:grpSpPr>
          <a:xfrm>
            <a:off x="492858" y="773769"/>
            <a:ext cx="11291146" cy="5895963"/>
            <a:chOff x="492858" y="773769"/>
            <a:chExt cx="11291146" cy="5895963"/>
          </a:xfrm>
        </p:grpSpPr>
        <p:sp>
          <p:nvSpPr>
            <p:cNvPr id="3024" name="Google Shape;3024;p74"/>
            <p:cNvSpPr txBox="1"/>
            <p:nvPr/>
          </p:nvSpPr>
          <p:spPr>
            <a:xfrm>
              <a:off x="6227788" y="2623662"/>
              <a:ext cx="5556216" cy="1692844"/>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Equity</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3025" name="Google Shape;3025;p74"/>
            <p:cNvSpPr txBox="1"/>
            <p:nvPr/>
          </p:nvSpPr>
          <p:spPr>
            <a:xfrm>
              <a:off x="6410845" y="3135649"/>
              <a:ext cx="1544844" cy="770509"/>
            </a:xfrm>
            <a:prstGeom prst="rect">
              <a:avLst/>
            </a:prstGeom>
            <a:noFill/>
            <a:ln cap="flat" cmpd="sng" w="5715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ctr">
                <a:lnSpc>
                  <a:spcPct val="120000"/>
                </a:lnSpc>
                <a:spcBef>
                  <a:spcPts val="0"/>
                </a:spcBef>
                <a:spcAft>
                  <a:spcPts val="0"/>
                </a:spcAft>
                <a:buNone/>
              </a:pPr>
              <a:r>
                <a:rPr b="1" lang="en-US" sz="2200">
                  <a:solidFill>
                    <a:srgbClr val="942093"/>
                  </a:solidFill>
                  <a:latin typeface="Avenir"/>
                  <a:ea typeface="Avenir"/>
                  <a:cs typeface="Avenir"/>
                  <a:sym typeface="Avenir"/>
                </a:rPr>
                <a:t>Profit</a:t>
              </a:r>
              <a:endParaRPr/>
            </a:p>
          </p:txBody>
        </p:sp>
        <p:sp>
          <p:nvSpPr>
            <p:cNvPr id="3026" name="Google Shape;3026;p74"/>
            <p:cNvSpPr txBox="1"/>
            <p:nvPr/>
          </p:nvSpPr>
          <p:spPr>
            <a:xfrm>
              <a:off x="6227788" y="773769"/>
              <a:ext cx="5556216" cy="1702674"/>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Liabilities</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grpSp>
          <p:nvGrpSpPr>
            <p:cNvPr id="3027" name="Google Shape;3027;p74"/>
            <p:cNvGrpSpPr/>
            <p:nvPr/>
          </p:nvGrpSpPr>
          <p:grpSpPr>
            <a:xfrm>
              <a:off x="492858" y="3906158"/>
              <a:ext cx="11291146" cy="2763574"/>
              <a:chOff x="1354633" y="4399872"/>
              <a:chExt cx="9550931" cy="2121952"/>
            </a:xfrm>
          </p:grpSpPr>
          <p:sp>
            <p:nvSpPr>
              <p:cNvPr id="3028" name="Google Shape;3028;p74"/>
              <p:cNvSpPr txBox="1"/>
              <p:nvPr/>
            </p:nvSpPr>
            <p:spPr>
              <a:xfrm>
                <a:off x="1354633" y="4813260"/>
                <a:ext cx="9550931" cy="1708564"/>
              </a:xfrm>
              <a:prstGeom prst="rect">
                <a:avLst/>
              </a:prstGeom>
              <a:solidFill>
                <a:srgbClr val="FCECFB"/>
              </a:solidFill>
              <a:ln cap="flat" cmpd="sng" w="7620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b="1" lang="en-US" sz="2800">
                    <a:solidFill>
                      <a:schemeClr val="dk1"/>
                    </a:solidFill>
                    <a:latin typeface="Avenir"/>
                    <a:ea typeface="Avenir"/>
                    <a:cs typeface="Avenir"/>
                    <a:sym typeface="Avenir"/>
                  </a:rPr>
                  <a:t> </a:t>
                </a:r>
                <a:endParaRPr/>
              </a:p>
            </p:txBody>
          </p:sp>
          <p:sp>
            <p:nvSpPr>
              <p:cNvPr id="3029" name="Google Shape;3029;p74"/>
              <p:cNvSpPr txBox="1"/>
              <p:nvPr/>
            </p:nvSpPr>
            <p:spPr>
              <a:xfrm>
                <a:off x="6199863" y="4921166"/>
                <a:ext cx="4576976" cy="1495361"/>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Income</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3030" name="Google Shape;3030;p74"/>
              <p:cNvSpPr txBox="1"/>
              <p:nvPr/>
            </p:nvSpPr>
            <p:spPr>
              <a:xfrm>
                <a:off x="1481256" y="4921166"/>
                <a:ext cx="4552539" cy="1495361"/>
              </a:xfrm>
              <a:prstGeom prst="rect">
                <a:avLst/>
              </a:prstGeom>
              <a:solidFill>
                <a:srgbClr val="E1EFD8"/>
              </a:solid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None/>
                </a:pPr>
                <a:r>
                  <a:rPr b="1" lang="en-US" sz="2800">
                    <a:solidFill>
                      <a:srgbClr val="E1EFD8"/>
                    </a:solidFill>
                    <a:latin typeface="Avenir"/>
                    <a:ea typeface="Avenir"/>
                    <a:cs typeface="Avenir"/>
                    <a:sym typeface="Avenir"/>
                  </a:rPr>
                  <a:t>_</a:t>
                </a:r>
                <a:r>
                  <a:rPr b="1" lang="en-US" sz="2000">
                    <a:solidFill>
                      <a:schemeClr val="dk1"/>
                    </a:solidFill>
                    <a:latin typeface="Avenir"/>
                    <a:ea typeface="Avenir"/>
                    <a:cs typeface="Avenir"/>
                    <a:sym typeface="Avenir"/>
                  </a:rPr>
                  <a:t>Expenses</a:t>
                </a:r>
                <a:endParaRPr b="1" sz="2800">
                  <a:solidFill>
                    <a:schemeClr val="dk1"/>
                  </a:solidFill>
                  <a:latin typeface="Avenir"/>
                  <a:ea typeface="Avenir"/>
                  <a:cs typeface="Avenir"/>
                  <a:sym typeface="Avenir"/>
                </a:endParaRPr>
              </a:p>
            </p:txBody>
          </p:sp>
          <p:cxnSp>
            <p:nvCxnSpPr>
              <p:cNvPr id="3031" name="Google Shape;3031;p74"/>
              <p:cNvCxnSpPr>
                <a:stCxn id="3025" idx="2"/>
              </p:cNvCxnSpPr>
              <p:nvPr/>
            </p:nvCxnSpPr>
            <p:spPr>
              <a:xfrm>
                <a:off x="7013902" y="4399872"/>
                <a:ext cx="7500" cy="434700"/>
              </a:xfrm>
              <a:prstGeom prst="straightConnector1">
                <a:avLst/>
              </a:prstGeom>
              <a:noFill/>
              <a:ln cap="flat" cmpd="sng" w="76200">
                <a:solidFill>
                  <a:srgbClr val="942093"/>
                </a:solidFill>
                <a:prstDash val="solid"/>
                <a:miter lim="800000"/>
                <a:headEnd len="sm" w="sm" type="none"/>
                <a:tailEnd len="sm" w="sm" type="none"/>
              </a:ln>
            </p:spPr>
          </p:cxnSp>
        </p:grpSp>
        <p:sp>
          <p:nvSpPr>
            <p:cNvPr id="3032" name="Google Shape;3032;p74"/>
            <p:cNvSpPr txBox="1"/>
            <p:nvPr/>
          </p:nvSpPr>
          <p:spPr>
            <a:xfrm>
              <a:off x="492858" y="773769"/>
              <a:ext cx="5544457" cy="3542737"/>
            </a:xfrm>
            <a:prstGeom prst="rect">
              <a:avLst/>
            </a:prstGeom>
            <a:solidFill>
              <a:srgbClr val="E1EFD8"/>
            </a:solid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None/>
              </a:pPr>
              <a:r>
                <a:rPr b="1" lang="en-US" sz="2800">
                  <a:solidFill>
                    <a:srgbClr val="E1EFD8"/>
                  </a:solidFill>
                  <a:latin typeface="Avenir"/>
                  <a:ea typeface="Avenir"/>
                  <a:cs typeface="Avenir"/>
                  <a:sym typeface="Avenir"/>
                </a:rPr>
                <a:t>_</a:t>
              </a:r>
              <a:r>
                <a:rPr b="1" lang="en-US" sz="2000">
                  <a:solidFill>
                    <a:schemeClr val="dk1"/>
                  </a:solidFill>
                  <a:latin typeface="Avenir"/>
                  <a:ea typeface="Avenir"/>
                  <a:cs typeface="Avenir"/>
                  <a:sym typeface="Avenir"/>
                </a:rPr>
                <a:t>Assets</a:t>
              </a:r>
              <a:endParaRPr b="1" sz="2800">
                <a:solidFill>
                  <a:schemeClr val="dk1"/>
                </a:solidFill>
                <a:latin typeface="Avenir"/>
                <a:ea typeface="Avenir"/>
                <a:cs typeface="Avenir"/>
                <a:sym typeface="Avenir"/>
              </a:endParaRPr>
            </a:p>
          </p:txBody>
        </p:sp>
      </p:grpSp>
      <p:grpSp>
        <p:nvGrpSpPr>
          <p:cNvPr id="3033" name="Google Shape;3033;p74"/>
          <p:cNvGrpSpPr/>
          <p:nvPr/>
        </p:nvGrpSpPr>
        <p:grpSpPr>
          <a:xfrm>
            <a:off x="4248000" y="2850495"/>
            <a:ext cx="1620000" cy="1116000"/>
            <a:chOff x="3810000" y="2381250"/>
            <a:chExt cx="1390650" cy="1230631"/>
          </a:xfrm>
        </p:grpSpPr>
        <p:sp>
          <p:nvSpPr>
            <p:cNvPr id="3034" name="Google Shape;3034;p74"/>
            <p:cNvSpPr/>
            <p:nvPr/>
          </p:nvSpPr>
          <p:spPr>
            <a:xfrm flipH="1">
              <a:off x="4505325" y="2381250"/>
              <a:ext cx="695325" cy="1230631"/>
            </a:xfrm>
            <a:prstGeom prst="corner">
              <a:avLst>
                <a:gd fmla="val 7073" name="adj1"/>
                <a:gd fmla="val 694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3035" name="Google Shape;3035;p74"/>
            <p:cNvSpPr/>
            <p:nvPr/>
          </p:nvSpPr>
          <p:spPr>
            <a:xfrm>
              <a:off x="3810000" y="2381250"/>
              <a:ext cx="695325" cy="1230631"/>
            </a:xfrm>
            <a:prstGeom prst="corner">
              <a:avLst>
                <a:gd fmla="val 7073" name="adj1"/>
                <a:gd fmla="val 694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3036" name="Google Shape;3036;p74"/>
          <p:cNvGrpSpPr/>
          <p:nvPr/>
        </p:nvGrpSpPr>
        <p:grpSpPr>
          <a:xfrm>
            <a:off x="2458800" y="1713372"/>
            <a:ext cx="1620000" cy="2245325"/>
            <a:chOff x="671549" y="1402787"/>
            <a:chExt cx="1620000" cy="2549293"/>
          </a:xfrm>
        </p:grpSpPr>
        <p:sp>
          <p:nvSpPr>
            <p:cNvPr id="3037" name="Google Shape;3037;p74"/>
            <p:cNvSpPr/>
            <p:nvPr/>
          </p:nvSpPr>
          <p:spPr>
            <a:xfrm flipH="1">
              <a:off x="1481549" y="1402787"/>
              <a:ext cx="810000" cy="2549293"/>
            </a:xfrm>
            <a:prstGeom prst="corner">
              <a:avLst>
                <a:gd fmla="val 6497" name="adj1"/>
                <a:gd fmla="val 694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1800">
                <a:solidFill>
                  <a:schemeClr val="lt1"/>
                </a:solidFill>
                <a:latin typeface="Avenir"/>
                <a:ea typeface="Avenir"/>
                <a:cs typeface="Avenir"/>
                <a:sym typeface="Avenir"/>
              </a:endParaRPr>
            </a:p>
          </p:txBody>
        </p:sp>
        <p:sp>
          <p:nvSpPr>
            <p:cNvPr id="3038" name="Google Shape;3038;p74"/>
            <p:cNvSpPr/>
            <p:nvPr/>
          </p:nvSpPr>
          <p:spPr>
            <a:xfrm>
              <a:off x="671549" y="1402787"/>
              <a:ext cx="810000" cy="2549293"/>
            </a:xfrm>
            <a:prstGeom prst="corner">
              <a:avLst>
                <a:gd fmla="val 6497" name="adj1"/>
                <a:gd fmla="val 7336"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1800">
                <a:solidFill>
                  <a:schemeClr val="lt1"/>
                </a:solidFill>
                <a:latin typeface="Avenir"/>
                <a:ea typeface="Avenir"/>
                <a:cs typeface="Avenir"/>
                <a:sym typeface="Avenir"/>
              </a:endParaRPr>
            </a:p>
          </p:txBody>
        </p:sp>
      </p:grpSp>
      <p:grpSp>
        <p:nvGrpSpPr>
          <p:cNvPr id="3039" name="Google Shape;3039;p74"/>
          <p:cNvGrpSpPr/>
          <p:nvPr/>
        </p:nvGrpSpPr>
        <p:grpSpPr>
          <a:xfrm>
            <a:off x="673200" y="3340800"/>
            <a:ext cx="1620000" cy="613673"/>
            <a:chOff x="3810000" y="2381250"/>
            <a:chExt cx="1390650" cy="1230631"/>
          </a:xfrm>
        </p:grpSpPr>
        <p:sp>
          <p:nvSpPr>
            <p:cNvPr id="3040" name="Google Shape;3040;p74"/>
            <p:cNvSpPr/>
            <p:nvPr/>
          </p:nvSpPr>
          <p:spPr>
            <a:xfrm flipH="1">
              <a:off x="4505325"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3041" name="Google Shape;3041;p74"/>
            <p:cNvSpPr/>
            <p:nvPr/>
          </p:nvSpPr>
          <p:spPr>
            <a:xfrm>
              <a:off x="3810000"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sp>
        <p:nvSpPr>
          <p:cNvPr id="3042" name="Google Shape;3042;p74"/>
          <p:cNvSpPr txBox="1"/>
          <p:nvPr/>
        </p:nvSpPr>
        <p:spPr>
          <a:xfrm>
            <a:off x="2551146" y="3924000"/>
            <a:ext cx="1393331"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Cash at bank</a:t>
            </a:r>
            <a:endParaRPr/>
          </a:p>
        </p:txBody>
      </p:sp>
      <p:sp>
        <p:nvSpPr>
          <p:cNvPr id="3043" name="Google Shape;3043;p74"/>
          <p:cNvSpPr txBox="1"/>
          <p:nvPr/>
        </p:nvSpPr>
        <p:spPr>
          <a:xfrm>
            <a:off x="4292494" y="3924000"/>
            <a:ext cx="1531779"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Inventory</a:t>
            </a:r>
            <a:endParaRPr/>
          </a:p>
        </p:txBody>
      </p:sp>
      <p:sp>
        <p:nvSpPr>
          <p:cNvPr id="3044" name="Google Shape;3044;p74"/>
          <p:cNvSpPr txBox="1"/>
          <p:nvPr/>
        </p:nvSpPr>
        <p:spPr>
          <a:xfrm>
            <a:off x="661400" y="3924000"/>
            <a:ext cx="1647322"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Equipment</a:t>
            </a:r>
            <a:endParaRPr/>
          </a:p>
        </p:txBody>
      </p:sp>
      <p:sp>
        <p:nvSpPr>
          <p:cNvPr id="3045" name="Google Shape;3045;p74"/>
          <p:cNvSpPr txBox="1"/>
          <p:nvPr/>
        </p:nvSpPr>
        <p:spPr>
          <a:xfrm>
            <a:off x="2596439" y="5339671"/>
            <a:ext cx="1590567"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Cleaning</a:t>
            </a:r>
            <a:endParaRPr/>
          </a:p>
        </p:txBody>
      </p:sp>
      <p:sp>
        <p:nvSpPr>
          <p:cNvPr id="3046" name="Google Shape;3046;p74"/>
          <p:cNvSpPr txBox="1"/>
          <p:nvPr/>
        </p:nvSpPr>
        <p:spPr>
          <a:xfrm>
            <a:off x="4306077" y="6192000"/>
            <a:ext cx="1606417"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Cost of sales</a:t>
            </a:r>
            <a:endParaRPr/>
          </a:p>
        </p:txBody>
      </p:sp>
      <p:sp>
        <p:nvSpPr>
          <p:cNvPr id="3047" name="Google Shape;3047;p74"/>
          <p:cNvSpPr txBox="1"/>
          <p:nvPr/>
        </p:nvSpPr>
        <p:spPr>
          <a:xfrm>
            <a:off x="6295758" y="6192000"/>
            <a:ext cx="1842786"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Revenue (sales)</a:t>
            </a:r>
            <a:endParaRPr/>
          </a:p>
        </p:txBody>
      </p:sp>
      <p:sp>
        <p:nvSpPr>
          <p:cNvPr id="3048" name="Google Shape;3048;p74"/>
          <p:cNvSpPr txBox="1"/>
          <p:nvPr/>
        </p:nvSpPr>
        <p:spPr>
          <a:xfrm>
            <a:off x="10028967" y="2029411"/>
            <a:ext cx="1593685"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Bank loan</a:t>
            </a:r>
            <a:endParaRPr/>
          </a:p>
        </p:txBody>
      </p:sp>
      <p:sp>
        <p:nvSpPr>
          <p:cNvPr id="3049" name="Google Shape;3049;p74"/>
          <p:cNvSpPr txBox="1"/>
          <p:nvPr/>
        </p:nvSpPr>
        <p:spPr>
          <a:xfrm>
            <a:off x="8114313" y="2028286"/>
            <a:ext cx="1864201"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Deferred income</a:t>
            </a:r>
            <a:endParaRPr/>
          </a:p>
        </p:txBody>
      </p:sp>
      <p:sp>
        <p:nvSpPr>
          <p:cNvPr id="3050" name="Google Shape;3050;p74"/>
          <p:cNvSpPr txBox="1"/>
          <p:nvPr/>
        </p:nvSpPr>
        <p:spPr>
          <a:xfrm>
            <a:off x="3184560" y="3614709"/>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30,000</a:t>
            </a:r>
            <a:endParaRPr/>
          </a:p>
        </p:txBody>
      </p:sp>
      <p:sp>
        <p:nvSpPr>
          <p:cNvPr id="3051" name="Google Shape;3051;p74"/>
          <p:cNvSpPr txBox="1"/>
          <p:nvPr/>
        </p:nvSpPr>
        <p:spPr>
          <a:xfrm>
            <a:off x="3184560" y="3344709"/>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20,000</a:t>
            </a:r>
            <a:endParaRPr/>
          </a:p>
        </p:txBody>
      </p:sp>
      <p:sp>
        <p:nvSpPr>
          <p:cNvPr id="3052" name="Google Shape;3052;p74"/>
          <p:cNvSpPr txBox="1"/>
          <p:nvPr/>
        </p:nvSpPr>
        <p:spPr>
          <a:xfrm>
            <a:off x="3298373" y="3074709"/>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5,000</a:t>
            </a:r>
            <a:endParaRPr/>
          </a:p>
        </p:txBody>
      </p:sp>
      <p:sp>
        <p:nvSpPr>
          <p:cNvPr id="3053" name="Google Shape;3053;p74"/>
          <p:cNvSpPr txBox="1"/>
          <p:nvPr/>
        </p:nvSpPr>
        <p:spPr>
          <a:xfrm>
            <a:off x="3469894" y="2534709"/>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700</a:t>
            </a:r>
            <a:endParaRPr/>
          </a:p>
        </p:txBody>
      </p:sp>
      <p:sp>
        <p:nvSpPr>
          <p:cNvPr id="3054" name="Google Shape;3054;p74"/>
          <p:cNvSpPr txBox="1"/>
          <p:nvPr/>
        </p:nvSpPr>
        <p:spPr>
          <a:xfrm>
            <a:off x="3583708" y="2264709"/>
            <a:ext cx="412292"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50</a:t>
            </a:r>
            <a:endParaRPr/>
          </a:p>
        </p:txBody>
      </p:sp>
      <p:sp>
        <p:nvSpPr>
          <p:cNvPr id="3055" name="Google Shape;3055;p74"/>
          <p:cNvSpPr txBox="1"/>
          <p:nvPr/>
        </p:nvSpPr>
        <p:spPr>
          <a:xfrm>
            <a:off x="3713366" y="5031445"/>
            <a:ext cx="412292"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50</a:t>
            </a:r>
            <a:endParaRPr/>
          </a:p>
        </p:txBody>
      </p:sp>
      <p:sp>
        <p:nvSpPr>
          <p:cNvPr id="3056" name="Google Shape;3056;p74"/>
          <p:cNvSpPr txBox="1"/>
          <p:nvPr/>
        </p:nvSpPr>
        <p:spPr>
          <a:xfrm>
            <a:off x="3469894" y="1724709"/>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600</a:t>
            </a:r>
            <a:endParaRPr/>
          </a:p>
        </p:txBody>
      </p:sp>
      <p:sp>
        <p:nvSpPr>
          <p:cNvPr id="3057" name="Google Shape;3057;p74"/>
          <p:cNvSpPr txBox="1"/>
          <p:nvPr/>
        </p:nvSpPr>
        <p:spPr>
          <a:xfrm>
            <a:off x="3184560" y="2804709"/>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10,000</a:t>
            </a:r>
            <a:endParaRPr/>
          </a:p>
        </p:txBody>
      </p:sp>
      <p:sp>
        <p:nvSpPr>
          <p:cNvPr id="3058" name="Google Shape;3058;p74"/>
          <p:cNvSpPr txBox="1"/>
          <p:nvPr/>
        </p:nvSpPr>
        <p:spPr>
          <a:xfrm>
            <a:off x="10026434" y="3924000"/>
            <a:ext cx="1757569"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contributed capital</a:t>
            </a:r>
            <a:endParaRPr/>
          </a:p>
        </p:txBody>
      </p:sp>
      <p:sp>
        <p:nvSpPr>
          <p:cNvPr id="3059" name="Google Shape;3059;p74"/>
          <p:cNvSpPr/>
          <p:nvPr/>
        </p:nvSpPr>
        <p:spPr>
          <a:xfrm rot="10800000">
            <a:off x="3011371" y="177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060" name="Google Shape;3060;p74"/>
          <p:cNvSpPr/>
          <p:nvPr/>
        </p:nvSpPr>
        <p:spPr>
          <a:xfrm>
            <a:off x="3011371" y="23367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061" name="Google Shape;3061;p74"/>
          <p:cNvSpPr/>
          <p:nvPr/>
        </p:nvSpPr>
        <p:spPr>
          <a:xfrm rot="10800000">
            <a:off x="3011371" y="258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062" name="Google Shape;3062;p74"/>
          <p:cNvSpPr/>
          <p:nvPr/>
        </p:nvSpPr>
        <p:spPr>
          <a:xfrm>
            <a:off x="3011371" y="28767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063" name="Google Shape;3063;p74"/>
          <p:cNvSpPr/>
          <p:nvPr/>
        </p:nvSpPr>
        <p:spPr>
          <a:xfrm>
            <a:off x="3011371" y="31467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064" name="Google Shape;3064;p74"/>
          <p:cNvSpPr/>
          <p:nvPr/>
        </p:nvSpPr>
        <p:spPr>
          <a:xfrm rot="10800000">
            <a:off x="3011371" y="339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065" name="Google Shape;3065;p74"/>
          <p:cNvSpPr/>
          <p:nvPr/>
        </p:nvSpPr>
        <p:spPr>
          <a:xfrm rot="10800000">
            <a:off x="3011371" y="366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066" name="Google Shape;3066;p74"/>
          <p:cNvSpPr txBox="1"/>
          <p:nvPr/>
        </p:nvSpPr>
        <p:spPr>
          <a:xfrm>
            <a:off x="10785455" y="1718255"/>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30,000</a:t>
            </a:r>
            <a:endParaRPr/>
          </a:p>
        </p:txBody>
      </p:sp>
      <p:sp>
        <p:nvSpPr>
          <p:cNvPr id="3067" name="Google Shape;3067;p74"/>
          <p:cNvSpPr/>
          <p:nvPr/>
        </p:nvSpPr>
        <p:spPr>
          <a:xfrm rot="10800000">
            <a:off x="10548000" y="1757882"/>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3068" name="Google Shape;3068;p74"/>
          <p:cNvSpPr txBox="1"/>
          <p:nvPr/>
        </p:nvSpPr>
        <p:spPr>
          <a:xfrm>
            <a:off x="10776926" y="3605780"/>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20,000</a:t>
            </a:r>
            <a:endParaRPr/>
          </a:p>
        </p:txBody>
      </p:sp>
      <p:sp>
        <p:nvSpPr>
          <p:cNvPr id="3069" name="Google Shape;3069;p74"/>
          <p:cNvSpPr txBox="1"/>
          <p:nvPr/>
        </p:nvSpPr>
        <p:spPr>
          <a:xfrm>
            <a:off x="10732895" y="1448255"/>
            <a:ext cx="86400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5,000</a:t>
            </a:r>
            <a:endParaRPr/>
          </a:p>
        </p:txBody>
      </p:sp>
      <p:sp>
        <p:nvSpPr>
          <p:cNvPr id="3070" name="Google Shape;3070;p74"/>
          <p:cNvSpPr/>
          <p:nvPr/>
        </p:nvSpPr>
        <p:spPr>
          <a:xfrm>
            <a:off x="10548000" y="1505882"/>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548135"/>
              </a:solidFill>
              <a:latin typeface="Calibri"/>
              <a:ea typeface="Calibri"/>
              <a:cs typeface="Calibri"/>
              <a:sym typeface="Calibri"/>
            </a:endParaRPr>
          </a:p>
        </p:txBody>
      </p:sp>
      <p:sp>
        <p:nvSpPr>
          <p:cNvPr id="3071" name="Google Shape;3071;p74"/>
          <p:cNvSpPr txBox="1"/>
          <p:nvPr/>
        </p:nvSpPr>
        <p:spPr>
          <a:xfrm>
            <a:off x="4984560" y="3610092"/>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10,000</a:t>
            </a:r>
            <a:endParaRPr/>
          </a:p>
        </p:txBody>
      </p:sp>
      <p:sp>
        <p:nvSpPr>
          <p:cNvPr id="3072" name="Google Shape;3072;p74"/>
          <p:cNvSpPr txBox="1"/>
          <p:nvPr/>
        </p:nvSpPr>
        <p:spPr>
          <a:xfrm>
            <a:off x="7429894" y="5905082"/>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700</a:t>
            </a:r>
            <a:endParaRPr/>
          </a:p>
        </p:txBody>
      </p:sp>
      <p:sp>
        <p:nvSpPr>
          <p:cNvPr id="3073" name="Google Shape;3073;p74"/>
          <p:cNvSpPr/>
          <p:nvPr/>
        </p:nvSpPr>
        <p:spPr>
          <a:xfrm rot="10800000">
            <a:off x="6984000" y="5943076"/>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3074" name="Google Shape;3074;p74"/>
          <p:cNvSpPr/>
          <p:nvPr/>
        </p:nvSpPr>
        <p:spPr>
          <a:xfrm rot="10800000">
            <a:off x="3096000" y="5082325"/>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075" name="Google Shape;3075;p74"/>
          <p:cNvSpPr txBox="1"/>
          <p:nvPr/>
        </p:nvSpPr>
        <p:spPr>
          <a:xfrm>
            <a:off x="3469894" y="1994709"/>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100</a:t>
            </a:r>
            <a:endParaRPr/>
          </a:p>
        </p:txBody>
      </p:sp>
      <p:sp>
        <p:nvSpPr>
          <p:cNvPr id="3076" name="Google Shape;3076;p74"/>
          <p:cNvSpPr/>
          <p:nvPr/>
        </p:nvSpPr>
        <p:spPr>
          <a:xfrm rot="10800000">
            <a:off x="3007666" y="2049930"/>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077" name="Google Shape;3077;p74"/>
          <p:cNvSpPr txBox="1"/>
          <p:nvPr/>
        </p:nvSpPr>
        <p:spPr>
          <a:xfrm>
            <a:off x="7315968" y="1713373"/>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6,000</a:t>
            </a:r>
            <a:endParaRPr/>
          </a:p>
        </p:txBody>
      </p:sp>
      <p:sp>
        <p:nvSpPr>
          <p:cNvPr id="3078" name="Google Shape;3078;p74"/>
          <p:cNvSpPr/>
          <p:nvPr/>
        </p:nvSpPr>
        <p:spPr>
          <a:xfrm rot="10800000">
            <a:off x="6984000" y="1749046"/>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3079" name="Google Shape;3079;p74"/>
          <p:cNvSpPr txBox="1"/>
          <p:nvPr/>
        </p:nvSpPr>
        <p:spPr>
          <a:xfrm>
            <a:off x="1501235" y="3588336"/>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6,000</a:t>
            </a:r>
            <a:endParaRPr/>
          </a:p>
        </p:txBody>
      </p:sp>
      <p:sp>
        <p:nvSpPr>
          <p:cNvPr id="3080" name="Google Shape;3080;p74"/>
          <p:cNvSpPr/>
          <p:nvPr/>
        </p:nvSpPr>
        <p:spPr>
          <a:xfrm rot="10800000">
            <a:off x="1249425" y="3637660"/>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081" name="Google Shape;3081;p74"/>
          <p:cNvSpPr txBox="1"/>
          <p:nvPr/>
        </p:nvSpPr>
        <p:spPr>
          <a:xfrm>
            <a:off x="5269894" y="3365080"/>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300</a:t>
            </a:r>
            <a:endParaRPr/>
          </a:p>
        </p:txBody>
      </p:sp>
      <p:sp>
        <p:nvSpPr>
          <p:cNvPr id="3082" name="Google Shape;3082;p74"/>
          <p:cNvSpPr/>
          <p:nvPr/>
        </p:nvSpPr>
        <p:spPr>
          <a:xfrm>
            <a:off x="4824000" y="3429341"/>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083" name="Google Shape;3083;p74"/>
          <p:cNvSpPr/>
          <p:nvPr/>
        </p:nvSpPr>
        <p:spPr>
          <a:xfrm rot="10800000">
            <a:off x="4824000" y="3662508"/>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084" name="Google Shape;3084;p74"/>
          <p:cNvSpPr txBox="1"/>
          <p:nvPr/>
        </p:nvSpPr>
        <p:spPr>
          <a:xfrm>
            <a:off x="5305894" y="5893862"/>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300</a:t>
            </a:r>
            <a:endParaRPr/>
          </a:p>
        </p:txBody>
      </p:sp>
      <p:sp>
        <p:nvSpPr>
          <p:cNvPr id="3085" name="Google Shape;3085;p74"/>
          <p:cNvSpPr/>
          <p:nvPr/>
        </p:nvSpPr>
        <p:spPr>
          <a:xfrm rot="10800000">
            <a:off x="4860000" y="5944742"/>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086" name="Google Shape;3086;p74"/>
          <p:cNvSpPr txBox="1"/>
          <p:nvPr/>
        </p:nvSpPr>
        <p:spPr>
          <a:xfrm>
            <a:off x="7429894" y="5645244"/>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600</a:t>
            </a:r>
            <a:endParaRPr/>
          </a:p>
        </p:txBody>
      </p:sp>
      <p:sp>
        <p:nvSpPr>
          <p:cNvPr id="3087" name="Google Shape;3087;p74"/>
          <p:cNvSpPr/>
          <p:nvPr/>
        </p:nvSpPr>
        <p:spPr>
          <a:xfrm rot="10800000">
            <a:off x="6984000" y="5695376"/>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3088" name="Google Shape;3088;p74"/>
          <p:cNvSpPr txBox="1"/>
          <p:nvPr/>
        </p:nvSpPr>
        <p:spPr>
          <a:xfrm>
            <a:off x="5269894" y="1222069"/>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600</a:t>
            </a:r>
            <a:endParaRPr/>
          </a:p>
        </p:txBody>
      </p:sp>
      <p:sp>
        <p:nvSpPr>
          <p:cNvPr id="3089" name="Google Shape;3089;p74"/>
          <p:cNvSpPr/>
          <p:nvPr/>
        </p:nvSpPr>
        <p:spPr>
          <a:xfrm rot="10800000">
            <a:off x="4824771" y="1263348"/>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090" name="Google Shape;3090;p74"/>
          <p:cNvSpPr txBox="1"/>
          <p:nvPr/>
        </p:nvSpPr>
        <p:spPr>
          <a:xfrm>
            <a:off x="5269894" y="3118060"/>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300</a:t>
            </a:r>
            <a:endParaRPr/>
          </a:p>
        </p:txBody>
      </p:sp>
      <p:sp>
        <p:nvSpPr>
          <p:cNvPr id="3091" name="Google Shape;3091;p74"/>
          <p:cNvSpPr/>
          <p:nvPr/>
        </p:nvSpPr>
        <p:spPr>
          <a:xfrm>
            <a:off x="4824000" y="3182321"/>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092" name="Google Shape;3092;p74"/>
          <p:cNvSpPr txBox="1"/>
          <p:nvPr/>
        </p:nvSpPr>
        <p:spPr>
          <a:xfrm>
            <a:off x="5305894" y="5646024"/>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300</a:t>
            </a:r>
            <a:endParaRPr/>
          </a:p>
        </p:txBody>
      </p:sp>
      <p:sp>
        <p:nvSpPr>
          <p:cNvPr id="3093" name="Google Shape;3093;p74"/>
          <p:cNvSpPr/>
          <p:nvPr/>
        </p:nvSpPr>
        <p:spPr>
          <a:xfrm rot="10800000">
            <a:off x="4860000" y="5696904"/>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094" name="Google Shape;3094;p74"/>
          <p:cNvSpPr txBox="1"/>
          <p:nvPr/>
        </p:nvSpPr>
        <p:spPr>
          <a:xfrm>
            <a:off x="3599552" y="4796571"/>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250</a:t>
            </a:r>
            <a:endParaRPr/>
          </a:p>
        </p:txBody>
      </p:sp>
      <p:sp>
        <p:nvSpPr>
          <p:cNvPr id="3095" name="Google Shape;3095;p74"/>
          <p:cNvSpPr/>
          <p:nvPr/>
        </p:nvSpPr>
        <p:spPr>
          <a:xfrm rot="10800000">
            <a:off x="3096000" y="4847451"/>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096" name="Google Shape;3096;p74"/>
          <p:cNvSpPr txBox="1"/>
          <p:nvPr/>
        </p:nvSpPr>
        <p:spPr>
          <a:xfrm>
            <a:off x="7487489" y="1462635"/>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250</a:t>
            </a:r>
            <a:endParaRPr/>
          </a:p>
        </p:txBody>
      </p:sp>
      <p:sp>
        <p:nvSpPr>
          <p:cNvPr id="3097" name="Google Shape;3097;p74"/>
          <p:cNvSpPr/>
          <p:nvPr/>
        </p:nvSpPr>
        <p:spPr>
          <a:xfrm rot="10800000">
            <a:off x="6984000" y="14983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3098" name="Google Shape;3098;p74"/>
          <p:cNvSpPr txBox="1"/>
          <p:nvPr/>
        </p:nvSpPr>
        <p:spPr>
          <a:xfrm>
            <a:off x="9285817" y="1715500"/>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100</a:t>
            </a:r>
            <a:endParaRPr/>
          </a:p>
        </p:txBody>
      </p:sp>
      <p:sp>
        <p:nvSpPr>
          <p:cNvPr id="3099" name="Google Shape;3099;p74"/>
          <p:cNvSpPr/>
          <p:nvPr/>
        </p:nvSpPr>
        <p:spPr>
          <a:xfrm rot="10800000">
            <a:off x="8784000" y="1751173"/>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3100" name="Google Shape;3100;p74"/>
          <p:cNvSpPr txBox="1"/>
          <p:nvPr/>
        </p:nvSpPr>
        <p:spPr>
          <a:xfrm>
            <a:off x="5269894" y="965882"/>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600</a:t>
            </a:r>
            <a:endParaRPr/>
          </a:p>
        </p:txBody>
      </p:sp>
      <p:sp>
        <p:nvSpPr>
          <p:cNvPr id="3101" name="Google Shape;3101;p74"/>
          <p:cNvSpPr/>
          <p:nvPr/>
        </p:nvSpPr>
        <p:spPr>
          <a:xfrm>
            <a:off x="4825605" y="102209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102" name="Google Shape;3102;p74"/>
          <p:cNvSpPr txBox="1"/>
          <p:nvPr/>
        </p:nvSpPr>
        <p:spPr>
          <a:xfrm>
            <a:off x="7543708" y="5375143"/>
            <a:ext cx="412292"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90</a:t>
            </a:r>
            <a:endParaRPr/>
          </a:p>
        </p:txBody>
      </p:sp>
      <p:sp>
        <p:nvSpPr>
          <p:cNvPr id="3103" name="Google Shape;3103;p74"/>
          <p:cNvSpPr/>
          <p:nvPr/>
        </p:nvSpPr>
        <p:spPr>
          <a:xfrm rot="10800000">
            <a:off x="6984000" y="5425275"/>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3104" name="Google Shape;3104;p74"/>
          <p:cNvSpPr txBox="1"/>
          <p:nvPr/>
        </p:nvSpPr>
        <p:spPr>
          <a:xfrm>
            <a:off x="8947923" y="1452209"/>
            <a:ext cx="86400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90</a:t>
            </a:r>
            <a:endParaRPr/>
          </a:p>
        </p:txBody>
      </p:sp>
      <p:sp>
        <p:nvSpPr>
          <p:cNvPr id="3105" name="Google Shape;3105;p74"/>
          <p:cNvSpPr/>
          <p:nvPr/>
        </p:nvSpPr>
        <p:spPr>
          <a:xfrm>
            <a:off x="8784000" y="1505882"/>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548135"/>
              </a:solidFill>
              <a:latin typeface="Calibri"/>
              <a:ea typeface="Calibri"/>
              <a:cs typeface="Calibri"/>
              <a:sym typeface="Calibri"/>
            </a:endParaRPr>
          </a:p>
        </p:txBody>
      </p:sp>
      <p:sp>
        <p:nvSpPr>
          <p:cNvPr id="3106" name="Google Shape;3106;p74"/>
          <p:cNvSpPr txBox="1"/>
          <p:nvPr/>
        </p:nvSpPr>
        <p:spPr>
          <a:xfrm>
            <a:off x="5383708" y="2869537"/>
            <a:ext cx="412292"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30</a:t>
            </a:r>
            <a:endParaRPr/>
          </a:p>
        </p:txBody>
      </p:sp>
      <p:sp>
        <p:nvSpPr>
          <p:cNvPr id="3107" name="Google Shape;3107;p74"/>
          <p:cNvSpPr/>
          <p:nvPr/>
        </p:nvSpPr>
        <p:spPr>
          <a:xfrm>
            <a:off x="4824000" y="293379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108" name="Google Shape;3108;p74"/>
          <p:cNvSpPr txBox="1"/>
          <p:nvPr/>
        </p:nvSpPr>
        <p:spPr>
          <a:xfrm>
            <a:off x="5419708" y="5397501"/>
            <a:ext cx="412292"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30</a:t>
            </a:r>
            <a:endParaRPr/>
          </a:p>
        </p:txBody>
      </p:sp>
      <p:sp>
        <p:nvSpPr>
          <p:cNvPr id="3109" name="Google Shape;3109;p74"/>
          <p:cNvSpPr/>
          <p:nvPr/>
        </p:nvSpPr>
        <p:spPr>
          <a:xfrm rot="10800000">
            <a:off x="4860000" y="5448381"/>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3110" name="Google Shape;3110;p74"/>
          <p:cNvGrpSpPr/>
          <p:nvPr/>
        </p:nvGrpSpPr>
        <p:grpSpPr>
          <a:xfrm>
            <a:off x="2528691" y="1763611"/>
            <a:ext cx="309700" cy="223916"/>
            <a:chOff x="756599" y="3715227"/>
            <a:chExt cx="321512" cy="232456"/>
          </a:xfrm>
        </p:grpSpPr>
        <p:sp>
          <p:nvSpPr>
            <p:cNvPr id="3111" name="Google Shape;3111;p74"/>
            <p:cNvSpPr/>
            <p:nvPr/>
          </p:nvSpPr>
          <p:spPr>
            <a:xfrm>
              <a:off x="810780" y="3715227"/>
              <a:ext cx="224238" cy="224238"/>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112" name="Google Shape;3112;p74"/>
            <p:cNvSpPr/>
            <p:nvPr/>
          </p:nvSpPr>
          <p:spPr>
            <a:xfrm>
              <a:off x="756599" y="3724022"/>
              <a:ext cx="321512" cy="223661"/>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11</a:t>
              </a:r>
              <a:endParaRPr/>
            </a:p>
          </p:txBody>
        </p:sp>
      </p:grpSp>
      <p:grpSp>
        <p:nvGrpSpPr>
          <p:cNvPr id="3113" name="Google Shape;3113;p74"/>
          <p:cNvGrpSpPr/>
          <p:nvPr/>
        </p:nvGrpSpPr>
        <p:grpSpPr>
          <a:xfrm>
            <a:off x="2528691" y="2037441"/>
            <a:ext cx="309700" cy="223916"/>
            <a:chOff x="756599" y="3715227"/>
            <a:chExt cx="321512" cy="232456"/>
          </a:xfrm>
        </p:grpSpPr>
        <p:sp>
          <p:nvSpPr>
            <p:cNvPr id="3114" name="Google Shape;3114;p74"/>
            <p:cNvSpPr/>
            <p:nvPr/>
          </p:nvSpPr>
          <p:spPr>
            <a:xfrm>
              <a:off x="810780" y="3715227"/>
              <a:ext cx="224238" cy="224238"/>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115" name="Google Shape;3115;p74"/>
            <p:cNvSpPr/>
            <p:nvPr/>
          </p:nvSpPr>
          <p:spPr>
            <a:xfrm>
              <a:off x="756599" y="3724022"/>
              <a:ext cx="321512" cy="223661"/>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10</a:t>
              </a:r>
              <a:endParaRPr/>
            </a:p>
          </p:txBody>
        </p:sp>
      </p:grpSp>
      <p:grpSp>
        <p:nvGrpSpPr>
          <p:cNvPr id="3116" name="Google Shape;3116;p74"/>
          <p:cNvGrpSpPr/>
          <p:nvPr/>
        </p:nvGrpSpPr>
        <p:grpSpPr>
          <a:xfrm>
            <a:off x="2568712" y="2307277"/>
            <a:ext cx="247184" cy="223916"/>
            <a:chOff x="797287" y="3715227"/>
            <a:chExt cx="256611" cy="232456"/>
          </a:xfrm>
        </p:grpSpPr>
        <p:sp>
          <p:nvSpPr>
            <p:cNvPr id="3117" name="Google Shape;3117;p74"/>
            <p:cNvSpPr/>
            <p:nvPr/>
          </p:nvSpPr>
          <p:spPr>
            <a:xfrm>
              <a:off x="810780" y="3715227"/>
              <a:ext cx="224238" cy="224238"/>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118" name="Google Shape;3118;p74"/>
            <p:cNvSpPr/>
            <p:nvPr/>
          </p:nvSpPr>
          <p:spPr>
            <a:xfrm>
              <a:off x="797287" y="3724022"/>
              <a:ext cx="256611" cy="223661"/>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7</a:t>
              </a:r>
              <a:endParaRPr/>
            </a:p>
          </p:txBody>
        </p:sp>
      </p:grpSp>
      <p:grpSp>
        <p:nvGrpSpPr>
          <p:cNvPr id="3119" name="Google Shape;3119;p74"/>
          <p:cNvGrpSpPr/>
          <p:nvPr/>
        </p:nvGrpSpPr>
        <p:grpSpPr>
          <a:xfrm>
            <a:off x="2530414" y="2567405"/>
            <a:ext cx="300083" cy="223917"/>
            <a:chOff x="761592" y="3715226"/>
            <a:chExt cx="311527" cy="232457"/>
          </a:xfrm>
        </p:grpSpPr>
        <p:sp>
          <p:nvSpPr>
            <p:cNvPr id="3120" name="Google Shape;3120;p74"/>
            <p:cNvSpPr/>
            <p:nvPr/>
          </p:nvSpPr>
          <p:spPr>
            <a:xfrm>
              <a:off x="810780" y="3715226"/>
              <a:ext cx="224238" cy="224238"/>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121" name="Google Shape;3121;p74"/>
            <p:cNvSpPr/>
            <p:nvPr/>
          </p:nvSpPr>
          <p:spPr>
            <a:xfrm>
              <a:off x="761592" y="3724022"/>
              <a:ext cx="311527" cy="223661"/>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6a</a:t>
              </a:r>
              <a:endParaRPr/>
            </a:p>
          </p:txBody>
        </p:sp>
      </p:grpSp>
      <p:grpSp>
        <p:nvGrpSpPr>
          <p:cNvPr id="3122" name="Google Shape;3122;p74"/>
          <p:cNvGrpSpPr/>
          <p:nvPr/>
        </p:nvGrpSpPr>
        <p:grpSpPr>
          <a:xfrm>
            <a:off x="2574025" y="2841900"/>
            <a:ext cx="245580" cy="224238"/>
            <a:chOff x="802803" y="3715228"/>
            <a:chExt cx="245580" cy="224238"/>
          </a:xfrm>
        </p:grpSpPr>
        <p:sp>
          <p:nvSpPr>
            <p:cNvPr id="3123" name="Google Shape;3123;p74"/>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124" name="Google Shape;3124;p74"/>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5</a:t>
              </a:r>
              <a:endParaRPr/>
            </a:p>
          </p:txBody>
        </p:sp>
      </p:grpSp>
      <p:grpSp>
        <p:nvGrpSpPr>
          <p:cNvPr id="3125" name="Google Shape;3125;p74"/>
          <p:cNvGrpSpPr/>
          <p:nvPr/>
        </p:nvGrpSpPr>
        <p:grpSpPr>
          <a:xfrm>
            <a:off x="2574025" y="3121887"/>
            <a:ext cx="245580" cy="224238"/>
            <a:chOff x="802803" y="3715228"/>
            <a:chExt cx="245580" cy="224238"/>
          </a:xfrm>
        </p:grpSpPr>
        <p:sp>
          <p:nvSpPr>
            <p:cNvPr id="3126" name="Google Shape;3126;p74"/>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127" name="Google Shape;3127;p74"/>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3</a:t>
              </a:r>
              <a:endParaRPr/>
            </a:p>
          </p:txBody>
        </p:sp>
      </p:grpSp>
      <p:grpSp>
        <p:nvGrpSpPr>
          <p:cNvPr id="3128" name="Google Shape;3128;p74"/>
          <p:cNvGrpSpPr/>
          <p:nvPr/>
        </p:nvGrpSpPr>
        <p:grpSpPr>
          <a:xfrm>
            <a:off x="2574025" y="3385828"/>
            <a:ext cx="245580" cy="224238"/>
            <a:chOff x="802803" y="3715228"/>
            <a:chExt cx="245580" cy="224238"/>
          </a:xfrm>
        </p:grpSpPr>
        <p:sp>
          <p:nvSpPr>
            <p:cNvPr id="3129" name="Google Shape;3129;p74"/>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130" name="Google Shape;3130;p74"/>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2</a:t>
              </a:r>
              <a:endParaRPr/>
            </a:p>
          </p:txBody>
        </p:sp>
      </p:grpSp>
      <p:grpSp>
        <p:nvGrpSpPr>
          <p:cNvPr id="3131" name="Google Shape;3131;p74"/>
          <p:cNvGrpSpPr/>
          <p:nvPr/>
        </p:nvGrpSpPr>
        <p:grpSpPr>
          <a:xfrm>
            <a:off x="2574025" y="3649299"/>
            <a:ext cx="245580" cy="224238"/>
            <a:chOff x="802803" y="3715228"/>
            <a:chExt cx="245580" cy="224238"/>
          </a:xfrm>
        </p:grpSpPr>
        <p:sp>
          <p:nvSpPr>
            <p:cNvPr id="3132" name="Google Shape;3132;p74"/>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133" name="Google Shape;3133;p74"/>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a:t>
              </a:r>
              <a:endParaRPr/>
            </a:p>
          </p:txBody>
        </p:sp>
      </p:grpSp>
      <p:grpSp>
        <p:nvGrpSpPr>
          <p:cNvPr id="3134" name="Google Shape;3134;p74"/>
          <p:cNvGrpSpPr/>
          <p:nvPr/>
        </p:nvGrpSpPr>
        <p:grpSpPr>
          <a:xfrm>
            <a:off x="10117559" y="1755851"/>
            <a:ext cx="245580" cy="224238"/>
            <a:chOff x="802803" y="3715228"/>
            <a:chExt cx="245580" cy="224238"/>
          </a:xfrm>
        </p:grpSpPr>
        <p:sp>
          <p:nvSpPr>
            <p:cNvPr id="3135" name="Google Shape;3135;p74"/>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136" name="Google Shape;3136;p74"/>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a:t>
              </a:r>
              <a:endParaRPr/>
            </a:p>
          </p:txBody>
        </p:sp>
      </p:grpSp>
      <p:grpSp>
        <p:nvGrpSpPr>
          <p:cNvPr id="3137" name="Google Shape;3137;p74"/>
          <p:cNvGrpSpPr/>
          <p:nvPr/>
        </p:nvGrpSpPr>
        <p:grpSpPr>
          <a:xfrm>
            <a:off x="10116000" y="3650400"/>
            <a:ext cx="245580" cy="224238"/>
            <a:chOff x="802803" y="3715228"/>
            <a:chExt cx="245580" cy="224238"/>
          </a:xfrm>
        </p:grpSpPr>
        <p:sp>
          <p:nvSpPr>
            <p:cNvPr id="3138" name="Google Shape;3138;p74"/>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139" name="Google Shape;3139;p74"/>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2</a:t>
              </a:r>
              <a:endParaRPr/>
            </a:p>
          </p:txBody>
        </p:sp>
      </p:grpSp>
      <p:grpSp>
        <p:nvGrpSpPr>
          <p:cNvPr id="3140" name="Google Shape;3140;p74"/>
          <p:cNvGrpSpPr/>
          <p:nvPr/>
        </p:nvGrpSpPr>
        <p:grpSpPr>
          <a:xfrm>
            <a:off x="10117837" y="1489299"/>
            <a:ext cx="245580" cy="224238"/>
            <a:chOff x="802803" y="3715228"/>
            <a:chExt cx="245580" cy="224238"/>
          </a:xfrm>
        </p:grpSpPr>
        <p:sp>
          <p:nvSpPr>
            <p:cNvPr id="3141" name="Google Shape;3141;p74"/>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142" name="Google Shape;3142;p74"/>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3</a:t>
              </a:r>
              <a:endParaRPr/>
            </a:p>
          </p:txBody>
        </p:sp>
      </p:grpSp>
      <p:grpSp>
        <p:nvGrpSpPr>
          <p:cNvPr id="3143" name="Google Shape;3143;p74"/>
          <p:cNvGrpSpPr/>
          <p:nvPr/>
        </p:nvGrpSpPr>
        <p:grpSpPr>
          <a:xfrm>
            <a:off x="6553087" y="1741845"/>
            <a:ext cx="245580" cy="224238"/>
            <a:chOff x="802803" y="3715228"/>
            <a:chExt cx="245580" cy="224238"/>
          </a:xfrm>
        </p:grpSpPr>
        <p:sp>
          <p:nvSpPr>
            <p:cNvPr id="3144" name="Google Shape;3144;p74"/>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145" name="Google Shape;3145;p74"/>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4</a:t>
              </a:r>
              <a:endParaRPr/>
            </a:p>
          </p:txBody>
        </p:sp>
      </p:grpSp>
      <p:grpSp>
        <p:nvGrpSpPr>
          <p:cNvPr id="3146" name="Google Shape;3146;p74"/>
          <p:cNvGrpSpPr/>
          <p:nvPr/>
        </p:nvGrpSpPr>
        <p:grpSpPr>
          <a:xfrm>
            <a:off x="784605" y="3629276"/>
            <a:ext cx="245580" cy="224238"/>
            <a:chOff x="802803" y="3715228"/>
            <a:chExt cx="245580" cy="224238"/>
          </a:xfrm>
        </p:grpSpPr>
        <p:sp>
          <p:nvSpPr>
            <p:cNvPr id="3147" name="Google Shape;3147;p74"/>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148" name="Google Shape;3148;p74"/>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4</a:t>
              </a:r>
              <a:endParaRPr/>
            </a:p>
          </p:txBody>
        </p:sp>
      </p:grpSp>
      <p:grpSp>
        <p:nvGrpSpPr>
          <p:cNvPr id="3149" name="Google Shape;3149;p74"/>
          <p:cNvGrpSpPr/>
          <p:nvPr/>
        </p:nvGrpSpPr>
        <p:grpSpPr>
          <a:xfrm>
            <a:off x="4359077" y="3641899"/>
            <a:ext cx="245580" cy="224238"/>
            <a:chOff x="802803" y="3715228"/>
            <a:chExt cx="245580" cy="224238"/>
          </a:xfrm>
        </p:grpSpPr>
        <p:sp>
          <p:nvSpPr>
            <p:cNvPr id="3150" name="Google Shape;3150;p74"/>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151" name="Google Shape;3151;p74"/>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5</a:t>
              </a:r>
              <a:endParaRPr/>
            </a:p>
          </p:txBody>
        </p:sp>
      </p:grpSp>
      <p:grpSp>
        <p:nvGrpSpPr>
          <p:cNvPr id="3152" name="Google Shape;3152;p74"/>
          <p:cNvGrpSpPr/>
          <p:nvPr/>
        </p:nvGrpSpPr>
        <p:grpSpPr>
          <a:xfrm>
            <a:off x="6484980" y="5931080"/>
            <a:ext cx="300082" cy="224238"/>
            <a:chOff x="775552" y="3715228"/>
            <a:chExt cx="300082" cy="224238"/>
          </a:xfrm>
        </p:grpSpPr>
        <p:sp>
          <p:nvSpPr>
            <p:cNvPr id="3153" name="Google Shape;3153;p74"/>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154" name="Google Shape;3154;p74"/>
            <p:cNvSpPr/>
            <p:nvPr/>
          </p:nvSpPr>
          <p:spPr>
            <a:xfrm>
              <a:off x="775552" y="3724022"/>
              <a:ext cx="300082"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6a</a:t>
              </a:r>
              <a:endParaRPr/>
            </a:p>
          </p:txBody>
        </p:sp>
      </p:grpSp>
      <p:grpSp>
        <p:nvGrpSpPr>
          <p:cNvPr id="3155" name="Google Shape;3155;p74"/>
          <p:cNvGrpSpPr/>
          <p:nvPr/>
        </p:nvGrpSpPr>
        <p:grpSpPr>
          <a:xfrm>
            <a:off x="4325561" y="3388584"/>
            <a:ext cx="309700" cy="224238"/>
            <a:chOff x="770743" y="3715228"/>
            <a:chExt cx="309700" cy="224238"/>
          </a:xfrm>
        </p:grpSpPr>
        <p:sp>
          <p:nvSpPr>
            <p:cNvPr id="3156" name="Google Shape;3156;p74"/>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157" name="Google Shape;3157;p74"/>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6b</a:t>
              </a:r>
              <a:endParaRPr/>
            </a:p>
          </p:txBody>
        </p:sp>
      </p:grpSp>
      <p:grpSp>
        <p:nvGrpSpPr>
          <p:cNvPr id="3158" name="Google Shape;3158;p74"/>
          <p:cNvGrpSpPr/>
          <p:nvPr/>
        </p:nvGrpSpPr>
        <p:grpSpPr>
          <a:xfrm>
            <a:off x="4372912" y="5940000"/>
            <a:ext cx="309700" cy="224238"/>
            <a:chOff x="770743" y="3715228"/>
            <a:chExt cx="309700" cy="224238"/>
          </a:xfrm>
        </p:grpSpPr>
        <p:sp>
          <p:nvSpPr>
            <p:cNvPr id="3159" name="Google Shape;3159;p74"/>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160" name="Google Shape;3160;p74"/>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6b</a:t>
              </a:r>
              <a:endParaRPr/>
            </a:p>
          </p:txBody>
        </p:sp>
      </p:grpSp>
      <p:grpSp>
        <p:nvGrpSpPr>
          <p:cNvPr id="3161" name="Google Shape;3161;p74"/>
          <p:cNvGrpSpPr/>
          <p:nvPr/>
        </p:nvGrpSpPr>
        <p:grpSpPr>
          <a:xfrm>
            <a:off x="4330045" y="3136880"/>
            <a:ext cx="309700" cy="224238"/>
            <a:chOff x="770743" y="3715228"/>
            <a:chExt cx="309700" cy="224238"/>
          </a:xfrm>
        </p:grpSpPr>
        <p:sp>
          <p:nvSpPr>
            <p:cNvPr id="3162" name="Google Shape;3162;p74"/>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163" name="Google Shape;3163;p74"/>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8b</a:t>
              </a:r>
              <a:endParaRPr/>
            </a:p>
          </p:txBody>
        </p:sp>
      </p:grpSp>
      <p:grpSp>
        <p:nvGrpSpPr>
          <p:cNvPr id="3164" name="Google Shape;3164;p74"/>
          <p:cNvGrpSpPr/>
          <p:nvPr/>
        </p:nvGrpSpPr>
        <p:grpSpPr>
          <a:xfrm>
            <a:off x="4377396" y="5681195"/>
            <a:ext cx="309700" cy="224238"/>
            <a:chOff x="770743" y="3715228"/>
            <a:chExt cx="309700" cy="224238"/>
          </a:xfrm>
        </p:grpSpPr>
        <p:sp>
          <p:nvSpPr>
            <p:cNvPr id="3165" name="Google Shape;3165;p74"/>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166" name="Google Shape;3166;p74"/>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8b</a:t>
              </a:r>
              <a:endParaRPr/>
            </a:p>
          </p:txBody>
        </p:sp>
      </p:grpSp>
      <p:grpSp>
        <p:nvGrpSpPr>
          <p:cNvPr id="3167" name="Google Shape;3167;p74"/>
          <p:cNvGrpSpPr/>
          <p:nvPr/>
        </p:nvGrpSpPr>
        <p:grpSpPr>
          <a:xfrm>
            <a:off x="4298376" y="2880000"/>
            <a:ext cx="368899" cy="223200"/>
            <a:chOff x="740286" y="3715228"/>
            <a:chExt cx="370615" cy="224238"/>
          </a:xfrm>
        </p:grpSpPr>
        <p:sp>
          <p:nvSpPr>
            <p:cNvPr id="3168" name="Google Shape;3168;p74"/>
            <p:cNvSpPr/>
            <p:nvPr/>
          </p:nvSpPr>
          <p:spPr>
            <a:xfrm>
              <a:off x="810781" y="3715228"/>
              <a:ext cx="216000" cy="216000"/>
            </a:xfrm>
            <a:prstGeom prst="ellipse">
              <a:avLst/>
            </a:prstGeom>
            <a:solidFill>
              <a:srgbClr val="FFFF00"/>
            </a:solidFill>
            <a:ln cap="flat" cmpd="sng" w="1270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169" name="Google Shape;3169;p74"/>
            <p:cNvSpPr/>
            <p:nvPr/>
          </p:nvSpPr>
          <p:spPr>
            <a:xfrm>
              <a:off x="740286" y="3724022"/>
              <a:ext cx="370615"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12b</a:t>
              </a:r>
              <a:endParaRPr/>
            </a:p>
          </p:txBody>
        </p:sp>
      </p:grpSp>
      <p:grpSp>
        <p:nvGrpSpPr>
          <p:cNvPr id="3170" name="Google Shape;3170;p74"/>
          <p:cNvGrpSpPr/>
          <p:nvPr/>
        </p:nvGrpSpPr>
        <p:grpSpPr>
          <a:xfrm>
            <a:off x="4345727" y="5432633"/>
            <a:ext cx="370614" cy="347348"/>
            <a:chOff x="740286" y="3715228"/>
            <a:chExt cx="370614" cy="347348"/>
          </a:xfrm>
        </p:grpSpPr>
        <p:sp>
          <p:nvSpPr>
            <p:cNvPr id="3171" name="Google Shape;3171;p74"/>
            <p:cNvSpPr/>
            <p:nvPr/>
          </p:nvSpPr>
          <p:spPr>
            <a:xfrm>
              <a:off x="810781" y="3715228"/>
              <a:ext cx="216000" cy="216000"/>
            </a:xfrm>
            <a:prstGeom prst="ellipse">
              <a:avLst/>
            </a:prstGeom>
            <a:solidFill>
              <a:srgbClr val="FFFF00"/>
            </a:solidFill>
            <a:ln cap="flat" cmpd="sng" w="1270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172" name="Google Shape;3172;p74"/>
            <p:cNvSpPr/>
            <p:nvPr/>
          </p:nvSpPr>
          <p:spPr>
            <a:xfrm>
              <a:off x="740286" y="3724022"/>
              <a:ext cx="370614" cy="33855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12b</a:t>
              </a:r>
              <a:endParaRPr/>
            </a:p>
            <a:p>
              <a:pPr indent="0" lvl="0" marL="0" marR="0" rtl="0" algn="ctr">
                <a:spcBef>
                  <a:spcPts val="0"/>
                </a:spcBef>
                <a:spcAft>
                  <a:spcPts val="0"/>
                </a:spcAft>
                <a:buNone/>
              </a:pPr>
              <a:r>
                <a:t/>
              </a:r>
              <a:endParaRPr b="1" sz="800">
                <a:solidFill>
                  <a:srgbClr val="7F7F7F"/>
                </a:solidFill>
                <a:latin typeface="Avenir"/>
                <a:ea typeface="Avenir"/>
                <a:cs typeface="Avenir"/>
                <a:sym typeface="Avenir"/>
              </a:endParaRPr>
            </a:p>
          </p:txBody>
        </p:sp>
      </p:grpSp>
      <p:grpSp>
        <p:nvGrpSpPr>
          <p:cNvPr id="3173" name="Google Shape;3173;p74"/>
          <p:cNvGrpSpPr/>
          <p:nvPr/>
        </p:nvGrpSpPr>
        <p:grpSpPr>
          <a:xfrm>
            <a:off x="6484980" y="5676798"/>
            <a:ext cx="300082" cy="224238"/>
            <a:chOff x="775552" y="3715228"/>
            <a:chExt cx="300082" cy="224238"/>
          </a:xfrm>
        </p:grpSpPr>
        <p:sp>
          <p:nvSpPr>
            <p:cNvPr id="3174" name="Google Shape;3174;p74"/>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175" name="Google Shape;3175;p74"/>
            <p:cNvSpPr/>
            <p:nvPr/>
          </p:nvSpPr>
          <p:spPr>
            <a:xfrm>
              <a:off x="775552" y="3724022"/>
              <a:ext cx="300082"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8a</a:t>
              </a:r>
              <a:endParaRPr/>
            </a:p>
          </p:txBody>
        </p:sp>
      </p:grpSp>
      <p:grpSp>
        <p:nvGrpSpPr>
          <p:cNvPr id="3176" name="Google Shape;3176;p74"/>
          <p:cNvGrpSpPr/>
          <p:nvPr/>
        </p:nvGrpSpPr>
        <p:grpSpPr>
          <a:xfrm>
            <a:off x="6448807" y="5416132"/>
            <a:ext cx="360996" cy="224238"/>
            <a:chOff x="736857" y="3715228"/>
            <a:chExt cx="360996" cy="224238"/>
          </a:xfrm>
        </p:grpSpPr>
        <p:sp>
          <p:nvSpPr>
            <p:cNvPr id="3177" name="Google Shape;3177;p74"/>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178" name="Google Shape;3178;p74"/>
            <p:cNvSpPr/>
            <p:nvPr/>
          </p:nvSpPr>
          <p:spPr>
            <a:xfrm>
              <a:off x="736857" y="3724022"/>
              <a:ext cx="360996"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12a</a:t>
              </a:r>
              <a:endParaRPr/>
            </a:p>
          </p:txBody>
        </p:sp>
      </p:grpSp>
      <p:grpSp>
        <p:nvGrpSpPr>
          <p:cNvPr id="3179" name="Google Shape;3179;p74"/>
          <p:cNvGrpSpPr/>
          <p:nvPr/>
        </p:nvGrpSpPr>
        <p:grpSpPr>
          <a:xfrm>
            <a:off x="2681463" y="5057611"/>
            <a:ext cx="245580" cy="224238"/>
            <a:chOff x="802803" y="3715228"/>
            <a:chExt cx="245580" cy="224238"/>
          </a:xfrm>
        </p:grpSpPr>
        <p:sp>
          <p:nvSpPr>
            <p:cNvPr id="3180" name="Google Shape;3180;p74"/>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181" name="Google Shape;3181;p74"/>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7</a:t>
              </a:r>
              <a:endParaRPr/>
            </a:p>
          </p:txBody>
        </p:sp>
      </p:grpSp>
      <p:grpSp>
        <p:nvGrpSpPr>
          <p:cNvPr id="3182" name="Google Shape;3182;p74"/>
          <p:cNvGrpSpPr/>
          <p:nvPr/>
        </p:nvGrpSpPr>
        <p:grpSpPr>
          <a:xfrm>
            <a:off x="2680630" y="4808856"/>
            <a:ext cx="245580" cy="224238"/>
            <a:chOff x="802803" y="3715228"/>
            <a:chExt cx="245580" cy="224238"/>
          </a:xfrm>
        </p:grpSpPr>
        <p:sp>
          <p:nvSpPr>
            <p:cNvPr id="3183" name="Google Shape;3183;p74"/>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184" name="Google Shape;3184;p74"/>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9</a:t>
              </a:r>
              <a:endParaRPr/>
            </a:p>
          </p:txBody>
        </p:sp>
      </p:grpSp>
      <p:grpSp>
        <p:nvGrpSpPr>
          <p:cNvPr id="3185" name="Google Shape;3185;p74"/>
          <p:cNvGrpSpPr/>
          <p:nvPr/>
        </p:nvGrpSpPr>
        <p:grpSpPr>
          <a:xfrm>
            <a:off x="6550922" y="1481480"/>
            <a:ext cx="245580" cy="224238"/>
            <a:chOff x="802803" y="3715228"/>
            <a:chExt cx="245580" cy="224238"/>
          </a:xfrm>
        </p:grpSpPr>
        <p:sp>
          <p:nvSpPr>
            <p:cNvPr id="3186" name="Google Shape;3186;p74"/>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187" name="Google Shape;3187;p74"/>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9</a:t>
              </a:r>
              <a:endParaRPr/>
            </a:p>
          </p:txBody>
        </p:sp>
      </p:grpSp>
      <p:grpSp>
        <p:nvGrpSpPr>
          <p:cNvPr id="3188" name="Google Shape;3188;p74"/>
          <p:cNvGrpSpPr/>
          <p:nvPr/>
        </p:nvGrpSpPr>
        <p:grpSpPr>
          <a:xfrm>
            <a:off x="8311967" y="1742779"/>
            <a:ext cx="309700" cy="224238"/>
            <a:chOff x="770743" y="3715228"/>
            <a:chExt cx="309700" cy="224238"/>
          </a:xfrm>
        </p:grpSpPr>
        <p:sp>
          <p:nvSpPr>
            <p:cNvPr id="3189" name="Google Shape;3189;p74"/>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190" name="Google Shape;3190;p74"/>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10</a:t>
              </a:r>
              <a:endParaRPr/>
            </a:p>
          </p:txBody>
        </p:sp>
      </p:grpSp>
      <p:grpSp>
        <p:nvGrpSpPr>
          <p:cNvPr id="3191" name="Google Shape;3191;p74"/>
          <p:cNvGrpSpPr/>
          <p:nvPr/>
        </p:nvGrpSpPr>
        <p:grpSpPr>
          <a:xfrm>
            <a:off x="4322372" y="1240114"/>
            <a:ext cx="300082" cy="224238"/>
            <a:chOff x="775552" y="3715228"/>
            <a:chExt cx="300082" cy="224238"/>
          </a:xfrm>
        </p:grpSpPr>
        <p:sp>
          <p:nvSpPr>
            <p:cNvPr id="3192" name="Google Shape;3192;p74"/>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193" name="Google Shape;3193;p74"/>
            <p:cNvSpPr/>
            <p:nvPr/>
          </p:nvSpPr>
          <p:spPr>
            <a:xfrm>
              <a:off x="775552" y="3724022"/>
              <a:ext cx="300082"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8a</a:t>
              </a:r>
              <a:endParaRPr/>
            </a:p>
          </p:txBody>
        </p:sp>
      </p:grpSp>
      <p:grpSp>
        <p:nvGrpSpPr>
          <p:cNvPr id="3194" name="Google Shape;3194;p74"/>
          <p:cNvGrpSpPr/>
          <p:nvPr/>
        </p:nvGrpSpPr>
        <p:grpSpPr>
          <a:xfrm>
            <a:off x="4319927" y="983503"/>
            <a:ext cx="309700" cy="224238"/>
            <a:chOff x="770743" y="3715228"/>
            <a:chExt cx="309700" cy="224238"/>
          </a:xfrm>
        </p:grpSpPr>
        <p:sp>
          <p:nvSpPr>
            <p:cNvPr id="3195" name="Google Shape;3195;p74"/>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196" name="Google Shape;3196;p74"/>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11</a:t>
              </a:r>
              <a:endParaRPr/>
            </a:p>
          </p:txBody>
        </p:sp>
      </p:grpSp>
      <p:grpSp>
        <p:nvGrpSpPr>
          <p:cNvPr id="3197" name="Google Shape;3197;p74"/>
          <p:cNvGrpSpPr/>
          <p:nvPr/>
        </p:nvGrpSpPr>
        <p:grpSpPr>
          <a:xfrm>
            <a:off x="8280687" y="1478795"/>
            <a:ext cx="360996" cy="224238"/>
            <a:chOff x="736857" y="3715228"/>
            <a:chExt cx="360996" cy="224238"/>
          </a:xfrm>
        </p:grpSpPr>
        <p:sp>
          <p:nvSpPr>
            <p:cNvPr id="3198" name="Google Shape;3198;p74"/>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199" name="Google Shape;3199;p74"/>
            <p:cNvSpPr/>
            <p:nvPr/>
          </p:nvSpPr>
          <p:spPr>
            <a:xfrm>
              <a:off x="736857" y="3724022"/>
              <a:ext cx="360996"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12a</a:t>
              </a:r>
              <a:endParaRPr/>
            </a:p>
          </p:txBody>
        </p:sp>
      </p:grpSp>
      <p:sp>
        <p:nvSpPr>
          <p:cNvPr id="3200" name="Google Shape;3200;p74"/>
          <p:cNvSpPr txBox="1"/>
          <p:nvPr/>
        </p:nvSpPr>
        <p:spPr>
          <a:xfrm>
            <a:off x="4033926" y="1538024"/>
            <a:ext cx="2015578"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Accounts receivable</a:t>
            </a:r>
            <a:endParaRPr/>
          </a:p>
        </p:txBody>
      </p:sp>
      <p:sp>
        <p:nvSpPr>
          <p:cNvPr id="3201" name="Google Shape;3201;p74"/>
          <p:cNvSpPr txBox="1"/>
          <p:nvPr/>
        </p:nvSpPr>
        <p:spPr>
          <a:xfrm>
            <a:off x="6252890" y="2028286"/>
            <a:ext cx="1987133"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Accounts payable</a:t>
            </a:r>
            <a:endParaRPr/>
          </a:p>
        </p:txBody>
      </p:sp>
      <p:sp>
        <p:nvSpPr>
          <p:cNvPr id="3202" name="Google Shape;3202;p74"/>
          <p:cNvSpPr txBox="1"/>
          <p:nvPr/>
        </p:nvSpPr>
        <p:spPr>
          <a:xfrm>
            <a:off x="9504213" y="373659"/>
            <a:ext cx="2279791" cy="40011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000">
                <a:solidFill>
                  <a:schemeClr val="accent2"/>
                </a:solidFill>
                <a:latin typeface="Avenir"/>
                <a:ea typeface="Avenir"/>
                <a:cs typeface="Avenir"/>
                <a:sym typeface="Avenir"/>
              </a:rPr>
              <a:t>Sources of funds</a:t>
            </a:r>
            <a:endParaRPr/>
          </a:p>
        </p:txBody>
      </p:sp>
      <p:sp>
        <p:nvSpPr>
          <p:cNvPr id="3203" name="Google Shape;3203;p74"/>
          <p:cNvSpPr txBox="1"/>
          <p:nvPr/>
        </p:nvSpPr>
        <p:spPr>
          <a:xfrm>
            <a:off x="492858" y="373659"/>
            <a:ext cx="1880643" cy="40011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000">
                <a:solidFill>
                  <a:schemeClr val="accent6"/>
                </a:solidFill>
                <a:latin typeface="Avenir"/>
                <a:ea typeface="Avenir"/>
                <a:cs typeface="Avenir"/>
                <a:sym typeface="Avenir"/>
              </a:rPr>
              <a:t>Uses of funds</a:t>
            </a:r>
            <a:endParaRPr/>
          </a:p>
        </p:txBody>
      </p:sp>
      <p:grpSp>
        <p:nvGrpSpPr>
          <p:cNvPr id="3204" name="Google Shape;3204;p74"/>
          <p:cNvGrpSpPr/>
          <p:nvPr/>
        </p:nvGrpSpPr>
        <p:grpSpPr>
          <a:xfrm>
            <a:off x="4247500" y="957969"/>
            <a:ext cx="1620000" cy="613673"/>
            <a:chOff x="3810000" y="2381250"/>
            <a:chExt cx="1390650" cy="1230631"/>
          </a:xfrm>
        </p:grpSpPr>
        <p:sp>
          <p:nvSpPr>
            <p:cNvPr id="3205" name="Google Shape;3205;p74"/>
            <p:cNvSpPr/>
            <p:nvPr/>
          </p:nvSpPr>
          <p:spPr>
            <a:xfrm flipH="1">
              <a:off x="4505325"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3206" name="Google Shape;3206;p74"/>
            <p:cNvSpPr/>
            <p:nvPr/>
          </p:nvSpPr>
          <p:spPr>
            <a:xfrm>
              <a:off x="3810000"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3207" name="Google Shape;3207;p74"/>
          <p:cNvGrpSpPr/>
          <p:nvPr/>
        </p:nvGrpSpPr>
        <p:grpSpPr>
          <a:xfrm>
            <a:off x="2556000" y="4767598"/>
            <a:ext cx="1620000" cy="613673"/>
            <a:chOff x="3810000" y="2381250"/>
            <a:chExt cx="1390650" cy="1230631"/>
          </a:xfrm>
        </p:grpSpPr>
        <p:sp>
          <p:nvSpPr>
            <p:cNvPr id="3208" name="Google Shape;3208;p74"/>
            <p:cNvSpPr/>
            <p:nvPr/>
          </p:nvSpPr>
          <p:spPr>
            <a:xfrm flipH="1">
              <a:off x="4505325" y="2381250"/>
              <a:ext cx="695325" cy="1230631"/>
            </a:xfrm>
            <a:prstGeom prst="corner">
              <a:avLst>
                <a:gd fmla="val 9300"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3209" name="Google Shape;3209;p74"/>
            <p:cNvSpPr/>
            <p:nvPr/>
          </p:nvSpPr>
          <p:spPr>
            <a:xfrm>
              <a:off x="3810000" y="2381250"/>
              <a:ext cx="695325" cy="1230631"/>
            </a:xfrm>
            <a:prstGeom prst="corner">
              <a:avLst>
                <a:gd fmla="val 9300"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3210" name="Google Shape;3210;p74"/>
          <p:cNvGrpSpPr/>
          <p:nvPr/>
        </p:nvGrpSpPr>
        <p:grpSpPr>
          <a:xfrm>
            <a:off x="4292494" y="5448381"/>
            <a:ext cx="1620000" cy="796276"/>
            <a:chOff x="3810000" y="2015069"/>
            <a:chExt cx="1390650" cy="1596814"/>
          </a:xfrm>
        </p:grpSpPr>
        <p:sp>
          <p:nvSpPr>
            <p:cNvPr id="3211" name="Google Shape;3211;p74"/>
            <p:cNvSpPr/>
            <p:nvPr/>
          </p:nvSpPr>
          <p:spPr>
            <a:xfrm flipH="1">
              <a:off x="4505325" y="2015073"/>
              <a:ext cx="695325" cy="1596810"/>
            </a:xfrm>
            <a:prstGeom prst="corner">
              <a:avLst>
                <a:gd fmla="val 7267" name="adj1"/>
                <a:gd fmla="val 7888"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3212" name="Google Shape;3212;p74"/>
            <p:cNvSpPr/>
            <p:nvPr/>
          </p:nvSpPr>
          <p:spPr>
            <a:xfrm>
              <a:off x="3810000" y="2015069"/>
              <a:ext cx="695325" cy="1596812"/>
            </a:xfrm>
            <a:prstGeom prst="corner">
              <a:avLst>
                <a:gd fmla="val 7268" name="adj1"/>
                <a:gd fmla="val 7888"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3213" name="Google Shape;3213;p74"/>
          <p:cNvGrpSpPr/>
          <p:nvPr/>
        </p:nvGrpSpPr>
        <p:grpSpPr>
          <a:xfrm>
            <a:off x="6382456" y="5448381"/>
            <a:ext cx="1620000" cy="796276"/>
            <a:chOff x="3810000" y="2015069"/>
            <a:chExt cx="1390650" cy="1596814"/>
          </a:xfrm>
        </p:grpSpPr>
        <p:sp>
          <p:nvSpPr>
            <p:cNvPr id="3214" name="Google Shape;3214;p74"/>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3215" name="Google Shape;3215;p74"/>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3216" name="Google Shape;3216;p74"/>
          <p:cNvGrpSpPr/>
          <p:nvPr/>
        </p:nvGrpSpPr>
        <p:grpSpPr>
          <a:xfrm>
            <a:off x="9983452" y="3159099"/>
            <a:ext cx="1620000" cy="796276"/>
            <a:chOff x="3810000" y="2015069"/>
            <a:chExt cx="1390650" cy="1596814"/>
          </a:xfrm>
        </p:grpSpPr>
        <p:sp>
          <p:nvSpPr>
            <p:cNvPr id="3217" name="Google Shape;3217;p74"/>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3218" name="Google Shape;3218;p74"/>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3219" name="Google Shape;3219;p74"/>
          <p:cNvGrpSpPr/>
          <p:nvPr/>
        </p:nvGrpSpPr>
        <p:grpSpPr>
          <a:xfrm>
            <a:off x="8214558" y="1260018"/>
            <a:ext cx="1620000" cy="796276"/>
            <a:chOff x="3810000" y="2015069"/>
            <a:chExt cx="1390650" cy="1596814"/>
          </a:xfrm>
        </p:grpSpPr>
        <p:sp>
          <p:nvSpPr>
            <p:cNvPr id="3220" name="Google Shape;3220;p74"/>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3221" name="Google Shape;3221;p74"/>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3222" name="Google Shape;3222;p74"/>
          <p:cNvGrpSpPr/>
          <p:nvPr/>
        </p:nvGrpSpPr>
        <p:grpSpPr>
          <a:xfrm>
            <a:off x="10006085" y="1263488"/>
            <a:ext cx="1620000" cy="796276"/>
            <a:chOff x="3810000" y="2015069"/>
            <a:chExt cx="1390650" cy="1596814"/>
          </a:xfrm>
        </p:grpSpPr>
        <p:sp>
          <p:nvSpPr>
            <p:cNvPr id="3223" name="Google Shape;3223;p74"/>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3224" name="Google Shape;3224;p74"/>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3225" name="Google Shape;3225;p74"/>
          <p:cNvGrpSpPr/>
          <p:nvPr/>
        </p:nvGrpSpPr>
        <p:grpSpPr>
          <a:xfrm>
            <a:off x="6428511" y="1266563"/>
            <a:ext cx="1620000" cy="796276"/>
            <a:chOff x="3810000" y="2015069"/>
            <a:chExt cx="1390650" cy="1596814"/>
          </a:xfrm>
        </p:grpSpPr>
        <p:sp>
          <p:nvSpPr>
            <p:cNvPr id="3226" name="Google Shape;3226;p74"/>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3227" name="Google Shape;3227;p74"/>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sp>
        <p:nvSpPr>
          <p:cNvPr id="3228" name="Google Shape;3228;p74"/>
          <p:cNvSpPr/>
          <p:nvPr/>
        </p:nvSpPr>
        <p:spPr>
          <a:xfrm rot="10800000">
            <a:off x="10548000" y="3653367"/>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3229" name="Google Shape;3229;p74"/>
          <p:cNvSpPr/>
          <p:nvPr/>
        </p:nvSpPr>
        <p:spPr>
          <a:xfrm>
            <a:off x="923748" y="998647"/>
            <a:ext cx="10744019" cy="1312708"/>
          </a:xfrm>
          <a:prstGeom prst="rect">
            <a:avLst/>
          </a:prstGeom>
          <a:solidFill>
            <a:srgbClr val="F2F2F2">
              <a:alpha val="86666"/>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3230" name="Google Shape;3230;p74"/>
          <p:cNvGrpSpPr/>
          <p:nvPr/>
        </p:nvGrpSpPr>
        <p:grpSpPr>
          <a:xfrm>
            <a:off x="1130306" y="1271999"/>
            <a:ext cx="10188967" cy="756004"/>
            <a:chOff x="926134" y="1719856"/>
            <a:chExt cx="9204181" cy="750147"/>
          </a:xfrm>
        </p:grpSpPr>
        <p:sp>
          <p:nvSpPr>
            <p:cNvPr id="3231" name="Google Shape;3231;p74"/>
            <p:cNvSpPr txBox="1"/>
            <p:nvPr/>
          </p:nvSpPr>
          <p:spPr>
            <a:xfrm>
              <a:off x="1641585" y="1719860"/>
              <a:ext cx="5447935"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139700" marR="0" rtl="0" algn="l">
                <a:spcBef>
                  <a:spcPts val="0"/>
                </a:spcBef>
                <a:spcAft>
                  <a:spcPts val="0"/>
                </a:spcAft>
                <a:buNone/>
              </a:pPr>
              <a:r>
                <a:rPr lang="en-US" sz="2000">
                  <a:solidFill>
                    <a:schemeClr val="dk1"/>
                  </a:solidFill>
                  <a:latin typeface="Calibri"/>
                  <a:ea typeface="Calibri"/>
                  <a:cs typeface="Calibri"/>
                  <a:sym typeface="Calibri"/>
                </a:rPr>
                <a:t>고객 D에게 판매하면서 일부 재고를 사용함</a:t>
              </a:r>
              <a:r>
                <a:rPr lang="en-US" sz="2000">
                  <a:solidFill>
                    <a:schemeClr val="dk1"/>
                  </a:solidFill>
                  <a:latin typeface="Avenir"/>
                  <a:ea typeface="Avenir"/>
                  <a:cs typeface="Avenir"/>
                  <a:sym typeface="Avenir"/>
                </a:rPr>
                <a:t>.</a:t>
              </a:r>
              <a:endParaRPr/>
            </a:p>
          </p:txBody>
        </p:sp>
        <p:sp>
          <p:nvSpPr>
            <p:cNvPr id="3232" name="Google Shape;3232;p74"/>
            <p:cNvSpPr txBox="1"/>
            <p:nvPr/>
          </p:nvSpPr>
          <p:spPr>
            <a:xfrm>
              <a:off x="7089520" y="1719858"/>
              <a:ext cx="1520398" cy="745310"/>
            </a:xfrm>
            <a:prstGeom prst="rect">
              <a:avLst/>
            </a:prstGeom>
            <a:solidFill>
              <a:srgbClr val="E1EFD8"/>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Cost of sales</a:t>
              </a: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30</a:t>
              </a:r>
              <a:endParaRPr/>
            </a:p>
          </p:txBody>
        </p:sp>
        <p:sp>
          <p:nvSpPr>
            <p:cNvPr id="3233" name="Google Shape;3233;p74"/>
            <p:cNvSpPr txBox="1"/>
            <p:nvPr/>
          </p:nvSpPr>
          <p:spPr>
            <a:xfrm>
              <a:off x="8609917" y="1719858"/>
              <a:ext cx="1520398" cy="745310"/>
            </a:xfrm>
            <a:prstGeom prst="rect">
              <a:avLst/>
            </a:prstGeom>
            <a:solidFill>
              <a:srgbClr val="FBE4D4"/>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Inventory</a:t>
              </a:r>
              <a:endParaRPr b="1" sz="1600">
                <a:solidFill>
                  <a:srgbClr val="BFBFBF"/>
                </a:solidFill>
                <a:latin typeface="Avenir"/>
                <a:ea typeface="Avenir"/>
                <a:cs typeface="Avenir"/>
                <a:sym typeface="Aveni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30</a:t>
              </a:r>
              <a:endParaRPr/>
            </a:p>
          </p:txBody>
        </p:sp>
        <p:sp>
          <p:nvSpPr>
            <p:cNvPr id="3234" name="Google Shape;3234;p74"/>
            <p:cNvSpPr txBox="1"/>
            <p:nvPr/>
          </p:nvSpPr>
          <p:spPr>
            <a:xfrm>
              <a:off x="926134" y="1719856"/>
              <a:ext cx="715451"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12b</a:t>
              </a:r>
              <a:endParaRPr/>
            </a:p>
          </p:txBody>
        </p:sp>
      </p:grpSp>
      <p:sp>
        <p:nvSpPr>
          <p:cNvPr id="3235" name="Google Shape;3235;p74"/>
          <p:cNvSpPr txBox="1"/>
          <p:nvPr/>
        </p:nvSpPr>
        <p:spPr>
          <a:xfrm>
            <a:off x="7946826" y="1283285"/>
            <a:ext cx="1683070" cy="756000"/>
          </a:xfrm>
          <a:prstGeom prst="rect">
            <a:avLst/>
          </a:prstGeom>
          <a:solidFill>
            <a:srgbClr val="548135"/>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30</a:t>
            </a:r>
            <a:endParaRPr/>
          </a:p>
        </p:txBody>
      </p:sp>
      <p:sp>
        <p:nvSpPr>
          <p:cNvPr id="3236" name="Google Shape;3236;p74"/>
          <p:cNvSpPr txBox="1"/>
          <p:nvPr/>
        </p:nvSpPr>
        <p:spPr>
          <a:xfrm>
            <a:off x="9629896" y="1287398"/>
            <a:ext cx="1683070" cy="756000"/>
          </a:xfrm>
          <a:prstGeom prst="rect">
            <a:avLst/>
          </a:prstGeom>
          <a:solidFill>
            <a:schemeClr val="accent2"/>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30</a:t>
            </a:r>
            <a:endParaRPr/>
          </a:p>
        </p:txBody>
      </p:sp>
      <p:sp>
        <p:nvSpPr>
          <p:cNvPr id="3237" name="Google Shape;3237;p74"/>
          <p:cNvSpPr/>
          <p:nvPr/>
        </p:nvSpPr>
        <p:spPr>
          <a:xfrm rot="10800000">
            <a:off x="153289" y="4549188"/>
            <a:ext cx="950259" cy="1037381"/>
          </a:xfrm>
          <a:prstGeom prst="downArrow">
            <a:avLst>
              <a:gd fmla="val 50000" name="adj1"/>
              <a:gd fmla="val 50000" name="adj2"/>
            </a:avLst>
          </a:prstGeom>
          <a:solidFill>
            <a:schemeClr val="accent6">
              <a:alpha val="77647"/>
            </a:schemeClr>
          </a:solidFill>
          <a:ln>
            <a:noFill/>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238" name="Google Shape;3238;p74"/>
          <p:cNvSpPr/>
          <p:nvPr/>
        </p:nvSpPr>
        <p:spPr>
          <a:xfrm>
            <a:off x="152838" y="842384"/>
            <a:ext cx="950259" cy="1037381"/>
          </a:xfrm>
          <a:prstGeom prst="downArrow">
            <a:avLst>
              <a:gd fmla="val 50000" name="adj1"/>
              <a:gd fmla="val 50000" name="adj2"/>
            </a:avLst>
          </a:prstGeom>
          <a:solidFill>
            <a:schemeClr val="accent2">
              <a:alpha val="77647"/>
            </a:schemeClr>
          </a:solidFill>
          <a:ln>
            <a:noFill/>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239" name="Google Shape;3239;p74"/>
          <p:cNvSpPr txBox="1"/>
          <p:nvPr/>
        </p:nvSpPr>
        <p:spPr>
          <a:xfrm>
            <a:off x="6403128" y="3419412"/>
            <a:ext cx="1548343" cy="566133"/>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460</a:t>
            </a:r>
            <a:endParaRPr sz="2400">
              <a:solidFill>
                <a:schemeClr val="dk1"/>
              </a:solidFill>
              <a:latin typeface="Calibri"/>
              <a:ea typeface="Calibri"/>
              <a:cs typeface="Calibri"/>
              <a:sym typeface="Calibri"/>
            </a:endParaRPr>
          </a:p>
        </p:txBody>
      </p:sp>
      <p:sp>
        <p:nvSpPr>
          <p:cNvPr id="3240" name="Google Shape;3240;p74"/>
          <p:cNvSpPr txBox="1"/>
          <p:nvPr/>
        </p:nvSpPr>
        <p:spPr>
          <a:xfrm>
            <a:off x="6403129" y="3419412"/>
            <a:ext cx="1548343" cy="566133"/>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490</a:t>
            </a:r>
            <a:endParaRPr sz="2400">
              <a:solidFill>
                <a:schemeClr val="dk1"/>
              </a:solidFill>
              <a:latin typeface="Calibri"/>
              <a:ea typeface="Calibri"/>
              <a:cs typeface="Calibri"/>
              <a:sym typeface="Calibri"/>
            </a:endParaRPr>
          </a:p>
        </p:txBody>
      </p:sp>
    </p:spTree>
  </p:cSld>
  <p:clrMapOvr>
    <a:masterClrMapping/>
  </p:clrMapOvr>
  <mc:AlternateContent>
    <mc:Choice Requires="p14">
      <p:transition spd="slow" p14:dur="700">
        <p:fade/>
      </p:transition>
    </mc:Choice>
    <mc:Fallback>
      <p:transition spd="slow">
        <p:fade/>
      </p:transition>
    </mc:Fallback>
  </mc:AlternateContent>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afterEffect" presetClass="exit" presetID="10" presetSubtype="0">
                                  <p:stCondLst>
                                    <p:cond delay="0"/>
                                  </p:stCondLst>
                                  <p:childTnLst>
                                    <p:animEffect filter="fade" transition="out">
                                      <p:cBhvr>
                                        <p:cTn dur="1000"/>
                                        <p:tgtEl>
                                          <p:spTgt spid="3236"/>
                                        </p:tgtEl>
                                      </p:cBhvr>
                                    </p:animEffect>
                                    <p:set>
                                      <p:cBhvr>
                                        <p:cTn dur="1" fill="hold">
                                          <p:stCondLst>
                                            <p:cond delay="1000"/>
                                          </p:stCondLst>
                                        </p:cTn>
                                        <p:tgtEl>
                                          <p:spTgt spid="3236"/>
                                        </p:tgtEl>
                                        <p:attrNameLst>
                                          <p:attrName>style.visibility</p:attrName>
                                        </p:attrNameLst>
                                      </p:cBhvr>
                                      <p:to>
                                        <p:strVal val="hidden"/>
                                      </p:to>
                                    </p:set>
                                  </p:childTnLst>
                                </p:cTn>
                              </p:par>
                              <p:par>
                                <p:cTn fill="hold" nodeType="withEffect" presetClass="entr" presetID="10" presetSubtype="0">
                                  <p:stCondLst>
                                    <p:cond delay="0"/>
                                  </p:stCondLst>
                                  <p:childTnLst>
                                    <p:set>
                                      <p:cBhvr>
                                        <p:cTn dur="1" fill="hold">
                                          <p:stCondLst>
                                            <p:cond delay="0"/>
                                          </p:stCondLst>
                                        </p:cTn>
                                        <p:tgtEl>
                                          <p:spTgt spid="3167"/>
                                        </p:tgtEl>
                                        <p:attrNameLst>
                                          <p:attrName>style.visibility</p:attrName>
                                        </p:attrNameLst>
                                      </p:cBhvr>
                                      <p:to>
                                        <p:strVal val="visible"/>
                                      </p:to>
                                    </p:set>
                                    <p:animEffect filter="fade" transition="in">
                                      <p:cBhvr>
                                        <p:cTn dur="1000"/>
                                        <p:tgtEl>
                                          <p:spTgt spid="3167"/>
                                        </p:tgtEl>
                                      </p:cBhvr>
                                    </p:animEffect>
                                  </p:childTnLst>
                                </p:cTn>
                              </p:par>
                              <p:par>
                                <p:cTn fill="hold" nodeType="withEffect" presetClass="entr" presetID="10" presetSubtype="0">
                                  <p:stCondLst>
                                    <p:cond delay="0"/>
                                  </p:stCondLst>
                                  <p:childTnLst>
                                    <p:set>
                                      <p:cBhvr>
                                        <p:cTn dur="1" fill="hold">
                                          <p:stCondLst>
                                            <p:cond delay="0"/>
                                          </p:stCondLst>
                                        </p:cTn>
                                        <p:tgtEl>
                                          <p:spTgt spid="3107"/>
                                        </p:tgtEl>
                                        <p:attrNameLst>
                                          <p:attrName>style.visibility</p:attrName>
                                        </p:attrNameLst>
                                      </p:cBhvr>
                                      <p:to>
                                        <p:strVal val="visible"/>
                                      </p:to>
                                    </p:set>
                                    <p:animEffect filter="fade" transition="in">
                                      <p:cBhvr>
                                        <p:cTn dur="1000"/>
                                        <p:tgtEl>
                                          <p:spTgt spid="3107"/>
                                        </p:tgtEl>
                                      </p:cBhvr>
                                    </p:animEffect>
                                  </p:childTnLst>
                                </p:cTn>
                              </p:par>
                              <p:par>
                                <p:cTn fill="hold" nodeType="withEffect" presetClass="entr" presetID="10" presetSubtype="0">
                                  <p:stCondLst>
                                    <p:cond delay="0"/>
                                  </p:stCondLst>
                                  <p:childTnLst>
                                    <p:set>
                                      <p:cBhvr>
                                        <p:cTn dur="1" fill="hold">
                                          <p:stCondLst>
                                            <p:cond delay="0"/>
                                          </p:stCondLst>
                                        </p:cTn>
                                        <p:tgtEl>
                                          <p:spTgt spid="3106"/>
                                        </p:tgtEl>
                                        <p:attrNameLst>
                                          <p:attrName>style.visibility</p:attrName>
                                        </p:attrNameLst>
                                      </p:cBhvr>
                                      <p:to>
                                        <p:strVal val="visible"/>
                                      </p:to>
                                    </p:set>
                                    <p:animEffect filter="fade" transition="in">
                                      <p:cBhvr>
                                        <p:cTn dur="1000"/>
                                        <p:tgtEl>
                                          <p:spTgt spid="3106"/>
                                        </p:tgtEl>
                                      </p:cBhvr>
                                    </p:animEffect>
                                  </p:childTnLst>
                                </p:cTn>
                              </p:par>
                            </p:childTnLst>
                          </p:cTn>
                        </p:par>
                        <p:par>
                          <p:cTn fill="hold">
                            <p:stCondLst>
                              <p:cond delay="1000"/>
                            </p:stCondLst>
                            <p:childTnLst>
                              <p:par>
                                <p:cTn fill="hold" nodeType="afterEffect" presetClass="exit" presetID="10" presetSubtype="0">
                                  <p:stCondLst>
                                    <p:cond delay="0"/>
                                  </p:stCondLst>
                                  <p:childTnLst>
                                    <p:animEffect filter="fade" transition="out">
                                      <p:cBhvr>
                                        <p:cTn dur="1000"/>
                                        <p:tgtEl>
                                          <p:spTgt spid="3235"/>
                                        </p:tgtEl>
                                      </p:cBhvr>
                                    </p:animEffect>
                                    <p:set>
                                      <p:cBhvr>
                                        <p:cTn dur="1" fill="hold">
                                          <p:stCondLst>
                                            <p:cond delay="1000"/>
                                          </p:stCondLst>
                                        </p:cTn>
                                        <p:tgtEl>
                                          <p:spTgt spid="3235"/>
                                        </p:tgtEl>
                                        <p:attrNameLst>
                                          <p:attrName>style.visibility</p:attrName>
                                        </p:attrNameLst>
                                      </p:cBhvr>
                                      <p:to>
                                        <p:strVal val="hidden"/>
                                      </p:to>
                                    </p:set>
                                  </p:childTnLst>
                                </p:cTn>
                              </p:par>
                              <p:par>
                                <p:cTn fill="hold" nodeType="withEffect" presetClass="entr" presetID="10" presetSubtype="0">
                                  <p:stCondLst>
                                    <p:cond delay="0"/>
                                  </p:stCondLst>
                                  <p:childTnLst>
                                    <p:set>
                                      <p:cBhvr>
                                        <p:cTn dur="1" fill="hold">
                                          <p:stCondLst>
                                            <p:cond delay="0"/>
                                          </p:stCondLst>
                                        </p:cTn>
                                        <p:tgtEl>
                                          <p:spTgt spid="3170"/>
                                        </p:tgtEl>
                                        <p:attrNameLst>
                                          <p:attrName>style.visibility</p:attrName>
                                        </p:attrNameLst>
                                      </p:cBhvr>
                                      <p:to>
                                        <p:strVal val="visible"/>
                                      </p:to>
                                    </p:set>
                                    <p:animEffect filter="fade" transition="in">
                                      <p:cBhvr>
                                        <p:cTn dur="1000"/>
                                        <p:tgtEl>
                                          <p:spTgt spid="3170"/>
                                        </p:tgtEl>
                                      </p:cBhvr>
                                    </p:animEffect>
                                  </p:childTnLst>
                                </p:cTn>
                              </p:par>
                              <p:par>
                                <p:cTn fill="hold" nodeType="withEffect" presetClass="entr" presetID="10" presetSubtype="0">
                                  <p:stCondLst>
                                    <p:cond delay="0"/>
                                  </p:stCondLst>
                                  <p:childTnLst>
                                    <p:set>
                                      <p:cBhvr>
                                        <p:cTn dur="1" fill="hold">
                                          <p:stCondLst>
                                            <p:cond delay="0"/>
                                          </p:stCondLst>
                                        </p:cTn>
                                        <p:tgtEl>
                                          <p:spTgt spid="3109"/>
                                        </p:tgtEl>
                                        <p:attrNameLst>
                                          <p:attrName>style.visibility</p:attrName>
                                        </p:attrNameLst>
                                      </p:cBhvr>
                                      <p:to>
                                        <p:strVal val="visible"/>
                                      </p:to>
                                    </p:set>
                                    <p:animEffect filter="fade" transition="in">
                                      <p:cBhvr>
                                        <p:cTn dur="1000"/>
                                        <p:tgtEl>
                                          <p:spTgt spid="3109"/>
                                        </p:tgtEl>
                                      </p:cBhvr>
                                    </p:animEffect>
                                  </p:childTnLst>
                                </p:cTn>
                              </p:par>
                              <p:par>
                                <p:cTn fill="hold" nodeType="withEffect" presetClass="entr" presetID="10" presetSubtype="0">
                                  <p:stCondLst>
                                    <p:cond delay="0"/>
                                  </p:stCondLst>
                                  <p:childTnLst>
                                    <p:set>
                                      <p:cBhvr>
                                        <p:cTn dur="1" fill="hold">
                                          <p:stCondLst>
                                            <p:cond delay="0"/>
                                          </p:stCondLst>
                                        </p:cTn>
                                        <p:tgtEl>
                                          <p:spTgt spid="3108"/>
                                        </p:tgtEl>
                                        <p:attrNameLst>
                                          <p:attrName>style.visibility</p:attrName>
                                        </p:attrNameLst>
                                      </p:cBhvr>
                                      <p:to>
                                        <p:strVal val="visible"/>
                                      </p:to>
                                    </p:set>
                                    <p:animEffect filter="fade" transition="in">
                                      <p:cBhvr>
                                        <p:cTn dur="1000"/>
                                        <p:tgtEl>
                                          <p:spTgt spid="3108"/>
                                        </p:tgtEl>
                                      </p:cBhvr>
                                    </p:animEffect>
                                  </p:childTnLst>
                                </p:cTn>
                              </p:par>
                            </p:childTnLst>
                          </p:cTn>
                        </p:par>
                        <p:par>
                          <p:cTn fill="hold">
                            <p:stCondLst>
                              <p:cond delay="2000"/>
                            </p:stCondLst>
                            <p:childTnLst>
                              <p:par>
                                <p:cTn fill="hold" nodeType="afterEffect" presetClass="entr" presetID="10" presetSubtype="0">
                                  <p:stCondLst>
                                    <p:cond delay="0"/>
                                  </p:stCondLst>
                                  <p:childTnLst>
                                    <p:set>
                                      <p:cBhvr>
                                        <p:cTn dur="1" fill="hold">
                                          <p:stCondLst>
                                            <p:cond delay="0"/>
                                          </p:stCondLst>
                                        </p:cTn>
                                        <p:tgtEl>
                                          <p:spTgt spid="3239"/>
                                        </p:tgtEl>
                                        <p:attrNameLst>
                                          <p:attrName>style.visibility</p:attrName>
                                        </p:attrNameLst>
                                      </p:cBhvr>
                                      <p:to>
                                        <p:strVal val="visible"/>
                                      </p:to>
                                    </p:set>
                                    <p:animEffect filter="fade" transition="in">
                                      <p:cBhvr>
                                        <p:cTn dur="1000"/>
                                        <p:tgtEl>
                                          <p:spTgt spid="3239"/>
                                        </p:tgtEl>
                                      </p:cBhvr>
                                    </p:animEffect>
                                  </p:childTnLst>
                                </p:cTn>
                              </p:par>
                              <p:par>
                                <p:cTn fill="hold" nodeType="withEffect" presetClass="exit" presetID="10" presetSubtype="0">
                                  <p:stCondLst>
                                    <p:cond delay="0"/>
                                  </p:stCondLst>
                                  <p:childTnLst>
                                    <p:animEffect filter="fade" transition="out">
                                      <p:cBhvr>
                                        <p:cTn dur="500"/>
                                        <p:tgtEl>
                                          <p:spTgt spid="3240"/>
                                        </p:tgtEl>
                                      </p:cBhvr>
                                    </p:animEffect>
                                    <p:set>
                                      <p:cBhvr>
                                        <p:cTn dur="1" fill="hold">
                                          <p:stCondLst>
                                            <p:cond delay="500"/>
                                          </p:stCondLst>
                                        </p:cTn>
                                        <p:tgtEl>
                                          <p:spTgt spid="3240"/>
                                        </p:tgtEl>
                                        <p:attrNameLst>
                                          <p:attrName>style.visibility</p:attrName>
                                        </p:attrNameLst>
                                      </p:cBhvr>
                                      <p:to>
                                        <p:strVal val="hidden"/>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237"/>
                                        </p:tgtEl>
                                        <p:attrNameLst>
                                          <p:attrName>style.visibility</p:attrName>
                                        </p:attrNameLst>
                                      </p:cBhvr>
                                      <p:to>
                                        <p:strVal val="visible"/>
                                      </p:to>
                                    </p:set>
                                    <p:animEffect filter="fade" transition="in">
                                      <p:cBhvr>
                                        <p:cTn dur="1000"/>
                                        <p:tgtEl>
                                          <p:spTgt spid="3237"/>
                                        </p:tgtEl>
                                      </p:cBhvr>
                                    </p:animEffect>
                                  </p:childTnLst>
                                </p:cTn>
                              </p:par>
                              <p:par>
                                <p:cTn fill="hold" nodeType="withEffect" presetClass="entr" presetID="10" presetSubtype="0">
                                  <p:stCondLst>
                                    <p:cond delay="0"/>
                                  </p:stCondLst>
                                  <p:childTnLst>
                                    <p:set>
                                      <p:cBhvr>
                                        <p:cTn dur="1" fill="hold">
                                          <p:stCondLst>
                                            <p:cond delay="0"/>
                                          </p:stCondLst>
                                        </p:cTn>
                                        <p:tgtEl>
                                          <p:spTgt spid="3238"/>
                                        </p:tgtEl>
                                        <p:attrNameLst>
                                          <p:attrName>style.visibility</p:attrName>
                                        </p:attrNameLst>
                                      </p:cBhvr>
                                      <p:to>
                                        <p:strVal val="visible"/>
                                      </p:to>
                                    </p:set>
                                    <p:animEffect filter="fade" transition="in">
                                      <p:cBhvr>
                                        <p:cTn dur="1000"/>
                                        <p:tgtEl>
                                          <p:spTgt spid="323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245" name="Shape 3245"/>
        <p:cNvGrpSpPr/>
        <p:nvPr/>
      </p:nvGrpSpPr>
      <p:grpSpPr>
        <a:xfrm>
          <a:off x="0" y="0"/>
          <a:ext cx="0" cy="0"/>
          <a:chOff x="0" y="0"/>
          <a:chExt cx="0" cy="0"/>
        </a:xfrm>
      </p:grpSpPr>
      <p:sp>
        <p:nvSpPr>
          <p:cNvPr id="3246" name="Google Shape;3246;p75"/>
          <p:cNvSpPr txBox="1"/>
          <p:nvPr/>
        </p:nvSpPr>
        <p:spPr>
          <a:xfrm>
            <a:off x="4187006" y="284371"/>
            <a:ext cx="3629520"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grpSp>
        <p:nvGrpSpPr>
          <p:cNvPr id="3247" name="Google Shape;3247;p75"/>
          <p:cNvGrpSpPr/>
          <p:nvPr/>
        </p:nvGrpSpPr>
        <p:grpSpPr>
          <a:xfrm>
            <a:off x="1284576" y="2130924"/>
            <a:ext cx="10188969" cy="756004"/>
            <a:chOff x="926134" y="1719856"/>
            <a:chExt cx="9204181" cy="750147"/>
          </a:xfrm>
        </p:grpSpPr>
        <p:sp>
          <p:nvSpPr>
            <p:cNvPr id="3248" name="Google Shape;3248;p75"/>
            <p:cNvSpPr txBox="1"/>
            <p:nvPr/>
          </p:nvSpPr>
          <p:spPr>
            <a:xfrm>
              <a:off x="1641585" y="1719860"/>
              <a:ext cx="5447935"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139700" marR="0" rtl="0" algn="l">
                <a:spcBef>
                  <a:spcPts val="0"/>
                </a:spcBef>
                <a:spcAft>
                  <a:spcPts val="0"/>
                </a:spcAft>
                <a:buNone/>
              </a:pPr>
              <a:r>
                <a:rPr lang="en-US" sz="2000">
                  <a:solidFill>
                    <a:schemeClr val="dk1"/>
                  </a:solidFill>
                  <a:latin typeface="Calibri"/>
                  <a:ea typeface="Calibri"/>
                  <a:cs typeface="Calibri"/>
                  <a:sym typeface="Calibri"/>
                </a:rPr>
                <a:t>3월부터 6월까지 진행될 광고 캠페인 비용을 은행 이체로 결제함.</a:t>
              </a:r>
              <a:endParaRPr sz="2000">
                <a:solidFill>
                  <a:schemeClr val="dk1"/>
                </a:solidFill>
                <a:latin typeface="Avenir"/>
                <a:ea typeface="Avenir"/>
                <a:cs typeface="Avenir"/>
                <a:sym typeface="Avenir"/>
              </a:endParaRPr>
            </a:p>
          </p:txBody>
        </p:sp>
        <p:sp>
          <p:nvSpPr>
            <p:cNvPr id="3249" name="Google Shape;3249;p75"/>
            <p:cNvSpPr txBox="1"/>
            <p:nvPr/>
          </p:nvSpPr>
          <p:spPr>
            <a:xfrm>
              <a:off x="7089520" y="1719858"/>
              <a:ext cx="1520398" cy="745310"/>
            </a:xfrm>
            <a:prstGeom prst="rect">
              <a:avLst/>
            </a:prstGeom>
            <a:solidFill>
              <a:srgbClr val="E1EFD8"/>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Deferred expenses</a:t>
              </a: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800</a:t>
              </a:r>
              <a:endParaRPr/>
            </a:p>
          </p:txBody>
        </p:sp>
        <p:sp>
          <p:nvSpPr>
            <p:cNvPr id="3250" name="Google Shape;3250;p75"/>
            <p:cNvSpPr txBox="1"/>
            <p:nvPr/>
          </p:nvSpPr>
          <p:spPr>
            <a:xfrm>
              <a:off x="8609917" y="1719858"/>
              <a:ext cx="1520398" cy="745310"/>
            </a:xfrm>
            <a:prstGeom prst="rect">
              <a:avLst/>
            </a:prstGeom>
            <a:solidFill>
              <a:srgbClr val="FBE4D4"/>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Cash</a:t>
              </a:r>
              <a:endParaRPr b="1" sz="1600">
                <a:solidFill>
                  <a:srgbClr val="BFBFBF"/>
                </a:solidFill>
                <a:latin typeface="Avenir"/>
                <a:ea typeface="Avenir"/>
                <a:cs typeface="Avenir"/>
                <a:sym typeface="Aveni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800</a:t>
              </a:r>
              <a:endParaRPr/>
            </a:p>
          </p:txBody>
        </p:sp>
        <p:sp>
          <p:nvSpPr>
            <p:cNvPr id="3251" name="Google Shape;3251;p75"/>
            <p:cNvSpPr txBox="1"/>
            <p:nvPr/>
          </p:nvSpPr>
          <p:spPr>
            <a:xfrm>
              <a:off x="926134" y="1719856"/>
              <a:ext cx="715451"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13</a:t>
              </a:r>
              <a:endParaRPr/>
            </a:p>
          </p:txBody>
        </p:sp>
      </p:grpSp>
      <p:sp>
        <p:nvSpPr>
          <p:cNvPr id="3252" name="Google Shape;3252;p75"/>
          <p:cNvSpPr txBox="1"/>
          <p:nvPr/>
        </p:nvSpPr>
        <p:spPr>
          <a:xfrm>
            <a:off x="8109273" y="2130924"/>
            <a:ext cx="1681200" cy="756000"/>
          </a:xfrm>
          <a:prstGeom prst="rect">
            <a:avLst/>
          </a:prstGeom>
          <a:solidFill>
            <a:srgbClr val="548135"/>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800</a:t>
            </a:r>
            <a:endParaRPr/>
          </a:p>
        </p:txBody>
      </p:sp>
      <p:sp>
        <p:nvSpPr>
          <p:cNvPr id="3253" name="Google Shape;3253;p75"/>
          <p:cNvSpPr txBox="1"/>
          <p:nvPr/>
        </p:nvSpPr>
        <p:spPr>
          <a:xfrm>
            <a:off x="9792343" y="2130924"/>
            <a:ext cx="1681200" cy="756000"/>
          </a:xfrm>
          <a:prstGeom prst="rect">
            <a:avLst/>
          </a:prstGeom>
          <a:solidFill>
            <a:schemeClr val="accent2"/>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800</a:t>
            </a:r>
            <a:endParaRPr/>
          </a:p>
        </p:txBody>
      </p:sp>
      <p:cxnSp>
        <p:nvCxnSpPr>
          <p:cNvPr id="3254" name="Google Shape;3254;p75"/>
          <p:cNvCxnSpPr/>
          <p:nvPr/>
        </p:nvCxnSpPr>
        <p:spPr>
          <a:xfrm>
            <a:off x="4316098" y="717845"/>
            <a:ext cx="3375212" cy="0"/>
          </a:xfrm>
          <a:prstGeom prst="straightConnector1">
            <a:avLst/>
          </a:prstGeom>
          <a:noFill/>
          <a:ln cap="flat" cmpd="sng" w="28575">
            <a:solidFill>
              <a:schemeClr val="accent1"/>
            </a:solidFill>
            <a:prstDash val="dot"/>
            <a:miter lim="800000"/>
            <a:headEnd len="sm" w="sm" type="none"/>
            <a:tailEnd len="sm" w="sm" type="none"/>
          </a:ln>
        </p:spPr>
      </p:cxnSp>
      <p:sp>
        <p:nvSpPr>
          <p:cNvPr id="3255" name="Google Shape;3255;p75"/>
          <p:cNvSpPr/>
          <p:nvPr/>
        </p:nvSpPr>
        <p:spPr>
          <a:xfrm>
            <a:off x="1284578" y="1520543"/>
            <a:ext cx="2024679" cy="42011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2130">
                <a:solidFill>
                  <a:schemeClr val="dk1"/>
                </a:solidFill>
                <a:latin typeface="Avenir"/>
                <a:ea typeface="Avenir"/>
                <a:cs typeface="Avenir"/>
                <a:sym typeface="Avenir"/>
              </a:rPr>
              <a:t>28 February</a:t>
            </a:r>
            <a:endParaRPr sz="2130">
              <a:solidFill>
                <a:schemeClr val="dk1"/>
              </a:solidFill>
              <a:latin typeface="Avenir"/>
              <a:ea typeface="Avenir"/>
              <a:cs typeface="Avenir"/>
              <a:sym typeface="Avenir"/>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60" name="Shape 3260"/>
        <p:cNvGrpSpPr/>
        <p:nvPr/>
      </p:nvGrpSpPr>
      <p:grpSpPr>
        <a:xfrm>
          <a:off x="0" y="0"/>
          <a:ext cx="0" cy="0"/>
          <a:chOff x="0" y="0"/>
          <a:chExt cx="0" cy="0"/>
        </a:xfrm>
      </p:grpSpPr>
      <p:sp>
        <p:nvSpPr>
          <p:cNvPr id="3261" name="Google Shape;3261;p76"/>
          <p:cNvSpPr txBox="1"/>
          <p:nvPr/>
        </p:nvSpPr>
        <p:spPr>
          <a:xfrm>
            <a:off x="4187006" y="133386"/>
            <a:ext cx="3629520"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cxnSp>
        <p:nvCxnSpPr>
          <p:cNvPr id="3262" name="Google Shape;3262;p76"/>
          <p:cNvCxnSpPr/>
          <p:nvPr/>
        </p:nvCxnSpPr>
        <p:spPr>
          <a:xfrm>
            <a:off x="4316098" y="566860"/>
            <a:ext cx="3375212" cy="0"/>
          </a:xfrm>
          <a:prstGeom prst="straightConnector1">
            <a:avLst/>
          </a:prstGeom>
          <a:noFill/>
          <a:ln cap="flat" cmpd="sng" w="28575">
            <a:solidFill>
              <a:schemeClr val="accent1"/>
            </a:solidFill>
            <a:prstDash val="dot"/>
            <a:miter lim="800000"/>
            <a:headEnd len="sm" w="sm" type="none"/>
            <a:tailEnd len="sm" w="sm" type="none"/>
          </a:ln>
        </p:spPr>
      </p:cxnSp>
      <p:grpSp>
        <p:nvGrpSpPr>
          <p:cNvPr id="3263" name="Google Shape;3263;p76"/>
          <p:cNvGrpSpPr/>
          <p:nvPr/>
        </p:nvGrpSpPr>
        <p:grpSpPr>
          <a:xfrm>
            <a:off x="492858" y="773769"/>
            <a:ext cx="11291146" cy="5895963"/>
            <a:chOff x="492858" y="773769"/>
            <a:chExt cx="11291146" cy="5895963"/>
          </a:xfrm>
        </p:grpSpPr>
        <p:sp>
          <p:nvSpPr>
            <p:cNvPr id="3264" name="Google Shape;3264;p76"/>
            <p:cNvSpPr txBox="1"/>
            <p:nvPr/>
          </p:nvSpPr>
          <p:spPr>
            <a:xfrm>
              <a:off x="6227788" y="2623662"/>
              <a:ext cx="5556216" cy="1692844"/>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Equity</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3265" name="Google Shape;3265;p76"/>
            <p:cNvSpPr txBox="1"/>
            <p:nvPr/>
          </p:nvSpPr>
          <p:spPr>
            <a:xfrm>
              <a:off x="6410845" y="3135649"/>
              <a:ext cx="1544844" cy="770509"/>
            </a:xfrm>
            <a:prstGeom prst="rect">
              <a:avLst/>
            </a:prstGeom>
            <a:noFill/>
            <a:ln cap="flat" cmpd="sng" w="5715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ctr">
                <a:lnSpc>
                  <a:spcPct val="120000"/>
                </a:lnSpc>
                <a:spcBef>
                  <a:spcPts val="0"/>
                </a:spcBef>
                <a:spcAft>
                  <a:spcPts val="0"/>
                </a:spcAft>
                <a:buNone/>
              </a:pPr>
              <a:r>
                <a:rPr b="1" lang="en-US" sz="2200">
                  <a:solidFill>
                    <a:srgbClr val="942093"/>
                  </a:solidFill>
                  <a:latin typeface="Avenir"/>
                  <a:ea typeface="Avenir"/>
                  <a:cs typeface="Avenir"/>
                  <a:sym typeface="Avenir"/>
                </a:rPr>
                <a:t>Profit</a:t>
              </a:r>
              <a:endParaRPr/>
            </a:p>
          </p:txBody>
        </p:sp>
        <p:sp>
          <p:nvSpPr>
            <p:cNvPr id="3266" name="Google Shape;3266;p76"/>
            <p:cNvSpPr txBox="1"/>
            <p:nvPr/>
          </p:nvSpPr>
          <p:spPr>
            <a:xfrm>
              <a:off x="6227788" y="773769"/>
              <a:ext cx="5556216" cy="1702674"/>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Liabilities</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grpSp>
          <p:nvGrpSpPr>
            <p:cNvPr id="3267" name="Google Shape;3267;p76"/>
            <p:cNvGrpSpPr/>
            <p:nvPr/>
          </p:nvGrpSpPr>
          <p:grpSpPr>
            <a:xfrm>
              <a:off x="492858" y="3906158"/>
              <a:ext cx="11291146" cy="2763574"/>
              <a:chOff x="1354633" y="4399872"/>
              <a:chExt cx="9550931" cy="2121952"/>
            </a:xfrm>
          </p:grpSpPr>
          <p:sp>
            <p:nvSpPr>
              <p:cNvPr id="3268" name="Google Shape;3268;p76"/>
              <p:cNvSpPr txBox="1"/>
              <p:nvPr/>
            </p:nvSpPr>
            <p:spPr>
              <a:xfrm>
                <a:off x="1354633" y="4813260"/>
                <a:ext cx="9550931" cy="1708564"/>
              </a:xfrm>
              <a:prstGeom prst="rect">
                <a:avLst/>
              </a:prstGeom>
              <a:solidFill>
                <a:srgbClr val="FCECFB"/>
              </a:solidFill>
              <a:ln cap="flat" cmpd="sng" w="7620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b="1" lang="en-US" sz="2800">
                    <a:solidFill>
                      <a:schemeClr val="dk1"/>
                    </a:solidFill>
                    <a:latin typeface="Avenir"/>
                    <a:ea typeface="Avenir"/>
                    <a:cs typeface="Avenir"/>
                    <a:sym typeface="Avenir"/>
                  </a:rPr>
                  <a:t> </a:t>
                </a:r>
                <a:endParaRPr/>
              </a:p>
            </p:txBody>
          </p:sp>
          <p:sp>
            <p:nvSpPr>
              <p:cNvPr id="3269" name="Google Shape;3269;p76"/>
              <p:cNvSpPr txBox="1"/>
              <p:nvPr/>
            </p:nvSpPr>
            <p:spPr>
              <a:xfrm>
                <a:off x="6199863" y="4921166"/>
                <a:ext cx="4576976" cy="1495361"/>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Income</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3270" name="Google Shape;3270;p76"/>
              <p:cNvSpPr txBox="1"/>
              <p:nvPr/>
            </p:nvSpPr>
            <p:spPr>
              <a:xfrm>
                <a:off x="1481256" y="4921166"/>
                <a:ext cx="4552539" cy="1495361"/>
              </a:xfrm>
              <a:prstGeom prst="rect">
                <a:avLst/>
              </a:prstGeom>
              <a:solidFill>
                <a:srgbClr val="E1EFD8"/>
              </a:solid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None/>
                </a:pPr>
                <a:r>
                  <a:rPr b="1" lang="en-US" sz="2800">
                    <a:solidFill>
                      <a:srgbClr val="E1EFD8"/>
                    </a:solidFill>
                    <a:latin typeface="Avenir"/>
                    <a:ea typeface="Avenir"/>
                    <a:cs typeface="Avenir"/>
                    <a:sym typeface="Avenir"/>
                  </a:rPr>
                  <a:t>_</a:t>
                </a:r>
                <a:r>
                  <a:rPr b="1" lang="en-US" sz="2000">
                    <a:solidFill>
                      <a:schemeClr val="dk1"/>
                    </a:solidFill>
                    <a:latin typeface="Avenir"/>
                    <a:ea typeface="Avenir"/>
                    <a:cs typeface="Avenir"/>
                    <a:sym typeface="Avenir"/>
                  </a:rPr>
                  <a:t>Expenses</a:t>
                </a:r>
                <a:endParaRPr b="1" sz="2800">
                  <a:solidFill>
                    <a:schemeClr val="dk1"/>
                  </a:solidFill>
                  <a:latin typeface="Avenir"/>
                  <a:ea typeface="Avenir"/>
                  <a:cs typeface="Avenir"/>
                  <a:sym typeface="Avenir"/>
                </a:endParaRPr>
              </a:p>
            </p:txBody>
          </p:sp>
          <p:cxnSp>
            <p:nvCxnSpPr>
              <p:cNvPr id="3271" name="Google Shape;3271;p76"/>
              <p:cNvCxnSpPr>
                <a:stCxn id="3265" idx="2"/>
              </p:cNvCxnSpPr>
              <p:nvPr/>
            </p:nvCxnSpPr>
            <p:spPr>
              <a:xfrm>
                <a:off x="7013902" y="4399872"/>
                <a:ext cx="7500" cy="434700"/>
              </a:xfrm>
              <a:prstGeom prst="straightConnector1">
                <a:avLst/>
              </a:prstGeom>
              <a:noFill/>
              <a:ln cap="flat" cmpd="sng" w="76200">
                <a:solidFill>
                  <a:srgbClr val="942093"/>
                </a:solidFill>
                <a:prstDash val="solid"/>
                <a:miter lim="800000"/>
                <a:headEnd len="sm" w="sm" type="none"/>
                <a:tailEnd len="sm" w="sm" type="none"/>
              </a:ln>
            </p:spPr>
          </p:cxnSp>
        </p:grpSp>
        <p:sp>
          <p:nvSpPr>
            <p:cNvPr id="3272" name="Google Shape;3272;p76"/>
            <p:cNvSpPr txBox="1"/>
            <p:nvPr/>
          </p:nvSpPr>
          <p:spPr>
            <a:xfrm>
              <a:off x="492858" y="773769"/>
              <a:ext cx="5544457" cy="3542737"/>
            </a:xfrm>
            <a:prstGeom prst="rect">
              <a:avLst/>
            </a:prstGeom>
            <a:solidFill>
              <a:srgbClr val="E1EFD8"/>
            </a:solid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None/>
              </a:pPr>
              <a:r>
                <a:rPr b="1" lang="en-US" sz="2800">
                  <a:solidFill>
                    <a:srgbClr val="E1EFD8"/>
                  </a:solidFill>
                  <a:latin typeface="Avenir"/>
                  <a:ea typeface="Avenir"/>
                  <a:cs typeface="Avenir"/>
                  <a:sym typeface="Avenir"/>
                </a:rPr>
                <a:t>_</a:t>
              </a:r>
              <a:r>
                <a:rPr b="1" lang="en-US" sz="2000">
                  <a:solidFill>
                    <a:schemeClr val="dk1"/>
                  </a:solidFill>
                  <a:latin typeface="Avenir"/>
                  <a:ea typeface="Avenir"/>
                  <a:cs typeface="Avenir"/>
                  <a:sym typeface="Avenir"/>
                </a:rPr>
                <a:t>Assets</a:t>
              </a:r>
              <a:endParaRPr b="1" sz="2800">
                <a:solidFill>
                  <a:schemeClr val="dk1"/>
                </a:solidFill>
                <a:latin typeface="Avenir"/>
                <a:ea typeface="Avenir"/>
                <a:cs typeface="Avenir"/>
                <a:sym typeface="Avenir"/>
              </a:endParaRPr>
            </a:p>
          </p:txBody>
        </p:sp>
      </p:grpSp>
      <p:grpSp>
        <p:nvGrpSpPr>
          <p:cNvPr id="3273" name="Google Shape;3273;p76"/>
          <p:cNvGrpSpPr/>
          <p:nvPr/>
        </p:nvGrpSpPr>
        <p:grpSpPr>
          <a:xfrm>
            <a:off x="4248000" y="2850495"/>
            <a:ext cx="1620000" cy="1116000"/>
            <a:chOff x="3810000" y="2381250"/>
            <a:chExt cx="1390650" cy="1230631"/>
          </a:xfrm>
        </p:grpSpPr>
        <p:sp>
          <p:nvSpPr>
            <p:cNvPr id="3274" name="Google Shape;3274;p76"/>
            <p:cNvSpPr/>
            <p:nvPr/>
          </p:nvSpPr>
          <p:spPr>
            <a:xfrm flipH="1">
              <a:off x="4505325" y="2381250"/>
              <a:ext cx="695325" cy="1230631"/>
            </a:xfrm>
            <a:prstGeom prst="corner">
              <a:avLst>
                <a:gd fmla="val 7073" name="adj1"/>
                <a:gd fmla="val 694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3275" name="Google Shape;3275;p76"/>
            <p:cNvSpPr/>
            <p:nvPr/>
          </p:nvSpPr>
          <p:spPr>
            <a:xfrm>
              <a:off x="3810000" y="2381250"/>
              <a:ext cx="695325" cy="1230631"/>
            </a:xfrm>
            <a:prstGeom prst="corner">
              <a:avLst>
                <a:gd fmla="val 7073" name="adj1"/>
                <a:gd fmla="val 694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3276" name="Google Shape;3276;p76"/>
          <p:cNvGrpSpPr/>
          <p:nvPr/>
        </p:nvGrpSpPr>
        <p:grpSpPr>
          <a:xfrm>
            <a:off x="2458800" y="1443348"/>
            <a:ext cx="1620000" cy="2515350"/>
            <a:chOff x="671549" y="1402787"/>
            <a:chExt cx="1620000" cy="2549293"/>
          </a:xfrm>
        </p:grpSpPr>
        <p:sp>
          <p:nvSpPr>
            <p:cNvPr id="3277" name="Google Shape;3277;p76"/>
            <p:cNvSpPr/>
            <p:nvPr/>
          </p:nvSpPr>
          <p:spPr>
            <a:xfrm flipH="1">
              <a:off x="1481549" y="1402787"/>
              <a:ext cx="810000" cy="2549293"/>
            </a:xfrm>
            <a:prstGeom prst="corner">
              <a:avLst>
                <a:gd fmla="val 6497" name="adj1"/>
                <a:gd fmla="val 694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1800">
                <a:solidFill>
                  <a:schemeClr val="lt1"/>
                </a:solidFill>
                <a:latin typeface="Avenir"/>
                <a:ea typeface="Avenir"/>
                <a:cs typeface="Avenir"/>
                <a:sym typeface="Avenir"/>
              </a:endParaRPr>
            </a:p>
          </p:txBody>
        </p:sp>
        <p:sp>
          <p:nvSpPr>
            <p:cNvPr id="3278" name="Google Shape;3278;p76"/>
            <p:cNvSpPr/>
            <p:nvPr/>
          </p:nvSpPr>
          <p:spPr>
            <a:xfrm>
              <a:off x="671549" y="1402787"/>
              <a:ext cx="810000" cy="2549293"/>
            </a:xfrm>
            <a:prstGeom prst="corner">
              <a:avLst>
                <a:gd fmla="val 6497" name="adj1"/>
                <a:gd fmla="val 7336"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1800">
                <a:solidFill>
                  <a:schemeClr val="lt1"/>
                </a:solidFill>
                <a:latin typeface="Avenir"/>
                <a:ea typeface="Avenir"/>
                <a:cs typeface="Avenir"/>
                <a:sym typeface="Avenir"/>
              </a:endParaRPr>
            </a:p>
          </p:txBody>
        </p:sp>
      </p:grpSp>
      <p:grpSp>
        <p:nvGrpSpPr>
          <p:cNvPr id="3279" name="Google Shape;3279;p76"/>
          <p:cNvGrpSpPr/>
          <p:nvPr/>
        </p:nvGrpSpPr>
        <p:grpSpPr>
          <a:xfrm>
            <a:off x="673200" y="3340800"/>
            <a:ext cx="1620000" cy="613673"/>
            <a:chOff x="3810000" y="2381250"/>
            <a:chExt cx="1390650" cy="1230631"/>
          </a:xfrm>
        </p:grpSpPr>
        <p:sp>
          <p:nvSpPr>
            <p:cNvPr id="3280" name="Google Shape;3280;p76"/>
            <p:cNvSpPr/>
            <p:nvPr/>
          </p:nvSpPr>
          <p:spPr>
            <a:xfrm flipH="1">
              <a:off x="4505325"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3281" name="Google Shape;3281;p76"/>
            <p:cNvSpPr/>
            <p:nvPr/>
          </p:nvSpPr>
          <p:spPr>
            <a:xfrm>
              <a:off x="3810000"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sp>
        <p:nvSpPr>
          <p:cNvPr id="3282" name="Google Shape;3282;p76"/>
          <p:cNvSpPr txBox="1"/>
          <p:nvPr/>
        </p:nvSpPr>
        <p:spPr>
          <a:xfrm>
            <a:off x="2551146" y="3924000"/>
            <a:ext cx="1393331"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Cash at bank</a:t>
            </a:r>
            <a:endParaRPr/>
          </a:p>
        </p:txBody>
      </p:sp>
      <p:sp>
        <p:nvSpPr>
          <p:cNvPr id="3283" name="Google Shape;3283;p76"/>
          <p:cNvSpPr txBox="1"/>
          <p:nvPr/>
        </p:nvSpPr>
        <p:spPr>
          <a:xfrm>
            <a:off x="4292494" y="3924000"/>
            <a:ext cx="1531779"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Inventory</a:t>
            </a:r>
            <a:endParaRPr/>
          </a:p>
        </p:txBody>
      </p:sp>
      <p:sp>
        <p:nvSpPr>
          <p:cNvPr id="3284" name="Google Shape;3284;p76"/>
          <p:cNvSpPr txBox="1"/>
          <p:nvPr/>
        </p:nvSpPr>
        <p:spPr>
          <a:xfrm>
            <a:off x="4101806" y="2478490"/>
            <a:ext cx="1911388"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Deferred expenses</a:t>
            </a:r>
            <a:endParaRPr/>
          </a:p>
        </p:txBody>
      </p:sp>
      <p:sp>
        <p:nvSpPr>
          <p:cNvPr id="3285" name="Google Shape;3285;p76"/>
          <p:cNvSpPr txBox="1"/>
          <p:nvPr/>
        </p:nvSpPr>
        <p:spPr>
          <a:xfrm>
            <a:off x="661400" y="3924000"/>
            <a:ext cx="1647322"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Equipment</a:t>
            </a:r>
            <a:endParaRPr/>
          </a:p>
        </p:txBody>
      </p:sp>
      <p:sp>
        <p:nvSpPr>
          <p:cNvPr id="3286" name="Google Shape;3286;p76"/>
          <p:cNvSpPr txBox="1"/>
          <p:nvPr/>
        </p:nvSpPr>
        <p:spPr>
          <a:xfrm>
            <a:off x="2596439" y="5339671"/>
            <a:ext cx="1590567"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Cleaning</a:t>
            </a:r>
            <a:endParaRPr/>
          </a:p>
        </p:txBody>
      </p:sp>
      <p:sp>
        <p:nvSpPr>
          <p:cNvPr id="3287" name="Google Shape;3287;p76"/>
          <p:cNvSpPr txBox="1"/>
          <p:nvPr/>
        </p:nvSpPr>
        <p:spPr>
          <a:xfrm>
            <a:off x="4306077" y="6192000"/>
            <a:ext cx="1606417"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Cost of sales</a:t>
            </a:r>
            <a:endParaRPr/>
          </a:p>
        </p:txBody>
      </p:sp>
      <p:sp>
        <p:nvSpPr>
          <p:cNvPr id="3288" name="Google Shape;3288;p76"/>
          <p:cNvSpPr txBox="1"/>
          <p:nvPr/>
        </p:nvSpPr>
        <p:spPr>
          <a:xfrm>
            <a:off x="6295758" y="6192000"/>
            <a:ext cx="1842786"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Revenue (sales)</a:t>
            </a:r>
            <a:endParaRPr/>
          </a:p>
        </p:txBody>
      </p:sp>
      <p:sp>
        <p:nvSpPr>
          <p:cNvPr id="3289" name="Google Shape;3289;p76"/>
          <p:cNvSpPr txBox="1"/>
          <p:nvPr/>
        </p:nvSpPr>
        <p:spPr>
          <a:xfrm>
            <a:off x="10028967" y="2029411"/>
            <a:ext cx="1593685"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Bank loan</a:t>
            </a:r>
            <a:endParaRPr/>
          </a:p>
        </p:txBody>
      </p:sp>
      <p:sp>
        <p:nvSpPr>
          <p:cNvPr id="3290" name="Google Shape;3290;p76"/>
          <p:cNvSpPr txBox="1"/>
          <p:nvPr/>
        </p:nvSpPr>
        <p:spPr>
          <a:xfrm>
            <a:off x="8114313" y="2028286"/>
            <a:ext cx="1864201"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Deferred income</a:t>
            </a:r>
            <a:endParaRPr/>
          </a:p>
        </p:txBody>
      </p:sp>
      <p:sp>
        <p:nvSpPr>
          <p:cNvPr id="3291" name="Google Shape;3291;p76"/>
          <p:cNvSpPr txBox="1"/>
          <p:nvPr/>
        </p:nvSpPr>
        <p:spPr>
          <a:xfrm>
            <a:off x="3184560" y="3614709"/>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30,000</a:t>
            </a:r>
            <a:endParaRPr/>
          </a:p>
        </p:txBody>
      </p:sp>
      <p:sp>
        <p:nvSpPr>
          <p:cNvPr id="3292" name="Google Shape;3292;p76"/>
          <p:cNvSpPr txBox="1"/>
          <p:nvPr/>
        </p:nvSpPr>
        <p:spPr>
          <a:xfrm>
            <a:off x="3184560" y="3344709"/>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20,000</a:t>
            </a:r>
            <a:endParaRPr/>
          </a:p>
        </p:txBody>
      </p:sp>
      <p:sp>
        <p:nvSpPr>
          <p:cNvPr id="3293" name="Google Shape;3293;p76"/>
          <p:cNvSpPr txBox="1"/>
          <p:nvPr/>
        </p:nvSpPr>
        <p:spPr>
          <a:xfrm>
            <a:off x="3298373" y="3074709"/>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5,000</a:t>
            </a:r>
            <a:endParaRPr/>
          </a:p>
        </p:txBody>
      </p:sp>
      <p:sp>
        <p:nvSpPr>
          <p:cNvPr id="3294" name="Google Shape;3294;p76"/>
          <p:cNvSpPr txBox="1"/>
          <p:nvPr/>
        </p:nvSpPr>
        <p:spPr>
          <a:xfrm>
            <a:off x="3469894" y="2534709"/>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700</a:t>
            </a:r>
            <a:endParaRPr/>
          </a:p>
        </p:txBody>
      </p:sp>
      <p:sp>
        <p:nvSpPr>
          <p:cNvPr id="3295" name="Google Shape;3295;p76"/>
          <p:cNvSpPr txBox="1"/>
          <p:nvPr/>
        </p:nvSpPr>
        <p:spPr>
          <a:xfrm>
            <a:off x="3583708" y="2264709"/>
            <a:ext cx="412292"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50</a:t>
            </a:r>
            <a:endParaRPr/>
          </a:p>
        </p:txBody>
      </p:sp>
      <p:sp>
        <p:nvSpPr>
          <p:cNvPr id="3296" name="Google Shape;3296;p76"/>
          <p:cNvSpPr txBox="1"/>
          <p:nvPr/>
        </p:nvSpPr>
        <p:spPr>
          <a:xfrm>
            <a:off x="3713366" y="5031445"/>
            <a:ext cx="412292"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50</a:t>
            </a:r>
            <a:endParaRPr/>
          </a:p>
        </p:txBody>
      </p:sp>
      <p:sp>
        <p:nvSpPr>
          <p:cNvPr id="3297" name="Google Shape;3297;p76"/>
          <p:cNvSpPr txBox="1"/>
          <p:nvPr/>
        </p:nvSpPr>
        <p:spPr>
          <a:xfrm>
            <a:off x="3469894" y="1724709"/>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600</a:t>
            </a:r>
            <a:endParaRPr/>
          </a:p>
        </p:txBody>
      </p:sp>
      <p:sp>
        <p:nvSpPr>
          <p:cNvPr id="3298" name="Google Shape;3298;p76"/>
          <p:cNvSpPr txBox="1"/>
          <p:nvPr/>
        </p:nvSpPr>
        <p:spPr>
          <a:xfrm>
            <a:off x="3469894" y="1454709"/>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800</a:t>
            </a:r>
            <a:endParaRPr/>
          </a:p>
        </p:txBody>
      </p:sp>
      <p:sp>
        <p:nvSpPr>
          <p:cNvPr id="3299" name="Google Shape;3299;p76"/>
          <p:cNvSpPr txBox="1"/>
          <p:nvPr/>
        </p:nvSpPr>
        <p:spPr>
          <a:xfrm>
            <a:off x="3184560" y="2804709"/>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10,000</a:t>
            </a:r>
            <a:endParaRPr/>
          </a:p>
        </p:txBody>
      </p:sp>
      <p:sp>
        <p:nvSpPr>
          <p:cNvPr id="3300" name="Google Shape;3300;p76"/>
          <p:cNvSpPr txBox="1"/>
          <p:nvPr/>
        </p:nvSpPr>
        <p:spPr>
          <a:xfrm>
            <a:off x="10026434" y="3924000"/>
            <a:ext cx="1757569"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contributed capital</a:t>
            </a:r>
            <a:endParaRPr/>
          </a:p>
        </p:txBody>
      </p:sp>
      <p:sp>
        <p:nvSpPr>
          <p:cNvPr id="3301" name="Google Shape;3301;p76"/>
          <p:cNvSpPr/>
          <p:nvPr/>
        </p:nvSpPr>
        <p:spPr>
          <a:xfrm>
            <a:off x="3011371" y="15267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302" name="Google Shape;3302;p76"/>
          <p:cNvSpPr/>
          <p:nvPr/>
        </p:nvSpPr>
        <p:spPr>
          <a:xfrm rot="10800000">
            <a:off x="3011371" y="177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303" name="Google Shape;3303;p76"/>
          <p:cNvSpPr/>
          <p:nvPr/>
        </p:nvSpPr>
        <p:spPr>
          <a:xfrm>
            <a:off x="3011371" y="23367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304" name="Google Shape;3304;p76"/>
          <p:cNvSpPr/>
          <p:nvPr/>
        </p:nvSpPr>
        <p:spPr>
          <a:xfrm rot="10800000">
            <a:off x="3011371" y="258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305" name="Google Shape;3305;p76"/>
          <p:cNvSpPr/>
          <p:nvPr/>
        </p:nvSpPr>
        <p:spPr>
          <a:xfrm>
            <a:off x="3011371" y="28767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306" name="Google Shape;3306;p76"/>
          <p:cNvSpPr/>
          <p:nvPr/>
        </p:nvSpPr>
        <p:spPr>
          <a:xfrm>
            <a:off x="3011371" y="31467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307" name="Google Shape;3307;p76"/>
          <p:cNvSpPr/>
          <p:nvPr/>
        </p:nvSpPr>
        <p:spPr>
          <a:xfrm rot="10800000">
            <a:off x="3011371" y="339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308" name="Google Shape;3308;p76"/>
          <p:cNvSpPr/>
          <p:nvPr/>
        </p:nvSpPr>
        <p:spPr>
          <a:xfrm rot="10800000">
            <a:off x="3011371" y="366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309" name="Google Shape;3309;p76"/>
          <p:cNvSpPr txBox="1"/>
          <p:nvPr/>
        </p:nvSpPr>
        <p:spPr>
          <a:xfrm>
            <a:off x="10785455" y="1718255"/>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30,000</a:t>
            </a:r>
            <a:endParaRPr/>
          </a:p>
        </p:txBody>
      </p:sp>
      <p:sp>
        <p:nvSpPr>
          <p:cNvPr id="3310" name="Google Shape;3310;p76"/>
          <p:cNvSpPr/>
          <p:nvPr/>
        </p:nvSpPr>
        <p:spPr>
          <a:xfrm rot="10800000">
            <a:off x="10548000" y="1757882"/>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3311" name="Google Shape;3311;p76"/>
          <p:cNvSpPr txBox="1"/>
          <p:nvPr/>
        </p:nvSpPr>
        <p:spPr>
          <a:xfrm>
            <a:off x="10776926" y="3605780"/>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20,000</a:t>
            </a:r>
            <a:endParaRPr/>
          </a:p>
        </p:txBody>
      </p:sp>
      <p:sp>
        <p:nvSpPr>
          <p:cNvPr id="3312" name="Google Shape;3312;p76"/>
          <p:cNvSpPr txBox="1"/>
          <p:nvPr/>
        </p:nvSpPr>
        <p:spPr>
          <a:xfrm>
            <a:off x="10732895" y="1448255"/>
            <a:ext cx="86400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5,000</a:t>
            </a:r>
            <a:endParaRPr/>
          </a:p>
        </p:txBody>
      </p:sp>
      <p:sp>
        <p:nvSpPr>
          <p:cNvPr id="3313" name="Google Shape;3313;p76"/>
          <p:cNvSpPr/>
          <p:nvPr/>
        </p:nvSpPr>
        <p:spPr>
          <a:xfrm>
            <a:off x="10548000" y="1505882"/>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548135"/>
              </a:solidFill>
              <a:latin typeface="Calibri"/>
              <a:ea typeface="Calibri"/>
              <a:cs typeface="Calibri"/>
              <a:sym typeface="Calibri"/>
            </a:endParaRPr>
          </a:p>
        </p:txBody>
      </p:sp>
      <p:sp>
        <p:nvSpPr>
          <p:cNvPr id="3314" name="Google Shape;3314;p76"/>
          <p:cNvSpPr txBox="1"/>
          <p:nvPr/>
        </p:nvSpPr>
        <p:spPr>
          <a:xfrm>
            <a:off x="4984560" y="3610092"/>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10,000</a:t>
            </a:r>
            <a:endParaRPr/>
          </a:p>
        </p:txBody>
      </p:sp>
      <p:sp>
        <p:nvSpPr>
          <p:cNvPr id="3315" name="Google Shape;3315;p76"/>
          <p:cNvSpPr txBox="1"/>
          <p:nvPr/>
        </p:nvSpPr>
        <p:spPr>
          <a:xfrm>
            <a:off x="7429894" y="5905082"/>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700</a:t>
            </a:r>
            <a:endParaRPr/>
          </a:p>
        </p:txBody>
      </p:sp>
      <p:sp>
        <p:nvSpPr>
          <p:cNvPr id="3316" name="Google Shape;3316;p76"/>
          <p:cNvSpPr/>
          <p:nvPr/>
        </p:nvSpPr>
        <p:spPr>
          <a:xfrm rot="10800000">
            <a:off x="6984000" y="5943076"/>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3317" name="Google Shape;3317;p76"/>
          <p:cNvSpPr/>
          <p:nvPr/>
        </p:nvSpPr>
        <p:spPr>
          <a:xfrm rot="10800000">
            <a:off x="3096000" y="5082325"/>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318" name="Google Shape;3318;p76"/>
          <p:cNvSpPr txBox="1"/>
          <p:nvPr/>
        </p:nvSpPr>
        <p:spPr>
          <a:xfrm>
            <a:off x="3469894" y="1994709"/>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100</a:t>
            </a:r>
            <a:endParaRPr/>
          </a:p>
        </p:txBody>
      </p:sp>
      <p:sp>
        <p:nvSpPr>
          <p:cNvPr id="3319" name="Google Shape;3319;p76"/>
          <p:cNvSpPr/>
          <p:nvPr/>
        </p:nvSpPr>
        <p:spPr>
          <a:xfrm rot="10800000">
            <a:off x="3007666" y="2049930"/>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320" name="Google Shape;3320;p76"/>
          <p:cNvSpPr txBox="1"/>
          <p:nvPr/>
        </p:nvSpPr>
        <p:spPr>
          <a:xfrm>
            <a:off x="7315968" y="1713373"/>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6,000</a:t>
            </a:r>
            <a:endParaRPr/>
          </a:p>
        </p:txBody>
      </p:sp>
      <p:sp>
        <p:nvSpPr>
          <p:cNvPr id="3321" name="Google Shape;3321;p76"/>
          <p:cNvSpPr/>
          <p:nvPr/>
        </p:nvSpPr>
        <p:spPr>
          <a:xfrm rot="10800000">
            <a:off x="6984000" y="1749046"/>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3322" name="Google Shape;3322;p76"/>
          <p:cNvSpPr txBox="1"/>
          <p:nvPr/>
        </p:nvSpPr>
        <p:spPr>
          <a:xfrm>
            <a:off x="1501235" y="3588336"/>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6,000</a:t>
            </a:r>
            <a:endParaRPr/>
          </a:p>
        </p:txBody>
      </p:sp>
      <p:sp>
        <p:nvSpPr>
          <p:cNvPr id="3323" name="Google Shape;3323;p76"/>
          <p:cNvSpPr/>
          <p:nvPr/>
        </p:nvSpPr>
        <p:spPr>
          <a:xfrm rot="10800000">
            <a:off x="1249425" y="3637660"/>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324" name="Google Shape;3324;p76"/>
          <p:cNvSpPr txBox="1"/>
          <p:nvPr/>
        </p:nvSpPr>
        <p:spPr>
          <a:xfrm>
            <a:off x="5269894" y="3365080"/>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300</a:t>
            </a:r>
            <a:endParaRPr/>
          </a:p>
        </p:txBody>
      </p:sp>
      <p:sp>
        <p:nvSpPr>
          <p:cNvPr id="3325" name="Google Shape;3325;p76"/>
          <p:cNvSpPr/>
          <p:nvPr/>
        </p:nvSpPr>
        <p:spPr>
          <a:xfrm>
            <a:off x="4824000" y="3429341"/>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326" name="Google Shape;3326;p76"/>
          <p:cNvSpPr/>
          <p:nvPr/>
        </p:nvSpPr>
        <p:spPr>
          <a:xfrm rot="10800000">
            <a:off x="4824000" y="3662508"/>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327" name="Google Shape;3327;p76"/>
          <p:cNvSpPr txBox="1"/>
          <p:nvPr/>
        </p:nvSpPr>
        <p:spPr>
          <a:xfrm>
            <a:off x="5305894" y="5893862"/>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300</a:t>
            </a:r>
            <a:endParaRPr/>
          </a:p>
        </p:txBody>
      </p:sp>
      <p:sp>
        <p:nvSpPr>
          <p:cNvPr id="3328" name="Google Shape;3328;p76"/>
          <p:cNvSpPr/>
          <p:nvPr/>
        </p:nvSpPr>
        <p:spPr>
          <a:xfrm rot="10800000">
            <a:off x="4860000" y="5944742"/>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329" name="Google Shape;3329;p76"/>
          <p:cNvSpPr txBox="1"/>
          <p:nvPr/>
        </p:nvSpPr>
        <p:spPr>
          <a:xfrm>
            <a:off x="7429894" y="5645244"/>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600</a:t>
            </a:r>
            <a:endParaRPr/>
          </a:p>
        </p:txBody>
      </p:sp>
      <p:sp>
        <p:nvSpPr>
          <p:cNvPr id="3330" name="Google Shape;3330;p76"/>
          <p:cNvSpPr/>
          <p:nvPr/>
        </p:nvSpPr>
        <p:spPr>
          <a:xfrm rot="10800000">
            <a:off x="6984000" y="5695376"/>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3331" name="Google Shape;3331;p76"/>
          <p:cNvSpPr txBox="1"/>
          <p:nvPr/>
        </p:nvSpPr>
        <p:spPr>
          <a:xfrm>
            <a:off x="5269894" y="1222069"/>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600</a:t>
            </a:r>
            <a:endParaRPr/>
          </a:p>
        </p:txBody>
      </p:sp>
      <p:sp>
        <p:nvSpPr>
          <p:cNvPr id="3332" name="Google Shape;3332;p76"/>
          <p:cNvSpPr/>
          <p:nvPr/>
        </p:nvSpPr>
        <p:spPr>
          <a:xfrm rot="10800000">
            <a:off x="4824771" y="1263348"/>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333" name="Google Shape;3333;p76"/>
          <p:cNvSpPr txBox="1"/>
          <p:nvPr/>
        </p:nvSpPr>
        <p:spPr>
          <a:xfrm>
            <a:off x="5269894" y="3118060"/>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300</a:t>
            </a:r>
            <a:endParaRPr/>
          </a:p>
        </p:txBody>
      </p:sp>
      <p:sp>
        <p:nvSpPr>
          <p:cNvPr id="3334" name="Google Shape;3334;p76"/>
          <p:cNvSpPr/>
          <p:nvPr/>
        </p:nvSpPr>
        <p:spPr>
          <a:xfrm>
            <a:off x="4824000" y="3182321"/>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335" name="Google Shape;3335;p76"/>
          <p:cNvSpPr txBox="1"/>
          <p:nvPr/>
        </p:nvSpPr>
        <p:spPr>
          <a:xfrm>
            <a:off x="5305894" y="5646024"/>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300</a:t>
            </a:r>
            <a:endParaRPr/>
          </a:p>
        </p:txBody>
      </p:sp>
      <p:sp>
        <p:nvSpPr>
          <p:cNvPr id="3336" name="Google Shape;3336;p76"/>
          <p:cNvSpPr/>
          <p:nvPr/>
        </p:nvSpPr>
        <p:spPr>
          <a:xfrm rot="10800000">
            <a:off x="4860000" y="5696904"/>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337" name="Google Shape;3337;p76"/>
          <p:cNvSpPr txBox="1"/>
          <p:nvPr/>
        </p:nvSpPr>
        <p:spPr>
          <a:xfrm>
            <a:off x="3599552" y="4796571"/>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250</a:t>
            </a:r>
            <a:endParaRPr/>
          </a:p>
        </p:txBody>
      </p:sp>
      <p:sp>
        <p:nvSpPr>
          <p:cNvPr id="3338" name="Google Shape;3338;p76"/>
          <p:cNvSpPr/>
          <p:nvPr/>
        </p:nvSpPr>
        <p:spPr>
          <a:xfrm rot="10800000">
            <a:off x="3096000" y="4847451"/>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339" name="Google Shape;3339;p76"/>
          <p:cNvSpPr txBox="1"/>
          <p:nvPr/>
        </p:nvSpPr>
        <p:spPr>
          <a:xfrm>
            <a:off x="7487489" y="1462635"/>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250</a:t>
            </a:r>
            <a:endParaRPr/>
          </a:p>
        </p:txBody>
      </p:sp>
      <p:sp>
        <p:nvSpPr>
          <p:cNvPr id="3340" name="Google Shape;3340;p76"/>
          <p:cNvSpPr/>
          <p:nvPr/>
        </p:nvSpPr>
        <p:spPr>
          <a:xfrm rot="10800000">
            <a:off x="6984000" y="14983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3341" name="Google Shape;3341;p76"/>
          <p:cNvSpPr txBox="1"/>
          <p:nvPr/>
        </p:nvSpPr>
        <p:spPr>
          <a:xfrm>
            <a:off x="9285817" y="1715500"/>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100</a:t>
            </a:r>
            <a:endParaRPr/>
          </a:p>
        </p:txBody>
      </p:sp>
      <p:sp>
        <p:nvSpPr>
          <p:cNvPr id="3342" name="Google Shape;3342;p76"/>
          <p:cNvSpPr/>
          <p:nvPr/>
        </p:nvSpPr>
        <p:spPr>
          <a:xfrm rot="10800000">
            <a:off x="8784000" y="1751173"/>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3343" name="Google Shape;3343;p76"/>
          <p:cNvSpPr txBox="1"/>
          <p:nvPr/>
        </p:nvSpPr>
        <p:spPr>
          <a:xfrm>
            <a:off x="5269894" y="965882"/>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600</a:t>
            </a:r>
            <a:endParaRPr/>
          </a:p>
        </p:txBody>
      </p:sp>
      <p:sp>
        <p:nvSpPr>
          <p:cNvPr id="3344" name="Google Shape;3344;p76"/>
          <p:cNvSpPr/>
          <p:nvPr/>
        </p:nvSpPr>
        <p:spPr>
          <a:xfrm>
            <a:off x="4825605" y="102209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345" name="Google Shape;3345;p76"/>
          <p:cNvSpPr txBox="1"/>
          <p:nvPr/>
        </p:nvSpPr>
        <p:spPr>
          <a:xfrm>
            <a:off x="7543708" y="5375143"/>
            <a:ext cx="412292"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90</a:t>
            </a:r>
            <a:endParaRPr/>
          </a:p>
        </p:txBody>
      </p:sp>
      <p:sp>
        <p:nvSpPr>
          <p:cNvPr id="3346" name="Google Shape;3346;p76"/>
          <p:cNvSpPr/>
          <p:nvPr/>
        </p:nvSpPr>
        <p:spPr>
          <a:xfrm rot="10800000">
            <a:off x="6984000" y="5425275"/>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3347" name="Google Shape;3347;p76"/>
          <p:cNvSpPr txBox="1"/>
          <p:nvPr/>
        </p:nvSpPr>
        <p:spPr>
          <a:xfrm>
            <a:off x="8947923" y="1452209"/>
            <a:ext cx="86400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90</a:t>
            </a:r>
            <a:endParaRPr/>
          </a:p>
        </p:txBody>
      </p:sp>
      <p:sp>
        <p:nvSpPr>
          <p:cNvPr id="3348" name="Google Shape;3348;p76"/>
          <p:cNvSpPr/>
          <p:nvPr/>
        </p:nvSpPr>
        <p:spPr>
          <a:xfrm>
            <a:off x="8784000" y="1505882"/>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548135"/>
              </a:solidFill>
              <a:latin typeface="Calibri"/>
              <a:ea typeface="Calibri"/>
              <a:cs typeface="Calibri"/>
              <a:sym typeface="Calibri"/>
            </a:endParaRPr>
          </a:p>
        </p:txBody>
      </p:sp>
      <p:sp>
        <p:nvSpPr>
          <p:cNvPr id="3349" name="Google Shape;3349;p76"/>
          <p:cNvSpPr txBox="1"/>
          <p:nvPr/>
        </p:nvSpPr>
        <p:spPr>
          <a:xfrm>
            <a:off x="5383708" y="2869537"/>
            <a:ext cx="412292"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30</a:t>
            </a:r>
            <a:endParaRPr/>
          </a:p>
        </p:txBody>
      </p:sp>
      <p:sp>
        <p:nvSpPr>
          <p:cNvPr id="3350" name="Google Shape;3350;p76"/>
          <p:cNvSpPr/>
          <p:nvPr/>
        </p:nvSpPr>
        <p:spPr>
          <a:xfrm>
            <a:off x="4824000" y="293379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351" name="Google Shape;3351;p76"/>
          <p:cNvSpPr txBox="1"/>
          <p:nvPr/>
        </p:nvSpPr>
        <p:spPr>
          <a:xfrm>
            <a:off x="5419708" y="5397501"/>
            <a:ext cx="412292"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30</a:t>
            </a:r>
            <a:endParaRPr/>
          </a:p>
        </p:txBody>
      </p:sp>
      <p:sp>
        <p:nvSpPr>
          <p:cNvPr id="3352" name="Google Shape;3352;p76"/>
          <p:cNvSpPr/>
          <p:nvPr/>
        </p:nvSpPr>
        <p:spPr>
          <a:xfrm rot="10800000">
            <a:off x="4860000" y="5448381"/>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353" name="Google Shape;3353;p76"/>
          <p:cNvSpPr txBox="1"/>
          <p:nvPr/>
        </p:nvSpPr>
        <p:spPr>
          <a:xfrm>
            <a:off x="5269894" y="2157099"/>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800</a:t>
            </a:r>
            <a:endParaRPr/>
          </a:p>
        </p:txBody>
      </p:sp>
      <p:sp>
        <p:nvSpPr>
          <p:cNvPr id="3354" name="Google Shape;3354;p76"/>
          <p:cNvSpPr/>
          <p:nvPr/>
        </p:nvSpPr>
        <p:spPr>
          <a:xfrm rot="10800000">
            <a:off x="4824000" y="2198378"/>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3355" name="Google Shape;3355;p76"/>
          <p:cNvGrpSpPr/>
          <p:nvPr/>
        </p:nvGrpSpPr>
        <p:grpSpPr>
          <a:xfrm>
            <a:off x="2528691" y="1497833"/>
            <a:ext cx="309700" cy="223917"/>
            <a:chOff x="756599" y="3715226"/>
            <a:chExt cx="321512" cy="232457"/>
          </a:xfrm>
        </p:grpSpPr>
        <p:sp>
          <p:nvSpPr>
            <p:cNvPr id="3356" name="Google Shape;3356;p76"/>
            <p:cNvSpPr/>
            <p:nvPr/>
          </p:nvSpPr>
          <p:spPr>
            <a:xfrm>
              <a:off x="810780" y="3715226"/>
              <a:ext cx="224238" cy="224238"/>
            </a:xfrm>
            <a:prstGeom prst="ellipse">
              <a:avLst/>
            </a:prstGeom>
            <a:solidFill>
              <a:srgbClr val="FFFF00"/>
            </a:solidFill>
            <a:ln cap="flat" cmpd="sng" w="1270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357" name="Google Shape;3357;p76"/>
            <p:cNvSpPr/>
            <p:nvPr/>
          </p:nvSpPr>
          <p:spPr>
            <a:xfrm>
              <a:off x="756599" y="3724022"/>
              <a:ext cx="321512" cy="223661"/>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13</a:t>
              </a:r>
              <a:endParaRPr/>
            </a:p>
          </p:txBody>
        </p:sp>
      </p:grpSp>
      <p:grpSp>
        <p:nvGrpSpPr>
          <p:cNvPr id="3358" name="Google Shape;3358;p76"/>
          <p:cNvGrpSpPr/>
          <p:nvPr/>
        </p:nvGrpSpPr>
        <p:grpSpPr>
          <a:xfrm>
            <a:off x="2528691" y="1763611"/>
            <a:ext cx="309700" cy="223916"/>
            <a:chOff x="756599" y="3715227"/>
            <a:chExt cx="321512" cy="232456"/>
          </a:xfrm>
        </p:grpSpPr>
        <p:sp>
          <p:nvSpPr>
            <p:cNvPr id="3359" name="Google Shape;3359;p76"/>
            <p:cNvSpPr/>
            <p:nvPr/>
          </p:nvSpPr>
          <p:spPr>
            <a:xfrm>
              <a:off x="810780" y="3715227"/>
              <a:ext cx="224238" cy="224238"/>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360" name="Google Shape;3360;p76"/>
            <p:cNvSpPr/>
            <p:nvPr/>
          </p:nvSpPr>
          <p:spPr>
            <a:xfrm>
              <a:off x="756599" y="3724022"/>
              <a:ext cx="321512" cy="223661"/>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11</a:t>
              </a:r>
              <a:endParaRPr/>
            </a:p>
          </p:txBody>
        </p:sp>
      </p:grpSp>
      <p:grpSp>
        <p:nvGrpSpPr>
          <p:cNvPr id="3361" name="Google Shape;3361;p76"/>
          <p:cNvGrpSpPr/>
          <p:nvPr/>
        </p:nvGrpSpPr>
        <p:grpSpPr>
          <a:xfrm>
            <a:off x="2528691" y="2037441"/>
            <a:ext cx="309700" cy="223916"/>
            <a:chOff x="756599" y="3715227"/>
            <a:chExt cx="321512" cy="232456"/>
          </a:xfrm>
        </p:grpSpPr>
        <p:sp>
          <p:nvSpPr>
            <p:cNvPr id="3362" name="Google Shape;3362;p76"/>
            <p:cNvSpPr/>
            <p:nvPr/>
          </p:nvSpPr>
          <p:spPr>
            <a:xfrm>
              <a:off x="810780" y="3715227"/>
              <a:ext cx="224238" cy="224238"/>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363" name="Google Shape;3363;p76"/>
            <p:cNvSpPr/>
            <p:nvPr/>
          </p:nvSpPr>
          <p:spPr>
            <a:xfrm>
              <a:off x="756599" y="3724022"/>
              <a:ext cx="321512" cy="223661"/>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10</a:t>
              </a:r>
              <a:endParaRPr/>
            </a:p>
          </p:txBody>
        </p:sp>
      </p:grpSp>
      <p:grpSp>
        <p:nvGrpSpPr>
          <p:cNvPr id="3364" name="Google Shape;3364;p76"/>
          <p:cNvGrpSpPr/>
          <p:nvPr/>
        </p:nvGrpSpPr>
        <p:grpSpPr>
          <a:xfrm>
            <a:off x="2568712" y="2307277"/>
            <a:ext cx="247184" cy="223916"/>
            <a:chOff x="797287" y="3715227"/>
            <a:chExt cx="256611" cy="232456"/>
          </a:xfrm>
        </p:grpSpPr>
        <p:sp>
          <p:nvSpPr>
            <p:cNvPr id="3365" name="Google Shape;3365;p76"/>
            <p:cNvSpPr/>
            <p:nvPr/>
          </p:nvSpPr>
          <p:spPr>
            <a:xfrm>
              <a:off x="810780" y="3715227"/>
              <a:ext cx="224238" cy="224238"/>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366" name="Google Shape;3366;p76"/>
            <p:cNvSpPr/>
            <p:nvPr/>
          </p:nvSpPr>
          <p:spPr>
            <a:xfrm>
              <a:off x="797287" y="3724022"/>
              <a:ext cx="256611" cy="223661"/>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7</a:t>
              </a:r>
              <a:endParaRPr/>
            </a:p>
          </p:txBody>
        </p:sp>
      </p:grpSp>
      <p:grpSp>
        <p:nvGrpSpPr>
          <p:cNvPr id="3367" name="Google Shape;3367;p76"/>
          <p:cNvGrpSpPr/>
          <p:nvPr/>
        </p:nvGrpSpPr>
        <p:grpSpPr>
          <a:xfrm>
            <a:off x="2530414" y="2567405"/>
            <a:ext cx="300083" cy="223917"/>
            <a:chOff x="761592" y="3715226"/>
            <a:chExt cx="311527" cy="232457"/>
          </a:xfrm>
        </p:grpSpPr>
        <p:sp>
          <p:nvSpPr>
            <p:cNvPr id="3368" name="Google Shape;3368;p76"/>
            <p:cNvSpPr/>
            <p:nvPr/>
          </p:nvSpPr>
          <p:spPr>
            <a:xfrm>
              <a:off x="810780" y="3715226"/>
              <a:ext cx="224238" cy="224238"/>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369" name="Google Shape;3369;p76"/>
            <p:cNvSpPr/>
            <p:nvPr/>
          </p:nvSpPr>
          <p:spPr>
            <a:xfrm>
              <a:off x="761592" y="3724022"/>
              <a:ext cx="311527" cy="223661"/>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6a</a:t>
              </a:r>
              <a:endParaRPr/>
            </a:p>
          </p:txBody>
        </p:sp>
      </p:grpSp>
      <p:grpSp>
        <p:nvGrpSpPr>
          <p:cNvPr id="3370" name="Google Shape;3370;p76"/>
          <p:cNvGrpSpPr/>
          <p:nvPr/>
        </p:nvGrpSpPr>
        <p:grpSpPr>
          <a:xfrm>
            <a:off x="2574025" y="2841900"/>
            <a:ext cx="245580" cy="224238"/>
            <a:chOff x="802803" y="3715228"/>
            <a:chExt cx="245580" cy="224238"/>
          </a:xfrm>
        </p:grpSpPr>
        <p:sp>
          <p:nvSpPr>
            <p:cNvPr id="3371" name="Google Shape;3371;p76"/>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372" name="Google Shape;3372;p76"/>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5</a:t>
              </a:r>
              <a:endParaRPr/>
            </a:p>
          </p:txBody>
        </p:sp>
      </p:grpSp>
      <p:grpSp>
        <p:nvGrpSpPr>
          <p:cNvPr id="3373" name="Google Shape;3373;p76"/>
          <p:cNvGrpSpPr/>
          <p:nvPr/>
        </p:nvGrpSpPr>
        <p:grpSpPr>
          <a:xfrm>
            <a:off x="2574025" y="3121887"/>
            <a:ext cx="245580" cy="224238"/>
            <a:chOff x="802803" y="3715228"/>
            <a:chExt cx="245580" cy="224238"/>
          </a:xfrm>
        </p:grpSpPr>
        <p:sp>
          <p:nvSpPr>
            <p:cNvPr id="3374" name="Google Shape;3374;p76"/>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375" name="Google Shape;3375;p76"/>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3</a:t>
              </a:r>
              <a:endParaRPr/>
            </a:p>
          </p:txBody>
        </p:sp>
      </p:grpSp>
      <p:grpSp>
        <p:nvGrpSpPr>
          <p:cNvPr id="3376" name="Google Shape;3376;p76"/>
          <p:cNvGrpSpPr/>
          <p:nvPr/>
        </p:nvGrpSpPr>
        <p:grpSpPr>
          <a:xfrm>
            <a:off x="2574025" y="3385828"/>
            <a:ext cx="245580" cy="224238"/>
            <a:chOff x="802803" y="3715228"/>
            <a:chExt cx="245580" cy="224238"/>
          </a:xfrm>
        </p:grpSpPr>
        <p:sp>
          <p:nvSpPr>
            <p:cNvPr id="3377" name="Google Shape;3377;p76"/>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378" name="Google Shape;3378;p76"/>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2</a:t>
              </a:r>
              <a:endParaRPr/>
            </a:p>
          </p:txBody>
        </p:sp>
      </p:grpSp>
      <p:grpSp>
        <p:nvGrpSpPr>
          <p:cNvPr id="3379" name="Google Shape;3379;p76"/>
          <p:cNvGrpSpPr/>
          <p:nvPr/>
        </p:nvGrpSpPr>
        <p:grpSpPr>
          <a:xfrm>
            <a:off x="2574025" y="3649299"/>
            <a:ext cx="245580" cy="224238"/>
            <a:chOff x="802803" y="3715228"/>
            <a:chExt cx="245580" cy="224238"/>
          </a:xfrm>
        </p:grpSpPr>
        <p:sp>
          <p:nvSpPr>
            <p:cNvPr id="3380" name="Google Shape;3380;p76"/>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381" name="Google Shape;3381;p76"/>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a:t>
              </a:r>
              <a:endParaRPr/>
            </a:p>
          </p:txBody>
        </p:sp>
      </p:grpSp>
      <p:grpSp>
        <p:nvGrpSpPr>
          <p:cNvPr id="3382" name="Google Shape;3382;p76"/>
          <p:cNvGrpSpPr/>
          <p:nvPr/>
        </p:nvGrpSpPr>
        <p:grpSpPr>
          <a:xfrm>
            <a:off x="10117559" y="1755851"/>
            <a:ext cx="245580" cy="224238"/>
            <a:chOff x="802803" y="3715228"/>
            <a:chExt cx="245580" cy="224238"/>
          </a:xfrm>
        </p:grpSpPr>
        <p:sp>
          <p:nvSpPr>
            <p:cNvPr id="3383" name="Google Shape;3383;p76"/>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384" name="Google Shape;3384;p76"/>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a:t>
              </a:r>
              <a:endParaRPr/>
            </a:p>
          </p:txBody>
        </p:sp>
      </p:grpSp>
      <p:grpSp>
        <p:nvGrpSpPr>
          <p:cNvPr id="3385" name="Google Shape;3385;p76"/>
          <p:cNvGrpSpPr/>
          <p:nvPr/>
        </p:nvGrpSpPr>
        <p:grpSpPr>
          <a:xfrm>
            <a:off x="10116000" y="3650400"/>
            <a:ext cx="245580" cy="224238"/>
            <a:chOff x="802803" y="3715228"/>
            <a:chExt cx="245580" cy="224238"/>
          </a:xfrm>
        </p:grpSpPr>
        <p:sp>
          <p:nvSpPr>
            <p:cNvPr id="3386" name="Google Shape;3386;p76"/>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387" name="Google Shape;3387;p76"/>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2</a:t>
              </a:r>
              <a:endParaRPr/>
            </a:p>
          </p:txBody>
        </p:sp>
      </p:grpSp>
      <p:grpSp>
        <p:nvGrpSpPr>
          <p:cNvPr id="3388" name="Google Shape;3388;p76"/>
          <p:cNvGrpSpPr/>
          <p:nvPr/>
        </p:nvGrpSpPr>
        <p:grpSpPr>
          <a:xfrm>
            <a:off x="10117837" y="1489299"/>
            <a:ext cx="245580" cy="224238"/>
            <a:chOff x="802803" y="3715228"/>
            <a:chExt cx="245580" cy="224238"/>
          </a:xfrm>
        </p:grpSpPr>
        <p:sp>
          <p:nvSpPr>
            <p:cNvPr id="3389" name="Google Shape;3389;p76"/>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390" name="Google Shape;3390;p76"/>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3</a:t>
              </a:r>
              <a:endParaRPr/>
            </a:p>
          </p:txBody>
        </p:sp>
      </p:grpSp>
      <p:grpSp>
        <p:nvGrpSpPr>
          <p:cNvPr id="3391" name="Google Shape;3391;p76"/>
          <p:cNvGrpSpPr/>
          <p:nvPr/>
        </p:nvGrpSpPr>
        <p:grpSpPr>
          <a:xfrm>
            <a:off x="6553087" y="1741845"/>
            <a:ext cx="245580" cy="224238"/>
            <a:chOff x="802803" y="3715228"/>
            <a:chExt cx="245580" cy="224238"/>
          </a:xfrm>
        </p:grpSpPr>
        <p:sp>
          <p:nvSpPr>
            <p:cNvPr id="3392" name="Google Shape;3392;p76"/>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393" name="Google Shape;3393;p76"/>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4</a:t>
              </a:r>
              <a:endParaRPr/>
            </a:p>
          </p:txBody>
        </p:sp>
      </p:grpSp>
      <p:grpSp>
        <p:nvGrpSpPr>
          <p:cNvPr id="3394" name="Google Shape;3394;p76"/>
          <p:cNvGrpSpPr/>
          <p:nvPr/>
        </p:nvGrpSpPr>
        <p:grpSpPr>
          <a:xfrm>
            <a:off x="784605" y="3629276"/>
            <a:ext cx="245580" cy="224238"/>
            <a:chOff x="802803" y="3715228"/>
            <a:chExt cx="245580" cy="224238"/>
          </a:xfrm>
        </p:grpSpPr>
        <p:sp>
          <p:nvSpPr>
            <p:cNvPr id="3395" name="Google Shape;3395;p76"/>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396" name="Google Shape;3396;p76"/>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4</a:t>
              </a:r>
              <a:endParaRPr/>
            </a:p>
          </p:txBody>
        </p:sp>
      </p:grpSp>
      <p:grpSp>
        <p:nvGrpSpPr>
          <p:cNvPr id="3397" name="Google Shape;3397;p76"/>
          <p:cNvGrpSpPr/>
          <p:nvPr/>
        </p:nvGrpSpPr>
        <p:grpSpPr>
          <a:xfrm>
            <a:off x="4359077" y="3641899"/>
            <a:ext cx="245580" cy="224238"/>
            <a:chOff x="802803" y="3715228"/>
            <a:chExt cx="245580" cy="224238"/>
          </a:xfrm>
        </p:grpSpPr>
        <p:sp>
          <p:nvSpPr>
            <p:cNvPr id="3398" name="Google Shape;3398;p76"/>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399" name="Google Shape;3399;p76"/>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5</a:t>
              </a:r>
              <a:endParaRPr/>
            </a:p>
          </p:txBody>
        </p:sp>
      </p:grpSp>
      <p:grpSp>
        <p:nvGrpSpPr>
          <p:cNvPr id="3400" name="Google Shape;3400;p76"/>
          <p:cNvGrpSpPr/>
          <p:nvPr/>
        </p:nvGrpSpPr>
        <p:grpSpPr>
          <a:xfrm>
            <a:off x="6484980" y="5931080"/>
            <a:ext cx="300082" cy="224238"/>
            <a:chOff x="775552" y="3715228"/>
            <a:chExt cx="300082" cy="224238"/>
          </a:xfrm>
        </p:grpSpPr>
        <p:sp>
          <p:nvSpPr>
            <p:cNvPr id="3401" name="Google Shape;3401;p76"/>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402" name="Google Shape;3402;p76"/>
            <p:cNvSpPr/>
            <p:nvPr/>
          </p:nvSpPr>
          <p:spPr>
            <a:xfrm>
              <a:off x="775552" y="3724022"/>
              <a:ext cx="300082"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6a</a:t>
              </a:r>
              <a:endParaRPr/>
            </a:p>
          </p:txBody>
        </p:sp>
      </p:grpSp>
      <p:grpSp>
        <p:nvGrpSpPr>
          <p:cNvPr id="3403" name="Google Shape;3403;p76"/>
          <p:cNvGrpSpPr/>
          <p:nvPr/>
        </p:nvGrpSpPr>
        <p:grpSpPr>
          <a:xfrm>
            <a:off x="4325561" y="3388584"/>
            <a:ext cx="309700" cy="224238"/>
            <a:chOff x="770743" y="3715228"/>
            <a:chExt cx="309700" cy="224238"/>
          </a:xfrm>
        </p:grpSpPr>
        <p:sp>
          <p:nvSpPr>
            <p:cNvPr id="3404" name="Google Shape;3404;p76"/>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405" name="Google Shape;3405;p76"/>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6b</a:t>
              </a:r>
              <a:endParaRPr/>
            </a:p>
          </p:txBody>
        </p:sp>
      </p:grpSp>
      <p:grpSp>
        <p:nvGrpSpPr>
          <p:cNvPr id="3406" name="Google Shape;3406;p76"/>
          <p:cNvGrpSpPr/>
          <p:nvPr/>
        </p:nvGrpSpPr>
        <p:grpSpPr>
          <a:xfrm>
            <a:off x="4372912" y="5940000"/>
            <a:ext cx="309700" cy="224238"/>
            <a:chOff x="770743" y="3715228"/>
            <a:chExt cx="309700" cy="224238"/>
          </a:xfrm>
        </p:grpSpPr>
        <p:sp>
          <p:nvSpPr>
            <p:cNvPr id="3407" name="Google Shape;3407;p76"/>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408" name="Google Shape;3408;p76"/>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6b</a:t>
              </a:r>
              <a:endParaRPr/>
            </a:p>
          </p:txBody>
        </p:sp>
      </p:grpSp>
      <p:grpSp>
        <p:nvGrpSpPr>
          <p:cNvPr id="3409" name="Google Shape;3409;p76"/>
          <p:cNvGrpSpPr/>
          <p:nvPr/>
        </p:nvGrpSpPr>
        <p:grpSpPr>
          <a:xfrm>
            <a:off x="4330045" y="3136880"/>
            <a:ext cx="309700" cy="224238"/>
            <a:chOff x="770743" y="3715228"/>
            <a:chExt cx="309700" cy="224238"/>
          </a:xfrm>
        </p:grpSpPr>
        <p:sp>
          <p:nvSpPr>
            <p:cNvPr id="3410" name="Google Shape;3410;p76"/>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411" name="Google Shape;3411;p76"/>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8b</a:t>
              </a:r>
              <a:endParaRPr/>
            </a:p>
          </p:txBody>
        </p:sp>
      </p:grpSp>
      <p:grpSp>
        <p:nvGrpSpPr>
          <p:cNvPr id="3412" name="Google Shape;3412;p76"/>
          <p:cNvGrpSpPr/>
          <p:nvPr/>
        </p:nvGrpSpPr>
        <p:grpSpPr>
          <a:xfrm>
            <a:off x="4377396" y="5681195"/>
            <a:ext cx="309700" cy="224238"/>
            <a:chOff x="770743" y="3715228"/>
            <a:chExt cx="309700" cy="224238"/>
          </a:xfrm>
        </p:grpSpPr>
        <p:sp>
          <p:nvSpPr>
            <p:cNvPr id="3413" name="Google Shape;3413;p76"/>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414" name="Google Shape;3414;p76"/>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8b</a:t>
              </a:r>
              <a:endParaRPr/>
            </a:p>
          </p:txBody>
        </p:sp>
      </p:grpSp>
      <p:grpSp>
        <p:nvGrpSpPr>
          <p:cNvPr id="3415" name="Google Shape;3415;p76"/>
          <p:cNvGrpSpPr/>
          <p:nvPr/>
        </p:nvGrpSpPr>
        <p:grpSpPr>
          <a:xfrm>
            <a:off x="4298376" y="2880000"/>
            <a:ext cx="368899" cy="223200"/>
            <a:chOff x="740286" y="3715228"/>
            <a:chExt cx="370615" cy="224238"/>
          </a:xfrm>
        </p:grpSpPr>
        <p:sp>
          <p:nvSpPr>
            <p:cNvPr id="3416" name="Google Shape;3416;p76"/>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417" name="Google Shape;3417;p76"/>
            <p:cNvSpPr/>
            <p:nvPr/>
          </p:nvSpPr>
          <p:spPr>
            <a:xfrm>
              <a:off x="740286" y="3724022"/>
              <a:ext cx="370615"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12b</a:t>
              </a:r>
              <a:endParaRPr/>
            </a:p>
          </p:txBody>
        </p:sp>
      </p:grpSp>
      <p:grpSp>
        <p:nvGrpSpPr>
          <p:cNvPr id="3418" name="Google Shape;3418;p76"/>
          <p:cNvGrpSpPr/>
          <p:nvPr/>
        </p:nvGrpSpPr>
        <p:grpSpPr>
          <a:xfrm>
            <a:off x="4345727" y="5432633"/>
            <a:ext cx="370614" cy="347348"/>
            <a:chOff x="740286" y="3715228"/>
            <a:chExt cx="370614" cy="347348"/>
          </a:xfrm>
        </p:grpSpPr>
        <p:sp>
          <p:nvSpPr>
            <p:cNvPr id="3419" name="Google Shape;3419;p76"/>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420" name="Google Shape;3420;p76"/>
            <p:cNvSpPr/>
            <p:nvPr/>
          </p:nvSpPr>
          <p:spPr>
            <a:xfrm>
              <a:off x="740286" y="3724022"/>
              <a:ext cx="370614" cy="33855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12b</a:t>
              </a:r>
              <a:endParaRPr/>
            </a:p>
            <a:p>
              <a:pPr indent="0" lvl="0" marL="0" marR="0" rtl="0" algn="ctr">
                <a:spcBef>
                  <a:spcPts val="0"/>
                </a:spcBef>
                <a:spcAft>
                  <a:spcPts val="0"/>
                </a:spcAft>
                <a:buNone/>
              </a:pPr>
              <a:r>
                <a:t/>
              </a:r>
              <a:endParaRPr b="1" sz="800">
                <a:solidFill>
                  <a:srgbClr val="7F7F7F"/>
                </a:solidFill>
                <a:latin typeface="Avenir"/>
                <a:ea typeface="Avenir"/>
                <a:cs typeface="Avenir"/>
                <a:sym typeface="Avenir"/>
              </a:endParaRPr>
            </a:p>
          </p:txBody>
        </p:sp>
      </p:grpSp>
      <p:grpSp>
        <p:nvGrpSpPr>
          <p:cNvPr id="3421" name="Google Shape;3421;p76"/>
          <p:cNvGrpSpPr/>
          <p:nvPr/>
        </p:nvGrpSpPr>
        <p:grpSpPr>
          <a:xfrm>
            <a:off x="6484980" y="5676798"/>
            <a:ext cx="300082" cy="224238"/>
            <a:chOff x="775552" y="3715228"/>
            <a:chExt cx="300082" cy="224238"/>
          </a:xfrm>
        </p:grpSpPr>
        <p:sp>
          <p:nvSpPr>
            <p:cNvPr id="3422" name="Google Shape;3422;p76"/>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423" name="Google Shape;3423;p76"/>
            <p:cNvSpPr/>
            <p:nvPr/>
          </p:nvSpPr>
          <p:spPr>
            <a:xfrm>
              <a:off x="775552" y="3724022"/>
              <a:ext cx="300082"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8a</a:t>
              </a:r>
              <a:endParaRPr/>
            </a:p>
          </p:txBody>
        </p:sp>
      </p:grpSp>
      <p:grpSp>
        <p:nvGrpSpPr>
          <p:cNvPr id="3424" name="Google Shape;3424;p76"/>
          <p:cNvGrpSpPr/>
          <p:nvPr/>
        </p:nvGrpSpPr>
        <p:grpSpPr>
          <a:xfrm>
            <a:off x="6448807" y="5416132"/>
            <a:ext cx="360996" cy="224238"/>
            <a:chOff x="736857" y="3715228"/>
            <a:chExt cx="360996" cy="224238"/>
          </a:xfrm>
        </p:grpSpPr>
        <p:sp>
          <p:nvSpPr>
            <p:cNvPr id="3425" name="Google Shape;3425;p76"/>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426" name="Google Shape;3426;p76"/>
            <p:cNvSpPr/>
            <p:nvPr/>
          </p:nvSpPr>
          <p:spPr>
            <a:xfrm>
              <a:off x="736857" y="3724022"/>
              <a:ext cx="360996"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12a</a:t>
              </a:r>
              <a:endParaRPr/>
            </a:p>
          </p:txBody>
        </p:sp>
      </p:grpSp>
      <p:grpSp>
        <p:nvGrpSpPr>
          <p:cNvPr id="3427" name="Google Shape;3427;p76"/>
          <p:cNvGrpSpPr/>
          <p:nvPr/>
        </p:nvGrpSpPr>
        <p:grpSpPr>
          <a:xfrm>
            <a:off x="2681463" y="5057611"/>
            <a:ext cx="245580" cy="224238"/>
            <a:chOff x="802803" y="3715228"/>
            <a:chExt cx="245580" cy="224238"/>
          </a:xfrm>
        </p:grpSpPr>
        <p:sp>
          <p:nvSpPr>
            <p:cNvPr id="3428" name="Google Shape;3428;p76"/>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429" name="Google Shape;3429;p76"/>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7</a:t>
              </a:r>
              <a:endParaRPr/>
            </a:p>
          </p:txBody>
        </p:sp>
      </p:grpSp>
      <p:grpSp>
        <p:nvGrpSpPr>
          <p:cNvPr id="3430" name="Google Shape;3430;p76"/>
          <p:cNvGrpSpPr/>
          <p:nvPr/>
        </p:nvGrpSpPr>
        <p:grpSpPr>
          <a:xfrm>
            <a:off x="2680630" y="4808856"/>
            <a:ext cx="245580" cy="224238"/>
            <a:chOff x="802803" y="3715228"/>
            <a:chExt cx="245580" cy="224238"/>
          </a:xfrm>
        </p:grpSpPr>
        <p:sp>
          <p:nvSpPr>
            <p:cNvPr id="3431" name="Google Shape;3431;p76"/>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432" name="Google Shape;3432;p76"/>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9</a:t>
              </a:r>
              <a:endParaRPr/>
            </a:p>
          </p:txBody>
        </p:sp>
      </p:grpSp>
      <p:grpSp>
        <p:nvGrpSpPr>
          <p:cNvPr id="3433" name="Google Shape;3433;p76"/>
          <p:cNvGrpSpPr/>
          <p:nvPr/>
        </p:nvGrpSpPr>
        <p:grpSpPr>
          <a:xfrm>
            <a:off x="6550922" y="1481480"/>
            <a:ext cx="245580" cy="224238"/>
            <a:chOff x="802803" y="3715228"/>
            <a:chExt cx="245580" cy="224238"/>
          </a:xfrm>
        </p:grpSpPr>
        <p:sp>
          <p:nvSpPr>
            <p:cNvPr id="3434" name="Google Shape;3434;p76"/>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435" name="Google Shape;3435;p76"/>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9</a:t>
              </a:r>
              <a:endParaRPr/>
            </a:p>
          </p:txBody>
        </p:sp>
      </p:grpSp>
      <p:grpSp>
        <p:nvGrpSpPr>
          <p:cNvPr id="3436" name="Google Shape;3436;p76"/>
          <p:cNvGrpSpPr/>
          <p:nvPr/>
        </p:nvGrpSpPr>
        <p:grpSpPr>
          <a:xfrm>
            <a:off x="8311967" y="1742779"/>
            <a:ext cx="309700" cy="224238"/>
            <a:chOff x="770743" y="3715228"/>
            <a:chExt cx="309700" cy="224238"/>
          </a:xfrm>
        </p:grpSpPr>
        <p:sp>
          <p:nvSpPr>
            <p:cNvPr id="3437" name="Google Shape;3437;p76"/>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438" name="Google Shape;3438;p76"/>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10</a:t>
              </a:r>
              <a:endParaRPr/>
            </a:p>
          </p:txBody>
        </p:sp>
      </p:grpSp>
      <p:grpSp>
        <p:nvGrpSpPr>
          <p:cNvPr id="3439" name="Google Shape;3439;p76"/>
          <p:cNvGrpSpPr/>
          <p:nvPr/>
        </p:nvGrpSpPr>
        <p:grpSpPr>
          <a:xfrm>
            <a:off x="4322372" y="1240114"/>
            <a:ext cx="300082" cy="224238"/>
            <a:chOff x="775552" y="3715228"/>
            <a:chExt cx="300082" cy="224238"/>
          </a:xfrm>
        </p:grpSpPr>
        <p:sp>
          <p:nvSpPr>
            <p:cNvPr id="3440" name="Google Shape;3440;p76"/>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441" name="Google Shape;3441;p76"/>
            <p:cNvSpPr/>
            <p:nvPr/>
          </p:nvSpPr>
          <p:spPr>
            <a:xfrm>
              <a:off x="775552" y="3724022"/>
              <a:ext cx="300082"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8a</a:t>
              </a:r>
              <a:endParaRPr/>
            </a:p>
          </p:txBody>
        </p:sp>
      </p:grpSp>
      <p:grpSp>
        <p:nvGrpSpPr>
          <p:cNvPr id="3442" name="Google Shape;3442;p76"/>
          <p:cNvGrpSpPr/>
          <p:nvPr/>
        </p:nvGrpSpPr>
        <p:grpSpPr>
          <a:xfrm>
            <a:off x="4319927" y="983503"/>
            <a:ext cx="309700" cy="224238"/>
            <a:chOff x="770743" y="3715228"/>
            <a:chExt cx="309700" cy="224238"/>
          </a:xfrm>
        </p:grpSpPr>
        <p:sp>
          <p:nvSpPr>
            <p:cNvPr id="3443" name="Google Shape;3443;p76"/>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444" name="Google Shape;3444;p76"/>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11</a:t>
              </a:r>
              <a:endParaRPr/>
            </a:p>
          </p:txBody>
        </p:sp>
      </p:grpSp>
      <p:grpSp>
        <p:nvGrpSpPr>
          <p:cNvPr id="3445" name="Google Shape;3445;p76"/>
          <p:cNvGrpSpPr/>
          <p:nvPr/>
        </p:nvGrpSpPr>
        <p:grpSpPr>
          <a:xfrm>
            <a:off x="8280687" y="1478795"/>
            <a:ext cx="360996" cy="224238"/>
            <a:chOff x="736857" y="3715228"/>
            <a:chExt cx="360996" cy="224238"/>
          </a:xfrm>
        </p:grpSpPr>
        <p:sp>
          <p:nvSpPr>
            <p:cNvPr id="3446" name="Google Shape;3446;p76"/>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447" name="Google Shape;3447;p76"/>
            <p:cNvSpPr/>
            <p:nvPr/>
          </p:nvSpPr>
          <p:spPr>
            <a:xfrm>
              <a:off x="736857" y="3724022"/>
              <a:ext cx="360996"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12a</a:t>
              </a:r>
              <a:endParaRPr/>
            </a:p>
          </p:txBody>
        </p:sp>
      </p:grpSp>
      <p:grpSp>
        <p:nvGrpSpPr>
          <p:cNvPr id="3448" name="Google Shape;3448;p76"/>
          <p:cNvGrpSpPr/>
          <p:nvPr/>
        </p:nvGrpSpPr>
        <p:grpSpPr>
          <a:xfrm>
            <a:off x="4317141" y="2187210"/>
            <a:ext cx="309700" cy="224238"/>
            <a:chOff x="762505" y="3715228"/>
            <a:chExt cx="309700" cy="224238"/>
          </a:xfrm>
        </p:grpSpPr>
        <p:sp>
          <p:nvSpPr>
            <p:cNvPr id="3449" name="Google Shape;3449;p76"/>
            <p:cNvSpPr/>
            <p:nvPr/>
          </p:nvSpPr>
          <p:spPr>
            <a:xfrm>
              <a:off x="810781" y="3715228"/>
              <a:ext cx="216000" cy="216000"/>
            </a:xfrm>
            <a:prstGeom prst="ellipse">
              <a:avLst/>
            </a:prstGeom>
            <a:solidFill>
              <a:srgbClr val="FFFF00"/>
            </a:solidFill>
            <a:ln cap="flat" cmpd="sng" w="1270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FF0000"/>
                </a:solidFill>
                <a:highlight>
                  <a:srgbClr val="FFFF00"/>
                </a:highlight>
                <a:latin typeface="Avenir"/>
                <a:ea typeface="Avenir"/>
                <a:cs typeface="Avenir"/>
                <a:sym typeface="Avenir"/>
              </a:endParaRPr>
            </a:p>
          </p:txBody>
        </p:sp>
        <p:sp>
          <p:nvSpPr>
            <p:cNvPr id="3450" name="Google Shape;3450;p76"/>
            <p:cNvSpPr/>
            <p:nvPr/>
          </p:nvSpPr>
          <p:spPr>
            <a:xfrm>
              <a:off x="762505"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13</a:t>
              </a:r>
              <a:endParaRPr/>
            </a:p>
          </p:txBody>
        </p:sp>
      </p:grpSp>
      <p:sp>
        <p:nvSpPr>
          <p:cNvPr id="3451" name="Google Shape;3451;p76"/>
          <p:cNvSpPr txBox="1"/>
          <p:nvPr/>
        </p:nvSpPr>
        <p:spPr>
          <a:xfrm>
            <a:off x="4033926" y="1538024"/>
            <a:ext cx="2015578"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Accounts receivable</a:t>
            </a:r>
            <a:endParaRPr/>
          </a:p>
        </p:txBody>
      </p:sp>
      <p:sp>
        <p:nvSpPr>
          <p:cNvPr id="3452" name="Google Shape;3452;p76"/>
          <p:cNvSpPr txBox="1"/>
          <p:nvPr/>
        </p:nvSpPr>
        <p:spPr>
          <a:xfrm>
            <a:off x="6252890" y="2028286"/>
            <a:ext cx="1987133"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Accounts payable</a:t>
            </a:r>
            <a:endParaRPr/>
          </a:p>
        </p:txBody>
      </p:sp>
      <p:sp>
        <p:nvSpPr>
          <p:cNvPr id="3453" name="Google Shape;3453;p76"/>
          <p:cNvSpPr txBox="1"/>
          <p:nvPr/>
        </p:nvSpPr>
        <p:spPr>
          <a:xfrm>
            <a:off x="9504213" y="373659"/>
            <a:ext cx="2279791" cy="40011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000">
                <a:solidFill>
                  <a:schemeClr val="accent2"/>
                </a:solidFill>
                <a:latin typeface="Avenir"/>
                <a:ea typeface="Avenir"/>
                <a:cs typeface="Avenir"/>
                <a:sym typeface="Avenir"/>
              </a:rPr>
              <a:t>Sources of funds</a:t>
            </a:r>
            <a:endParaRPr/>
          </a:p>
        </p:txBody>
      </p:sp>
      <p:sp>
        <p:nvSpPr>
          <p:cNvPr id="3454" name="Google Shape;3454;p76"/>
          <p:cNvSpPr txBox="1"/>
          <p:nvPr/>
        </p:nvSpPr>
        <p:spPr>
          <a:xfrm>
            <a:off x="492858" y="373659"/>
            <a:ext cx="1880643" cy="40011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000">
                <a:solidFill>
                  <a:schemeClr val="accent6"/>
                </a:solidFill>
                <a:latin typeface="Avenir"/>
                <a:ea typeface="Avenir"/>
                <a:cs typeface="Avenir"/>
                <a:sym typeface="Avenir"/>
              </a:rPr>
              <a:t>Uses of funds</a:t>
            </a:r>
            <a:endParaRPr/>
          </a:p>
        </p:txBody>
      </p:sp>
      <p:grpSp>
        <p:nvGrpSpPr>
          <p:cNvPr id="3455" name="Google Shape;3455;p76"/>
          <p:cNvGrpSpPr/>
          <p:nvPr/>
        </p:nvGrpSpPr>
        <p:grpSpPr>
          <a:xfrm>
            <a:off x="4247500" y="957969"/>
            <a:ext cx="1620000" cy="613673"/>
            <a:chOff x="3810000" y="2381250"/>
            <a:chExt cx="1390650" cy="1230631"/>
          </a:xfrm>
        </p:grpSpPr>
        <p:sp>
          <p:nvSpPr>
            <p:cNvPr id="3456" name="Google Shape;3456;p76"/>
            <p:cNvSpPr/>
            <p:nvPr/>
          </p:nvSpPr>
          <p:spPr>
            <a:xfrm flipH="1">
              <a:off x="4505325"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3457" name="Google Shape;3457;p76"/>
            <p:cNvSpPr/>
            <p:nvPr/>
          </p:nvSpPr>
          <p:spPr>
            <a:xfrm>
              <a:off x="3810000"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3458" name="Google Shape;3458;p76"/>
          <p:cNvGrpSpPr/>
          <p:nvPr/>
        </p:nvGrpSpPr>
        <p:grpSpPr>
          <a:xfrm>
            <a:off x="4247500" y="1892397"/>
            <a:ext cx="1620000" cy="613673"/>
            <a:chOff x="3810000" y="2381250"/>
            <a:chExt cx="1390650" cy="1230631"/>
          </a:xfrm>
        </p:grpSpPr>
        <p:sp>
          <p:nvSpPr>
            <p:cNvPr id="3459" name="Google Shape;3459;p76"/>
            <p:cNvSpPr/>
            <p:nvPr/>
          </p:nvSpPr>
          <p:spPr>
            <a:xfrm flipH="1">
              <a:off x="4505325" y="2381250"/>
              <a:ext cx="695325" cy="1230631"/>
            </a:xfrm>
            <a:prstGeom prst="corner">
              <a:avLst>
                <a:gd fmla="val 9300"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3460" name="Google Shape;3460;p76"/>
            <p:cNvSpPr/>
            <p:nvPr/>
          </p:nvSpPr>
          <p:spPr>
            <a:xfrm>
              <a:off x="3810000" y="2381250"/>
              <a:ext cx="695325" cy="1230631"/>
            </a:xfrm>
            <a:prstGeom prst="corner">
              <a:avLst>
                <a:gd fmla="val 9300"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3461" name="Google Shape;3461;p76"/>
          <p:cNvGrpSpPr/>
          <p:nvPr/>
        </p:nvGrpSpPr>
        <p:grpSpPr>
          <a:xfrm>
            <a:off x="2556000" y="4767598"/>
            <a:ext cx="1620000" cy="613673"/>
            <a:chOff x="3810000" y="2381250"/>
            <a:chExt cx="1390650" cy="1230631"/>
          </a:xfrm>
        </p:grpSpPr>
        <p:sp>
          <p:nvSpPr>
            <p:cNvPr id="3462" name="Google Shape;3462;p76"/>
            <p:cNvSpPr/>
            <p:nvPr/>
          </p:nvSpPr>
          <p:spPr>
            <a:xfrm flipH="1">
              <a:off x="4505325" y="2381250"/>
              <a:ext cx="695325" cy="1230631"/>
            </a:xfrm>
            <a:prstGeom prst="corner">
              <a:avLst>
                <a:gd fmla="val 9300"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3463" name="Google Shape;3463;p76"/>
            <p:cNvSpPr/>
            <p:nvPr/>
          </p:nvSpPr>
          <p:spPr>
            <a:xfrm>
              <a:off x="3810000" y="2381250"/>
              <a:ext cx="695325" cy="1230631"/>
            </a:xfrm>
            <a:prstGeom prst="corner">
              <a:avLst>
                <a:gd fmla="val 9300"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3464" name="Google Shape;3464;p76"/>
          <p:cNvGrpSpPr/>
          <p:nvPr/>
        </p:nvGrpSpPr>
        <p:grpSpPr>
          <a:xfrm>
            <a:off x="4292494" y="5448381"/>
            <a:ext cx="1620000" cy="796276"/>
            <a:chOff x="3810000" y="2015069"/>
            <a:chExt cx="1390650" cy="1596814"/>
          </a:xfrm>
        </p:grpSpPr>
        <p:sp>
          <p:nvSpPr>
            <p:cNvPr id="3465" name="Google Shape;3465;p76"/>
            <p:cNvSpPr/>
            <p:nvPr/>
          </p:nvSpPr>
          <p:spPr>
            <a:xfrm flipH="1">
              <a:off x="4505325" y="2015073"/>
              <a:ext cx="695325" cy="1596810"/>
            </a:xfrm>
            <a:prstGeom prst="corner">
              <a:avLst>
                <a:gd fmla="val 7267" name="adj1"/>
                <a:gd fmla="val 7888"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3466" name="Google Shape;3466;p76"/>
            <p:cNvSpPr/>
            <p:nvPr/>
          </p:nvSpPr>
          <p:spPr>
            <a:xfrm>
              <a:off x="3810000" y="2015069"/>
              <a:ext cx="695325" cy="1596812"/>
            </a:xfrm>
            <a:prstGeom prst="corner">
              <a:avLst>
                <a:gd fmla="val 7268" name="adj1"/>
                <a:gd fmla="val 7888"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3467" name="Google Shape;3467;p76"/>
          <p:cNvGrpSpPr/>
          <p:nvPr/>
        </p:nvGrpSpPr>
        <p:grpSpPr>
          <a:xfrm>
            <a:off x="6382456" y="5448381"/>
            <a:ext cx="1620000" cy="796276"/>
            <a:chOff x="3810000" y="2015069"/>
            <a:chExt cx="1390650" cy="1596814"/>
          </a:xfrm>
        </p:grpSpPr>
        <p:sp>
          <p:nvSpPr>
            <p:cNvPr id="3468" name="Google Shape;3468;p76"/>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3469" name="Google Shape;3469;p76"/>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3470" name="Google Shape;3470;p76"/>
          <p:cNvGrpSpPr/>
          <p:nvPr/>
        </p:nvGrpSpPr>
        <p:grpSpPr>
          <a:xfrm>
            <a:off x="9983452" y="3159099"/>
            <a:ext cx="1620000" cy="796276"/>
            <a:chOff x="3810000" y="2015069"/>
            <a:chExt cx="1390650" cy="1596814"/>
          </a:xfrm>
        </p:grpSpPr>
        <p:sp>
          <p:nvSpPr>
            <p:cNvPr id="3471" name="Google Shape;3471;p76"/>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3472" name="Google Shape;3472;p76"/>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3473" name="Google Shape;3473;p76"/>
          <p:cNvGrpSpPr/>
          <p:nvPr/>
        </p:nvGrpSpPr>
        <p:grpSpPr>
          <a:xfrm>
            <a:off x="8214558" y="1260018"/>
            <a:ext cx="1620000" cy="796276"/>
            <a:chOff x="3810000" y="2015069"/>
            <a:chExt cx="1390650" cy="1596814"/>
          </a:xfrm>
        </p:grpSpPr>
        <p:sp>
          <p:nvSpPr>
            <p:cNvPr id="3474" name="Google Shape;3474;p76"/>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3475" name="Google Shape;3475;p76"/>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3476" name="Google Shape;3476;p76"/>
          <p:cNvGrpSpPr/>
          <p:nvPr/>
        </p:nvGrpSpPr>
        <p:grpSpPr>
          <a:xfrm>
            <a:off x="10006085" y="1263488"/>
            <a:ext cx="1620000" cy="796276"/>
            <a:chOff x="3810000" y="2015069"/>
            <a:chExt cx="1390650" cy="1596814"/>
          </a:xfrm>
        </p:grpSpPr>
        <p:sp>
          <p:nvSpPr>
            <p:cNvPr id="3477" name="Google Shape;3477;p76"/>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3478" name="Google Shape;3478;p76"/>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3479" name="Google Shape;3479;p76"/>
          <p:cNvGrpSpPr/>
          <p:nvPr/>
        </p:nvGrpSpPr>
        <p:grpSpPr>
          <a:xfrm>
            <a:off x="6428511" y="1266563"/>
            <a:ext cx="1620000" cy="796276"/>
            <a:chOff x="3810000" y="2015069"/>
            <a:chExt cx="1390650" cy="1596814"/>
          </a:xfrm>
        </p:grpSpPr>
        <p:sp>
          <p:nvSpPr>
            <p:cNvPr id="3480" name="Google Shape;3480;p76"/>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3481" name="Google Shape;3481;p76"/>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sp>
        <p:nvSpPr>
          <p:cNvPr id="3482" name="Google Shape;3482;p76"/>
          <p:cNvSpPr/>
          <p:nvPr/>
        </p:nvSpPr>
        <p:spPr>
          <a:xfrm rot="10800000">
            <a:off x="10548000" y="3653367"/>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3483" name="Google Shape;3483;p76"/>
          <p:cNvSpPr/>
          <p:nvPr/>
        </p:nvSpPr>
        <p:spPr>
          <a:xfrm>
            <a:off x="1961115" y="4272100"/>
            <a:ext cx="10045767" cy="1312708"/>
          </a:xfrm>
          <a:prstGeom prst="rect">
            <a:avLst/>
          </a:prstGeom>
          <a:solidFill>
            <a:srgbClr val="F2F2F2">
              <a:alpha val="86666"/>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3484" name="Google Shape;3484;p76"/>
          <p:cNvGrpSpPr/>
          <p:nvPr/>
        </p:nvGrpSpPr>
        <p:grpSpPr>
          <a:xfrm>
            <a:off x="2170301" y="4562741"/>
            <a:ext cx="9543495" cy="756003"/>
            <a:chOff x="719091" y="1719857"/>
            <a:chExt cx="9543495" cy="756003"/>
          </a:xfrm>
        </p:grpSpPr>
        <p:sp>
          <p:nvSpPr>
            <p:cNvPr id="3485" name="Google Shape;3485;p76"/>
            <p:cNvSpPr txBox="1"/>
            <p:nvPr/>
          </p:nvSpPr>
          <p:spPr>
            <a:xfrm>
              <a:off x="1420427" y="1719860"/>
              <a:ext cx="5476017" cy="756000"/>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139700" marR="0" rtl="0" algn="l">
                <a:spcBef>
                  <a:spcPts val="0"/>
                </a:spcBef>
                <a:spcAft>
                  <a:spcPts val="0"/>
                </a:spcAft>
                <a:buNone/>
              </a:pPr>
              <a:r>
                <a:rPr lang="en-US" sz="2000">
                  <a:solidFill>
                    <a:schemeClr val="dk1"/>
                  </a:solidFill>
                  <a:latin typeface="Calibri"/>
                  <a:ea typeface="Calibri"/>
                  <a:cs typeface="Calibri"/>
                  <a:sym typeface="Calibri"/>
                </a:rPr>
                <a:t>3월부터 6월까지 진행될 광고 캠페인 비용을 은행 이체로 결제함.</a:t>
              </a:r>
              <a:endParaRPr sz="2000">
                <a:solidFill>
                  <a:schemeClr val="dk1"/>
                </a:solidFill>
                <a:latin typeface="Avenir"/>
                <a:ea typeface="Avenir"/>
                <a:cs typeface="Avenir"/>
                <a:sym typeface="Avenir"/>
              </a:endParaRPr>
            </a:p>
          </p:txBody>
        </p:sp>
        <p:sp>
          <p:nvSpPr>
            <p:cNvPr id="3486" name="Google Shape;3486;p76"/>
            <p:cNvSpPr txBox="1"/>
            <p:nvPr/>
          </p:nvSpPr>
          <p:spPr>
            <a:xfrm>
              <a:off x="6896444" y="1719857"/>
              <a:ext cx="1683072" cy="756000"/>
            </a:xfrm>
            <a:prstGeom prst="rect">
              <a:avLst/>
            </a:prstGeom>
            <a:solidFill>
              <a:srgbClr val="E1EFD8"/>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1400">
                  <a:solidFill>
                    <a:srgbClr val="BFBFBF"/>
                  </a:solidFill>
                  <a:latin typeface="Avenir"/>
                  <a:ea typeface="Avenir"/>
                  <a:cs typeface="Avenir"/>
                  <a:sym typeface="Avenir"/>
                </a:rPr>
                <a:t>Deferred expenses</a:t>
              </a: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800</a:t>
              </a:r>
              <a:endParaRPr/>
            </a:p>
          </p:txBody>
        </p:sp>
        <p:sp>
          <p:nvSpPr>
            <p:cNvPr id="3487" name="Google Shape;3487;p76"/>
            <p:cNvSpPr txBox="1"/>
            <p:nvPr/>
          </p:nvSpPr>
          <p:spPr>
            <a:xfrm>
              <a:off x="8579514" y="1719857"/>
              <a:ext cx="1683072" cy="756000"/>
            </a:xfrm>
            <a:prstGeom prst="rect">
              <a:avLst/>
            </a:prstGeom>
            <a:solidFill>
              <a:srgbClr val="FBE4D4"/>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1400">
                  <a:solidFill>
                    <a:srgbClr val="BFBFBF"/>
                  </a:solidFill>
                  <a:latin typeface="Avenir"/>
                  <a:ea typeface="Avenir"/>
                  <a:cs typeface="Avenir"/>
                  <a:sym typeface="Avenir"/>
                </a:rPr>
                <a:t>Accounts</a:t>
              </a:r>
              <a:br>
                <a:rPr b="1" lang="en-US" sz="1400">
                  <a:solidFill>
                    <a:srgbClr val="BFBFBF"/>
                  </a:solidFill>
                  <a:latin typeface="Avenir"/>
                  <a:ea typeface="Avenir"/>
                  <a:cs typeface="Avenir"/>
                  <a:sym typeface="Avenir"/>
                </a:rPr>
              </a:br>
              <a:r>
                <a:rPr b="1" lang="en-US" sz="1400">
                  <a:solidFill>
                    <a:srgbClr val="BFBFBF"/>
                  </a:solidFill>
                  <a:latin typeface="Avenir"/>
                  <a:ea typeface="Avenir"/>
                  <a:cs typeface="Avenir"/>
                  <a:sym typeface="Avenir"/>
                </a:rPr>
                <a:t>payable</a:t>
              </a:r>
              <a:endParaRPr b="1" sz="1600">
                <a:solidFill>
                  <a:srgbClr val="BFBFBF"/>
                </a:solidFill>
                <a:latin typeface="Avenir"/>
                <a:ea typeface="Avenir"/>
                <a:cs typeface="Avenir"/>
                <a:sym typeface="Aveni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800</a:t>
              </a:r>
              <a:endParaRPr/>
            </a:p>
          </p:txBody>
        </p:sp>
        <p:sp>
          <p:nvSpPr>
            <p:cNvPr id="3488" name="Google Shape;3488;p76"/>
            <p:cNvSpPr txBox="1"/>
            <p:nvPr/>
          </p:nvSpPr>
          <p:spPr>
            <a:xfrm>
              <a:off x="719091" y="1719857"/>
              <a:ext cx="701336" cy="756000"/>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13</a:t>
              </a:r>
              <a:endParaRPr/>
            </a:p>
          </p:txBody>
        </p:sp>
      </p:grpSp>
      <p:sp>
        <p:nvSpPr>
          <p:cNvPr id="3489" name="Google Shape;3489;p76"/>
          <p:cNvSpPr/>
          <p:nvPr/>
        </p:nvSpPr>
        <p:spPr>
          <a:xfrm rot="10800000">
            <a:off x="88847" y="859652"/>
            <a:ext cx="950259" cy="1037381"/>
          </a:xfrm>
          <a:prstGeom prst="downArrow">
            <a:avLst>
              <a:gd fmla="val 50000" name="adj1"/>
              <a:gd fmla="val 50000" name="adj2"/>
            </a:avLst>
          </a:prstGeom>
          <a:solidFill>
            <a:schemeClr val="accent6">
              <a:alpha val="77647"/>
            </a:schemeClr>
          </a:solidFill>
          <a:ln>
            <a:noFill/>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490" name="Google Shape;3490;p76"/>
          <p:cNvSpPr/>
          <p:nvPr/>
        </p:nvSpPr>
        <p:spPr>
          <a:xfrm>
            <a:off x="88847" y="1929152"/>
            <a:ext cx="950259" cy="1037381"/>
          </a:xfrm>
          <a:prstGeom prst="downArrow">
            <a:avLst>
              <a:gd fmla="val 50000" name="adj1"/>
              <a:gd fmla="val 50000" name="adj2"/>
            </a:avLst>
          </a:prstGeom>
          <a:solidFill>
            <a:schemeClr val="accent2">
              <a:alpha val="77647"/>
            </a:schemeClr>
          </a:solidFill>
          <a:ln>
            <a:noFill/>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491" name="Google Shape;3491;p76"/>
          <p:cNvSpPr txBox="1"/>
          <p:nvPr/>
        </p:nvSpPr>
        <p:spPr>
          <a:xfrm>
            <a:off x="8343365" y="4556096"/>
            <a:ext cx="1683070" cy="756000"/>
          </a:xfrm>
          <a:prstGeom prst="rect">
            <a:avLst/>
          </a:prstGeom>
          <a:solidFill>
            <a:srgbClr val="548135"/>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133">
                <a:solidFill>
                  <a:schemeClr val="lt1"/>
                </a:solidFill>
                <a:latin typeface="Avenir"/>
                <a:ea typeface="Avenir"/>
                <a:cs typeface="Avenir"/>
                <a:sym typeface="Avenir"/>
              </a:rPr>
              <a:t>800</a:t>
            </a:r>
            <a:endParaRPr/>
          </a:p>
        </p:txBody>
      </p:sp>
      <p:sp>
        <p:nvSpPr>
          <p:cNvPr id="3492" name="Google Shape;3492;p76"/>
          <p:cNvSpPr txBox="1"/>
          <p:nvPr/>
        </p:nvSpPr>
        <p:spPr>
          <a:xfrm>
            <a:off x="10026435" y="4559040"/>
            <a:ext cx="1683070" cy="756000"/>
          </a:xfrm>
          <a:prstGeom prst="rect">
            <a:avLst/>
          </a:prstGeom>
          <a:solidFill>
            <a:schemeClr val="accent2"/>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133">
                <a:solidFill>
                  <a:schemeClr val="lt1"/>
                </a:solidFill>
                <a:latin typeface="Avenir"/>
                <a:ea typeface="Avenir"/>
                <a:cs typeface="Avenir"/>
                <a:sym typeface="Avenir"/>
              </a:rPr>
              <a:t>800</a:t>
            </a:r>
            <a:endParaRPr/>
          </a:p>
        </p:txBody>
      </p:sp>
      <p:sp>
        <p:nvSpPr>
          <p:cNvPr id="3493" name="Google Shape;3493;p76"/>
          <p:cNvSpPr txBox="1"/>
          <p:nvPr/>
        </p:nvSpPr>
        <p:spPr>
          <a:xfrm>
            <a:off x="6403129" y="3421071"/>
            <a:ext cx="1548343" cy="566133"/>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460</a:t>
            </a:r>
            <a:endParaRPr sz="2400">
              <a:solidFill>
                <a:schemeClr val="dk1"/>
              </a:solidFill>
              <a:latin typeface="Calibri"/>
              <a:ea typeface="Calibri"/>
              <a:cs typeface="Calibri"/>
              <a:sym typeface="Calibri"/>
            </a:endParaRPr>
          </a:p>
        </p:txBody>
      </p:sp>
    </p:spTree>
  </p:cSld>
  <p:clrMapOvr>
    <a:masterClrMapping/>
  </p:clrMapOvr>
  <mc:AlternateContent>
    <mc:Choice Requires="p14">
      <p:transition spd="slow" p14:dur="700">
        <p:fade/>
      </p:transition>
    </mc:Choice>
    <mc:Fallback>
      <p:transition spd="slow">
        <p:fade/>
      </p:transition>
    </mc:Fallback>
  </mc:AlternateContent>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afterEffect" presetClass="exit" presetID="10" presetSubtype="0">
                                  <p:stCondLst>
                                    <p:cond delay="0"/>
                                  </p:stCondLst>
                                  <p:childTnLst>
                                    <p:animEffect filter="fade" transition="out">
                                      <p:cBhvr>
                                        <p:cTn dur="1000"/>
                                        <p:tgtEl>
                                          <p:spTgt spid="3492"/>
                                        </p:tgtEl>
                                      </p:cBhvr>
                                    </p:animEffect>
                                    <p:set>
                                      <p:cBhvr>
                                        <p:cTn dur="1" fill="hold">
                                          <p:stCondLst>
                                            <p:cond delay="1000"/>
                                          </p:stCondLst>
                                        </p:cTn>
                                        <p:tgtEl>
                                          <p:spTgt spid="3492"/>
                                        </p:tgtEl>
                                        <p:attrNameLst>
                                          <p:attrName>style.visibility</p:attrName>
                                        </p:attrNameLst>
                                      </p:cBhvr>
                                      <p:to>
                                        <p:strVal val="hidden"/>
                                      </p:to>
                                    </p:set>
                                  </p:childTnLst>
                                </p:cTn>
                              </p:par>
                              <p:par>
                                <p:cTn fill="hold" nodeType="withEffect" presetClass="entr" presetID="10" presetSubtype="0">
                                  <p:stCondLst>
                                    <p:cond delay="0"/>
                                  </p:stCondLst>
                                  <p:childTnLst>
                                    <p:set>
                                      <p:cBhvr>
                                        <p:cTn dur="1" fill="hold">
                                          <p:stCondLst>
                                            <p:cond delay="0"/>
                                          </p:stCondLst>
                                        </p:cTn>
                                        <p:tgtEl>
                                          <p:spTgt spid="3355"/>
                                        </p:tgtEl>
                                        <p:attrNameLst>
                                          <p:attrName>style.visibility</p:attrName>
                                        </p:attrNameLst>
                                      </p:cBhvr>
                                      <p:to>
                                        <p:strVal val="visible"/>
                                      </p:to>
                                    </p:set>
                                    <p:animEffect filter="fade" transition="in">
                                      <p:cBhvr>
                                        <p:cTn dur="1000"/>
                                        <p:tgtEl>
                                          <p:spTgt spid="3355"/>
                                        </p:tgtEl>
                                      </p:cBhvr>
                                    </p:animEffect>
                                  </p:childTnLst>
                                </p:cTn>
                              </p:par>
                              <p:par>
                                <p:cTn fill="hold" nodeType="withEffect" presetClass="entr" presetID="10" presetSubtype="0">
                                  <p:stCondLst>
                                    <p:cond delay="0"/>
                                  </p:stCondLst>
                                  <p:childTnLst>
                                    <p:set>
                                      <p:cBhvr>
                                        <p:cTn dur="1" fill="hold">
                                          <p:stCondLst>
                                            <p:cond delay="0"/>
                                          </p:stCondLst>
                                        </p:cTn>
                                        <p:tgtEl>
                                          <p:spTgt spid="3301"/>
                                        </p:tgtEl>
                                        <p:attrNameLst>
                                          <p:attrName>style.visibility</p:attrName>
                                        </p:attrNameLst>
                                      </p:cBhvr>
                                      <p:to>
                                        <p:strVal val="visible"/>
                                      </p:to>
                                    </p:set>
                                    <p:animEffect filter="fade" transition="in">
                                      <p:cBhvr>
                                        <p:cTn dur="1000"/>
                                        <p:tgtEl>
                                          <p:spTgt spid="3301"/>
                                        </p:tgtEl>
                                      </p:cBhvr>
                                    </p:animEffect>
                                  </p:childTnLst>
                                </p:cTn>
                              </p:par>
                              <p:par>
                                <p:cTn fill="hold" nodeType="withEffect" presetClass="entr" presetID="10" presetSubtype="0">
                                  <p:stCondLst>
                                    <p:cond delay="0"/>
                                  </p:stCondLst>
                                  <p:childTnLst>
                                    <p:set>
                                      <p:cBhvr>
                                        <p:cTn dur="1" fill="hold">
                                          <p:stCondLst>
                                            <p:cond delay="0"/>
                                          </p:stCondLst>
                                        </p:cTn>
                                        <p:tgtEl>
                                          <p:spTgt spid="3298"/>
                                        </p:tgtEl>
                                        <p:attrNameLst>
                                          <p:attrName>style.visibility</p:attrName>
                                        </p:attrNameLst>
                                      </p:cBhvr>
                                      <p:to>
                                        <p:strVal val="visible"/>
                                      </p:to>
                                    </p:set>
                                    <p:animEffect filter="fade" transition="in">
                                      <p:cBhvr>
                                        <p:cTn dur="1000"/>
                                        <p:tgtEl>
                                          <p:spTgt spid="329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284"/>
                                        </p:tgtEl>
                                        <p:attrNameLst>
                                          <p:attrName>style.visibility</p:attrName>
                                        </p:attrNameLst>
                                      </p:cBhvr>
                                      <p:to>
                                        <p:strVal val="visible"/>
                                      </p:to>
                                    </p:set>
                                    <p:animEffect filter="fade" transition="in">
                                      <p:cBhvr>
                                        <p:cTn dur="500"/>
                                        <p:tgtEl>
                                          <p:spTgt spid="3284"/>
                                        </p:tgtEl>
                                      </p:cBhvr>
                                    </p:animEffect>
                                  </p:childTnLst>
                                </p:cTn>
                              </p:par>
                              <p:par>
                                <p:cTn fill="hold" nodeType="withEffect" presetClass="entr" presetID="10" presetSubtype="0">
                                  <p:stCondLst>
                                    <p:cond delay="0"/>
                                  </p:stCondLst>
                                  <p:childTnLst>
                                    <p:set>
                                      <p:cBhvr>
                                        <p:cTn dur="1" fill="hold">
                                          <p:stCondLst>
                                            <p:cond delay="0"/>
                                          </p:stCondLst>
                                        </p:cTn>
                                        <p:tgtEl>
                                          <p:spTgt spid="3458"/>
                                        </p:tgtEl>
                                        <p:attrNameLst>
                                          <p:attrName>style.visibility</p:attrName>
                                        </p:attrNameLst>
                                      </p:cBhvr>
                                      <p:to>
                                        <p:strVal val="visible"/>
                                      </p:to>
                                    </p:set>
                                    <p:animEffect filter="fade" transition="in">
                                      <p:cBhvr>
                                        <p:cTn dur="500"/>
                                        <p:tgtEl>
                                          <p:spTgt spid="3458"/>
                                        </p:tgtEl>
                                      </p:cBhvr>
                                    </p:animEffect>
                                  </p:childTnLst>
                                </p:cTn>
                              </p:par>
                            </p:childTnLst>
                          </p:cTn>
                        </p:par>
                        <p:par>
                          <p:cTn fill="hold">
                            <p:stCondLst>
                              <p:cond delay="500"/>
                            </p:stCondLst>
                            <p:childTnLst>
                              <p:par>
                                <p:cTn fill="hold" nodeType="afterEffect" presetClass="exit" presetID="10" presetSubtype="0">
                                  <p:stCondLst>
                                    <p:cond delay="0"/>
                                  </p:stCondLst>
                                  <p:childTnLst>
                                    <p:animEffect filter="fade" transition="out">
                                      <p:cBhvr>
                                        <p:cTn dur="1000"/>
                                        <p:tgtEl>
                                          <p:spTgt spid="3491"/>
                                        </p:tgtEl>
                                      </p:cBhvr>
                                    </p:animEffect>
                                    <p:set>
                                      <p:cBhvr>
                                        <p:cTn dur="1" fill="hold">
                                          <p:stCondLst>
                                            <p:cond delay="1000"/>
                                          </p:stCondLst>
                                        </p:cTn>
                                        <p:tgtEl>
                                          <p:spTgt spid="3491"/>
                                        </p:tgtEl>
                                        <p:attrNameLst>
                                          <p:attrName>style.visibility</p:attrName>
                                        </p:attrNameLst>
                                      </p:cBhvr>
                                      <p:to>
                                        <p:strVal val="hidden"/>
                                      </p:to>
                                    </p:set>
                                  </p:childTnLst>
                                </p:cTn>
                              </p:par>
                              <p:par>
                                <p:cTn fill="hold" nodeType="withEffect" presetClass="entr" presetID="10" presetSubtype="0">
                                  <p:stCondLst>
                                    <p:cond delay="0"/>
                                  </p:stCondLst>
                                  <p:childTnLst>
                                    <p:set>
                                      <p:cBhvr>
                                        <p:cTn dur="1" fill="hold">
                                          <p:stCondLst>
                                            <p:cond delay="0"/>
                                          </p:stCondLst>
                                        </p:cTn>
                                        <p:tgtEl>
                                          <p:spTgt spid="3448"/>
                                        </p:tgtEl>
                                        <p:attrNameLst>
                                          <p:attrName>style.visibility</p:attrName>
                                        </p:attrNameLst>
                                      </p:cBhvr>
                                      <p:to>
                                        <p:strVal val="visible"/>
                                      </p:to>
                                    </p:set>
                                    <p:animEffect filter="fade" transition="in">
                                      <p:cBhvr>
                                        <p:cTn dur="1000"/>
                                        <p:tgtEl>
                                          <p:spTgt spid="3448"/>
                                        </p:tgtEl>
                                      </p:cBhvr>
                                    </p:animEffect>
                                  </p:childTnLst>
                                </p:cTn>
                              </p:par>
                              <p:par>
                                <p:cTn fill="hold" nodeType="withEffect" presetClass="entr" presetID="10" presetSubtype="0">
                                  <p:stCondLst>
                                    <p:cond delay="0"/>
                                  </p:stCondLst>
                                  <p:childTnLst>
                                    <p:set>
                                      <p:cBhvr>
                                        <p:cTn dur="1" fill="hold">
                                          <p:stCondLst>
                                            <p:cond delay="0"/>
                                          </p:stCondLst>
                                        </p:cTn>
                                        <p:tgtEl>
                                          <p:spTgt spid="3354"/>
                                        </p:tgtEl>
                                        <p:attrNameLst>
                                          <p:attrName>style.visibility</p:attrName>
                                        </p:attrNameLst>
                                      </p:cBhvr>
                                      <p:to>
                                        <p:strVal val="visible"/>
                                      </p:to>
                                    </p:set>
                                    <p:animEffect filter="fade" transition="in">
                                      <p:cBhvr>
                                        <p:cTn dur="1000"/>
                                        <p:tgtEl>
                                          <p:spTgt spid="3354"/>
                                        </p:tgtEl>
                                      </p:cBhvr>
                                    </p:animEffect>
                                  </p:childTnLst>
                                </p:cTn>
                              </p:par>
                              <p:par>
                                <p:cTn fill="hold" nodeType="withEffect" presetClass="entr" presetID="10" presetSubtype="0">
                                  <p:stCondLst>
                                    <p:cond delay="0"/>
                                  </p:stCondLst>
                                  <p:childTnLst>
                                    <p:set>
                                      <p:cBhvr>
                                        <p:cTn dur="1" fill="hold">
                                          <p:stCondLst>
                                            <p:cond delay="0"/>
                                          </p:stCondLst>
                                        </p:cTn>
                                        <p:tgtEl>
                                          <p:spTgt spid="3353"/>
                                        </p:tgtEl>
                                        <p:attrNameLst>
                                          <p:attrName>style.visibility</p:attrName>
                                        </p:attrNameLst>
                                      </p:cBhvr>
                                      <p:to>
                                        <p:strVal val="visible"/>
                                      </p:to>
                                    </p:set>
                                    <p:animEffect filter="fade" transition="in">
                                      <p:cBhvr>
                                        <p:cTn dur="1000"/>
                                        <p:tgtEl>
                                          <p:spTgt spid="335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489"/>
                                        </p:tgtEl>
                                        <p:attrNameLst>
                                          <p:attrName>style.visibility</p:attrName>
                                        </p:attrNameLst>
                                      </p:cBhvr>
                                      <p:to>
                                        <p:strVal val="visible"/>
                                      </p:to>
                                    </p:set>
                                    <p:animEffect filter="fade" transition="in">
                                      <p:cBhvr>
                                        <p:cTn dur="1000"/>
                                        <p:tgtEl>
                                          <p:spTgt spid="3489"/>
                                        </p:tgtEl>
                                      </p:cBhvr>
                                    </p:animEffect>
                                  </p:childTnLst>
                                </p:cTn>
                              </p:par>
                              <p:par>
                                <p:cTn fill="hold" nodeType="withEffect" presetClass="entr" presetID="10" presetSubtype="0">
                                  <p:stCondLst>
                                    <p:cond delay="0"/>
                                  </p:stCondLst>
                                  <p:childTnLst>
                                    <p:set>
                                      <p:cBhvr>
                                        <p:cTn dur="1" fill="hold">
                                          <p:stCondLst>
                                            <p:cond delay="0"/>
                                          </p:stCondLst>
                                        </p:cTn>
                                        <p:tgtEl>
                                          <p:spTgt spid="3490"/>
                                        </p:tgtEl>
                                        <p:attrNameLst>
                                          <p:attrName>style.visibility</p:attrName>
                                        </p:attrNameLst>
                                      </p:cBhvr>
                                      <p:to>
                                        <p:strVal val="visible"/>
                                      </p:to>
                                    </p:set>
                                    <p:animEffect filter="fade" transition="in">
                                      <p:cBhvr>
                                        <p:cTn dur="1000"/>
                                        <p:tgtEl>
                                          <p:spTgt spid="349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2F2F2"/>
        </a:solidFill>
      </p:bgPr>
    </p:bg>
    <p:spTree>
      <p:nvGrpSpPr>
        <p:cNvPr id="3498" name="Shape 3498"/>
        <p:cNvGrpSpPr/>
        <p:nvPr/>
      </p:nvGrpSpPr>
      <p:grpSpPr>
        <a:xfrm>
          <a:off x="0" y="0"/>
          <a:ext cx="0" cy="0"/>
          <a:chOff x="0" y="0"/>
          <a:chExt cx="0" cy="0"/>
        </a:xfrm>
      </p:grpSpPr>
      <p:sp>
        <p:nvSpPr>
          <p:cNvPr id="3499" name="Google Shape;3499;p77"/>
          <p:cNvSpPr txBox="1"/>
          <p:nvPr/>
        </p:nvSpPr>
        <p:spPr>
          <a:xfrm>
            <a:off x="4187006" y="284371"/>
            <a:ext cx="3629520"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grpSp>
        <p:nvGrpSpPr>
          <p:cNvPr id="3500" name="Google Shape;3500;p77"/>
          <p:cNvGrpSpPr/>
          <p:nvPr/>
        </p:nvGrpSpPr>
        <p:grpSpPr>
          <a:xfrm>
            <a:off x="1284576" y="2130924"/>
            <a:ext cx="10188969" cy="756004"/>
            <a:chOff x="926134" y="1719856"/>
            <a:chExt cx="9204181" cy="750147"/>
          </a:xfrm>
        </p:grpSpPr>
        <p:sp>
          <p:nvSpPr>
            <p:cNvPr id="3501" name="Google Shape;3501;p77"/>
            <p:cNvSpPr txBox="1"/>
            <p:nvPr/>
          </p:nvSpPr>
          <p:spPr>
            <a:xfrm>
              <a:off x="1641585" y="1719860"/>
              <a:ext cx="5447935"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139700" marR="0" rtl="0" algn="l">
                <a:spcBef>
                  <a:spcPts val="0"/>
                </a:spcBef>
                <a:spcAft>
                  <a:spcPts val="0"/>
                </a:spcAft>
                <a:buNone/>
              </a:pPr>
              <a:r>
                <a:rPr lang="en-US" sz="2000">
                  <a:solidFill>
                    <a:schemeClr val="dk1"/>
                  </a:solidFill>
                  <a:latin typeface="Calibri"/>
                  <a:ea typeface="Calibri"/>
                  <a:cs typeface="Calibri"/>
                  <a:sym typeface="Calibri"/>
                </a:rPr>
                <a:t>해당 장비는 잔존가치 없이 5년간 사용할 예정이며, 이번 달 사용분에 대해 회계 처리함.</a:t>
              </a:r>
              <a:endParaRPr sz="2000">
                <a:solidFill>
                  <a:schemeClr val="dk1"/>
                </a:solidFill>
                <a:latin typeface="Avenir"/>
                <a:ea typeface="Avenir"/>
                <a:cs typeface="Avenir"/>
                <a:sym typeface="Avenir"/>
              </a:endParaRPr>
            </a:p>
          </p:txBody>
        </p:sp>
        <p:sp>
          <p:nvSpPr>
            <p:cNvPr id="3502" name="Google Shape;3502;p77"/>
            <p:cNvSpPr txBox="1"/>
            <p:nvPr/>
          </p:nvSpPr>
          <p:spPr>
            <a:xfrm>
              <a:off x="7089520" y="1719858"/>
              <a:ext cx="1520398" cy="745310"/>
            </a:xfrm>
            <a:prstGeom prst="rect">
              <a:avLst/>
            </a:prstGeom>
            <a:solidFill>
              <a:srgbClr val="E1EFD8"/>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Depreciation</a:t>
              </a: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100</a:t>
              </a:r>
              <a:endParaRPr/>
            </a:p>
          </p:txBody>
        </p:sp>
        <p:sp>
          <p:nvSpPr>
            <p:cNvPr id="3503" name="Google Shape;3503;p77"/>
            <p:cNvSpPr txBox="1"/>
            <p:nvPr/>
          </p:nvSpPr>
          <p:spPr>
            <a:xfrm>
              <a:off x="8609917" y="1719858"/>
              <a:ext cx="1520398" cy="745310"/>
            </a:xfrm>
            <a:prstGeom prst="rect">
              <a:avLst/>
            </a:prstGeom>
            <a:solidFill>
              <a:srgbClr val="FBE4D4"/>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Accumulated depreciation</a:t>
              </a:r>
              <a:endParaRPr b="1" sz="1600">
                <a:solidFill>
                  <a:srgbClr val="BFBFBF"/>
                </a:solidFill>
                <a:latin typeface="Avenir"/>
                <a:ea typeface="Avenir"/>
                <a:cs typeface="Avenir"/>
                <a:sym typeface="Aveni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100</a:t>
              </a:r>
              <a:endParaRPr/>
            </a:p>
          </p:txBody>
        </p:sp>
        <p:sp>
          <p:nvSpPr>
            <p:cNvPr id="3504" name="Google Shape;3504;p77"/>
            <p:cNvSpPr txBox="1"/>
            <p:nvPr/>
          </p:nvSpPr>
          <p:spPr>
            <a:xfrm>
              <a:off x="926134" y="1719856"/>
              <a:ext cx="715451"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14</a:t>
              </a:r>
              <a:endParaRPr/>
            </a:p>
          </p:txBody>
        </p:sp>
      </p:grpSp>
      <p:sp>
        <p:nvSpPr>
          <p:cNvPr id="3505" name="Google Shape;3505;p77"/>
          <p:cNvSpPr txBox="1"/>
          <p:nvPr/>
        </p:nvSpPr>
        <p:spPr>
          <a:xfrm>
            <a:off x="8107403" y="2136051"/>
            <a:ext cx="1681200" cy="756000"/>
          </a:xfrm>
          <a:prstGeom prst="rect">
            <a:avLst/>
          </a:prstGeom>
          <a:solidFill>
            <a:srgbClr val="548135"/>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rgbClr val="548135"/>
                </a:solidFill>
                <a:latin typeface="Avenir"/>
                <a:ea typeface="Avenir"/>
                <a:cs typeface="Avenir"/>
                <a:sym typeface="Avenir"/>
              </a:rPr>
              <a:t>100</a:t>
            </a:r>
            <a:endParaRPr/>
          </a:p>
        </p:txBody>
      </p:sp>
      <p:sp>
        <p:nvSpPr>
          <p:cNvPr id="3506" name="Google Shape;3506;p77"/>
          <p:cNvSpPr txBox="1"/>
          <p:nvPr/>
        </p:nvSpPr>
        <p:spPr>
          <a:xfrm>
            <a:off x="9790473" y="2136051"/>
            <a:ext cx="1681200" cy="756000"/>
          </a:xfrm>
          <a:prstGeom prst="rect">
            <a:avLst/>
          </a:prstGeom>
          <a:solidFill>
            <a:schemeClr val="accent2"/>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accent2"/>
                </a:solidFill>
                <a:latin typeface="Avenir"/>
                <a:ea typeface="Avenir"/>
                <a:cs typeface="Avenir"/>
                <a:sym typeface="Avenir"/>
              </a:rPr>
              <a:t>100</a:t>
            </a:r>
            <a:endParaRPr/>
          </a:p>
        </p:txBody>
      </p:sp>
      <p:cxnSp>
        <p:nvCxnSpPr>
          <p:cNvPr id="3507" name="Google Shape;3507;p77"/>
          <p:cNvCxnSpPr/>
          <p:nvPr/>
        </p:nvCxnSpPr>
        <p:spPr>
          <a:xfrm>
            <a:off x="4316098" y="717845"/>
            <a:ext cx="3375212" cy="0"/>
          </a:xfrm>
          <a:prstGeom prst="straightConnector1">
            <a:avLst/>
          </a:prstGeom>
          <a:noFill/>
          <a:ln cap="flat" cmpd="sng" w="28575">
            <a:solidFill>
              <a:schemeClr val="accent1"/>
            </a:solidFill>
            <a:prstDash val="dot"/>
            <a:miter lim="800000"/>
            <a:headEnd len="sm" w="sm" type="none"/>
            <a:tailEnd len="sm" w="sm" type="none"/>
          </a:ln>
        </p:spPr>
      </p:cxnSp>
      <p:sp>
        <p:nvSpPr>
          <p:cNvPr id="3508" name="Google Shape;3508;p77"/>
          <p:cNvSpPr/>
          <p:nvPr/>
        </p:nvSpPr>
        <p:spPr>
          <a:xfrm>
            <a:off x="1284578" y="1520543"/>
            <a:ext cx="2024679" cy="42011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2130">
                <a:solidFill>
                  <a:schemeClr val="dk1"/>
                </a:solidFill>
                <a:latin typeface="Avenir"/>
                <a:ea typeface="Avenir"/>
                <a:cs typeface="Avenir"/>
                <a:sym typeface="Avenir"/>
              </a:rPr>
              <a:t>31 March</a:t>
            </a:r>
            <a:endParaRPr sz="2130">
              <a:solidFill>
                <a:schemeClr val="dk1"/>
              </a:solidFill>
              <a:latin typeface="Avenir"/>
              <a:ea typeface="Avenir"/>
              <a:cs typeface="Avenir"/>
              <a:sym typeface="Avenir"/>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513" name="Shape 3513"/>
        <p:cNvGrpSpPr/>
        <p:nvPr/>
      </p:nvGrpSpPr>
      <p:grpSpPr>
        <a:xfrm>
          <a:off x="0" y="0"/>
          <a:ext cx="0" cy="0"/>
          <a:chOff x="0" y="0"/>
          <a:chExt cx="0" cy="0"/>
        </a:xfrm>
      </p:grpSpPr>
      <p:grpSp>
        <p:nvGrpSpPr>
          <p:cNvPr id="3514" name="Google Shape;3514;p78"/>
          <p:cNvGrpSpPr/>
          <p:nvPr/>
        </p:nvGrpSpPr>
        <p:grpSpPr>
          <a:xfrm>
            <a:off x="492858" y="1051509"/>
            <a:ext cx="11291146" cy="5895963"/>
            <a:chOff x="492858" y="773769"/>
            <a:chExt cx="11291146" cy="5895963"/>
          </a:xfrm>
        </p:grpSpPr>
        <p:sp>
          <p:nvSpPr>
            <p:cNvPr id="3515" name="Google Shape;3515;p78"/>
            <p:cNvSpPr txBox="1"/>
            <p:nvPr/>
          </p:nvSpPr>
          <p:spPr>
            <a:xfrm>
              <a:off x="6227788" y="2623662"/>
              <a:ext cx="5556216" cy="1692844"/>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Equity</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3516" name="Google Shape;3516;p78"/>
            <p:cNvSpPr txBox="1"/>
            <p:nvPr/>
          </p:nvSpPr>
          <p:spPr>
            <a:xfrm>
              <a:off x="6410845" y="3135649"/>
              <a:ext cx="1544844" cy="770509"/>
            </a:xfrm>
            <a:prstGeom prst="rect">
              <a:avLst/>
            </a:prstGeom>
            <a:noFill/>
            <a:ln cap="flat" cmpd="sng" w="57150">
              <a:solidFill>
                <a:srgbClr val="94209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None/>
              </a:pPr>
              <a:r>
                <a:rPr b="1" lang="en-US" sz="2200">
                  <a:solidFill>
                    <a:srgbClr val="942093"/>
                  </a:solidFill>
                  <a:latin typeface="Avenir"/>
                  <a:ea typeface="Avenir"/>
                  <a:cs typeface="Avenir"/>
                  <a:sym typeface="Avenir"/>
                </a:rPr>
                <a:t>Profit</a:t>
              </a:r>
              <a:endParaRPr/>
            </a:p>
          </p:txBody>
        </p:sp>
        <p:sp>
          <p:nvSpPr>
            <p:cNvPr id="3517" name="Google Shape;3517;p78"/>
            <p:cNvSpPr txBox="1"/>
            <p:nvPr/>
          </p:nvSpPr>
          <p:spPr>
            <a:xfrm>
              <a:off x="6227788" y="773769"/>
              <a:ext cx="5556216" cy="1702674"/>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Liabilities</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grpSp>
          <p:nvGrpSpPr>
            <p:cNvPr id="3518" name="Google Shape;3518;p78"/>
            <p:cNvGrpSpPr/>
            <p:nvPr/>
          </p:nvGrpSpPr>
          <p:grpSpPr>
            <a:xfrm>
              <a:off x="492858" y="3906158"/>
              <a:ext cx="11291146" cy="2763574"/>
              <a:chOff x="1354633" y="4399872"/>
              <a:chExt cx="9550931" cy="2121952"/>
            </a:xfrm>
          </p:grpSpPr>
          <p:sp>
            <p:nvSpPr>
              <p:cNvPr id="3519" name="Google Shape;3519;p78"/>
              <p:cNvSpPr txBox="1"/>
              <p:nvPr/>
            </p:nvSpPr>
            <p:spPr>
              <a:xfrm>
                <a:off x="1354633" y="4813260"/>
                <a:ext cx="9550931" cy="1708564"/>
              </a:xfrm>
              <a:prstGeom prst="rect">
                <a:avLst/>
              </a:prstGeom>
              <a:solidFill>
                <a:srgbClr val="FCECFB"/>
              </a:solidFill>
              <a:ln cap="flat" cmpd="sng" w="7620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b="1" lang="en-US" sz="2800">
                    <a:solidFill>
                      <a:schemeClr val="dk1"/>
                    </a:solidFill>
                    <a:latin typeface="Avenir"/>
                    <a:ea typeface="Avenir"/>
                    <a:cs typeface="Avenir"/>
                    <a:sym typeface="Avenir"/>
                  </a:rPr>
                  <a:t> </a:t>
                </a:r>
                <a:endParaRPr/>
              </a:p>
            </p:txBody>
          </p:sp>
          <p:sp>
            <p:nvSpPr>
              <p:cNvPr id="3520" name="Google Shape;3520;p78"/>
              <p:cNvSpPr txBox="1"/>
              <p:nvPr/>
            </p:nvSpPr>
            <p:spPr>
              <a:xfrm>
                <a:off x="6199863" y="4921166"/>
                <a:ext cx="4576976" cy="1495361"/>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Income</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3521" name="Google Shape;3521;p78"/>
              <p:cNvSpPr txBox="1"/>
              <p:nvPr/>
            </p:nvSpPr>
            <p:spPr>
              <a:xfrm>
                <a:off x="1481256" y="4921166"/>
                <a:ext cx="4552539" cy="1495361"/>
              </a:xfrm>
              <a:prstGeom prst="rect">
                <a:avLst/>
              </a:prstGeom>
              <a:solidFill>
                <a:srgbClr val="E1EFD8"/>
              </a:solid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None/>
                </a:pPr>
                <a:r>
                  <a:rPr b="1" lang="en-US" sz="2800">
                    <a:solidFill>
                      <a:srgbClr val="E1EFD8"/>
                    </a:solidFill>
                    <a:latin typeface="Avenir"/>
                    <a:ea typeface="Avenir"/>
                    <a:cs typeface="Avenir"/>
                    <a:sym typeface="Avenir"/>
                  </a:rPr>
                  <a:t>_</a:t>
                </a:r>
                <a:r>
                  <a:rPr b="1" lang="en-US" sz="2000">
                    <a:solidFill>
                      <a:schemeClr val="dk1"/>
                    </a:solidFill>
                    <a:latin typeface="Avenir"/>
                    <a:ea typeface="Avenir"/>
                    <a:cs typeface="Avenir"/>
                    <a:sym typeface="Avenir"/>
                  </a:rPr>
                  <a:t>Expenses</a:t>
                </a:r>
                <a:endParaRPr b="1" sz="2800">
                  <a:solidFill>
                    <a:schemeClr val="dk1"/>
                  </a:solidFill>
                  <a:latin typeface="Avenir"/>
                  <a:ea typeface="Avenir"/>
                  <a:cs typeface="Avenir"/>
                  <a:sym typeface="Avenir"/>
                </a:endParaRPr>
              </a:p>
            </p:txBody>
          </p:sp>
          <p:cxnSp>
            <p:nvCxnSpPr>
              <p:cNvPr id="3522" name="Google Shape;3522;p78"/>
              <p:cNvCxnSpPr>
                <a:stCxn id="3516" idx="2"/>
              </p:cNvCxnSpPr>
              <p:nvPr/>
            </p:nvCxnSpPr>
            <p:spPr>
              <a:xfrm>
                <a:off x="7013902" y="4399872"/>
                <a:ext cx="7500" cy="434700"/>
              </a:xfrm>
              <a:prstGeom prst="straightConnector1">
                <a:avLst/>
              </a:prstGeom>
              <a:noFill/>
              <a:ln cap="flat" cmpd="sng" w="76200">
                <a:solidFill>
                  <a:srgbClr val="942093"/>
                </a:solidFill>
                <a:prstDash val="solid"/>
                <a:miter lim="800000"/>
                <a:headEnd len="sm" w="sm" type="none"/>
                <a:tailEnd len="sm" w="sm" type="none"/>
              </a:ln>
            </p:spPr>
          </p:cxnSp>
        </p:grpSp>
        <p:sp>
          <p:nvSpPr>
            <p:cNvPr id="3523" name="Google Shape;3523;p78"/>
            <p:cNvSpPr txBox="1"/>
            <p:nvPr/>
          </p:nvSpPr>
          <p:spPr>
            <a:xfrm>
              <a:off x="492858" y="773769"/>
              <a:ext cx="5544457" cy="3542737"/>
            </a:xfrm>
            <a:prstGeom prst="rect">
              <a:avLst/>
            </a:prstGeom>
            <a:solidFill>
              <a:srgbClr val="E1EFD8"/>
            </a:solid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None/>
              </a:pPr>
              <a:r>
                <a:rPr b="1" lang="en-US" sz="2800">
                  <a:solidFill>
                    <a:srgbClr val="E1EFD8"/>
                  </a:solidFill>
                  <a:latin typeface="Avenir"/>
                  <a:ea typeface="Avenir"/>
                  <a:cs typeface="Avenir"/>
                  <a:sym typeface="Avenir"/>
                </a:rPr>
                <a:t>_</a:t>
              </a:r>
              <a:r>
                <a:rPr b="1" lang="en-US" sz="2000">
                  <a:solidFill>
                    <a:schemeClr val="dk1"/>
                  </a:solidFill>
                  <a:latin typeface="Avenir"/>
                  <a:ea typeface="Avenir"/>
                  <a:cs typeface="Avenir"/>
                  <a:sym typeface="Avenir"/>
                </a:rPr>
                <a:t>Assets</a:t>
              </a:r>
              <a:endParaRPr b="1" sz="2800">
                <a:solidFill>
                  <a:schemeClr val="dk1"/>
                </a:solidFill>
                <a:latin typeface="Avenir"/>
                <a:ea typeface="Avenir"/>
                <a:cs typeface="Avenir"/>
                <a:sym typeface="Avenir"/>
              </a:endParaRPr>
            </a:p>
          </p:txBody>
        </p:sp>
      </p:grpSp>
      <p:sp>
        <p:nvSpPr>
          <p:cNvPr id="3524" name="Google Shape;3524;p78"/>
          <p:cNvSpPr/>
          <p:nvPr/>
        </p:nvSpPr>
        <p:spPr>
          <a:xfrm>
            <a:off x="1997281" y="1554901"/>
            <a:ext cx="2565924" cy="2795888"/>
          </a:xfrm>
          <a:prstGeom prst="rect">
            <a:avLst/>
          </a:prstGeom>
          <a:solidFill>
            <a:srgbClr val="E1EFD8">
              <a:alpha val="69803"/>
            </a:srgbClr>
          </a:solidFill>
          <a:ln cap="flat" cmpd="sng" w="76200">
            <a:solidFill>
              <a:schemeClr val="accent5"/>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lang="en-US" sz="1800">
                <a:solidFill>
                  <a:schemeClr val="accent1"/>
                </a:solidFill>
                <a:latin typeface="Avenir"/>
                <a:ea typeface="Avenir"/>
                <a:cs typeface="Avenir"/>
                <a:sym typeface="Avenir"/>
              </a:rPr>
              <a:t>Net book value</a:t>
            </a:r>
            <a:endParaRPr/>
          </a:p>
        </p:txBody>
      </p:sp>
      <p:grpSp>
        <p:nvGrpSpPr>
          <p:cNvPr id="3525" name="Google Shape;3525;p78"/>
          <p:cNvGrpSpPr/>
          <p:nvPr/>
        </p:nvGrpSpPr>
        <p:grpSpPr>
          <a:xfrm>
            <a:off x="2430155" y="3342861"/>
            <a:ext cx="1620000" cy="613673"/>
            <a:chOff x="3810000" y="2381250"/>
            <a:chExt cx="1390650" cy="1230631"/>
          </a:xfrm>
        </p:grpSpPr>
        <p:sp>
          <p:nvSpPr>
            <p:cNvPr id="3526" name="Google Shape;3526;p78"/>
            <p:cNvSpPr/>
            <p:nvPr/>
          </p:nvSpPr>
          <p:spPr>
            <a:xfrm flipH="1">
              <a:off x="4505325"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3527" name="Google Shape;3527;p78"/>
            <p:cNvSpPr/>
            <p:nvPr/>
          </p:nvSpPr>
          <p:spPr>
            <a:xfrm>
              <a:off x="3810000"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sp>
        <p:nvSpPr>
          <p:cNvPr id="3528" name="Google Shape;3528;p78"/>
          <p:cNvSpPr txBox="1"/>
          <p:nvPr/>
        </p:nvSpPr>
        <p:spPr>
          <a:xfrm>
            <a:off x="2418355" y="3926061"/>
            <a:ext cx="1647322"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Equipment</a:t>
            </a:r>
            <a:endParaRPr/>
          </a:p>
        </p:txBody>
      </p:sp>
      <p:sp>
        <p:nvSpPr>
          <p:cNvPr id="3529" name="Google Shape;3529;p78"/>
          <p:cNvSpPr txBox="1"/>
          <p:nvPr/>
        </p:nvSpPr>
        <p:spPr>
          <a:xfrm>
            <a:off x="3258190" y="3590397"/>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6,000</a:t>
            </a:r>
            <a:endParaRPr/>
          </a:p>
        </p:txBody>
      </p:sp>
      <p:sp>
        <p:nvSpPr>
          <p:cNvPr id="3530" name="Google Shape;3530;p78"/>
          <p:cNvSpPr/>
          <p:nvPr/>
        </p:nvSpPr>
        <p:spPr>
          <a:xfrm rot="10800000">
            <a:off x="3006380" y="3639721"/>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3531" name="Google Shape;3531;p78"/>
          <p:cNvGrpSpPr/>
          <p:nvPr/>
        </p:nvGrpSpPr>
        <p:grpSpPr>
          <a:xfrm>
            <a:off x="2541560" y="3631337"/>
            <a:ext cx="245580" cy="224238"/>
            <a:chOff x="802803" y="3715228"/>
            <a:chExt cx="245580" cy="224238"/>
          </a:xfrm>
        </p:grpSpPr>
        <p:sp>
          <p:nvSpPr>
            <p:cNvPr id="3532" name="Google Shape;3532;p78"/>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533" name="Google Shape;3533;p78"/>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4</a:t>
              </a:r>
              <a:endParaRPr/>
            </a:p>
          </p:txBody>
        </p:sp>
      </p:grpSp>
      <p:sp>
        <p:nvSpPr>
          <p:cNvPr id="3534" name="Google Shape;3534;p78"/>
          <p:cNvSpPr txBox="1"/>
          <p:nvPr/>
        </p:nvSpPr>
        <p:spPr>
          <a:xfrm>
            <a:off x="492858" y="373659"/>
            <a:ext cx="1880643" cy="40011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000">
                <a:solidFill>
                  <a:schemeClr val="accent6"/>
                </a:solidFill>
                <a:latin typeface="Avenir"/>
                <a:ea typeface="Avenir"/>
                <a:cs typeface="Avenir"/>
                <a:sym typeface="Avenir"/>
              </a:rPr>
              <a:t>Uses of funds</a:t>
            </a:r>
            <a:endParaRPr/>
          </a:p>
        </p:txBody>
      </p:sp>
      <p:grpSp>
        <p:nvGrpSpPr>
          <p:cNvPr id="3535" name="Google Shape;3535;p78"/>
          <p:cNvGrpSpPr/>
          <p:nvPr/>
        </p:nvGrpSpPr>
        <p:grpSpPr>
          <a:xfrm>
            <a:off x="2431837" y="2239019"/>
            <a:ext cx="1620000" cy="613673"/>
            <a:chOff x="3810000" y="2381250"/>
            <a:chExt cx="1390650" cy="1230631"/>
          </a:xfrm>
        </p:grpSpPr>
        <p:sp>
          <p:nvSpPr>
            <p:cNvPr id="3536" name="Google Shape;3536;p78"/>
            <p:cNvSpPr/>
            <p:nvPr/>
          </p:nvSpPr>
          <p:spPr>
            <a:xfrm flipH="1">
              <a:off x="4505325"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3537" name="Google Shape;3537;p78"/>
            <p:cNvSpPr/>
            <p:nvPr/>
          </p:nvSpPr>
          <p:spPr>
            <a:xfrm>
              <a:off x="3810000"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sp>
        <p:nvSpPr>
          <p:cNvPr id="3538" name="Google Shape;3538;p78"/>
          <p:cNvSpPr txBox="1"/>
          <p:nvPr/>
        </p:nvSpPr>
        <p:spPr>
          <a:xfrm>
            <a:off x="2424875" y="2819506"/>
            <a:ext cx="1647322" cy="584775"/>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Accumulated depreciation</a:t>
            </a:r>
            <a:endParaRPr/>
          </a:p>
        </p:txBody>
      </p:sp>
      <p:sp>
        <p:nvSpPr>
          <p:cNvPr id="3539" name="Google Shape;3539;p78"/>
          <p:cNvSpPr txBox="1"/>
          <p:nvPr/>
        </p:nvSpPr>
        <p:spPr>
          <a:xfrm>
            <a:off x="3436231" y="2504827"/>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100</a:t>
            </a:r>
            <a:endParaRPr/>
          </a:p>
        </p:txBody>
      </p:sp>
      <p:sp>
        <p:nvSpPr>
          <p:cNvPr id="3540" name="Google Shape;3540;p78"/>
          <p:cNvSpPr/>
          <p:nvPr/>
        </p:nvSpPr>
        <p:spPr>
          <a:xfrm>
            <a:off x="3013056" y="2552833"/>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3541" name="Google Shape;3541;p78"/>
          <p:cNvGrpSpPr/>
          <p:nvPr/>
        </p:nvGrpSpPr>
        <p:grpSpPr>
          <a:xfrm>
            <a:off x="2509931" y="2513811"/>
            <a:ext cx="309700" cy="224238"/>
            <a:chOff x="770743" y="3715228"/>
            <a:chExt cx="309700" cy="224238"/>
          </a:xfrm>
        </p:grpSpPr>
        <p:sp>
          <p:nvSpPr>
            <p:cNvPr id="3542" name="Google Shape;3542;p78"/>
            <p:cNvSpPr/>
            <p:nvPr/>
          </p:nvSpPr>
          <p:spPr>
            <a:xfrm>
              <a:off x="810781" y="3715228"/>
              <a:ext cx="216000" cy="216000"/>
            </a:xfrm>
            <a:prstGeom prst="ellipse">
              <a:avLst/>
            </a:prstGeom>
            <a:solidFill>
              <a:srgbClr val="FFFF00"/>
            </a:solidFill>
            <a:ln cap="flat" cmpd="sng" w="1270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543" name="Google Shape;3543;p78"/>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14</a:t>
              </a:r>
              <a:endParaRPr/>
            </a:p>
          </p:txBody>
        </p:sp>
      </p:grpSp>
      <p:sp>
        <p:nvSpPr>
          <p:cNvPr id="3544" name="Google Shape;3544;p78"/>
          <p:cNvSpPr txBox="1"/>
          <p:nvPr/>
        </p:nvSpPr>
        <p:spPr>
          <a:xfrm>
            <a:off x="4187006" y="133386"/>
            <a:ext cx="3629520"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cxnSp>
        <p:nvCxnSpPr>
          <p:cNvPr id="3545" name="Google Shape;3545;p78"/>
          <p:cNvCxnSpPr/>
          <p:nvPr/>
        </p:nvCxnSpPr>
        <p:spPr>
          <a:xfrm>
            <a:off x="4316098" y="566860"/>
            <a:ext cx="3375212" cy="0"/>
          </a:xfrm>
          <a:prstGeom prst="straightConnector1">
            <a:avLst/>
          </a:prstGeom>
          <a:noFill/>
          <a:ln cap="flat" cmpd="sng" w="28575">
            <a:solidFill>
              <a:schemeClr val="accent1"/>
            </a:solidFill>
            <a:prstDash val="dot"/>
            <a:miter lim="800000"/>
            <a:headEnd len="sm" w="sm" type="none"/>
            <a:tailEnd len="sm" w="sm" type="none"/>
          </a:ln>
        </p:spPr>
      </p:cxnSp>
      <p:sp>
        <p:nvSpPr>
          <p:cNvPr id="3546" name="Google Shape;3546;p78"/>
          <p:cNvSpPr txBox="1"/>
          <p:nvPr/>
        </p:nvSpPr>
        <p:spPr>
          <a:xfrm>
            <a:off x="9504213" y="373659"/>
            <a:ext cx="2279791" cy="40011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000">
                <a:solidFill>
                  <a:schemeClr val="accent2"/>
                </a:solidFill>
                <a:latin typeface="Avenir"/>
                <a:ea typeface="Avenir"/>
                <a:cs typeface="Avenir"/>
                <a:sym typeface="Avenir"/>
              </a:rPr>
              <a:t>Sources of funds</a:t>
            </a:r>
            <a:endParaRPr/>
          </a:p>
        </p:txBody>
      </p:sp>
      <p:grpSp>
        <p:nvGrpSpPr>
          <p:cNvPr id="3547" name="Google Shape;3547;p78"/>
          <p:cNvGrpSpPr/>
          <p:nvPr/>
        </p:nvGrpSpPr>
        <p:grpSpPr>
          <a:xfrm>
            <a:off x="2426804" y="5368526"/>
            <a:ext cx="1620000" cy="546428"/>
            <a:chOff x="3810000" y="2381250"/>
            <a:chExt cx="1390650" cy="1230631"/>
          </a:xfrm>
        </p:grpSpPr>
        <p:sp>
          <p:nvSpPr>
            <p:cNvPr id="3548" name="Google Shape;3548;p78"/>
            <p:cNvSpPr/>
            <p:nvPr/>
          </p:nvSpPr>
          <p:spPr>
            <a:xfrm flipH="1">
              <a:off x="4505325" y="2381250"/>
              <a:ext cx="695325" cy="1230631"/>
            </a:xfrm>
            <a:prstGeom prst="corner">
              <a:avLst>
                <a:gd fmla="val 9817" name="adj1"/>
                <a:gd fmla="val 8904" name="adj2"/>
              </a:avLst>
            </a:prstGeom>
            <a:solidFill>
              <a:srgbClr val="548135"/>
            </a:solidFill>
            <a:ln cap="flat" cmpd="sng" w="19050">
              <a:solidFill>
                <a:srgbClr val="548135"/>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3549" name="Google Shape;3549;p78"/>
            <p:cNvSpPr/>
            <p:nvPr/>
          </p:nvSpPr>
          <p:spPr>
            <a:xfrm>
              <a:off x="3810000" y="2381250"/>
              <a:ext cx="695325" cy="1230631"/>
            </a:xfrm>
            <a:prstGeom prst="corner">
              <a:avLst>
                <a:gd fmla="val 9817" name="adj1"/>
                <a:gd fmla="val 8904" name="adj2"/>
              </a:avLst>
            </a:prstGeom>
            <a:solidFill>
              <a:srgbClr val="548135"/>
            </a:solidFill>
            <a:ln cap="flat" cmpd="sng" w="19050">
              <a:solidFill>
                <a:srgbClr val="548135"/>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sp>
        <p:nvSpPr>
          <p:cNvPr id="3550" name="Google Shape;3550;p78"/>
          <p:cNvSpPr txBox="1"/>
          <p:nvPr/>
        </p:nvSpPr>
        <p:spPr>
          <a:xfrm>
            <a:off x="2128968" y="5914954"/>
            <a:ext cx="2187130"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Depreciation charge</a:t>
            </a:r>
            <a:endParaRPr/>
          </a:p>
        </p:txBody>
      </p:sp>
      <p:sp>
        <p:nvSpPr>
          <p:cNvPr id="3551" name="Google Shape;3551;p78"/>
          <p:cNvSpPr txBox="1"/>
          <p:nvPr/>
        </p:nvSpPr>
        <p:spPr>
          <a:xfrm>
            <a:off x="3483796" y="5534421"/>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100</a:t>
            </a:r>
            <a:endParaRPr/>
          </a:p>
        </p:txBody>
      </p:sp>
      <p:sp>
        <p:nvSpPr>
          <p:cNvPr id="3552" name="Google Shape;3552;p78"/>
          <p:cNvSpPr/>
          <p:nvPr/>
        </p:nvSpPr>
        <p:spPr>
          <a:xfrm rot="10800000">
            <a:off x="3203239" y="5585301"/>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3553" name="Google Shape;3553;p78"/>
          <p:cNvGrpSpPr/>
          <p:nvPr/>
        </p:nvGrpSpPr>
        <p:grpSpPr>
          <a:xfrm>
            <a:off x="2521051" y="5582253"/>
            <a:ext cx="306494" cy="224238"/>
            <a:chOff x="772346" y="3715228"/>
            <a:chExt cx="306494" cy="224238"/>
          </a:xfrm>
        </p:grpSpPr>
        <p:sp>
          <p:nvSpPr>
            <p:cNvPr id="3554" name="Google Shape;3554;p78"/>
            <p:cNvSpPr/>
            <p:nvPr/>
          </p:nvSpPr>
          <p:spPr>
            <a:xfrm>
              <a:off x="810781" y="3715228"/>
              <a:ext cx="216000" cy="216000"/>
            </a:xfrm>
            <a:prstGeom prst="ellipse">
              <a:avLst/>
            </a:prstGeom>
            <a:solidFill>
              <a:srgbClr val="FFFF00"/>
            </a:solidFill>
            <a:ln cap="flat" cmpd="sng" w="1270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555" name="Google Shape;3555;p78"/>
            <p:cNvSpPr/>
            <p:nvPr/>
          </p:nvSpPr>
          <p:spPr>
            <a:xfrm>
              <a:off x="772346" y="3724022"/>
              <a:ext cx="306494"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14</a:t>
              </a:r>
              <a:endParaRPr/>
            </a:p>
          </p:txBody>
        </p:sp>
      </p:grpSp>
      <p:sp>
        <p:nvSpPr>
          <p:cNvPr id="3556" name="Google Shape;3556;p78"/>
          <p:cNvSpPr txBox="1"/>
          <p:nvPr/>
        </p:nvSpPr>
        <p:spPr>
          <a:xfrm>
            <a:off x="10026434" y="3924000"/>
            <a:ext cx="1757569"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contributed capital</a:t>
            </a:r>
            <a:endParaRPr/>
          </a:p>
        </p:txBody>
      </p:sp>
      <p:sp>
        <p:nvSpPr>
          <p:cNvPr id="3557" name="Google Shape;3557;p78"/>
          <p:cNvSpPr txBox="1"/>
          <p:nvPr/>
        </p:nvSpPr>
        <p:spPr>
          <a:xfrm>
            <a:off x="10776926" y="3605780"/>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20,000</a:t>
            </a:r>
            <a:endParaRPr/>
          </a:p>
        </p:txBody>
      </p:sp>
      <p:grpSp>
        <p:nvGrpSpPr>
          <p:cNvPr id="3558" name="Google Shape;3558;p78"/>
          <p:cNvGrpSpPr/>
          <p:nvPr/>
        </p:nvGrpSpPr>
        <p:grpSpPr>
          <a:xfrm>
            <a:off x="10116000" y="3650400"/>
            <a:ext cx="245580" cy="224238"/>
            <a:chOff x="802803" y="3715228"/>
            <a:chExt cx="245580" cy="224238"/>
          </a:xfrm>
        </p:grpSpPr>
        <p:sp>
          <p:nvSpPr>
            <p:cNvPr id="3559" name="Google Shape;3559;p78"/>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560" name="Google Shape;3560;p78"/>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2</a:t>
              </a:r>
              <a:endParaRPr/>
            </a:p>
          </p:txBody>
        </p:sp>
      </p:grpSp>
      <p:grpSp>
        <p:nvGrpSpPr>
          <p:cNvPr id="3561" name="Google Shape;3561;p78"/>
          <p:cNvGrpSpPr/>
          <p:nvPr/>
        </p:nvGrpSpPr>
        <p:grpSpPr>
          <a:xfrm>
            <a:off x="9983452" y="3159099"/>
            <a:ext cx="1620000" cy="796276"/>
            <a:chOff x="3810000" y="2015069"/>
            <a:chExt cx="1390650" cy="1596814"/>
          </a:xfrm>
        </p:grpSpPr>
        <p:sp>
          <p:nvSpPr>
            <p:cNvPr id="3562" name="Google Shape;3562;p78"/>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3563" name="Google Shape;3563;p78"/>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sp>
        <p:nvSpPr>
          <p:cNvPr id="3564" name="Google Shape;3564;p78"/>
          <p:cNvSpPr/>
          <p:nvPr/>
        </p:nvSpPr>
        <p:spPr>
          <a:xfrm rot="10800000">
            <a:off x="10548000" y="3653367"/>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3565" name="Google Shape;3565;p78"/>
          <p:cNvSpPr txBox="1"/>
          <p:nvPr/>
        </p:nvSpPr>
        <p:spPr>
          <a:xfrm>
            <a:off x="8209453" y="3923999"/>
            <a:ext cx="1620000"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Dividends</a:t>
            </a:r>
            <a:endParaRPr/>
          </a:p>
        </p:txBody>
      </p:sp>
      <p:grpSp>
        <p:nvGrpSpPr>
          <p:cNvPr id="3566" name="Google Shape;3566;p78"/>
          <p:cNvGrpSpPr/>
          <p:nvPr/>
        </p:nvGrpSpPr>
        <p:grpSpPr>
          <a:xfrm>
            <a:off x="8166470" y="3159098"/>
            <a:ext cx="1620000" cy="796276"/>
            <a:chOff x="3810000" y="2015069"/>
            <a:chExt cx="1390650" cy="1596814"/>
          </a:xfrm>
        </p:grpSpPr>
        <p:sp>
          <p:nvSpPr>
            <p:cNvPr id="3567" name="Google Shape;3567;p78"/>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3568" name="Google Shape;3568;p78"/>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sp>
        <p:nvSpPr>
          <p:cNvPr id="3569" name="Google Shape;3569;p78"/>
          <p:cNvSpPr txBox="1"/>
          <p:nvPr/>
        </p:nvSpPr>
        <p:spPr>
          <a:xfrm>
            <a:off x="9203194" y="3565337"/>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100</a:t>
            </a:r>
            <a:endParaRPr/>
          </a:p>
        </p:txBody>
      </p:sp>
      <p:sp>
        <p:nvSpPr>
          <p:cNvPr id="3570" name="Google Shape;3570;p78"/>
          <p:cNvSpPr/>
          <p:nvPr/>
        </p:nvSpPr>
        <p:spPr>
          <a:xfrm rot="10800000">
            <a:off x="8922637" y="3616217"/>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3571" name="Google Shape;3571;p78"/>
          <p:cNvGrpSpPr/>
          <p:nvPr/>
        </p:nvGrpSpPr>
        <p:grpSpPr>
          <a:xfrm>
            <a:off x="8243655" y="3613169"/>
            <a:ext cx="300083" cy="224238"/>
            <a:chOff x="775552" y="3715228"/>
            <a:chExt cx="300083" cy="224238"/>
          </a:xfrm>
        </p:grpSpPr>
        <p:sp>
          <p:nvSpPr>
            <p:cNvPr id="3572" name="Google Shape;3572;p78"/>
            <p:cNvSpPr/>
            <p:nvPr/>
          </p:nvSpPr>
          <p:spPr>
            <a:xfrm>
              <a:off x="810781" y="3715228"/>
              <a:ext cx="216000" cy="216000"/>
            </a:xfrm>
            <a:prstGeom prst="ellipse">
              <a:avLst/>
            </a:prstGeom>
            <a:solidFill>
              <a:srgbClr val="FFFF00"/>
            </a:solidFill>
            <a:ln cap="flat" cmpd="sng" w="1270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573" name="Google Shape;3573;p78"/>
            <p:cNvSpPr/>
            <p:nvPr/>
          </p:nvSpPr>
          <p:spPr>
            <a:xfrm>
              <a:off x="775552" y="3724022"/>
              <a:ext cx="300083"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17</a:t>
              </a:r>
              <a:endParaRPr/>
            </a:p>
          </p:txBody>
        </p:sp>
      </p:grpSp>
    </p:spTree>
  </p:cSld>
  <p:clrMapOvr>
    <a:masterClrMapping/>
  </p:clrMapOvr>
  <mc:AlternateContent>
    <mc:Choice Requires="p14">
      <p:transition spd="slow" p14:dur="700">
        <p:fade/>
      </p:transition>
    </mc:Choice>
    <mc:Fallback>
      <p:transition spd="slow">
        <p:fade/>
      </p:transition>
    </mc:Fallback>
  </mc:AlternateContent>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538"/>
                                        </p:tgtEl>
                                        <p:attrNameLst>
                                          <p:attrName>style.visibility</p:attrName>
                                        </p:attrNameLst>
                                      </p:cBhvr>
                                      <p:to>
                                        <p:strVal val="visible"/>
                                      </p:to>
                                    </p:set>
                                    <p:animEffect filter="fade" transition="in">
                                      <p:cBhvr>
                                        <p:cTn dur="500"/>
                                        <p:tgtEl>
                                          <p:spTgt spid="3538"/>
                                        </p:tgtEl>
                                      </p:cBhvr>
                                    </p:animEffect>
                                  </p:childTnLst>
                                </p:cTn>
                              </p:par>
                              <p:par>
                                <p:cTn fill="hold" nodeType="withEffect" presetClass="entr" presetID="10" presetSubtype="0">
                                  <p:stCondLst>
                                    <p:cond delay="0"/>
                                  </p:stCondLst>
                                  <p:childTnLst>
                                    <p:set>
                                      <p:cBhvr>
                                        <p:cTn dur="1" fill="hold">
                                          <p:stCondLst>
                                            <p:cond delay="0"/>
                                          </p:stCondLst>
                                        </p:cTn>
                                        <p:tgtEl>
                                          <p:spTgt spid="3535"/>
                                        </p:tgtEl>
                                        <p:attrNameLst>
                                          <p:attrName>style.visibility</p:attrName>
                                        </p:attrNameLst>
                                      </p:cBhvr>
                                      <p:to>
                                        <p:strVal val="visible"/>
                                      </p:to>
                                    </p:set>
                                    <p:animEffect filter="fade" transition="in">
                                      <p:cBhvr>
                                        <p:cTn dur="500"/>
                                        <p:tgtEl>
                                          <p:spTgt spid="3535"/>
                                        </p:tgtEl>
                                      </p:cBhvr>
                                    </p:animEffect>
                                  </p:childTnLst>
                                </p:cTn>
                              </p:par>
                              <p:par>
                                <p:cTn fill="hold" nodeType="withEffect" presetClass="entr" presetID="10" presetSubtype="0">
                                  <p:stCondLst>
                                    <p:cond delay="0"/>
                                  </p:stCondLst>
                                  <p:childTnLst>
                                    <p:set>
                                      <p:cBhvr>
                                        <p:cTn dur="1" fill="hold">
                                          <p:stCondLst>
                                            <p:cond delay="0"/>
                                          </p:stCondLst>
                                        </p:cTn>
                                        <p:tgtEl>
                                          <p:spTgt spid="3540"/>
                                        </p:tgtEl>
                                        <p:attrNameLst>
                                          <p:attrName>style.visibility</p:attrName>
                                        </p:attrNameLst>
                                      </p:cBhvr>
                                      <p:to>
                                        <p:strVal val="visible"/>
                                      </p:to>
                                    </p:set>
                                    <p:animEffect filter="fade" transition="in">
                                      <p:cBhvr>
                                        <p:cTn dur="1000"/>
                                        <p:tgtEl>
                                          <p:spTgt spid="3540"/>
                                        </p:tgtEl>
                                      </p:cBhvr>
                                    </p:animEffect>
                                  </p:childTnLst>
                                </p:cTn>
                              </p:par>
                              <p:par>
                                <p:cTn fill="hold" nodeType="withEffect" presetClass="entr" presetID="10" presetSubtype="0">
                                  <p:stCondLst>
                                    <p:cond delay="0"/>
                                  </p:stCondLst>
                                  <p:childTnLst>
                                    <p:set>
                                      <p:cBhvr>
                                        <p:cTn dur="1" fill="hold">
                                          <p:stCondLst>
                                            <p:cond delay="0"/>
                                          </p:stCondLst>
                                        </p:cTn>
                                        <p:tgtEl>
                                          <p:spTgt spid="3541"/>
                                        </p:tgtEl>
                                        <p:attrNameLst>
                                          <p:attrName>style.visibility</p:attrName>
                                        </p:attrNameLst>
                                      </p:cBhvr>
                                      <p:to>
                                        <p:strVal val="visible"/>
                                      </p:to>
                                    </p:set>
                                    <p:animEffect filter="fade" transition="in">
                                      <p:cBhvr>
                                        <p:cTn dur="1000"/>
                                        <p:tgtEl>
                                          <p:spTgt spid="3541"/>
                                        </p:tgtEl>
                                      </p:cBhvr>
                                    </p:animEffect>
                                  </p:childTnLst>
                                </p:cTn>
                              </p:par>
                              <p:par>
                                <p:cTn fill="hold" nodeType="withEffect" presetClass="entr" presetID="10" presetSubtype="0">
                                  <p:stCondLst>
                                    <p:cond delay="0"/>
                                  </p:stCondLst>
                                  <p:childTnLst>
                                    <p:set>
                                      <p:cBhvr>
                                        <p:cTn dur="1" fill="hold">
                                          <p:stCondLst>
                                            <p:cond delay="0"/>
                                          </p:stCondLst>
                                        </p:cTn>
                                        <p:tgtEl>
                                          <p:spTgt spid="3539"/>
                                        </p:tgtEl>
                                        <p:attrNameLst>
                                          <p:attrName>style.visibility</p:attrName>
                                        </p:attrNameLst>
                                      </p:cBhvr>
                                      <p:to>
                                        <p:strVal val="visible"/>
                                      </p:to>
                                    </p:set>
                                    <p:animEffect filter="fade" transition="in">
                                      <p:cBhvr>
                                        <p:cTn dur="1000"/>
                                        <p:tgtEl>
                                          <p:spTgt spid="353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524"/>
                                        </p:tgtEl>
                                        <p:attrNameLst>
                                          <p:attrName>style.visibility</p:attrName>
                                        </p:attrNameLst>
                                      </p:cBhvr>
                                      <p:to>
                                        <p:strVal val="visible"/>
                                      </p:to>
                                    </p:set>
                                    <p:animEffect filter="fade" transition="in">
                                      <p:cBhvr>
                                        <p:cTn dur="500"/>
                                        <p:tgtEl>
                                          <p:spTgt spid="3524"/>
                                        </p:tgtEl>
                                      </p:cBhvr>
                                    </p:animEffect>
                                  </p:childTnLst>
                                </p:cTn>
                              </p:par>
                              <p:par>
                                <p:cTn fill="hold" nodeType="withEffect" presetClass="entr" presetID="10" presetSubtype="0">
                                  <p:stCondLst>
                                    <p:cond delay="0"/>
                                  </p:stCondLst>
                                  <p:childTnLst>
                                    <p:set>
                                      <p:cBhvr>
                                        <p:cTn dur="1" fill="hold">
                                          <p:stCondLst>
                                            <p:cond delay="0"/>
                                          </p:stCondLst>
                                        </p:cTn>
                                        <p:tgtEl>
                                          <p:spTgt spid="3553"/>
                                        </p:tgtEl>
                                        <p:attrNameLst>
                                          <p:attrName>style.visibility</p:attrName>
                                        </p:attrNameLst>
                                      </p:cBhvr>
                                      <p:to>
                                        <p:strVal val="visible"/>
                                      </p:to>
                                    </p:set>
                                    <p:animEffect filter="fade" transition="in">
                                      <p:cBhvr>
                                        <p:cTn dur="1000"/>
                                        <p:tgtEl>
                                          <p:spTgt spid="3553"/>
                                        </p:tgtEl>
                                      </p:cBhvr>
                                    </p:animEffect>
                                  </p:childTnLst>
                                </p:cTn>
                              </p:par>
                              <p:par>
                                <p:cTn fill="hold" nodeType="withEffect" presetClass="entr" presetID="10" presetSubtype="0">
                                  <p:stCondLst>
                                    <p:cond delay="0"/>
                                  </p:stCondLst>
                                  <p:childTnLst>
                                    <p:set>
                                      <p:cBhvr>
                                        <p:cTn dur="1" fill="hold">
                                          <p:stCondLst>
                                            <p:cond delay="0"/>
                                          </p:stCondLst>
                                        </p:cTn>
                                        <p:tgtEl>
                                          <p:spTgt spid="3552"/>
                                        </p:tgtEl>
                                        <p:attrNameLst>
                                          <p:attrName>style.visibility</p:attrName>
                                        </p:attrNameLst>
                                      </p:cBhvr>
                                      <p:to>
                                        <p:strVal val="visible"/>
                                      </p:to>
                                    </p:set>
                                    <p:animEffect filter="fade" transition="in">
                                      <p:cBhvr>
                                        <p:cTn dur="1000"/>
                                        <p:tgtEl>
                                          <p:spTgt spid="3552"/>
                                        </p:tgtEl>
                                      </p:cBhvr>
                                    </p:animEffect>
                                  </p:childTnLst>
                                </p:cTn>
                              </p:par>
                              <p:par>
                                <p:cTn fill="hold" nodeType="withEffect" presetClass="entr" presetID="10" presetSubtype="0">
                                  <p:stCondLst>
                                    <p:cond delay="0"/>
                                  </p:stCondLst>
                                  <p:childTnLst>
                                    <p:set>
                                      <p:cBhvr>
                                        <p:cTn dur="1" fill="hold">
                                          <p:stCondLst>
                                            <p:cond delay="0"/>
                                          </p:stCondLst>
                                        </p:cTn>
                                        <p:tgtEl>
                                          <p:spTgt spid="3551"/>
                                        </p:tgtEl>
                                        <p:attrNameLst>
                                          <p:attrName>style.visibility</p:attrName>
                                        </p:attrNameLst>
                                      </p:cBhvr>
                                      <p:to>
                                        <p:strVal val="visible"/>
                                      </p:to>
                                    </p:set>
                                    <p:animEffect filter="fade" transition="in">
                                      <p:cBhvr>
                                        <p:cTn dur="1000"/>
                                        <p:tgtEl>
                                          <p:spTgt spid="3551"/>
                                        </p:tgtEl>
                                      </p:cBhvr>
                                    </p:animEffect>
                                  </p:childTnLst>
                                </p:cTn>
                              </p:par>
                              <p:par>
                                <p:cTn fill="hold" nodeType="withEffect" presetClass="entr" presetID="10" presetSubtype="0">
                                  <p:stCondLst>
                                    <p:cond delay="0"/>
                                  </p:stCondLst>
                                  <p:childTnLst>
                                    <p:set>
                                      <p:cBhvr>
                                        <p:cTn dur="1" fill="hold">
                                          <p:stCondLst>
                                            <p:cond delay="0"/>
                                          </p:stCondLst>
                                        </p:cTn>
                                        <p:tgtEl>
                                          <p:spTgt spid="3571"/>
                                        </p:tgtEl>
                                        <p:attrNameLst>
                                          <p:attrName>style.visibility</p:attrName>
                                        </p:attrNameLst>
                                      </p:cBhvr>
                                      <p:to>
                                        <p:strVal val="visible"/>
                                      </p:to>
                                    </p:set>
                                    <p:animEffect filter="fade" transition="in">
                                      <p:cBhvr>
                                        <p:cTn dur="1000"/>
                                        <p:tgtEl>
                                          <p:spTgt spid="3571"/>
                                        </p:tgtEl>
                                      </p:cBhvr>
                                    </p:animEffect>
                                  </p:childTnLst>
                                </p:cTn>
                              </p:par>
                              <p:par>
                                <p:cTn fill="hold" nodeType="withEffect" presetClass="entr" presetID="10" presetSubtype="0">
                                  <p:stCondLst>
                                    <p:cond delay="0"/>
                                  </p:stCondLst>
                                  <p:childTnLst>
                                    <p:set>
                                      <p:cBhvr>
                                        <p:cTn dur="1" fill="hold">
                                          <p:stCondLst>
                                            <p:cond delay="0"/>
                                          </p:stCondLst>
                                        </p:cTn>
                                        <p:tgtEl>
                                          <p:spTgt spid="3570"/>
                                        </p:tgtEl>
                                        <p:attrNameLst>
                                          <p:attrName>style.visibility</p:attrName>
                                        </p:attrNameLst>
                                      </p:cBhvr>
                                      <p:to>
                                        <p:strVal val="visible"/>
                                      </p:to>
                                    </p:set>
                                    <p:animEffect filter="fade" transition="in">
                                      <p:cBhvr>
                                        <p:cTn dur="1000"/>
                                        <p:tgtEl>
                                          <p:spTgt spid="3570"/>
                                        </p:tgtEl>
                                      </p:cBhvr>
                                    </p:animEffect>
                                  </p:childTnLst>
                                </p:cTn>
                              </p:par>
                              <p:par>
                                <p:cTn fill="hold" nodeType="withEffect" presetClass="entr" presetID="10" presetSubtype="0">
                                  <p:stCondLst>
                                    <p:cond delay="0"/>
                                  </p:stCondLst>
                                  <p:childTnLst>
                                    <p:set>
                                      <p:cBhvr>
                                        <p:cTn dur="1" fill="hold">
                                          <p:stCondLst>
                                            <p:cond delay="0"/>
                                          </p:stCondLst>
                                        </p:cTn>
                                        <p:tgtEl>
                                          <p:spTgt spid="3569"/>
                                        </p:tgtEl>
                                        <p:attrNameLst>
                                          <p:attrName>style.visibility</p:attrName>
                                        </p:attrNameLst>
                                      </p:cBhvr>
                                      <p:to>
                                        <p:strVal val="visible"/>
                                      </p:to>
                                    </p:set>
                                    <p:animEffect filter="fade" transition="in">
                                      <p:cBhvr>
                                        <p:cTn dur="1000"/>
                                        <p:tgtEl>
                                          <p:spTgt spid="3569"/>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578" name="Shape 3578"/>
        <p:cNvGrpSpPr/>
        <p:nvPr/>
      </p:nvGrpSpPr>
      <p:grpSpPr>
        <a:xfrm>
          <a:off x="0" y="0"/>
          <a:ext cx="0" cy="0"/>
          <a:chOff x="0" y="0"/>
          <a:chExt cx="0" cy="0"/>
        </a:xfrm>
      </p:grpSpPr>
      <p:grpSp>
        <p:nvGrpSpPr>
          <p:cNvPr id="3579" name="Google Shape;3579;p79"/>
          <p:cNvGrpSpPr/>
          <p:nvPr/>
        </p:nvGrpSpPr>
        <p:grpSpPr>
          <a:xfrm>
            <a:off x="492858" y="773769"/>
            <a:ext cx="11291146" cy="5895963"/>
            <a:chOff x="492858" y="773769"/>
            <a:chExt cx="11291146" cy="5895963"/>
          </a:xfrm>
        </p:grpSpPr>
        <p:sp>
          <p:nvSpPr>
            <p:cNvPr id="3580" name="Google Shape;3580;p79"/>
            <p:cNvSpPr txBox="1"/>
            <p:nvPr/>
          </p:nvSpPr>
          <p:spPr>
            <a:xfrm>
              <a:off x="6227788" y="2623662"/>
              <a:ext cx="5556216" cy="1692844"/>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Equity</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3581" name="Google Shape;3581;p79"/>
            <p:cNvSpPr txBox="1"/>
            <p:nvPr/>
          </p:nvSpPr>
          <p:spPr>
            <a:xfrm>
              <a:off x="6410845" y="3135649"/>
              <a:ext cx="1544844" cy="770509"/>
            </a:xfrm>
            <a:prstGeom prst="rect">
              <a:avLst/>
            </a:prstGeom>
            <a:noFill/>
            <a:ln cap="flat" cmpd="sng" w="57150">
              <a:solidFill>
                <a:srgbClr val="94209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None/>
              </a:pPr>
              <a:r>
                <a:rPr b="1" lang="en-US" sz="2200">
                  <a:solidFill>
                    <a:srgbClr val="942093"/>
                  </a:solidFill>
                  <a:latin typeface="Avenir"/>
                  <a:ea typeface="Avenir"/>
                  <a:cs typeface="Avenir"/>
                  <a:sym typeface="Avenir"/>
                </a:rPr>
                <a:t>Profit</a:t>
              </a:r>
              <a:endParaRPr/>
            </a:p>
          </p:txBody>
        </p:sp>
        <p:sp>
          <p:nvSpPr>
            <p:cNvPr id="3582" name="Google Shape;3582;p79"/>
            <p:cNvSpPr txBox="1"/>
            <p:nvPr/>
          </p:nvSpPr>
          <p:spPr>
            <a:xfrm>
              <a:off x="6227788" y="773769"/>
              <a:ext cx="5556216" cy="1702674"/>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Liabilities</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grpSp>
          <p:nvGrpSpPr>
            <p:cNvPr id="3583" name="Google Shape;3583;p79"/>
            <p:cNvGrpSpPr/>
            <p:nvPr/>
          </p:nvGrpSpPr>
          <p:grpSpPr>
            <a:xfrm>
              <a:off x="492858" y="3906158"/>
              <a:ext cx="11291146" cy="2763574"/>
              <a:chOff x="1354633" y="4399872"/>
              <a:chExt cx="9550931" cy="2121952"/>
            </a:xfrm>
          </p:grpSpPr>
          <p:sp>
            <p:nvSpPr>
              <p:cNvPr id="3584" name="Google Shape;3584;p79"/>
              <p:cNvSpPr txBox="1"/>
              <p:nvPr/>
            </p:nvSpPr>
            <p:spPr>
              <a:xfrm>
                <a:off x="1354633" y="4813260"/>
                <a:ext cx="9550931" cy="1708564"/>
              </a:xfrm>
              <a:prstGeom prst="rect">
                <a:avLst/>
              </a:prstGeom>
              <a:solidFill>
                <a:srgbClr val="FCECFB"/>
              </a:solidFill>
              <a:ln cap="flat" cmpd="sng" w="7620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b="1" lang="en-US" sz="2800">
                    <a:solidFill>
                      <a:schemeClr val="dk1"/>
                    </a:solidFill>
                    <a:latin typeface="Avenir"/>
                    <a:ea typeface="Avenir"/>
                    <a:cs typeface="Avenir"/>
                    <a:sym typeface="Avenir"/>
                  </a:rPr>
                  <a:t> </a:t>
                </a:r>
                <a:endParaRPr/>
              </a:p>
            </p:txBody>
          </p:sp>
          <p:sp>
            <p:nvSpPr>
              <p:cNvPr id="3585" name="Google Shape;3585;p79"/>
              <p:cNvSpPr txBox="1"/>
              <p:nvPr/>
            </p:nvSpPr>
            <p:spPr>
              <a:xfrm>
                <a:off x="6199863" y="4921166"/>
                <a:ext cx="4576976" cy="1495361"/>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Income</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3586" name="Google Shape;3586;p79"/>
              <p:cNvSpPr txBox="1"/>
              <p:nvPr/>
            </p:nvSpPr>
            <p:spPr>
              <a:xfrm>
                <a:off x="1481256" y="4921166"/>
                <a:ext cx="4552539" cy="1495361"/>
              </a:xfrm>
              <a:prstGeom prst="rect">
                <a:avLst/>
              </a:prstGeom>
              <a:solidFill>
                <a:srgbClr val="E1EFD8"/>
              </a:solid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None/>
                </a:pPr>
                <a:r>
                  <a:rPr b="1" lang="en-US" sz="2800">
                    <a:solidFill>
                      <a:srgbClr val="E1EFD8"/>
                    </a:solidFill>
                    <a:latin typeface="Avenir"/>
                    <a:ea typeface="Avenir"/>
                    <a:cs typeface="Avenir"/>
                    <a:sym typeface="Avenir"/>
                  </a:rPr>
                  <a:t>_</a:t>
                </a:r>
                <a:r>
                  <a:rPr b="1" lang="en-US" sz="2000">
                    <a:solidFill>
                      <a:schemeClr val="dk1"/>
                    </a:solidFill>
                    <a:latin typeface="Avenir"/>
                    <a:ea typeface="Avenir"/>
                    <a:cs typeface="Avenir"/>
                    <a:sym typeface="Avenir"/>
                  </a:rPr>
                  <a:t>Expenses</a:t>
                </a:r>
                <a:endParaRPr b="1" sz="2800">
                  <a:solidFill>
                    <a:schemeClr val="dk1"/>
                  </a:solidFill>
                  <a:latin typeface="Avenir"/>
                  <a:ea typeface="Avenir"/>
                  <a:cs typeface="Avenir"/>
                  <a:sym typeface="Avenir"/>
                </a:endParaRPr>
              </a:p>
            </p:txBody>
          </p:sp>
          <p:cxnSp>
            <p:nvCxnSpPr>
              <p:cNvPr id="3587" name="Google Shape;3587;p79"/>
              <p:cNvCxnSpPr>
                <a:stCxn id="3581" idx="2"/>
              </p:cNvCxnSpPr>
              <p:nvPr/>
            </p:nvCxnSpPr>
            <p:spPr>
              <a:xfrm>
                <a:off x="7013902" y="4399872"/>
                <a:ext cx="7500" cy="434700"/>
              </a:xfrm>
              <a:prstGeom prst="straightConnector1">
                <a:avLst/>
              </a:prstGeom>
              <a:noFill/>
              <a:ln cap="flat" cmpd="sng" w="76200">
                <a:solidFill>
                  <a:srgbClr val="942093"/>
                </a:solidFill>
                <a:prstDash val="solid"/>
                <a:miter lim="800000"/>
                <a:headEnd len="sm" w="sm" type="none"/>
                <a:tailEnd len="sm" w="sm" type="none"/>
              </a:ln>
            </p:spPr>
          </p:cxnSp>
        </p:grpSp>
        <p:sp>
          <p:nvSpPr>
            <p:cNvPr id="3588" name="Google Shape;3588;p79"/>
            <p:cNvSpPr txBox="1"/>
            <p:nvPr/>
          </p:nvSpPr>
          <p:spPr>
            <a:xfrm>
              <a:off x="492858" y="773769"/>
              <a:ext cx="5544457" cy="3542737"/>
            </a:xfrm>
            <a:prstGeom prst="rect">
              <a:avLst/>
            </a:prstGeom>
            <a:solidFill>
              <a:srgbClr val="E1EFD8"/>
            </a:solid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None/>
              </a:pPr>
              <a:r>
                <a:rPr b="1" lang="en-US" sz="2800">
                  <a:solidFill>
                    <a:srgbClr val="E1EFD8"/>
                  </a:solidFill>
                  <a:latin typeface="Avenir"/>
                  <a:ea typeface="Avenir"/>
                  <a:cs typeface="Avenir"/>
                  <a:sym typeface="Avenir"/>
                </a:rPr>
                <a:t>_</a:t>
              </a:r>
              <a:r>
                <a:rPr b="1" lang="en-US" sz="2000">
                  <a:solidFill>
                    <a:schemeClr val="dk1"/>
                  </a:solidFill>
                  <a:latin typeface="Avenir"/>
                  <a:ea typeface="Avenir"/>
                  <a:cs typeface="Avenir"/>
                  <a:sym typeface="Avenir"/>
                </a:rPr>
                <a:t>Assets</a:t>
              </a:r>
              <a:endParaRPr b="1" sz="2800">
                <a:solidFill>
                  <a:schemeClr val="dk1"/>
                </a:solidFill>
                <a:latin typeface="Avenir"/>
                <a:ea typeface="Avenir"/>
                <a:cs typeface="Avenir"/>
                <a:sym typeface="Avenir"/>
              </a:endParaRPr>
            </a:p>
          </p:txBody>
        </p:sp>
      </p:grpSp>
      <p:sp>
        <p:nvSpPr>
          <p:cNvPr id="3589" name="Google Shape;3589;p79"/>
          <p:cNvSpPr txBox="1"/>
          <p:nvPr/>
        </p:nvSpPr>
        <p:spPr>
          <a:xfrm>
            <a:off x="492858" y="373659"/>
            <a:ext cx="1880643" cy="40011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000">
                <a:solidFill>
                  <a:schemeClr val="accent6"/>
                </a:solidFill>
                <a:latin typeface="Avenir"/>
                <a:ea typeface="Avenir"/>
                <a:cs typeface="Avenir"/>
                <a:sym typeface="Avenir"/>
              </a:rPr>
              <a:t>Uses of funds</a:t>
            </a:r>
            <a:endParaRPr/>
          </a:p>
        </p:txBody>
      </p:sp>
      <p:sp>
        <p:nvSpPr>
          <p:cNvPr id="3590" name="Google Shape;3590;p79"/>
          <p:cNvSpPr txBox="1"/>
          <p:nvPr/>
        </p:nvSpPr>
        <p:spPr>
          <a:xfrm>
            <a:off x="4187006" y="133386"/>
            <a:ext cx="3629520"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cxnSp>
        <p:nvCxnSpPr>
          <p:cNvPr id="3591" name="Google Shape;3591;p79"/>
          <p:cNvCxnSpPr/>
          <p:nvPr/>
        </p:nvCxnSpPr>
        <p:spPr>
          <a:xfrm>
            <a:off x="4316098" y="566860"/>
            <a:ext cx="3375212" cy="0"/>
          </a:xfrm>
          <a:prstGeom prst="straightConnector1">
            <a:avLst/>
          </a:prstGeom>
          <a:noFill/>
          <a:ln cap="flat" cmpd="sng" w="28575">
            <a:solidFill>
              <a:schemeClr val="accent1"/>
            </a:solidFill>
            <a:prstDash val="dot"/>
            <a:miter lim="800000"/>
            <a:headEnd len="sm" w="sm" type="none"/>
            <a:tailEnd len="sm" w="sm" type="none"/>
          </a:ln>
        </p:spPr>
      </p:cxnSp>
      <p:sp>
        <p:nvSpPr>
          <p:cNvPr id="3592" name="Google Shape;3592;p79"/>
          <p:cNvSpPr txBox="1"/>
          <p:nvPr/>
        </p:nvSpPr>
        <p:spPr>
          <a:xfrm>
            <a:off x="9504213" y="373659"/>
            <a:ext cx="2279791" cy="40011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000">
                <a:solidFill>
                  <a:schemeClr val="accent2"/>
                </a:solidFill>
                <a:latin typeface="Avenir"/>
                <a:ea typeface="Avenir"/>
                <a:cs typeface="Avenir"/>
                <a:sym typeface="Avenir"/>
              </a:rPr>
              <a:t>Sources of funds</a:t>
            </a:r>
            <a:endParaRPr/>
          </a:p>
        </p:txBody>
      </p:sp>
      <p:sp>
        <p:nvSpPr>
          <p:cNvPr id="3593" name="Google Shape;3593;p79"/>
          <p:cNvSpPr txBox="1"/>
          <p:nvPr/>
        </p:nvSpPr>
        <p:spPr>
          <a:xfrm>
            <a:off x="10026434" y="3924000"/>
            <a:ext cx="1757569"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contributed capital</a:t>
            </a:r>
            <a:endParaRPr/>
          </a:p>
        </p:txBody>
      </p:sp>
      <p:sp>
        <p:nvSpPr>
          <p:cNvPr id="3594" name="Google Shape;3594;p79"/>
          <p:cNvSpPr txBox="1"/>
          <p:nvPr/>
        </p:nvSpPr>
        <p:spPr>
          <a:xfrm>
            <a:off x="10776926" y="3605780"/>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20,000</a:t>
            </a:r>
            <a:endParaRPr/>
          </a:p>
        </p:txBody>
      </p:sp>
      <p:grpSp>
        <p:nvGrpSpPr>
          <p:cNvPr id="3595" name="Google Shape;3595;p79"/>
          <p:cNvGrpSpPr/>
          <p:nvPr/>
        </p:nvGrpSpPr>
        <p:grpSpPr>
          <a:xfrm>
            <a:off x="10116000" y="3650400"/>
            <a:ext cx="245580" cy="224238"/>
            <a:chOff x="802803" y="3715228"/>
            <a:chExt cx="245580" cy="224238"/>
          </a:xfrm>
        </p:grpSpPr>
        <p:sp>
          <p:nvSpPr>
            <p:cNvPr id="3596" name="Google Shape;3596;p79"/>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597" name="Google Shape;3597;p79"/>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2</a:t>
              </a:r>
              <a:endParaRPr/>
            </a:p>
          </p:txBody>
        </p:sp>
      </p:grpSp>
      <p:grpSp>
        <p:nvGrpSpPr>
          <p:cNvPr id="3598" name="Google Shape;3598;p79"/>
          <p:cNvGrpSpPr/>
          <p:nvPr/>
        </p:nvGrpSpPr>
        <p:grpSpPr>
          <a:xfrm>
            <a:off x="9983452" y="3159099"/>
            <a:ext cx="1620000" cy="796276"/>
            <a:chOff x="3810000" y="2015069"/>
            <a:chExt cx="1390650" cy="1596814"/>
          </a:xfrm>
        </p:grpSpPr>
        <p:sp>
          <p:nvSpPr>
            <p:cNvPr id="3599" name="Google Shape;3599;p79"/>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3600" name="Google Shape;3600;p79"/>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sp>
        <p:nvSpPr>
          <p:cNvPr id="3601" name="Google Shape;3601;p79"/>
          <p:cNvSpPr/>
          <p:nvPr/>
        </p:nvSpPr>
        <p:spPr>
          <a:xfrm rot="10800000">
            <a:off x="10548000" y="3653367"/>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3602" name="Google Shape;3602;p79"/>
          <p:cNvSpPr txBox="1"/>
          <p:nvPr/>
        </p:nvSpPr>
        <p:spPr>
          <a:xfrm>
            <a:off x="8209453" y="3923999"/>
            <a:ext cx="1620000"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Dividends</a:t>
            </a:r>
            <a:endParaRPr/>
          </a:p>
        </p:txBody>
      </p:sp>
      <p:grpSp>
        <p:nvGrpSpPr>
          <p:cNvPr id="3603" name="Google Shape;3603;p79"/>
          <p:cNvGrpSpPr/>
          <p:nvPr/>
        </p:nvGrpSpPr>
        <p:grpSpPr>
          <a:xfrm>
            <a:off x="8166470" y="3159098"/>
            <a:ext cx="1620000" cy="796276"/>
            <a:chOff x="3810000" y="2015069"/>
            <a:chExt cx="1390650" cy="1596814"/>
          </a:xfrm>
        </p:grpSpPr>
        <p:sp>
          <p:nvSpPr>
            <p:cNvPr id="3604" name="Google Shape;3604;p79"/>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3605" name="Google Shape;3605;p79"/>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sp>
        <p:nvSpPr>
          <p:cNvPr id="3606" name="Google Shape;3606;p79"/>
          <p:cNvSpPr txBox="1"/>
          <p:nvPr/>
        </p:nvSpPr>
        <p:spPr>
          <a:xfrm>
            <a:off x="9031673" y="3565337"/>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1,000</a:t>
            </a:r>
            <a:endParaRPr/>
          </a:p>
        </p:txBody>
      </p:sp>
      <p:sp>
        <p:nvSpPr>
          <p:cNvPr id="3607" name="Google Shape;3607;p79"/>
          <p:cNvSpPr/>
          <p:nvPr/>
        </p:nvSpPr>
        <p:spPr>
          <a:xfrm>
            <a:off x="8753821" y="364435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3608" name="Google Shape;3608;p79"/>
          <p:cNvGrpSpPr/>
          <p:nvPr/>
        </p:nvGrpSpPr>
        <p:grpSpPr>
          <a:xfrm>
            <a:off x="8243655" y="3613169"/>
            <a:ext cx="300083" cy="224238"/>
            <a:chOff x="775552" y="3715228"/>
            <a:chExt cx="300083" cy="224238"/>
          </a:xfrm>
        </p:grpSpPr>
        <p:sp>
          <p:nvSpPr>
            <p:cNvPr id="3609" name="Google Shape;3609;p79"/>
            <p:cNvSpPr/>
            <p:nvPr/>
          </p:nvSpPr>
          <p:spPr>
            <a:xfrm>
              <a:off x="810781" y="3715228"/>
              <a:ext cx="216000" cy="216000"/>
            </a:xfrm>
            <a:prstGeom prst="ellipse">
              <a:avLst/>
            </a:prstGeom>
            <a:solidFill>
              <a:srgbClr val="FFFF00"/>
            </a:solidFill>
            <a:ln cap="flat" cmpd="sng" w="1270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610" name="Google Shape;3610;p79"/>
            <p:cNvSpPr/>
            <p:nvPr/>
          </p:nvSpPr>
          <p:spPr>
            <a:xfrm>
              <a:off x="775552" y="3724022"/>
              <a:ext cx="300083"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17</a:t>
              </a:r>
              <a:endParaRPr/>
            </a:p>
          </p:txBody>
        </p:sp>
      </p:grpSp>
    </p:spTree>
  </p:cSld>
  <p:clrMapOvr>
    <a:masterClrMapping/>
  </p:clrMapOvr>
  <mc:AlternateContent>
    <mc:Choice Requires="p14">
      <p:transition spd="slow" p14:dur="700">
        <p:fade/>
      </p:transition>
    </mc:Choice>
    <mc:Fallback>
      <p:transition spd="slow">
        <p:fade/>
      </p:transition>
    </mc:Fallback>
  </mc:AlternateContent>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3608"/>
                                        </p:tgtEl>
                                        <p:attrNameLst>
                                          <p:attrName>style.visibility</p:attrName>
                                        </p:attrNameLst>
                                      </p:cBhvr>
                                      <p:to>
                                        <p:strVal val="visible"/>
                                      </p:to>
                                    </p:set>
                                    <p:animEffect filter="fade" transition="in">
                                      <p:cBhvr>
                                        <p:cTn dur="1000"/>
                                        <p:tgtEl>
                                          <p:spTgt spid="3608"/>
                                        </p:tgtEl>
                                      </p:cBhvr>
                                    </p:animEffect>
                                  </p:childTnLst>
                                </p:cTn>
                              </p:par>
                              <p:par>
                                <p:cTn fill="hold" nodeType="withEffect" presetClass="entr" presetID="10" presetSubtype="0">
                                  <p:stCondLst>
                                    <p:cond delay="0"/>
                                  </p:stCondLst>
                                  <p:childTnLst>
                                    <p:set>
                                      <p:cBhvr>
                                        <p:cTn dur="1" fill="hold">
                                          <p:stCondLst>
                                            <p:cond delay="0"/>
                                          </p:stCondLst>
                                        </p:cTn>
                                        <p:tgtEl>
                                          <p:spTgt spid="3607"/>
                                        </p:tgtEl>
                                        <p:attrNameLst>
                                          <p:attrName>style.visibility</p:attrName>
                                        </p:attrNameLst>
                                      </p:cBhvr>
                                      <p:to>
                                        <p:strVal val="visible"/>
                                      </p:to>
                                    </p:set>
                                    <p:animEffect filter="fade" transition="in">
                                      <p:cBhvr>
                                        <p:cTn dur="1000"/>
                                        <p:tgtEl>
                                          <p:spTgt spid="3607"/>
                                        </p:tgtEl>
                                      </p:cBhvr>
                                    </p:animEffect>
                                  </p:childTnLst>
                                </p:cTn>
                              </p:par>
                              <p:par>
                                <p:cTn fill="hold" nodeType="withEffect" presetClass="entr" presetID="10" presetSubtype="0">
                                  <p:stCondLst>
                                    <p:cond delay="0"/>
                                  </p:stCondLst>
                                  <p:childTnLst>
                                    <p:set>
                                      <p:cBhvr>
                                        <p:cTn dur="1" fill="hold">
                                          <p:stCondLst>
                                            <p:cond delay="0"/>
                                          </p:stCondLst>
                                        </p:cTn>
                                        <p:tgtEl>
                                          <p:spTgt spid="3606"/>
                                        </p:tgtEl>
                                        <p:attrNameLst>
                                          <p:attrName>style.visibility</p:attrName>
                                        </p:attrNameLst>
                                      </p:cBhvr>
                                      <p:to>
                                        <p:strVal val="visible"/>
                                      </p:to>
                                    </p:set>
                                    <p:animEffect filter="fade" transition="in">
                                      <p:cBhvr>
                                        <p:cTn dur="1000"/>
                                        <p:tgtEl>
                                          <p:spTgt spid="360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15" name="Shape 3615"/>
        <p:cNvGrpSpPr/>
        <p:nvPr/>
      </p:nvGrpSpPr>
      <p:grpSpPr>
        <a:xfrm>
          <a:off x="0" y="0"/>
          <a:ext cx="0" cy="0"/>
          <a:chOff x="0" y="0"/>
          <a:chExt cx="0" cy="0"/>
        </a:xfrm>
      </p:grpSpPr>
      <p:sp>
        <p:nvSpPr>
          <p:cNvPr id="3616" name="Google Shape;3616;p80"/>
          <p:cNvSpPr txBox="1"/>
          <p:nvPr/>
        </p:nvSpPr>
        <p:spPr>
          <a:xfrm>
            <a:off x="4187006" y="119318"/>
            <a:ext cx="3629520"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cxnSp>
        <p:nvCxnSpPr>
          <p:cNvPr id="3617" name="Google Shape;3617;p80"/>
          <p:cNvCxnSpPr/>
          <p:nvPr/>
        </p:nvCxnSpPr>
        <p:spPr>
          <a:xfrm>
            <a:off x="4316098" y="552792"/>
            <a:ext cx="3375212" cy="0"/>
          </a:xfrm>
          <a:prstGeom prst="straightConnector1">
            <a:avLst/>
          </a:prstGeom>
          <a:noFill/>
          <a:ln cap="flat" cmpd="sng" w="28575">
            <a:solidFill>
              <a:schemeClr val="accent1"/>
            </a:solidFill>
            <a:prstDash val="dot"/>
            <a:miter lim="800000"/>
            <a:headEnd len="sm" w="sm" type="none"/>
            <a:tailEnd len="sm" w="sm" type="none"/>
          </a:ln>
        </p:spPr>
      </p:cxnSp>
      <p:grpSp>
        <p:nvGrpSpPr>
          <p:cNvPr id="3618" name="Google Shape;3618;p80"/>
          <p:cNvGrpSpPr/>
          <p:nvPr/>
        </p:nvGrpSpPr>
        <p:grpSpPr>
          <a:xfrm>
            <a:off x="492858" y="773769"/>
            <a:ext cx="11291146" cy="5895963"/>
            <a:chOff x="492858" y="773769"/>
            <a:chExt cx="11291146" cy="5895963"/>
          </a:xfrm>
        </p:grpSpPr>
        <p:sp>
          <p:nvSpPr>
            <p:cNvPr id="3619" name="Google Shape;3619;p80"/>
            <p:cNvSpPr txBox="1"/>
            <p:nvPr/>
          </p:nvSpPr>
          <p:spPr>
            <a:xfrm>
              <a:off x="6227788" y="2623662"/>
              <a:ext cx="5556216" cy="1692844"/>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Equity</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3620" name="Google Shape;3620;p80"/>
            <p:cNvSpPr txBox="1"/>
            <p:nvPr/>
          </p:nvSpPr>
          <p:spPr>
            <a:xfrm>
              <a:off x="6410845" y="3135649"/>
              <a:ext cx="1544844" cy="770509"/>
            </a:xfrm>
            <a:prstGeom prst="rect">
              <a:avLst/>
            </a:prstGeom>
            <a:noFill/>
            <a:ln cap="flat" cmpd="sng" w="5715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ctr">
                <a:lnSpc>
                  <a:spcPct val="120000"/>
                </a:lnSpc>
                <a:spcBef>
                  <a:spcPts val="0"/>
                </a:spcBef>
                <a:spcAft>
                  <a:spcPts val="0"/>
                </a:spcAft>
                <a:buNone/>
              </a:pPr>
              <a:r>
                <a:rPr b="1" lang="en-US" sz="2200">
                  <a:solidFill>
                    <a:srgbClr val="942093"/>
                  </a:solidFill>
                  <a:latin typeface="Avenir"/>
                  <a:ea typeface="Avenir"/>
                  <a:cs typeface="Avenir"/>
                  <a:sym typeface="Avenir"/>
                </a:rPr>
                <a:t>Profit</a:t>
              </a:r>
              <a:endParaRPr/>
            </a:p>
          </p:txBody>
        </p:sp>
        <p:sp>
          <p:nvSpPr>
            <p:cNvPr id="3621" name="Google Shape;3621;p80"/>
            <p:cNvSpPr txBox="1"/>
            <p:nvPr/>
          </p:nvSpPr>
          <p:spPr>
            <a:xfrm>
              <a:off x="6227788" y="773769"/>
              <a:ext cx="5556216" cy="1702674"/>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Liabilities</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grpSp>
          <p:nvGrpSpPr>
            <p:cNvPr id="3622" name="Google Shape;3622;p80"/>
            <p:cNvGrpSpPr/>
            <p:nvPr/>
          </p:nvGrpSpPr>
          <p:grpSpPr>
            <a:xfrm>
              <a:off x="492858" y="3906158"/>
              <a:ext cx="11291146" cy="2763574"/>
              <a:chOff x="1354633" y="4399872"/>
              <a:chExt cx="9550931" cy="2121952"/>
            </a:xfrm>
          </p:grpSpPr>
          <p:sp>
            <p:nvSpPr>
              <p:cNvPr id="3623" name="Google Shape;3623;p80"/>
              <p:cNvSpPr txBox="1"/>
              <p:nvPr/>
            </p:nvSpPr>
            <p:spPr>
              <a:xfrm>
                <a:off x="1354633" y="4813260"/>
                <a:ext cx="9550931" cy="1708564"/>
              </a:xfrm>
              <a:prstGeom prst="rect">
                <a:avLst/>
              </a:prstGeom>
              <a:solidFill>
                <a:srgbClr val="FCECFB"/>
              </a:solidFill>
              <a:ln cap="flat" cmpd="sng" w="7620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b="1" lang="en-US" sz="2800">
                    <a:solidFill>
                      <a:schemeClr val="dk1"/>
                    </a:solidFill>
                    <a:latin typeface="Avenir"/>
                    <a:ea typeface="Avenir"/>
                    <a:cs typeface="Avenir"/>
                    <a:sym typeface="Avenir"/>
                  </a:rPr>
                  <a:t> </a:t>
                </a:r>
                <a:endParaRPr/>
              </a:p>
            </p:txBody>
          </p:sp>
          <p:sp>
            <p:nvSpPr>
              <p:cNvPr id="3624" name="Google Shape;3624;p80"/>
              <p:cNvSpPr txBox="1"/>
              <p:nvPr/>
            </p:nvSpPr>
            <p:spPr>
              <a:xfrm>
                <a:off x="6199863" y="4921166"/>
                <a:ext cx="4576976" cy="1495361"/>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Income</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3625" name="Google Shape;3625;p80"/>
              <p:cNvSpPr txBox="1"/>
              <p:nvPr/>
            </p:nvSpPr>
            <p:spPr>
              <a:xfrm>
                <a:off x="1481256" y="4921166"/>
                <a:ext cx="4552539" cy="1495361"/>
              </a:xfrm>
              <a:prstGeom prst="rect">
                <a:avLst/>
              </a:prstGeom>
              <a:solidFill>
                <a:srgbClr val="E1EFD8"/>
              </a:solid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None/>
                </a:pPr>
                <a:r>
                  <a:rPr b="1" lang="en-US" sz="2800">
                    <a:solidFill>
                      <a:srgbClr val="E1EFD8"/>
                    </a:solidFill>
                    <a:latin typeface="Avenir"/>
                    <a:ea typeface="Avenir"/>
                    <a:cs typeface="Avenir"/>
                    <a:sym typeface="Avenir"/>
                  </a:rPr>
                  <a:t>_</a:t>
                </a:r>
                <a:r>
                  <a:rPr b="1" lang="en-US" sz="2000">
                    <a:solidFill>
                      <a:schemeClr val="dk1"/>
                    </a:solidFill>
                    <a:latin typeface="Avenir"/>
                    <a:ea typeface="Avenir"/>
                    <a:cs typeface="Avenir"/>
                    <a:sym typeface="Avenir"/>
                  </a:rPr>
                  <a:t>Expenses</a:t>
                </a:r>
                <a:endParaRPr b="1" sz="2800">
                  <a:solidFill>
                    <a:schemeClr val="dk1"/>
                  </a:solidFill>
                  <a:latin typeface="Avenir"/>
                  <a:ea typeface="Avenir"/>
                  <a:cs typeface="Avenir"/>
                  <a:sym typeface="Avenir"/>
                </a:endParaRPr>
              </a:p>
            </p:txBody>
          </p:sp>
          <p:cxnSp>
            <p:nvCxnSpPr>
              <p:cNvPr id="3626" name="Google Shape;3626;p80"/>
              <p:cNvCxnSpPr>
                <a:stCxn id="3620" idx="2"/>
              </p:cNvCxnSpPr>
              <p:nvPr/>
            </p:nvCxnSpPr>
            <p:spPr>
              <a:xfrm>
                <a:off x="7013902" y="4399872"/>
                <a:ext cx="7500" cy="434700"/>
              </a:xfrm>
              <a:prstGeom prst="straightConnector1">
                <a:avLst/>
              </a:prstGeom>
              <a:noFill/>
              <a:ln cap="flat" cmpd="sng" w="76200">
                <a:solidFill>
                  <a:srgbClr val="942093"/>
                </a:solidFill>
                <a:prstDash val="solid"/>
                <a:miter lim="800000"/>
                <a:headEnd len="sm" w="sm" type="none"/>
                <a:tailEnd len="sm" w="sm" type="none"/>
              </a:ln>
            </p:spPr>
          </p:cxnSp>
        </p:grpSp>
        <p:sp>
          <p:nvSpPr>
            <p:cNvPr id="3627" name="Google Shape;3627;p80"/>
            <p:cNvSpPr txBox="1"/>
            <p:nvPr/>
          </p:nvSpPr>
          <p:spPr>
            <a:xfrm>
              <a:off x="492858" y="773769"/>
              <a:ext cx="5544457" cy="3542737"/>
            </a:xfrm>
            <a:prstGeom prst="rect">
              <a:avLst/>
            </a:prstGeom>
            <a:solidFill>
              <a:srgbClr val="E1EFD8"/>
            </a:solid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None/>
              </a:pPr>
              <a:r>
                <a:rPr b="1" lang="en-US" sz="2800">
                  <a:solidFill>
                    <a:srgbClr val="E1EFD8"/>
                  </a:solidFill>
                  <a:latin typeface="Avenir"/>
                  <a:ea typeface="Avenir"/>
                  <a:cs typeface="Avenir"/>
                  <a:sym typeface="Avenir"/>
                </a:rPr>
                <a:t>_</a:t>
              </a:r>
              <a:r>
                <a:rPr b="1" lang="en-US" sz="2000">
                  <a:solidFill>
                    <a:schemeClr val="dk1"/>
                  </a:solidFill>
                  <a:latin typeface="Avenir"/>
                  <a:ea typeface="Avenir"/>
                  <a:cs typeface="Avenir"/>
                  <a:sym typeface="Avenir"/>
                </a:rPr>
                <a:t>Assets</a:t>
              </a:r>
              <a:endParaRPr b="1" sz="2800">
                <a:solidFill>
                  <a:schemeClr val="dk1"/>
                </a:solidFill>
                <a:latin typeface="Avenir"/>
                <a:ea typeface="Avenir"/>
                <a:cs typeface="Avenir"/>
                <a:sym typeface="Avenir"/>
              </a:endParaRPr>
            </a:p>
          </p:txBody>
        </p:sp>
      </p:grpSp>
      <p:sp>
        <p:nvSpPr>
          <p:cNvPr id="3628" name="Google Shape;3628;p80"/>
          <p:cNvSpPr/>
          <p:nvPr/>
        </p:nvSpPr>
        <p:spPr>
          <a:xfrm>
            <a:off x="512592" y="1760497"/>
            <a:ext cx="1917459" cy="2514104"/>
          </a:xfrm>
          <a:prstGeom prst="rect">
            <a:avLst/>
          </a:prstGeom>
          <a:solidFill>
            <a:srgbClr val="4BEDFF">
              <a:alpha val="34901"/>
            </a:srgbClr>
          </a:solidFill>
          <a:ln cap="flat" cmpd="sng" w="76200">
            <a:solidFill>
              <a:schemeClr val="accent5"/>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lang="en-US" sz="1800">
                <a:solidFill>
                  <a:schemeClr val="accent1"/>
                </a:solidFill>
                <a:latin typeface="Avenir"/>
                <a:ea typeface="Avenir"/>
                <a:cs typeface="Avenir"/>
                <a:sym typeface="Avenir"/>
              </a:rPr>
              <a:t>Net book value</a:t>
            </a:r>
            <a:endParaRPr/>
          </a:p>
        </p:txBody>
      </p:sp>
      <p:grpSp>
        <p:nvGrpSpPr>
          <p:cNvPr id="3629" name="Google Shape;3629;p80"/>
          <p:cNvGrpSpPr/>
          <p:nvPr/>
        </p:nvGrpSpPr>
        <p:grpSpPr>
          <a:xfrm>
            <a:off x="4248000" y="2850495"/>
            <a:ext cx="1620000" cy="1116000"/>
            <a:chOff x="3810000" y="2381250"/>
            <a:chExt cx="1390650" cy="1230631"/>
          </a:xfrm>
        </p:grpSpPr>
        <p:sp>
          <p:nvSpPr>
            <p:cNvPr id="3630" name="Google Shape;3630;p80"/>
            <p:cNvSpPr/>
            <p:nvPr/>
          </p:nvSpPr>
          <p:spPr>
            <a:xfrm flipH="1">
              <a:off x="4505325" y="2381250"/>
              <a:ext cx="695325" cy="1230631"/>
            </a:xfrm>
            <a:prstGeom prst="corner">
              <a:avLst>
                <a:gd fmla="val 7073" name="adj1"/>
                <a:gd fmla="val 694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3631" name="Google Shape;3631;p80"/>
            <p:cNvSpPr/>
            <p:nvPr/>
          </p:nvSpPr>
          <p:spPr>
            <a:xfrm>
              <a:off x="3810000" y="2381250"/>
              <a:ext cx="695325" cy="1230631"/>
            </a:xfrm>
            <a:prstGeom prst="corner">
              <a:avLst>
                <a:gd fmla="val 7073" name="adj1"/>
                <a:gd fmla="val 694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3632" name="Google Shape;3632;p80"/>
          <p:cNvGrpSpPr/>
          <p:nvPr/>
        </p:nvGrpSpPr>
        <p:grpSpPr>
          <a:xfrm>
            <a:off x="2458800" y="1443348"/>
            <a:ext cx="1620000" cy="2515350"/>
            <a:chOff x="671549" y="1402787"/>
            <a:chExt cx="1620000" cy="2549293"/>
          </a:xfrm>
        </p:grpSpPr>
        <p:sp>
          <p:nvSpPr>
            <p:cNvPr id="3633" name="Google Shape;3633;p80"/>
            <p:cNvSpPr/>
            <p:nvPr/>
          </p:nvSpPr>
          <p:spPr>
            <a:xfrm flipH="1">
              <a:off x="1481549" y="1402787"/>
              <a:ext cx="810000" cy="2549293"/>
            </a:xfrm>
            <a:prstGeom prst="corner">
              <a:avLst>
                <a:gd fmla="val 6497" name="adj1"/>
                <a:gd fmla="val 694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1800">
                <a:solidFill>
                  <a:schemeClr val="lt1"/>
                </a:solidFill>
                <a:latin typeface="Avenir"/>
                <a:ea typeface="Avenir"/>
                <a:cs typeface="Avenir"/>
                <a:sym typeface="Avenir"/>
              </a:endParaRPr>
            </a:p>
          </p:txBody>
        </p:sp>
        <p:sp>
          <p:nvSpPr>
            <p:cNvPr id="3634" name="Google Shape;3634;p80"/>
            <p:cNvSpPr/>
            <p:nvPr/>
          </p:nvSpPr>
          <p:spPr>
            <a:xfrm>
              <a:off x="671549" y="1402787"/>
              <a:ext cx="810000" cy="2549293"/>
            </a:xfrm>
            <a:prstGeom prst="corner">
              <a:avLst>
                <a:gd fmla="val 6497" name="adj1"/>
                <a:gd fmla="val 7336"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1800">
                <a:solidFill>
                  <a:schemeClr val="lt1"/>
                </a:solidFill>
                <a:latin typeface="Avenir"/>
                <a:ea typeface="Avenir"/>
                <a:cs typeface="Avenir"/>
                <a:sym typeface="Avenir"/>
              </a:endParaRPr>
            </a:p>
          </p:txBody>
        </p:sp>
      </p:grpSp>
      <p:grpSp>
        <p:nvGrpSpPr>
          <p:cNvPr id="3635" name="Google Shape;3635;p80"/>
          <p:cNvGrpSpPr/>
          <p:nvPr/>
        </p:nvGrpSpPr>
        <p:grpSpPr>
          <a:xfrm>
            <a:off x="673200" y="3340800"/>
            <a:ext cx="1620000" cy="613673"/>
            <a:chOff x="3810000" y="2381250"/>
            <a:chExt cx="1390650" cy="1230631"/>
          </a:xfrm>
        </p:grpSpPr>
        <p:sp>
          <p:nvSpPr>
            <p:cNvPr id="3636" name="Google Shape;3636;p80"/>
            <p:cNvSpPr/>
            <p:nvPr/>
          </p:nvSpPr>
          <p:spPr>
            <a:xfrm flipH="1">
              <a:off x="4505325"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3637" name="Google Shape;3637;p80"/>
            <p:cNvSpPr/>
            <p:nvPr/>
          </p:nvSpPr>
          <p:spPr>
            <a:xfrm>
              <a:off x="3810000"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sp>
        <p:nvSpPr>
          <p:cNvPr id="3638" name="Google Shape;3638;p80"/>
          <p:cNvSpPr txBox="1"/>
          <p:nvPr/>
        </p:nvSpPr>
        <p:spPr>
          <a:xfrm>
            <a:off x="2551146" y="3924000"/>
            <a:ext cx="1393331"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Cash at bank</a:t>
            </a:r>
            <a:endParaRPr/>
          </a:p>
        </p:txBody>
      </p:sp>
      <p:sp>
        <p:nvSpPr>
          <p:cNvPr id="3639" name="Google Shape;3639;p80"/>
          <p:cNvSpPr txBox="1"/>
          <p:nvPr/>
        </p:nvSpPr>
        <p:spPr>
          <a:xfrm>
            <a:off x="4292494" y="3924000"/>
            <a:ext cx="1531779"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Inventory</a:t>
            </a:r>
            <a:endParaRPr/>
          </a:p>
        </p:txBody>
      </p:sp>
      <p:sp>
        <p:nvSpPr>
          <p:cNvPr id="3640" name="Google Shape;3640;p80"/>
          <p:cNvSpPr txBox="1"/>
          <p:nvPr/>
        </p:nvSpPr>
        <p:spPr>
          <a:xfrm>
            <a:off x="4101806" y="2478490"/>
            <a:ext cx="1911388"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Deferred expenses</a:t>
            </a:r>
            <a:endParaRPr/>
          </a:p>
        </p:txBody>
      </p:sp>
      <p:sp>
        <p:nvSpPr>
          <p:cNvPr id="3641" name="Google Shape;3641;p80"/>
          <p:cNvSpPr txBox="1"/>
          <p:nvPr/>
        </p:nvSpPr>
        <p:spPr>
          <a:xfrm>
            <a:off x="661400" y="3924000"/>
            <a:ext cx="1647322"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Equipment</a:t>
            </a:r>
            <a:endParaRPr/>
          </a:p>
        </p:txBody>
      </p:sp>
      <p:sp>
        <p:nvSpPr>
          <p:cNvPr id="3642" name="Google Shape;3642;p80"/>
          <p:cNvSpPr txBox="1"/>
          <p:nvPr/>
        </p:nvSpPr>
        <p:spPr>
          <a:xfrm>
            <a:off x="2596439" y="5339671"/>
            <a:ext cx="1590567"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Cleaning</a:t>
            </a:r>
            <a:endParaRPr/>
          </a:p>
        </p:txBody>
      </p:sp>
      <p:sp>
        <p:nvSpPr>
          <p:cNvPr id="3643" name="Google Shape;3643;p80"/>
          <p:cNvSpPr txBox="1"/>
          <p:nvPr/>
        </p:nvSpPr>
        <p:spPr>
          <a:xfrm>
            <a:off x="4306077" y="6192000"/>
            <a:ext cx="1606417"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Cost of sales</a:t>
            </a:r>
            <a:endParaRPr/>
          </a:p>
        </p:txBody>
      </p:sp>
      <p:sp>
        <p:nvSpPr>
          <p:cNvPr id="3644" name="Google Shape;3644;p80"/>
          <p:cNvSpPr txBox="1"/>
          <p:nvPr/>
        </p:nvSpPr>
        <p:spPr>
          <a:xfrm>
            <a:off x="796515" y="6192000"/>
            <a:ext cx="1603683"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Depreciation</a:t>
            </a:r>
            <a:endParaRPr/>
          </a:p>
        </p:txBody>
      </p:sp>
      <p:sp>
        <p:nvSpPr>
          <p:cNvPr id="3645" name="Google Shape;3645;p80"/>
          <p:cNvSpPr txBox="1"/>
          <p:nvPr/>
        </p:nvSpPr>
        <p:spPr>
          <a:xfrm>
            <a:off x="6295758" y="6192000"/>
            <a:ext cx="1842786"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Revenue (sales)</a:t>
            </a:r>
            <a:endParaRPr/>
          </a:p>
        </p:txBody>
      </p:sp>
      <p:sp>
        <p:nvSpPr>
          <p:cNvPr id="3646" name="Google Shape;3646;p80"/>
          <p:cNvSpPr txBox="1"/>
          <p:nvPr/>
        </p:nvSpPr>
        <p:spPr>
          <a:xfrm>
            <a:off x="10028967" y="2029411"/>
            <a:ext cx="1593685"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Bank loan</a:t>
            </a:r>
            <a:endParaRPr/>
          </a:p>
        </p:txBody>
      </p:sp>
      <p:sp>
        <p:nvSpPr>
          <p:cNvPr id="3647" name="Google Shape;3647;p80"/>
          <p:cNvSpPr txBox="1"/>
          <p:nvPr/>
        </p:nvSpPr>
        <p:spPr>
          <a:xfrm>
            <a:off x="8114313" y="2028286"/>
            <a:ext cx="1864201"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Deferred income</a:t>
            </a:r>
            <a:endParaRPr/>
          </a:p>
        </p:txBody>
      </p:sp>
      <p:sp>
        <p:nvSpPr>
          <p:cNvPr id="3648" name="Google Shape;3648;p80"/>
          <p:cNvSpPr txBox="1"/>
          <p:nvPr/>
        </p:nvSpPr>
        <p:spPr>
          <a:xfrm>
            <a:off x="3184560" y="3614709"/>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30,000</a:t>
            </a:r>
            <a:endParaRPr/>
          </a:p>
        </p:txBody>
      </p:sp>
      <p:sp>
        <p:nvSpPr>
          <p:cNvPr id="3649" name="Google Shape;3649;p80"/>
          <p:cNvSpPr txBox="1"/>
          <p:nvPr/>
        </p:nvSpPr>
        <p:spPr>
          <a:xfrm>
            <a:off x="3184560" y="3344709"/>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20,000</a:t>
            </a:r>
            <a:endParaRPr/>
          </a:p>
        </p:txBody>
      </p:sp>
      <p:sp>
        <p:nvSpPr>
          <p:cNvPr id="3650" name="Google Shape;3650;p80"/>
          <p:cNvSpPr txBox="1"/>
          <p:nvPr/>
        </p:nvSpPr>
        <p:spPr>
          <a:xfrm>
            <a:off x="3298373" y="3074709"/>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5,000</a:t>
            </a:r>
            <a:endParaRPr/>
          </a:p>
        </p:txBody>
      </p:sp>
      <p:sp>
        <p:nvSpPr>
          <p:cNvPr id="3651" name="Google Shape;3651;p80"/>
          <p:cNvSpPr txBox="1"/>
          <p:nvPr/>
        </p:nvSpPr>
        <p:spPr>
          <a:xfrm>
            <a:off x="3469894" y="2534709"/>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700</a:t>
            </a:r>
            <a:endParaRPr/>
          </a:p>
        </p:txBody>
      </p:sp>
      <p:sp>
        <p:nvSpPr>
          <p:cNvPr id="3652" name="Google Shape;3652;p80"/>
          <p:cNvSpPr txBox="1"/>
          <p:nvPr/>
        </p:nvSpPr>
        <p:spPr>
          <a:xfrm>
            <a:off x="3583708" y="2264709"/>
            <a:ext cx="412292"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50</a:t>
            </a:r>
            <a:endParaRPr/>
          </a:p>
        </p:txBody>
      </p:sp>
      <p:sp>
        <p:nvSpPr>
          <p:cNvPr id="3653" name="Google Shape;3653;p80"/>
          <p:cNvSpPr txBox="1"/>
          <p:nvPr/>
        </p:nvSpPr>
        <p:spPr>
          <a:xfrm>
            <a:off x="3713366" y="5031445"/>
            <a:ext cx="412292"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50</a:t>
            </a:r>
            <a:endParaRPr/>
          </a:p>
        </p:txBody>
      </p:sp>
      <p:sp>
        <p:nvSpPr>
          <p:cNvPr id="3654" name="Google Shape;3654;p80"/>
          <p:cNvSpPr txBox="1"/>
          <p:nvPr/>
        </p:nvSpPr>
        <p:spPr>
          <a:xfrm>
            <a:off x="3469894" y="1724709"/>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600</a:t>
            </a:r>
            <a:endParaRPr/>
          </a:p>
        </p:txBody>
      </p:sp>
      <p:sp>
        <p:nvSpPr>
          <p:cNvPr id="3655" name="Google Shape;3655;p80"/>
          <p:cNvSpPr txBox="1"/>
          <p:nvPr/>
        </p:nvSpPr>
        <p:spPr>
          <a:xfrm>
            <a:off x="3469894" y="1454709"/>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800</a:t>
            </a:r>
            <a:endParaRPr/>
          </a:p>
        </p:txBody>
      </p:sp>
      <p:sp>
        <p:nvSpPr>
          <p:cNvPr id="3656" name="Google Shape;3656;p80"/>
          <p:cNvSpPr txBox="1"/>
          <p:nvPr/>
        </p:nvSpPr>
        <p:spPr>
          <a:xfrm>
            <a:off x="3184560" y="2804709"/>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10,000</a:t>
            </a:r>
            <a:endParaRPr/>
          </a:p>
        </p:txBody>
      </p:sp>
      <p:sp>
        <p:nvSpPr>
          <p:cNvPr id="3657" name="Google Shape;3657;p80"/>
          <p:cNvSpPr txBox="1"/>
          <p:nvPr/>
        </p:nvSpPr>
        <p:spPr>
          <a:xfrm>
            <a:off x="10026434" y="3924000"/>
            <a:ext cx="1773359"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contributed capital</a:t>
            </a:r>
            <a:endParaRPr/>
          </a:p>
        </p:txBody>
      </p:sp>
      <p:sp>
        <p:nvSpPr>
          <p:cNvPr id="3658" name="Google Shape;3658;p80"/>
          <p:cNvSpPr/>
          <p:nvPr/>
        </p:nvSpPr>
        <p:spPr>
          <a:xfrm>
            <a:off x="3011371" y="15267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659" name="Google Shape;3659;p80"/>
          <p:cNvSpPr/>
          <p:nvPr/>
        </p:nvSpPr>
        <p:spPr>
          <a:xfrm rot="10800000">
            <a:off x="3011371" y="177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660" name="Google Shape;3660;p80"/>
          <p:cNvSpPr/>
          <p:nvPr/>
        </p:nvSpPr>
        <p:spPr>
          <a:xfrm>
            <a:off x="3011371" y="23367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661" name="Google Shape;3661;p80"/>
          <p:cNvSpPr/>
          <p:nvPr/>
        </p:nvSpPr>
        <p:spPr>
          <a:xfrm rot="10800000">
            <a:off x="3011371" y="258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662" name="Google Shape;3662;p80"/>
          <p:cNvSpPr/>
          <p:nvPr/>
        </p:nvSpPr>
        <p:spPr>
          <a:xfrm>
            <a:off x="3011371" y="28767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663" name="Google Shape;3663;p80"/>
          <p:cNvSpPr/>
          <p:nvPr/>
        </p:nvSpPr>
        <p:spPr>
          <a:xfrm>
            <a:off x="3011371" y="31467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664" name="Google Shape;3664;p80"/>
          <p:cNvSpPr/>
          <p:nvPr/>
        </p:nvSpPr>
        <p:spPr>
          <a:xfrm rot="10800000">
            <a:off x="3011371" y="339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665" name="Google Shape;3665;p80"/>
          <p:cNvSpPr/>
          <p:nvPr/>
        </p:nvSpPr>
        <p:spPr>
          <a:xfrm rot="10800000">
            <a:off x="3011371" y="366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666" name="Google Shape;3666;p80"/>
          <p:cNvSpPr txBox="1"/>
          <p:nvPr/>
        </p:nvSpPr>
        <p:spPr>
          <a:xfrm>
            <a:off x="10785455" y="1718255"/>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30,000</a:t>
            </a:r>
            <a:endParaRPr/>
          </a:p>
        </p:txBody>
      </p:sp>
      <p:sp>
        <p:nvSpPr>
          <p:cNvPr id="3667" name="Google Shape;3667;p80"/>
          <p:cNvSpPr txBox="1"/>
          <p:nvPr/>
        </p:nvSpPr>
        <p:spPr>
          <a:xfrm>
            <a:off x="10776926" y="3605780"/>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20,000</a:t>
            </a:r>
            <a:endParaRPr/>
          </a:p>
        </p:txBody>
      </p:sp>
      <p:sp>
        <p:nvSpPr>
          <p:cNvPr id="3668" name="Google Shape;3668;p80"/>
          <p:cNvSpPr txBox="1"/>
          <p:nvPr/>
        </p:nvSpPr>
        <p:spPr>
          <a:xfrm>
            <a:off x="10732895" y="1448255"/>
            <a:ext cx="86400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5,000</a:t>
            </a:r>
            <a:endParaRPr/>
          </a:p>
        </p:txBody>
      </p:sp>
      <p:sp>
        <p:nvSpPr>
          <p:cNvPr id="3669" name="Google Shape;3669;p80"/>
          <p:cNvSpPr txBox="1"/>
          <p:nvPr/>
        </p:nvSpPr>
        <p:spPr>
          <a:xfrm>
            <a:off x="4984560" y="3610092"/>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10,000</a:t>
            </a:r>
            <a:endParaRPr/>
          </a:p>
        </p:txBody>
      </p:sp>
      <p:sp>
        <p:nvSpPr>
          <p:cNvPr id="3670" name="Google Shape;3670;p80"/>
          <p:cNvSpPr txBox="1"/>
          <p:nvPr/>
        </p:nvSpPr>
        <p:spPr>
          <a:xfrm>
            <a:off x="7429894" y="5905082"/>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700</a:t>
            </a:r>
            <a:endParaRPr/>
          </a:p>
        </p:txBody>
      </p:sp>
      <p:sp>
        <p:nvSpPr>
          <p:cNvPr id="3671" name="Google Shape;3671;p80"/>
          <p:cNvSpPr/>
          <p:nvPr/>
        </p:nvSpPr>
        <p:spPr>
          <a:xfrm rot="10800000">
            <a:off x="6984000" y="5943076"/>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3672" name="Google Shape;3672;p80"/>
          <p:cNvSpPr/>
          <p:nvPr/>
        </p:nvSpPr>
        <p:spPr>
          <a:xfrm rot="10800000">
            <a:off x="10548000" y="3653367"/>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3673" name="Google Shape;3673;p80"/>
          <p:cNvSpPr/>
          <p:nvPr/>
        </p:nvSpPr>
        <p:spPr>
          <a:xfrm rot="10800000">
            <a:off x="3096000" y="5082325"/>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674" name="Google Shape;3674;p80"/>
          <p:cNvSpPr txBox="1"/>
          <p:nvPr/>
        </p:nvSpPr>
        <p:spPr>
          <a:xfrm>
            <a:off x="3469894" y="1994709"/>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100</a:t>
            </a:r>
            <a:endParaRPr/>
          </a:p>
        </p:txBody>
      </p:sp>
      <p:sp>
        <p:nvSpPr>
          <p:cNvPr id="3675" name="Google Shape;3675;p80"/>
          <p:cNvSpPr/>
          <p:nvPr/>
        </p:nvSpPr>
        <p:spPr>
          <a:xfrm rot="10800000">
            <a:off x="3007666" y="2049930"/>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676" name="Google Shape;3676;p80"/>
          <p:cNvSpPr txBox="1"/>
          <p:nvPr/>
        </p:nvSpPr>
        <p:spPr>
          <a:xfrm>
            <a:off x="7315968" y="1713373"/>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6,000</a:t>
            </a:r>
            <a:endParaRPr/>
          </a:p>
        </p:txBody>
      </p:sp>
      <p:sp>
        <p:nvSpPr>
          <p:cNvPr id="3677" name="Google Shape;3677;p80"/>
          <p:cNvSpPr/>
          <p:nvPr/>
        </p:nvSpPr>
        <p:spPr>
          <a:xfrm rot="10800000">
            <a:off x="6984000" y="1749046"/>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3678" name="Google Shape;3678;p80"/>
          <p:cNvSpPr txBox="1"/>
          <p:nvPr/>
        </p:nvSpPr>
        <p:spPr>
          <a:xfrm>
            <a:off x="1501235" y="3588336"/>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6,000</a:t>
            </a:r>
            <a:endParaRPr/>
          </a:p>
        </p:txBody>
      </p:sp>
      <p:sp>
        <p:nvSpPr>
          <p:cNvPr id="3679" name="Google Shape;3679;p80"/>
          <p:cNvSpPr/>
          <p:nvPr/>
        </p:nvSpPr>
        <p:spPr>
          <a:xfrm rot="10800000">
            <a:off x="1249425" y="3637660"/>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680" name="Google Shape;3680;p80"/>
          <p:cNvSpPr txBox="1"/>
          <p:nvPr/>
        </p:nvSpPr>
        <p:spPr>
          <a:xfrm>
            <a:off x="5269894" y="3365080"/>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300</a:t>
            </a:r>
            <a:endParaRPr/>
          </a:p>
        </p:txBody>
      </p:sp>
      <p:sp>
        <p:nvSpPr>
          <p:cNvPr id="3681" name="Google Shape;3681;p80"/>
          <p:cNvSpPr/>
          <p:nvPr/>
        </p:nvSpPr>
        <p:spPr>
          <a:xfrm>
            <a:off x="4824000" y="3429341"/>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682" name="Google Shape;3682;p80"/>
          <p:cNvSpPr/>
          <p:nvPr/>
        </p:nvSpPr>
        <p:spPr>
          <a:xfrm rot="10800000">
            <a:off x="4824000" y="3662508"/>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683" name="Google Shape;3683;p80"/>
          <p:cNvSpPr txBox="1"/>
          <p:nvPr/>
        </p:nvSpPr>
        <p:spPr>
          <a:xfrm>
            <a:off x="5305894" y="5893862"/>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300</a:t>
            </a:r>
            <a:endParaRPr/>
          </a:p>
        </p:txBody>
      </p:sp>
      <p:sp>
        <p:nvSpPr>
          <p:cNvPr id="3684" name="Google Shape;3684;p80"/>
          <p:cNvSpPr/>
          <p:nvPr/>
        </p:nvSpPr>
        <p:spPr>
          <a:xfrm rot="10800000">
            <a:off x="4860000" y="5944742"/>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685" name="Google Shape;3685;p80"/>
          <p:cNvSpPr txBox="1"/>
          <p:nvPr/>
        </p:nvSpPr>
        <p:spPr>
          <a:xfrm>
            <a:off x="7429894" y="5645244"/>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600</a:t>
            </a:r>
            <a:endParaRPr/>
          </a:p>
        </p:txBody>
      </p:sp>
      <p:sp>
        <p:nvSpPr>
          <p:cNvPr id="3686" name="Google Shape;3686;p80"/>
          <p:cNvSpPr/>
          <p:nvPr/>
        </p:nvSpPr>
        <p:spPr>
          <a:xfrm rot="10800000">
            <a:off x="6984000" y="5695376"/>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3687" name="Google Shape;3687;p80"/>
          <p:cNvSpPr txBox="1"/>
          <p:nvPr/>
        </p:nvSpPr>
        <p:spPr>
          <a:xfrm>
            <a:off x="5269894" y="1222069"/>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600</a:t>
            </a:r>
            <a:endParaRPr/>
          </a:p>
        </p:txBody>
      </p:sp>
      <p:sp>
        <p:nvSpPr>
          <p:cNvPr id="3688" name="Google Shape;3688;p80"/>
          <p:cNvSpPr/>
          <p:nvPr/>
        </p:nvSpPr>
        <p:spPr>
          <a:xfrm rot="10800000">
            <a:off x="4824771" y="1263348"/>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689" name="Google Shape;3689;p80"/>
          <p:cNvSpPr txBox="1"/>
          <p:nvPr/>
        </p:nvSpPr>
        <p:spPr>
          <a:xfrm>
            <a:off x="5269894" y="3118060"/>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300</a:t>
            </a:r>
            <a:endParaRPr/>
          </a:p>
        </p:txBody>
      </p:sp>
      <p:sp>
        <p:nvSpPr>
          <p:cNvPr id="3690" name="Google Shape;3690;p80"/>
          <p:cNvSpPr/>
          <p:nvPr/>
        </p:nvSpPr>
        <p:spPr>
          <a:xfrm>
            <a:off x="4824000" y="3182321"/>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691" name="Google Shape;3691;p80"/>
          <p:cNvSpPr txBox="1"/>
          <p:nvPr/>
        </p:nvSpPr>
        <p:spPr>
          <a:xfrm>
            <a:off x="5305894" y="5646024"/>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300</a:t>
            </a:r>
            <a:endParaRPr/>
          </a:p>
        </p:txBody>
      </p:sp>
      <p:sp>
        <p:nvSpPr>
          <p:cNvPr id="3692" name="Google Shape;3692;p80"/>
          <p:cNvSpPr/>
          <p:nvPr/>
        </p:nvSpPr>
        <p:spPr>
          <a:xfrm rot="10800000">
            <a:off x="4860000" y="5696904"/>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693" name="Google Shape;3693;p80"/>
          <p:cNvSpPr txBox="1"/>
          <p:nvPr/>
        </p:nvSpPr>
        <p:spPr>
          <a:xfrm>
            <a:off x="3599552" y="4796571"/>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250</a:t>
            </a:r>
            <a:endParaRPr/>
          </a:p>
        </p:txBody>
      </p:sp>
      <p:sp>
        <p:nvSpPr>
          <p:cNvPr id="3694" name="Google Shape;3694;p80"/>
          <p:cNvSpPr/>
          <p:nvPr/>
        </p:nvSpPr>
        <p:spPr>
          <a:xfrm rot="10800000">
            <a:off x="3096000" y="4847451"/>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695" name="Google Shape;3695;p80"/>
          <p:cNvSpPr txBox="1"/>
          <p:nvPr/>
        </p:nvSpPr>
        <p:spPr>
          <a:xfrm>
            <a:off x="7487489" y="1462635"/>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250</a:t>
            </a:r>
            <a:endParaRPr/>
          </a:p>
        </p:txBody>
      </p:sp>
      <p:sp>
        <p:nvSpPr>
          <p:cNvPr id="3696" name="Google Shape;3696;p80"/>
          <p:cNvSpPr/>
          <p:nvPr/>
        </p:nvSpPr>
        <p:spPr>
          <a:xfrm rot="10800000">
            <a:off x="6984000" y="14983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3697" name="Google Shape;3697;p80"/>
          <p:cNvSpPr txBox="1"/>
          <p:nvPr/>
        </p:nvSpPr>
        <p:spPr>
          <a:xfrm>
            <a:off x="9285817" y="1715500"/>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100</a:t>
            </a:r>
            <a:endParaRPr/>
          </a:p>
        </p:txBody>
      </p:sp>
      <p:sp>
        <p:nvSpPr>
          <p:cNvPr id="3698" name="Google Shape;3698;p80"/>
          <p:cNvSpPr txBox="1"/>
          <p:nvPr/>
        </p:nvSpPr>
        <p:spPr>
          <a:xfrm>
            <a:off x="5269894" y="965882"/>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600</a:t>
            </a:r>
            <a:endParaRPr/>
          </a:p>
        </p:txBody>
      </p:sp>
      <p:sp>
        <p:nvSpPr>
          <p:cNvPr id="3699" name="Google Shape;3699;p80"/>
          <p:cNvSpPr/>
          <p:nvPr/>
        </p:nvSpPr>
        <p:spPr>
          <a:xfrm>
            <a:off x="4825605" y="102209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700" name="Google Shape;3700;p80"/>
          <p:cNvSpPr txBox="1"/>
          <p:nvPr/>
        </p:nvSpPr>
        <p:spPr>
          <a:xfrm>
            <a:off x="7543708" y="5375143"/>
            <a:ext cx="412292"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90</a:t>
            </a:r>
            <a:endParaRPr/>
          </a:p>
        </p:txBody>
      </p:sp>
      <p:sp>
        <p:nvSpPr>
          <p:cNvPr id="3701" name="Google Shape;3701;p80"/>
          <p:cNvSpPr/>
          <p:nvPr/>
        </p:nvSpPr>
        <p:spPr>
          <a:xfrm rot="10800000">
            <a:off x="6984000" y="5425275"/>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3702" name="Google Shape;3702;p80"/>
          <p:cNvSpPr txBox="1"/>
          <p:nvPr/>
        </p:nvSpPr>
        <p:spPr>
          <a:xfrm>
            <a:off x="8947923" y="1452209"/>
            <a:ext cx="86400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90</a:t>
            </a:r>
            <a:endParaRPr/>
          </a:p>
        </p:txBody>
      </p:sp>
      <p:sp>
        <p:nvSpPr>
          <p:cNvPr id="3703" name="Google Shape;3703;p80"/>
          <p:cNvSpPr txBox="1"/>
          <p:nvPr/>
        </p:nvSpPr>
        <p:spPr>
          <a:xfrm>
            <a:off x="5383708" y="2869537"/>
            <a:ext cx="412292"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30</a:t>
            </a:r>
            <a:endParaRPr/>
          </a:p>
        </p:txBody>
      </p:sp>
      <p:sp>
        <p:nvSpPr>
          <p:cNvPr id="3704" name="Google Shape;3704;p80"/>
          <p:cNvSpPr/>
          <p:nvPr/>
        </p:nvSpPr>
        <p:spPr>
          <a:xfrm>
            <a:off x="4824000" y="293379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705" name="Google Shape;3705;p80"/>
          <p:cNvSpPr txBox="1"/>
          <p:nvPr/>
        </p:nvSpPr>
        <p:spPr>
          <a:xfrm>
            <a:off x="5419708" y="5397501"/>
            <a:ext cx="412292"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30</a:t>
            </a:r>
            <a:endParaRPr/>
          </a:p>
        </p:txBody>
      </p:sp>
      <p:sp>
        <p:nvSpPr>
          <p:cNvPr id="3706" name="Google Shape;3706;p80"/>
          <p:cNvSpPr/>
          <p:nvPr/>
        </p:nvSpPr>
        <p:spPr>
          <a:xfrm rot="10800000">
            <a:off x="4860000" y="5448381"/>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707" name="Google Shape;3707;p80"/>
          <p:cNvSpPr txBox="1"/>
          <p:nvPr/>
        </p:nvSpPr>
        <p:spPr>
          <a:xfrm>
            <a:off x="5269894" y="2157099"/>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800</a:t>
            </a:r>
            <a:endParaRPr/>
          </a:p>
        </p:txBody>
      </p:sp>
      <p:sp>
        <p:nvSpPr>
          <p:cNvPr id="3708" name="Google Shape;3708;p80"/>
          <p:cNvSpPr/>
          <p:nvPr/>
        </p:nvSpPr>
        <p:spPr>
          <a:xfrm rot="10800000">
            <a:off x="4824000" y="2198378"/>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709" name="Google Shape;3709;p80"/>
          <p:cNvSpPr txBox="1"/>
          <p:nvPr/>
        </p:nvSpPr>
        <p:spPr>
          <a:xfrm>
            <a:off x="1816755" y="5897226"/>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100</a:t>
            </a:r>
            <a:endParaRPr/>
          </a:p>
        </p:txBody>
      </p:sp>
      <p:sp>
        <p:nvSpPr>
          <p:cNvPr id="3710" name="Google Shape;3710;p80"/>
          <p:cNvSpPr/>
          <p:nvPr/>
        </p:nvSpPr>
        <p:spPr>
          <a:xfrm rot="10800000">
            <a:off x="1296000" y="5947200"/>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3711" name="Google Shape;3711;p80"/>
          <p:cNvGrpSpPr/>
          <p:nvPr/>
        </p:nvGrpSpPr>
        <p:grpSpPr>
          <a:xfrm>
            <a:off x="2528691" y="1497833"/>
            <a:ext cx="309700" cy="223917"/>
            <a:chOff x="756599" y="3715226"/>
            <a:chExt cx="321512" cy="232457"/>
          </a:xfrm>
        </p:grpSpPr>
        <p:sp>
          <p:nvSpPr>
            <p:cNvPr id="3712" name="Google Shape;3712;p80"/>
            <p:cNvSpPr/>
            <p:nvPr/>
          </p:nvSpPr>
          <p:spPr>
            <a:xfrm>
              <a:off x="810780" y="3715226"/>
              <a:ext cx="224238" cy="224238"/>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713" name="Google Shape;3713;p80"/>
            <p:cNvSpPr/>
            <p:nvPr/>
          </p:nvSpPr>
          <p:spPr>
            <a:xfrm>
              <a:off x="756599" y="3724022"/>
              <a:ext cx="321512" cy="223661"/>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13</a:t>
              </a:r>
              <a:endParaRPr/>
            </a:p>
          </p:txBody>
        </p:sp>
      </p:grpSp>
      <p:grpSp>
        <p:nvGrpSpPr>
          <p:cNvPr id="3714" name="Google Shape;3714;p80"/>
          <p:cNvGrpSpPr/>
          <p:nvPr/>
        </p:nvGrpSpPr>
        <p:grpSpPr>
          <a:xfrm>
            <a:off x="2528691" y="1763611"/>
            <a:ext cx="309700" cy="223916"/>
            <a:chOff x="756599" y="3715227"/>
            <a:chExt cx="321512" cy="232456"/>
          </a:xfrm>
        </p:grpSpPr>
        <p:sp>
          <p:nvSpPr>
            <p:cNvPr id="3715" name="Google Shape;3715;p80"/>
            <p:cNvSpPr/>
            <p:nvPr/>
          </p:nvSpPr>
          <p:spPr>
            <a:xfrm>
              <a:off x="810780" y="3715227"/>
              <a:ext cx="224238" cy="224238"/>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716" name="Google Shape;3716;p80"/>
            <p:cNvSpPr/>
            <p:nvPr/>
          </p:nvSpPr>
          <p:spPr>
            <a:xfrm>
              <a:off x="756599" y="3724022"/>
              <a:ext cx="321512" cy="223661"/>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11</a:t>
              </a:r>
              <a:endParaRPr/>
            </a:p>
          </p:txBody>
        </p:sp>
      </p:grpSp>
      <p:grpSp>
        <p:nvGrpSpPr>
          <p:cNvPr id="3717" name="Google Shape;3717;p80"/>
          <p:cNvGrpSpPr/>
          <p:nvPr/>
        </p:nvGrpSpPr>
        <p:grpSpPr>
          <a:xfrm>
            <a:off x="2528691" y="2037441"/>
            <a:ext cx="309700" cy="223916"/>
            <a:chOff x="756599" y="3715227"/>
            <a:chExt cx="321512" cy="232456"/>
          </a:xfrm>
        </p:grpSpPr>
        <p:sp>
          <p:nvSpPr>
            <p:cNvPr id="3718" name="Google Shape;3718;p80"/>
            <p:cNvSpPr/>
            <p:nvPr/>
          </p:nvSpPr>
          <p:spPr>
            <a:xfrm>
              <a:off x="810780" y="3715227"/>
              <a:ext cx="224238" cy="224238"/>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719" name="Google Shape;3719;p80"/>
            <p:cNvSpPr/>
            <p:nvPr/>
          </p:nvSpPr>
          <p:spPr>
            <a:xfrm>
              <a:off x="756599" y="3724022"/>
              <a:ext cx="321512" cy="223661"/>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10</a:t>
              </a:r>
              <a:endParaRPr/>
            </a:p>
          </p:txBody>
        </p:sp>
      </p:grpSp>
      <p:grpSp>
        <p:nvGrpSpPr>
          <p:cNvPr id="3720" name="Google Shape;3720;p80"/>
          <p:cNvGrpSpPr/>
          <p:nvPr/>
        </p:nvGrpSpPr>
        <p:grpSpPr>
          <a:xfrm>
            <a:off x="2568712" y="2307277"/>
            <a:ext cx="247184" cy="223916"/>
            <a:chOff x="797287" y="3715227"/>
            <a:chExt cx="256611" cy="232456"/>
          </a:xfrm>
        </p:grpSpPr>
        <p:sp>
          <p:nvSpPr>
            <p:cNvPr id="3721" name="Google Shape;3721;p80"/>
            <p:cNvSpPr/>
            <p:nvPr/>
          </p:nvSpPr>
          <p:spPr>
            <a:xfrm>
              <a:off x="810780" y="3715227"/>
              <a:ext cx="224238" cy="224238"/>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722" name="Google Shape;3722;p80"/>
            <p:cNvSpPr/>
            <p:nvPr/>
          </p:nvSpPr>
          <p:spPr>
            <a:xfrm>
              <a:off x="797287" y="3724022"/>
              <a:ext cx="256611" cy="223661"/>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7</a:t>
              </a:r>
              <a:endParaRPr/>
            </a:p>
          </p:txBody>
        </p:sp>
      </p:grpSp>
      <p:grpSp>
        <p:nvGrpSpPr>
          <p:cNvPr id="3723" name="Google Shape;3723;p80"/>
          <p:cNvGrpSpPr/>
          <p:nvPr/>
        </p:nvGrpSpPr>
        <p:grpSpPr>
          <a:xfrm>
            <a:off x="2530414" y="2567405"/>
            <a:ext cx="300083" cy="223917"/>
            <a:chOff x="761592" y="3715226"/>
            <a:chExt cx="311527" cy="232457"/>
          </a:xfrm>
        </p:grpSpPr>
        <p:sp>
          <p:nvSpPr>
            <p:cNvPr id="3724" name="Google Shape;3724;p80"/>
            <p:cNvSpPr/>
            <p:nvPr/>
          </p:nvSpPr>
          <p:spPr>
            <a:xfrm>
              <a:off x="810780" y="3715226"/>
              <a:ext cx="224238" cy="224238"/>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725" name="Google Shape;3725;p80"/>
            <p:cNvSpPr/>
            <p:nvPr/>
          </p:nvSpPr>
          <p:spPr>
            <a:xfrm>
              <a:off x="761592" y="3724022"/>
              <a:ext cx="311527" cy="223661"/>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6a</a:t>
              </a:r>
              <a:endParaRPr/>
            </a:p>
          </p:txBody>
        </p:sp>
      </p:grpSp>
      <p:grpSp>
        <p:nvGrpSpPr>
          <p:cNvPr id="3726" name="Google Shape;3726;p80"/>
          <p:cNvGrpSpPr/>
          <p:nvPr/>
        </p:nvGrpSpPr>
        <p:grpSpPr>
          <a:xfrm>
            <a:off x="2574025" y="2841900"/>
            <a:ext cx="245580" cy="224238"/>
            <a:chOff x="802803" y="3715228"/>
            <a:chExt cx="245580" cy="224238"/>
          </a:xfrm>
        </p:grpSpPr>
        <p:sp>
          <p:nvSpPr>
            <p:cNvPr id="3727" name="Google Shape;3727;p8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728" name="Google Shape;3728;p80"/>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5</a:t>
              </a:r>
              <a:endParaRPr/>
            </a:p>
          </p:txBody>
        </p:sp>
      </p:grpSp>
      <p:grpSp>
        <p:nvGrpSpPr>
          <p:cNvPr id="3729" name="Google Shape;3729;p80"/>
          <p:cNvGrpSpPr/>
          <p:nvPr/>
        </p:nvGrpSpPr>
        <p:grpSpPr>
          <a:xfrm>
            <a:off x="2574025" y="3121887"/>
            <a:ext cx="245580" cy="224238"/>
            <a:chOff x="802803" y="3715228"/>
            <a:chExt cx="245580" cy="224238"/>
          </a:xfrm>
        </p:grpSpPr>
        <p:sp>
          <p:nvSpPr>
            <p:cNvPr id="3730" name="Google Shape;3730;p8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731" name="Google Shape;3731;p80"/>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3</a:t>
              </a:r>
              <a:endParaRPr/>
            </a:p>
          </p:txBody>
        </p:sp>
      </p:grpSp>
      <p:grpSp>
        <p:nvGrpSpPr>
          <p:cNvPr id="3732" name="Google Shape;3732;p80"/>
          <p:cNvGrpSpPr/>
          <p:nvPr/>
        </p:nvGrpSpPr>
        <p:grpSpPr>
          <a:xfrm>
            <a:off x="2574025" y="3385828"/>
            <a:ext cx="245580" cy="224238"/>
            <a:chOff x="802803" y="3715228"/>
            <a:chExt cx="245580" cy="224238"/>
          </a:xfrm>
        </p:grpSpPr>
        <p:sp>
          <p:nvSpPr>
            <p:cNvPr id="3733" name="Google Shape;3733;p8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734" name="Google Shape;3734;p80"/>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2</a:t>
              </a:r>
              <a:endParaRPr/>
            </a:p>
          </p:txBody>
        </p:sp>
      </p:grpSp>
      <p:grpSp>
        <p:nvGrpSpPr>
          <p:cNvPr id="3735" name="Google Shape;3735;p80"/>
          <p:cNvGrpSpPr/>
          <p:nvPr/>
        </p:nvGrpSpPr>
        <p:grpSpPr>
          <a:xfrm>
            <a:off x="2574025" y="3649299"/>
            <a:ext cx="245580" cy="224238"/>
            <a:chOff x="802803" y="3715228"/>
            <a:chExt cx="245580" cy="224238"/>
          </a:xfrm>
        </p:grpSpPr>
        <p:sp>
          <p:nvSpPr>
            <p:cNvPr id="3736" name="Google Shape;3736;p8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737" name="Google Shape;3737;p80"/>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a:t>
              </a:r>
              <a:endParaRPr/>
            </a:p>
          </p:txBody>
        </p:sp>
      </p:grpSp>
      <p:grpSp>
        <p:nvGrpSpPr>
          <p:cNvPr id="3738" name="Google Shape;3738;p80"/>
          <p:cNvGrpSpPr/>
          <p:nvPr/>
        </p:nvGrpSpPr>
        <p:grpSpPr>
          <a:xfrm>
            <a:off x="10117559" y="1755851"/>
            <a:ext cx="245580" cy="224238"/>
            <a:chOff x="802803" y="3715228"/>
            <a:chExt cx="245580" cy="224238"/>
          </a:xfrm>
        </p:grpSpPr>
        <p:sp>
          <p:nvSpPr>
            <p:cNvPr id="3739" name="Google Shape;3739;p8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740" name="Google Shape;3740;p80"/>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a:t>
              </a:r>
              <a:endParaRPr/>
            </a:p>
          </p:txBody>
        </p:sp>
      </p:grpSp>
      <p:grpSp>
        <p:nvGrpSpPr>
          <p:cNvPr id="3741" name="Google Shape;3741;p80"/>
          <p:cNvGrpSpPr/>
          <p:nvPr/>
        </p:nvGrpSpPr>
        <p:grpSpPr>
          <a:xfrm>
            <a:off x="10116000" y="3650400"/>
            <a:ext cx="245580" cy="224238"/>
            <a:chOff x="802803" y="3715228"/>
            <a:chExt cx="245580" cy="224238"/>
          </a:xfrm>
        </p:grpSpPr>
        <p:sp>
          <p:nvSpPr>
            <p:cNvPr id="3742" name="Google Shape;3742;p8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743" name="Google Shape;3743;p80"/>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2</a:t>
              </a:r>
              <a:endParaRPr/>
            </a:p>
          </p:txBody>
        </p:sp>
      </p:grpSp>
      <p:grpSp>
        <p:nvGrpSpPr>
          <p:cNvPr id="3744" name="Google Shape;3744;p80"/>
          <p:cNvGrpSpPr/>
          <p:nvPr/>
        </p:nvGrpSpPr>
        <p:grpSpPr>
          <a:xfrm>
            <a:off x="10117837" y="1489299"/>
            <a:ext cx="245580" cy="224238"/>
            <a:chOff x="802803" y="3715228"/>
            <a:chExt cx="245580" cy="224238"/>
          </a:xfrm>
        </p:grpSpPr>
        <p:sp>
          <p:nvSpPr>
            <p:cNvPr id="3745" name="Google Shape;3745;p8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746" name="Google Shape;3746;p80"/>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3</a:t>
              </a:r>
              <a:endParaRPr/>
            </a:p>
          </p:txBody>
        </p:sp>
      </p:grpSp>
      <p:grpSp>
        <p:nvGrpSpPr>
          <p:cNvPr id="3747" name="Google Shape;3747;p80"/>
          <p:cNvGrpSpPr/>
          <p:nvPr/>
        </p:nvGrpSpPr>
        <p:grpSpPr>
          <a:xfrm>
            <a:off x="6553087" y="1741845"/>
            <a:ext cx="245580" cy="224238"/>
            <a:chOff x="802803" y="3715228"/>
            <a:chExt cx="245580" cy="224238"/>
          </a:xfrm>
        </p:grpSpPr>
        <p:sp>
          <p:nvSpPr>
            <p:cNvPr id="3748" name="Google Shape;3748;p8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749" name="Google Shape;3749;p80"/>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4</a:t>
              </a:r>
              <a:endParaRPr/>
            </a:p>
          </p:txBody>
        </p:sp>
      </p:grpSp>
      <p:grpSp>
        <p:nvGrpSpPr>
          <p:cNvPr id="3750" name="Google Shape;3750;p80"/>
          <p:cNvGrpSpPr/>
          <p:nvPr/>
        </p:nvGrpSpPr>
        <p:grpSpPr>
          <a:xfrm>
            <a:off x="784605" y="3629276"/>
            <a:ext cx="245580" cy="224238"/>
            <a:chOff x="802803" y="3715228"/>
            <a:chExt cx="245580" cy="224238"/>
          </a:xfrm>
        </p:grpSpPr>
        <p:sp>
          <p:nvSpPr>
            <p:cNvPr id="3751" name="Google Shape;3751;p8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752" name="Google Shape;3752;p80"/>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4</a:t>
              </a:r>
              <a:endParaRPr/>
            </a:p>
          </p:txBody>
        </p:sp>
      </p:grpSp>
      <p:grpSp>
        <p:nvGrpSpPr>
          <p:cNvPr id="3753" name="Google Shape;3753;p80"/>
          <p:cNvGrpSpPr/>
          <p:nvPr/>
        </p:nvGrpSpPr>
        <p:grpSpPr>
          <a:xfrm>
            <a:off x="4359077" y="3641899"/>
            <a:ext cx="245580" cy="224238"/>
            <a:chOff x="802803" y="3715228"/>
            <a:chExt cx="245580" cy="224238"/>
          </a:xfrm>
        </p:grpSpPr>
        <p:sp>
          <p:nvSpPr>
            <p:cNvPr id="3754" name="Google Shape;3754;p8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755" name="Google Shape;3755;p80"/>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5</a:t>
              </a:r>
              <a:endParaRPr/>
            </a:p>
          </p:txBody>
        </p:sp>
      </p:grpSp>
      <p:grpSp>
        <p:nvGrpSpPr>
          <p:cNvPr id="3756" name="Google Shape;3756;p80"/>
          <p:cNvGrpSpPr/>
          <p:nvPr/>
        </p:nvGrpSpPr>
        <p:grpSpPr>
          <a:xfrm>
            <a:off x="6484980" y="5931080"/>
            <a:ext cx="300082" cy="224238"/>
            <a:chOff x="775552" y="3715228"/>
            <a:chExt cx="300082" cy="224238"/>
          </a:xfrm>
        </p:grpSpPr>
        <p:sp>
          <p:nvSpPr>
            <p:cNvPr id="3757" name="Google Shape;3757;p8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758" name="Google Shape;3758;p80"/>
            <p:cNvSpPr/>
            <p:nvPr/>
          </p:nvSpPr>
          <p:spPr>
            <a:xfrm>
              <a:off x="775552" y="3724022"/>
              <a:ext cx="300082"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6a</a:t>
              </a:r>
              <a:endParaRPr/>
            </a:p>
          </p:txBody>
        </p:sp>
      </p:grpSp>
      <p:grpSp>
        <p:nvGrpSpPr>
          <p:cNvPr id="3759" name="Google Shape;3759;p80"/>
          <p:cNvGrpSpPr/>
          <p:nvPr/>
        </p:nvGrpSpPr>
        <p:grpSpPr>
          <a:xfrm>
            <a:off x="4325561" y="3388584"/>
            <a:ext cx="309700" cy="224238"/>
            <a:chOff x="770743" y="3715228"/>
            <a:chExt cx="309700" cy="224238"/>
          </a:xfrm>
        </p:grpSpPr>
        <p:sp>
          <p:nvSpPr>
            <p:cNvPr id="3760" name="Google Shape;3760;p8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761" name="Google Shape;3761;p80"/>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6b</a:t>
              </a:r>
              <a:endParaRPr/>
            </a:p>
          </p:txBody>
        </p:sp>
      </p:grpSp>
      <p:grpSp>
        <p:nvGrpSpPr>
          <p:cNvPr id="3762" name="Google Shape;3762;p80"/>
          <p:cNvGrpSpPr/>
          <p:nvPr/>
        </p:nvGrpSpPr>
        <p:grpSpPr>
          <a:xfrm>
            <a:off x="4372912" y="5940000"/>
            <a:ext cx="309700" cy="224238"/>
            <a:chOff x="770743" y="3715228"/>
            <a:chExt cx="309700" cy="224238"/>
          </a:xfrm>
        </p:grpSpPr>
        <p:sp>
          <p:nvSpPr>
            <p:cNvPr id="3763" name="Google Shape;3763;p8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764" name="Google Shape;3764;p80"/>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6b</a:t>
              </a:r>
              <a:endParaRPr/>
            </a:p>
          </p:txBody>
        </p:sp>
      </p:grpSp>
      <p:grpSp>
        <p:nvGrpSpPr>
          <p:cNvPr id="3765" name="Google Shape;3765;p80"/>
          <p:cNvGrpSpPr/>
          <p:nvPr/>
        </p:nvGrpSpPr>
        <p:grpSpPr>
          <a:xfrm>
            <a:off x="4330045" y="3136880"/>
            <a:ext cx="309700" cy="224238"/>
            <a:chOff x="770743" y="3715228"/>
            <a:chExt cx="309700" cy="224238"/>
          </a:xfrm>
        </p:grpSpPr>
        <p:sp>
          <p:nvSpPr>
            <p:cNvPr id="3766" name="Google Shape;3766;p8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767" name="Google Shape;3767;p80"/>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8b</a:t>
              </a:r>
              <a:endParaRPr/>
            </a:p>
          </p:txBody>
        </p:sp>
      </p:grpSp>
      <p:grpSp>
        <p:nvGrpSpPr>
          <p:cNvPr id="3768" name="Google Shape;3768;p80"/>
          <p:cNvGrpSpPr/>
          <p:nvPr/>
        </p:nvGrpSpPr>
        <p:grpSpPr>
          <a:xfrm>
            <a:off x="4377396" y="5681195"/>
            <a:ext cx="309700" cy="224238"/>
            <a:chOff x="770743" y="3715228"/>
            <a:chExt cx="309700" cy="224238"/>
          </a:xfrm>
        </p:grpSpPr>
        <p:sp>
          <p:nvSpPr>
            <p:cNvPr id="3769" name="Google Shape;3769;p8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770" name="Google Shape;3770;p80"/>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8b</a:t>
              </a:r>
              <a:endParaRPr/>
            </a:p>
          </p:txBody>
        </p:sp>
      </p:grpSp>
      <p:grpSp>
        <p:nvGrpSpPr>
          <p:cNvPr id="3771" name="Google Shape;3771;p80"/>
          <p:cNvGrpSpPr/>
          <p:nvPr/>
        </p:nvGrpSpPr>
        <p:grpSpPr>
          <a:xfrm>
            <a:off x="4298376" y="2880000"/>
            <a:ext cx="368899" cy="223200"/>
            <a:chOff x="740286" y="3715228"/>
            <a:chExt cx="370615" cy="224238"/>
          </a:xfrm>
        </p:grpSpPr>
        <p:sp>
          <p:nvSpPr>
            <p:cNvPr id="3772" name="Google Shape;3772;p8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773" name="Google Shape;3773;p80"/>
            <p:cNvSpPr/>
            <p:nvPr/>
          </p:nvSpPr>
          <p:spPr>
            <a:xfrm>
              <a:off x="740286" y="3724022"/>
              <a:ext cx="370615"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12b</a:t>
              </a:r>
              <a:endParaRPr/>
            </a:p>
          </p:txBody>
        </p:sp>
      </p:grpSp>
      <p:grpSp>
        <p:nvGrpSpPr>
          <p:cNvPr id="3774" name="Google Shape;3774;p80"/>
          <p:cNvGrpSpPr/>
          <p:nvPr/>
        </p:nvGrpSpPr>
        <p:grpSpPr>
          <a:xfrm>
            <a:off x="4345727" y="5432633"/>
            <a:ext cx="370614" cy="347348"/>
            <a:chOff x="740286" y="3715228"/>
            <a:chExt cx="370614" cy="347348"/>
          </a:xfrm>
        </p:grpSpPr>
        <p:sp>
          <p:nvSpPr>
            <p:cNvPr id="3775" name="Google Shape;3775;p8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776" name="Google Shape;3776;p80"/>
            <p:cNvSpPr/>
            <p:nvPr/>
          </p:nvSpPr>
          <p:spPr>
            <a:xfrm>
              <a:off x="740286" y="3724022"/>
              <a:ext cx="370614" cy="33855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12b</a:t>
              </a:r>
              <a:endParaRPr/>
            </a:p>
            <a:p>
              <a:pPr indent="0" lvl="0" marL="0" marR="0" rtl="0" algn="ctr">
                <a:spcBef>
                  <a:spcPts val="0"/>
                </a:spcBef>
                <a:spcAft>
                  <a:spcPts val="0"/>
                </a:spcAft>
                <a:buNone/>
              </a:pPr>
              <a:r>
                <a:t/>
              </a:r>
              <a:endParaRPr b="1" sz="800">
                <a:solidFill>
                  <a:srgbClr val="7F7F7F"/>
                </a:solidFill>
                <a:latin typeface="Avenir"/>
                <a:ea typeface="Avenir"/>
                <a:cs typeface="Avenir"/>
                <a:sym typeface="Avenir"/>
              </a:endParaRPr>
            </a:p>
          </p:txBody>
        </p:sp>
      </p:grpSp>
      <p:grpSp>
        <p:nvGrpSpPr>
          <p:cNvPr id="3777" name="Google Shape;3777;p80"/>
          <p:cNvGrpSpPr/>
          <p:nvPr/>
        </p:nvGrpSpPr>
        <p:grpSpPr>
          <a:xfrm>
            <a:off x="6484980" y="5676798"/>
            <a:ext cx="300082" cy="224238"/>
            <a:chOff x="775552" y="3715228"/>
            <a:chExt cx="300082" cy="224238"/>
          </a:xfrm>
        </p:grpSpPr>
        <p:sp>
          <p:nvSpPr>
            <p:cNvPr id="3778" name="Google Shape;3778;p8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779" name="Google Shape;3779;p80"/>
            <p:cNvSpPr/>
            <p:nvPr/>
          </p:nvSpPr>
          <p:spPr>
            <a:xfrm>
              <a:off x="775552" y="3724022"/>
              <a:ext cx="300082"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8a</a:t>
              </a:r>
              <a:endParaRPr/>
            </a:p>
          </p:txBody>
        </p:sp>
      </p:grpSp>
      <p:grpSp>
        <p:nvGrpSpPr>
          <p:cNvPr id="3780" name="Google Shape;3780;p80"/>
          <p:cNvGrpSpPr/>
          <p:nvPr/>
        </p:nvGrpSpPr>
        <p:grpSpPr>
          <a:xfrm>
            <a:off x="6448807" y="5416132"/>
            <a:ext cx="360996" cy="224238"/>
            <a:chOff x="736857" y="3715228"/>
            <a:chExt cx="360996" cy="224238"/>
          </a:xfrm>
        </p:grpSpPr>
        <p:sp>
          <p:nvSpPr>
            <p:cNvPr id="3781" name="Google Shape;3781;p8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782" name="Google Shape;3782;p80"/>
            <p:cNvSpPr/>
            <p:nvPr/>
          </p:nvSpPr>
          <p:spPr>
            <a:xfrm>
              <a:off x="736857" y="3724022"/>
              <a:ext cx="360996"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12a</a:t>
              </a:r>
              <a:endParaRPr/>
            </a:p>
          </p:txBody>
        </p:sp>
      </p:grpSp>
      <p:grpSp>
        <p:nvGrpSpPr>
          <p:cNvPr id="3783" name="Google Shape;3783;p80"/>
          <p:cNvGrpSpPr/>
          <p:nvPr/>
        </p:nvGrpSpPr>
        <p:grpSpPr>
          <a:xfrm>
            <a:off x="2681463" y="5057611"/>
            <a:ext cx="245580" cy="224238"/>
            <a:chOff x="802803" y="3715228"/>
            <a:chExt cx="245580" cy="224238"/>
          </a:xfrm>
        </p:grpSpPr>
        <p:sp>
          <p:nvSpPr>
            <p:cNvPr id="3784" name="Google Shape;3784;p8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785" name="Google Shape;3785;p80"/>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7</a:t>
              </a:r>
              <a:endParaRPr/>
            </a:p>
          </p:txBody>
        </p:sp>
      </p:grpSp>
      <p:grpSp>
        <p:nvGrpSpPr>
          <p:cNvPr id="3786" name="Google Shape;3786;p80"/>
          <p:cNvGrpSpPr/>
          <p:nvPr/>
        </p:nvGrpSpPr>
        <p:grpSpPr>
          <a:xfrm>
            <a:off x="2680630" y="4808856"/>
            <a:ext cx="245580" cy="224238"/>
            <a:chOff x="802803" y="3715228"/>
            <a:chExt cx="245580" cy="224238"/>
          </a:xfrm>
        </p:grpSpPr>
        <p:sp>
          <p:nvSpPr>
            <p:cNvPr id="3787" name="Google Shape;3787;p8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788" name="Google Shape;3788;p80"/>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9</a:t>
              </a:r>
              <a:endParaRPr/>
            </a:p>
          </p:txBody>
        </p:sp>
      </p:grpSp>
      <p:grpSp>
        <p:nvGrpSpPr>
          <p:cNvPr id="3789" name="Google Shape;3789;p80"/>
          <p:cNvGrpSpPr/>
          <p:nvPr/>
        </p:nvGrpSpPr>
        <p:grpSpPr>
          <a:xfrm>
            <a:off x="6550922" y="1481480"/>
            <a:ext cx="245580" cy="224238"/>
            <a:chOff x="802803" y="3715228"/>
            <a:chExt cx="245580" cy="224238"/>
          </a:xfrm>
        </p:grpSpPr>
        <p:sp>
          <p:nvSpPr>
            <p:cNvPr id="3790" name="Google Shape;3790;p8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791" name="Google Shape;3791;p80"/>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9</a:t>
              </a:r>
              <a:endParaRPr/>
            </a:p>
          </p:txBody>
        </p:sp>
      </p:grpSp>
      <p:grpSp>
        <p:nvGrpSpPr>
          <p:cNvPr id="3792" name="Google Shape;3792;p80"/>
          <p:cNvGrpSpPr/>
          <p:nvPr/>
        </p:nvGrpSpPr>
        <p:grpSpPr>
          <a:xfrm>
            <a:off x="8311967" y="1742779"/>
            <a:ext cx="309700" cy="224238"/>
            <a:chOff x="770743" y="3715228"/>
            <a:chExt cx="309700" cy="224238"/>
          </a:xfrm>
        </p:grpSpPr>
        <p:sp>
          <p:nvSpPr>
            <p:cNvPr id="3793" name="Google Shape;3793;p8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794" name="Google Shape;3794;p80"/>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10</a:t>
              </a:r>
              <a:endParaRPr/>
            </a:p>
          </p:txBody>
        </p:sp>
      </p:grpSp>
      <p:grpSp>
        <p:nvGrpSpPr>
          <p:cNvPr id="3795" name="Google Shape;3795;p80"/>
          <p:cNvGrpSpPr/>
          <p:nvPr/>
        </p:nvGrpSpPr>
        <p:grpSpPr>
          <a:xfrm>
            <a:off x="4322372" y="1240114"/>
            <a:ext cx="300082" cy="224238"/>
            <a:chOff x="775552" y="3715228"/>
            <a:chExt cx="300082" cy="224238"/>
          </a:xfrm>
        </p:grpSpPr>
        <p:sp>
          <p:nvSpPr>
            <p:cNvPr id="3796" name="Google Shape;3796;p8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797" name="Google Shape;3797;p80"/>
            <p:cNvSpPr/>
            <p:nvPr/>
          </p:nvSpPr>
          <p:spPr>
            <a:xfrm>
              <a:off x="775552" y="3724022"/>
              <a:ext cx="300082"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8a</a:t>
              </a:r>
              <a:endParaRPr/>
            </a:p>
          </p:txBody>
        </p:sp>
      </p:grpSp>
      <p:grpSp>
        <p:nvGrpSpPr>
          <p:cNvPr id="3798" name="Google Shape;3798;p80"/>
          <p:cNvGrpSpPr/>
          <p:nvPr/>
        </p:nvGrpSpPr>
        <p:grpSpPr>
          <a:xfrm>
            <a:off x="4319927" y="983503"/>
            <a:ext cx="309700" cy="224238"/>
            <a:chOff x="770743" y="3715228"/>
            <a:chExt cx="309700" cy="224238"/>
          </a:xfrm>
        </p:grpSpPr>
        <p:sp>
          <p:nvSpPr>
            <p:cNvPr id="3799" name="Google Shape;3799;p8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800" name="Google Shape;3800;p80"/>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11</a:t>
              </a:r>
              <a:endParaRPr/>
            </a:p>
          </p:txBody>
        </p:sp>
      </p:grpSp>
      <p:grpSp>
        <p:nvGrpSpPr>
          <p:cNvPr id="3801" name="Google Shape;3801;p80"/>
          <p:cNvGrpSpPr/>
          <p:nvPr/>
        </p:nvGrpSpPr>
        <p:grpSpPr>
          <a:xfrm>
            <a:off x="8280687" y="1478795"/>
            <a:ext cx="360996" cy="224238"/>
            <a:chOff x="736857" y="3715228"/>
            <a:chExt cx="360996" cy="224238"/>
          </a:xfrm>
        </p:grpSpPr>
        <p:sp>
          <p:nvSpPr>
            <p:cNvPr id="3802" name="Google Shape;3802;p8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803" name="Google Shape;3803;p80"/>
            <p:cNvSpPr/>
            <p:nvPr/>
          </p:nvSpPr>
          <p:spPr>
            <a:xfrm>
              <a:off x="736857" y="3724022"/>
              <a:ext cx="360996"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12a</a:t>
              </a:r>
              <a:endParaRPr/>
            </a:p>
          </p:txBody>
        </p:sp>
      </p:grpSp>
      <p:grpSp>
        <p:nvGrpSpPr>
          <p:cNvPr id="3804" name="Google Shape;3804;p80"/>
          <p:cNvGrpSpPr/>
          <p:nvPr/>
        </p:nvGrpSpPr>
        <p:grpSpPr>
          <a:xfrm>
            <a:off x="4317141" y="2187210"/>
            <a:ext cx="309700" cy="224238"/>
            <a:chOff x="762505" y="3715228"/>
            <a:chExt cx="309700" cy="224238"/>
          </a:xfrm>
        </p:grpSpPr>
        <p:sp>
          <p:nvSpPr>
            <p:cNvPr id="3805" name="Google Shape;3805;p80"/>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806" name="Google Shape;3806;p80"/>
            <p:cNvSpPr/>
            <p:nvPr/>
          </p:nvSpPr>
          <p:spPr>
            <a:xfrm>
              <a:off x="762505"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13</a:t>
              </a:r>
              <a:endParaRPr/>
            </a:p>
          </p:txBody>
        </p:sp>
      </p:grpSp>
      <p:grpSp>
        <p:nvGrpSpPr>
          <p:cNvPr id="3807" name="Google Shape;3807;p80"/>
          <p:cNvGrpSpPr/>
          <p:nvPr/>
        </p:nvGrpSpPr>
        <p:grpSpPr>
          <a:xfrm>
            <a:off x="852407" y="5920266"/>
            <a:ext cx="309700" cy="224238"/>
            <a:chOff x="770743" y="3715228"/>
            <a:chExt cx="309700" cy="224238"/>
          </a:xfrm>
        </p:grpSpPr>
        <p:sp>
          <p:nvSpPr>
            <p:cNvPr id="3808" name="Google Shape;3808;p80"/>
            <p:cNvSpPr/>
            <p:nvPr/>
          </p:nvSpPr>
          <p:spPr>
            <a:xfrm>
              <a:off x="810781" y="3715228"/>
              <a:ext cx="216000" cy="216000"/>
            </a:xfrm>
            <a:prstGeom prst="ellipse">
              <a:avLst/>
            </a:prstGeom>
            <a:solidFill>
              <a:srgbClr val="FFFF00"/>
            </a:solidFill>
            <a:ln cap="flat" cmpd="sng" w="1270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809" name="Google Shape;3809;p80"/>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14</a:t>
              </a:r>
              <a:endParaRPr/>
            </a:p>
          </p:txBody>
        </p:sp>
      </p:grpSp>
      <p:sp>
        <p:nvSpPr>
          <p:cNvPr id="3810" name="Google Shape;3810;p80"/>
          <p:cNvSpPr txBox="1"/>
          <p:nvPr/>
        </p:nvSpPr>
        <p:spPr>
          <a:xfrm>
            <a:off x="4033926" y="1538024"/>
            <a:ext cx="2015578"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Accounts receivable</a:t>
            </a:r>
            <a:endParaRPr/>
          </a:p>
        </p:txBody>
      </p:sp>
      <p:sp>
        <p:nvSpPr>
          <p:cNvPr id="3811" name="Google Shape;3811;p80"/>
          <p:cNvSpPr txBox="1"/>
          <p:nvPr/>
        </p:nvSpPr>
        <p:spPr>
          <a:xfrm>
            <a:off x="6252890" y="2028286"/>
            <a:ext cx="1987133"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Accounts payable</a:t>
            </a:r>
            <a:endParaRPr/>
          </a:p>
        </p:txBody>
      </p:sp>
      <p:sp>
        <p:nvSpPr>
          <p:cNvPr id="3812" name="Google Shape;3812;p80"/>
          <p:cNvSpPr txBox="1"/>
          <p:nvPr/>
        </p:nvSpPr>
        <p:spPr>
          <a:xfrm>
            <a:off x="9504213" y="359591"/>
            <a:ext cx="2279791" cy="40011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000">
                <a:solidFill>
                  <a:schemeClr val="accent2"/>
                </a:solidFill>
                <a:latin typeface="Avenir"/>
                <a:ea typeface="Avenir"/>
                <a:cs typeface="Avenir"/>
                <a:sym typeface="Avenir"/>
              </a:rPr>
              <a:t>Sources of funds</a:t>
            </a:r>
            <a:endParaRPr/>
          </a:p>
        </p:txBody>
      </p:sp>
      <p:sp>
        <p:nvSpPr>
          <p:cNvPr id="3813" name="Google Shape;3813;p80"/>
          <p:cNvSpPr txBox="1"/>
          <p:nvPr/>
        </p:nvSpPr>
        <p:spPr>
          <a:xfrm>
            <a:off x="492858" y="373659"/>
            <a:ext cx="1880643" cy="40011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000">
                <a:solidFill>
                  <a:schemeClr val="accent6"/>
                </a:solidFill>
                <a:latin typeface="Avenir"/>
                <a:ea typeface="Avenir"/>
                <a:cs typeface="Avenir"/>
                <a:sym typeface="Avenir"/>
              </a:rPr>
              <a:t>Uses of funds</a:t>
            </a:r>
            <a:endParaRPr/>
          </a:p>
        </p:txBody>
      </p:sp>
      <p:grpSp>
        <p:nvGrpSpPr>
          <p:cNvPr id="3814" name="Google Shape;3814;p80"/>
          <p:cNvGrpSpPr/>
          <p:nvPr/>
        </p:nvGrpSpPr>
        <p:grpSpPr>
          <a:xfrm>
            <a:off x="674882" y="2236958"/>
            <a:ext cx="1620000" cy="613673"/>
            <a:chOff x="3810000" y="2381250"/>
            <a:chExt cx="1390650" cy="1230631"/>
          </a:xfrm>
        </p:grpSpPr>
        <p:sp>
          <p:nvSpPr>
            <p:cNvPr id="3815" name="Google Shape;3815;p80"/>
            <p:cNvSpPr/>
            <p:nvPr/>
          </p:nvSpPr>
          <p:spPr>
            <a:xfrm flipH="1">
              <a:off x="4505325"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3816" name="Google Shape;3816;p80"/>
            <p:cNvSpPr/>
            <p:nvPr/>
          </p:nvSpPr>
          <p:spPr>
            <a:xfrm>
              <a:off x="3810000"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sp>
        <p:nvSpPr>
          <p:cNvPr id="3817" name="Google Shape;3817;p80"/>
          <p:cNvSpPr txBox="1"/>
          <p:nvPr/>
        </p:nvSpPr>
        <p:spPr>
          <a:xfrm>
            <a:off x="667920" y="2817445"/>
            <a:ext cx="1647322" cy="584775"/>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Accumulated depreciation</a:t>
            </a:r>
            <a:endParaRPr/>
          </a:p>
        </p:txBody>
      </p:sp>
      <p:sp>
        <p:nvSpPr>
          <p:cNvPr id="3818" name="Google Shape;3818;p80"/>
          <p:cNvSpPr txBox="1"/>
          <p:nvPr/>
        </p:nvSpPr>
        <p:spPr>
          <a:xfrm>
            <a:off x="1679276" y="2502766"/>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100</a:t>
            </a:r>
            <a:endParaRPr/>
          </a:p>
        </p:txBody>
      </p:sp>
      <p:sp>
        <p:nvSpPr>
          <p:cNvPr id="3819" name="Google Shape;3819;p80"/>
          <p:cNvSpPr/>
          <p:nvPr/>
        </p:nvSpPr>
        <p:spPr>
          <a:xfrm>
            <a:off x="1256101" y="2550772"/>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3820" name="Google Shape;3820;p80"/>
          <p:cNvGrpSpPr/>
          <p:nvPr/>
        </p:nvGrpSpPr>
        <p:grpSpPr>
          <a:xfrm>
            <a:off x="752976" y="2511750"/>
            <a:ext cx="309700" cy="224238"/>
            <a:chOff x="770743" y="3715228"/>
            <a:chExt cx="309700" cy="224238"/>
          </a:xfrm>
        </p:grpSpPr>
        <p:sp>
          <p:nvSpPr>
            <p:cNvPr id="3821" name="Google Shape;3821;p80"/>
            <p:cNvSpPr/>
            <p:nvPr/>
          </p:nvSpPr>
          <p:spPr>
            <a:xfrm>
              <a:off x="810781" y="3715228"/>
              <a:ext cx="216000" cy="216000"/>
            </a:xfrm>
            <a:prstGeom prst="ellipse">
              <a:avLst/>
            </a:prstGeom>
            <a:solidFill>
              <a:srgbClr val="FFFF00"/>
            </a:solidFill>
            <a:ln cap="flat" cmpd="sng" w="1270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822" name="Google Shape;3822;p80"/>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14</a:t>
              </a:r>
              <a:endParaRPr/>
            </a:p>
          </p:txBody>
        </p:sp>
      </p:grpSp>
      <p:grpSp>
        <p:nvGrpSpPr>
          <p:cNvPr id="3823" name="Google Shape;3823;p80"/>
          <p:cNvGrpSpPr/>
          <p:nvPr/>
        </p:nvGrpSpPr>
        <p:grpSpPr>
          <a:xfrm>
            <a:off x="4247500" y="957969"/>
            <a:ext cx="1620000" cy="613673"/>
            <a:chOff x="3810000" y="2381250"/>
            <a:chExt cx="1390650" cy="1230631"/>
          </a:xfrm>
        </p:grpSpPr>
        <p:sp>
          <p:nvSpPr>
            <p:cNvPr id="3824" name="Google Shape;3824;p80"/>
            <p:cNvSpPr/>
            <p:nvPr/>
          </p:nvSpPr>
          <p:spPr>
            <a:xfrm flipH="1">
              <a:off x="4505325"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3825" name="Google Shape;3825;p80"/>
            <p:cNvSpPr/>
            <p:nvPr/>
          </p:nvSpPr>
          <p:spPr>
            <a:xfrm>
              <a:off x="3810000"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3826" name="Google Shape;3826;p80"/>
          <p:cNvGrpSpPr/>
          <p:nvPr/>
        </p:nvGrpSpPr>
        <p:grpSpPr>
          <a:xfrm>
            <a:off x="4247500" y="1892397"/>
            <a:ext cx="1620000" cy="613673"/>
            <a:chOff x="3810000" y="2381250"/>
            <a:chExt cx="1390650" cy="1230631"/>
          </a:xfrm>
        </p:grpSpPr>
        <p:sp>
          <p:nvSpPr>
            <p:cNvPr id="3827" name="Google Shape;3827;p80"/>
            <p:cNvSpPr/>
            <p:nvPr/>
          </p:nvSpPr>
          <p:spPr>
            <a:xfrm flipH="1">
              <a:off x="4505325" y="2381250"/>
              <a:ext cx="695325" cy="1230631"/>
            </a:xfrm>
            <a:prstGeom prst="corner">
              <a:avLst>
                <a:gd fmla="val 9300"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3828" name="Google Shape;3828;p80"/>
            <p:cNvSpPr/>
            <p:nvPr/>
          </p:nvSpPr>
          <p:spPr>
            <a:xfrm>
              <a:off x="3810000" y="2381250"/>
              <a:ext cx="695325" cy="1230631"/>
            </a:xfrm>
            <a:prstGeom prst="corner">
              <a:avLst>
                <a:gd fmla="val 9300"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3829" name="Google Shape;3829;p80"/>
          <p:cNvGrpSpPr/>
          <p:nvPr/>
        </p:nvGrpSpPr>
        <p:grpSpPr>
          <a:xfrm>
            <a:off x="2563169" y="4767598"/>
            <a:ext cx="1620000" cy="613673"/>
            <a:chOff x="3810000" y="2381250"/>
            <a:chExt cx="1390650" cy="1230631"/>
          </a:xfrm>
        </p:grpSpPr>
        <p:sp>
          <p:nvSpPr>
            <p:cNvPr id="3830" name="Google Shape;3830;p80"/>
            <p:cNvSpPr/>
            <p:nvPr/>
          </p:nvSpPr>
          <p:spPr>
            <a:xfrm flipH="1">
              <a:off x="4505325" y="2381250"/>
              <a:ext cx="695325" cy="1230631"/>
            </a:xfrm>
            <a:prstGeom prst="corner">
              <a:avLst>
                <a:gd fmla="val 9300"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3831" name="Google Shape;3831;p80"/>
            <p:cNvSpPr/>
            <p:nvPr/>
          </p:nvSpPr>
          <p:spPr>
            <a:xfrm>
              <a:off x="3810000" y="2381250"/>
              <a:ext cx="695325" cy="1230631"/>
            </a:xfrm>
            <a:prstGeom prst="corner">
              <a:avLst>
                <a:gd fmla="val 9300"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3832" name="Google Shape;3832;p80"/>
          <p:cNvGrpSpPr/>
          <p:nvPr/>
        </p:nvGrpSpPr>
        <p:grpSpPr>
          <a:xfrm>
            <a:off x="788356" y="5618680"/>
            <a:ext cx="1620000" cy="613673"/>
            <a:chOff x="3810000" y="2381250"/>
            <a:chExt cx="1390650" cy="1230631"/>
          </a:xfrm>
        </p:grpSpPr>
        <p:sp>
          <p:nvSpPr>
            <p:cNvPr id="3833" name="Google Shape;3833;p80"/>
            <p:cNvSpPr/>
            <p:nvPr/>
          </p:nvSpPr>
          <p:spPr>
            <a:xfrm flipH="1">
              <a:off x="4505325" y="2381250"/>
              <a:ext cx="695325" cy="1230631"/>
            </a:xfrm>
            <a:prstGeom prst="corner">
              <a:avLst>
                <a:gd fmla="val 9300"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3834" name="Google Shape;3834;p80"/>
            <p:cNvSpPr/>
            <p:nvPr/>
          </p:nvSpPr>
          <p:spPr>
            <a:xfrm>
              <a:off x="3810000" y="2381250"/>
              <a:ext cx="695325" cy="1230631"/>
            </a:xfrm>
            <a:prstGeom prst="corner">
              <a:avLst>
                <a:gd fmla="val 9300"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3835" name="Google Shape;3835;p80"/>
          <p:cNvGrpSpPr/>
          <p:nvPr/>
        </p:nvGrpSpPr>
        <p:grpSpPr>
          <a:xfrm>
            <a:off x="4292494" y="5448381"/>
            <a:ext cx="1620000" cy="796276"/>
            <a:chOff x="3810000" y="2015069"/>
            <a:chExt cx="1390650" cy="1596814"/>
          </a:xfrm>
        </p:grpSpPr>
        <p:sp>
          <p:nvSpPr>
            <p:cNvPr id="3836" name="Google Shape;3836;p80"/>
            <p:cNvSpPr/>
            <p:nvPr/>
          </p:nvSpPr>
          <p:spPr>
            <a:xfrm flipH="1">
              <a:off x="4505325" y="2015073"/>
              <a:ext cx="695325" cy="1596810"/>
            </a:xfrm>
            <a:prstGeom prst="corner">
              <a:avLst>
                <a:gd fmla="val 7267" name="adj1"/>
                <a:gd fmla="val 7888"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3837" name="Google Shape;3837;p80"/>
            <p:cNvSpPr/>
            <p:nvPr/>
          </p:nvSpPr>
          <p:spPr>
            <a:xfrm>
              <a:off x="3810000" y="2015069"/>
              <a:ext cx="695325" cy="1596812"/>
            </a:xfrm>
            <a:prstGeom prst="corner">
              <a:avLst>
                <a:gd fmla="val 7268" name="adj1"/>
                <a:gd fmla="val 7888"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3838" name="Google Shape;3838;p80"/>
          <p:cNvGrpSpPr/>
          <p:nvPr/>
        </p:nvGrpSpPr>
        <p:grpSpPr>
          <a:xfrm>
            <a:off x="6382456" y="5448381"/>
            <a:ext cx="1620000" cy="796276"/>
            <a:chOff x="3810000" y="2015069"/>
            <a:chExt cx="1390650" cy="1596814"/>
          </a:xfrm>
        </p:grpSpPr>
        <p:sp>
          <p:nvSpPr>
            <p:cNvPr id="3839" name="Google Shape;3839;p80"/>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3840" name="Google Shape;3840;p80"/>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3841" name="Google Shape;3841;p80"/>
          <p:cNvGrpSpPr/>
          <p:nvPr/>
        </p:nvGrpSpPr>
        <p:grpSpPr>
          <a:xfrm>
            <a:off x="9983452" y="3159099"/>
            <a:ext cx="1620000" cy="796276"/>
            <a:chOff x="3810000" y="2015069"/>
            <a:chExt cx="1390650" cy="1596814"/>
          </a:xfrm>
        </p:grpSpPr>
        <p:sp>
          <p:nvSpPr>
            <p:cNvPr id="3842" name="Google Shape;3842;p80"/>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3843" name="Google Shape;3843;p80"/>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3844" name="Google Shape;3844;p80"/>
          <p:cNvGrpSpPr/>
          <p:nvPr/>
        </p:nvGrpSpPr>
        <p:grpSpPr>
          <a:xfrm>
            <a:off x="8214558" y="1260018"/>
            <a:ext cx="1620000" cy="796276"/>
            <a:chOff x="3810000" y="2015069"/>
            <a:chExt cx="1390650" cy="1596814"/>
          </a:xfrm>
        </p:grpSpPr>
        <p:sp>
          <p:nvSpPr>
            <p:cNvPr id="3845" name="Google Shape;3845;p80"/>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3846" name="Google Shape;3846;p80"/>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3847" name="Google Shape;3847;p80"/>
          <p:cNvGrpSpPr/>
          <p:nvPr/>
        </p:nvGrpSpPr>
        <p:grpSpPr>
          <a:xfrm>
            <a:off x="10006085" y="1263488"/>
            <a:ext cx="1620000" cy="796276"/>
            <a:chOff x="3810000" y="2015069"/>
            <a:chExt cx="1390650" cy="1596814"/>
          </a:xfrm>
        </p:grpSpPr>
        <p:sp>
          <p:nvSpPr>
            <p:cNvPr id="3848" name="Google Shape;3848;p80"/>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3849" name="Google Shape;3849;p80"/>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3850" name="Google Shape;3850;p80"/>
          <p:cNvGrpSpPr/>
          <p:nvPr/>
        </p:nvGrpSpPr>
        <p:grpSpPr>
          <a:xfrm>
            <a:off x="6428511" y="1266563"/>
            <a:ext cx="1620000" cy="796276"/>
            <a:chOff x="3810000" y="2015069"/>
            <a:chExt cx="1390650" cy="1596814"/>
          </a:xfrm>
        </p:grpSpPr>
        <p:sp>
          <p:nvSpPr>
            <p:cNvPr id="3851" name="Google Shape;3851;p80"/>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3852" name="Google Shape;3852;p80"/>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sp>
        <p:nvSpPr>
          <p:cNvPr id="3853" name="Google Shape;3853;p80"/>
          <p:cNvSpPr/>
          <p:nvPr/>
        </p:nvSpPr>
        <p:spPr>
          <a:xfrm>
            <a:off x="1541040" y="4152714"/>
            <a:ext cx="10452799" cy="1312708"/>
          </a:xfrm>
          <a:prstGeom prst="rect">
            <a:avLst/>
          </a:prstGeom>
          <a:solidFill>
            <a:srgbClr val="F2F2F2">
              <a:alpha val="86666"/>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3854" name="Google Shape;3854;p80"/>
          <p:cNvGrpSpPr/>
          <p:nvPr/>
        </p:nvGrpSpPr>
        <p:grpSpPr>
          <a:xfrm>
            <a:off x="1672955" y="4447820"/>
            <a:ext cx="10188967" cy="756004"/>
            <a:chOff x="926134" y="1719856"/>
            <a:chExt cx="9204181" cy="750147"/>
          </a:xfrm>
        </p:grpSpPr>
        <p:sp>
          <p:nvSpPr>
            <p:cNvPr id="3855" name="Google Shape;3855;p80"/>
            <p:cNvSpPr txBox="1"/>
            <p:nvPr/>
          </p:nvSpPr>
          <p:spPr>
            <a:xfrm>
              <a:off x="1641585" y="1719860"/>
              <a:ext cx="5447935"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139700" marR="0" rtl="0" algn="l">
                <a:spcBef>
                  <a:spcPts val="0"/>
                </a:spcBef>
                <a:spcAft>
                  <a:spcPts val="0"/>
                </a:spcAft>
                <a:buNone/>
              </a:pPr>
              <a:r>
                <a:rPr lang="en-US" sz="2000">
                  <a:solidFill>
                    <a:schemeClr val="dk1"/>
                  </a:solidFill>
                  <a:latin typeface="Calibri"/>
                  <a:ea typeface="Calibri"/>
                  <a:cs typeface="Calibri"/>
                  <a:sym typeface="Calibri"/>
                </a:rPr>
                <a:t>해당 장비는 잔존가치 없이 5년간 사용할 예정이며, 이번 달 사용분에 대해 회계 처리함.</a:t>
              </a:r>
              <a:endParaRPr sz="2000">
                <a:solidFill>
                  <a:schemeClr val="dk1"/>
                </a:solidFill>
                <a:latin typeface="Avenir"/>
                <a:ea typeface="Avenir"/>
                <a:cs typeface="Avenir"/>
                <a:sym typeface="Avenir"/>
              </a:endParaRPr>
            </a:p>
          </p:txBody>
        </p:sp>
        <p:sp>
          <p:nvSpPr>
            <p:cNvPr id="3856" name="Google Shape;3856;p80"/>
            <p:cNvSpPr txBox="1"/>
            <p:nvPr/>
          </p:nvSpPr>
          <p:spPr>
            <a:xfrm>
              <a:off x="7089520" y="1719858"/>
              <a:ext cx="1520398" cy="745310"/>
            </a:xfrm>
            <a:prstGeom prst="rect">
              <a:avLst/>
            </a:prstGeom>
            <a:solidFill>
              <a:srgbClr val="E1EFD8"/>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Depreciation</a:t>
              </a: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100</a:t>
              </a:r>
              <a:endParaRPr/>
            </a:p>
          </p:txBody>
        </p:sp>
        <p:sp>
          <p:nvSpPr>
            <p:cNvPr id="3857" name="Google Shape;3857;p80"/>
            <p:cNvSpPr txBox="1"/>
            <p:nvPr/>
          </p:nvSpPr>
          <p:spPr>
            <a:xfrm>
              <a:off x="8609917" y="1719858"/>
              <a:ext cx="1520398" cy="745310"/>
            </a:xfrm>
            <a:prstGeom prst="rect">
              <a:avLst/>
            </a:prstGeom>
            <a:solidFill>
              <a:srgbClr val="FBE4D4"/>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Accumulated depreciation</a:t>
              </a:r>
              <a:endParaRPr b="1" sz="1600">
                <a:solidFill>
                  <a:srgbClr val="BFBFBF"/>
                </a:solidFill>
                <a:latin typeface="Avenir"/>
                <a:ea typeface="Avenir"/>
                <a:cs typeface="Avenir"/>
                <a:sym typeface="Aveni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100</a:t>
              </a:r>
              <a:endParaRPr/>
            </a:p>
          </p:txBody>
        </p:sp>
        <p:sp>
          <p:nvSpPr>
            <p:cNvPr id="3858" name="Google Shape;3858;p80"/>
            <p:cNvSpPr txBox="1"/>
            <p:nvPr/>
          </p:nvSpPr>
          <p:spPr>
            <a:xfrm>
              <a:off x="926134" y="1719856"/>
              <a:ext cx="715451" cy="750143"/>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14</a:t>
              </a:r>
              <a:endParaRPr/>
            </a:p>
          </p:txBody>
        </p:sp>
      </p:grpSp>
      <p:sp>
        <p:nvSpPr>
          <p:cNvPr id="3859" name="Google Shape;3859;p80"/>
          <p:cNvSpPr txBox="1"/>
          <p:nvPr/>
        </p:nvSpPr>
        <p:spPr>
          <a:xfrm>
            <a:off x="8498460" y="4443450"/>
            <a:ext cx="1683070" cy="756000"/>
          </a:xfrm>
          <a:prstGeom prst="rect">
            <a:avLst/>
          </a:prstGeom>
          <a:solidFill>
            <a:srgbClr val="548135"/>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100</a:t>
            </a:r>
            <a:endParaRPr/>
          </a:p>
        </p:txBody>
      </p:sp>
      <p:sp>
        <p:nvSpPr>
          <p:cNvPr id="3860" name="Google Shape;3860;p80"/>
          <p:cNvSpPr txBox="1"/>
          <p:nvPr/>
        </p:nvSpPr>
        <p:spPr>
          <a:xfrm>
            <a:off x="10181530" y="4447939"/>
            <a:ext cx="1683070" cy="756000"/>
          </a:xfrm>
          <a:prstGeom prst="rect">
            <a:avLst/>
          </a:prstGeom>
          <a:solidFill>
            <a:schemeClr val="accent2"/>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100</a:t>
            </a:r>
            <a:endParaRPr/>
          </a:p>
        </p:txBody>
      </p:sp>
      <p:sp>
        <p:nvSpPr>
          <p:cNvPr id="3861" name="Google Shape;3861;p80"/>
          <p:cNvSpPr/>
          <p:nvPr/>
        </p:nvSpPr>
        <p:spPr>
          <a:xfrm rot="10800000">
            <a:off x="153289" y="4549188"/>
            <a:ext cx="950259" cy="1037381"/>
          </a:xfrm>
          <a:prstGeom prst="downArrow">
            <a:avLst>
              <a:gd fmla="val 50000" name="adj1"/>
              <a:gd fmla="val 50000" name="adj2"/>
            </a:avLst>
          </a:prstGeom>
          <a:solidFill>
            <a:schemeClr val="accent6">
              <a:alpha val="77647"/>
            </a:schemeClr>
          </a:solidFill>
          <a:ln>
            <a:noFill/>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862" name="Google Shape;3862;p80"/>
          <p:cNvSpPr/>
          <p:nvPr/>
        </p:nvSpPr>
        <p:spPr>
          <a:xfrm>
            <a:off x="152838" y="842384"/>
            <a:ext cx="950259" cy="1037381"/>
          </a:xfrm>
          <a:prstGeom prst="downArrow">
            <a:avLst>
              <a:gd fmla="val 50000" name="adj1"/>
              <a:gd fmla="val 50000" name="adj2"/>
            </a:avLst>
          </a:prstGeom>
          <a:solidFill>
            <a:schemeClr val="accent2">
              <a:alpha val="77647"/>
            </a:schemeClr>
          </a:solidFill>
          <a:ln>
            <a:noFill/>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863" name="Google Shape;3863;p80"/>
          <p:cNvSpPr/>
          <p:nvPr/>
        </p:nvSpPr>
        <p:spPr>
          <a:xfrm rot="10800000">
            <a:off x="8784000" y="1751173"/>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3864" name="Google Shape;3864;p80"/>
          <p:cNvSpPr/>
          <p:nvPr/>
        </p:nvSpPr>
        <p:spPr>
          <a:xfrm>
            <a:off x="8784000" y="1505882"/>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548135"/>
              </a:solidFill>
              <a:latin typeface="Calibri"/>
              <a:ea typeface="Calibri"/>
              <a:cs typeface="Calibri"/>
              <a:sym typeface="Calibri"/>
            </a:endParaRPr>
          </a:p>
        </p:txBody>
      </p:sp>
      <p:sp>
        <p:nvSpPr>
          <p:cNvPr id="3865" name="Google Shape;3865;p80"/>
          <p:cNvSpPr/>
          <p:nvPr/>
        </p:nvSpPr>
        <p:spPr>
          <a:xfrm rot="10800000">
            <a:off x="10548000" y="1757882"/>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3866" name="Google Shape;3866;p80"/>
          <p:cNvSpPr/>
          <p:nvPr/>
        </p:nvSpPr>
        <p:spPr>
          <a:xfrm>
            <a:off x="10548000" y="1505882"/>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548135"/>
              </a:solidFill>
              <a:latin typeface="Calibri"/>
              <a:ea typeface="Calibri"/>
              <a:cs typeface="Calibri"/>
              <a:sym typeface="Calibri"/>
            </a:endParaRPr>
          </a:p>
        </p:txBody>
      </p:sp>
      <p:sp>
        <p:nvSpPr>
          <p:cNvPr id="3867" name="Google Shape;3867;p80"/>
          <p:cNvSpPr txBox="1"/>
          <p:nvPr/>
        </p:nvSpPr>
        <p:spPr>
          <a:xfrm>
            <a:off x="6403128" y="3419412"/>
            <a:ext cx="1548343" cy="566133"/>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360</a:t>
            </a:r>
            <a:endParaRPr sz="2400">
              <a:solidFill>
                <a:schemeClr val="dk1"/>
              </a:solidFill>
              <a:latin typeface="Calibri"/>
              <a:ea typeface="Calibri"/>
              <a:cs typeface="Calibri"/>
              <a:sym typeface="Calibri"/>
            </a:endParaRPr>
          </a:p>
        </p:txBody>
      </p:sp>
      <p:sp>
        <p:nvSpPr>
          <p:cNvPr id="3868" name="Google Shape;3868;p80"/>
          <p:cNvSpPr txBox="1"/>
          <p:nvPr/>
        </p:nvSpPr>
        <p:spPr>
          <a:xfrm>
            <a:off x="6403129" y="3419412"/>
            <a:ext cx="1548343" cy="566133"/>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460</a:t>
            </a:r>
            <a:endParaRPr sz="2400">
              <a:solidFill>
                <a:schemeClr val="dk1"/>
              </a:solidFill>
              <a:latin typeface="Calibri"/>
              <a:ea typeface="Calibri"/>
              <a:cs typeface="Calibri"/>
              <a:sym typeface="Calibri"/>
            </a:endParaRPr>
          </a:p>
        </p:txBody>
      </p:sp>
    </p:spTree>
  </p:cSld>
  <p:clrMapOvr>
    <a:masterClrMapping/>
  </p:clrMapOvr>
  <mc:AlternateContent>
    <mc:Choice Requires="p14">
      <p:transition spd="slow" p14:dur="700">
        <p:fade/>
      </p:transition>
    </mc:Choice>
    <mc:Fallback>
      <p:transition spd="slow">
        <p:fade/>
      </p:transition>
    </mc:Fallback>
  </mc:AlternateContent>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644"/>
                                        </p:tgtEl>
                                        <p:attrNameLst>
                                          <p:attrName>style.visibility</p:attrName>
                                        </p:attrNameLst>
                                      </p:cBhvr>
                                      <p:to>
                                        <p:strVal val="visible"/>
                                      </p:to>
                                    </p:set>
                                    <p:animEffect filter="fade" transition="in">
                                      <p:cBhvr>
                                        <p:cTn dur="500"/>
                                        <p:tgtEl>
                                          <p:spTgt spid="3644"/>
                                        </p:tgtEl>
                                      </p:cBhvr>
                                    </p:animEffect>
                                  </p:childTnLst>
                                </p:cTn>
                              </p:par>
                              <p:par>
                                <p:cTn fill="hold" nodeType="withEffect" presetClass="entr" presetID="10" presetSubtype="0">
                                  <p:stCondLst>
                                    <p:cond delay="0"/>
                                  </p:stCondLst>
                                  <p:childTnLst>
                                    <p:set>
                                      <p:cBhvr>
                                        <p:cTn dur="1" fill="hold">
                                          <p:stCondLst>
                                            <p:cond delay="0"/>
                                          </p:stCondLst>
                                        </p:cTn>
                                        <p:tgtEl>
                                          <p:spTgt spid="3832"/>
                                        </p:tgtEl>
                                        <p:attrNameLst>
                                          <p:attrName>style.visibility</p:attrName>
                                        </p:attrNameLst>
                                      </p:cBhvr>
                                      <p:to>
                                        <p:strVal val="visible"/>
                                      </p:to>
                                    </p:set>
                                    <p:animEffect filter="fade" transition="in">
                                      <p:cBhvr>
                                        <p:cTn dur="500"/>
                                        <p:tgtEl>
                                          <p:spTgt spid="3832"/>
                                        </p:tgtEl>
                                      </p:cBhvr>
                                    </p:animEffect>
                                  </p:childTnLst>
                                </p:cTn>
                              </p:par>
                            </p:childTnLst>
                          </p:cTn>
                        </p:par>
                        <p:par>
                          <p:cTn fill="hold">
                            <p:stCondLst>
                              <p:cond delay="500"/>
                            </p:stCondLst>
                            <p:childTnLst>
                              <p:par>
                                <p:cTn fill="hold" nodeType="afterEffect" presetClass="exit" presetID="10" presetSubtype="0">
                                  <p:stCondLst>
                                    <p:cond delay="0"/>
                                  </p:stCondLst>
                                  <p:childTnLst>
                                    <p:animEffect filter="fade" transition="out">
                                      <p:cBhvr>
                                        <p:cTn dur="1000"/>
                                        <p:tgtEl>
                                          <p:spTgt spid="3859"/>
                                        </p:tgtEl>
                                      </p:cBhvr>
                                    </p:animEffect>
                                    <p:set>
                                      <p:cBhvr>
                                        <p:cTn dur="1" fill="hold">
                                          <p:stCondLst>
                                            <p:cond delay="1000"/>
                                          </p:stCondLst>
                                        </p:cTn>
                                        <p:tgtEl>
                                          <p:spTgt spid="3859"/>
                                        </p:tgtEl>
                                        <p:attrNameLst>
                                          <p:attrName>style.visibility</p:attrName>
                                        </p:attrNameLst>
                                      </p:cBhvr>
                                      <p:to>
                                        <p:strVal val="hidden"/>
                                      </p:to>
                                    </p:set>
                                  </p:childTnLst>
                                </p:cTn>
                              </p:par>
                              <p:par>
                                <p:cTn fill="hold" nodeType="withEffect" presetClass="entr" presetID="10" presetSubtype="0">
                                  <p:stCondLst>
                                    <p:cond delay="0"/>
                                  </p:stCondLst>
                                  <p:childTnLst>
                                    <p:set>
                                      <p:cBhvr>
                                        <p:cTn dur="1" fill="hold">
                                          <p:stCondLst>
                                            <p:cond delay="0"/>
                                          </p:stCondLst>
                                        </p:cTn>
                                        <p:tgtEl>
                                          <p:spTgt spid="3807"/>
                                        </p:tgtEl>
                                        <p:attrNameLst>
                                          <p:attrName>style.visibility</p:attrName>
                                        </p:attrNameLst>
                                      </p:cBhvr>
                                      <p:to>
                                        <p:strVal val="visible"/>
                                      </p:to>
                                    </p:set>
                                    <p:animEffect filter="fade" transition="in">
                                      <p:cBhvr>
                                        <p:cTn dur="1000"/>
                                        <p:tgtEl>
                                          <p:spTgt spid="3807"/>
                                        </p:tgtEl>
                                      </p:cBhvr>
                                    </p:animEffect>
                                  </p:childTnLst>
                                </p:cTn>
                              </p:par>
                              <p:par>
                                <p:cTn fill="hold" nodeType="withEffect" presetClass="entr" presetID="10" presetSubtype="0">
                                  <p:stCondLst>
                                    <p:cond delay="0"/>
                                  </p:stCondLst>
                                  <p:childTnLst>
                                    <p:set>
                                      <p:cBhvr>
                                        <p:cTn dur="1" fill="hold">
                                          <p:stCondLst>
                                            <p:cond delay="0"/>
                                          </p:stCondLst>
                                        </p:cTn>
                                        <p:tgtEl>
                                          <p:spTgt spid="3710"/>
                                        </p:tgtEl>
                                        <p:attrNameLst>
                                          <p:attrName>style.visibility</p:attrName>
                                        </p:attrNameLst>
                                      </p:cBhvr>
                                      <p:to>
                                        <p:strVal val="visible"/>
                                      </p:to>
                                    </p:set>
                                    <p:animEffect filter="fade" transition="in">
                                      <p:cBhvr>
                                        <p:cTn dur="1000"/>
                                        <p:tgtEl>
                                          <p:spTgt spid="3710"/>
                                        </p:tgtEl>
                                      </p:cBhvr>
                                    </p:animEffect>
                                  </p:childTnLst>
                                </p:cTn>
                              </p:par>
                              <p:par>
                                <p:cTn fill="hold" nodeType="withEffect" presetClass="entr" presetID="10" presetSubtype="0">
                                  <p:stCondLst>
                                    <p:cond delay="0"/>
                                  </p:stCondLst>
                                  <p:childTnLst>
                                    <p:set>
                                      <p:cBhvr>
                                        <p:cTn dur="1" fill="hold">
                                          <p:stCondLst>
                                            <p:cond delay="0"/>
                                          </p:stCondLst>
                                        </p:cTn>
                                        <p:tgtEl>
                                          <p:spTgt spid="3709"/>
                                        </p:tgtEl>
                                        <p:attrNameLst>
                                          <p:attrName>style.visibility</p:attrName>
                                        </p:attrNameLst>
                                      </p:cBhvr>
                                      <p:to>
                                        <p:strVal val="visible"/>
                                      </p:to>
                                    </p:set>
                                    <p:animEffect filter="fade" transition="in">
                                      <p:cBhvr>
                                        <p:cTn dur="1000"/>
                                        <p:tgtEl>
                                          <p:spTgt spid="3709"/>
                                        </p:tgtEl>
                                      </p:cBhvr>
                                    </p:animEffect>
                                  </p:childTnLst>
                                </p:cTn>
                              </p:par>
                            </p:childTnLst>
                          </p:cTn>
                        </p:par>
                        <p:par>
                          <p:cTn fill="hold">
                            <p:stCondLst>
                              <p:cond delay="1500"/>
                            </p:stCondLst>
                            <p:childTnLst>
                              <p:par>
                                <p:cTn fill="hold" nodeType="afterEffect" presetClass="entr" presetID="10" presetSubtype="0">
                                  <p:stCondLst>
                                    <p:cond delay="0"/>
                                  </p:stCondLst>
                                  <p:childTnLst>
                                    <p:set>
                                      <p:cBhvr>
                                        <p:cTn dur="1" fill="hold">
                                          <p:stCondLst>
                                            <p:cond delay="0"/>
                                          </p:stCondLst>
                                        </p:cTn>
                                        <p:tgtEl>
                                          <p:spTgt spid="3867"/>
                                        </p:tgtEl>
                                        <p:attrNameLst>
                                          <p:attrName>style.visibility</p:attrName>
                                        </p:attrNameLst>
                                      </p:cBhvr>
                                      <p:to>
                                        <p:strVal val="visible"/>
                                      </p:to>
                                    </p:set>
                                    <p:animEffect filter="fade" transition="in">
                                      <p:cBhvr>
                                        <p:cTn dur="1000"/>
                                        <p:tgtEl>
                                          <p:spTgt spid="3867"/>
                                        </p:tgtEl>
                                      </p:cBhvr>
                                    </p:animEffect>
                                  </p:childTnLst>
                                </p:cTn>
                              </p:par>
                              <p:par>
                                <p:cTn fill="hold" nodeType="withEffect" presetClass="exit" presetID="10" presetSubtype="0">
                                  <p:stCondLst>
                                    <p:cond delay="0"/>
                                  </p:stCondLst>
                                  <p:childTnLst>
                                    <p:animEffect filter="fade" transition="out">
                                      <p:cBhvr>
                                        <p:cTn dur="500"/>
                                        <p:tgtEl>
                                          <p:spTgt spid="3868"/>
                                        </p:tgtEl>
                                      </p:cBhvr>
                                    </p:animEffect>
                                    <p:set>
                                      <p:cBhvr>
                                        <p:cTn dur="1" fill="hold">
                                          <p:stCondLst>
                                            <p:cond delay="500"/>
                                          </p:stCondLst>
                                        </p:cTn>
                                        <p:tgtEl>
                                          <p:spTgt spid="3868"/>
                                        </p:tgtEl>
                                        <p:attrNameLst>
                                          <p:attrName>style.visibility</p:attrName>
                                        </p:attrNameLst>
                                      </p:cBhvr>
                                      <p:to>
                                        <p:strVal val="hidden"/>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817"/>
                                        </p:tgtEl>
                                        <p:attrNameLst>
                                          <p:attrName>style.visibility</p:attrName>
                                        </p:attrNameLst>
                                      </p:cBhvr>
                                      <p:to>
                                        <p:strVal val="visible"/>
                                      </p:to>
                                    </p:set>
                                    <p:animEffect filter="fade" transition="in">
                                      <p:cBhvr>
                                        <p:cTn dur="500"/>
                                        <p:tgtEl>
                                          <p:spTgt spid="3817"/>
                                        </p:tgtEl>
                                      </p:cBhvr>
                                    </p:animEffect>
                                  </p:childTnLst>
                                </p:cTn>
                              </p:par>
                              <p:par>
                                <p:cTn fill="hold" nodeType="withEffect" presetClass="entr" presetID="10" presetSubtype="0">
                                  <p:stCondLst>
                                    <p:cond delay="0"/>
                                  </p:stCondLst>
                                  <p:childTnLst>
                                    <p:set>
                                      <p:cBhvr>
                                        <p:cTn dur="1" fill="hold">
                                          <p:stCondLst>
                                            <p:cond delay="0"/>
                                          </p:stCondLst>
                                        </p:cTn>
                                        <p:tgtEl>
                                          <p:spTgt spid="3814"/>
                                        </p:tgtEl>
                                        <p:attrNameLst>
                                          <p:attrName>style.visibility</p:attrName>
                                        </p:attrNameLst>
                                      </p:cBhvr>
                                      <p:to>
                                        <p:strVal val="visible"/>
                                      </p:to>
                                    </p:set>
                                    <p:animEffect filter="fade" transition="in">
                                      <p:cBhvr>
                                        <p:cTn dur="500"/>
                                        <p:tgtEl>
                                          <p:spTgt spid="3814"/>
                                        </p:tgtEl>
                                      </p:cBhvr>
                                    </p:animEffect>
                                  </p:childTnLst>
                                </p:cTn>
                              </p:par>
                            </p:childTnLst>
                          </p:cTn>
                        </p:par>
                        <p:par>
                          <p:cTn fill="hold">
                            <p:stCondLst>
                              <p:cond delay="500"/>
                            </p:stCondLst>
                            <p:childTnLst>
                              <p:par>
                                <p:cTn fill="hold" nodeType="afterEffect" presetClass="exit" presetID="10" presetSubtype="0">
                                  <p:stCondLst>
                                    <p:cond delay="0"/>
                                  </p:stCondLst>
                                  <p:childTnLst>
                                    <p:animEffect filter="fade" transition="out">
                                      <p:cBhvr>
                                        <p:cTn dur="1000"/>
                                        <p:tgtEl>
                                          <p:spTgt spid="3860"/>
                                        </p:tgtEl>
                                      </p:cBhvr>
                                    </p:animEffect>
                                    <p:set>
                                      <p:cBhvr>
                                        <p:cTn dur="1" fill="hold">
                                          <p:stCondLst>
                                            <p:cond delay="1000"/>
                                          </p:stCondLst>
                                        </p:cTn>
                                        <p:tgtEl>
                                          <p:spTgt spid="3860"/>
                                        </p:tgtEl>
                                        <p:attrNameLst>
                                          <p:attrName>style.visibility</p:attrName>
                                        </p:attrNameLst>
                                      </p:cBhvr>
                                      <p:to>
                                        <p:strVal val="hidden"/>
                                      </p:to>
                                    </p:set>
                                  </p:childTnLst>
                                </p:cTn>
                              </p:par>
                              <p:par>
                                <p:cTn fill="hold" nodeType="withEffect" presetClass="entr" presetID="10" presetSubtype="0">
                                  <p:stCondLst>
                                    <p:cond delay="0"/>
                                  </p:stCondLst>
                                  <p:childTnLst>
                                    <p:set>
                                      <p:cBhvr>
                                        <p:cTn dur="1" fill="hold">
                                          <p:stCondLst>
                                            <p:cond delay="0"/>
                                          </p:stCondLst>
                                        </p:cTn>
                                        <p:tgtEl>
                                          <p:spTgt spid="3819"/>
                                        </p:tgtEl>
                                        <p:attrNameLst>
                                          <p:attrName>style.visibility</p:attrName>
                                        </p:attrNameLst>
                                      </p:cBhvr>
                                      <p:to>
                                        <p:strVal val="visible"/>
                                      </p:to>
                                    </p:set>
                                    <p:animEffect filter="fade" transition="in">
                                      <p:cBhvr>
                                        <p:cTn dur="1000"/>
                                        <p:tgtEl>
                                          <p:spTgt spid="3819"/>
                                        </p:tgtEl>
                                      </p:cBhvr>
                                    </p:animEffect>
                                  </p:childTnLst>
                                </p:cTn>
                              </p:par>
                              <p:par>
                                <p:cTn fill="hold" nodeType="withEffect" presetClass="entr" presetID="10" presetSubtype="0">
                                  <p:stCondLst>
                                    <p:cond delay="0"/>
                                  </p:stCondLst>
                                  <p:childTnLst>
                                    <p:set>
                                      <p:cBhvr>
                                        <p:cTn dur="1" fill="hold">
                                          <p:stCondLst>
                                            <p:cond delay="0"/>
                                          </p:stCondLst>
                                        </p:cTn>
                                        <p:tgtEl>
                                          <p:spTgt spid="3820"/>
                                        </p:tgtEl>
                                        <p:attrNameLst>
                                          <p:attrName>style.visibility</p:attrName>
                                        </p:attrNameLst>
                                      </p:cBhvr>
                                      <p:to>
                                        <p:strVal val="visible"/>
                                      </p:to>
                                    </p:set>
                                    <p:animEffect filter="fade" transition="in">
                                      <p:cBhvr>
                                        <p:cTn dur="1000"/>
                                        <p:tgtEl>
                                          <p:spTgt spid="3820"/>
                                        </p:tgtEl>
                                      </p:cBhvr>
                                    </p:animEffect>
                                  </p:childTnLst>
                                </p:cTn>
                              </p:par>
                              <p:par>
                                <p:cTn fill="hold" nodeType="withEffect" presetClass="entr" presetID="10" presetSubtype="0">
                                  <p:stCondLst>
                                    <p:cond delay="0"/>
                                  </p:stCondLst>
                                  <p:childTnLst>
                                    <p:set>
                                      <p:cBhvr>
                                        <p:cTn dur="1" fill="hold">
                                          <p:stCondLst>
                                            <p:cond delay="0"/>
                                          </p:stCondLst>
                                        </p:cTn>
                                        <p:tgtEl>
                                          <p:spTgt spid="3818"/>
                                        </p:tgtEl>
                                        <p:attrNameLst>
                                          <p:attrName>style.visibility</p:attrName>
                                        </p:attrNameLst>
                                      </p:cBhvr>
                                      <p:to>
                                        <p:strVal val="visible"/>
                                      </p:to>
                                    </p:set>
                                    <p:animEffect filter="fade" transition="in">
                                      <p:cBhvr>
                                        <p:cTn dur="1000"/>
                                        <p:tgtEl>
                                          <p:spTgt spid="381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861"/>
                                        </p:tgtEl>
                                        <p:attrNameLst>
                                          <p:attrName>style.visibility</p:attrName>
                                        </p:attrNameLst>
                                      </p:cBhvr>
                                      <p:to>
                                        <p:strVal val="visible"/>
                                      </p:to>
                                    </p:set>
                                    <p:animEffect filter="fade" transition="in">
                                      <p:cBhvr>
                                        <p:cTn dur="1000"/>
                                        <p:tgtEl>
                                          <p:spTgt spid="3861"/>
                                        </p:tgtEl>
                                      </p:cBhvr>
                                    </p:animEffect>
                                  </p:childTnLst>
                                </p:cTn>
                              </p:par>
                              <p:par>
                                <p:cTn fill="hold" nodeType="withEffect" presetClass="entr" presetID="10" presetSubtype="0">
                                  <p:stCondLst>
                                    <p:cond delay="0"/>
                                  </p:stCondLst>
                                  <p:childTnLst>
                                    <p:set>
                                      <p:cBhvr>
                                        <p:cTn dur="1" fill="hold">
                                          <p:stCondLst>
                                            <p:cond delay="0"/>
                                          </p:stCondLst>
                                        </p:cTn>
                                        <p:tgtEl>
                                          <p:spTgt spid="3862"/>
                                        </p:tgtEl>
                                        <p:attrNameLst>
                                          <p:attrName>style.visibility</p:attrName>
                                        </p:attrNameLst>
                                      </p:cBhvr>
                                      <p:to>
                                        <p:strVal val="visible"/>
                                      </p:to>
                                    </p:set>
                                    <p:animEffect filter="fade" transition="in">
                                      <p:cBhvr>
                                        <p:cTn dur="1000"/>
                                        <p:tgtEl>
                                          <p:spTgt spid="386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628"/>
                                        </p:tgtEl>
                                        <p:attrNameLst>
                                          <p:attrName>style.visibility</p:attrName>
                                        </p:attrNameLst>
                                      </p:cBhvr>
                                      <p:to>
                                        <p:strVal val="visible"/>
                                      </p:to>
                                    </p:set>
                                    <p:animEffect filter="fade" transition="in">
                                      <p:cBhvr>
                                        <p:cTn dur="500"/>
                                        <p:tgtEl>
                                          <p:spTgt spid="362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2F2F2"/>
        </a:solidFill>
      </p:bgPr>
    </p:bg>
    <p:spTree>
      <p:nvGrpSpPr>
        <p:cNvPr id="3873" name="Shape 3873"/>
        <p:cNvGrpSpPr/>
        <p:nvPr/>
      </p:nvGrpSpPr>
      <p:grpSpPr>
        <a:xfrm>
          <a:off x="0" y="0"/>
          <a:ext cx="0" cy="0"/>
          <a:chOff x="0" y="0"/>
          <a:chExt cx="0" cy="0"/>
        </a:xfrm>
      </p:grpSpPr>
      <p:grpSp>
        <p:nvGrpSpPr>
          <p:cNvPr id="3874" name="Google Shape;3874;p81"/>
          <p:cNvGrpSpPr/>
          <p:nvPr/>
        </p:nvGrpSpPr>
        <p:grpSpPr>
          <a:xfrm>
            <a:off x="1284578" y="2130924"/>
            <a:ext cx="10188966" cy="756000"/>
            <a:chOff x="719091" y="1719857"/>
            <a:chExt cx="9543493" cy="785865"/>
          </a:xfrm>
        </p:grpSpPr>
        <p:sp>
          <p:nvSpPr>
            <p:cNvPr id="3875" name="Google Shape;3875;p81"/>
            <p:cNvSpPr txBox="1"/>
            <p:nvPr/>
          </p:nvSpPr>
          <p:spPr>
            <a:xfrm>
              <a:off x="1460917" y="1719860"/>
              <a:ext cx="5648774" cy="785862"/>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139700" marR="0" rtl="0" algn="l">
                <a:spcBef>
                  <a:spcPts val="0"/>
                </a:spcBef>
                <a:spcAft>
                  <a:spcPts val="0"/>
                </a:spcAft>
                <a:buNone/>
              </a:pPr>
              <a:r>
                <a:rPr lang="en-US" sz="2000">
                  <a:solidFill>
                    <a:schemeClr val="dk1"/>
                  </a:solidFill>
                  <a:latin typeface="Calibri"/>
                  <a:ea typeface="Calibri"/>
                  <a:cs typeface="Calibri"/>
                  <a:sym typeface="Calibri"/>
                </a:rPr>
                <a:t>3월 31일까지 사용된 이연 광고비를 회계 처리함.</a:t>
              </a:r>
              <a:endParaRPr sz="2000">
                <a:solidFill>
                  <a:schemeClr val="dk1"/>
                </a:solidFill>
                <a:latin typeface="Avenir"/>
                <a:ea typeface="Avenir"/>
                <a:cs typeface="Avenir"/>
                <a:sym typeface="Avenir"/>
              </a:endParaRPr>
            </a:p>
          </p:txBody>
        </p:sp>
        <p:sp>
          <p:nvSpPr>
            <p:cNvPr id="3876" name="Google Shape;3876;p81"/>
            <p:cNvSpPr txBox="1"/>
            <p:nvPr/>
          </p:nvSpPr>
          <p:spPr>
            <a:xfrm>
              <a:off x="7109689" y="1719857"/>
              <a:ext cx="1576447" cy="785864"/>
            </a:xfrm>
            <a:prstGeom prst="rect">
              <a:avLst/>
            </a:prstGeom>
            <a:solidFill>
              <a:srgbClr val="E1EFD8"/>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Advertising</a:t>
              </a:r>
              <a:endParaRPr/>
            </a:p>
            <a:p>
              <a:pPr indent="0" lvl="0" marL="0" marR="0" rtl="0" algn="ctr">
                <a:lnSpc>
                  <a:spcPct val="90000"/>
                </a:lnSpc>
                <a:spcBef>
                  <a:spcPts val="0"/>
                </a:spcBef>
                <a:spcAft>
                  <a:spcPts val="0"/>
                </a:spcAft>
                <a:buNone/>
              </a:pPr>
              <a:r>
                <a:rPr b="1" lang="en-US" sz="1800">
                  <a:solidFill>
                    <a:srgbClr val="BFBFBF"/>
                  </a:solidFill>
                  <a:latin typeface="Avenir"/>
                  <a:ea typeface="Avenir"/>
                  <a:cs typeface="Avenir"/>
                  <a:sym typeface="Avenir"/>
                </a:rPr>
                <a:t>200</a:t>
              </a:r>
              <a:endParaRPr/>
            </a:p>
          </p:txBody>
        </p:sp>
        <p:sp>
          <p:nvSpPr>
            <p:cNvPr id="3877" name="Google Shape;3877;p81"/>
            <p:cNvSpPr txBox="1"/>
            <p:nvPr/>
          </p:nvSpPr>
          <p:spPr>
            <a:xfrm>
              <a:off x="8686137" y="1719857"/>
              <a:ext cx="1576447" cy="785864"/>
            </a:xfrm>
            <a:prstGeom prst="rect">
              <a:avLst/>
            </a:prstGeom>
            <a:solidFill>
              <a:srgbClr val="FBE4D4"/>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b="1" lang="en-US" sz="1400">
                  <a:solidFill>
                    <a:srgbClr val="BFBFBF"/>
                  </a:solidFill>
                  <a:latin typeface="Avenir"/>
                  <a:ea typeface="Avenir"/>
                  <a:cs typeface="Avenir"/>
                  <a:sym typeface="Avenir"/>
                </a:rPr>
                <a:t>Deferred expenses</a:t>
              </a:r>
              <a:endParaRPr b="1" sz="1600">
                <a:solidFill>
                  <a:srgbClr val="BFBFBF"/>
                </a:solidFill>
                <a:latin typeface="Avenir"/>
                <a:ea typeface="Avenir"/>
                <a:cs typeface="Avenir"/>
                <a:sym typeface="Avenir"/>
              </a:endParaRPr>
            </a:p>
            <a:p>
              <a:pPr indent="0" lvl="0" marL="0" marR="0" rtl="0" algn="ctr">
                <a:lnSpc>
                  <a:spcPct val="90000"/>
                </a:lnSpc>
                <a:spcBef>
                  <a:spcPts val="0"/>
                </a:spcBef>
                <a:spcAft>
                  <a:spcPts val="0"/>
                </a:spcAft>
                <a:buNone/>
              </a:pPr>
              <a:r>
                <a:rPr b="1" lang="en-US" sz="1800">
                  <a:solidFill>
                    <a:srgbClr val="BFBFBF"/>
                  </a:solidFill>
                  <a:latin typeface="Avenir"/>
                  <a:ea typeface="Avenir"/>
                  <a:cs typeface="Avenir"/>
                  <a:sym typeface="Avenir"/>
                </a:rPr>
                <a:t>200</a:t>
              </a:r>
              <a:endParaRPr/>
            </a:p>
          </p:txBody>
        </p:sp>
        <p:sp>
          <p:nvSpPr>
            <p:cNvPr id="3878" name="Google Shape;3878;p81"/>
            <p:cNvSpPr txBox="1"/>
            <p:nvPr/>
          </p:nvSpPr>
          <p:spPr>
            <a:xfrm>
              <a:off x="719091" y="1719857"/>
              <a:ext cx="741826" cy="785864"/>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15</a:t>
              </a:r>
              <a:endParaRPr/>
            </a:p>
          </p:txBody>
        </p:sp>
      </p:grpSp>
      <p:sp>
        <p:nvSpPr>
          <p:cNvPr id="3879" name="Google Shape;3879;p81"/>
          <p:cNvSpPr txBox="1"/>
          <p:nvPr/>
        </p:nvSpPr>
        <p:spPr>
          <a:xfrm>
            <a:off x="4187006" y="284371"/>
            <a:ext cx="3629520"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sp>
        <p:nvSpPr>
          <p:cNvPr id="3880" name="Google Shape;3880;p81"/>
          <p:cNvSpPr txBox="1"/>
          <p:nvPr/>
        </p:nvSpPr>
        <p:spPr>
          <a:xfrm>
            <a:off x="8107403" y="2130923"/>
            <a:ext cx="1683070" cy="756000"/>
          </a:xfrm>
          <a:prstGeom prst="rect">
            <a:avLst/>
          </a:prstGeom>
          <a:solidFill>
            <a:srgbClr val="548135"/>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rgbClr val="548135"/>
                </a:solidFill>
                <a:latin typeface="Avenir"/>
                <a:ea typeface="Avenir"/>
                <a:cs typeface="Avenir"/>
                <a:sym typeface="Avenir"/>
              </a:rPr>
              <a:t>200</a:t>
            </a:r>
            <a:endParaRPr/>
          </a:p>
        </p:txBody>
      </p:sp>
      <p:sp>
        <p:nvSpPr>
          <p:cNvPr id="3881" name="Google Shape;3881;p81"/>
          <p:cNvSpPr txBox="1"/>
          <p:nvPr/>
        </p:nvSpPr>
        <p:spPr>
          <a:xfrm>
            <a:off x="9790473" y="2130922"/>
            <a:ext cx="1683068" cy="756000"/>
          </a:xfrm>
          <a:prstGeom prst="rect">
            <a:avLst/>
          </a:prstGeom>
          <a:solidFill>
            <a:schemeClr val="accent2"/>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accent2"/>
                </a:solidFill>
                <a:latin typeface="Avenir"/>
                <a:ea typeface="Avenir"/>
                <a:cs typeface="Avenir"/>
                <a:sym typeface="Avenir"/>
              </a:rPr>
              <a:t>200</a:t>
            </a:r>
            <a:endParaRPr/>
          </a:p>
        </p:txBody>
      </p:sp>
      <p:cxnSp>
        <p:nvCxnSpPr>
          <p:cNvPr id="3882" name="Google Shape;3882;p81"/>
          <p:cNvCxnSpPr/>
          <p:nvPr/>
        </p:nvCxnSpPr>
        <p:spPr>
          <a:xfrm>
            <a:off x="4316098" y="717845"/>
            <a:ext cx="3375212" cy="0"/>
          </a:xfrm>
          <a:prstGeom prst="straightConnector1">
            <a:avLst/>
          </a:prstGeom>
          <a:noFill/>
          <a:ln cap="flat" cmpd="sng" w="28575">
            <a:solidFill>
              <a:schemeClr val="accent1"/>
            </a:solidFill>
            <a:prstDash val="dot"/>
            <a:miter lim="800000"/>
            <a:headEnd len="sm" w="sm" type="none"/>
            <a:tailEnd len="sm" w="sm" type="none"/>
          </a:ln>
        </p:spPr>
      </p:cxnSp>
      <p:sp>
        <p:nvSpPr>
          <p:cNvPr id="3883" name="Google Shape;3883;p81"/>
          <p:cNvSpPr/>
          <p:nvPr/>
        </p:nvSpPr>
        <p:spPr>
          <a:xfrm>
            <a:off x="1284578" y="1520543"/>
            <a:ext cx="2024679" cy="42011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2130">
                <a:solidFill>
                  <a:schemeClr val="dk1"/>
                </a:solidFill>
                <a:latin typeface="Avenir"/>
                <a:ea typeface="Avenir"/>
                <a:cs typeface="Avenir"/>
                <a:sym typeface="Avenir"/>
              </a:rPr>
              <a:t>31 March</a:t>
            </a:r>
            <a:endParaRPr sz="2130">
              <a:solidFill>
                <a:schemeClr val="dk1"/>
              </a:solidFill>
              <a:latin typeface="Avenir"/>
              <a:ea typeface="Avenir"/>
              <a:cs typeface="Avenir"/>
              <a:sym typeface="Avenir"/>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8" name="Shape 3888"/>
        <p:cNvGrpSpPr/>
        <p:nvPr/>
      </p:nvGrpSpPr>
      <p:grpSpPr>
        <a:xfrm>
          <a:off x="0" y="0"/>
          <a:ext cx="0" cy="0"/>
          <a:chOff x="0" y="0"/>
          <a:chExt cx="0" cy="0"/>
        </a:xfrm>
      </p:grpSpPr>
      <p:sp>
        <p:nvSpPr>
          <p:cNvPr id="3889" name="Google Shape;3889;p82"/>
          <p:cNvSpPr txBox="1"/>
          <p:nvPr/>
        </p:nvSpPr>
        <p:spPr>
          <a:xfrm>
            <a:off x="4187006" y="133386"/>
            <a:ext cx="3629520"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cxnSp>
        <p:nvCxnSpPr>
          <p:cNvPr id="3890" name="Google Shape;3890;p82"/>
          <p:cNvCxnSpPr/>
          <p:nvPr/>
        </p:nvCxnSpPr>
        <p:spPr>
          <a:xfrm>
            <a:off x="4316098" y="566860"/>
            <a:ext cx="3375212" cy="0"/>
          </a:xfrm>
          <a:prstGeom prst="straightConnector1">
            <a:avLst/>
          </a:prstGeom>
          <a:noFill/>
          <a:ln cap="flat" cmpd="sng" w="28575">
            <a:solidFill>
              <a:schemeClr val="accent1"/>
            </a:solidFill>
            <a:prstDash val="dot"/>
            <a:miter lim="800000"/>
            <a:headEnd len="sm" w="sm" type="none"/>
            <a:tailEnd len="sm" w="sm" type="none"/>
          </a:ln>
        </p:spPr>
      </p:cxnSp>
      <p:grpSp>
        <p:nvGrpSpPr>
          <p:cNvPr id="3891" name="Google Shape;3891;p82"/>
          <p:cNvGrpSpPr/>
          <p:nvPr/>
        </p:nvGrpSpPr>
        <p:grpSpPr>
          <a:xfrm>
            <a:off x="492858" y="773769"/>
            <a:ext cx="11291146" cy="5895963"/>
            <a:chOff x="492858" y="773769"/>
            <a:chExt cx="11291146" cy="5895963"/>
          </a:xfrm>
        </p:grpSpPr>
        <p:sp>
          <p:nvSpPr>
            <p:cNvPr id="3892" name="Google Shape;3892;p82"/>
            <p:cNvSpPr txBox="1"/>
            <p:nvPr/>
          </p:nvSpPr>
          <p:spPr>
            <a:xfrm>
              <a:off x="6227788" y="2623662"/>
              <a:ext cx="5556216" cy="1692844"/>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Equity</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3893" name="Google Shape;3893;p82"/>
            <p:cNvSpPr txBox="1"/>
            <p:nvPr/>
          </p:nvSpPr>
          <p:spPr>
            <a:xfrm>
              <a:off x="6410845" y="3135649"/>
              <a:ext cx="1544844" cy="770509"/>
            </a:xfrm>
            <a:prstGeom prst="rect">
              <a:avLst/>
            </a:prstGeom>
            <a:noFill/>
            <a:ln cap="flat" cmpd="sng" w="5715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ctr">
                <a:lnSpc>
                  <a:spcPct val="120000"/>
                </a:lnSpc>
                <a:spcBef>
                  <a:spcPts val="0"/>
                </a:spcBef>
                <a:spcAft>
                  <a:spcPts val="0"/>
                </a:spcAft>
                <a:buNone/>
              </a:pPr>
              <a:r>
                <a:rPr b="1" lang="en-US" sz="2200">
                  <a:solidFill>
                    <a:srgbClr val="942093"/>
                  </a:solidFill>
                  <a:latin typeface="Avenir"/>
                  <a:ea typeface="Avenir"/>
                  <a:cs typeface="Avenir"/>
                  <a:sym typeface="Avenir"/>
                </a:rPr>
                <a:t>Profit</a:t>
              </a:r>
              <a:endParaRPr/>
            </a:p>
          </p:txBody>
        </p:sp>
        <p:sp>
          <p:nvSpPr>
            <p:cNvPr id="3894" name="Google Shape;3894;p82"/>
            <p:cNvSpPr txBox="1"/>
            <p:nvPr/>
          </p:nvSpPr>
          <p:spPr>
            <a:xfrm>
              <a:off x="6227788" y="773769"/>
              <a:ext cx="5556216" cy="1702674"/>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Liabilities</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grpSp>
          <p:nvGrpSpPr>
            <p:cNvPr id="3895" name="Google Shape;3895;p82"/>
            <p:cNvGrpSpPr/>
            <p:nvPr/>
          </p:nvGrpSpPr>
          <p:grpSpPr>
            <a:xfrm>
              <a:off x="492858" y="3906158"/>
              <a:ext cx="11291146" cy="2763574"/>
              <a:chOff x="1354633" y="4399872"/>
              <a:chExt cx="9550931" cy="2121952"/>
            </a:xfrm>
          </p:grpSpPr>
          <p:sp>
            <p:nvSpPr>
              <p:cNvPr id="3896" name="Google Shape;3896;p82"/>
              <p:cNvSpPr txBox="1"/>
              <p:nvPr/>
            </p:nvSpPr>
            <p:spPr>
              <a:xfrm>
                <a:off x="1354633" y="4813260"/>
                <a:ext cx="9550931" cy="1708564"/>
              </a:xfrm>
              <a:prstGeom prst="rect">
                <a:avLst/>
              </a:prstGeom>
              <a:solidFill>
                <a:srgbClr val="FCECFB"/>
              </a:solidFill>
              <a:ln cap="flat" cmpd="sng" w="7620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b="1" lang="en-US" sz="2800">
                    <a:solidFill>
                      <a:schemeClr val="dk1"/>
                    </a:solidFill>
                    <a:latin typeface="Avenir"/>
                    <a:ea typeface="Avenir"/>
                    <a:cs typeface="Avenir"/>
                    <a:sym typeface="Avenir"/>
                  </a:rPr>
                  <a:t> </a:t>
                </a:r>
                <a:endParaRPr/>
              </a:p>
            </p:txBody>
          </p:sp>
          <p:sp>
            <p:nvSpPr>
              <p:cNvPr id="3897" name="Google Shape;3897;p82"/>
              <p:cNvSpPr txBox="1"/>
              <p:nvPr/>
            </p:nvSpPr>
            <p:spPr>
              <a:xfrm>
                <a:off x="6199863" y="4921166"/>
                <a:ext cx="4576976" cy="1495361"/>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Income</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3898" name="Google Shape;3898;p82"/>
              <p:cNvSpPr txBox="1"/>
              <p:nvPr/>
            </p:nvSpPr>
            <p:spPr>
              <a:xfrm>
                <a:off x="1481256" y="4921166"/>
                <a:ext cx="4552539" cy="1495361"/>
              </a:xfrm>
              <a:prstGeom prst="rect">
                <a:avLst/>
              </a:prstGeom>
              <a:solidFill>
                <a:srgbClr val="E1EFD8"/>
              </a:solid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None/>
                </a:pPr>
                <a:r>
                  <a:rPr b="1" lang="en-US" sz="2800">
                    <a:solidFill>
                      <a:srgbClr val="E1EFD8"/>
                    </a:solidFill>
                    <a:latin typeface="Avenir"/>
                    <a:ea typeface="Avenir"/>
                    <a:cs typeface="Avenir"/>
                    <a:sym typeface="Avenir"/>
                  </a:rPr>
                  <a:t>_</a:t>
                </a:r>
                <a:r>
                  <a:rPr b="1" lang="en-US" sz="2000">
                    <a:solidFill>
                      <a:schemeClr val="dk1"/>
                    </a:solidFill>
                    <a:latin typeface="Avenir"/>
                    <a:ea typeface="Avenir"/>
                    <a:cs typeface="Avenir"/>
                    <a:sym typeface="Avenir"/>
                  </a:rPr>
                  <a:t>Expenses</a:t>
                </a:r>
                <a:endParaRPr b="1" sz="2800">
                  <a:solidFill>
                    <a:schemeClr val="dk1"/>
                  </a:solidFill>
                  <a:latin typeface="Avenir"/>
                  <a:ea typeface="Avenir"/>
                  <a:cs typeface="Avenir"/>
                  <a:sym typeface="Avenir"/>
                </a:endParaRPr>
              </a:p>
            </p:txBody>
          </p:sp>
          <p:cxnSp>
            <p:nvCxnSpPr>
              <p:cNvPr id="3899" name="Google Shape;3899;p82"/>
              <p:cNvCxnSpPr>
                <a:stCxn id="3893" idx="2"/>
              </p:cNvCxnSpPr>
              <p:nvPr/>
            </p:nvCxnSpPr>
            <p:spPr>
              <a:xfrm>
                <a:off x="7013902" y="4399872"/>
                <a:ext cx="7500" cy="434700"/>
              </a:xfrm>
              <a:prstGeom prst="straightConnector1">
                <a:avLst/>
              </a:prstGeom>
              <a:noFill/>
              <a:ln cap="flat" cmpd="sng" w="76200">
                <a:solidFill>
                  <a:srgbClr val="942093"/>
                </a:solidFill>
                <a:prstDash val="solid"/>
                <a:miter lim="800000"/>
                <a:headEnd len="sm" w="sm" type="none"/>
                <a:tailEnd len="sm" w="sm" type="none"/>
              </a:ln>
            </p:spPr>
          </p:cxnSp>
        </p:grpSp>
        <p:sp>
          <p:nvSpPr>
            <p:cNvPr id="3900" name="Google Shape;3900;p82"/>
            <p:cNvSpPr txBox="1"/>
            <p:nvPr/>
          </p:nvSpPr>
          <p:spPr>
            <a:xfrm>
              <a:off x="492858" y="773769"/>
              <a:ext cx="5544457" cy="3542737"/>
            </a:xfrm>
            <a:prstGeom prst="rect">
              <a:avLst/>
            </a:prstGeom>
            <a:solidFill>
              <a:srgbClr val="E1EFD8"/>
            </a:solid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None/>
              </a:pPr>
              <a:r>
                <a:rPr b="1" lang="en-US" sz="2800">
                  <a:solidFill>
                    <a:srgbClr val="E1EFD8"/>
                  </a:solidFill>
                  <a:latin typeface="Avenir"/>
                  <a:ea typeface="Avenir"/>
                  <a:cs typeface="Avenir"/>
                  <a:sym typeface="Avenir"/>
                </a:rPr>
                <a:t>_</a:t>
              </a:r>
              <a:r>
                <a:rPr b="1" lang="en-US" sz="2000">
                  <a:solidFill>
                    <a:schemeClr val="dk1"/>
                  </a:solidFill>
                  <a:latin typeface="Avenir"/>
                  <a:ea typeface="Avenir"/>
                  <a:cs typeface="Avenir"/>
                  <a:sym typeface="Avenir"/>
                </a:rPr>
                <a:t>Assets</a:t>
              </a:r>
              <a:endParaRPr b="1" sz="2800">
                <a:solidFill>
                  <a:schemeClr val="dk1"/>
                </a:solidFill>
                <a:latin typeface="Avenir"/>
                <a:ea typeface="Avenir"/>
                <a:cs typeface="Avenir"/>
                <a:sym typeface="Avenir"/>
              </a:endParaRPr>
            </a:p>
          </p:txBody>
        </p:sp>
      </p:grpSp>
      <p:grpSp>
        <p:nvGrpSpPr>
          <p:cNvPr id="3901" name="Google Shape;3901;p82"/>
          <p:cNvGrpSpPr/>
          <p:nvPr/>
        </p:nvGrpSpPr>
        <p:grpSpPr>
          <a:xfrm>
            <a:off x="4248000" y="2850495"/>
            <a:ext cx="1620000" cy="1116000"/>
            <a:chOff x="3810000" y="2381250"/>
            <a:chExt cx="1390650" cy="1230631"/>
          </a:xfrm>
        </p:grpSpPr>
        <p:sp>
          <p:nvSpPr>
            <p:cNvPr id="3902" name="Google Shape;3902;p82"/>
            <p:cNvSpPr/>
            <p:nvPr/>
          </p:nvSpPr>
          <p:spPr>
            <a:xfrm flipH="1">
              <a:off x="4505325" y="2381250"/>
              <a:ext cx="695325" cy="1230631"/>
            </a:xfrm>
            <a:prstGeom prst="corner">
              <a:avLst>
                <a:gd fmla="val 7073" name="adj1"/>
                <a:gd fmla="val 694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3903" name="Google Shape;3903;p82"/>
            <p:cNvSpPr/>
            <p:nvPr/>
          </p:nvSpPr>
          <p:spPr>
            <a:xfrm>
              <a:off x="3810000" y="2381250"/>
              <a:ext cx="695325" cy="1230631"/>
            </a:xfrm>
            <a:prstGeom prst="corner">
              <a:avLst>
                <a:gd fmla="val 7073" name="adj1"/>
                <a:gd fmla="val 694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3904" name="Google Shape;3904;p82"/>
          <p:cNvGrpSpPr/>
          <p:nvPr/>
        </p:nvGrpSpPr>
        <p:grpSpPr>
          <a:xfrm>
            <a:off x="2458800" y="1443348"/>
            <a:ext cx="1620000" cy="2515350"/>
            <a:chOff x="671549" y="1402787"/>
            <a:chExt cx="1620000" cy="2549293"/>
          </a:xfrm>
        </p:grpSpPr>
        <p:sp>
          <p:nvSpPr>
            <p:cNvPr id="3905" name="Google Shape;3905;p82"/>
            <p:cNvSpPr/>
            <p:nvPr/>
          </p:nvSpPr>
          <p:spPr>
            <a:xfrm flipH="1">
              <a:off x="1481549" y="1402787"/>
              <a:ext cx="810000" cy="2549293"/>
            </a:xfrm>
            <a:prstGeom prst="corner">
              <a:avLst>
                <a:gd fmla="val 6497" name="adj1"/>
                <a:gd fmla="val 694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1800">
                <a:solidFill>
                  <a:schemeClr val="lt1"/>
                </a:solidFill>
                <a:latin typeface="Avenir"/>
                <a:ea typeface="Avenir"/>
                <a:cs typeface="Avenir"/>
                <a:sym typeface="Avenir"/>
              </a:endParaRPr>
            </a:p>
          </p:txBody>
        </p:sp>
        <p:sp>
          <p:nvSpPr>
            <p:cNvPr id="3906" name="Google Shape;3906;p82"/>
            <p:cNvSpPr/>
            <p:nvPr/>
          </p:nvSpPr>
          <p:spPr>
            <a:xfrm>
              <a:off x="671549" y="1402787"/>
              <a:ext cx="810000" cy="2549293"/>
            </a:xfrm>
            <a:prstGeom prst="corner">
              <a:avLst>
                <a:gd fmla="val 6497" name="adj1"/>
                <a:gd fmla="val 7336"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1800">
                <a:solidFill>
                  <a:schemeClr val="lt1"/>
                </a:solidFill>
                <a:latin typeface="Avenir"/>
                <a:ea typeface="Avenir"/>
                <a:cs typeface="Avenir"/>
                <a:sym typeface="Avenir"/>
              </a:endParaRPr>
            </a:p>
          </p:txBody>
        </p:sp>
      </p:grpSp>
      <p:grpSp>
        <p:nvGrpSpPr>
          <p:cNvPr id="3907" name="Google Shape;3907;p82"/>
          <p:cNvGrpSpPr/>
          <p:nvPr/>
        </p:nvGrpSpPr>
        <p:grpSpPr>
          <a:xfrm>
            <a:off x="673200" y="3340800"/>
            <a:ext cx="1620000" cy="613673"/>
            <a:chOff x="3810000" y="2381250"/>
            <a:chExt cx="1390650" cy="1230631"/>
          </a:xfrm>
        </p:grpSpPr>
        <p:sp>
          <p:nvSpPr>
            <p:cNvPr id="3908" name="Google Shape;3908;p82"/>
            <p:cNvSpPr/>
            <p:nvPr/>
          </p:nvSpPr>
          <p:spPr>
            <a:xfrm flipH="1">
              <a:off x="4505325"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3909" name="Google Shape;3909;p82"/>
            <p:cNvSpPr/>
            <p:nvPr/>
          </p:nvSpPr>
          <p:spPr>
            <a:xfrm>
              <a:off x="3810000"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sp>
        <p:nvSpPr>
          <p:cNvPr id="3910" name="Google Shape;3910;p82"/>
          <p:cNvSpPr txBox="1"/>
          <p:nvPr/>
        </p:nvSpPr>
        <p:spPr>
          <a:xfrm>
            <a:off x="2551146" y="3924000"/>
            <a:ext cx="1393331"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Cash at bank</a:t>
            </a:r>
            <a:endParaRPr/>
          </a:p>
        </p:txBody>
      </p:sp>
      <p:sp>
        <p:nvSpPr>
          <p:cNvPr id="3911" name="Google Shape;3911;p82"/>
          <p:cNvSpPr txBox="1"/>
          <p:nvPr/>
        </p:nvSpPr>
        <p:spPr>
          <a:xfrm>
            <a:off x="4292494" y="3924000"/>
            <a:ext cx="1531779"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Inventory</a:t>
            </a:r>
            <a:endParaRPr/>
          </a:p>
        </p:txBody>
      </p:sp>
      <p:sp>
        <p:nvSpPr>
          <p:cNvPr id="3912" name="Google Shape;3912;p82"/>
          <p:cNvSpPr txBox="1"/>
          <p:nvPr/>
        </p:nvSpPr>
        <p:spPr>
          <a:xfrm>
            <a:off x="4101806" y="2478490"/>
            <a:ext cx="1911388"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Deferred expenses</a:t>
            </a:r>
            <a:endParaRPr/>
          </a:p>
        </p:txBody>
      </p:sp>
      <p:sp>
        <p:nvSpPr>
          <p:cNvPr id="3913" name="Google Shape;3913;p82"/>
          <p:cNvSpPr txBox="1"/>
          <p:nvPr/>
        </p:nvSpPr>
        <p:spPr>
          <a:xfrm>
            <a:off x="661400" y="3924000"/>
            <a:ext cx="1647322"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Equipment</a:t>
            </a:r>
            <a:endParaRPr/>
          </a:p>
        </p:txBody>
      </p:sp>
      <p:sp>
        <p:nvSpPr>
          <p:cNvPr id="3914" name="Google Shape;3914;p82"/>
          <p:cNvSpPr txBox="1"/>
          <p:nvPr/>
        </p:nvSpPr>
        <p:spPr>
          <a:xfrm>
            <a:off x="2570770" y="6192000"/>
            <a:ext cx="1585661"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Advertising</a:t>
            </a:r>
            <a:endParaRPr/>
          </a:p>
        </p:txBody>
      </p:sp>
      <p:sp>
        <p:nvSpPr>
          <p:cNvPr id="3915" name="Google Shape;3915;p82"/>
          <p:cNvSpPr txBox="1"/>
          <p:nvPr/>
        </p:nvSpPr>
        <p:spPr>
          <a:xfrm>
            <a:off x="2596439" y="5339671"/>
            <a:ext cx="1590567"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Cleaning</a:t>
            </a:r>
            <a:endParaRPr/>
          </a:p>
        </p:txBody>
      </p:sp>
      <p:sp>
        <p:nvSpPr>
          <p:cNvPr id="3916" name="Google Shape;3916;p82"/>
          <p:cNvSpPr txBox="1"/>
          <p:nvPr/>
        </p:nvSpPr>
        <p:spPr>
          <a:xfrm>
            <a:off x="4306077" y="6192000"/>
            <a:ext cx="1606417"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Cost of sales</a:t>
            </a:r>
            <a:endParaRPr/>
          </a:p>
        </p:txBody>
      </p:sp>
      <p:sp>
        <p:nvSpPr>
          <p:cNvPr id="3917" name="Google Shape;3917;p82"/>
          <p:cNvSpPr txBox="1"/>
          <p:nvPr/>
        </p:nvSpPr>
        <p:spPr>
          <a:xfrm>
            <a:off x="796515" y="6192000"/>
            <a:ext cx="1603683"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Depreciation</a:t>
            </a:r>
            <a:endParaRPr/>
          </a:p>
        </p:txBody>
      </p:sp>
      <p:sp>
        <p:nvSpPr>
          <p:cNvPr id="3918" name="Google Shape;3918;p82"/>
          <p:cNvSpPr txBox="1"/>
          <p:nvPr/>
        </p:nvSpPr>
        <p:spPr>
          <a:xfrm>
            <a:off x="6295758" y="6192000"/>
            <a:ext cx="1842786"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Revenue (sales)</a:t>
            </a:r>
            <a:endParaRPr/>
          </a:p>
        </p:txBody>
      </p:sp>
      <p:sp>
        <p:nvSpPr>
          <p:cNvPr id="3919" name="Google Shape;3919;p82"/>
          <p:cNvSpPr txBox="1"/>
          <p:nvPr/>
        </p:nvSpPr>
        <p:spPr>
          <a:xfrm>
            <a:off x="10028967" y="2029411"/>
            <a:ext cx="1593685"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Bank loan</a:t>
            </a:r>
            <a:endParaRPr/>
          </a:p>
        </p:txBody>
      </p:sp>
      <p:sp>
        <p:nvSpPr>
          <p:cNvPr id="3920" name="Google Shape;3920;p82"/>
          <p:cNvSpPr txBox="1"/>
          <p:nvPr/>
        </p:nvSpPr>
        <p:spPr>
          <a:xfrm>
            <a:off x="8114313" y="2028286"/>
            <a:ext cx="1864201"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Deferred income</a:t>
            </a:r>
            <a:endParaRPr/>
          </a:p>
        </p:txBody>
      </p:sp>
      <p:sp>
        <p:nvSpPr>
          <p:cNvPr id="3921" name="Google Shape;3921;p82"/>
          <p:cNvSpPr txBox="1"/>
          <p:nvPr/>
        </p:nvSpPr>
        <p:spPr>
          <a:xfrm>
            <a:off x="3184560" y="3614709"/>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30,000</a:t>
            </a:r>
            <a:endParaRPr/>
          </a:p>
        </p:txBody>
      </p:sp>
      <p:sp>
        <p:nvSpPr>
          <p:cNvPr id="3922" name="Google Shape;3922;p82"/>
          <p:cNvSpPr txBox="1"/>
          <p:nvPr/>
        </p:nvSpPr>
        <p:spPr>
          <a:xfrm>
            <a:off x="3184560" y="3344709"/>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20,000</a:t>
            </a:r>
            <a:endParaRPr/>
          </a:p>
        </p:txBody>
      </p:sp>
      <p:sp>
        <p:nvSpPr>
          <p:cNvPr id="3923" name="Google Shape;3923;p82"/>
          <p:cNvSpPr txBox="1"/>
          <p:nvPr/>
        </p:nvSpPr>
        <p:spPr>
          <a:xfrm>
            <a:off x="3298373" y="3074709"/>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5,000</a:t>
            </a:r>
            <a:endParaRPr/>
          </a:p>
        </p:txBody>
      </p:sp>
      <p:sp>
        <p:nvSpPr>
          <p:cNvPr id="3924" name="Google Shape;3924;p82"/>
          <p:cNvSpPr txBox="1"/>
          <p:nvPr/>
        </p:nvSpPr>
        <p:spPr>
          <a:xfrm>
            <a:off x="3469894" y="2534709"/>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700</a:t>
            </a:r>
            <a:endParaRPr/>
          </a:p>
        </p:txBody>
      </p:sp>
      <p:sp>
        <p:nvSpPr>
          <p:cNvPr id="3925" name="Google Shape;3925;p82"/>
          <p:cNvSpPr txBox="1"/>
          <p:nvPr/>
        </p:nvSpPr>
        <p:spPr>
          <a:xfrm>
            <a:off x="3583708" y="2264709"/>
            <a:ext cx="412292"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50</a:t>
            </a:r>
            <a:endParaRPr/>
          </a:p>
        </p:txBody>
      </p:sp>
      <p:sp>
        <p:nvSpPr>
          <p:cNvPr id="3926" name="Google Shape;3926;p82"/>
          <p:cNvSpPr txBox="1"/>
          <p:nvPr/>
        </p:nvSpPr>
        <p:spPr>
          <a:xfrm>
            <a:off x="3713366" y="5031445"/>
            <a:ext cx="412292"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50</a:t>
            </a:r>
            <a:endParaRPr/>
          </a:p>
        </p:txBody>
      </p:sp>
      <p:sp>
        <p:nvSpPr>
          <p:cNvPr id="3927" name="Google Shape;3927;p82"/>
          <p:cNvSpPr txBox="1"/>
          <p:nvPr/>
        </p:nvSpPr>
        <p:spPr>
          <a:xfrm>
            <a:off x="3469894" y="1724709"/>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600</a:t>
            </a:r>
            <a:endParaRPr/>
          </a:p>
        </p:txBody>
      </p:sp>
      <p:sp>
        <p:nvSpPr>
          <p:cNvPr id="3928" name="Google Shape;3928;p82"/>
          <p:cNvSpPr txBox="1"/>
          <p:nvPr/>
        </p:nvSpPr>
        <p:spPr>
          <a:xfrm>
            <a:off x="3469894" y="1454709"/>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800</a:t>
            </a:r>
            <a:endParaRPr/>
          </a:p>
        </p:txBody>
      </p:sp>
      <p:sp>
        <p:nvSpPr>
          <p:cNvPr id="3929" name="Google Shape;3929;p82"/>
          <p:cNvSpPr txBox="1"/>
          <p:nvPr/>
        </p:nvSpPr>
        <p:spPr>
          <a:xfrm>
            <a:off x="3184560" y="2804709"/>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10,000</a:t>
            </a:r>
            <a:endParaRPr/>
          </a:p>
        </p:txBody>
      </p:sp>
      <p:sp>
        <p:nvSpPr>
          <p:cNvPr id="3930" name="Google Shape;3930;p82"/>
          <p:cNvSpPr txBox="1"/>
          <p:nvPr/>
        </p:nvSpPr>
        <p:spPr>
          <a:xfrm>
            <a:off x="10026435" y="3924000"/>
            <a:ext cx="1847318"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contributed capital</a:t>
            </a:r>
            <a:endParaRPr/>
          </a:p>
        </p:txBody>
      </p:sp>
      <p:sp>
        <p:nvSpPr>
          <p:cNvPr id="3931" name="Google Shape;3931;p82"/>
          <p:cNvSpPr/>
          <p:nvPr/>
        </p:nvSpPr>
        <p:spPr>
          <a:xfrm>
            <a:off x="3011371" y="15267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932" name="Google Shape;3932;p82"/>
          <p:cNvSpPr/>
          <p:nvPr/>
        </p:nvSpPr>
        <p:spPr>
          <a:xfrm rot="10800000">
            <a:off x="3011371" y="177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933" name="Google Shape;3933;p82"/>
          <p:cNvSpPr/>
          <p:nvPr/>
        </p:nvSpPr>
        <p:spPr>
          <a:xfrm>
            <a:off x="3011371" y="23367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934" name="Google Shape;3934;p82"/>
          <p:cNvSpPr/>
          <p:nvPr/>
        </p:nvSpPr>
        <p:spPr>
          <a:xfrm rot="10800000">
            <a:off x="3011371" y="258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935" name="Google Shape;3935;p82"/>
          <p:cNvSpPr/>
          <p:nvPr/>
        </p:nvSpPr>
        <p:spPr>
          <a:xfrm>
            <a:off x="3011371" y="28767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936" name="Google Shape;3936;p82"/>
          <p:cNvSpPr/>
          <p:nvPr/>
        </p:nvSpPr>
        <p:spPr>
          <a:xfrm>
            <a:off x="3011371" y="31467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937" name="Google Shape;3937;p82"/>
          <p:cNvSpPr/>
          <p:nvPr/>
        </p:nvSpPr>
        <p:spPr>
          <a:xfrm rot="10800000">
            <a:off x="3011371" y="339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938" name="Google Shape;3938;p82"/>
          <p:cNvSpPr/>
          <p:nvPr/>
        </p:nvSpPr>
        <p:spPr>
          <a:xfrm rot="10800000">
            <a:off x="3011371" y="366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939" name="Google Shape;3939;p82"/>
          <p:cNvSpPr txBox="1"/>
          <p:nvPr/>
        </p:nvSpPr>
        <p:spPr>
          <a:xfrm>
            <a:off x="10785455" y="1718255"/>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30,000</a:t>
            </a:r>
            <a:endParaRPr/>
          </a:p>
        </p:txBody>
      </p:sp>
      <p:sp>
        <p:nvSpPr>
          <p:cNvPr id="3940" name="Google Shape;3940;p82"/>
          <p:cNvSpPr txBox="1"/>
          <p:nvPr/>
        </p:nvSpPr>
        <p:spPr>
          <a:xfrm>
            <a:off x="10776926" y="3605780"/>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20,000</a:t>
            </a:r>
            <a:endParaRPr/>
          </a:p>
        </p:txBody>
      </p:sp>
      <p:sp>
        <p:nvSpPr>
          <p:cNvPr id="3941" name="Google Shape;3941;p82"/>
          <p:cNvSpPr txBox="1"/>
          <p:nvPr/>
        </p:nvSpPr>
        <p:spPr>
          <a:xfrm>
            <a:off x="10732895" y="1448255"/>
            <a:ext cx="86400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5,000</a:t>
            </a:r>
            <a:endParaRPr/>
          </a:p>
        </p:txBody>
      </p:sp>
      <p:sp>
        <p:nvSpPr>
          <p:cNvPr id="3942" name="Google Shape;3942;p82"/>
          <p:cNvSpPr txBox="1"/>
          <p:nvPr/>
        </p:nvSpPr>
        <p:spPr>
          <a:xfrm>
            <a:off x="4984560" y="3610092"/>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10,000</a:t>
            </a:r>
            <a:endParaRPr/>
          </a:p>
        </p:txBody>
      </p:sp>
      <p:sp>
        <p:nvSpPr>
          <p:cNvPr id="3943" name="Google Shape;3943;p82"/>
          <p:cNvSpPr txBox="1"/>
          <p:nvPr/>
        </p:nvSpPr>
        <p:spPr>
          <a:xfrm>
            <a:off x="7429894" y="5905082"/>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700</a:t>
            </a:r>
            <a:endParaRPr/>
          </a:p>
        </p:txBody>
      </p:sp>
      <p:sp>
        <p:nvSpPr>
          <p:cNvPr id="3944" name="Google Shape;3944;p82"/>
          <p:cNvSpPr/>
          <p:nvPr/>
        </p:nvSpPr>
        <p:spPr>
          <a:xfrm rot="10800000">
            <a:off x="6984000" y="5943076"/>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3945" name="Google Shape;3945;p82"/>
          <p:cNvSpPr/>
          <p:nvPr/>
        </p:nvSpPr>
        <p:spPr>
          <a:xfrm rot="10800000">
            <a:off x="10630284" y="3659745"/>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3946" name="Google Shape;3946;p82"/>
          <p:cNvSpPr/>
          <p:nvPr/>
        </p:nvSpPr>
        <p:spPr>
          <a:xfrm rot="10800000">
            <a:off x="3096000" y="5082325"/>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947" name="Google Shape;3947;p82"/>
          <p:cNvSpPr txBox="1"/>
          <p:nvPr/>
        </p:nvSpPr>
        <p:spPr>
          <a:xfrm>
            <a:off x="3469894" y="1994709"/>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100</a:t>
            </a:r>
            <a:endParaRPr/>
          </a:p>
        </p:txBody>
      </p:sp>
      <p:sp>
        <p:nvSpPr>
          <p:cNvPr id="3948" name="Google Shape;3948;p82"/>
          <p:cNvSpPr/>
          <p:nvPr/>
        </p:nvSpPr>
        <p:spPr>
          <a:xfrm rot="10800000">
            <a:off x="3007666" y="2049930"/>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949" name="Google Shape;3949;p82"/>
          <p:cNvSpPr txBox="1"/>
          <p:nvPr/>
        </p:nvSpPr>
        <p:spPr>
          <a:xfrm>
            <a:off x="7315968" y="1713373"/>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6,000</a:t>
            </a:r>
            <a:endParaRPr/>
          </a:p>
        </p:txBody>
      </p:sp>
      <p:sp>
        <p:nvSpPr>
          <p:cNvPr id="3950" name="Google Shape;3950;p82"/>
          <p:cNvSpPr/>
          <p:nvPr/>
        </p:nvSpPr>
        <p:spPr>
          <a:xfrm rot="10800000">
            <a:off x="6984000" y="1749046"/>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3951" name="Google Shape;3951;p82"/>
          <p:cNvSpPr txBox="1"/>
          <p:nvPr/>
        </p:nvSpPr>
        <p:spPr>
          <a:xfrm>
            <a:off x="1501235" y="3588336"/>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6,000</a:t>
            </a:r>
            <a:endParaRPr/>
          </a:p>
        </p:txBody>
      </p:sp>
      <p:sp>
        <p:nvSpPr>
          <p:cNvPr id="3952" name="Google Shape;3952;p82"/>
          <p:cNvSpPr/>
          <p:nvPr/>
        </p:nvSpPr>
        <p:spPr>
          <a:xfrm rot="10800000">
            <a:off x="1249425" y="3637660"/>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953" name="Google Shape;3953;p82"/>
          <p:cNvSpPr txBox="1"/>
          <p:nvPr/>
        </p:nvSpPr>
        <p:spPr>
          <a:xfrm>
            <a:off x="5269894" y="3365080"/>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300</a:t>
            </a:r>
            <a:endParaRPr/>
          </a:p>
        </p:txBody>
      </p:sp>
      <p:sp>
        <p:nvSpPr>
          <p:cNvPr id="3954" name="Google Shape;3954;p82"/>
          <p:cNvSpPr/>
          <p:nvPr/>
        </p:nvSpPr>
        <p:spPr>
          <a:xfrm>
            <a:off x="4824000" y="3429341"/>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955" name="Google Shape;3955;p82"/>
          <p:cNvSpPr/>
          <p:nvPr/>
        </p:nvSpPr>
        <p:spPr>
          <a:xfrm rot="10800000">
            <a:off x="4824000" y="3662508"/>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956" name="Google Shape;3956;p82"/>
          <p:cNvSpPr txBox="1"/>
          <p:nvPr/>
        </p:nvSpPr>
        <p:spPr>
          <a:xfrm>
            <a:off x="5305894" y="5893862"/>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300</a:t>
            </a:r>
            <a:endParaRPr/>
          </a:p>
        </p:txBody>
      </p:sp>
      <p:sp>
        <p:nvSpPr>
          <p:cNvPr id="3957" name="Google Shape;3957;p82"/>
          <p:cNvSpPr/>
          <p:nvPr/>
        </p:nvSpPr>
        <p:spPr>
          <a:xfrm rot="10800000">
            <a:off x="4860000" y="5944742"/>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958" name="Google Shape;3958;p82"/>
          <p:cNvSpPr txBox="1"/>
          <p:nvPr/>
        </p:nvSpPr>
        <p:spPr>
          <a:xfrm>
            <a:off x="7429894" y="5645244"/>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600</a:t>
            </a:r>
            <a:endParaRPr/>
          </a:p>
        </p:txBody>
      </p:sp>
      <p:sp>
        <p:nvSpPr>
          <p:cNvPr id="3959" name="Google Shape;3959;p82"/>
          <p:cNvSpPr/>
          <p:nvPr/>
        </p:nvSpPr>
        <p:spPr>
          <a:xfrm rot="10800000">
            <a:off x="6984000" y="5695376"/>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3960" name="Google Shape;3960;p82"/>
          <p:cNvSpPr txBox="1"/>
          <p:nvPr/>
        </p:nvSpPr>
        <p:spPr>
          <a:xfrm>
            <a:off x="5269894" y="1222069"/>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600</a:t>
            </a:r>
            <a:endParaRPr/>
          </a:p>
        </p:txBody>
      </p:sp>
      <p:sp>
        <p:nvSpPr>
          <p:cNvPr id="3961" name="Google Shape;3961;p82"/>
          <p:cNvSpPr/>
          <p:nvPr/>
        </p:nvSpPr>
        <p:spPr>
          <a:xfrm rot="10800000">
            <a:off x="4824771" y="1263348"/>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962" name="Google Shape;3962;p82"/>
          <p:cNvSpPr txBox="1"/>
          <p:nvPr/>
        </p:nvSpPr>
        <p:spPr>
          <a:xfrm>
            <a:off x="5269894" y="3118060"/>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300</a:t>
            </a:r>
            <a:endParaRPr/>
          </a:p>
        </p:txBody>
      </p:sp>
      <p:sp>
        <p:nvSpPr>
          <p:cNvPr id="3963" name="Google Shape;3963;p82"/>
          <p:cNvSpPr/>
          <p:nvPr/>
        </p:nvSpPr>
        <p:spPr>
          <a:xfrm>
            <a:off x="4824000" y="3182321"/>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964" name="Google Shape;3964;p82"/>
          <p:cNvSpPr txBox="1"/>
          <p:nvPr/>
        </p:nvSpPr>
        <p:spPr>
          <a:xfrm>
            <a:off x="5305894" y="5646024"/>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300</a:t>
            </a:r>
            <a:endParaRPr/>
          </a:p>
        </p:txBody>
      </p:sp>
      <p:sp>
        <p:nvSpPr>
          <p:cNvPr id="3965" name="Google Shape;3965;p82"/>
          <p:cNvSpPr/>
          <p:nvPr/>
        </p:nvSpPr>
        <p:spPr>
          <a:xfrm rot="10800000">
            <a:off x="4860000" y="5696904"/>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966" name="Google Shape;3966;p82"/>
          <p:cNvSpPr txBox="1"/>
          <p:nvPr/>
        </p:nvSpPr>
        <p:spPr>
          <a:xfrm>
            <a:off x="3599552" y="4796571"/>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250</a:t>
            </a:r>
            <a:endParaRPr/>
          </a:p>
        </p:txBody>
      </p:sp>
      <p:sp>
        <p:nvSpPr>
          <p:cNvPr id="3967" name="Google Shape;3967;p82"/>
          <p:cNvSpPr/>
          <p:nvPr/>
        </p:nvSpPr>
        <p:spPr>
          <a:xfrm rot="10800000">
            <a:off x="3096000" y="4847451"/>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968" name="Google Shape;3968;p82"/>
          <p:cNvSpPr txBox="1"/>
          <p:nvPr/>
        </p:nvSpPr>
        <p:spPr>
          <a:xfrm>
            <a:off x="7487489" y="1462635"/>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250</a:t>
            </a:r>
            <a:endParaRPr/>
          </a:p>
        </p:txBody>
      </p:sp>
      <p:sp>
        <p:nvSpPr>
          <p:cNvPr id="3969" name="Google Shape;3969;p82"/>
          <p:cNvSpPr/>
          <p:nvPr/>
        </p:nvSpPr>
        <p:spPr>
          <a:xfrm rot="10800000">
            <a:off x="6984000" y="14983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3970" name="Google Shape;3970;p82"/>
          <p:cNvSpPr txBox="1"/>
          <p:nvPr/>
        </p:nvSpPr>
        <p:spPr>
          <a:xfrm>
            <a:off x="9285817" y="1715500"/>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100</a:t>
            </a:r>
            <a:endParaRPr/>
          </a:p>
        </p:txBody>
      </p:sp>
      <p:sp>
        <p:nvSpPr>
          <p:cNvPr id="3971" name="Google Shape;3971;p82"/>
          <p:cNvSpPr/>
          <p:nvPr/>
        </p:nvSpPr>
        <p:spPr>
          <a:xfrm rot="10800000">
            <a:off x="8784000" y="1751173"/>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3972" name="Google Shape;3972;p82"/>
          <p:cNvSpPr txBox="1"/>
          <p:nvPr/>
        </p:nvSpPr>
        <p:spPr>
          <a:xfrm>
            <a:off x="5269894" y="965882"/>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600</a:t>
            </a:r>
            <a:endParaRPr/>
          </a:p>
        </p:txBody>
      </p:sp>
      <p:sp>
        <p:nvSpPr>
          <p:cNvPr id="3973" name="Google Shape;3973;p82"/>
          <p:cNvSpPr/>
          <p:nvPr/>
        </p:nvSpPr>
        <p:spPr>
          <a:xfrm>
            <a:off x="4825605" y="102209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974" name="Google Shape;3974;p82"/>
          <p:cNvSpPr txBox="1"/>
          <p:nvPr/>
        </p:nvSpPr>
        <p:spPr>
          <a:xfrm>
            <a:off x="7543708" y="5375143"/>
            <a:ext cx="412292"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90</a:t>
            </a:r>
            <a:endParaRPr/>
          </a:p>
        </p:txBody>
      </p:sp>
      <p:sp>
        <p:nvSpPr>
          <p:cNvPr id="3975" name="Google Shape;3975;p82"/>
          <p:cNvSpPr/>
          <p:nvPr/>
        </p:nvSpPr>
        <p:spPr>
          <a:xfrm rot="10800000">
            <a:off x="6984000" y="5425275"/>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3976" name="Google Shape;3976;p82"/>
          <p:cNvSpPr txBox="1"/>
          <p:nvPr/>
        </p:nvSpPr>
        <p:spPr>
          <a:xfrm>
            <a:off x="8947923" y="1452209"/>
            <a:ext cx="86400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90</a:t>
            </a:r>
            <a:endParaRPr/>
          </a:p>
        </p:txBody>
      </p:sp>
      <p:sp>
        <p:nvSpPr>
          <p:cNvPr id="3977" name="Google Shape;3977;p82"/>
          <p:cNvSpPr/>
          <p:nvPr/>
        </p:nvSpPr>
        <p:spPr>
          <a:xfrm>
            <a:off x="8784000" y="1505882"/>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548135"/>
              </a:solidFill>
              <a:latin typeface="Calibri"/>
              <a:ea typeface="Calibri"/>
              <a:cs typeface="Calibri"/>
              <a:sym typeface="Calibri"/>
            </a:endParaRPr>
          </a:p>
        </p:txBody>
      </p:sp>
      <p:sp>
        <p:nvSpPr>
          <p:cNvPr id="3978" name="Google Shape;3978;p82"/>
          <p:cNvSpPr txBox="1"/>
          <p:nvPr/>
        </p:nvSpPr>
        <p:spPr>
          <a:xfrm>
            <a:off x="5383708" y="2869537"/>
            <a:ext cx="412292"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30</a:t>
            </a:r>
            <a:endParaRPr/>
          </a:p>
        </p:txBody>
      </p:sp>
      <p:sp>
        <p:nvSpPr>
          <p:cNvPr id="3979" name="Google Shape;3979;p82"/>
          <p:cNvSpPr/>
          <p:nvPr/>
        </p:nvSpPr>
        <p:spPr>
          <a:xfrm>
            <a:off x="4824000" y="293379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980" name="Google Shape;3980;p82"/>
          <p:cNvSpPr txBox="1"/>
          <p:nvPr/>
        </p:nvSpPr>
        <p:spPr>
          <a:xfrm>
            <a:off x="5419708" y="5397501"/>
            <a:ext cx="412292"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30</a:t>
            </a:r>
            <a:endParaRPr/>
          </a:p>
        </p:txBody>
      </p:sp>
      <p:sp>
        <p:nvSpPr>
          <p:cNvPr id="3981" name="Google Shape;3981;p82"/>
          <p:cNvSpPr/>
          <p:nvPr/>
        </p:nvSpPr>
        <p:spPr>
          <a:xfrm rot="10800000">
            <a:off x="4860000" y="5448381"/>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982" name="Google Shape;3982;p82"/>
          <p:cNvSpPr txBox="1"/>
          <p:nvPr/>
        </p:nvSpPr>
        <p:spPr>
          <a:xfrm>
            <a:off x="5269894" y="2157099"/>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800</a:t>
            </a:r>
            <a:endParaRPr/>
          </a:p>
        </p:txBody>
      </p:sp>
      <p:sp>
        <p:nvSpPr>
          <p:cNvPr id="3983" name="Google Shape;3983;p82"/>
          <p:cNvSpPr/>
          <p:nvPr/>
        </p:nvSpPr>
        <p:spPr>
          <a:xfrm rot="10800000">
            <a:off x="4824000" y="2198378"/>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984" name="Google Shape;3984;p82"/>
          <p:cNvSpPr txBox="1"/>
          <p:nvPr/>
        </p:nvSpPr>
        <p:spPr>
          <a:xfrm>
            <a:off x="1816755" y="5897226"/>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100</a:t>
            </a:r>
            <a:endParaRPr/>
          </a:p>
        </p:txBody>
      </p:sp>
      <p:sp>
        <p:nvSpPr>
          <p:cNvPr id="3985" name="Google Shape;3985;p82"/>
          <p:cNvSpPr/>
          <p:nvPr/>
        </p:nvSpPr>
        <p:spPr>
          <a:xfrm rot="10800000">
            <a:off x="1296000" y="5947200"/>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986" name="Google Shape;3986;p82"/>
          <p:cNvSpPr txBox="1"/>
          <p:nvPr/>
        </p:nvSpPr>
        <p:spPr>
          <a:xfrm>
            <a:off x="3577894" y="5912376"/>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200</a:t>
            </a:r>
            <a:endParaRPr/>
          </a:p>
        </p:txBody>
      </p:sp>
      <p:sp>
        <p:nvSpPr>
          <p:cNvPr id="3987" name="Google Shape;3987;p82"/>
          <p:cNvSpPr/>
          <p:nvPr/>
        </p:nvSpPr>
        <p:spPr>
          <a:xfrm rot="10800000">
            <a:off x="3096000" y="5963256"/>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988" name="Google Shape;3988;p82"/>
          <p:cNvSpPr txBox="1"/>
          <p:nvPr/>
        </p:nvSpPr>
        <p:spPr>
          <a:xfrm>
            <a:off x="5269894" y="1906095"/>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200</a:t>
            </a:r>
            <a:endParaRPr/>
          </a:p>
        </p:txBody>
      </p:sp>
      <p:sp>
        <p:nvSpPr>
          <p:cNvPr id="3989" name="Google Shape;3989;p82"/>
          <p:cNvSpPr/>
          <p:nvPr/>
        </p:nvSpPr>
        <p:spPr>
          <a:xfrm>
            <a:off x="4824000" y="1953942"/>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3990" name="Google Shape;3990;p82"/>
          <p:cNvGrpSpPr/>
          <p:nvPr/>
        </p:nvGrpSpPr>
        <p:grpSpPr>
          <a:xfrm>
            <a:off x="2528691" y="1497833"/>
            <a:ext cx="309700" cy="223917"/>
            <a:chOff x="756599" y="3715226"/>
            <a:chExt cx="321512" cy="232457"/>
          </a:xfrm>
        </p:grpSpPr>
        <p:sp>
          <p:nvSpPr>
            <p:cNvPr id="3991" name="Google Shape;3991;p82"/>
            <p:cNvSpPr/>
            <p:nvPr/>
          </p:nvSpPr>
          <p:spPr>
            <a:xfrm>
              <a:off x="810780" y="3715226"/>
              <a:ext cx="224238" cy="224238"/>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992" name="Google Shape;3992;p82"/>
            <p:cNvSpPr/>
            <p:nvPr/>
          </p:nvSpPr>
          <p:spPr>
            <a:xfrm>
              <a:off x="756599" y="3724022"/>
              <a:ext cx="321512" cy="223661"/>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13</a:t>
              </a:r>
              <a:endParaRPr/>
            </a:p>
          </p:txBody>
        </p:sp>
      </p:grpSp>
      <p:grpSp>
        <p:nvGrpSpPr>
          <p:cNvPr id="3993" name="Google Shape;3993;p82"/>
          <p:cNvGrpSpPr/>
          <p:nvPr/>
        </p:nvGrpSpPr>
        <p:grpSpPr>
          <a:xfrm>
            <a:off x="2528691" y="1763611"/>
            <a:ext cx="309700" cy="223916"/>
            <a:chOff x="756599" y="3715227"/>
            <a:chExt cx="321512" cy="232456"/>
          </a:xfrm>
        </p:grpSpPr>
        <p:sp>
          <p:nvSpPr>
            <p:cNvPr id="3994" name="Google Shape;3994;p82"/>
            <p:cNvSpPr/>
            <p:nvPr/>
          </p:nvSpPr>
          <p:spPr>
            <a:xfrm>
              <a:off x="810780" y="3715227"/>
              <a:ext cx="224238" cy="224238"/>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995" name="Google Shape;3995;p82"/>
            <p:cNvSpPr/>
            <p:nvPr/>
          </p:nvSpPr>
          <p:spPr>
            <a:xfrm>
              <a:off x="756599" y="3724022"/>
              <a:ext cx="321512" cy="223661"/>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11</a:t>
              </a:r>
              <a:endParaRPr/>
            </a:p>
          </p:txBody>
        </p:sp>
      </p:grpSp>
      <p:grpSp>
        <p:nvGrpSpPr>
          <p:cNvPr id="3996" name="Google Shape;3996;p82"/>
          <p:cNvGrpSpPr/>
          <p:nvPr/>
        </p:nvGrpSpPr>
        <p:grpSpPr>
          <a:xfrm>
            <a:off x="2528691" y="2037441"/>
            <a:ext cx="309700" cy="223916"/>
            <a:chOff x="756599" y="3715227"/>
            <a:chExt cx="321512" cy="232456"/>
          </a:xfrm>
        </p:grpSpPr>
        <p:sp>
          <p:nvSpPr>
            <p:cNvPr id="3997" name="Google Shape;3997;p82"/>
            <p:cNvSpPr/>
            <p:nvPr/>
          </p:nvSpPr>
          <p:spPr>
            <a:xfrm>
              <a:off x="810780" y="3715227"/>
              <a:ext cx="224238" cy="224238"/>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3998" name="Google Shape;3998;p82"/>
            <p:cNvSpPr/>
            <p:nvPr/>
          </p:nvSpPr>
          <p:spPr>
            <a:xfrm>
              <a:off x="756599" y="3724022"/>
              <a:ext cx="321512" cy="223661"/>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10</a:t>
              </a:r>
              <a:endParaRPr/>
            </a:p>
          </p:txBody>
        </p:sp>
      </p:grpSp>
      <p:grpSp>
        <p:nvGrpSpPr>
          <p:cNvPr id="3999" name="Google Shape;3999;p82"/>
          <p:cNvGrpSpPr/>
          <p:nvPr/>
        </p:nvGrpSpPr>
        <p:grpSpPr>
          <a:xfrm>
            <a:off x="2568712" y="2307277"/>
            <a:ext cx="247184" cy="223916"/>
            <a:chOff x="797287" y="3715227"/>
            <a:chExt cx="256611" cy="232456"/>
          </a:xfrm>
        </p:grpSpPr>
        <p:sp>
          <p:nvSpPr>
            <p:cNvPr id="4000" name="Google Shape;4000;p82"/>
            <p:cNvSpPr/>
            <p:nvPr/>
          </p:nvSpPr>
          <p:spPr>
            <a:xfrm>
              <a:off x="810780" y="3715227"/>
              <a:ext cx="224238" cy="224238"/>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001" name="Google Shape;4001;p82"/>
            <p:cNvSpPr/>
            <p:nvPr/>
          </p:nvSpPr>
          <p:spPr>
            <a:xfrm>
              <a:off x="797287" y="3724022"/>
              <a:ext cx="256611" cy="223661"/>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7</a:t>
              </a:r>
              <a:endParaRPr/>
            </a:p>
          </p:txBody>
        </p:sp>
      </p:grpSp>
      <p:grpSp>
        <p:nvGrpSpPr>
          <p:cNvPr id="4002" name="Google Shape;4002;p82"/>
          <p:cNvGrpSpPr/>
          <p:nvPr/>
        </p:nvGrpSpPr>
        <p:grpSpPr>
          <a:xfrm>
            <a:off x="2530414" y="2567405"/>
            <a:ext cx="300083" cy="223917"/>
            <a:chOff x="761592" y="3715226"/>
            <a:chExt cx="311527" cy="232457"/>
          </a:xfrm>
        </p:grpSpPr>
        <p:sp>
          <p:nvSpPr>
            <p:cNvPr id="4003" name="Google Shape;4003;p82"/>
            <p:cNvSpPr/>
            <p:nvPr/>
          </p:nvSpPr>
          <p:spPr>
            <a:xfrm>
              <a:off x="810780" y="3715226"/>
              <a:ext cx="224238" cy="224238"/>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004" name="Google Shape;4004;p82"/>
            <p:cNvSpPr/>
            <p:nvPr/>
          </p:nvSpPr>
          <p:spPr>
            <a:xfrm>
              <a:off x="761592" y="3724022"/>
              <a:ext cx="311527" cy="223661"/>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6a</a:t>
              </a:r>
              <a:endParaRPr/>
            </a:p>
          </p:txBody>
        </p:sp>
      </p:grpSp>
      <p:grpSp>
        <p:nvGrpSpPr>
          <p:cNvPr id="4005" name="Google Shape;4005;p82"/>
          <p:cNvGrpSpPr/>
          <p:nvPr/>
        </p:nvGrpSpPr>
        <p:grpSpPr>
          <a:xfrm>
            <a:off x="2574025" y="2841900"/>
            <a:ext cx="245580" cy="224238"/>
            <a:chOff x="802803" y="3715228"/>
            <a:chExt cx="245580" cy="224238"/>
          </a:xfrm>
        </p:grpSpPr>
        <p:sp>
          <p:nvSpPr>
            <p:cNvPr id="4006" name="Google Shape;4006;p8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007" name="Google Shape;4007;p82"/>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5</a:t>
              </a:r>
              <a:endParaRPr/>
            </a:p>
          </p:txBody>
        </p:sp>
      </p:grpSp>
      <p:grpSp>
        <p:nvGrpSpPr>
          <p:cNvPr id="4008" name="Google Shape;4008;p82"/>
          <p:cNvGrpSpPr/>
          <p:nvPr/>
        </p:nvGrpSpPr>
        <p:grpSpPr>
          <a:xfrm>
            <a:off x="2574025" y="3121887"/>
            <a:ext cx="245580" cy="224238"/>
            <a:chOff x="802803" y="3715228"/>
            <a:chExt cx="245580" cy="224238"/>
          </a:xfrm>
        </p:grpSpPr>
        <p:sp>
          <p:nvSpPr>
            <p:cNvPr id="4009" name="Google Shape;4009;p8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010" name="Google Shape;4010;p82"/>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3</a:t>
              </a:r>
              <a:endParaRPr/>
            </a:p>
          </p:txBody>
        </p:sp>
      </p:grpSp>
      <p:grpSp>
        <p:nvGrpSpPr>
          <p:cNvPr id="4011" name="Google Shape;4011;p82"/>
          <p:cNvGrpSpPr/>
          <p:nvPr/>
        </p:nvGrpSpPr>
        <p:grpSpPr>
          <a:xfrm>
            <a:off x="2574025" y="3385828"/>
            <a:ext cx="245580" cy="224238"/>
            <a:chOff x="802803" y="3715228"/>
            <a:chExt cx="245580" cy="224238"/>
          </a:xfrm>
        </p:grpSpPr>
        <p:sp>
          <p:nvSpPr>
            <p:cNvPr id="4012" name="Google Shape;4012;p8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013" name="Google Shape;4013;p82"/>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2</a:t>
              </a:r>
              <a:endParaRPr/>
            </a:p>
          </p:txBody>
        </p:sp>
      </p:grpSp>
      <p:grpSp>
        <p:nvGrpSpPr>
          <p:cNvPr id="4014" name="Google Shape;4014;p82"/>
          <p:cNvGrpSpPr/>
          <p:nvPr/>
        </p:nvGrpSpPr>
        <p:grpSpPr>
          <a:xfrm>
            <a:off x="2574025" y="3649299"/>
            <a:ext cx="245580" cy="224238"/>
            <a:chOff x="802803" y="3715228"/>
            <a:chExt cx="245580" cy="224238"/>
          </a:xfrm>
        </p:grpSpPr>
        <p:sp>
          <p:nvSpPr>
            <p:cNvPr id="4015" name="Google Shape;4015;p8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016" name="Google Shape;4016;p82"/>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a:t>
              </a:r>
              <a:endParaRPr/>
            </a:p>
          </p:txBody>
        </p:sp>
      </p:grpSp>
      <p:grpSp>
        <p:nvGrpSpPr>
          <p:cNvPr id="4017" name="Google Shape;4017;p82"/>
          <p:cNvGrpSpPr/>
          <p:nvPr/>
        </p:nvGrpSpPr>
        <p:grpSpPr>
          <a:xfrm>
            <a:off x="10117559" y="1755851"/>
            <a:ext cx="245580" cy="224238"/>
            <a:chOff x="802803" y="3715228"/>
            <a:chExt cx="245580" cy="224238"/>
          </a:xfrm>
        </p:grpSpPr>
        <p:sp>
          <p:nvSpPr>
            <p:cNvPr id="4018" name="Google Shape;4018;p8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019" name="Google Shape;4019;p82"/>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a:t>
              </a:r>
              <a:endParaRPr/>
            </a:p>
          </p:txBody>
        </p:sp>
      </p:grpSp>
      <p:grpSp>
        <p:nvGrpSpPr>
          <p:cNvPr id="4020" name="Google Shape;4020;p82"/>
          <p:cNvGrpSpPr/>
          <p:nvPr/>
        </p:nvGrpSpPr>
        <p:grpSpPr>
          <a:xfrm>
            <a:off x="10116000" y="3650400"/>
            <a:ext cx="245580" cy="224238"/>
            <a:chOff x="802803" y="3715228"/>
            <a:chExt cx="245580" cy="224238"/>
          </a:xfrm>
        </p:grpSpPr>
        <p:sp>
          <p:nvSpPr>
            <p:cNvPr id="4021" name="Google Shape;4021;p8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022" name="Google Shape;4022;p82"/>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2</a:t>
              </a:r>
              <a:endParaRPr/>
            </a:p>
          </p:txBody>
        </p:sp>
      </p:grpSp>
      <p:grpSp>
        <p:nvGrpSpPr>
          <p:cNvPr id="4023" name="Google Shape;4023;p82"/>
          <p:cNvGrpSpPr/>
          <p:nvPr/>
        </p:nvGrpSpPr>
        <p:grpSpPr>
          <a:xfrm>
            <a:off x="10117837" y="1489299"/>
            <a:ext cx="245580" cy="224238"/>
            <a:chOff x="802803" y="3715228"/>
            <a:chExt cx="245580" cy="224238"/>
          </a:xfrm>
        </p:grpSpPr>
        <p:sp>
          <p:nvSpPr>
            <p:cNvPr id="4024" name="Google Shape;4024;p8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025" name="Google Shape;4025;p82"/>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3</a:t>
              </a:r>
              <a:endParaRPr/>
            </a:p>
          </p:txBody>
        </p:sp>
      </p:grpSp>
      <p:grpSp>
        <p:nvGrpSpPr>
          <p:cNvPr id="4026" name="Google Shape;4026;p82"/>
          <p:cNvGrpSpPr/>
          <p:nvPr/>
        </p:nvGrpSpPr>
        <p:grpSpPr>
          <a:xfrm>
            <a:off x="6553087" y="1741845"/>
            <a:ext cx="245580" cy="224238"/>
            <a:chOff x="802803" y="3715228"/>
            <a:chExt cx="245580" cy="224238"/>
          </a:xfrm>
        </p:grpSpPr>
        <p:sp>
          <p:nvSpPr>
            <p:cNvPr id="4027" name="Google Shape;4027;p8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028" name="Google Shape;4028;p82"/>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4</a:t>
              </a:r>
              <a:endParaRPr/>
            </a:p>
          </p:txBody>
        </p:sp>
      </p:grpSp>
      <p:grpSp>
        <p:nvGrpSpPr>
          <p:cNvPr id="4029" name="Google Shape;4029;p82"/>
          <p:cNvGrpSpPr/>
          <p:nvPr/>
        </p:nvGrpSpPr>
        <p:grpSpPr>
          <a:xfrm>
            <a:off x="784605" y="3629276"/>
            <a:ext cx="245580" cy="224238"/>
            <a:chOff x="802803" y="3715228"/>
            <a:chExt cx="245580" cy="224238"/>
          </a:xfrm>
        </p:grpSpPr>
        <p:sp>
          <p:nvSpPr>
            <p:cNvPr id="4030" name="Google Shape;4030;p8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031" name="Google Shape;4031;p82"/>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4</a:t>
              </a:r>
              <a:endParaRPr/>
            </a:p>
          </p:txBody>
        </p:sp>
      </p:grpSp>
      <p:grpSp>
        <p:nvGrpSpPr>
          <p:cNvPr id="4032" name="Google Shape;4032;p82"/>
          <p:cNvGrpSpPr/>
          <p:nvPr/>
        </p:nvGrpSpPr>
        <p:grpSpPr>
          <a:xfrm>
            <a:off x="4359077" y="3641899"/>
            <a:ext cx="245580" cy="224238"/>
            <a:chOff x="802803" y="3715228"/>
            <a:chExt cx="245580" cy="224238"/>
          </a:xfrm>
        </p:grpSpPr>
        <p:sp>
          <p:nvSpPr>
            <p:cNvPr id="4033" name="Google Shape;4033;p8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034" name="Google Shape;4034;p82"/>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5</a:t>
              </a:r>
              <a:endParaRPr/>
            </a:p>
          </p:txBody>
        </p:sp>
      </p:grpSp>
      <p:grpSp>
        <p:nvGrpSpPr>
          <p:cNvPr id="4035" name="Google Shape;4035;p82"/>
          <p:cNvGrpSpPr/>
          <p:nvPr/>
        </p:nvGrpSpPr>
        <p:grpSpPr>
          <a:xfrm>
            <a:off x="6484980" y="5931080"/>
            <a:ext cx="300082" cy="224238"/>
            <a:chOff x="775552" y="3715228"/>
            <a:chExt cx="300082" cy="224238"/>
          </a:xfrm>
        </p:grpSpPr>
        <p:sp>
          <p:nvSpPr>
            <p:cNvPr id="4036" name="Google Shape;4036;p8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037" name="Google Shape;4037;p82"/>
            <p:cNvSpPr/>
            <p:nvPr/>
          </p:nvSpPr>
          <p:spPr>
            <a:xfrm>
              <a:off x="775552" y="3724022"/>
              <a:ext cx="300082"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6a</a:t>
              </a:r>
              <a:endParaRPr/>
            </a:p>
          </p:txBody>
        </p:sp>
      </p:grpSp>
      <p:grpSp>
        <p:nvGrpSpPr>
          <p:cNvPr id="4038" name="Google Shape;4038;p82"/>
          <p:cNvGrpSpPr/>
          <p:nvPr/>
        </p:nvGrpSpPr>
        <p:grpSpPr>
          <a:xfrm>
            <a:off x="4325561" y="3388584"/>
            <a:ext cx="309700" cy="224238"/>
            <a:chOff x="770743" y="3715228"/>
            <a:chExt cx="309700" cy="224238"/>
          </a:xfrm>
        </p:grpSpPr>
        <p:sp>
          <p:nvSpPr>
            <p:cNvPr id="4039" name="Google Shape;4039;p8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040" name="Google Shape;4040;p82"/>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6b</a:t>
              </a:r>
              <a:endParaRPr/>
            </a:p>
          </p:txBody>
        </p:sp>
      </p:grpSp>
      <p:grpSp>
        <p:nvGrpSpPr>
          <p:cNvPr id="4041" name="Google Shape;4041;p82"/>
          <p:cNvGrpSpPr/>
          <p:nvPr/>
        </p:nvGrpSpPr>
        <p:grpSpPr>
          <a:xfrm>
            <a:off x="4372912" y="5940000"/>
            <a:ext cx="309700" cy="224238"/>
            <a:chOff x="770743" y="3715228"/>
            <a:chExt cx="309700" cy="224238"/>
          </a:xfrm>
        </p:grpSpPr>
        <p:sp>
          <p:nvSpPr>
            <p:cNvPr id="4042" name="Google Shape;4042;p8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043" name="Google Shape;4043;p82"/>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6b</a:t>
              </a:r>
              <a:endParaRPr/>
            </a:p>
          </p:txBody>
        </p:sp>
      </p:grpSp>
      <p:grpSp>
        <p:nvGrpSpPr>
          <p:cNvPr id="4044" name="Google Shape;4044;p82"/>
          <p:cNvGrpSpPr/>
          <p:nvPr/>
        </p:nvGrpSpPr>
        <p:grpSpPr>
          <a:xfrm>
            <a:off x="4330045" y="3136880"/>
            <a:ext cx="309700" cy="224238"/>
            <a:chOff x="770743" y="3715228"/>
            <a:chExt cx="309700" cy="224238"/>
          </a:xfrm>
        </p:grpSpPr>
        <p:sp>
          <p:nvSpPr>
            <p:cNvPr id="4045" name="Google Shape;4045;p8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046" name="Google Shape;4046;p82"/>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8b</a:t>
              </a:r>
              <a:endParaRPr/>
            </a:p>
          </p:txBody>
        </p:sp>
      </p:grpSp>
      <p:grpSp>
        <p:nvGrpSpPr>
          <p:cNvPr id="4047" name="Google Shape;4047;p82"/>
          <p:cNvGrpSpPr/>
          <p:nvPr/>
        </p:nvGrpSpPr>
        <p:grpSpPr>
          <a:xfrm>
            <a:off x="4377396" y="5681195"/>
            <a:ext cx="309700" cy="224238"/>
            <a:chOff x="770743" y="3715228"/>
            <a:chExt cx="309700" cy="224238"/>
          </a:xfrm>
        </p:grpSpPr>
        <p:sp>
          <p:nvSpPr>
            <p:cNvPr id="4048" name="Google Shape;4048;p8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049" name="Google Shape;4049;p82"/>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8b</a:t>
              </a:r>
              <a:endParaRPr/>
            </a:p>
          </p:txBody>
        </p:sp>
      </p:grpSp>
      <p:grpSp>
        <p:nvGrpSpPr>
          <p:cNvPr id="4050" name="Google Shape;4050;p82"/>
          <p:cNvGrpSpPr/>
          <p:nvPr/>
        </p:nvGrpSpPr>
        <p:grpSpPr>
          <a:xfrm>
            <a:off x="4298376" y="2880000"/>
            <a:ext cx="368899" cy="223200"/>
            <a:chOff x="740286" y="3715228"/>
            <a:chExt cx="370615" cy="224238"/>
          </a:xfrm>
        </p:grpSpPr>
        <p:sp>
          <p:nvSpPr>
            <p:cNvPr id="4051" name="Google Shape;4051;p8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052" name="Google Shape;4052;p82"/>
            <p:cNvSpPr/>
            <p:nvPr/>
          </p:nvSpPr>
          <p:spPr>
            <a:xfrm>
              <a:off x="740286" y="3724022"/>
              <a:ext cx="370615"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12b</a:t>
              </a:r>
              <a:endParaRPr/>
            </a:p>
          </p:txBody>
        </p:sp>
      </p:grpSp>
      <p:grpSp>
        <p:nvGrpSpPr>
          <p:cNvPr id="4053" name="Google Shape;4053;p82"/>
          <p:cNvGrpSpPr/>
          <p:nvPr/>
        </p:nvGrpSpPr>
        <p:grpSpPr>
          <a:xfrm>
            <a:off x="4345727" y="5432633"/>
            <a:ext cx="370614" cy="347348"/>
            <a:chOff x="740286" y="3715228"/>
            <a:chExt cx="370614" cy="347348"/>
          </a:xfrm>
        </p:grpSpPr>
        <p:sp>
          <p:nvSpPr>
            <p:cNvPr id="4054" name="Google Shape;4054;p8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055" name="Google Shape;4055;p82"/>
            <p:cNvSpPr/>
            <p:nvPr/>
          </p:nvSpPr>
          <p:spPr>
            <a:xfrm>
              <a:off x="740286" y="3724022"/>
              <a:ext cx="370614" cy="33855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12b</a:t>
              </a:r>
              <a:endParaRPr/>
            </a:p>
            <a:p>
              <a:pPr indent="0" lvl="0" marL="0" marR="0" rtl="0" algn="ctr">
                <a:spcBef>
                  <a:spcPts val="0"/>
                </a:spcBef>
                <a:spcAft>
                  <a:spcPts val="0"/>
                </a:spcAft>
                <a:buNone/>
              </a:pPr>
              <a:r>
                <a:t/>
              </a:r>
              <a:endParaRPr b="1" sz="800">
                <a:solidFill>
                  <a:srgbClr val="7F7F7F"/>
                </a:solidFill>
                <a:latin typeface="Avenir"/>
                <a:ea typeface="Avenir"/>
                <a:cs typeface="Avenir"/>
                <a:sym typeface="Avenir"/>
              </a:endParaRPr>
            </a:p>
          </p:txBody>
        </p:sp>
      </p:grpSp>
      <p:grpSp>
        <p:nvGrpSpPr>
          <p:cNvPr id="4056" name="Google Shape;4056;p82"/>
          <p:cNvGrpSpPr/>
          <p:nvPr/>
        </p:nvGrpSpPr>
        <p:grpSpPr>
          <a:xfrm>
            <a:off x="6484980" y="5676798"/>
            <a:ext cx="300082" cy="224238"/>
            <a:chOff x="775552" y="3715228"/>
            <a:chExt cx="300082" cy="224238"/>
          </a:xfrm>
        </p:grpSpPr>
        <p:sp>
          <p:nvSpPr>
            <p:cNvPr id="4057" name="Google Shape;4057;p8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058" name="Google Shape;4058;p82"/>
            <p:cNvSpPr/>
            <p:nvPr/>
          </p:nvSpPr>
          <p:spPr>
            <a:xfrm>
              <a:off x="775552" y="3724022"/>
              <a:ext cx="300082"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8a</a:t>
              </a:r>
              <a:endParaRPr/>
            </a:p>
          </p:txBody>
        </p:sp>
      </p:grpSp>
      <p:grpSp>
        <p:nvGrpSpPr>
          <p:cNvPr id="4059" name="Google Shape;4059;p82"/>
          <p:cNvGrpSpPr/>
          <p:nvPr/>
        </p:nvGrpSpPr>
        <p:grpSpPr>
          <a:xfrm>
            <a:off x="6448807" y="5416132"/>
            <a:ext cx="360996" cy="224238"/>
            <a:chOff x="736857" y="3715228"/>
            <a:chExt cx="360996" cy="224238"/>
          </a:xfrm>
        </p:grpSpPr>
        <p:sp>
          <p:nvSpPr>
            <p:cNvPr id="4060" name="Google Shape;4060;p8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061" name="Google Shape;4061;p82"/>
            <p:cNvSpPr/>
            <p:nvPr/>
          </p:nvSpPr>
          <p:spPr>
            <a:xfrm>
              <a:off x="736857" y="3724022"/>
              <a:ext cx="360996"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12a</a:t>
              </a:r>
              <a:endParaRPr/>
            </a:p>
          </p:txBody>
        </p:sp>
      </p:grpSp>
      <p:grpSp>
        <p:nvGrpSpPr>
          <p:cNvPr id="4062" name="Google Shape;4062;p82"/>
          <p:cNvGrpSpPr/>
          <p:nvPr/>
        </p:nvGrpSpPr>
        <p:grpSpPr>
          <a:xfrm>
            <a:off x="2681463" y="5057611"/>
            <a:ext cx="245580" cy="224238"/>
            <a:chOff x="802803" y="3715228"/>
            <a:chExt cx="245580" cy="224238"/>
          </a:xfrm>
        </p:grpSpPr>
        <p:sp>
          <p:nvSpPr>
            <p:cNvPr id="4063" name="Google Shape;4063;p8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064" name="Google Shape;4064;p82"/>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7</a:t>
              </a:r>
              <a:endParaRPr/>
            </a:p>
          </p:txBody>
        </p:sp>
      </p:grpSp>
      <p:grpSp>
        <p:nvGrpSpPr>
          <p:cNvPr id="4065" name="Google Shape;4065;p82"/>
          <p:cNvGrpSpPr/>
          <p:nvPr/>
        </p:nvGrpSpPr>
        <p:grpSpPr>
          <a:xfrm>
            <a:off x="2680630" y="4808856"/>
            <a:ext cx="245580" cy="224238"/>
            <a:chOff x="802803" y="3715228"/>
            <a:chExt cx="245580" cy="224238"/>
          </a:xfrm>
        </p:grpSpPr>
        <p:sp>
          <p:nvSpPr>
            <p:cNvPr id="4066" name="Google Shape;4066;p8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067" name="Google Shape;4067;p82"/>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9</a:t>
              </a:r>
              <a:endParaRPr/>
            </a:p>
          </p:txBody>
        </p:sp>
      </p:grpSp>
      <p:grpSp>
        <p:nvGrpSpPr>
          <p:cNvPr id="4068" name="Google Shape;4068;p82"/>
          <p:cNvGrpSpPr/>
          <p:nvPr/>
        </p:nvGrpSpPr>
        <p:grpSpPr>
          <a:xfrm>
            <a:off x="6550922" y="1481480"/>
            <a:ext cx="245580" cy="224238"/>
            <a:chOff x="802803" y="3715228"/>
            <a:chExt cx="245580" cy="224238"/>
          </a:xfrm>
        </p:grpSpPr>
        <p:sp>
          <p:nvSpPr>
            <p:cNvPr id="4069" name="Google Shape;4069;p8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070" name="Google Shape;4070;p82"/>
            <p:cNvSpPr/>
            <p:nvPr/>
          </p:nvSpPr>
          <p:spPr>
            <a:xfrm>
              <a:off x="802803" y="37240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9</a:t>
              </a:r>
              <a:endParaRPr/>
            </a:p>
          </p:txBody>
        </p:sp>
      </p:grpSp>
      <p:grpSp>
        <p:nvGrpSpPr>
          <p:cNvPr id="4071" name="Google Shape;4071;p82"/>
          <p:cNvGrpSpPr/>
          <p:nvPr/>
        </p:nvGrpSpPr>
        <p:grpSpPr>
          <a:xfrm>
            <a:off x="8311967" y="1742779"/>
            <a:ext cx="309700" cy="224238"/>
            <a:chOff x="770743" y="3715228"/>
            <a:chExt cx="309700" cy="224238"/>
          </a:xfrm>
        </p:grpSpPr>
        <p:sp>
          <p:nvSpPr>
            <p:cNvPr id="4072" name="Google Shape;4072;p8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073" name="Google Shape;4073;p82"/>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10</a:t>
              </a:r>
              <a:endParaRPr/>
            </a:p>
          </p:txBody>
        </p:sp>
      </p:grpSp>
      <p:grpSp>
        <p:nvGrpSpPr>
          <p:cNvPr id="4074" name="Google Shape;4074;p82"/>
          <p:cNvGrpSpPr/>
          <p:nvPr/>
        </p:nvGrpSpPr>
        <p:grpSpPr>
          <a:xfrm>
            <a:off x="4322372" y="1240114"/>
            <a:ext cx="300082" cy="224238"/>
            <a:chOff x="775552" y="3715228"/>
            <a:chExt cx="300082" cy="224238"/>
          </a:xfrm>
        </p:grpSpPr>
        <p:sp>
          <p:nvSpPr>
            <p:cNvPr id="4075" name="Google Shape;4075;p8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076" name="Google Shape;4076;p82"/>
            <p:cNvSpPr/>
            <p:nvPr/>
          </p:nvSpPr>
          <p:spPr>
            <a:xfrm>
              <a:off x="775552" y="3724022"/>
              <a:ext cx="300082"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8a</a:t>
              </a:r>
              <a:endParaRPr/>
            </a:p>
          </p:txBody>
        </p:sp>
      </p:grpSp>
      <p:grpSp>
        <p:nvGrpSpPr>
          <p:cNvPr id="4077" name="Google Shape;4077;p82"/>
          <p:cNvGrpSpPr/>
          <p:nvPr/>
        </p:nvGrpSpPr>
        <p:grpSpPr>
          <a:xfrm>
            <a:off x="4319927" y="983503"/>
            <a:ext cx="309700" cy="224238"/>
            <a:chOff x="770743" y="3715228"/>
            <a:chExt cx="309700" cy="224238"/>
          </a:xfrm>
        </p:grpSpPr>
        <p:sp>
          <p:nvSpPr>
            <p:cNvPr id="4078" name="Google Shape;4078;p8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079" name="Google Shape;4079;p82"/>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11</a:t>
              </a:r>
              <a:endParaRPr/>
            </a:p>
          </p:txBody>
        </p:sp>
      </p:grpSp>
      <p:grpSp>
        <p:nvGrpSpPr>
          <p:cNvPr id="4080" name="Google Shape;4080;p82"/>
          <p:cNvGrpSpPr/>
          <p:nvPr/>
        </p:nvGrpSpPr>
        <p:grpSpPr>
          <a:xfrm>
            <a:off x="8280687" y="1478795"/>
            <a:ext cx="360996" cy="224238"/>
            <a:chOff x="736857" y="3715228"/>
            <a:chExt cx="360996" cy="224238"/>
          </a:xfrm>
        </p:grpSpPr>
        <p:sp>
          <p:nvSpPr>
            <p:cNvPr id="4081" name="Google Shape;4081;p8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082" name="Google Shape;4082;p82"/>
            <p:cNvSpPr/>
            <p:nvPr/>
          </p:nvSpPr>
          <p:spPr>
            <a:xfrm>
              <a:off x="736857" y="3724022"/>
              <a:ext cx="360996"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12a</a:t>
              </a:r>
              <a:endParaRPr/>
            </a:p>
          </p:txBody>
        </p:sp>
      </p:grpSp>
      <p:grpSp>
        <p:nvGrpSpPr>
          <p:cNvPr id="4083" name="Google Shape;4083;p82"/>
          <p:cNvGrpSpPr/>
          <p:nvPr/>
        </p:nvGrpSpPr>
        <p:grpSpPr>
          <a:xfrm>
            <a:off x="4317141" y="2187210"/>
            <a:ext cx="309700" cy="224238"/>
            <a:chOff x="762505" y="3715228"/>
            <a:chExt cx="309700" cy="224238"/>
          </a:xfrm>
        </p:grpSpPr>
        <p:sp>
          <p:nvSpPr>
            <p:cNvPr id="4084" name="Google Shape;4084;p8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085" name="Google Shape;4085;p82"/>
            <p:cNvSpPr/>
            <p:nvPr/>
          </p:nvSpPr>
          <p:spPr>
            <a:xfrm>
              <a:off x="762505"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13</a:t>
              </a:r>
              <a:endParaRPr/>
            </a:p>
          </p:txBody>
        </p:sp>
      </p:grpSp>
      <p:grpSp>
        <p:nvGrpSpPr>
          <p:cNvPr id="4086" name="Google Shape;4086;p82"/>
          <p:cNvGrpSpPr/>
          <p:nvPr/>
        </p:nvGrpSpPr>
        <p:grpSpPr>
          <a:xfrm>
            <a:off x="852407" y="5920266"/>
            <a:ext cx="309700" cy="224238"/>
            <a:chOff x="770743" y="3715228"/>
            <a:chExt cx="309700" cy="224238"/>
          </a:xfrm>
        </p:grpSpPr>
        <p:sp>
          <p:nvSpPr>
            <p:cNvPr id="4087" name="Google Shape;4087;p8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088" name="Google Shape;4088;p82"/>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14</a:t>
              </a:r>
              <a:endParaRPr/>
            </a:p>
          </p:txBody>
        </p:sp>
      </p:grpSp>
      <p:grpSp>
        <p:nvGrpSpPr>
          <p:cNvPr id="4089" name="Google Shape;4089;p82"/>
          <p:cNvGrpSpPr/>
          <p:nvPr/>
        </p:nvGrpSpPr>
        <p:grpSpPr>
          <a:xfrm>
            <a:off x="4325894" y="1931502"/>
            <a:ext cx="309700" cy="224238"/>
            <a:chOff x="770743" y="3715228"/>
            <a:chExt cx="309700" cy="224238"/>
          </a:xfrm>
        </p:grpSpPr>
        <p:sp>
          <p:nvSpPr>
            <p:cNvPr id="4090" name="Google Shape;4090;p82"/>
            <p:cNvSpPr/>
            <p:nvPr/>
          </p:nvSpPr>
          <p:spPr>
            <a:xfrm>
              <a:off x="810781" y="3715228"/>
              <a:ext cx="216000" cy="216000"/>
            </a:xfrm>
            <a:prstGeom prst="ellipse">
              <a:avLst/>
            </a:prstGeom>
            <a:solidFill>
              <a:srgbClr val="FFFF00"/>
            </a:solidFill>
            <a:ln cap="flat" cmpd="sng" w="1270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091" name="Google Shape;4091;p82"/>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15</a:t>
              </a:r>
              <a:endParaRPr/>
            </a:p>
          </p:txBody>
        </p:sp>
      </p:grpSp>
      <p:grpSp>
        <p:nvGrpSpPr>
          <p:cNvPr id="4092" name="Google Shape;4092;p82"/>
          <p:cNvGrpSpPr/>
          <p:nvPr/>
        </p:nvGrpSpPr>
        <p:grpSpPr>
          <a:xfrm>
            <a:off x="2620396" y="5933422"/>
            <a:ext cx="309700" cy="224238"/>
            <a:chOff x="770743" y="3715228"/>
            <a:chExt cx="309700" cy="224238"/>
          </a:xfrm>
        </p:grpSpPr>
        <p:sp>
          <p:nvSpPr>
            <p:cNvPr id="4093" name="Google Shape;4093;p82"/>
            <p:cNvSpPr/>
            <p:nvPr/>
          </p:nvSpPr>
          <p:spPr>
            <a:xfrm>
              <a:off x="810781" y="3715228"/>
              <a:ext cx="216000" cy="216000"/>
            </a:xfrm>
            <a:prstGeom prst="ellipse">
              <a:avLst/>
            </a:prstGeom>
            <a:solidFill>
              <a:srgbClr val="FFFF00"/>
            </a:solidFill>
            <a:ln cap="flat" cmpd="sng" w="1270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094" name="Google Shape;4094;p82"/>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15</a:t>
              </a:r>
              <a:endParaRPr/>
            </a:p>
          </p:txBody>
        </p:sp>
      </p:grpSp>
      <p:sp>
        <p:nvSpPr>
          <p:cNvPr id="4095" name="Google Shape;4095;p82"/>
          <p:cNvSpPr txBox="1"/>
          <p:nvPr/>
        </p:nvSpPr>
        <p:spPr>
          <a:xfrm>
            <a:off x="4033926" y="1538024"/>
            <a:ext cx="2015578"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Accounts receivable</a:t>
            </a:r>
            <a:endParaRPr/>
          </a:p>
        </p:txBody>
      </p:sp>
      <p:sp>
        <p:nvSpPr>
          <p:cNvPr id="4096" name="Google Shape;4096;p82"/>
          <p:cNvSpPr txBox="1"/>
          <p:nvPr/>
        </p:nvSpPr>
        <p:spPr>
          <a:xfrm>
            <a:off x="6252890" y="2028286"/>
            <a:ext cx="1987133"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Accounts payable</a:t>
            </a:r>
            <a:endParaRPr/>
          </a:p>
        </p:txBody>
      </p:sp>
      <p:sp>
        <p:nvSpPr>
          <p:cNvPr id="4097" name="Google Shape;4097;p82"/>
          <p:cNvSpPr txBox="1"/>
          <p:nvPr/>
        </p:nvSpPr>
        <p:spPr>
          <a:xfrm>
            <a:off x="9504213" y="373659"/>
            <a:ext cx="2279791" cy="40011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000">
                <a:solidFill>
                  <a:schemeClr val="accent2"/>
                </a:solidFill>
                <a:latin typeface="Avenir"/>
                <a:ea typeface="Avenir"/>
                <a:cs typeface="Avenir"/>
                <a:sym typeface="Avenir"/>
              </a:rPr>
              <a:t>Sources of funds</a:t>
            </a:r>
            <a:endParaRPr/>
          </a:p>
        </p:txBody>
      </p:sp>
      <p:sp>
        <p:nvSpPr>
          <p:cNvPr id="4098" name="Google Shape;4098;p82"/>
          <p:cNvSpPr txBox="1"/>
          <p:nvPr/>
        </p:nvSpPr>
        <p:spPr>
          <a:xfrm>
            <a:off x="492858" y="373659"/>
            <a:ext cx="1880643" cy="40011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000">
                <a:solidFill>
                  <a:schemeClr val="accent6"/>
                </a:solidFill>
                <a:latin typeface="Avenir"/>
                <a:ea typeface="Avenir"/>
                <a:cs typeface="Avenir"/>
                <a:sym typeface="Avenir"/>
              </a:rPr>
              <a:t>Uses of funds</a:t>
            </a:r>
            <a:endParaRPr/>
          </a:p>
        </p:txBody>
      </p:sp>
      <p:grpSp>
        <p:nvGrpSpPr>
          <p:cNvPr id="4099" name="Google Shape;4099;p82"/>
          <p:cNvGrpSpPr/>
          <p:nvPr/>
        </p:nvGrpSpPr>
        <p:grpSpPr>
          <a:xfrm>
            <a:off x="674882" y="2236958"/>
            <a:ext cx="1620000" cy="613673"/>
            <a:chOff x="3810000" y="2381250"/>
            <a:chExt cx="1390650" cy="1230631"/>
          </a:xfrm>
        </p:grpSpPr>
        <p:sp>
          <p:nvSpPr>
            <p:cNvPr id="4100" name="Google Shape;4100;p82"/>
            <p:cNvSpPr/>
            <p:nvPr/>
          </p:nvSpPr>
          <p:spPr>
            <a:xfrm flipH="1">
              <a:off x="4505325"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101" name="Google Shape;4101;p82"/>
            <p:cNvSpPr/>
            <p:nvPr/>
          </p:nvSpPr>
          <p:spPr>
            <a:xfrm>
              <a:off x="3810000"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sp>
        <p:nvSpPr>
          <p:cNvPr id="4102" name="Google Shape;4102;p82"/>
          <p:cNvSpPr txBox="1"/>
          <p:nvPr/>
        </p:nvSpPr>
        <p:spPr>
          <a:xfrm>
            <a:off x="667920" y="2817445"/>
            <a:ext cx="1647322" cy="584775"/>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Accumulated depreciation</a:t>
            </a:r>
            <a:endParaRPr/>
          </a:p>
        </p:txBody>
      </p:sp>
      <p:sp>
        <p:nvSpPr>
          <p:cNvPr id="4103" name="Google Shape;4103;p82"/>
          <p:cNvSpPr txBox="1"/>
          <p:nvPr/>
        </p:nvSpPr>
        <p:spPr>
          <a:xfrm>
            <a:off x="1679276" y="2502766"/>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100</a:t>
            </a:r>
            <a:endParaRPr/>
          </a:p>
        </p:txBody>
      </p:sp>
      <p:sp>
        <p:nvSpPr>
          <p:cNvPr id="4104" name="Google Shape;4104;p82"/>
          <p:cNvSpPr/>
          <p:nvPr/>
        </p:nvSpPr>
        <p:spPr>
          <a:xfrm>
            <a:off x="1256101" y="2550772"/>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4105" name="Google Shape;4105;p82"/>
          <p:cNvGrpSpPr/>
          <p:nvPr/>
        </p:nvGrpSpPr>
        <p:grpSpPr>
          <a:xfrm>
            <a:off x="752976" y="2511750"/>
            <a:ext cx="309700" cy="224238"/>
            <a:chOff x="770743" y="3715228"/>
            <a:chExt cx="309700" cy="224238"/>
          </a:xfrm>
        </p:grpSpPr>
        <p:sp>
          <p:nvSpPr>
            <p:cNvPr id="4106" name="Google Shape;4106;p82"/>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107" name="Google Shape;4107;p82"/>
            <p:cNvSpPr/>
            <p:nvPr/>
          </p:nvSpPr>
          <p:spPr>
            <a:xfrm>
              <a:off x="770743"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14</a:t>
              </a:r>
              <a:endParaRPr/>
            </a:p>
          </p:txBody>
        </p:sp>
      </p:grpSp>
      <p:grpSp>
        <p:nvGrpSpPr>
          <p:cNvPr id="4108" name="Google Shape;4108;p82"/>
          <p:cNvGrpSpPr/>
          <p:nvPr/>
        </p:nvGrpSpPr>
        <p:grpSpPr>
          <a:xfrm>
            <a:off x="4247500" y="957969"/>
            <a:ext cx="1620000" cy="613673"/>
            <a:chOff x="3810000" y="2381250"/>
            <a:chExt cx="1390650" cy="1230631"/>
          </a:xfrm>
        </p:grpSpPr>
        <p:sp>
          <p:nvSpPr>
            <p:cNvPr id="4109" name="Google Shape;4109;p82"/>
            <p:cNvSpPr/>
            <p:nvPr/>
          </p:nvSpPr>
          <p:spPr>
            <a:xfrm flipH="1">
              <a:off x="4505325"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110" name="Google Shape;4110;p82"/>
            <p:cNvSpPr/>
            <p:nvPr/>
          </p:nvSpPr>
          <p:spPr>
            <a:xfrm>
              <a:off x="3810000" y="2381250"/>
              <a:ext cx="695325" cy="1230631"/>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4111" name="Google Shape;4111;p82"/>
          <p:cNvGrpSpPr/>
          <p:nvPr/>
        </p:nvGrpSpPr>
        <p:grpSpPr>
          <a:xfrm>
            <a:off x="4247500" y="1892397"/>
            <a:ext cx="1620000" cy="613673"/>
            <a:chOff x="3810000" y="2381250"/>
            <a:chExt cx="1390650" cy="1230631"/>
          </a:xfrm>
        </p:grpSpPr>
        <p:sp>
          <p:nvSpPr>
            <p:cNvPr id="4112" name="Google Shape;4112;p82"/>
            <p:cNvSpPr/>
            <p:nvPr/>
          </p:nvSpPr>
          <p:spPr>
            <a:xfrm flipH="1">
              <a:off x="4505325" y="2381250"/>
              <a:ext cx="695325" cy="1230631"/>
            </a:xfrm>
            <a:prstGeom prst="corner">
              <a:avLst>
                <a:gd fmla="val 9300"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113" name="Google Shape;4113;p82"/>
            <p:cNvSpPr/>
            <p:nvPr/>
          </p:nvSpPr>
          <p:spPr>
            <a:xfrm>
              <a:off x="3810000" y="2381250"/>
              <a:ext cx="695325" cy="1230631"/>
            </a:xfrm>
            <a:prstGeom prst="corner">
              <a:avLst>
                <a:gd fmla="val 9300"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4114" name="Google Shape;4114;p82"/>
          <p:cNvGrpSpPr/>
          <p:nvPr/>
        </p:nvGrpSpPr>
        <p:grpSpPr>
          <a:xfrm>
            <a:off x="2556000" y="4767598"/>
            <a:ext cx="1620000" cy="613673"/>
            <a:chOff x="3810000" y="2381250"/>
            <a:chExt cx="1390650" cy="1230631"/>
          </a:xfrm>
        </p:grpSpPr>
        <p:sp>
          <p:nvSpPr>
            <p:cNvPr id="4115" name="Google Shape;4115;p82"/>
            <p:cNvSpPr/>
            <p:nvPr/>
          </p:nvSpPr>
          <p:spPr>
            <a:xfrm flipH="1">
              <a:off x="4505325" y="2381250"/>
              <a:ext cx="695325" cy="1230631"/>
            </a:xfrm>
            <a:prstGeom prst="corner">
              <a:avLst>
                <a:gd fmla="val 9300"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116" name="Google Shape;4116;p82"/>
            <p:cNvSpPr/>
            <p:nvPr/>
          </p:nvSpPr>
          <p:spPr>
            <a:xfrm>
              <a:off x="3810000" y="2381250"/>
              <a:ext cx="695325" cy="1230631"/>
            </a:xfrm>
            <a:prstGeom prst="corner">
              <a:avLst>
                <a:gd fmla="val 9300"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4117" name="Google Shape;4117;p82"/>
          <p:cNvGrpSpPr/>
          <p:nvPr/>
        </p:nvGrpSpPr>
        <p:grpSpPr>
          <a:xfrm>
            <a:off x="2556000" y="5633028"/>
            <a:ext cx="1620000" cy="613673"/>
            <a:chOff x="3810000" y="2381250"/>
            <a:chExt cx="1390650" cy="1230631"/>
          </a:xfrm>
        </p:grpSpPr>
        <p:sp>
          <p:nvSpPr>
            <p:cNvPr id="4118" name="Google Shape;4118;p82"/>
            <p:cNvSpPr/>
            <p:nvPr/>
          </p:nvSpPr>
          <p:spPr>
            <a:xfrm flipH="1">
              <a:off x="4505325" y="2381250"/>
              <a:ext cx="695325" cy="1230631"/>
            </a:xfrm>
            <a:prstGeom prst="corner">
              <a:avLst>
                <a:gd fmla="val 9300"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119" name="Google Shape;4119;p82"/>
            <p:cNvSpPr/>
            <p:nvPr/>
          </p:nvSpPr>
          <p:spPr>
            <a:xfrm>
              <a:off x="3810000" y="2381250"/>
              <a:ext cx="695325" cy="1230631"/>
            </a:xfrm>
            <a:prstGeom prst="corner">
              <a:avLst>
                <a:gd fmla="val 9300"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4120" name="Google Shape;4120;p82"/>
          <p:cNvGrpSpPr/>
          <p:nvPr/>
        </p:nvGrpSpPr>
        <p:grpSpPr>
          <a:xfrm>
            <a:off x="788356" y="5618680"/>
            <a:ext cx="1620000" cy="613673"/>
            <a:chOff x="3810000" y="2381250"/>
            <a:chExt cx="1390650" cy="1230631"/>
          </a:xfrm>
        </p:grpSpPr>
        <p:sp>
          <p:nvSpPr>
            <p:cNvPr id="4121" name="Google Shape;4121;p82"/>
            <p:cNvSpPr/>
            <p:nvPr/>
          </p:nvSpPr>
          <p:spPr>
            <a:xfrm flipH="1">
              <a:off x="4505325" y="2381250"/>
              <a:ext cx="695325" cy="1230631"/>
            </a:xfrm>
            <a:prstGeom prst="corner">
              <a:avLst>
                <a:gd fmla="val 9300"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122" name="Google Shape;4122;p82"/>
            <p:cNvSpPr/>
            <p:nvPr/>
          </p:nvSpPr>
          <p:spPr>
            <a:xfrm>
              <a:off x="3810000" y="2381250"/>
              <a:ext cx="695325" cy="1230631"/>
            </a:xfrm>
            <a:prstGeom prst="corner">
              <a:avLst>
                <a:gd fmla="val 9300"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4123" name="Google Shape;4123;p82"/>
          <p:cNvGrpSpPr/>
          <p:nvPr/>
        </p:nvGrpSpPr>
        <p:grpSpPr>
          <a:xfrm>
            <a:off x="4292494" y="5448381"/>
            <a:ext cx="1620000" cy="796276"/>
            <a:chOff x="3810000" y="2015069"/>
            <a:chExt cx="1390650" cy="1596814"/>
          </a:xfrm>
        </p:grpSpPr>
        <p:sp>
          <p:nvSpPr>
            <p:cNvPr id="4124" name="Google Shape;4124;p82"/>
            <p:cNvSpPr/>
            <p:nvPr/>
          </p:nvSpPr>
          <p:spPr>
            <a:xfrm flipH="1">
              <a:off x="4505325" y="2015073"/>
              <a:ext cx="695325" cy="1596810"/>
            </a:xfrm>
            <a:prstGeom prst="corner">
              <a:avLst>
                <a:gd fmla="val 7267" name="adj1"/>
                <a:gd fmla="val 7888"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125" name="Google Shape;4125;p82"/>
            <p:cNvSpPr/>
            <p:nvPr/>
          </p:nvSpPr>
          <p:spPr>
            <a:xfrm>
              <a:off x="3810000" y="2015069"/>
              <a:ext cx="695325" cy="1596812"/>
            </a:xfrm>
            <a:prstGeom prst="corner">
              <a:avLst>
                <a:gd fmla="val 7268" name="adj1"/>
                <a:gd fmla="val 7888"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4126" name="Google Shape;4126;p82"/>
          <p:cNvGrpSpPr/>
          <p:nvPr/>
        </p:nvGrpSpPr>
        <p:grpSpPr>
          <a:xfrm>
            <a:off x="6382456" y="5448381"/>
            <a:ext cx="1620000" cy="796276"/>
            <a:chOff x="3810000" y="2015069"/>
            <a:chExt cx="1390650" cy="1596814"/>
          </a:xfrm>
        </p:grpSpPr>
        <p:sp>
          <p:nvSpPr>
            <p:cNvPr id="4127" name="Google Shape;4127;p82"/>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128" name="Google Shape;4128;p82"/>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4129" name="Google Shape;4129;p82"/>
          <p:cNvGrpSpPr/>
          <p:nvPr/>
        </p:nvGrpSpPr>
        <p:grpSpPr>
          <a:xfrm>
            <a:off x="9983452" y="3159099"/>
            <a:ext cx="1620000" cy="796276"/>
            <a:chOff x="3810000" y="2015069"/>
            <a:chExt cx="1390650" cy="1596814"/>
          </a:xfrm>
        </p:grpSpPr>
        <p:sp>
          <p:nvSpPr>
            <p:cNvPr id="4130" name="Google Shape;4130;p82"/>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131" name="Google Shape;4131;p82"/>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4132" name="Google Shape;4132;p82"/>
          <p:cNvGrpSpPr/>
          <p:nvPr/>
        </p:nvGrpSpPr>
        <p:grpSpPr>
          <a:xfrm>
            <a:off x="8214558" y="1260018"/>
            <a:ext cx="1620000" cy="796276"/>
            <a:chOff x="3810000" y="2015069"/>
            <a:chExt cx="1390650" cy="1596814"/>
          </a:xfrm>
        </p:grpSpPr>
        <p:sp>
          <p:nvSpPr>
            <p:cNvPr id="4133" name="Google Shape;4133;p82"/>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134" name="Google Shape;4134;p82"/>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4135" name="Google Shape;4135;p82"/>
          <p:cNvGrpSpPr/>
          <p:nvPr/>
        </p:nvGrpSpPr>
        <p:grpSpPr>
          <a:xfrm>
            <a:off x="10006085" y="1263488"/>
            <a:ext cx="1620000" cy="796276"/>
            <a:chOff x="3810000" y="2015069"/>
            <a:chExt cx="1390650" cy="1596814"/>
          </a:xfrm>
        </p:grpSpPr>
        <p:sp>
          <p:nvSpPr>
            <p:cNvPr id="4136" name="Google Shape;4136;p82"/>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137" name="Google Shape;4137;p82"/>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grpSp>
        <p:nvGrpSpPr>
          <p:cNvPr id="4138" name="Google Shape;4138;p82"/>
          <p:cNvGrpSpPr/>
          <p:nvPr/>
        </p:nvGrpSpPr>
        <p:grpSpPr>
          <a:xfrm>
            <a:off x="6428511" y="1266563"/>
            <a:ext cx="1620000" cy="796276"/>
            <a:chOff x="3810000" y="2015069"/>
            <a:chExt cx="1390650" cy="1596814"/>
          </a:xfrm>
        </p:grpSpPr>
        <p:sp>
          <p:nvSpPr>
            <p:cNvPr id="4139" name="Google Shape;4139;p82"/>
            <p:cNvSpPr/>
            <p:nvPr/>
          </p:nvSpPr>
          <p:spPr>
            <a:xfrm flipH="1">
              <a:off x="4505325" y="2015073"/>
              <a:ext cx="695325" cy="1596810"/>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140" name="Google Shape;4140;p82"/>
            <p:cNvSpPr/>
            <p:nvPr/>
          </p:nvSpPr>
          <p:spPr>
            <a:xfrm>
              <a:off x="3810000" y="2015069"/>
              <a:ext cx="695325" cy="1596812"/>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grpSp>
      <p:sp>
        <p:nvSpPr>
          <p:cNvPr id="4141" name="Google Shape;4141;p82"/>
          <p:cNvSpPr/>
          <p:nvPr/>
        </p:nvSpPr>
        <p:spPr>
          <a:xfrm>
            <a:off x="1357425" y="4452899"/>
            <a:ext cx="10586794" cy="1205854"/>
          </a:xfrm>
          <a:prstGeom prst="rect">
            <a:avLst/>
          </a:prstGeom>
          <a:solidFill>
            <a:srgbClr val="F2F2F2">
              <a:alpha val="86666"/>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142" name="Google Shape;4142;p82"/>
          <p:cNvSpPr/>
          <p:nvPr/>
        </p:nvSpPr>
        <p:spPr>
          <a:xfrm rot="10800000">
            <a:off x="153289" y="4549188"/>
            <a:ext cx="950259" cy="1037381"/>
          </a:xfrm>
          <a:prstGeom prst="downArrow">
            <a:avLst>
              <a:gd fmla="val 50000" name="adj1"/>
              <a:gd fmla="val 50000" name="adj2"/>
            </a:avLst>
          </a:prstGeom>
          <a:solidFill>
            <a:schemeClr val="accent6">
              <a:alpha val="77647"/>
            </a:schemeClr>
          </a:solidFill>
          <a:ln>
            <a:noFill/>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143" name="Google Shape;4143;p82"/>
          <p:cNvSpPr/>
          <p:nvPr/>
        </p:nvSpPr>
        <p:spPr>
          <a:xfrm>
            <a:off x="152838" y="842384"/>
            <a:ext cx="950259" cy="1037381"/>
          </a:xfrm>
          <a:prstGeom prst="downArrow">
            <a:avLst>
              <a:gd fmla="val 50000" name="adj1"/>
              <a:gd fmla="val 50000" name="adj2"/>
            </a:avLst>
          </a:prstGeom>
          <a:solidFill>
            <a:schemeClr val="accent2">
              <a:alpha val="77647"/>
            </a:schemeClr>
          </a:solidFill>
          <a:ln>
            <a:noFill/>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144" name="Google Shape;4144;p82"/>
          <p:cNvSpPr/>
          <p:nvPr/>
        </p:nvSpPr>
        <p:spPr>
          <a:xfrm rot="10800000">
            <a:off x="10548000" y="1757882"/>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4145" name="Google Shape;4145;p82"/>
          <p:cNvSpPr/>
          <p:nvPr/>
        </p:nvSpPr>
        <p:spPr>
          <a:xfrm>
            <a:off x="10548000" y="1505882"/>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548135"/>
              </a:solidFill>
              <a:latin typeface="Calibri"/>
              <a:ea typeface="Calibri"/>
              <a:cs typeface="Calibri"/>
              <a:sym typeface="Calibri"/>
            </a:endParaRPr>
          </a:p>
        </p:txBody>
      </p:sp>
      <p:grpSp>
        <p:nvGrpSpPr>
          <p:cNvPr id="4146" name="Google Shape;4146;p82"/>
          <p:cNvGrpSpPr/>
          <p:nvPr/>
        </p:nvGrpSpPr>
        <p:grpSpPr>
          <a:xfrm>
            <a:off x="1536422" y="4737785"/>
            <a:ext cx="10186175" cy="756551"/>
            <a:chOff x="719091" y="1719856"/>
            <a:chExt cx="9540882" cy="791545"/>
          </a:xfrm>
        </p:grpSpPr>
        <p:sp>
          <p:nvSpPr>
            <p:cNvPr id="4147" name="Google Shape;4147;p82"/>
            <p:cNvSpPr txBox="1"/>
            <p:nvPr/>
          </p:nvSpPr>
          <p:spPr>
            <a:xfrm>
              <a:off x="1460917" y="1719859"/>
              <a:ext cx="5648774" cy="790969"/>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139700" marR="0" rtl="0" algn="l">
                <a:spcBef>
                  <a:spcPts val="0"/>
                </a:spcBef>
                <a:spcAft>
                  <a:spcPts val="0"/>
                </a:spcAft>
                <a:buNone/>
              </a:pPr>
              <a:r>
                <a:rPr lang="en-US" sz="2000">
                  <a:solidFill>
                    <a:schemeClr val="dk1"/>
                  </a:solidFill>
                  <a:latin typeface="Calibri"/>
                  <a:ea typeface="Calibri"/>
                  <a:cs typeface="Calibri"/>
                  <a:sym typeface="Calibri"/>
                </a:rPr>
                <a:t>3월 31일까지 사용된 이연 광고비를 회계 처리함.</a:t>
              </a:r>
              <a:endParaRPr sz="2000">
                <a:solidFill>
                  <a:schemeClr val="dk1"/>
                </a:solidFill>
                <a:latin typeface="Avenir"/>
                <a:ea typeface="Avenir"/>
                <a:cs typeface="Avenir"/>
                <a:sym typeface="Avenir"/>
              </a:endParaRPr>
            </a:p>
          </p:txBody>
        </p:sp>
        <p:sp>
          <p:nvSpPr>
            <p:cNvPr id="4148" name="Google Shape;4148;p82"/>
            <p:cNvSpPr txBox="1"/>
            <p:nvPr/>
          </p:nvSpPr>
          <p:spPr>
            <a:xfrm>
              <a:off x="7107675" y="1720432"/>
              <a:ext cx="1576448" cy="790969"/>
            </a:xfrm>
            <a:prstGeom prst="rect">
              <a:avLst/>
            </a:prstGeom>
            <a:solidFill>
              <a:srgbClr val="E1EFD8"/>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1400">
                  <a:solidFill>
                    <a:srgbClr val="BFBFBF"/>
                  </a:solidFill>
                  <a:latin typeface="Avenir"/>
                  <a:ea typeface="Avenir"/>
                  <a:cs typeface="Avenir"/>
                  <a:sym typeface="Avenir"/>
                </a:rPr>
                <a:t>Advertising</a:t>
              </a: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200</a:t>
              </a:r>
              <a:endParaRPr/>
            </a:p>
          </p:txBody>
        </p:sp>
        <p:sp>
          <p:nvSpPr>
            <p:cNvPr id="4149" name="Google Shape;4149;p82"/>
            <p:cNvSpPr txBox="1"/>
            <p:nvPr/>
          </p:nvSpPr>
          <p:spPr>
            <a:xfrm>
              <a:off x="8683525" y="1720431"/>
              <a:ext cx="1576448" cy="790969"/>
            </a:xfrm>
            <a:prstGeom prst="rect">
              <a:avLst/>
            </a:prstGeom>
            <a:solidFill>
              <a:srgbClr val="FBE4D4"/>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1400">
                  <a:solidFill>
                    <a:srgbClr val="BFBFBF"/>
                  </a:solidFill>
                  <a:latin typeface="Avenir"/>
                  <a:ea typeface="Avenir"/>
                  <a:cs typeface="Avenir"/>
                  <a:sym typeface="Avenir"/>
                </a:rPr>
                <a:t>Deferred expenses</a:t>
              </a:r>
              <a:endParaRPr b="1" sz="1600">
                <a:solidFill>
                  <a:srgbClr val="BFBFBF"/>
                </a:solidFill>
                <a:latin typeface="Avenir"/>
                <a:ea typeface="Avenir"/>
                <a:cs typeface="Avenir"/>
                <a:sym typeface="Aveni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200</a:t>
              </a:r>
              <a:endParaRPr/>
            </a:p>
          </p:txBody>
        </p:sp>
        <p:sp>
          <p:nvSpPr>
            <p:cNvPr id="4150" name="Google Shape;4150;p82"/>
            <p:cNvSpPr txBox="1"/>
            <p:nvPr/>
          </p:nvSpPr>
          <p:spPr>
            <a:xfrm>
              <a:off x="719091" y="1719856"/>
              <a:ext cx="741825" cy="790969"/>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15</a:t>
              </a:r>
              <a:endParaRPr/>
            </a:p>
          </p:txBody>
        </p:sp>
      </p:grpSp>
      <p:sp>
        <p:nvSpPr>
          <p:cNvPr id="4151" name="Google Shape;4151;p82"/>
          <p:cNvSpPr txBox="1"/>
          <p:nvPr/>
        </p:nvSpPr>
        <p:spPr>
          <a:xfrm>
            <a:off x="6403128" y="3419412"/>
            <a:ext cx="1548343" cy="566133"/>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160</a:t>
            </a:r>
            <a:endParaRPr sz="2400">
              <a:solidFill>
                <a:schemeClr val="dk1"/>
              </a:solidFill>
              <a:latin typeface="Calibri"/>
              <a:ea typeface="Calibri"/>
              <a:cs typeface="Calibri"/>
              <a:sym typeface="Calibri"/>
            </a:endParaRPr>
          </a:p>
        </p:txBody>
      </p:sp>
      <p:sp>
        <p:nvSpPr>
          <p:cNvPr id="4152" name="Google Shape;4152;p82"/>
          <p:cNvSpPr txBox="1"/>
          <p:nvPr/>
        </p:nvSpPr>
        <p:spPr>
          <a:xfrm>
            <a:off x="6403129" y="3419412"/>
            <a:ext cx="1548343" cy="566133"/>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360</a:t>
            </a:r>
            <a:endParaRPr sz="2400">
              <a:solidFill>
                <a:schemeClr val="dk1"/>
              </a:solidFill>
              <a:latin typeface="Calibri"/>
              <a:ea typeface="Calibri"/>
              <a:cs typeface="Calibri"/>
              <a:sym typeface="Calibri"/>
            </a:endParaRPr>
          </a:p>
        </p:txBody>
      </p:sp>
      <p:sp>
        <p:nvSpPr>
          <p:cNvPr id="4153" name="Google Shape;4153;p82"/>
          <p:cNvSpPr txBox="1"/>
          <p:nvPr/>
        </p:nvSpPr>
        <p:spPr>
          <a:xfrm>
            <a:off x="8351278" y="4724896"/>
            <a:ext cx="1683070" cy="756000"/>
          </a:xfrm>
          <a:prstGeom prst="rect">
            <a:avLst/>
          </a:prstGeom>
          <a:solidFill>
            <a:srgbClr val="548135"/>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200</a:t>
            </a:r>
            <a:endParaRPr/>
          </a:p>
        </p:txBody>
      </p:sp>
      <p:sp>
        <p:nvSpPr>
          <p:cNvPr id="4154" name="Google Shape;4154;p82"/>
          <p:cNvSpPr txBox="1"/>
          <p:nvPr/>
        </p:nvSpPr>
        <p:spPr>
          <a:xfrm>
            <a:off x="10039527" y="4704858"/>
            <a:ext cx="1683070" cy="756000"/>
          </a:xfrm>
          <a:prstGeom prst="rect">
            <a:avLst/>
          </a:prstGeom>
          <a:solidFill>
            <a:schemeClr val="accent2"/>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200</a:t>
            </a:r>
            <a:endParaRPr/>
          </a:p>
        </p:txBody>
      </p:sp>
    </p:spTree>
  </p:cSld>
  <p:clrMapOvr>
    <a:masterClrMapping/>
  </p:clrMapOvr>
  <mc:AlternateContent>
    <mc:Choice Requires="p14">
      <p:transition spd="slow" p14:dur="700">
        <p:fade/>
      </p:transition>
    </mc:Choice>
    <mc:Fallback>
      <p:transition spd="slow">
        <p:fade/>
      </p:transition>
    </mc:Fallback>
  </mc:AlternateContent>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117"/>
                                        </p:tgtEl>
                                        <p:attrNameLst>
                                          <p:attrName>style.visibility</p:attrName>
                                        </p:attrNameLst>
                                      </p:cBhvr>
                                      <p:to>
                                        <p:strVal val="visible"/>
                                      </p:to>
                                    </p:set>
                                    <p:animEffect filter="fade" transition="in">
                                      <p:cBhvr>
                                        <p:cTn dur="500"/>
                                        <p:tgtEl>
                                          <p:spTgt spid="4117"/>
                                        </p:tgtEl>
                                      </p:cBhvr>
                                    </p:animEffect>
                                  </p:childTnLst>
                                </p:cTn>
                              </p:par>
                              <p:par>
                                <p:cTn fill="hold" nodeType="withEffect" presetClass="entr" presetID="10" presetSubtype="0">
                                  <p:stCondLst>
                                    <p:cond delay="0"/>
                                  </p:stCondLst>
                                  <p:childTnLst>
                                    <p:set>
                                      <p:cBhvr>
                                        <p:cTn dur="1" fill="hold">
                                          <p:stCondLst>
                                            <p:cond delay="0"/>
                                          </p:stCondLst>
                                        </p:cTn>
                                        <p:tgtEl>
                                          <p:spTgt spid="3914"/>
                                        </p:tgtEl>
                                        <p:attrNameLst>
                                          <p:attrName>style.visibility</p:attrName>
                                        </p:attrNameLst>
                                      </p:cBhvr>
                                      <p:to>
                                        <p:strVal val="visible"/>
                                      </p:to>
                                    </p:set>
                                    <p:animEffect filter="fade" transition="in">
                                      <p:cBhvr>
                                        <p:cTn dur="500"/>
                                        <p:tgtEl>
                                          <p:spTgt spid="3914"/>
                                        </p:tgtEl>
                                      </p:cBhvr>
                                    </p:animEffect>
                                  </p:childTnLst>
                                </p:cTn>
                              </p:par>
                            </p:childTnLst>
                          </p:cTn>
                        </p:par>
                        <p:par>
                          <p:cTn fill="hold">
                            <p:stCondLst>
                              <p:cond delay="500"/>
                            </p:stCondLst>
                            <p:childTnLst>
                              <p:par>
                                <p:cTn fill="hold" nodeType="afterEffect" presetClass="exit" presetID="10" presetSubtype="0">
                                  <p:stCondLst>
                                    <p:cond delay="0"/>
                                  </p:stCondLst>
                                  <p:childTnLst>
                                    <p:animEffect filter="fade" transition="out">
                                      <p:cBhvr>
                                        <p:cTn dur="2000"/>
                                        <p:tgtEl>
                                          <p:spTgt spid="4153"/>
                                        </p:tgtEl>
                                      </p:cBhvr>
                                    </p:animEffect>
                                    <p:set>
                                      <p:cBhvr>
                                        <p:cTn dur="1" fill="hold">
                                          <p:stCondLst>
                                            <p:cond delay="2000"/>
                                          </p:stCondLst>
                                        </p:cTn>
                                        <p:tgtEl>
                                          <p:spTgt spid="4153"/>
                                        </p:tgtEl>
                                        <p:attrNameLst>
                                          <p:attrName>style.visibility</p:attrName>
                                        </p:attrNameLst>
                                      </p:cBhvr>
                                      <p:to>
                                        <p:strVal val="hidden"/>
                                      </p:to>
                                    </p:set>
                                  </p:childTnLst>
                                </p:cTn>
                              </p:par>
                              <p:par>
                                <p:cTn fill="hold" nodeType="withEffect" presetClass="entr" presetID="10" presetSubtype="0">
                                  <p:stCondLst>
                                    <p:cond delay="0"/>
                                  </p:stCondLst>
                                  <p:childTnLst>
                                    <p:set>
                                      <p:cBhvr>
                                        <p:cTn dur="1" fill="hold">
                                          <p:stCondLst>
                                            <p:cond delay="0"/>
                                          </p:stCondLst>
                                        </p:cTn>
                                        <p:tgtEl>
                                          <p:spTgt spid="4092"/>
                                        </p:tgtEl>
                                        <p:attrNameLst>
                                          <p:attrName>style.visibility</p:attrName>
                                        </p:attrNameLst>
                                      </p:cBhvr>
                                      <p:to>
                                        <p:strVal val="visible"/>
                                      </p:to>
                                    </p:set>
                                    <p:animEffect filter="fade" transition="in">
                                      <p:cBhvr>
                                        <p:cTn dur="1000"/>
                                        <p:tgtEl>
                                          <p:spTgt spid="4092"/>
                                        </p:tgtEl>
                                      </p:cBhvr>
                                    </p:animEffect>
                                  </p:childTnLst>
                                </p:cTn>
                              </p:par>
                              <p:par>
                                <p:cTn fill="hold" nodeType="withEffect" presetClass="entr" presetID="10" presetSubtype="0">
                                  <p:stCondLst>
                                    <p:cond delay="0"/>
                                  </p:stCondLst>
                                  <p:childTnLst>
                                    <p:set>
                                      <p:cBhvr>
                                        <p:cTn dur="1" fill="hold">
                                          <p:stCondLst>
                                            <p:cond delay="0"/>
                                          </p:stCondLst>
                                        </p:cTn>
                                        <p:tgtEl>
                                          <p:spTgt spid="3987"/>
                                        </p:tgtEl>
                                        <p:attrNameLst>
                                          <p:attrName>style.visibility</p:attrName>
                                        </p:attrNameLst>
                                      </p:cBhvr>
                                      <p:to>
                                        <p:strVal val="visible"/>
                                      </p:to>
                                    </p:set>
                                    <p:animEffect filter="fade" transition="in">
                                      <p:cBhvr>
                                        <p:cTn dur="1000"/>
                                        <p:tgtEl>
                                          <p:spTgt spid="3987"/>
                                        </p:tgtEl>
                                      </p:cBhvr>
                                    </p:animEffect>
                                  </p:childTnLst>
                                </p:cTn>
                              </p:par>
                              <p:par>
                                <p:cTn fill="hold" nodeType="withEffect" presetClass="entr" presetID="10" presetSubtype="0">
                                  <p:stCondLst>
                                    <p:cond delay="0"/>
                                  </p:stCondLst>
                                  <p:childTnLst>
                                    <p:set>
                                      <p:cBhvr>
                                        <p:cTn dur="1" fill="hold">
                                          <p:stCondLst>
                                            <p:cond delay="0"/>
                                          </p:stCondLst>
                                        </p:cTn>
                                        <p:tgtEl>
                                          <p:spTgt spid="3986"/>
                                        </p:tgtEl>
                                        <p:attrNameLst>
                                          <p:attrName>style.visibility</p:attrName>
                                        </p:attrNameLst>
                                      </p:cBhvr>
                                      <p:to>
                                        <p:strVal val="visible"/>
                                      </p:to>
                                    </p:set>
                                    <p:animEffect filter="fade" transition="in">
                                      <p:cBhvr>
                                        <p:cTn dur="1000"/>
                                        <p:tgtEl>
                                          <p:spTgt spid="3986"/>
                                        </p:tgtEl>
                                      </p:cBhvr>
                                    </p:animEffect>
                                  </p:childTnLst>
                                </p:cTn>
                              </p:par>
                            </p:childTnLst>
                          </p:cTn>
                        </p:par>
                        <p:par>
                          <p:cTn fill="hold">
                            <p:stCondLst>
                              <p:cond delay="2500"/>
                            </p:stCondLst>
                            <p:childTnLst>
                              <p:par>
                                <p:cTn fill="hold" nodeType="afterEffect" presetClass="entr" presetID="10" presetSubtype="0">
                                  <p:stCondLst>
                                    <p:cond delay="0"/>
                                  </p:stCondLst>
                                  <p:childTnLst>
                                    <p:set>
                                      <p:cBhvr>
                                        <p:cTn dur="1" fill="hold">
                                          <p:stCondLst>
                                            <p:cond delay="0"/>
                                          </p:stCondLst>
                                        </p:cTn>
                                        <p:tgtEl>
                                          <p:spTgt spid="4151"/>
                                        </p:tgtEl>
                                        <p:attrNameLst>
                                          <p:attrName>style.visibility</p:attrName>
                                        </p:attrNameLst>
                                      </p:cBhvr>
                                      <p:to>
                                        <p:strVal val="visible"/>
                                      </p:to>
                                    </p:set>
                                    <p:animEffect filter="fade" transition="in">
                                      <p:cBhvr>
                                        <p:cTn dur="1000"/>
                                        <p:tgtEl>
                                          <p:spTgt spid="4151"/>
                                        </p:tgtEl>
                                      </p:cBhvr>
                                    </p:animEffect>
                                  </p:childTnLst>
                                </p:cTn>
                              </p:par>
                              <p:par>
                                <p:cTn fill="hold" nodeType="withEffect" presetClass="exit" presetID="10" presetSubtype="0">
                                  <p:stCondLst>
                                    <p:cond delay="0"/>
                                  </p:stCondLst>
                                  <p:childTnLst>
                                    <p:animEffect filter="fade" transition="out">
                                      <p:cBhvr>
                                        <p:cTn dur="500"/>
                                        <p:tgtEl>
                                          <p:spTgt spid="4152"/>
                                        </p:tgtEl>
                                      </p:cBhvr>
                                    </p:animEffect>
                                    <p:set>
                                      <p:cBhvr>
                                        <p:cTn dur="1" fill="hold">
                                          <p:stCondLst>
                                            <p:cond delay="500"/>
                                          </p:stCondLst>
                                        </p:cTn>
                                        <p:tgtEl>
                                          <p:spTgt spid="4152"/>
                                        </p:tgtEl>
                                        <p:attrNameLst>
                                          <p:attrName>style.visibility</p:attrName>
                                        </p:attrNameLst>
                                      </p:cBhvr>
                                      <p:to>
                                        <p:strVal val="hidden"/>
                                      </p:to>
                                    </p:set>
                                  </p:childTnLst>
                                </p:cTn>
                              </p:par>
                            </p:childTnLst>
                          </p:cTn>
                        </p:par>
                        <p:par>
                          <p:cTn fill="hold">
                            <p:stCondLst>
                              <p:cond delay="3500"/>
                            </p:stCondLst>
                            <p:childTnLst>
                              <p:par>
                                <p:cTn fill="hold" nodeType="afterEffect" presetClass="exit" presetID="10" presetSubtype="0">
                                  <p:stCondLst>
                                    <p:cond delay="0"/>
                                  </p:stCondLst>
                                  <p:childTnLst>
                                    <p:animEffect filter="fade" transition="out">
                                      <p:cBhvr>
                                        <p:cTn dur="1000"/>
                                        <p:tgtEl>
                                          <p:spTgt spid="4154"/>
                                        </p:tgtEl>
                                      </p:cBhvr>
                                    </p:animEffect>
                                    <p:set>
                                      <p:cBhvr>
                                        <p:cTn dur="1" fill="hold">
                                          <p:stCondLst>
                                            <p:cond delay="1000"/>
                                          </p:stCondLst>
                                        </p:cTn>
                                        <p:tgtEl>
                                          <p:spTgt spid="4154"/>
                                        </p:tgtEl>
                                        <p:attrNameLst>
                                          <p:attrName>style.visibility</p:attrName>
                                        </p:attrNameLst>
                                      </p:cBhvr>
                                      <p:to>
                                        <p:strVal val="hidden"/>
                                      </p:to>
                                    </p:set>
                                  </p:childTnLst>
                                </p:cTn>
                              </p:par>
                              <p:par>
                                <p:cTn fill="hold" nodeType="withEffect" presetClass="entr" presetID="10" presetSubtype="0">
                                  <p:stCondLst>
                                    <p:cond delay="0"/>
                                  </p:stCondLst>
                                  <p:childTnLst>
                                    <p:set>
                                      <p:cBhvr>
                                        <p:cTn dur="1" fill="hold">
                                          <p:stCondLst>
                                            <p:cond delay="0"/>
                                          </p:stCondLst>
                                        </p:cTn>
                                        <p:tgtEl>
                                          <p:spTgt spid="4089"/>
                                        </p:tgtEl>
                                        <p:attrNameLst>
                                          <p:attrName>style.visibility</p:attrName>
                                        </p:attrNameLst>
                                      </p:cBhvr>
                                      <p:to>
                                        <p:strVal val="visible"/>
                                      </p:to>
                                    </p:set>
                                    <p:animEffect filter="fade" transition="in">
                                      <p:cBhvr>
                                        <p:cTn dur="1000"/>
                                        <p:tgtEl>
                                          <p:spTgt spid="4089"/>
                                        </p:tgtEl>
                                      </p:cBhvr>
                                    </p:animEffect>
                                  </p:childTnLst>
                                </p:cTn>
                              </p:par>
                              <p:par>
                                <p:cTn fill="hold" nodeType="withEffect" presetClass="entr" presetID="10" presetSubtype="0">
                                  <p:stCondLst>
                                    <p:cond delay="0"/>
                                  </p:stCondLst>
                                  <p:childTnLst>
                                    <p:set>
                                      <p:cBhvr>
                                        <p:cTn dur="1" fill="hold">
                                          <p:stCondLst>
                                            <p:cond delay="0"/>
                                          </p:stCondLst>
                                        </p:cTn>
                                        <p:tgtEl>
                                          <p:spTgt spid="3989"/>
                                        </p:tgtEl>
                                        <p:attrNameLst>
                                          <p:attrName>style.visibility</p:attrName>
                                        </p:attrNameLst>
                                      </p:cBhvr>
                                      <p:to>
                                        <p:strVal val="visible"/>
                                      </p:to>
                                    </p:set>
                                    <p:animEffect filter="fade" transition="in">
                                      <p:cBhvr>
                                        <p:cTn dur="1000"/>
                                        <p:tgtEl>
                                          <p:spTgt spid="3989"/>
                                        </p:tgtEl>
                                      </p:cBhvr>
                                    </p:animEffect>
                                  </p:childTnLst>
                                </p:cTn>
                              </p:par>
                              <p:par>
                                <p:cTn fill="hold" nodeType="withEffect" presetClass="entr" presetID="10" presetSubtype="0">
                                  <p:stCondLst>
                                    <p:cond delay="0"/>
                                  </p:stCondLst>
                                  <p:childTnLst>
                                    <p:set>
                                      <p:cBhvr>
                                        <p:cTn dur="1" fill="hold">
                                          <p:stCondLst>
                                            <p:cond delay="0"/>
                                          </p:stCondLst>
                                        </p:cTn>
                                        <p:tgtEl>
                                          <p:spTgt spid="3988"/>
                                        </p:tgtEl>
                                        <p:attrNameLst>
                                          <p:attrName>style.visibility</p:attrName>
                                        </p:attrNameLst>
                                      </p:cBhvr>
                                      <p:to>
                                        <p:strVal val="visible"/>
                                      </p:to>
                                    </p:set>
                                    <p:animEffect filter="fade" transition="in">
                                      <p:cBhvr>
                                        <p:cTn dur="1000"/>
                                        <p:tgtEl>
                                          <p:spTgt spid="398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142"/>
                                        </p:tgtEl>
                                        <p:attrNameLst>
                                          <p:attrName>style.visibility</p:attrName>
                                        </p:attrNameLst>
                                      </p:cBhvr>
                                      <p:to>
                                        <p:strVal val="visible"/>
                                      </p:to>
                                    </p:set>
                                    <p:animEffect filter="fade" transition="in">
                                      <p:cBhvr>
                                        <p:cTn dur="1000"/>
                                        <p:tgtEl>
                                          <p:spTgt spid="4142"/>
                                        </p:tgtEl>
                                      </p:cBhvr>
                                    </p:animEffect>
                                  </p:childTnLst>
                                </p:cTn>
                              </p:par>
                              <p:par>
                                <p:cTn fill="hold" nodeType="withEffect" presetClass="entr" presetID="10" presetSubtype="0">
                                  <p:stCondLst>
                                    <p:cond delay="0"/>
                                  </p:stCondLst>
                                  <p:childTnLst>
                                    <p:set>
                                      <p:cBhvr>
                                        <p:cTn dur="1" fill="hold">
                                          <p:stCondLst>
                                            <p:cond delay="0"/>
                                          </p:stCondLst>
                                        </p:cTn>
                                        <p:tgtEl>
                                          <p:spTgt spid="4143"/>
                                        </p:tgtEl>
                                        <p:attrNameLst>
                                          <p:attrName>style.visibility</p:attrName>
                                        </p:attrNameLst>
                                      </p:cBhvr>
                                      <p:to>
                                        <p:strVal val="visible"/>
                                      </p:to>
                                    </p:set>
                                    <p:animEffect filter="fade" transition="in">
                                      <p:cBhvr>
                                        <p:cTn dur="1000"/>
                                        <p:tgtEl>
                                          <p:spTgt spid="414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2F2F2"/>
        </a:solidFill>
      </p:bgPr>
    </p:bg>
    <p:spTree>
      <p:nvGrpSpPr>
        <p:cNvPr id="4159" name="Shape 4159"/>
        <p:cNvGrpSpPr/>
        <p:nvPr/>
      </p:nvGrpSpPr>
      <p:grpSpPr>
        <a:xfrm>
          <a:off x="0" y="0"/>
          <a:ext cx="0" cy="0"/>
          <a:chOff x="0" y="0"/>
          <a:chExt cx="0" cy="0"/>
        </a:xfrm>
      </p:grpSpPr>
      <p:sp>
        <p:nvSpPr>
          <p:cNvPr id="4160" name="Google Shape;4160;p83"/>
          <p:cNvSpPr txBox="1"/>
          <p:nvPr/>
        </p:nvSpPr>
        <p:spPr>
          <a:xfrm>
            <a:off x="4187006" y="284371"/>
            <a:ext cx="3629520"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grpSp>
        <p:nvGrpSpPr>
          <p:cNvPr id="4161" name="Google Shape;4161;p83"/>
          <p:cNvGrpSpPr/>
          <p:nvPr/>
        </p:nvGrpSpPr>
        <p:grpSpPr>
          <a:xfrm>
            <a:off x="1284578" y="2130923"/>
            <a:ext cx="10187237" cy="756009"/>
            <a:chOff x="1284578" y="2130923"/>
            <a:chExt cx="10187237" cy="756009"/>
          </a:xfrm>
        </p:grpSpPr>
        <p:grpSp>
          <p:nvGrpSpPr>
            <p:cNvPr id="4162" name="Google Shape;4162;p83"/>
            <p:cNvGrpSpPr/>
            <p:nvPr/>
          </p:nvGrpSpPr>
          <p:grpSpPr>
            <a:xfrm>
              <a:off x="1284578" y="2130929"/>
              <a:ext cx="10187237" cy="756003"/>
              <a:chOff x="719091" y="1719857"/>
              <a:chExt cx="9545223" cy="756003"/>
            </a:xfrm>
          </p:grpSpPr>
          <p:sp>
            <p:nvSpPr>
              <p:cNvPr id="4163" name="Google Shape;4163;p83"/>
              <p:cNvSpPr txBox="1"/>
              <p:nvPr/>
            </p:nvSpPr>
            <p:spPr>
              <a:xfrm>
                <a:off x="1456307" y="1719860"/>
                <a:ext cx="5650757" cy="756000"/>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139700" marR="0" rtl="0" algn="l">
                  <a:spcBef>
                    <a:spcPts val="0"/>
                  </a:spcBef>
                  <a:spcAft>
                    <a:spcPts val="0"/>
                  </a:spcAft>
                  <a:buNone/>
                </a:pPr>
                <a:r>
                  <a:rPr lang="en-US" sz="2000">
                    <a:solidFill>
                      <a:schemeClr val="dk1"/>
                    </a:solidFill>
                    <a:latin typeface="Calibri"/>
                    <a:ea typeface="Calibri"/>
                    <a:cs typeface="Calibri"/>
                    <a:sym typeface="Calibri"/>
                  </a:rPr>
                  <a:t>ZZZ 공급업체에게 전액 지급함.</a:t>
                </a:r>
                <a:endParaRPr sz="2000">
                  <a:solidFill>
                    <a:schemeClr val="dk1"/>
                  </a:solidFill>
                  <a:latin typeface="Avenir"/>
                  <a:ea typeface="Avenir"/>
                  <a:cs typeface="Avenir"/>
                  <a:sym typeface="Avenir"/>
                </a:endParaRPr>
              </a:p>
            </p:txBody>
          </p:sp>
          <p:sp>
            <p:nvSpPr>
              <p:cNvPr id="4164" name="Google Shape;4164;p83"/>
              <p:cNvSpPr txBox="1"/>
              <p:nvPr/>
            </p:nvSpPr>
            <p:spPr>
              <a:xfrm>
                <a:off x="7107065" y="1719857"/>
                <a:ext cx="1578623" cy="756000"/>
              </a:xfrm>
              <a:prstGeom prst="rect">
                <a:avLst/>
              </a:prstGeom>
              <a:solidFill>
                <a:srgbClr val="E1EFD8"/>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1400">
                    <a:solidFill>
                      <a:srgbClr val="BFBFBF"/>
                    </a:solidFill>
                    <a:latin typeface="Avenir"/>
                    <a:ea typeface="Avenir"/>
                    <a:cs typeface="Avenir"/>
                    <a:sym typeface="Avenir"/>
                  </a:rPr>
                  <a:t>Accounts payable</a:t>
                </a: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6,000</a:t>
                </a:r>
                <a:endParaRPr/>
              </a:p>
            </p:txBody>
          </p:sp>
          <p:sp>
            <p:nvSpPr>
              <p:cNvPr id="4165" name="Google Shape;4165;p83"/>
              <p:cNvSpPr txBox="1"/>
              <p:nvPr/>
            </p:nvSpPr>
            <p:spPr>
              <a:xfrm>
                <a:off x="8685691" y="1719857"/>
                <a:ext cx="1578623" cy="756000"/>
              </a:xfrm>
              <a:prstGeom prst="rect">
                <a:avLst/>
              </a:prstGeom>
              <a:solidFill>
                <a:srgbClr val="FBE4D4"/>
              </a:solidFill>
              <a:ln cap="flat" cmpd="sng" w="9525">
                <a:solidFill>
                  <a:srgbClr val="BFBFBF"/>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1400">
                    <a:solidFill>
                      <a:srgbClr val="BFBFBF"/>
                    </a:solidFill>
                    <a:latin typeface="Avenir"/>
                    <a:ea typeface="Avenir"/>
                    <a:cs typeface="Avenir"/>
                    <a:sym typeface="Avenir"/>
                  </a:rPr>
                  <a:t>Cash</a:t>
                </a:r>
                <a:endParaRPr b="1" sz="1600">
                  <a:solidFill>
                    <a:srgbClr val="BFBFBF"/>
                  </a:solidFill>
                  <a:latin typeface="Avenir"/>
                  <a:ea typeface="Avenir"/>
                  <a:cs typeface="Avenir"/>
                  <a:sym typeface="Aveni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6,000</a:t>
                </a:r>
                <a:endParaRPr/>
              </a:p>
            </p:txBody>
          </p:sp>
          <p:sp>
            <p:nvSpPr>
              <p:cNvPr id="4166" name="Google Shape;4166;p83"/>
              <p:cNvSpPr txBox="1"/>
              <p:nvPr/>
            </p:nvSpPr>
            <p:spPr>
              <a:xfrm>
                <a:off x="719091" y="1719857"/>
                <a:ext cx="737213" cy="756000"/>
              </a:xfrm>
              <a:prstGeom prst="rect">
                <a:avLst/>
              </a:prstGeom>
              <a:solidFill>
                <a:schemeClr val="lt1"/>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16</a:t>
                </a:r>
                <a:endParaRPr/>
              </a:p>
            </p:txBody>
          </p:sp>
        </p:grpSp>
        <p:sp>
          <p:nvSpPr>
            <p:cNvPr id="4167" name="Google Shape;4167;p83"/>
            <p:cNvSpPr txBox="1"/>
            <p:nvPr/>
          </p:nvSpPr>
          <p:spPr>
            <a:xfrm>
              <a:off x="8102209" y="2130926"/>
              <a:ext cx="1684802" cy="756000"/>
            </a:xfrm>
            <a:prstGeom prst="rect">
              <a:avLst/>
            </a:prstGeom>
            <a:solidFill>
              <a:srgbClr val="548135"/>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6,000</a:t>
              </a:r>
              <a:endParaRPr/>
            </a:p>
          </p:txBody>
        </p:sp>
        <p:sp>
          <p:nvSpPr>
            <p:cNvPr id="4168" name="Google Shape;4168;p83"/>
            <p:cNvSpPr txBox="1"/>
            <p:nvPr/>
          </p:nvSpPr>
          <p:spPr>
            <a:xfrm>
              <a:off x="9787014" y="2130923"/>
              <a:ext cx="1684801" cy="756000"/>
            </a:xfrm>
            <a:prstGeom prst="rect">
              <a:avLst/>
            </a:prstGeom>
            <a:solidFill>
              <a:schemeClr val="accent2"/>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6,000</a:t>
              </a:r>
              <a:endParaRPr/>
            </a:p>
          </p:txBody>
        </p:sp>
      </p:grpSp>
      <p:cxnSp>
        <p:nvCxnSpPr>
          <p:cNvPr id="4169" name="Google Shape;4169;p83"/>
          <p:cNvCxnSpPr/>
          <p:nvPr/>
        </p:nvCxnSpPr>
        <p:spPr>
          <a:xfrm>
            <a:off x="4316098" y="717845"/>
            <a:ext cx="3375212" cy="0"/>
          </a:xfrm>
          <a:prstGeom prst="straightConnector1">
            <a:avLst/>
          </a:prstGeom>
          <a:noFill/>
          <a:ln cap="flat" cmpd="sng" w="28575">
            <a:solidFill>
              <a:schemeClr val="accent1"/>
            </a:solidFill>
            <a:prstDash val="dot"/>
            <a:miter lim="800000"/>
            <a:headEnd len="sm" w="sm" type="none"/>
            <a:tailEnd len="sm" w="sm" type="none"/>
          </a:ln>
        </p:spPr>
      </p:cxnSp>
      <p:sp>
        <p:nvSpPr>
          <p:cNvPr id="4170" name="Google Shape;4170;p83"/>
          <p:cNvSpPr/>
          <p:nvPr/>
        </p:nvSpPr>
        <p:spPr>
          <a:xfrm>
            <a:off x="1284578" y="1520543"/>
            <a:ext cx="2024679" cy="42011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2130">
                <a:solidFill>
                  <a:schemeClr val="dk1"/>
                </a:solidFill>
                <a:latin typeface="Avenir"/>
                <a:ea typeface="Avenir"/>
                <a:cs typeface="Avenir"/>
                <a:sym typeface="Avenir"/>
              </a:rPr>
              <a:t>31 March</a:t>
            </a:r>
            <a:endParaRPr sz="2130">
              <a:solidFill>
                <a:schemeClr val="dk1"/>
              </a:solidFill>
              <a:latin typeface="Avenir"/>
              <a:ea typeface="Avenir"/>
              <a:cs typeface="Avenir"/>
              <a:sym typeface="Avenir"/>
            </a:endParaRPr>
          </a:p>
        </p:txBody>
      </p:sp>
    </p:spTree>
  </p:cSld>
  <p:clrMapOvr>
    <a:masterClrMapping/>
  </p:clrMapOvr>
  <mc:AlternateContent>
    <mc:Choice Requires="p14">
      <p:transition spd="slow" p14:dur="700">
        <p:fade/>
      </p:transition>
    </mc:Choice>
    <mc:Fallback>
      <p:transition spd="slow">
        <p:fade/>
      </p:transition>
    </mc:Fallback>
  </mc:AlternateContent>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75" name="Shape 4175"/>
        <p:cNvGrpSpPr/>
        <p:nvPr/>
      </p:nvGrpSpPr>
      <p:grpSpPr>
        <a:xfrm>
          <a:off x="0" y="0"/>
          <a:ext cx="0" cy="0"/>
          <a:chOff x="0" y="0"/>
          <a:chExt cx="0" cy="0"/>
        </a:xfrm>
      </p:grpSpPr>
      <p:sp>
        <p:nvSpPr>
          <p:cNvPr id="4176" name="Google Shape;4176;p84"/>
          <p:cNvSpPr txBox="1"/>
          <p:nvPr/>
        </p:nvSpPr>
        <p:spPr>
          <a:xfrm>
            <a:off x="4187006" y="133386"/>
            <a:ext cx="3629520"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cxnSp>
        <p:nvCxnSpPr>
          <p:cNvPr id="4177" name="Google Shape;4177;p84"/>
          <p:cNvCxnSpPr/>
          <p:nvPr/>
        </p:nvCxnSpPr>
        <p:spPr>
          <a:xfrm>
            <a:off x="4316098" y="566860"/>
            <a:ext cx="3375212" cy="0"/>
          </a:xfrm>
          <a:prstGeom prst="straightConnector1">
            <a:avLst/>
          </a:prstGeom>
          <a:noFill/>
          <a:ln cap="flat" cmpd="sng" w="28575">
            <a:solidFill>
              <a:schemeClr val="accent1"/>
            </a:solidFill>
            <a:prstDash val="dot"/>
            <a:miter lim="800000"/>
            <a:headEnd len="sm" w="sm" type="none"/>
            <a:tailEnd len="sm" w="sm" type="none"/>
          </a:ln>
        </p:spPr>
      </p:cxnSp>
      <p:sp>
        <p:nvSpPr>
          <p:cNvPr id="4178" name="Google Shape;4178;p84"/>
          <p:cNvSpPr txBox="1"/>
          <p:nvPr/>
        </p:nvSpPr>
        <p:spPr>
          <a:xfrm>
            <a:off x="9504213" y="373659"/>
            <a:ext cx="2279791" cy="40011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000">
                <a:solidFill>
                  <a:schemeClr val="accent2"/>
                </a:solidFill>
                <a:latin typeface="Avenir"/>
                <a:ea typeface="Avenir"/>
                <a:cs typeface="Avenir"/>
                <a:sym typeface="Avenir"/>
              </a:rPr>
              <a:t>Sources of funds</a:t>
            </a:r>
            <a:endParaRPr/>
          </a:p>
        </p:txBody>
      </p:sp>
      <p:sp>
        <p:nvSpPr>
          <p:cNvPr id="4179" name="Google Shape;4179;p84"/>
          <p:cNvSpPr txBox="1"/>
          <p:nvPr/>
        </p:nvSpPr>
        <p:spPr>
          <a:xfrm>
            <a:off x="492858" y="373659"/>
            <a:ext cx="1880643" cy="40011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000">
                <a:solidFill>
                  <a:schemeClr val="accent6"/>
                </a:solidFill>
                <a:latin typeface="Avenir"/>
                <a:ea typeface="Avenir"/>
                <a:cs typeface="Avenir"/>
                <a:sym typeface="Avenir"/>
              </a:rPr>
              <a:t>Uses of funds</a:t>
            </a:r>
            <a:endParaRPr/>
          </a:p>
        </p:txBody>
      </p:sp>
      <p:sp>
        <p:nvSpPr>
          <p:cNvPr id="4180" name="Google Shape;4180;p84"/>
          <p:cNvSpPr txBox="1"/>
          <p:nvPr/>
        </p:nvSpPr>
        <p:spPr>
          <a:xfrm>
            <a:off x="6227788" y="2623662"/>
            <a:ext cx="5556216" cy="1692844"/>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Equity</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4181" name="Google Shape;4181;p84"/>
          <p:cNvSpPr txBox="1"/>
          <p:nvPr/>
        </p:nvSpPr>
        <p:spPr>
          <a:xfrm>
            <a:off x="6410845" y="3135649"/>
            <a:ext cx="1544844" cy="770509"/>
          </a:xfrm>
          <a:prstGeom prst="rect">
            <a:avLst/>
          </a:prstGeom>
          <a:noFill/>
          <a:ln cap="flat" cmpd="sng" w="5715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ctr">
              <a:lnSpc>
                <a:spcPct val="120000"/>
              </a:lnSpc>
              <a:spcBef>
                <a:spcPts val="0"/>
              </a:spcBef>
              <a:spcAft>
                <a:spcPts val="0"/>
              </a:spcAft>
              <a:buNone/>
            </a:pPr>
            <a:r>
              <a:rPr b="1" lang="en-US" sz="2200">
                <a:solidFill>
                  <a:srgbClr val="942093"/>
                </a:solidFill>
                <a:latin typeface="Avenir"/>
                <a:ea typeface="Avenir"/>
                <a:cs typeface="Avenir"/>
                <a:sym typeface="Avenir"/>
              </a:rPr>
              <a:t>Profit</a:t>
            </a:r>
            <a:endParaRPr/>
          </a:p>
        </p:txBody>
      </p:sp>
      <p:sp>
        <p:nvSpPr>
          <p:cNvPr id="4182" name="Google Shape;4182;p84"/>
          <p:cNvSpPr txBox="1"/>
          <p:nvPr/>
        </p:nvSpPr>
        <p:spPr>
          <a:xfrm>
            <a:off x="6227788" y="773769"/>
            <a:ext cx="5556216" cy="1702674"/>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Liabilities</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grpSp>
        <p:nvGrpSpPr>
          <p:cNvPr id="4183" name="Google Shape;4183;p84"/>
          <p:cNvGrpSpPr/>
          <p:nvPr/>
        </p:nvGrpSpPr>
        <p:grpSpPr>
          <a:xfrm>
            <a:off x="492858" y="3906158"/>
            <a:ext cx="11291146" cy="2763574"/>
            <a:chOff x="492858" y="3906158"/>
            <a:chExt cx="11291146" cy="2763574"/>
          </a:xfrm>
        </p:grpSpPr>
        <p:sp>
          <p:nvSpPr>
            <p:cNvPr id="4184" name="Google Shape;4184;p84"/>
            <p:cNvSpPr txBox="1"/>
            <p:nvPr/>
          </p:nvSpPr>
          <p:spPr>
            <a:xfrm>
              <a:off x="492858" y="4444544"/>
              <a:ext cx="11291146" cy="2225188"/>
            </a:xfrm>
            <a:prstGeom prst="rect">
              <a:avLst/>
            </a:prstGeom>
            <a:solidFill>
              <a:srgbClr val="FCECFB"/>
            </a:solidFill>
            <a:ln cap="flat" cmpd="sng" w="7620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b="1" lang="en-US" sz="2800">
                  <a:solidFill>
                    <a:schemeClr val="dk1"/>
                  </a:solidFill>
                  <a:latin typeface="Avenir"/>
                  <a:ea typeface="Avenir"/>
                  <a:cs typeface="Avenir"/>
                  <a:sym typeface="Avenir"/>
                </a:rPr>
                <a:t> </a:t>
              </a:r>
              <a:endParaRPr/>
            </a:p>
          </p:txBody>
        </p:sp>
        <p:sp>
          <p:nvSpPr>
            <p:cNvPr id="4185" name="Google Shape;4185;p84"/>
            <p:cNvSpPr txBox="1"/>
            <p:nvPr/>
          </p:nvSpPr>
          <p:spPr>
            <a:xfrm>
              <a:off x="6220907" y="4585078"/>
              <a:ext cx="5410918" cy="1947518"/>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Income</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4186" name="Google Shape;4186;p84"/>
            <p:cNvSpPr txBox="1"/>
            <p:nvPr/>
          </p:nvSpPr>
          <p:spPr>
            <a:xfrm>
              <a:off x="642552" y="4585078"/>
              <a:ext cx="5382028" cy="1947518"/>
            </a:xfrm>
            <a:prstGeom prst="rect">
              <a:avLst/>
            </a:prstGeom>
            <a:solidFill>
              <a:srgbClr val="E1EFD8"/>
            </a:solid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None/>
              </a:pPr>
              <a:r>
                <a:rPr b="1" lang="en-US" sz="2800">
                  <a:solidFill>
                    <a:srgbClr val="E1EFD8"/>
                  </a:solidFill>
                  <a:latin typeface="Avenir"/>
                  <a:ea typeface="Avenir"/>
                  <a:cs typeface="Avenir"/>
                  <a:sym typeface="Avenir"/>
                </a:rPr>
                <a:t>_</a:t>
              </a:r>
              <a:r>
                <a:rPr b="1" lang="en-US" sz="2000">
                  <a:solidFill>
                    <a:schemeClr val="dk1"/>
                  </a:solidFill>
                  <a:latin typeface="Avenir"/>
                  <a:ea typeface="Avenir"/>
                  <a:cs typeface="Avenir"/>
                  <a:sym typeface="Avenir"/>
                </a:rPr>
                <a:t>Expenses</a:t>
              </a:r>
              <a:endParaRPr b="1" sz="2800">
                <a:solidFill>
                  <a:schemeClr val="dk1"/>
                </a:solidFill>
                <a:latin typeface="Avenir"/>
                <a:ea typeface="Avenir"/>
                <a:cs typeface="Avenir"/>
                <a:sym typeface="Avenir"/>
              </a:endParaRPr>
            </a:p>
          </p:txBody>
        </p:sp>
        <p:sp>
          <p:nvSpPr>
            <p:cNvPr id="4187" name="Google Shape;4187;p84"/>
            <p:cNvSpPr txBox="1"/>
            <p:nvPr/>
          </p:nvSpPr>
          <p:spPr>
            <a:xfrm>
              <a:off x="2570770" y="6192000"/>
              <a:ext cx="1585661"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Advertising</a:t>
              </a:r>
              <a:endParaRPr/>
            </a:p>
          </p:txBody>
        </p:sp>
        <p:sp>
          <p:nvSpPr>
            <p:cNvPr id="4188" name="Google Shape;4188;p84"/>
            <p:cNvSpPr txBox="1"/>
            <p:nvPr/>
          </p:nvSpPr>
          <p:spPr>
            <a:xfrm>
              <a:off x="2596439" y="5339671"/>
              <a:ext cx="1590567"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Cleaning</a:t>
              </a:r>
              <a:endParaRPr/>
            </a:p>
          </p:txBody>
        </p:sp>
        <p:sp>
          <p:nvSpPr>
            <p:cNvPr id="4189" name="Google Shape;4189;p84"/>
            <p:cNvSpPr txBox="1"/>
            <p:nvPr/>
          </p:nvSpPr>
          <p:spPr>
            <a:xfrm>
              <a:off x="4306077" y="6192000"/>
              <a:ext cx="1606417"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Cost of sales</a:t>
              </a:r>
              <a:endParaRPr/>
            </a:p>
          </p:txBody>
        </p:sp>
        <p:sp>
          <p:nvSpPr>
            <p:cNvPr id="4190" name="Google Shape;4190;p84"/>
            <p:cNvSpPr txBox="1"/>
            <p:nvPr/>
          </p:nvSpPr>
          <p:spPr>
            <a:xfrm>
              <a:off x="796515" y="6192000"/>
              <a:ext cx="1603683"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Depreciation</a:t>
              </a:r>
              <a:endParaRPr/>
            </a:p>
          </p:txBody>
        </p:sp>
        <p:sp>
          <p:nvSpPr>
            <p:cNvPr id="4191" name="Google Shape;4191;p84"/>
            <p:cNvSpPr txBox="1"/>
            <p:nvPr/>
          </p:nvSpPr>
          <p:spPr>
            <a:xfrm>
              <a:off x="6295758" y="6192000"/>
              <a:ext cx="1842786"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Revenue (sales)</a:t>
              </a:r>
              <a:endParaRPr/>
            </a:p>
          </p:txBody>
        </p:sp>
        <p:sp>
          <p:nvSpPr>
            <p:cNvPr id="4192" name="Google Shape;4192;p84"/>
            <p:cNvSpPr txBox="1"/>
            <p:nvPr/>
          </p:nvSpPr>
          <p:spPr>
            <a:xfrm>
              <a:off x="3713366" y="5031445"/>
              <a:ext cx="412292"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50</a:t>
              </a:r>
              <a:endParaRPr/>
            </a:p>
          </p:txBody>
        </p:sp>
        <p:sp>
          <p:nvSpPr>
            <p:cNvPr id="4193" name="Google Shape;4193;p84"/>
            <p:cNvSpPr txBox="1"/>
            <p:nvPr/>
          </p:nvSpPr>
          <p:spPr>
            <a:xfrm>
              <a:off x="7429894" y="5905082"/>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700</a:t>
              </a:r>
              <a:endParaRPr/>
            </a:p>
          </p:txBody>
        </p:sp>
        <p:sp>
          <p:nvSpPr>
            <p:cNvPr id="4194" name="Google Shape;4194;p84"/>
            <p:cNvSpPr/>
            <p:nvPr/>
          </p:nvSpPr>
          <p:spPr>
            <a:xfrm rot="10800000">
              <a:off x="6984000" y="5943076"/>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4195" name="Google Shape;4195;p84"/>
            <p:cNvSpPr/>
            <p:nvPr/>
          </p:nvSpPr>
          <p:spPr>
            <a:xfrm rot="10800000">
              <a:off x="3096000" y="5082325"/>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196" name="Google Shape;4196;p84"/>
            <p:cNvSpPr txBox="1"/>
            <p:nvPr/>
          </p:nvSpPr>
          <p:spPr>
            <a:xfrm>
              <a:off x="5305894" y="5893862"/>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300</a:t>
              </a:r>
              <a:endParaRPr/>
            </a:p>
          </p:txBody>
        </p:sp>
        <p:sp>
          <p:nvSpPr>
            <p:cNvPr id="4197" name="Google Shape;4197;p84"/>
            <p:cNvSpPr/>
            <p:nvPr/>
          </p:nvSpPr>
          <p:spPr>
            <a:xfrm rot="10800000">
              <a:off x="4860000" y="5944742"/>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198" name="Google Shape;4198;p84"/>
            <p:cNvSpPr txBox="1"/>
            <p:nvPr/>
          </p:nvSpPr>
          <p:spPr>
            <a:xfrm>
              <a:off x="7429894" y="5645244"/>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600</a:t>
              </a:r>
              <a:endParaRPr/>
            </a:p>
          </p:txBody>
        </p:sp>
        <p:sp>
          <p:nvSpPr>
            <p:cNvPr id="4199" name="Google Shape;4199;p84"/>
            <p:cNvSpPr/>
            <p:nvPr/>
          </p:nvSpPr>
          <p:spPr>
            <a:xfrm rot="10800000">
              <a:off x="6984000" y="5695376"/>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4200" name="Google Shape;4200;p84"/>
            <p:cNvSpPr txBox="1"/>
            <p:nvPr/>
          </p:nvSpPr>
          <p:spPr>
            <a:xfrm>
              <a:off x="5305894" y="5646024"/>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300</a:t>
              </a:r>
              <a:endParaRPr/>
            </a:p>
          </p:txBody>
        </p:sp>
        <p:sp>
          <p:nvSpPr>
            <p:cNvPr id="4201" name="Google Shape;4201;p84"/>
            <p:cNvSpPr/>
            <p:nvPr/>
          </p:nvSpPr>
          <p:spPr>
            <a:xfrm rot="10800000">
              <a:off x="4860000" y="5696904"/>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202" name="Google Shape;4202;p84"/>
            <p:cNvSpPr txBox="1"/>
            <p:nvPr/>
          </p:nvSpPr>
          <p:spPr>
            <a:xfrm>
              <a:off x="3599552" y="4796571"/>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250</a:t>
              </a:r>
              <a:endParaRPr/>
            </a:p>
          </p:txBody>
        </p:sp>
        <p:sp>
          <p:nvSpPr>
            <p:cNvPr id="4203" name="Google Shape;4203;p84"/>
            <p:cNvSpPr/>
            <p:nvPr/>
          </p:nvSpPr>
          <p:spPr>
            <a:xfrm rot="10800000">
              <a:off x="3096000" y="4847451"/>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204" name="Google Shape;4204;p84"/>
            <p:cNvSpPr txBox="1"/>
            <p:nvPr/>
          </p:nvSpPr>
          <p:spPr>
            <a:xfrm>
              <a:off x="7543708" y="5375143"/>
              <a:ext cx="412292"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90</a:t>
              </a:r>
              <a:endParaRPr/>
            </a:p>
          </p:txBody>
        </p:sp>
        <p:sp>
          <p:nvSpPr>
            <p:cNvPr id="4205" name="Google Shape;4205;p84"/>
            <p:cNvSpPr/>
            <p:nvPr/>
          </p:nvSpPr>
          <p:spPr>
            <a:xfrm rot="10800000">
              <a:off x="6984000" y="5425275"/>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4206" name="Google Shape;4206;p84"/>
            <p:cNvSpPr txBox="1"/>
            <p:nvPr/>
          </p:nvSpPr>
          <p:spPr>
            <a:xfrm>
              <a:off x="5419708" y="5397501"/>
              <a:ext cx="412292"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30</a:t>
              </a:r>
              <a:endParaRPr/>
            </a:p>
          </p:txBody>
        </p:sp>
        <p:sp>
          <p:nvSpPr>
            <p:cNvPr id="4207" name="Google Shape;4207;p84"/>
            <p:cNvSpPr/>
            <p:nvPr/>
          </p:nvSpPr>
          <p:spPr>
            <a:xfrm rot="10800000">
              <a:off x="4860000" y="5448381"/>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208" name="Google Shape;4208;p84"/>
            <p:cNvSpPr txBox="1"/>
            <p:nvPr/>
          </p:nvSpPr>
          <p:spPr>
            <a:xfrm>
              <a:off x="1816755" y="5897226"/>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100</a:t>
              </a:r>
              <a:endParaRPr/>
            </a:p>
          </p:txBody>
        </p:sp>
        <p:sp>
          <p:nvSpPr>
            <p:cNvPr id="4209" name="Google Shape;4209;p84"/>
            <p:cNvSpPr/>
            <p:nvPr/>
          </p:nvSpPr>
          <p:spPr>
            <a:xfrm rot="10800000">
              <a:off x="1296000" y="5947200"/>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210" name="Google Shape;4210;p84"/>
            <p:cNvSpPr txBox="1"/>
            <p:nvPr/>
          </p:nvSpPr>
          <p:spPr>
            <a:xfrm>
              <a:off x="3577894" y="5912376"/>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200</a:t>
              </a:r>
              <a:endParaRPr/>
            </a:p>
          </p:txBody>
        </p:sp>
        <p:sp>
          <p:nvSpPr>
            <p:cNvPr id="4211" name="Google Shape;4211;p84"/>
            <p:cNvSpPr/>
            <p:nvPr/>
          </p:nvSpPr>
          <p:spPr>
            <a:xfrm rot="10800000">
              <a:off x="3096000" y="5963256"/>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212" name="Google Shape;4212;p84"/>
            <p:cNvSpPr/>
            <p:nvPr/>
          </p:nvSpPr>
          <p:spPr>
            <a:xfrm>
              <a:off x="6520209" y="5931080"/>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213" name="Google Shape;4213;p84"/>
            <p:cNvSpPr/>
            <p:nvPr/>
          </p:nvSpPr>
          <p:spPr>
            <a:xfrm>
              <a:off x="6484980" y="5939874"/>
              <a:ext cx="300082"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6a</a:t>
              </a:r>
              <a:endParaRPr/>
            </a:p>
          </p:txBody>
        </p:sp>
        <p:sp>
          <p:nvSpPr>
            <p:cNvPr id="4214" name="Google Shape;4214;p84"/>
            <p:cNvSpPr/>
            <p:nvPr/>
          </p:nvSpPr>
          <p:spPr>
            <a:xfrm>
              <a:off x="4412950" y="5940000"/>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215" name="Google Shape;4215;p84"/>
            <p:cNvSpPr/>
            <p:nvPr/>
          </p:nvSpPr>
          <p:spPr>
            <a:xfrm>
              <a:off x="4372912" y="5948794"/>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6b</a:t>
              </a:r>
              <a:endParaRPr/>
            </a:p>
          </p:txBody>
        </p:sp>
        <p:sp>
          <p:nvSpPr>
            <p:cNvPr id="4216" name="Google Shape;4216;p84"/>
            <p:cNvSpPr/>
            <p:nvPr/>
          </p:nvSpPr>
          <p:spPr>
            <a:xfrm>
              <a:off x="4417434" y="5681195"/>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217" name="Google Shape;4217;p84"/>
            <p:cNvSpPr/>
            <p:nvPr/>
          </p:nvSpPr>
          <p:spPr>
            <a:xfrm>
              <a:off x="4377396" y="5689989"/>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8b</a:t>
              </a:r>
              <a:endParaRPr/>
            </a:p>
          </p:txBody>
        </p:sp>
        <p:sp>
          <p:nvSpPr>
            <p:cNvPr id="4218" name="Google Shape;4218;p84"/>
            <p:cNvSpPr/>
            <p:nvPr/>
          </p:nvSpPr>
          <p:spPr>
            <a:xfrm>
              <a:off x="4416222" y="5432633"/>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219" name="Google Shape;4219;p84"/>
            <p:cNvSpPr/>
            <p:nvPr/>
          </p:nvSpPr>
          <p:spPr>
            <a:xfrm>
              <a:off x="4345727" y="5441427"/>
              <a:ext cx="370614" cy="33855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12b</a:t>
              </a:r>
              <a:endParaRPr/>
            </a:p>
            <a:p>
              <a:pPr indent="0" lvl="0" marL="0" marR="0" rtl="0" algn="ctr">
                <a:spcBef>
                  <a:spcPts val="0"/>
                </a:spcBef>
                <a:spcAft>
                  <a:spcPts val="0"/>
                </a:spcAft>
                <a:buNone/>
              </a:pPr>
              <a:r>
                <a:t/>
              </a:r>
              <a:endParaRPr b="1" sz="800">
                <a:solidFill>
                  <a:srgbClr val="7F7F7F"/>
                </a:solidFill>
                <a:latin typeface="Avenir"/>
                <a:ea typeface="Avenir"/>
                <a:cs typeface="Avenir"/>
                <a:sym typeface="Avenir"/>
              </a:endParaRPr>
            </a:p>
          </p:txBody>
        </p:sp>
        <p:sp>
          <p:nvSpPr>
            <p:cNvPr id="4220" name="Google Shape;4220;p84"/>
            <p:cNvSpPr/>
            <p:nvPr/>
          </p:nvSpPr>
          <p:spPr>
            <a:xfrm>
              <a:off x="6520209" y="567679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221" name="Google Shape;4221;p84"/>
            <p:cNvSpPr/>
            <p:nvPr/>
          </p:nvSpPr>
          <p:spPr>
            <a:xfrm>
              <a:off x="6484980" y="5685592"/>
              <a:ext cx="300082"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8a</a:t>
              </a:r>
              <a:endParaRPr/>
            </a:p>
          </p:txBody>
        </p:sp>
        <p:sp>
          <p:nvSpPr>
            <p:cNvPr id="4222" name="Google Shape;4222;p84"/>
            <p:cNvSpPr/>
            <p:nvPr/>
          </p:nvSpPr>
          <p:spPr>
            <a:xfrm>
              <a:off x="6522731" y="5416132"/>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223" name="Google Shape;4223;p84"/>
            <p:cNvSpPr/>
            <p:nvPr/>
          </p:nvSpPr>
          <p:spPr>
            <a:xfrm>
              <a:off x="6448807" y="5424926"/>
              <a:ext cx="360996"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12a</a:t>
              </a:r>
              <a:endParaRPr/>
            </a:p>
          </p:txBody>
        </p:sp>
        <p:sp>
          <p:nvSpPr>
            <p:cNvPr id="4224" name="Google Shape;4224;p84"/>
            <p:cNvSpPr/>
            <p:nvPr/>
          </p:nvSpPr>
          <p:spPr>
            <a:xfrm>
              <a:off x="2689441" y="5057611"/>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225" name="Google Shape;4225;p84"/>
            <p:cNvSpPr/>
            <p:nvPr/>
          </p:nvSpPr>
          <p:spPr>
            <a:xfrm>
              <a:off x="2681463" y="5066405"/>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7</a:t>
              </a:r>
              <a:endParaRPr/>
            </a:p>
          </p:txBody>
        </p:sp>
        <p:sp>
          <p:nvSpPr>
            <p:cNvPr id="4226" name="Google Shape;4226;p84"/>
            <p:cNvSpPr/>
            <p:nvPr/>
          </p:nvSpPr>
          <p:spPr>
            <a:xfrm>
              <a:off x="2688608" y="4808856"/>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227" name="Google Shape;4227;p84"/>
            <p:cNvSpPr/>
            <p:nvPr/>
          </p:nvSpPr>
          <p:spPr>
            <a:xfrm>
              <a:off x="2680630" y="4817650"/>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9</a:t>
              </a:r>
              <a:endParaRPr/>
            </a:p>
          </p:txBody>
        </p:sp>
        <p:sp>
          <p:nvSpPr>
            <p:cNvPr id="4228" name="Google Shape;4228;p84"/>
            <p:cNvSpPr/>
            <p:nvPr/>
          </p:nvSpPr>
          <p:spPr>
            <a:xfrm>
              <a:off x="892445" y="5940000"/>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229" name="Google Shape;4229;p84"/>
            <p:cNvSpPr/>
            <p:nvPr/>
          </p:nvSpPr>
          <p:spPr>
            <a:xfrm>
              <a:off x="852407" y="5948794"/>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14</a:t>
              </a:r>
              <a:endParaRPr/>
            </a:p>
          </p:txBody>
        </p:sp>
        <p:sp>
          <p:nvSpPr>
            <p:cNvPr id="4230" name="Google Shape;4230;p84"/>
            <p:cNvSpPr/>
            <p:nvPr/>
          </p:nvSpPr>
          <p:spPr>
            <a:xfrm>
              <a:off x="2660434" y="5940000"/>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231" name="Google Shape;4231;p84"/>
            <p:cNvSpPr/>
            <p:nvPr/>
          </p:nvSpPr>
          <p:spPr>
            <a:xfrm>
              <a:off x="2620396" y="5948794"/>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15</a:t>
              </a:r>
              <a:endParaRPr/>
            </a:p>
          </p:txBody>
        </p:sp>
        <p:sp>
          <p:nvSpPr>
            <p:cNvPr id="4232" name="Google Shape;4232;p84"/>
            <p:cNvSpPr/>
            <p:nvPr/>
          </p:nvSpPr>
          <p:spPr>
            <a:xfrm flipH="1">
              <a:off x="3366000" y="4767598"/>
              <a:ext cx="810000" cy="613673"/>
            </a:xfrm>
            <a:prstGeom prst="corner">
              <a:avLst>
                <a:gd fmla="val 9300"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233" name="Google Shape;4233;p84"/>
            <p:cNvSpPr/>
            <p:nvPr/>
          </p:nvSpPr>
          <p:spPr>
            <a:xfrm>
              <a:off x="2556000" y="4767598"/>
              <a:ext cx="810000" cy="613673"/>
            </a:xfrm>
            <a:prstGeom prst="corner">
              <a:avLst>
                <a:gd fmla="val 9300"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234" name="Google Shape;4234;p84"/>
            <p:cNvSpPr/>
            <p:nvPr/>
          </p:nvSpPr>
          <p:spPr>
            <a:xfrm flipH="1">
              <a:off x="3366000" y="5633028"/>
              <a:ext cx="810000" cy="613673"/>
            </a:xfrm>
            <a:prstGeom prst="corner">
              <a:avLst>
                <a:gd fmla="val 9300"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235" name="Google Shape;4235;p84"/>
            <p:cNvSpPr/>
            <p:nvPr/>
          </p:nvSpPr>
          <p:spPr>
            <a:xfrm>
              <a:off x="2556000" y="5633028"/>
              <a:ext cx="810000" cy="613673"/>
            </a:xfrm>
            <a:prstGeom prst="corner">
              <a:avLst>
                <a:gd fmla="val 9300"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236" name="Google Shape;4236;p84"/>
            <p:cNvSpPr/>
            <p:nvPr/>
          </p:nvSpPr>
          <p:spPr>
            <a:xfrm flipH="1">
              <a:off x="1598356" y="5618680"/>
              <a:ext cx="810000" cy="613673"/>
            </a:xfrm>
            <a:prstGeom prst="corner">
              <a:avLst>
                <a:gd fmla="val 9300"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237" name="Google Shape;4237;p84"/>
            <p:cNvSpPr/>
            <p:nvPr/>
          </p:nvSpPr>
          <p:spPr>
            <a:xfrm>
              <a:off x="788356" y="5618680"/>
              <a:ext cx="810000" cy="613673"/>
            </a:xfrm>
            <a:prstGeom prst="corner">
              <a:avLst>
                <a:gd fmla="val 9300"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238" name="Google Shape;4238;p84"/>
            <p:cNvSpPr/>
            <p:nvPr/>
          </p:nvSpPr>
          <p:spPr>
            <a:xfrm flipH="1">
              <a:off x="5102494" y="5448383"/>
              <a:ext cx="810000" cy="796274"/>
            </a:xfrm>
            <a:prstGeom prst="corner">
              <a:avLst>
                <a:gd fmla="val 7267" name="adj1"/>
                <a:gd fmla="val 7888"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239" name="Google Shape;4239;p84"/>
            <p:cNvSpPr/>
            <p:nvPr/>
          </p:nvSpPr>
          <p:spPr>
            <a:xfrm>
              <a:off x="4292494" y="5448381"/>
              <a:ext cx="810000" cy="796275"/>
            </a:xfrm>
            <a:prstGeom prst="corner">
              <a:avLst>
                <a:gd fmla="val 7268" name="adj1"/>
                <a:gd fmla="val 7888"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240" name="Google Shape;4240;p84"/>
            <p:cNvSpPr/>
            <p:nvPr/>
          </p:nvSpPr>
          <p:spPr>
            <a:xfrm flipH="1">
              <a:off x="7192456" y="5448383"/>
              <a:ext cx="810000" cy="796274"/>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241" name="Google Shape;4241;p84"/>
            <p:cNvSpPr/>
            <p:nvPr/>
          </p:nvSpPr>
          <p:spPr>
            <a:xfrm>
              <a:off x="6382456" y="5448381"/>
              <a:ext cx="810000" cy="796275"/>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cxnSp>
          <p:nvCxnSpPr>
            <p:cNvPr id="4242" name="Google Shape;4242;p84"/>
            <p:cNvCxnSpPr>
              <a:stCxn id="4181" idx="2"/>
            </p:cNvCxnSpPr>
            <p:nvPr/>
          </p:nvCxnSpPr>
          <p:spPr>
            <a:xfrm>
              <a:off x="7183267" y="3906158"/>
              <a:ext cx="8700" cy="566100"/>
            </a:xfrm>
            <a:prstGeom prst="straightConnector1">
              <a:avLst/>
            </a:prstGeom>
            <a:noFill/>
            <a:ln cap="flat" cmpd="sng" w="76200">
              <a:solidFill>
                <a:srgbClr val="942093"/>
              </a:solidFill>
              <a:prstDash val="solid"/>
              <a:miter lim="800000"/>
              <a:headEnd len="sm" w="sm" type="none"/>
              <a:tailEnd len="sm" w="sm" type="none"/>
            </a:ln>
          </p:spPr>
        </p:cxnSp>
      </p:grpSp>
      <p:sp>
        <p:nvSpPr>
          <p:cNvPr id="4243" name="Google Shape;4243;p84"/>
          <p:cNvSpPr txBox="1"/>
          <p:nvPr/>
        </p:nvSpPr>
        <p:spPr>
          <a:xfrm>
            <a:off x="492858" y="773769"/>
            <a:ext cx="5544457" cy="3542737"/>
          </a:xfrm>
          <a:prstGeom prst="rect">
            <a:avLst/>
          </a:prstGeom>
          <a:solidFill>
            <a:srgbClr val="E1EFD8"/>
          </a:solid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None/>
            </a:pPr>
            <a:r>
              <a:rPr b="1" lang="en-US" sz="2800">
                <a:solidFill>
                  <a:srgbClr val="E1EFD8"/>
                </a:solidFill>
                <a:latin typeface="Avenir"/>
                <a:ea typeface="Avenir"/>
                <a:cs typeface="Avenir"/>
                <a:sym typeface="Avenir"/>
              </a:rPr>
              <a:t>_</a:t>
            </a:r>
            <a:r>
              <a:rPr b="1" lang="en-US" sz="2000">
                <a:solidFill>
                  <a:schemeClr val="dk1"/>
                </a:solidFill>
                <a:latin typeface="Avenir"/>
                <a:ea typeface="Avenir"/>
                <a:cs typeface="Avenir"/>
                <a:sym typeface="Avenir"/>
              </a:rPr>
              <a:t>Assets</a:t>
            </a:r>
            <a:endParaRPr b="1" sz="2800">
              <a:solidFill>
                <a:schemeClr val="dk1"/>
              </a:solidFill>
              <a:latin typeface="Avenir"/>
              <a:ea typeface="Avenir"/>
              <a:cs typeface="Avenir"/>
              <a:sym typeface="Avenir"/>
            </a:endParaRPr>
          </a:p>
        </p:txBody>
      </p:sp>
      <p:sp>
        <p:nvSpPr>
          <p:cNvPr id="4244" name="Google Shape;4244;p84"/>
          <p:cNvSpPr/>
          <p:nvPr/>
        </p:nvSpPr>
        <p:spPr>
          <a:xfrm flipH="1">
            <a:off x="5058000" y="2850495"/>
            <a:ext cx="810000" cy="1116000"/>
          </a:xfrm>
          <a:prstGeom prst="corner">
            <a:avLst>
              <a:gd fmla="val 7073" name="adj1"/>
              <a:gd fmla="val 694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245" name="Google Shape;4245;p84"/>
          <p:cNvSpPr/>
          <p:nvPr/>
        </p:nvSpPr>
        <p:spPr>
          <a:xfrm>
            <a:off x="4248000" y="2850495"/>
            <a:ext cx="810000" cy="1116000"/>
          </a:xfrm>
          <a:prstGeom prst="corner">
            <a:avLst>
              <a:gd fmla="val 7073" name="adj1"/>
              <a:gd fmla="val 694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246" name="Google Shape;4246;p84"/>
          <p:cNvSpPr/>
          <p:nvPr/>
        </p:nvSpPr>
        <p:spPr>
          <a:xfrm flipH="1">
            <a:off x="3268800" y="957790"/>
            <a:ext cx="810000" cy="3000908"/>
          </a:xfrm>
          <a:prstGeom prst="corner">
            <a:avLst>
              <a:gd fmla="val 6497" name="adj1"/>
              <a:gd fmla="val 694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1800">
              <a:solidFill>
                <a:schemeClr val="lt1"/>
              </a:solidFill>
              <a:latin typeface="Avenir"/>
              <a:ea typeface="Avenir"/>
              <a:cs typeface="Avenir"/>
              <a:sym typeface="Avenir"/>
            </a:endParaRPr>
          </a:p>
        </p:txBody>
      </p:sp>
      <p:sp>
        <p:nvSpPr>
          <p:cNvPr id="4247" name="Google Shape;4247;p84"/>
          <p:cNvSpPr/>
          <p:nvPr/>
        </p:nvSpPr>
        <p:spPr>
          <a:xfrm>
            <a:off x="2458800" y="957790"/>
            <a:ext cx="810000" cy="3000908"/>
          </a:xfrm>
          <a:prstGeom prst="corner">
            <a:avLst>
              <a:gd fmla="val 6497" name="adj1"/>
              <a:gd fmla="val 7336"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1800">
              <a:solidFill>
                <a:schemeClr val="lt1"/>
              </a:solidFill>
              <a:latin typeface="Avenir"/>
              <a:ea typeface="Avenir"/>
              <a:cs typeface="Avenir"/>
              <a:sym typeface="Avenir"/>
            </a:endParaRPr>
          </a:p>
        </p:txBody>
      </p:sp>
      <p:sp>
        <p:nvSpPr>
          <p:cNvPr id="4248" name="Google Shape;4248;p84"/>
          <p:cNvSpPr/>
          <p:nvPr/>
        </p:nvSpPr>
        <p:spPr>
          <a:xfrm flipH="1">
            <a:off x="1483200" y="3340800"/>
            <a:ext cx="810000" cy="613673"/>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249" name="Google Shape;4249;p84"/>
          <p:cNvSpPr/>
          <p:nvPr/>
        </p:nvSpPr>
        <p:spPr>
          <a:xfrm>
            <a:off x="673200" y="3340800"/>
            <a:ext cx="810000" cy="613673"/>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250" name="Google Shape;4250;p84"/>
          <p:cNvSpPr txBox="1"/>
          <p:nvPr/>
        </p:nvSpPr>
        <p:spPr>
          <a:xfrm>
            <a:off x="2551146" y="3924000"/>
            <a:ext cx="1393331"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Cash at bank</a:t>
            </a:r>
            <a:endParaRPr/>
          </a:p>
        </p:txBody>
      </p:sp>
      <p:sp>
        <p:nvSpPr>
          <p:cNvPr id="4251" name="Google Shape;4251;p84"/>
          <p:cNvSpPr txBox="1"/>
          <p:nvPr/>
        </p:nvSpPr>
        <p:spPr>
          <a:xfrm>
            <a:off x="4292494" y="3924000"/>
            <a:ext cx="1531779"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Inventory</a:t>
            </a:r>
            <a:endParaRPr/>
          </a:p>
        </p:txBody>
      </p:sp>
      <p:sp>
        <p:nvSpPr>
          <p:cNvPr id="4252" name="Google Shape;4252;p84"/>
          <p:cNvSpPr txBox="1"/>
          <p:nvPr/>
        </p:nvSpPr>
        <p:spPr>
          <a:xfrm>
            <a:off x="4101806" y="2478490"/>
            <a:ext cx="1911388"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Deferred expenses</a:t>
            </a:r>
            <a:endParaRPr/>
          </a:p>
        </p:txBody>
      </p:sp>
      <p:sp>
        <p:nvSpPr>
          <p:cNvPr id="4253" name="Google Shape;4253;p84"/>
          <p:cNvSpPr txBox="1"/>
          <p:nvPr/>
        </p:nvSpPr>
        <p:spPr>
          <a:xfrm>
            <a:off x="661400" y="3924000"/>
            <a:ext cx="1647322"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Equipment</a:t>
            </a:r>
            <a:endParaRPr/>
          </a:p>
        </p:txBody>
      </p:sp>
      <p:sp>
        <p:nvSpPr>
          <p:cNvPr id="4254" name="Google Shape;4254;p84"/>
          <p:cNvSpPr txBox="1"/>
          <p:nvPr/>
        </p:nvSpPr>
        <p:spPr>
          <a:xfrm>
            <a:off x="10028967" y="2029411"/>
            <a:ext cx="1593685"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Bank loan</a:t>
            </a:r>
            <a:endParaRPr/>
          </a:p>
        </p:txBody>
      </p:sp>
      <p:sp>
        <p:nvSpPr>
          <p:cNvPr id="4255" name="Google Shape;4255;p84"/>
          <p:cNvSpPr txBox="1"/>
          <p:nvPr/>
        </p:nvSpPr>
        <p:spPr>
          <a:xfrm>
            <a:off x="8114313" y="2028286"/>
            <a:ext cx="1864201"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Deferred income</a:t>
            </a:r>
            <a:endParaRPr/>
          </a:p>
        </p:txBody>
      </p:sp>
      <p:sp>
        <p:nvSpPr>
          <p:cNvPr id="4256" name="Google Shape;4256;p84"/>
          <p:cNvSpPr txBox="1"/>
          <p:nvPr/>
        </p:nvSpPr>
        <p:spPr>
          <a:xfrm>
            <a:off x="3184560" y="3614709"/>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30,000</a:t>
            </a:r>
            <a:endParaRPr/>
          </a:p>
        </p:txBody>
      </p:sp>
      <p:sp>
        <p:nvSpPr>
          <p:cNvPr id="4257" name="Google Shape;4257;p84"/>
          <p:cNvSpPr txBox="1"/>
          <p:nvPr/>
        </p:nvSpPr>
        <p:spPr>
          <a:xfrm>
            <a:off x="3184560" y="3344709"/>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20,000</a:t>
            </a:r>
            <a:endParaRPr/>
          </a:p>
        </p:txBody>
      </p:sp>
      <p:sp>
        <p:nvSpPr>
          <p:cNvPr id="4258" name="Google Shape;4258;p84"/>
          <p:cNvSpPr txBox="1"/>
          <p:nvPr/>
        </p:nvSpPr>
        <p:spPr>
          <a:xfrm>
            <a:off x="3298373" y="3074709"/>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5,000</a:t>
            </a:r>
            <a:endParaRPr/>
          </a:p>
        </p:txBody>
      </p:sp>
      <p:sp>
        <p:nvSpPr>
          <p:cNvPr id="4259" name="Google Shape;4259;p84"/>
          <p:cNvSpPr txBox="1"/>
          <p:nvPr/>
        </p:nvSpPr>
        <p:spPr>
          <a:xfrm>
            <a:off x="3469894" y="2534709"/>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700</a:t>
            </a:r>
            <a:endParaRPr/>
          </a:p>
        </p:txBody>
      </p:sp>
      <p:sp>
        <p:nvSpPr>
          <p:cNvPr id="4260" name="Google Shape;4260;p84"/>
          <p:cNvSpPr txBox="1"/>
          <p:nvPr/>
        </p:nvSpPr>
        <p:spPr>
          <a:xfrm>
            <a:off x="3583708" y="2264709"/>
            <a:ext cx="412292"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50</a:t>
            </a:r>
            <a:endParaRPr/>
          </a:p>
        </p:txBody>
      </p:sp>
      <p:sp>
        <p:nvSpPr>
          <p:cNvPr id="4261" name="Google Shape;4261;p84"/>
          <p:cNvSpPr txBox="1"/>
          <p:nvPr/>
        </p:nvSpPr>
        <p:spPr>
          <a:xfrm>
            <a:off x="3469894" y="1724709"/>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600</a:t>
            </a:r>
            <a:endParaRPr/>
          </a:p>
        </p:txBody>
      </p:sp>
      <p:sp>
        <p:nvSpPr>
          <p:cNvPr id="4262" name="Google Shape;4262;p84"/>
          <p:cNvSpPr txBox="1"/>
          <p:nvPr/>
        </p:nvSpPr>
        <p:spPr>
          <a:xfrm>
            <a:off x="3469894" y="1454709"/>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800</a:t>
            </a:r>
            <a:endParaRPr/>
          </a:p>
        </p:txBody>
      </p:sp>
      <p:sp>
        <p:nvSpPr>
          <p:cNvPr id="4263" name="Google Shape;4263;p84"/>
          <p:cNvSpPr txBox="1"/>
          <p:nvPr/>
        </p:nvSpPr>
        <p:spPr>
          <a:xfrm>
            <a:off x="3184560" y="2804709"/>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10,000</a:t>
            </a:r>
            <a:endParaRPr/>
          </a:p>
        </p:txBody>
      </p:sp>
      <p:sp>
        <p:nvSpPr>
          <p:cNvPr id="4264" name="Google Shape;4264;p84"/>
          <p:cNvSpPr txBox="1"/>
          <p:nvPr/>
        </p:nvSpPr>
        <p:spPr>
          <a:xfrm>
            <a:off x="10026435" y="3924000"/>
            <a:ext cx="1820424"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contributed capital</a:t>
            </a:r>
            <a:endParaRPr/>
          </a:p>
        </p:txBody>
      </p:sp>
      <p:sp>
        <p:nvSpPr>
          <p:cNvPr id="4265" name="Google Shape;4265;p84"/>
          <p:cNvSpPr/>
          <p:nvPr/>
        </p:nvSpPr>
        <p:spPr>
          <a:xfrm>
            <a:off x="3011371" y="15267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266" name="Google Shape;4266;p84"/>
          <p:cNvSpPr/>
          <p:nvPr/>
        </p:nvSpPr>
        <p:spPr>
          <a:xfrm rot="10800000">
            <a:off x="3011371" y="177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267" name="Google Shape;4267;p84"/>
          <p:cNvSpPr/>
          <p:nvPr/>
        </p:nvSpPr>
        <p:spPr>
          <a:xfrm>
            <a:off x="3011371" y="23367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268" name="Google Shape;4268;p84"/>
          <p:cNvSpPr/>
          <p:nvPr/>
        </p:nvSpPr>
        <p:spPr>
          <a:xfrm rot="10800000">
            <a:off x="3011371" y="258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269" name="Google Shape;4269;p84"/>
          <p:cNvSpPr/>
          <p:nvPr/>
        </p:nvSpPr>
        <p:spPr>
          <a:xfrm>
            <a:off x="3011371" y="28767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270" name="Google Shape;4270;p84"/>
          <p:cNvSpPr/>
          <p:nvPr/>
        </p:nvSpPr>
        <p:spPr>
          <a:xfrm>
            <a:off x="3011371" y="31467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271" name="Google Shape;4271;p84"/>
          <p:cNvSpPr/>
          <p:nvPr/>
        </p:nvSpPr>
        <p:spPr>
          <a:xfrm rot="10800000">
            <a:off x="3011371" y="339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272" name="Google Shape;4272;p84"/>
          <p:cNvSpPr/>
          <p:nvPr/>
        </p:nvSpPr>
        <p:spPr>
          <a:xfrm rot="10800000">
            <a:off x="3011371" y="366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273" name="Google Shape;4273;p84"/>
          <p:cNvSpPr txBox="1"/>
          <p:nvPr/>
        </p:nvSpPr>
        <p:spPr>
          <a:xfrm>
            <a:off x="10785455" y="1718255"/>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30,000</a:t>
            </a:r>
            <a:endParaRPr/>
          </a:p>
        </p:txBody>
      </p:sp>
      <p:sp>
        <p:nvSpPr>
          <p:cNvPr id="4274" name="Google Shape;4274;p84"/>
          <p:cNvSpPr/>
          <p:nvPr/>
        </p:nvSpPr>
        <p:spPr>
          <a:xfrm rot="10800000">
            <a:off x="10548000" y="1757882"/>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4275" name="Google Shape;4275;p84"/>
          <p:cNvSpPr txBox="1"/>
          <p:nvPr/>
        </p:nvSpPr>
        <p:spPr>
          <a:xfrm>
            <a:off x="10776926" y="3605780"/>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20,000</a:t>
            </a:r>
            <a:endParaRPr/>
          </a:p>
        </p:txBody>
      </p:sp>
      <p:sp>
        <p:nvSpPr>
          <p:cNvPr id="4276" name="Google Shape;4276;p84"/>
          <p:cNvSpPr txBox="1"/>
          <p:nvPr/>
        </p:nvSpPr>
        <p:spPr>
          <a:xfrm>
            <a:off x="10732895" y="1448255"/>
            <a:ext cx="86400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5,000</a:t>
            </a:r>
            <a:endParaRPr/>
          </a:p>
        </p:txBody>
      </p:sp>
      <p:sp>
        <p:nvSpPr>
          <p:cNvPr id="4277" name="Google Shape;4277;p84"/>
          <p:cNvSpPr/>
          <p:nvPr/>
        </p:nvSpPr>
        <p:spPr>
          <a:xfrm>
            <a:off x="10548000" y="1505882"/>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548135"/>
              </a:solidFill>
              <a:latin typeface="Calibri"/>
              <a:ea typeface="Calibri"/>
              <a:cs typeface="Calibri"/>
              <a:sym typeface="Calibri"/>
            </a:endParaRPr>
          </a:p>
        </p:txBody>
      </p:sp>
      <p:sp>
        <p:nvSpPr>
          <p:cNvPr id="4278" name="Google Shape;4278;p84"/>
          <p:cNvSpPr txBox="1"/>
          <p:nvPr/>
        </p:nvSpPr>
        <p:spPr>
          <a:xfrm>
            <a:off x="4984560" y="3610092"/>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10,000</a:t>
            </a:r>
            <a:endParaRPr/>
          </a:p>
        </p:txBody>
      </p:sp>
      <p:sp>
        <p:nvSpPr>
          <p:cNvPr id="4279" name="Google Shape;4279;p84"/>
          <p:cNvSpPr txBox="1"/>
          <p:nvPr/>
        </p:nvSpPr>
        <p:spPr>
          <a:xfrm>
            <a:off x="3469894" y="1994709"/>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100</a:t>
            </a:r>
            <a:endParaRPr/>
          </a:p>
        </p:txBody>
      </p:sp>
      <p:sp>
        <p:nvSpPr>
          <p:cNvPr id="4280" name="Google Shape;4280;p84"/>
          <p:cNvSpPr/>
          <p:nvPr/>
        </p:nvSpPr>
        <p:spPr>
          <a:xfrm rot="10800000">
            <a:off x="3007666" y="2049930"/>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281" name="Google Shape;4281;p84"/>
          <p:cNvSpPr txBox="1"/>
          <p:nvPr/>
        </p:nvSpPr>
        <p:spPr>
          <a:xfrm>
            <a:off x="7315968" y="1713373"/>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6,000</a:t>
            </a:r>
            <a:endParaRPr/>
          </a:p>
        </p:txBody>
      </p:sp>
      <p:sp>
        <p:nvSpPr>
          <p:cNvPr id="4282" name="Google Shape;4282;p84"/>
          <p:cNvSpPr/>
          <p:nvPr/>
        </p:nvSpPr>
        <p:spPr>
          <a:xfrm rot="10800000">
            <a:off x="6984000" y="1749046"/>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4283" name="Google Shape;4283;p84"/>
          <p:cNvSpPr txBox="1"/>
          <p:nvPr/>
        </p:nvSpPr>
        <p:spPr>
          <a:xfrm>
            <a:off x="1501235" y="3588336"/>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6,000</a:t>
            </a:r>
            <a:endParaRPr/>
          </a:p>
        </p:txBody>
      </p:sp>
      <p:sp>
        <p:nvSpPr>
          <p:cNvPr id="4284" name="Google Shape;4284;p84"/>
          <p:cNvSpPr/>
          <p:nvPr/>
        </p:nvSpPr>
        <p:spPr>
          <a:xfrm rot="10800000">
            <a:off x="1249425" y="3637660"/>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285" name="Google Shape;4285;p84"/>
          <p:cNvSpPr txBox="1"/>
          <p:nvPr/>
        </p:nvSpPr>
        <p:spPr>
          <a:xfrm>
            <a:off x="5269894" y="3365080"/>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300</a:t>
            </a:r>
            <a:endParaRPr/>
          </a:p>
        </p:txBody>
      </p:sp>
      <p:sp>
        <p:nvSpPr>
          <p:cNvPr id="4286" name="Google Shape;4286;p84"/>
          <p:cNvSpPr/>
          <p:nvPr/>
        </p:nvSpPr>
        <p:spPr>
          <a:xfrm>
            <a:off x="4824000" y="3429341"/>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287" name="Google Shape;4287;p84"/>
          <p:cNvSpPr/>
          <p:nvPr/>
        </p:nvSpPr>
        <p:spPr>
          <a:xfrm rot="10800000">
            <a:off x="4824000" y="3662508"/>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288" name="Google Shape;4288;p84"/>
          <p:cNvSpPr txBox="1"/>
          <p:nvPr/>
        </p:nvSpPr>
        <p:spPr>
          <a:xfrm>
            <a:off x="5269894" y="1222069"/>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600</a:t>
            </a:r>
            <a:endParaRPr/>
          </a:p>
        </p:txBody>
      </p:sp>
      <p:sp>
        <p:nvSpPr>
          <p:cNvPr id="4289" name="Google Shape;4289;p84"/>
          <p:cNvSpPr/>
          <p:nvPr/>
        </p:nvSpPr>
        <p:spPr>
          <a:xfrm rot="10800000">
            <a:off x="4824771" y="1263348"/>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290" name="Google Shape;4290;p84"/>
          <p:cNvSpPr txBox="1"/>
          <p:nvPr/>
        </p:nvSpPr>
        <p:spPr>
          <a:xfrm>
            <a:off x="5269894" y="3118060"/>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300</a:t>
            </a:r>
            <a:endParaRPr/>
          </a:p>
        </p:txBody>
      </p:sp>
      <p:sp>
        <p:nvSpPr>
          <p:cNvPr id="4291" name="Google Shape;4291;p84"/>
          <p:cNvSpPr/>
          <p:nvPr/>
        </p:nvSpPr>
        <p:spPr>
          <a:xfrm>
            <a:off x="4824000" y="3182321"/>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292" name="Google Shape;4292;p84"/>
          <p:cNvSpPr txBox="1"/>
          <p:nvPr/>
        </p:nvSpPr>
        <p:spPr>
          <a:xfrm>
            <a:off x="7487489" y="1462635"/>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250</a:t>
            </a:r>
            <a:endParaRPr/>
          </a:p>
        </p:txBody>
      </p:sp>
      <p:sp>
        <p:nvSpPr>
          <p:cNvPr id="4293" name="Google Shape;4293;p84"/>
          <p:cNvSpPr/>
          <p:nvPr/>
        </p:nvSpPr>
        <p:spPr>
          <a:xfrm rot="10800000">
            <a:off x="6984000" y="14983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4294" name="Google Shape;4294;p84"/>
          <p:cNvSpPr txBox="1"/>
          <p:nvPr/>
        </p:nvSpPr>
        <p:spPr>
          <a:xfrm>
            <a:off x="9285817" y="1715500"/>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100</a:t>
            </a:r>
            <a:endParaRPr/>
          </a:p>
        </p:txBody>
      </p:sp>
      <p:sp>
        <p:nvSpPr>
          <p:cNvPr id="4295" name="Google Shape;4295;p84"/>
          <p:cNvSpPr/>
          <p:nvPr/>
        </p:nvSpPr>
        <p:spPr>
          <a:xfrm rot="10800000">
            <a:off x="8784000" y="1751173"/>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4296" name="Google Shape;4296;p84"/>
          <p:cNvSpPr txBox="1"/>
          <p:nvPr/>
        </p:nvSpPr>
        <p:spPr>
          <a:xfrm>
            <a:off x="5269894" y="965882"/>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600</a:t>
            </a:r>
            <a:endParaRPr/>
          </a:p>
        </p:txBody>
      </p:sp>
      <p:sp>
        <p:nvSpPr>
          <p:cNvPr id="4297" name="Google Shape;4297;p84"/>
          <p:cNvSpPr/>
          <p:nvPr/>
        </p:nvSpPr>
        <p:spPr>
          <a:xfrm>
            <a:off x="4825605" y="102209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298" name="Google Shape;4298;p84"/>
          <p:cNvSpPr txBox="1"/>
          <p:nvPr/>
        </p:nvSpPr>
        <p:spPr>
          <a:xfrm>
            <a:off x="8947923" y="1452209"/>
            <a:ext cx="86400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90</a:t>
            </a:r>
            <a:endParaRPr/>
          </a:p>
        </p:txBody>
      </p:sp>
      <p:sp>
        <p:nvSpPr>
          <p:cNvPr id="4299" name="Google Shape;4299;p84"/>
          <p:cNvSpPr/>
          <p:nvPr/>
        </p:nvSpPr>
        <p:spPr>
          <a:xfrm>
            <a:off x="8784000" y="1505882"/>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548135"/>
              </a:solidFill>
              <a:latin typeface="Calibri"/>
              <a:ea typeface="Calibri"/>
              <a:cs typeface="Calibri"/>
              <a:sym typeface="Calibri"/>
            </a:endParaRPr>
          </a:p>
        </p:txBody>
      </p:sp>
      <p:sp>
        <p:nvSpPr>
          <p:cNvPr id="4300" name="Google Shape;4300;p84"/>
          <p:cNvSpPr txBox="1"/>
          <p:nvPr/>
        </p:nvSpPr>
        <p:spPr>
          <a:xfrm>
            <a:off x="5383708" y="2869537"/>
            <a:ext cx="412292"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30</a:t>
            </a:r>
            <a:endParaRPr/>
          </a:p>
        </p:txBody>
      </p:sp>
      <p:sp>
        <p:nvSpPr>
          <p:cNvPr id="4301" name="Google Shape;4301;p84"/>
          <p:cNvSpPr/>
          <p:nvPr/>
        </p:nvSpPr>
        <p:spPr>
          <a:xfrm>
            <a:off x="4824000" y="293379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302" name="Google Shape;4302;p84"/>
          <p:cNvSpPr txBox="1"/>
          <p:nvPr/>
        </p:nvSpPr>
        <p:spPr>
          <a:xfrm>
            <a:off x="5269894" y="2157099"/>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800</a:t>
            </a:r>
            <a:endParaRPr/>
          </a:p>
        </p:txBody>
      </p:sp>
      <p:sp>
        <p:nvSpPr>
          <p:cNvPr id="4303" name="Google Shape;4303;p84"/>
          <p:cNvSpPr/>
          <p:nvPr/>
        </p:nvSpPr>
        <p:spPr>
          <a:xfrm rot="10800000">
            <a:off x="4824000" y="2198378"/>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304" name="Google Shape;4304;p84"/>
          <p:cNvSpPr txBox="1"/>
          <p:nvPr/>
        </p:nvSpPr>
        <p:spPr>
          <a:xfrm>
            <a:off x="5269894" y="1906095"/>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200</a:t>
            </a:r>
            <a:endParaRPr/>
          </a:p>
        </p:txBody>
      </p:sp>
      <p:sp>
        <p:nvSpPr>
          <p:cNvPr id="4305" name="Google Shape;4305;p84"/>
          <p:cNvSpPr/>
          <p:nvPr/>
        </p:nvSpPr>
        <p:spPr>
          <a:xfrm>
            <a:off x="4824000" y="1953942"/>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306" name="Google Shape;4306;p84"/>
          <p:cNvSpPr txBox="1"/>
          <p:nvPr/>
        </p:nvSpPr>
        <p:spPr>
          <a:xfrm>
            <a:off x="3298373" y="1194957"/>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6,000</a:t>
            </a:r>
            <a:endParaRPr/>
          </a:p>
        </p:txBody>
      </p:sp>
      <p:sp>
        <p:nvSpPr>
          <p:cNvPr id="4307" name="Google Shape;4307;p84"/>
          <p:cNvSpPr/>
          <p:nvPr/>
        </p:nvSpPr>
        <p:spPr>
          <a:xfrm>
            <a:off x="3015226" y="1266956"/>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308" name="Google Shape;4308;p84"/>
          <p:cNvSpPr txBox="1"/>
          <p:nvPr/>
        </p:nvSpPr>
        <p:spPr>
          <a:xfrm>
            <a:off x="7149595" y="1205847"/>
            <a:ext cx="86400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6,000</a:t>
            </a:r>
            <a:endParaRPr/>
          </a:p>
        </p:txBody>
      </p:sp>
      <p:sp>
        <p:nvSpPr>
          <p:cNvPr id="4309" name="Google Shape;4309;p84"/>
          <p:cNvSpPr/>
          <p:nvPr/>
        </p:nvSpPr>
        <p:spPr>
          <a:xfrm>
            <a:off x="6984000" y="1259520"/>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548135"/>
              </a:solidFill>
              <a:latin typeface="Calibri"/>
              <a:ea typeface="Calibri"/>
              <a:cs typeface="Calibri"/>
              <a:sym typeface="Calibri"/>
            </a:endParaRPr>
          </a:p>
        </p:txBody>
      </p:sp>
      <p:sp>
        <p:nvSpPr>
          <p:cNvPr id="4310" name="Google Shape;4310;p84"/>
          <p:cNvSpPr/>
          <p:nvPr/>
        </p:nvSpPr>
        <p:spPr>
          <a:xfrm>
            <a:off x="2580882" y="1230249"/>
            <a:ext cx="216000" cy="216000"/>
          </a:xfrm>
          <a:prstGeom prst="ellipse">
            <a:avLst/>
          </a:prstGeom>
          <a:solidFill>
            <a:srgbClr val="FFFF00"/>
          </a:solidFill>
          <a:ln cap="flat" cmpd="sng" w="1270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311" name="Google Shape;4311;p84"/>
          <p:cNvSpPr/>
          <p:nvPr/>
        </p:nvSpPr>
        <p:spPr>
          <a:xfrm>
            <a:off x="2528693" y="12387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16</a:t>
            </a:r>
            <a:endParaRPr/>
          </a:p>
        </p:txBody>
      </p:sp>
      <p:sp>
        <p:nvSpPr>
          <p:cNvPr id="4312" name="Google Shape;4312;p84"/>
          <p:cNvSpPr/>
          <p:nvPr/>
        </p:nvSpPr>
        <p:spPr>
          <a:xfrm>
            <a:off x="2580882" y="1497835"/>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313" name="Google Shape;4313;p84"/>
          <p:cNvSpPr/>
          <p:nvPr/>
        </p:nvSpPr>
        <p:spPr>
          <a:xfrm>
            <a:off x="2528692" y="1506308"/>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13</a:t>
            </a:r>
            <a:endParaRPr/>
          </a:p>
        </p:txBody>
      </p:sp>
      <p:sp>
        <p:nvSpPr>
          <p:cNvPr id="4314" name="Google Shape;4314;p84"/>
          <p:cNvSpPr/>
          <p:nvPr/>
        </p:nvSpPr>
        <p:spPr>
          <a:xfrm>
            <a:off x="2580882" y="1763613"/>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315" name="Google Shape;4315;p84"/>
          <p:cNvSpPr/>
          <p:nvPr/>
        </p:nvSpPr>
        <p:spPr>
          <a:xfrm>
            <a:off x="2528692" y="1772085"/>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11</a:t>
            </a:r>
            <a:endParaRPr/>
          </a:p>
        </p:txBody>
      </p:sp>
      <p:sp>
        <p:nvSpPr>
          <p:cNvPr id="4316" name="Google Shape;4316;p84"/>
          <p:cNvSpPr/>
          <p:nvPr/>
        </p:nvSpPr>
        <p:spPr>
          <a:xfrm>
            <a:off x="2580882" y="2037443"/>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317" name="Google Shape;4317;p84"/>
          <p:cNvSpPr/>
          <p:nvPr/>
        </p:nvSpPr>
        <p:spPr>
          <a:xfrm>
            <a:off x="2528692" y="2045915"/>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10</a:t>
            </a:r>
            <a:endParaRPr/>
          </a:p>
        </p:txBody>
      </p:sp>
      <p:sp>
        <p:nvSpPr>
          <p:cNvPr id="4318" name="Google Shape;4318;p84"/>
          <p:cNvSpPr/>
          <p:nvPr/>
        </p:nvSpPr>
        <p:spPr>
          <a:xfrm>
            <a:off x="2581709" y="2307279"/>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319" name="Google Shape;4319;p84"/>
          <p:cNvSpPr/>
          <p:nvPr/>
        </p:nvSpPr>
        <p:spPr>
          <a:xfrm>
            <a:off x="2568712" y="2315751"/>
            <a:ext cx="247184"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7</a:t>
            </a:r>
            <a:endParaRPr/>
          </a:p>
        </p:txBody>
      </p:sp>
      <p:sp>
        <p:nvSpPr>
          <p:cNvPr id="4320" name="Google Shape;4320;p84"/>
          <p:cNvSpPr/>
          <p:nvPr/>
        </p:nvSpPr>
        <p:spPr>
          <a:xfrm>
            <a:off x="2577794" y="2567407"/>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321" name="Google Shape;4321;p84"/>
          <p:cNvSpPr/>
          <p:nvPr/>
        </p:nvSpPr>
        <p:spPr>
          <a:xfrm>
            <a:off x="2530413" y="2575880"/>
            <a:ext cx="300083"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6a</a:t>
            </a:r>
            <a:endParaRPr/>
          </a:p>
        </p:txBody>
      </p:sp>
      <p:sp>
        <p:nvSpPr>
          <p:cNvPr id="4322" name="Google Shape;4322;p84"/>
          <p:cNvSpPr/>
          <p:nvPr/>
        </p:nvSpPr>
        <p:spPr>
          <a:xfrm>
            <a:off x="2582003" y="2841900"/>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323" name="Google Shape;4323;p84"/>
          <p:cNvSpPr/>
          <p:nvPr/>
        </p:nvSpPr>
        <p:spPr>
          <a:xfrm>
            <a:off x="2574025" y="2850694"/>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5</a:t>
            </a:r>
            <a:endParaRPr/>
          </a:p>
        </p:txBody>
      </p:sp>
      <p:sp>
        <p:nvSpPr>
          <p:cNvPr id="4324" name="Google Shape;4324;p84"/>
          <p:cNvSpPr/>
          <p:nvPr/>
        </p:nvSpPr>
        <p:spPr>
          <a:xfrm>
            <a:off x="2582003" y="3121887"/>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325" name="Google Shape;4325;p84"/>
          <p:cNvSpPr/>
          <p:nvPr/>
        </p:nvSpPr>
        <p:spPr>
          <a:xfrm>
            <a:off x="2574025" y="3130681"/>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3</a:t>
            </a:r>
            <a:endParaRPr/>
          </a:p>
        </p:txBody>
      </p:sp>
      <p:sp>
        <p:nvSpPr>
          <p:cNvPr id="4326" name="Google Shape;4326;p84"/>
          <p:cNvSpPr/>
          <p:nvPr/>
        </p:nvSpPr>
        <p:spPr>
          <a:xfrm>
            <a:off x="2582003" y="33858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327" name="Google Shape;4327;p84"/>
          <p:cNvSpPr/>
          <p:nvPr/>
        </p:nvSpPr>
        <p:spPr>
          <a:xfrm>
            <a:off x="2574025" y="33946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2</a:t>
            </a:r>
            <a:endParaRPr/>
          </a:p>
        </p:txBody>
      </p:sp>
      <p:sp>
        <p:nvSpPr>
          <p:cNvPr id="4328" name="Google Shape;4328;p84"/>
          <p:cNvSpPr/>
          <p:nvPr/>
        </p:nvSpPr>
        <p:spPr>
          <a:xfrm>
            <a:off x="2582003" y="3649299"/>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329" name="Google Shape;4329;p84"/>
          <p:cNvSpPr/>
          <p:nvPr/>
        </p:nvSpPr>
        <p:spPr>
          <a:xfrm>
            <a:off x="2574025" y="3658093"/>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a:t>
            </a:r>
            <a:endParaRPr/>
          </a:p>
        </p:txBody>
      </p:sp>
      <p:sp>
        <p:nvSpPr>
          <p:cNvPr id="4330" name="Google Shape;4330;p84"/>
          <p:cNvSpPr/>
          <p:nvPr/>
        </p:nvSpPr>
        <p:spPr>
          <a:xfrm>
            <a:off x="10125537" y="1755851"/>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331" name="Google Shape;4331;p84"/>
          <p:cNvSpPr/>
          <p:nvPr/>
        </p:nvSpPr>
        <p:spPr>
          <a:xfrm>
            <a:off x="10117559" y="1764645"/>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a:t>
            </a:r>
            <a:endParaRPr/>
          </a:p>
        </p:txBody>
      </p:sp>
      <p:sp>
        <p:nvSpPr>
          <p:cNvPr id="4332" name="Google Shape;4332;p84"/>
          <p:cNvSpPr/>
          <p:nvPr/>
        </p:nvSpPr>
        <p:spPr>
          <a:xfrm>
            <a:off x="10123978" y="3650400"/>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333" name="Google Shape;4333;p84"/>
          <p:cNvSpPr/>
          <p:nvPr/>
        </p:nvSpPr>
        <p:spPr>
          <a:xfrm>
            <a:off x="10116000" y="3659194"/>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2</a:t>
            </a:r>
            <a:endParaRPr/>
          </a:p>
        </p:txBody>
      </p:sp>
      <p:sp>
        <p:nvSpPr>
          <p:cNvPr id="4334" name="Google Shape;4334;p84"/>
          <p:cNvSpPr/>
          <p:nvPr/>
        </p:nvSpPr>
        <p:spPr>
          <a:xfrm>
            <a:off x="10125815" y="1489299"/>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335" name="Google Shape;4335;p84"/>
          <p:cNvSpPr/>
          <p:nvPr/>
        </p:nvSpPr>
        <p:spPr>
          <a:xfrm>
            <a:off x="10117837" y="1498093"/>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3</a:t>
            </a:r>
            <a:endParaRPr/>
          </a:p>
        </p:txBody>
      </p:sp>
      <p:sp>
        <p:nvSpPr>
          <p:cNvPr id="4336" name="Google Shape;4336;p84"/>
          <p:cNvSpPr/>
          <p:nvPr/>
        </p:nvSpPr>
        <p:spPr>
          <a:xfrm>
            <a:off x="6561065" y="1741845"/>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337" name="Google Shape;4337;p84"/>
          <p:cNvSpPr/>
          <p:nvPr/>
        </p:nvSpPr>
        <p:spPr>
          <a:xfrm>
            <a:off x="6553087" y="1750639"/>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4</a:t>
            </a:r>
            <a:endParaRPr/>
          </a:p>
        </p:txBody>
      </p:sp>
      <p:sp>
        <p:nvSpPr>
          <p:cNvPr id="4338" name="Google Shape;4338;p84"/>
          <p:cNvSpPr/>
          <p:nvPr/>
        </p:nvSpPr>
        <p:spPr>
          <a:xfrm>
            <a:off x="792583" y="3629276"/>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339" name="Google Shape;4339;p84"/>
          <p:cNvSpPr/>
          <p:nvPr/>
        </p:nvSpPr>
        <p:spPr>
          <a:xfrm>
            <a:off x="784605" y="3638070"/>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4</a:t>
            </a:r>
            <a:endParaRPr/>
          </a:p>
        </p:txBody>
      </p:sp>
      <p:sp>
        <p:nvSpPr>
          <p:cNvPr id="4340" name="Google Shape;4340;p84"/>
          <p:cNvSpPr/>
          <p:nvPr/>
        </p:nvSpPr>
        <p:spPr>
          <a:xfrm>
            <a:off x="4367055" y="3641899"/>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341" name="Google Shape;4341;p84"/>
          <p:cNvSpPr/>
          <p:nvPr/>
        </p:nvSpPr>
        <p:spPr>
          <a:xfrm>
            <a:off x="4359077" y="3650693"/>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5</a:t>
            </a:r>
            <a:endParaRPr/>
          </a:p>
        </p:txBody>
      </p:sp>
      <p:sp>
        <p:nvSpPr>
          <p:cNvPr id="4342" name="Google Shape;4342;p84"/>
          <p:cNvSpPr/>
          <p:nvPr/>
        </p:nvSpPr>
        <p:spPr>
          <a:xfrm>
            <a:off x="4365599" y="3388584"/>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343" name="Google Shape;4343;p84"/>
          <p:cNvSpPr/>
          <p:nvPr/>
        </p:nvSpPr>
        <p:spPr>
          <a:xfrm>
            <a:off x="4325561" y="3397378"/>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6b</a:t>
            </a:r>
            <a:endParaRPr/>
          </a:p>
        </p:txBody>
      </p:sp>
      <p:sp>
        <p:nvSpPr>
          <p:cNvPr id="4344" name="Google Shape;4344;p84"/>
          <p:cNvSpPr/>
          <p:nvPr/>
        </p:nvSpPr>
        <p:spPr>
          <a:xfrm>
            <a:off x="4370083" y="3136880"/>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345" name="Google Shape;4345;p84"/>
          <p:cNvSpPr/>
          <p:nvPr/>
        </p:nvSpPr>
        <p:spPr>
          <a:xfrm>
            <a:off x="4330045" y="3145674"/>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8b</a:t>
            </a:r>
            <a:endParaRPr/>
          </a:p>
        </p:txBody>
      </p:sp>
      <p:sp>
        <p:nvSpPr>
          <p:cNvPr id="4346" name="Google Shape;4346;p84"/>
          <p:cNvSpPr/>
          <p:nvPr/>
        </p:nvSpPr>
        <p:spPr>
          <a:xfrm>
            <a:off x="4368545" y="2880000"/>
            <a:ext cx="215000" cy="215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347" name="Google Shape;4347;p84"/>
          <p:cNvSpPr/>
          <p:nvPr/>
        </p:nvSpPr>
        <p:spPr>
          <a:xfrm>
            <a:off x="4298376" y="2888753"/>
            <a:ext cx="368899" cy="214447"/>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12b</a:t>
            </a:r>
            <a:endParaRPr/>
          </a:p>
        </p:txBody>
      </p:sp>
      <p:sp>
        <p:nvSpPr>
          <p:cNvPr id="4348" name="Google Shape;4348;p84"/>
          <p:cNvSpPr/>
          <p:nvPr/>
        </p:nvSpPr>
        <p:spPr>
          <a:xfrm>
            <a:off x="6558900" y="1481480"/>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349" name="Google Shape;4349;p84"/>
          <p:cNvSpPr/>
          <p:nvPr/>
        </p:nvSpPr>
        <p:spPr>
          <a:xfrm>
            <a:off x="6550922" y="1490274"/>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9</a:t>
            </a:r>
            <a:endParaRPr/>
          </a:p>
        </p:txBody>
      </p:sp>
      <p:sp>
        <p:nvSpPr>
          <p:cNvPr id="4350" name="Google Shape;4350;p84"/>
          <p:cNvSpPr/>
          <p:nvPr/>
        </p:nvSpPr>
        <p:spPr>
          <a:xfrm>
            <a:off x="8352005" y="1742779"/>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351" name="Google Shape;4351;p84"/>
          <p:cNvSpPr/>
          <p:nvPr/>
        </p:nvSpPr>
        <p:spPr>
          <a:xfrm>
            <a:off x="8311967" y="1751573"/>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10</a:t>
            </a:r>
            <a:endParaRPr/>
          </a:p>
        </p:txBody>
      </p:sp>
      <p:sp>
        <p:nvSpPr>
          <p:cNvPr id="4352" name="Google Shape;4352;p84"/>
          <p:cNvSpPr/>
          <p:nvPr/>
        </p:nvSpPr>
        <p:spPr>
          <a:xfrm>
            <a:off x="4357601" y="1240114"/>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353" name="Google Shape;4353;p84"/>
          <p:cNvSpPr/>
          <p:nvPr/>
        </p:nvSpPr>
        <p:spPr>
          <a:xfrm>
            <a:off x="4322372" y="1248908"/>
            <a:ext cx="300082"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8a</a:t>
            </a:r>
            <a:endParaRPr/>
          </a:p>
        </p:txBody>
      </p:sp>
      <p:sp>
        <p:nvSpPr>
          <p:cNvPr id="4354" name="Google Shape;4354;p84"/>
          <p:cNvSpPr/>
          <p:nvPr/>
        </p:nvSpPr>
        <p:spPr>
          <a:xfrm>
            <a:off x="4359965" y="983503"/>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355" name="Google Shape;4355;p84"/>
          <p:cNvSpPr/>
          <p:nvPr/>
        </p:nvSpPr>
        <p:spPr>
          <a:xfrm>
            <a:off x="4319927" y="992297"/>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11</a:t>
            </a:r>
            <a:endParaRPr/>
          </a:p>
        </p:txBody>
      </p:sp>
      <p:sp>
        <p:nvSpPr>
          <p:cNvPr id="4356" name="Google Shape;4356;p84"/>
          <p:cNvSpPr/>
          <p:nvPr/>
        </p:nvSpPr>
        <p:spPr>
          <a:xfrm>
            <a:off x="8354611" y="1478795"/>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357" name="Google Shape;4357;p84"/>
          <p:cNvSpPr/>
          <p:nvPr/>
        </p:nvSpPr>
        <p:spPr>
          <a:xfrm>
            <a:off x="8280687" y="1487589"/>
            <a:ext cx="360996"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12a</a:t>
            </a:r>
            <a:endParaRPr/>
          </a:p>
        </p:txBody>
      </p:sp>
      <p:sp>
        <p:nvSpPr>
          <p:cNvPr id="4358" name="Google Shape;4358;p84"/>
          <p:cNvSpPr/>
          <p:nvPr/>
        </p:nvSpPr>
        <p:spPr>
          <a:xfrm>
            <a:off x="4365417" y="2187210"/>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359" name="Google Shape;4359;p84"/>
          <p:cNvSpPr/>
          <p:nvPr/>
        </p:nvSpPr>
        <p:spPr>
          <a:xfrm>
            <a:off x="4317141" y="2196004"/>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13</a:t>
            </a:r>
            <a:endParaRPr/>
          </a:p>
        </p:txBody>
      </p:sp>
      <p:sp>
        <p:nvSpPr>
          <p:cNvPr id="4360" name="Google Shape;4360;p84"/>
          <p:cNvSpPr/>
          <p:nvPr/>
        </p:nvSpPr>
        <p:spPr>
          <a:xfrm>
            <a:off x="4365932" y="1931502"/>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361" name="Google Shape;4361;p84"/>
          <p:cNvSpPr/>
          <p:nvPr/>
        </p:nvSpPr>
        <p:spPr>
          <a:xfrm>
            <a:off x="4325894" y="1940296"/>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15</a:t>
            </a:r>
            <a:endParaRPr/>
          </a:p>
        </p:txBody>
      </p:sp>
      <p:sp>
        <p:nvSpPr>
          <p:cNvPr id="4362" name="Google Shape;4362;p84"/>
          <p:cNvSpPr/>
          <p:nvPr/>
        </p:nvSpPr>
        <p:spPr>
          <a:xfrm>
            <a:off x="6560912" y="1220768"/>
            <a:ext cx="216000" cy="216000"/>
          </a:xfrm>
          <a:prstGeom prst="ellipse">
            <a:avLst/>
          </a:prstGeom>
          <a:solidFill>
            <a:srgbClr val="FFFF00"/>
          </a:solidFill>
          <a:ln cap="flat" cmpd="sng" w="1270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363" name="Google Shape;4363;p84"/>
          <p:cNvSpPr/>
          <p:nvPr/>
        </p:nvSpPr>
        <p:spPr>
          <a:xfrm>
            <a:off x="6512636" y="122956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16</a:t>
            </a:r>
            <a:endParaRPr/>
          </a:p>
        </p:txBody>
      </p:sp>
      <p:sp>
        <p:nvSpPr>
          <p:cNvPr id="4364" name="Google Shape;4364;p84"/>
          <p:cNvSpPr txBox="1"/>
          <p:nvPr/>
        </p:nvSpPr>
        <p:spPr>
          <a:xfrm>
            <a:off x="4033926" y="1538024"/>
            <a:ext cx="2015578"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Accounts receivable</a:t>
            </a:r>
            <a:endParaRPr/>
          </a:p>
        </p:txBody>
      </p:sp>
      <p:sp>
        <p:nvSpPr>
          <p:cNvPr id="4365" name="Google Shape;4365;p84"/>
          <p:cNvSpPr txBox="1"/>
          <p:nvPr/>
        </p:nvSpPr>
        <p:spPr>
          <a:xfrm>
            <a:off x="6252890" y="2028286"/>
            <a:ext cx="1987133"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Accounts payable</a:t>
            </a:r>
            <a:endParaRPr/>
          </a:p>
        </p:txBody>
      </p:sp>
      <p:sp>
        <p:nvSpPr>
          <p:cNvPr id="4366" name="Google Shape;4366;p84"/>
          <p:cNvSpPr/>
          <p:nvPr/>
        </p:nvSpPr>
        <p:spPr>
          <a:xfrm flipH="1">
            <a:off x="1484882" y="2236958"/>
            <a:ext cx="810000" cy="613673"/>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367" name="Google Shape;4367;p84"/>
          <p:cNvSpPr/>
          <p:nvPr/>
        </p:nvSpPr>
        <p:spPr>
          <a:xfrm>
            <a:off x="674882" y="2236958"/>
            <a:ext cx="810000" cy="613673"/>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368" name="Google Shape;4368;p84"/>
          <p:cNvSpPr txBox="1"/>
          <p:nvPr/>
        </p:nvSpPr>
        <p:spPr>
          <a:xfrm>
            <a:off x="667920" y="2817445"/>
            <a:ext cx="1647322" cy="584775"/>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Accumulated depreciation</a:t>
            </a:r>
            <a:endParaRPr/>
          </a:p>
        </p:txBody>
      </p:sp>
      <p:sp>
        <p:nvSpPr>
          <p:cNvPr id="4369" name="Google Shape;4369;p84"/>
          <p:cNvSpPr txBox="1"/>
          <p:nvPr/>
        </p:nvSpPr>
        <p:spPr>
          <a:xfrm>
            <a:off x="1679276" y="2502766"/>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100</a:t>
            </a:r>
            <a:endParaRPr/>
          </a:p>
        </p:txBody>
      </p:sp>
      <p:sp>
        <p:nvSpPr>
          <p:cNvPr id="4370" name="Google Shape;4370;p84"/>
          <p:cNvSpPr/>
          <p:nvPr/>
        </p:nvSpPr>
        <p:spPr>
          <a:xfrm>
            <a:off x="1256101" y="2550772"/>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371" name="Google Shape;4371;p84"/>
          <p:cNvSpPr/>
          <p:nvPr/>
        </p:nvSpPr>
        <p:spPr>
          <a:xfrm>
            <a:off x="793014" y="2511750"/>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372" name="Google Shape;4372;p84"/>
          <p:cNvSpPr/>
          <p:nvPr/>
        </p:nvSpPr>
        <p:spPr>
          <a:xfrm>
            <a:off x="752976" y="2520544"/>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14</a:t>
            </a:r>
            <a:endParaRPr/>
          </a:p>
        </p:txBody>
      </p:sp>
      <p:sp>
        <p:nvSpPr>
          <p:cNvPr id="4373" name="Google Shape;4373;p84"/>
          <p:cNvSpPr/>
          <p:nvPr/>
        </p:nvSpPr>
        <p:spPr>
          <a:xfrm flipH="1">
            <a:off x="5057500" y="957969"/>
            <a:ext cx="810000" cy="613673"/>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374" name="Google Shape;4374;p84"/>
          <p:cNvSpPr/>
          <p:nvPr/>
        </p:nvSpPr>
        <p:spPr>
          <a:xfrm>
            <a:off x="4247500" y="957969"/>
            <a:ext cx="810000" cy="613673"/>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375" name="Google Shape;4375;p84"/>
          <p:cNvSpPr/>
          <p:nvPr/>
        </p:nvSpPr>
        <p:spPr>
          <a:xfrm flipH="1">
            <a:off x="5057500" y="1892397"/>
            <a:ext cx="810000" cy="613673"/>
          </a:xfrm>
          <a:prstGeom prst="corner">
            <a:avLst>
              <a:gd fmla="val 9300"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376" name="Google Shape;4376;p84"/>
          <p:cNvSpPr/>
          <p:nvPr/>
        </p:nvSpPr>
        <p:spPr>
          <a:xfrm>
            <a:off x="4247500" y="1892397"/>
            <a:ext cx="810000" cy="613673"/>
          </a:xfrm>
          <a:prstGeom prst="corner">
            <a:avLst>
              <a:gd fmla="val 9300"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377" name="Google Shape;4377;p84"/>
          <p:cNvSpPr/>
          <p:nvPr/>
        </p:nvSpPr>
        <p:spPr>
          <a:xfrm flipH="1">
            <a:off x="10793452" y="3159101"/>
            <a:ext cx="810000" cy="796274"/>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378" name="Google Shape;4378;p84"/>
          <p:cNvSpPr/>
          <p:nvPr/>
        </p:nvSpPr>
        <p:spPr>
          <a:xfrm>
            <a:off x="9983452" y="3159099"/>
            <a:ext cx="810000" cy="796275"/>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379" name="Google Shape;4379;p84"/>
          <p:cNvSpPr/>
          <p:nvPr/>
        </p:nvSpPr>
        <p:spPr>
          <a:xfrm flipH="1">
            <a:off x="9024558" y="1260020"/>
            <a:ext cx="810000" cy="796274"/>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380" name="Google Shape;4380;p84"/>
          <p:cNvSpPr/>
          <p:nvPr/>
        </p:nvSpPr>
        <p:spPr>
          <a:xfrm>
            <a:off x="8214558" y="1260018"/>
            <a:ext cx="810000" cy="796275"/>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381" name="Google Shape;4381;p84"/>
          <p:cNvSpPr/>
          <p:nvPr/>
        </p:nvSpPr>
        <p:spPr>
          <a:xfrm flipH="1">
            <a:off x="10816085" y="1263490"/>
            <a:ext cx="810000" cy="796274"/>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382" name="Google Shape;4382;p84"/>
          <p:cNvSpPr/>
          <p:nvPr/>
        </p:nvSpPr>
        <p:spPr>
          <a:xfrm>
            <a:off x="10006085" y="1263488"/>
            <a:ext cx="810000" cy="796275"/>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383" name="Google Shape;4383;p84"/>
          <p:cNvSpPr/>
          <p:nvPr/>
        </p:nvSpPr>
        <p:spPr>
          <a:xfrm flipH="1">
            <a:off x="7238511" y="1266565"/>
            <a:ext cx="810000" cy="796274"/>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384" name="Google Shape;4384;p84"/>
          <p:cNvSpPr/>
          <p:nvPr/>
        </p:nvSpPr>
        <p:spPr>
          <a:xfrm>
            <a:off x="6428511" y="1266563"/>
            <a:ext cx="810000" cy="796275"/>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385" name="Google Shape;4385;p84"/>
          <p:cNvSpPr/>
          <p:nvPr/>
        </p:nvSpPr>
        <p:spPr>
          <a:xfrm rot="10800000">
            <a:off x="10548000" y="3653367"/>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4386" name="Google Shape;4386;p84"/>
          <p:cNvSpPr/>
          <p:nvPr/>
        </p:nvSpPr>
        <p:spPr>
          <a:xfrm>
            <a:off x="1888200" y="4385902"/>
            <a:ext cx="10045767" cy="1312708"/>
          </a:xfrm>
          <a:prstGeom prst="rect">
            <a:avLst/>
          </a:prstGeom>
          <a:solidFill>
            <a:srgbClr val="F2F2F2">
              <a:alpha val="86666"/>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grpSp>
        <p:nvGrpSpPr>
          <p:cNvPr id="4387" name="Google Shape;4387;p84"/>
          <p:cNvGrpSpPr/>
          <p:nvPr/>
        </p:nvGrpSpPr>
        <p:grpSpPr>
          <a:xfrm>
            <a:off x="2179463" y="4641956"/>
            <a:ext cx="9543495" cy="756003"/>
            <a:chOff x="719091" y="1719857"/>
            <a:chExt cx="9543495" cy="756003"/>
          </a:xfrm>
        </p:grpSpPr>
        <p:sp>
          <p:nvSpPr>
            <p:cNvPr id="4388" name="Google Shape;4388;p84"/>
            <p:cNvSpPr txBox="1"/>
            <p:nvPr/>
          </p:nvSpPr>
          <p:spPr>
            <a:xfrm>
              <a:off x="1420427" y="1719860"/>
              <a:ext cx="5476017" cy="756000"/>
            </a:xfrm>
            <a:prstGeom prst="rect">
              <a:avLst/>
            </a:prstGeom>
            <a:solidFill>
              <a:schemeClr val="lt1"/>
            </a:solidFill>
            <a:ln cap="flat" cmpd="sng" w="9525">
              <a:solidFill>
                <a:srgbClr val="BFBFBF"/>
              </a:solidFill>
              <a:prstDash val="solid"/>
              <a:round/>
              <a:headEnd len="sm" w="sm" type="none"/>
              <a:tailEnd len="sm" w="sm" type="none"/>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139700" marR="0" rtl="0" algn="l">
                <a:spcBef>
                  <a:spcPts val="0"/>
                </a:spcBef>
                <a:spcAft>
                  <a:spcPts val="0"/>
                </a:spcAft>
                <a:buNone/>
              </a:pPr>
              <a:r>
                <a:rPr lang="en-US" sz="2000">
                  <a:solidFill>
                    <a:schemeClr val="dk1"/>
                  </a:solidFill>
                  <a:latin typeface="Calibri"/>
                  <a:ea typeface="Calibri"/>
                  <a:cs typeface="Calibri"/>
                  <a:sym typeface="Calibri"/>
                </a:rPr>
                <a:t>ZZZ 공급업체에게 전액 지급함.</a:t>
              </a:r>
              <a:endParaRPr sz="2000">
                <a:solidFill>
                  <a:schemeClr val="dk1"/>
                </a:solidFill>
                <a:latin typeface="Avenir"/>
                <a:ea typeface="Avenir"/>
                <a:cs typeface="Avenir"/>
                <a:sym typeface="Avenir"/>
              </a:endParaRPr>
            </a:p>
          </p:txBody>
        </p:sp>
        <p:sp>
          <p:nvSpPr>
            <p:cNvPr id="4389" name="Google Shape;4389;p84"/>
            <p:cNvSpPr txBox="1"/>
            <p:nvPr/>
          </p:nvSpPr>
          <p:spPr>
            <a:xfrm>
              <a:off x="6896444" y="1719857"/>
              <a:ext cx="1683072" cy="756000"/>
            </a:xfrm>
            <a:prstGeom prst="rect">
              <a:avLst/>
            </a:prstGeom>
            <a:solidFill>
              <a:srgbClr val="E1EFD8"/>
            </a:solidFill>
            <a:ln cap="flat" cmpd="sng" w="9525">
              <a:solidFill>
                <a:srgbClr val="BFBFBF"/>
              </a:solidFill>
              <a:prstDash val="dot"/>
              <a:round/>
              <a:headEnd len="sm" w="sm" type="none"/>
              <a:tailEnd len="sm" w="sm" type="none"/>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1400">
                  <a:solidFill>
                    <a:srgbClr val="BFBFBF"/>
                  </a:solidFill>
                  <a:latin typeface="Avenir"/>
                  <a:ea typeface="Avenir"/>
                  <a:cs typeface="Avenir"/>
                  <a:sym typeface="Avenir"/>
                </a:rPr>
                <a:t>Accounts payable</a:t>
              </a: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6,000</a:t>
              </a:r>
              <a:endParaRPr/>
            </a:p>
          </p:txBody>
        </p:sp>
        <p:sp>
          <p:nvSpPr>
            <p:cNvPr id="4390" name="Google Shape;4390;p84"/>
            <p:cNvSpPr txBox="1"/>
            <p:nvPr/>
          </p:nvSpPr>
          <p:spPr>
            <a:xfrm>
              <a:off x="8579514" y="1719857"/>
              <a:ext cx="1683072" cy="756000"/>
            </a:xfrm>
            <a:prstGeom prst="rect">
              <a:avLst/>
            </a:prstGeom>
            <a:solidFill>
              <a:srgbClr val="FBE4D4"/>
            </a:solidFill>
            <a:ln cap="flat" cmpd="sng" w="9525">
              <a:solidFill>
                <a:srgbClr val="BFBFBF"/>
              </a:solidFill>
              <a:prstDash val="dot"/>
              <a:round/>
              <a:headEnd len="sm" w="sm" type="none"/>
              <a:tailEnd len="sm" w="sm" type="none"/>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1400">
                  <a:solidFill>
                    <a:srgbClr val="BFBFBF"/>
                  </a:solidFill>
                  <a:latin typeface="Avenir"/>
                  <a:ea typeface="Avenir"/>
                  <a:cs typeface="Avenir"/>
                  <a:sym typeface="Avenir"/>
                </a:rPr>
                <a:t>Cash</a:t>
              </a:r>
              <a:endParaRPr b="1" sz="1600">
                <a:solidFill>
                  <a:srgbClr val="BFBFBF"/>
                </a:solidFill>
                <a:latin typeface="Avenir"/>
                <a:ea typeface="Avenir"/>
                <a:cs typeface="Avenir"/>
                <a:sym typeface="Avenir"/>
              </a:endParaRPr>
            </a:p>
            <a:p>
              <a:pPr indent="0" lvl="0" marL="0" marR="0" rtl="0" algn="ctr">
                <a:spcBef>
                  <a:spcPts val="0"/>
                </a:spcBef>
                <a:spcAft>
                  <a:spcPts val="0"/>
                </a:spcAft>
                <a:buNone/>
              </a:pPr>
              <a:r>
                <a:rPr b="1" lang="en-US" sz="1800">
                  <a:solidFill>
                    <a:srgbClr val="BFBFBF"/>
                  </a:solidFill>
                  <a:latin typeface="Avenir"/>
                  <a:ea typeface="Avenir"/>
                  <a:cs typeface="Avenir"/>
                  <a:sym typeface="Avenir"/>
                </a:rPr>
                <a:t>6,000</a:t>
              </a:r>
              <a:endParaRPr/>
            </a:p>
          </p:txBody>
        </p:sp>
        <p:sp>
          <p:nvSpPr>
            <p:cNvPr id="4391" name="Google Shape;4391;p84"/>
            <p:cNvSpPr txBox="1"/>
            <p:nvPr/>
          </p:nvSpPr>
          <p:spPr>
            <a:xfrm>
              <a:off x="719091" y="1719857"/>
              <a:ext cx="701336" cy="756000"/>
            </a:xfrm>
            <a:prstGeom prst="rect">
              <a:avLst/>
            </a:prstGeom>
            <a:solidFill>
              <a:schemeClr val="lt1"/>
            </a:solidFill>
            <a:ln cap="flat" cmpd="sng" w="9525">
              <a:solidFill>
                <a:srgbClr val="BFBFBF"/>
              </a:solidFill>
              <a:prstDash val="solid"/>
              <a:round/>
              <a:headEnd len="sm" w="sm" type="none"/>
              <a:tailEnd len="sm" w="sm" type="none"/>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16</a:t>
              </a:r>
              <a:endParaRPr/>
            </a:p>
          </p:txBody>
        </p:sp>
      </p:grpSp>
      <p:sp>
        <p:nvSpPr>
          <p:cNvPr id="4392" name="Google Shape;4392;p84"/>
          <p:cNvSpPr txBox="1"/>
          <p:nvPr/>
        </p:nvSpPr>
        <p:spPr>
          <a:xfrm>
            <a:off x="8352066" y="4639930"/>
            <a:ext cx="1683070" cy="756000"/>
          </a:xfrm>
          <a:prstGeom prst="rect">
            <a:avLst/>
          </a:prstGeom>
          <a:solidFill>
            <a:srgbClr val="548135"/>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6,000</a:t>
            </a:r>
            <a:endParaRPr/>
          </a:p>
        </p:txBody>
      </p:sp>
      <p:sp>
        <p:nvSpPr>
          <p:cNvPr id="4393" name="Google Shape;4393;p84"/>
          <p:cNvSpPr txBox="1"/>
          <p:nvPr/>
        </p:nvSpPr>
        <p:spPr>
          <a:xfrm>
            <a:off x="10035136" y="4638533"/>
            <a:ext cx="1683070" cy="756000"/>
          </a:xfrm>
          <a:prstGeom prst="rect">
            <a:avLst/>
          </a:prstGeom>
          <a:solidFill>
            <a:schemeClr val="accent2"/>
          </a:solidFill>
          <a:ln cap="flat" cmpd="sng" w="9525">
            <a:solidFill>
              <a:srgbClr val="BFBFB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lt1"/>
                </a:solidFill>
                <a:latin typeface="Avenir"/>
                <a:ea typeface="Avenir"/>
                <a:cs typeface="Avenir"/>
                <a:sym typeface="Avenir"/>
              </a:rPr>
              <a:t>6,000</a:t>
            </a:r>
            <a:endParaRPr/>
          </a:p>
        </p:txBody>
      </p:sp>
      <p:sp>
        <p:nvSpPr>
          <p:cNvPr id="4394" name="Google Shape;4394;p84"/>
          <p:cNvSpPr/>
          <p:nvPr/>
        </p:nvSpPr>
        <p:spPr>
          <a:xfrm>
            <a:off x="11175384" y="824059"/>
            <a:ext cx="950259" cy="1037381"/>
          </a:xfrm>
          <a:prstGeom prst="downArrow">
            <a:avLst>
              <a:gd fmla="val 50000" name="adj1"/>
              <a:gd fmla="val 50000" name="adj2"/>
            </a:avLst>
          </a:prstGeom>
          <a:solidFill>
            <a:schemeClr val="accent6">
              <a:alpha val="77647"/>
            </a:schemeClr>
          </a:solidFill>
          <a:ln>
            <a:noFill/>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395" name="Google Shape;4395;p84"/>
          <p:cNvSpPr/>
          <p:nvPr/>
        </p:nvSpPr>
        <p:spPr>
          <a:xfrm>
            <a:off x="117100" y="826738"/>
            <a:ext cx="950259" cy="1037381"/>
          </a:xfrm>
          <a:prstGeom prst="downArrow">
            <a:avLst>
              <a:gd fmla="val 50000" name="adj1"/>
              <a:gd fmla="val 50000" name="adj2"/>
            </a:avLst>
          </a:prstGeom>
          <a:solidFill>
            <a:schemeClr val="accent2">
              <a:alpha val="77647"/>
            </a:schemeClr>
          </a:solidFill>
          <a:ln>
            <a:noFill/>
          </a:ln>
          <a:effectLst>
            <a:outerShdw blurRad="50800" rotWithShape="0" algn="tl" dir="2700000" dist="38100">
              <a:srgbClr val="000000">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396" name="Google Shape;4396;p84"/>
          <p:cNvSpPr txBox="1"/>
          <p:nvPr/>
        </p:nvSpPr>
        <p:spPr>
          <a:xfrm>
            <a:off x="6403129" y="3421071"/>
            <a:ext cx="1548343" cy="566133"/>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160</a:t>
            </a:r>
            <a:endParaRPr sz="2400">
              <a:solidFill>
                <a:schemeClr val="dk1"/>
              </a:solidFill>
              <a:latin typeface="Calibri"/>
              <a:ea typeface="Calibri"/>
              <a:cs typeface="Calibri"/>
              <a:sym typeface="Calibri"/>
            </a:endParaRPr>
          </a:p>
        </p:txBody>
      </p:sp>
    </p:spTree>
  </p:cSld>
  <p:clrMapOvr>
    <a:masterClrMapping/>
  </p:clrMapOvr>
  <mc:AlternateContent>
    <mc:Choice Requires="p14">
      <p:transition spd="slow" p14:dur="700">
        <p:fade/>
      </p:transition>
    </mc:Choice>
    <mc:Fallback>
      <p:transition spd="slow">
        <p:fade/>
      </p:transition>
    </mc:Fallback>
  </mc:AlternateContent>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afterEffect" presetClass="exit" presetID="10" presetSubtype="0">
                                  <p:stCondLst>
                                    <p:cond delay="0"/>
                                  </p:stCondLst>
                                  <p:childTnLst>
                                    <p:animEffect filter="fade" transition="out">
                                      <p:cBhvr>
                                        <p:cTn dur="1000"/>
                                        <p:tgtEl>
                                          <p:spTgt spid="4393"/>
                                        </p:tgtEl>
                                      </p:cBhvr>
                                    </p:animEffect>
                                    <p:set>
                                      <p:cBhvr>
                                        <p:cTn dur="1" fill="hold">
                                          <p:stCondLst>
                                            <p:cond delay="1000"/>
                                          </p:stCondLst>
                                        </p:cTn>
                                        <p:tgtEl>
                                          <p:spTgt spid="4393"/>
                                        </p:tgtEl>
                                        <p:attrNameLst>
                                          <p:attrName>style.visibility</p:attrName>
                                        </p:attrNameLst>
                                      </p:cBhvr>
                                      <p:to>
                                        <p:strVal val="hidden"/>
                                      </p:to>
                                    </p:set>
                                  </p:childTnLst>
                                </p:cTn>
                              </p:par>
                              <p:par>
                                <p:cTn fill="hold" nodeType="withEffect" presetClass="entr" presetID="10" presetSubtype="0">
                                  <p:stCondLst>
                                    <p:cond delay="0"/>
                                  </p:stCondLst>
                                  <p:childTnLst>
                                    <p:set>
                                      <p:cBhvr>
                                        <p:cTn dur="1" fill="hold">
                                          <p:stCondLst>
                                            <p:cond delay="0"/>
                                          </p:stCondLst>
                                        </p:cTn>
                                        <p:tgtEl>
                                          <p:spTgt spid="4306"/>
                                        </p:tgtEl>
                                        <p:attrNameLst>
                                          <p:attrName>style.visibility</p:attrName>
                                        </p:attrNameLst>
                                      </p:cBhvr>
                                      <p:to>
                                        <p:strVal val="visible"/>
                                      </p:to>
                                    </p:set>
                                    <p:animEffect filter="fade" transition="in">
                                      <p:cBhvr>
                                        <p:cTn dur="1000"/>
                                        <p:tgtEl>
                                          <p:spTgt spid="4306"/>
                                        </p:tgtEl>
                                      </p:cBhvr>
                                    </p:animEffect>
                                  </p:childTnLst>
                                </p:cTn>
                              </p:par>
                              <p:par>
                                <p:cTn fill="hold" nodeType="withEffect" presetClass="entr" presetID="10" presetSubtype="0">
                                  <p:stCondLst>
                                    <p:cond delay="0"/>
                                  </p:stCondLst>
                                  <p:childTnLst>
                                    <p:set>
                                      <p:cBhvr>
                                        <p:cTn dur="1" fill="hold">
                                          <p:stCondLst>
                                            <p:cond delay="0"/>
                                          </p:stCondLst>
                                        </p:cTn>
                                        <p:tgtEl>
                                          <p:spTgt spid="4307"/>
                                        </p:tgtEl>
                                        <p:attrNameLst>
                                          <p:attrName>style.visibility</p:attrName>
                                        </p:attrNameLst>
                                      </p:cBhvr>
                                      <p:to>
                                        <p:strVal val="visible"/>
                                      </p:to>
                                    </p:set>
                                    <p:animEffect filter="fade" transition="in">
                                      <p:cBhvr>
                                        <p:cTn dur="1000"/>
                                        <p:tgtEl>
                                          <p:spTgt spid="4307"/>
                                        </p:tgtEl>
                                      </p:cBhvr>
                                    </p:animEffect>
                                  </p:childTnLst>
                                </p:cTn>
                              </p:par>
                              <p:par>
                                <p:cTn fill="hold" nodeType="withEffect" presetClass="entr" presetID="10" presetSubtype="0">
                                  <p:stCondLst>
                                    <p:cond delay="0"/>
                                  </p:stCondLst>
                                  <p:childTnLst>
                                    <p:set>
                                      <p:cBhvr>
                                        <p:cTn dur="1" fill="hold">
                                          <p:stCondLst>
                                            <p:cond delay="0"/>
                                          </p:stCondLst>
                                        </p:cTn>
                                        <p:tgtEl>
                                          <p:spTgt spid="4310"/>
                                        </p:tgtEl>
                                        <p:attrNameLst>
                                          <p:attrName>style.visibility</p:attrName>
                                        </p:attrNameLst>
                                      </p:cBhvr>
                                      <p:to>
                                        <p:strVal val="visible"/>
                                      </p:to>
                                    </p:set>
                                    <p:animEffect filter="fade" transition="in">
                                      <p:cBhvr>
                                        <p:cTn dur="1000"/>
                                        <p:tgtEl>
                                          <p:spTgt spid="4310"/>
                                        </p:tgtEl>
                                      </p:cBhvr>
                                    </p:animEffect>
                                  </p:childTnLst>
                                </p:cTn>
                              </p:par>
                              <p:par>
                                <p:cTn fill="hold" nodeType="withEffect" presetClass="entr" presetID="10" presetSubtype="0">
                                  <p:stCondLst>
                                    <p:cond delay="0"/>
                                  </p:stCondLst>
                                  <p:childTnLst>
                                    <p:set>
                                      <p:cBhvr>
                                        <p:cTn dur="1" fill="hold">
                                          <p:stCondLst>
                                            <p:cond delay="0"/>
                                          </p:stCondLst>
                                        </p:cTn>
                                        <p:tgtEl>
                                          <p:spTgt spid="4311"/>
                                        </p:tgtEl>
                                        <p:attrNameLst>
                                          <p:attrName>style.visibility</p:attrName>
                                        </p:attrNameLst>
                                      </p:cBhvr>
                                      <p:to>
                                        <p:strVal val="visible"/>
                                      </p:to>
                                    </p:set>
                                    <p:animEffect filter="fade" transition="in">
                                      <p:cBhvr>
                                        <p:cTn dur="1000"/>
                                        <p:tgtEl>
                                          <p:spTgt spid="4311"/>
                                        </p:tgtEl>
                                      </p:cBhvr>
                                    </p:animEffect>
                                  </p:childTnLst>
                                </p:cTn>
                              </p:par>
                            </p:childTnLst>
                          </p:cTn>
                        </p:par>
                        <p:par>
                          <p:cTn fill="hold">
                            <p:stCondLst>
                              <p:cond delay="1000"/>
                            </p:stCondLst>
                            <p:childTnLst>
                              <p:par>
                                <p:cTn fill="hold" nodeType="afterEffect" presetClass="exit" presetID="10" presetSubtype="0">
                                  <p:stCondLst>
                                    <p:cond delay="0"/>
                                  </p:stCondLst>
                                  <p:childTnLst>
                                    <p:animEffect filter="fade" transition="out">
                                      <p:cBhvr>
                                        <p:cTn dur="1000"/>
                                        <p:tgtEl>
                                          <p:spTgt spid="4392"/>
                                        </p:tgtEl>
                                      </p:cBhvr>
                                    </p:animEffect>
                                    <p:set>
                                      <p:cBhvr>
                                        <p:cTn dur="1" fill="hold">
                                          <p:stCondLst>
                                            <p:cond delay="1000"/>
                                          </p:stCondLst>
                                        </p:cTn>
                                        <p:tgtEl>
                                          <p:spTgt spid="4392"/>
                                        </p:tgtEl>
                                        <p:attrNameLst>
                                          <p:attrName>style.visibility</p:attrName>
                                        </p:attrNameLst>
                                      </p:cBhvr>
                                      <p:to>
                                        <p:strVal val="hidden"/>
                                      </p:to>
                                    </p:set>
                                  </p:childTnLst>
                                </p:cTn>
                              </p:par>
                              <p:par>
                                <p:cTn fill="hold" nodeType="withEffect" presetClass="entr" presetID="10" presetSubtype="0">
                                  <p:stCondLst>
                                    <p:cond delay="0"/>
                                  </p:stCondLst>
                                  <p:childTnLst>
                                    <p:set>
                                      <p:cBhvr>
                                        <p:cTn dur="1" fill="hold">
                                          <p:stCondLst>
                                            <p:cond delay="0"/>
                                          </p:stCondLst>
                                        </p:cTn>
                                        <p:tgtEl>
                                          <p:spTgt spid="4309"/>
                                        </p:tgtEl>
                                        <p:attrNameLst>
                                          <p:attrName>style.visibility</p:attrName>
                                        </p:attrNameLst>
                                      </p:cBhvr>
                                      <p:to>
                                        <p:strVal val="visible"/>
                                      </p:to>
                                    </p:set>
                                    <p:animEffect filter="fade" transition="in">
                                      <p:cBhvr>
                                        <p:cTn dur="1000"/>
                                        <p:tgtEl>
                                          <p:spTgt spid="4309"/>
                                        </p:tgtEl>
                                      </p:cBhvr>
                                    </p:animEffect>
                                  </p:childTnLst>
                                </p:cTn>
                              </p:par>
                              <p:par>
                                <p:cTn fill="hold" nodeType="withEffect" presetClass="entr" presetID="10" presetSubtype="0">
                                  <p:stCondLst>
                                    <p:cond delay="0"/>
                                  </p:stCondLst>
                                  <p:childTnLst>
                                    <p:set>
                                      <p:cBhvr>
                                        <p:cTn dur="1" fill="hold">
                                          <p:stCondLst>
                                            <p:cond delay="0"/>
                                          </p:stCondLst>
                                        </p:cTn>
                                        <p:tgtEl>
                                          <p:spTgt spid="4362"/>
                                        </p:tgtEl>
                                        <p:attrNameLst>
                                          <p:attrName>style.visibility</p:attrName>
                                        </p:attrNameLst>
                                      </p:cBhvr>
                                      <p:to>
                                        <p:strVal val="visible"/>
                                      </p:to>
                                    </p:set>
                                    <p:animEffect filter="fade" transition="in">
                                      <p:cBhvr>
                                        <p:cTn dur="1000"/>
                                        <p:tgtEl>
                                          <p:spTgt spid="4362"/>
                                        </p:tgtEl>
                                      </p:cBhvr>
                                    </p:animEffect>
                                  </p:childTnLst>
                                </p:cTn>
                              </p:par>
                              <p:par>
                                <p:cTn fill="hold" nodeType="withEffect" presetClass="entr" presetID="10" presetSubtype="0">
                                  <p:stCondLst>
                                    <p:cond delay="0"/>
                                  </p:stCondLst>
                                  <p:childTnLst>
                                    <p:set>
                                      <p:cBhvr>
                                        <p:cTn dur="1" fill="hold">
                                          <p:stCondLst>
                                            <p:cond delay="0"/>
                                          </p:stCondLst>
                                        </p:cTn>
                                        <p:tgtEl>
                                          <p:spTgt spid="4363"/>
                                        </p:tgtEl>
                                        <p:attrNameLst>
                                          <p:attrName>style.visibility</p:attrName>
                                        </p:attrNameLst>
                                      </p:cBhvr>
                                      <p:to>
                                        <p:strVal val="visible"/>
                                      </p:to>
                                    </p:set>
                                    <p:animEffect filter="fade" transition="in">
                                      <p:cBhvr>
                                        <p:cTn dur="1000"/>
                                        <p:tgtEl>
                                          <p:spTgt spid="4363"/>
                                        </p:tgtEl>
                                      </p:cBhvr>
                                    </p:animEffect>
                                  </p:childTnLst>
                                </p:cTn>
                              </p:par>
                              <p:par>
                                <p:cTn fill="hold" nodeType="withEffect" presetClass="entr" presetID="10" presetSubtype="0">
                                  <p:stCondLst>
                                    <p:cond delay="0"/>
                                  </p:stCondLst>
                                  <p:childTnLst>
                                    <p:set>
                                      <p:cBhvr>
                                        <p:cTn dur="1" fill="hold">
                                          <p:stCondLst>
                                            <p:cond delay="0"/>
                                          </p:stCondLst>
                                        </p:cTn>
                                        <p:tgtEl>
                                          <p:spTgt spid="4308"/>
                                        </p:tgtEl>
                                        <p:attrNameLst>
                                          <p:attrName>style.visibility</p:attrName>
                                        </p:attrNameLst>
                                      </p:cBhvr>
                                      <p:to>
                                        <p:strVal val="visible"/>
                                      </p:to>
                                    </p:set>
                                    <p:animEffect filter="fade" transition="in">
                                      <p:cBhvr>
                                        <p:cTn dur="1000"/>
                                        <p:tgtEl>
                                          <p:spTgt spid="430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394"/>
                                        </p:tgtEl>
                                        <p:attrNameLst>
                                          <p:attrName>style.visibility</p:attrName>
                                        </p:attrNameLst>
                                      </p:cBhvr>
                                      <p:to>
                                        <p:strVal val="visible"/>
                                      </p:to>
                                    </p:set>
                                    <p:animEffect filter="fade" transition="in">
                                      <p:cBhvr>
                                        <p:cTn dur="1000"/>
                                        <p:tgtEl>
                                          <p:spTgt spid="4394"/>
                                        </p:tgtEl>
                                      </p:cBhvr>
                                    </p:animEffect>
                                  </p:childTnLst>
                                </p:cTn>
                              </p:par>
                              <p:par>
                                <p:cTn fill="hold" nodeType="withEffect" presetClass="entr" presetID="10" presetSubtype="0">
                                  <p:stCondLst>
                                    <p:cond delay="0"/>
                                  </p:stCondLst>
                                  <p:childTnLst>
                                    <p:set>
                                      <p:cBhvr>
                                        <p:cTn dur="1" fill="hold">
                                          <p:stCondLst>
                                            <p:cond delay="0"/>
                                          </p:stCondLst>
                                        </p:cTn>
                                        <p:tgtEl>
                                          <p:spTgt spid="4395"/>
                                        </p:tgtEl>
                                        <p:attrNameLst>
                                          <p:attrName>style.visibility</p:attrName>
                                        </p:attrNameLst>
                                      </p:cBhvr>
                                      <p:to>
                                        <p:strVal val="visible"/>
                                      </p:to>
                                    </p:set>
                                    <p:animEffect filter="fade" transition="in">
                                      <p:cBhvr>
                                        <p:cTn dur="1000"/>
                                        <p:tgtEl>
                                          <p:spTgt spid="439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01" name="Shape 4401"/>
        <p:cNvGrpSpPr/>
        <p:nvPr/>
      </p:nvGrpSpPr>
      <p:grpSpPr>
        <a:xfrm>
          <a:off x="0" y="0"/>
          <a:ext cx="0" cy="0"/>
          <a:chOff x="0" y="0"/>
          <a:chExt cx="0" cy="0"/>
        </a:xfrm>
      </p:grpSpPr>
      <p:sp>
        <p:nvSpPr>
          <p:cNvPr id="4402" name="Google Shape;4402;p85"/>
          <p:cNvSpPr txBox="1"/>
          <p:nvPr/>
        </p:nvSpPr>
        <p:spPr>
          <a:xfrm>
            <a:off x="4187006" y="133386"/>
            <a:ext cx="3629520" cy="5232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800">
                <a:solidFill>
                  <a:schemeClr val="accent1"/>
                </a:solidFill>
                <a:latin typeface="Avenir"/>
                <a:ea typeface="Avenir"/>
                <a:cs typeface="Avenir"/>
                <a:sym typeface="Avenir"/>
              </a:rPr>
              <a:t>Global Books Limited</a:t>
            </a:r>
            <a:endParaRPr/>
          </a:p>
        </p:txBody>
      </p:sp>
      <p:cxnSp>
        <p:nvCxnSpPr>
          <p:cNvPr id="4403" name="Google Shape;4403;p85"/>
          <p:cNvCxnSpPr/>
          <p:nvPr/>
        </p:nvCxnSpPr>
        <p:spPr>
          <a:xfrm>
            <a:off x="4316098" y="566860"/>
            <a:ext cx="3375212" cy="0"/>
          </a:xfrm>
          <a:prstGeom prst="straightConnector1">
            <a:avLst/>
          </a:prstGeom>
          <a:noFill/>
          <a:ln cap="flat" cmpd="sng" w="28575">
            <a:solidFill>
              <a:schemeClr val="accent1"/>
            </a:solidFill>
            <a:prstDash val="dot"/>
            <a:miter lim="800000"/>
            <a:headEnd len="sm" w="sm" type="none"/>
            <a:tailEnd len="sm" w="sm" type="none"/>
          </a:ln>
        </p:spPr>
      </p:cxnSp>
      <p:sp>
        <p:nvSpPr>
          <p:cNvPr id="4404" name="Google Shape;4404;p85"/>
          <p:cNvSpPr txBox="1"/>
          <p:nvPr/>
        </p:nvSpPr>
        <p:spPr>
          <a:xfrm>
            <a:off x="9504213" y="373659"/>
            <a:ext cx="2279791" cy="40011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2000">
                <a:solidFill>
                  <a:schemeClr val="accent2"/>
                </a:solidFill>
                <a:latin typeface="Avenir"/>
                <a:ea typeface="Avenir"/>
                <a:cs typeface="Avenir"/>
                <a:sym typeface="Avenir"/>
              </a:rPr>
              <a:t>Sources of funds</a:t>
            </a:r>
            <a:endParaRPr/>
          </a:p>
        </p:txBody>
      </p:sp>
      <p:sp>
        <p:nvSpPr>
          <p:cNvPr id="4405" name="Google Shape;4405;p85"/>
          <p:cNvSpPr txBox="1"/>
          <p:nvPr/>
        </p:nvSpPr>
        <p:spPr>
          <a:xfrm>
            <a:off x="492858" y="373659"/>
            <a:ext cx="1880643" cy="40011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000">
                <a:solidFill>
                  <a:schemeClr val="accent6"/>
                </a:solidFill>
                <a:latin typeface="Avenir"/>
                <a:ea typeface="Avenir"/>
                <a:cs typeface="Avenir"/>
                <a:sym typeface="Avenir"/>
              </a:rPr>
              <a:t>Uses of funds</a:t>
            </a:r>
            <a:endParaRPr/>
          </a:p>
        </p:txBody>
      </p:sp>
      <p:sp>
        <p:nvSpPr>
          <p:cNvPr id="4406" name="Google Shape;4406;p85"/>
          <p:cNvSpPr txBox="1"/>
          <p:nvPr/>
        </p:nvSpPr>
        <p:spPr>
          <a:xfrm>
            <a:off x="6227788" y="2623662"/>
            <a:ext cx="5556216" cy="1692844"/>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Equity</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4407" name="Google Shape;4407;p85"/>
          <p:cNvSpPr txBox="1"/>
          <p:nvPr/>
        </p:nvSpPr>
        <p:spPr>
          <a:xfrm>
            <a:off x="6410845" y="3135649"/>
            <a:ext cx="1544844" cy="770509"/>
          </a:xfrm>
          <a:prstGeom prst="rect">
            <a:avLst/>
          </a:prstGeom>
          <a:noFill/>
          <a:ln cap="flat" cmpd="sng" w="5715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ctr">
              <a:lnSpc>
                <a:spcPct val="120000"/>
              </a:lnSpc>
              <a:spcBef>
                <a:spcPts val="0"/>
              </a:spcBef>
              <a:spcAft>
                <a:spcPts val="0"/>
              </a:spcAft>
              <a:buNone/>
            </a:pPr>
            <a:r>
              <a:rPr b="1" lang="en-US" sz="2200">
                <a:solidFill>
                  <a:srgbClr val="942093"/>
                </a:solidFill>
                <a:latin typeface="Avenir"/>
                <a:ea typeface="Avenir"/>
                <a:cs typeface="Avenir"/>
                <a:sym typeface="Avenir"/>
              </a:rPr>
              <a:t>Profit</a:t>
            </a:r>
            <a:endParaRPr/>
          </a:p>
        </p:txBody>
      </p:sp>
      <p:sp>
        <p:nvSpPr>
          <p:cNvPr id="4408" name="Google Shape;4408;p85"/>
          <p:cNvSpPr txBox="1"/>
          <p:nvPr/>
        </p:nvSpPr>
        <p:spPr>
          <a:xfrm>
            <a:off x="6227788" y="773769"/>
            <a:ext cx="5556216" cy="1702674"/>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Liabilities</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grpSp>
        <p:nvGrpSpPr>
          <p:cNvPr id="4409" name="Google Shape;4409;p85"/>
          <p:cNvGrpSpPr/>
          <p:nvPr/>
        </p:nvGrpSpPr>
        <p:grpSpPr>
          <a:xfrm>
            <a:off x="492858" y="3906158"/>
            <a:ext cx="11291146" cy="2763574"/>
            <a:chOff x="492858" y="3906158"/>
            <a:chExt cx="11291146" cy="2763574"/>
          </a:xfrm>
        </p:grpSpPr>
        <p:sp>
          <p:nvSpPr>
            <p:cNvPr id="4410" name="Google Shape;4410;p85"/>
            <p:cNvSpPr txBox="1"/>
            <p:nvPr/>
          </p:nvSpPr>
          <p:spPr>
            <a:xfrm>
              <a:off x="492858" y="4444544"/>
              <a:ext cx="11291146" cy="2225188"/>
            </a:xfrm>
            <a:prstGeom prst="rect">
              <a:avLst/>
            </a:prstGeom>
            <a:solidFill>
              <a:srgbClr val="FCECFB"/>
            </a:solidFill>
            <a:ln cap="flat" cmpd="sng" w="7620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120000"/>
                </a:lnSpc>
                <a:spcBef>
                  <a:spcPts val="0"/>
                </a:spcBef>
                <a:spcAft>
                  <a:spcPts val="0"/>
                </a:spcAft>
                <a:buNone/>
              </a:pPr>
              <a:r>
                <a:rPr b="1" lang="en-US" sz="2800">
                  <a:solidFill>
                    <a:schemeClr val="dk1"/>
                  </a:solidFill>
                  <a:latin typeface="Avenir"/>
                  <a:ea typeface="Avenir"/>
                  <a:cs typeface="Avenir"/>
                  <a:sym typeface="Avenir"/>
                </a:rPr>
                <a:t> </a:t>
              </a:r>
              <a:endParaRPr/>
            </a:p>
          </p:txBody>
        </p:sp>
        <p:sp>
          <p:nvSpPr>
            <p:cNvPr id="4411" name="Google Shape;4411;p85"/>
            <p:cNvSpPr txBox="1"/>
            <p:nvPr/>
          </p:nvSpPr>
          <p:spPr>
            <a:xfrm>
              <a:off x="6220907" y="4585078"/>
              <a:ext cx="5410918" cy="1947518"/>
            </a:xfrm>
            <a:prstGeom prst="rect">
              <a:avLst/>
            </a:prstGeom>
            <a:solidFill>
              <a:srgbClr val="FFF2CC"/>
            </a:solidFill>
            <a:ln cap="flat" cmpd="sng" w="76200">
              <a:solidFill>
                <a:srgbClr val="F4B081"/>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r">
                <a:lnSpc>
                  <a:spcPct val="80000"/>
                </a:lnSpc>
                <a:spcBef>
                  <a:spcPts val="0"/>
                </a:spcBef>
                <a:spcAft>
                  <a:spcPts val="0"/>
                </a:spcAft>
                <a:buNone/>
              </a:pPr>
              <a:r>
                <a:rPr b="1" lang="en-US" sz="2000">
                  <a:solidFill>
                    <a:schemeClr val="dk1"/>
                  </a:solidFill>
                  <a:latin typeface="Avenir"/>
                  <a:ea typeface="Avenir"/>
                  <a:cs typeface="Avenir"/>
                  <a:sym typeface="Avenir"/>
                </a:rPr>
                <a:t>Income</a:t>
              </a:r>
              <a:r>
                <a:rPr b="1" lang="en-US" sz="2800">
                  <a:solidFill>
                    <a:srgbClr val="FFF2CC"/>
                  </a:solidFill>
                  <a:latin typeface="Avenir"/>
                  <a:ea typeface="Avenir"/>
                  <a:cs typeface="Avenir"/>
                  <a:sym typeface="Avenir"/>
                </a:rPr>
                <a:t>_</a:t>
              </a:r>
              <a:r>
                <a:rPr b="1" lang="en-US" sz="2800">
                  <a:solidFill>
                    <a:schemeClr val="dk1"/>
                  </a:solidFill>
                  <a:latin typeface="Avenir"/>
                  <a:ea typeface="Avenir"/>
                  <a:cs typeface="Avenir"/>
                  <a:sym typeface="Avenir"/>
                </a:rPr>
                <a:t> </a:t>
              </a:r>
              <a:endParaRPr/>
            </a:p>
          </p:txBody>
        </p:sp>
        <p:sp>
          <p:nvSpPr>
            <p:cNvPr id="4412" name="Google Shape;4412;p85"/>
            <p:cNvSpPr txBox="1"/>
            <p:nvPr/>
          </p:nvSpPr>
          <p:spPr>
            <a:xfrm>
              <a:off x="642552" y="4585078"/>
              <a:ext cx="5382028" cy="1947518"/>
            </a:xfrm>
            <a:prstGeom prst="rect">
              <a:avLst/>
            </a:prstGeom>
            <a:solidFill>
              <a:srgbClr val="E1EFD8"/>
            </a:solid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None/>
              </a:pPr>
              <a:r>
                <a:rPr b="1" lang="en-US" sz="2800">
                  <a:solidFill>
                    <a:srgbClr val="E1EFD8"/>
                  </a:solidFill>
                  <a:latin typeface="Avenir"/>
                  <a:ea typeface="Avenir"/>
                  <a:cs typeface="Avenir"/>
                  <a:sym typeface="Avenir"/>
                </a:rPr>
                <a:t>_</a:t>
              </a:r>
              <a:r>
                <a:rPr b="1" lang="en-US" sz="2000">
                  <a:solidFill>
                    <a:schemeClr val="dk1"/>
                  </a:solidFill>
                  <a:latin typeface="Avenir"/>
                  <a:ea typeface="Avenir"/>
                  <a:cs typeface="Avenir"/>
                  <a:sym typeface="Avenir"/>
                </a:rPr>
                <a:t>Expenses</a:t>
              </a:r>
              <a:endParaRPr b="1" sz="2800">
                <a:solidFill>
                  <a:schemeClr val="dk1"/>
                </a:solidFill>
                <a:latin typeface="Avenir"/>
                <a:ea typeface="Avenir"/>
                <a:cs typeface="Avenir"/>
                <a:sym typeface="Avenir"/>
              </a:endParaRPr>
            </a:p>
          </p:txBody>
        </p:sp>
        <p:sp>
          <p:nvSpPr>
            <p:cNvPr id="4413" name="Google Shape;4413;p85"/>
            <p:cNvSpPr txBox="1"/>
            <p:nvPr/>
          </p:nvSpPr>
          <p:spPr>
            <a:xfrm>
              <a:off x="2570770" y="6192000"/>
              <a:ext cx="1585661"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Advertising</a:t>
              </a:r>
              <a:endParaRPr/>
            </a:p>
          </p:txBody>
        </p:sp>
        <p:sp>
          <p:nvSpPr>
            <p:cNvPr id="4414" name="Google Shape;4414;p85"/>
            <p:cNvSpPr txBox="1"/>
            <p:nvPr/>
          </p:nvSpPr>
          <p:spPr>
            <a:xfrm>
              <a:off x="2596439" y="5339671"/>
              <a:ext cx="1590567"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Cleaning</a:t>
              </a:r>
              <a:endParaRPr/>
            </a:p>
          </p:txBody>
        </p:sp>
        <p:sp>
          <p:nvSpPr>
            <p:cNvPr id="4415" name="Google Shape;4415;p85"/>
            <p:cNvSpPr txBox="1"/>
            <p:nvPr/>
          </p:nvSpPr>
          <p:spPr>
            <a:xfrm>
              <a:off x="4306077" y="6192000"/>
              <a:ext cx="1606417"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Cost of sales</a:t>
              </a:r>
              <a:endParaRPr/>
            </a:p>
          </p:txBody>
        </p:sp>
        <p:sp>
          <p:nvSpPr>
            <p:cNvPr id="4416" name="Google Shape;4416;p85"/>
            <p:cNvSpPr txBox="1"/>
            <p:nvPr/>
          </p:nvSpPr>
          <p:spPr>
            <a:xfrm>
              <a:off x="796515" y="6192000"/>
              <a:ext cx="1603683"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Depreciation</a:t>
              </a:r>
              <a:endParaRPr/>
            </a:p>
          </p:txBody>
        </p:sp>
        <p:sp>
          <p:nvSpPr>
            <p:cNvPr id="4417" name="Google Shape;4417;p85"/>
            <p:cNvSpPr txBox="1"/>
            <p:nvPr/>
          </p:nvSpPr>
          <p:spPr>
            <a:xfrm>
              <a:off x="6295758" y="6192000"/>
              <a:ext cx="1842786"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Revenue (sales)</a:t>
              </a:r>
              <a:endParaRPr/>
            </a:p>
          </p:txBody>
        </p:sp>
        <p:sp>
          <p:nvSpPr>
            <p:cNvPr id="4418" name="Google Shape;4418;p85"/>
            <p:cNvSpPr txBox="1"/>
            <p:nvPr/>
          </p:nvSpPr>
          <p:spPr>
            <a:xfrm>
              <a:off x="3713366" y="5031445"/>
              <a:ext cx="412292"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50</a:t>
              </a:r>
              <a:endParaRPr/>
            </a:p>
          </p:txBody>
        </p:sp>
        <p:sp>
          <p:nvSpPr>
            <p:cNvPr id="4419" name="Google Shape;4419;p85"/>
            <p:cNvSpPr txBox="1"/>
            <p:nvPr/>
          </p:nvSpPr>
          <p:spPr>
            <a:xfrm>
              <a:off x="7429894" y="5905082"/>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700</a:t>
              </a:r>
              <a:endParaRPr/>
            </a:p>
          </p:txBody>
        </p:sp>
        <p:sp>
          <p:nvSpPr>
            <p:cNvPr id="4420" name="Google Shape;4420;p85"/>
            <p:cNvSpPr/>
            <p:nvPr/>
          </p:nvSpPr>
          <p:spPr>
            <a:xfrm rot="10800000">
              <a:off x="6984000" y="5943076"/>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4421" name="Google Shape;4421;p85"/>
            <p:cNvSpPr/>
            <p:nvPr/>
          </p:nvSpPr>
          <p:spPr>
            <a:xfrm rot="10800000">
              <a:off x="3096000" y="5082325"/>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422" name="Google Shape;4422;p85"/>
            <p:cNvSpPr txBox="1"/>
            <p:nvPr/>
          </p:nvSpPr>
          <p:spPr>
            <a:xfrm>
              <a:off x="5305894" y="5893862"/>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300</a:t>
              </a:r>
              <a:endParaRPr/>
            </a:p>
          </p:txBody>
        </p:sp>
        <p:sp>
          <p:nvSpPr>
            <p:cNvPr id="4423" name="Google Shape;4423;p85"/>
            <p:cNvSpPr/>
            <p:nvPr/>
          </p:nvSpPr>
          <p:spPr>
            <a:xfrm rot="10800000">
              <a:off x="4860000" y="5944742"/>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424" name="Google Shape;4424;p85"/>
            <p:cNvSpPr txBox="1"/>
            <p:nvPr/>
          </p:nvSpPr>
          <p:spPr>
            <a:xfrm>
              <a:off x="7429894" y="5645244"/>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600</a:t>
              </a:r>
              <a:endParaRPr/>
            </a:p>
          </p:txBody>
        </p:sp>
        <p:sp>
          <p:nvSpPr>
            <p:cNvPr id="4425" name="Google Shape;4425;p85"/>
            <p:cNvSpPr/>
            <p:nvPr/>
          </p:nvSpPr>
          <p:spPr>
            <a:xfrm rot="10800000">
              <a:off x="6984000" y="5695376"/>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4426" name="Google Shape;4426;p85"/>
            <p:cNvSpPr txBox="1"/>
            <p:nvPr/>
          </p:nvSpPr>
          <p:spPr>
            <a:xfrm>
              <a:off x="5305894" y="5646024"/>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300</a:t>
              </a:r>
              <a:endParaRPr/>
            </a:p>
          </p:txBody>
        </p:sp>
        <p:sp>
          <p:nvSpPr>
            <p:cNvPr id="4427" name="Google Shape;4427;p85"/>
            <p:cNvSpPr/>
            <p:nvPr/>
          </p:nvSpPr>
          <p:spPr>
            <a:xfrm rot="10800000">
              <a:off x="4860000" y="5696904"/>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428" name="Google Shape;4428;p85"/>
            <p:cNvSpPr txBox="1"/>
            <p:nvPr/>
          </p:nvSpPr>
          <p:spPr>
            <a:xfrm>
              <a:off x="3599552" y="4796571"/>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250</a:t>
              </a:r>
              <a:endParaRPr/>
            </a:p>
          </p:txBody>
        </p:sp>
        <p:sp>
          <p:nvSpPr>
            <p:cNvPr id="4429" name="Google Shape;4429;p85"/>
            <p:cNvSpPr/>
            <p:nvPr/>
          </p:nvSpPr>
          <p:spPr>
            <a:xfrm rot="10800000">
              <a:off x="3096000" y="4847451"/>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430" name="Google Shape;4430;p85"/>
            <p:cNvSpPr txBox="1"/>
            <p:nvPr/>
          </p:nvSpPr>
          <p:spPr>
            <a:xfrm>
              <a:off x="7543708" y="5375143"/>
              <a:ext cx="412292"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90</a:t>
              </a:r>
              <a:endParaRPr/>
            </a:p>
          </p:txBody>
        </p:sp>
        <p:sp>
          <p:nvSpPr>
            <p:cNvPr id="4431" name="Google Shape;4431;p85"/>
            <p:cNvSpPr/>
            <p:nvPr/>
          </p:nvSpPr>
          <p:spPr>
            <a:xfrm rot="10800000">
              <a:off x="6984000" y="5425275"/>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4432" name="Google Shape;4432;p85"/>
            <p:cNvSpPr txBox="1"/>
            <p:nvPr/>
          </p:nvSpPr>
          <p:spPr>
            <a:xfrm>
              <a:off x="5419708" y="5397501"/>
              <a:ext cx="412292"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30</a:t>
              </a:r>
              <a:endParaRPr/>
            </a:p>
          </p:txBody>
        </p:sp>
        <p:sp>
          <p:nvSpPr>
            <p:cNvPr id="4433" name="Google Shape;4433;p85"/>
            <p:cNvSpPr/>
            <p:nvPr/>
          </p:nvSpPr>
          <p:spPr>
            <a:xfrm rot="10800000">
              <a:off x="4860000" y="5448381"/>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434" name="Google Shape;4434;p85"/>
            <p:cNvSpPr txBox="1"/>
            <p:nvPr/>
          </p:nvSpPr>
          <p:spPr>
            <a:xfrm>
              <a:off x="1816755" y="5897226"/>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100</a:t>
              </a:r>
              <a:endParaRPr/>
            </a:p>
          </p:txBody>
        </p:sp>
        <p:sp>
          <p:nvSpPr>
            <p:cNvPr id="4435" name="Google Shape;4435;p85"/>
            <p:cNvSpPr/>
            <p:nvPr/>
          </p:nvSpPr>
          <p:spPr>
            <a:xfrm rot="10800000">
              <a:off x="1296000" y="5947200"/>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436" name="Google Shape;4436;p85"/>
            <p:cNvSpPr txBox="1"/>
            <p:nvPr/>
          </p:nvSpPr>
          <p:spPr>
            <a:xfrm>
              <a:off x="3577894" y="5912376"/>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200</a:t>
              </a:r>
              <a:endParaRPr/>
            </a:p>
          </p:txBody>
        </p:sp>
        <p:sp>
          <p:nvSpPr>
            <p:cNvPr id="4437" name="Google Shape;4437;p85"/>
            <p:cNvSpPr/>
            <p:nvPr/>
          </p:nvSpPr>
          <p:spPr>
            <a:xfrm rot="10800000">
              <a:off x="3096000" y="5963256"/>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438" name="Google Shape;4438;p85"/>
            <p:cNvSpPr/>
            <p:nvPr/>
          </p:nvSpPr>
          <p:spPr>
            <a:xfrm>
              <a:off x="6520209" y="5931080"/>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439" name="Google Shape;4439;p85"/>
            <p:cNvSpPr/>
            <p:nvPr/>
          </p:nvSpPr>
          <p:spPr>
            <a:xfrm>
              <a:off x="6484980" y="5939874"/>
              <a:ext cx="300082"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6a</a:t>
              </a:r>
              <a:endParaRPr/>
            </a:p>
          </p:txBody>
        </p:sp>
        <p:sp>
          <p:nvSpPr>
            <p:cNvPr id="4440" name="Google Shape;4440;p85"/>
            <p:cNvSpPr/>
            <p:nvPr/>
          </p:nvSpPr>
          <p:spPr>
            <a:xfrm>
              <a:off x="4412950" y="5940000"/>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441" name="Google Shape;4441;p85"/>
            <p:cNvSpPr/>
            <p:nvPr/>
          </p:nvSpPr>
          <p:spPr>
            <a:xfrm>
              <a:off x="4372912" y="5948794"/>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6b</a:t>
              </a:r>
              <a:endParaRPr/>
            </a:p>
          </p:txBody>
        </p:sp>
        <p:sp>
          <p:nvSpPr>
            <p:cNvPr id="4442" name="Google Shape;4442;p85"/>
            <p:cNvSpPr/>
            <p:nvPr/>
          </p:nvSpPr>
          <p:spPr>
            <a:xfrm>
              <a:off x="4417434" y="5681195"/>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443" name="Google Shape;4443;p85"/>
            <p:cNvSpPr/>
            <p:nvPr/>
          </p:nvSpPr>
          <p:spPr>
            <a:xfrm>
              <a:off x="4377396" y="5689989"/>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8b</a:t>
              </a:r>
              <a:endParaRPr/>
            </a:p>
          </p:txBody>
        </p:sp>
        <p:sp>
          <p:nvSpPr>
            <p:cNvPr id="4444" name="Google Shape;4444;p85"/>
            <p:cNvSpPr/>
            <p:nvPr/>
          </p:nvSpPr>
          <p:spPr>
            <a:xfrm>
              <a:off x="4416222" y="5432633"/>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445" name="Google Shape;4445;p85"/>
            <p:cNvSpPr/>
            <p:nvPr/>
          </p:nvSpPr>
          <p:spPr>
            <a:xfrm>
              <a:off x="4345727" y="5441427"/>
              <a:ext cx="370614" cy="33855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12b</a:t>
              </a:r>
              <a:endParaRPr/>
            </a:p>
            <a:p>
              <a:pPr indent="0" lvl="0" marL="0" marR="0" rtl="0" algn="ctr">
                <a:spcBef>
                  <a:spcPts val="0"/>
                </a:spcBef>
                <a:spcAft>
                  <a:spcPts val="0"/>
                </a:spcAft>
                <a:buNone/>
              </a:pPr>
              <a:r>
                <a:t/>
              </a:r>
              <a:endParaRPr b="1" sz="800">
                <a:solidFill>
                  <a:srgbClr val="7F7F7F"/>
                </a:solidFill>
                <a:latin typeface="Avenir"/>
                <a:ea typeface="Avenir"/>
                <a:cs typeface="Avenir"/>
                <a:sym typeface="Avenir"/>
              </a:endParaRPr>
            </a:p>
          </p:txBody>
        </p:sp>
        <p:sp>
          <p:nvSpPr>
            <p:cNvPr id="4446" name="Google Shape;4446;p85"/>
            <p:cNvSpPr/>
            <p:nvPr/>
          </p:nvSpPr>
          <p:spPr>
            <a:xfrm>
              <a:off x="6520209" y="567679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447" name="Google Shape;4447;p85"/>
            <p:cNvSpPr/>
            <p:nvPr/>
          </p:nvSpPr>
          <p:spPr>
            <a:xfrm>
              <a:off x="6484980" y="5685592"/>
              <a:ext cx="300082"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8a</a:t>
              </a:r>
              <a:endParaRPr/>
            </a:p>
          </p:txBody>
        </p:sp>
        <p:sp>
          <p:nvSpPr>
            <p:cNvPr id="4448" name="Google Shape;4448;p85"/>
            <p:cNvSpPr/>
            <p:nvPr/>
          </p:nvSpPr>
          <p:spPr>
            <a:xfrm>
              <a:off x="6522731" y="5416132"/>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449" name="Google Shape;4449;p85"/>
            <p:cNvSpPr/>
            <p:nvPr/>
          </p:nvSpPr>
          <p:spPr>
            <a:xfrm>
              <a:off x="6448807" y="5424926"/>
              <a:ext cx="360996"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12a</a:t>
              </a:r>
              <a:endParaRPr/>
            </a:p>
          </p:txBody>
        </p:sp>
        <p:sp>
          <p:nvSpPr>
            <p:cNvPr id="4450" name="Google Shape;4450;p85"/>
            <p:cNvSpPr/>
            <p:nvPr/>
          </p:nvSpPr>
          <p:spPr>
            <a:xfrm>
              <a:off x="2689441" y="5057611"/>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451" name="Google Shape;4451;p85"/>
            <p:cNvSpPr/>
            <p:nvPr/>
          </p:nvSpPr>
          <p:spPr>
            <a:xfrm>
              <a:off x="2681463" y="5066405"/>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7</a:t>
              </a:r>
              <a:endParaRPr/>
            </a:p>
          </p:txBody>
        </p:sp>
        <p:sp>
          <p:nvSpPr>
            <p:cNvPr id="4452" name="Google Shape;4452;p85"/>
            <p:cNvSpPr/>
            <p:nvPr/>
          </p:nvSpPr>
          <p:spPr>
            <a:xfrm>
              <a:off x="2688608" y="4808856"/>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453" name="Google Shape;4453;p85"/>
            <p:cNvSpPr/>
            <p:nvPr/>
          </p:nvSpPr>
          <p:spPr>
            <a:xfrm>
              <a:off x="2680630" y="4817650"/>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9</a:t>
              </a:r>
              <a:endParaRPr/>
            </a:p>
          </p:txBody>
        </p:sp>
        <p:sp>
          <p:nvSpPr>
            <p:cNvPr id="4454" name="Google Shape;4454;p85"/>
            <p:cNvSpPr/>
            <p:nvPr/>
          </p:nvSpPr>
          <p:spPr>
            <a:xfrm>
              <a:off x="892445" y="5940000"/>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455" name="Google Shape;4455;p85"/>
            <p:cNvSpPr/>
            <p:nvPr/>
          </p:nvSpPr>
          <p:spPr>
            <a:xfrm>
              <a:off x="852407" y="5948794"/>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14</a:t>
              </a:r>
              <a:endParaRPr/>
            </a:p>
          </p:txBody>
        </p:sp>
        <p:sp>
          <p:nvSpPr>
            <p:cNvPr id="4456" name="Google Shape;4456;p85"/>
            <p:cNvSpPr/>
            <p:nvPr/>
          </p:nvSpPr>
          <p:spPr>
            <a:xfrm>
              <a:off x="2660434" y="5940000"/>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457" name="Google Shape;4457;p85"/>
            <p:cNvSpPr/>
            <p:nvPr/>
          </p:nvSpPr>
          <p:spPr>
            <a:xfrm>
              <a:off x="2620396" y="5948794"/>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15</a:t>
              </a:r>
              <a:endParaRPr/>
            </a:p>
          </p:txBody>
        </p:sp>
        <p:sp>
          <p:nvSpPr>
            <p:cNvPr id="4458" name="Google Shape;4458;p85"/>
            <p:cNvSpPr/>
            <p:nvPr/>
          </p:nvSpPr>
          <p:spPr>
            <a:xfrm flipH="1">
              <a:off x="3366000" y="4767598"/>
              <a:ext cx="810000" cy="613673"/>
            </a:xfrm>
            <a:prstGeom prst="corner">
              <a:avLst>
                <a:gd fmla="val 9300"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459" name="Google Shape;4459;p85"/>
            <p:cNvSpPr/>
            <p:nvPr/>
          </p:nvSpPr>
          <p:spPr>
            <a:xfrm>
              <a:off x="2556000" y="4767598"/>
              <a:ext cx="810000" cy="613673"/>
            </a:xfrm>
            <a:prstGeom prst="corner">
              <a:avLst>
                <a:gd fmla="val 9300"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460" name="Google Shape;4460;p85"/>
            <p:cNvSpPr/>
            <p:nvPr/>
          </p:nvSpPr>
          <p:spPr>
            <a:xfrm flipH="1">
              <a:off x="3366000" y="5633028"/>
              <a:ext cx="810000" cy="613673"/>
            </a:xfrm>
            <a:prstGeom prst="corner">
              <a:avLst>
                <a:gd fmla="val 9300"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461" name="Google Shape;4461;p85"/>
            <p:cNvSpPr/>
            <p:nvPr/>
          </p:nvSpPr>
          <p:spPr>
            <a:xfrm>
              <a:off x="2556000" y="5633028"/>
              <a:ext cx="810000" cy="613673"/>
            </a:xfrm>
            <a:prstGeom prst="corner">
              <a:avLst>
                <a:gd fmla="val 9300"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462" name="Google Shape;4462;p85"/>
            <p:cNvSpPr/>
            <p:nvPr/>
          </p:nvSpPr>
          <p:spPr>
            <a:xfrm flipH="1">
              <a:off x="1598356" y="5618680"/>
              <a:ext cx="810000" cy="613673"/>
            </a:xfrm>
            <a:prstGeom prst="corner">
              <a:avLst>
                <a:gd fmla="val 9300"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463" name="Google Shape;4463;p85"/>
            <p:cNvSpPr/>
            <p:nvPr/>
          </p:nvSpPr>
          <p:spPr>
            <a:xfrm>
              <a:off x="788356" y="5618680"/>
              <a:ext cx="810000" cy="613673"/>
            </a:xfrm>
            <a:prstGeom prst="corner">
              <a:avLst>
                <a:gd fmla="val 9300"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464" name="Google Shape;4464;p85"/>
            <p:cNvSpPr/>
            <p:nvPr/>
          </p:nvSpPr>
          <p:spPr>
            <a:xfrm flipH="1">
              <a:off x="5102494" y="5448383"/>
              <a:ext cx="810000" cy="796274"/>
            </a:xfrm>
            <a:prstGeom prst="corner">
              <a:avLst>
                <a:gd fmla="val 7267" name="adj1"/>
                <a:gd fmla="val 7888"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465" name="Google Shape;4465;p85"/>
            <p:cNvSpPr/>
            <p:nvPr/>
          </p:nvSpPr>
          <p:spPr>
            <a:xfrm>
              <a:off x="4292494" y="5448381"/>
              <a:ext cx="810000" cy="796275"/>
            </a:xfrm>
            <a:prstGeom prst="corner">
              <a:avLst>
                <a:gd fmla="val 7268" name="adj1"/>
                <a:gd fmla="val 7888"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466" name="Google Shape;4466;p85"/>
            <p:cNvSpPr/>
            <p:nvPr/>
          </p:nvSpPr>
          <p:spPr>
            <a:xfrm flipH="1">
              <a:off x="7192456" y="5448383"/>
              <a:ext cx="810000" cy="796274"/>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467" name="Google Shape;4467;p85"/>
            <p:cNvSpPr/>
            <p:nvPr/>
          </p:nvSpPr>
          <p:spPr>
            <a:xfrm>
              <a:off x="6382456" y="5448381"/>
              <a:ext cx="810000" cy="796275"/>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cxnSp>
          <p:nvCxnSpPr>
            <p:cNvPr id="4468" name="Google Shape;4468;p85"/>
            <p:cNvCxnSpPr>
              <a:stCxn id="4407" idx="2"/>
            </p:cNvCxnSpPr>
            <p:nvPr/>
          </p:nvCxnSpPr>
          <p:spPr>
            <a:xfrm>
              <a:off x="7183267" y="3906158"/>
              <a:ext cx="8700" cy="566100"/>
            </a:xfrm>
            <a:prstGeom prst="straightConnector1">
              <a:avLst/>
            </a:prstGeom>
            <a:noFill/>
            <a:ln cap="flat" cmpd="sng" w="76200">
              <a:solidFill>
                <a:srgbClr val="942093"/>
              </a:solidFill>
              <a:prstDash val="solid"/>
              <a:miter lim="800000"/>
              <a:headEnd len="sm" w="sm" type="none"/>
              <a:tailEnd len="sm" w="sm" type="none"/>
            </a:ln>
          </p:spPr>
        </p:cxnSp>
      </p:grpSp>
      <p:sp>
        <p:nvSpPr>
          <p:cNvPr id="4469" name="Google Shape;4469;p85"/>
          <p:cNvSpPr txBox="1"/>
          <p:nvPr/>
        </p:nvSpPr>
        <p:spPr>
          <a:xfrm>
            <a:off x="492858" y="773769"/>
            <a:ext cx="5544457" cy="3542737"/>
          </a:xfrm>
          <a:prstGeom prst="rect">
            <a:avLst/>
          </a:prstGeom>
          <a:solidFill>
            <a:srgbClr val="E1EFD8"/>
          </a:solidFill>
          <a:ln cap="flat" cmpd="sng" w="76200">
            <a:solidFill>
              <a:srgbClr val="A8D08C"/>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None/>
            </a:pPr>
            <a:r>
              <a:rPr b="1" lang="en-US" sz="2800">
                <a:solidFill>
                  <a:srgbClr val="E1EFD8"/>
                </a:solidFill>
                <a:latin typeface="Avenir"/>
                <a:ea typeface="Avenir"/>
                <a:cs typeface="Avenir"/>
                <a:sym typeface="Avenir"/>
              </a:rPr>
              <a:t>_</a:t>
            </a:r>
            <a:r>
              <a:rPr b="1" lang="en-US" sz="2000">
                <a:solidFill>
                  <a:schemeClr val="dk1"/>
                </a:solidFill>
                <a:latin typeface="Avenir"/>
                <a:ea typeface="Avenir"/>
                <a:cs typeface="Avenir"/>
                <a:sym typeface="Avenir"/>
              </a:rPr>
              <a:t>Assets</a:t>
            </a:r>
            <a:endParaRPr b="1" sz="2800">
              <a:solidFill>
                <a:schemeClr val="dk1"/>
              </a:solidFill>
              <a:latin typeface="Avenir"/>
              <a:ea typeface="Avenir"/>
              <a:cs typeface="Avenir"/>
              <a:sym typeface="Avenir"/>
            </a:endParaRPr>
          </a:p>
        </p:txBody>
      </p:sp>
      <p:sp>
        <p:nvSpPr>
          <p:cNvPr id="4470" name="Google Shape;4470;p85"/>
          <p:cNvSpPr/>
          <p:nvPr/>
        </p:nvSpPr>
        <p:spPr>
          <a:xfrm flipH="1">
            <a:off x="5058000" y="2850495"/>
            <a:ext cx="810000" cy="1116000"/>
          </a:xfrm>
          <a:prstGeom prst="corner">
            <a:avLst>
              <a:gd fmla="val 7073" name="adj1"/>
              <a:gd fmla="val 694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471" name="Google Shape;4471;p85"/>
          <p:cNvSpPr/>
          <p:nvPr/>
        </p:nvSpPr>
        <p:spPr>
          <a:xfrm>
            <a:off x="4248000" y="2850495"/>
            <a:ext cx="810000" cy="1116000"/>
          </a:xfrm>
          <a:prstGeom prst="corner">
            <a:avLst>
              <a:gd fmla="val 7073" name="adj1"/>
              <a:gd fmla="val 694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472" name="Google Shape;4472;p85"/>
          <p:cNvSpPr/>
          <p:nvPr/>
        </p:nvSpPr>
        <p:spPr>
          <a:xfrm flipH="1">
            <a:off x="3268800" y="957790"/>
            <a:ext cx="810000" cy="3000908"/>
          </a:xfrm>
          <a:prstGeom prst="corner">
            <a:avLst>
              <a:gd fmla="val 6497" name="adj1"/>
              <a:gd fmla="val 694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1800">
              <a:solidFill>
                <a:schemeClr val="lt1"/>
              </a:solidFill>
              <a:latin typeface="Avenir"/>
              <a:ea typeface="Avenir"/>
              <a:cs typeface="Avenir"/>
              <a:sym typeface="Avenir"/>
            </a:endParaRPr>
          </a:p>
        </p:txBody>
      </p:sp>
      <p:sp>
        <p:nvSpPr>
          <p:cNvPr id="4473" name="Google Shape;4473;p85"/>
          <p:cNvSpPr/>
          <p:nvPr/>
        </p:nvSpPr>
        <p:spPr>
          <a:xfrm>
            <a:off x="2458800" y="957790"/>
            <a:ext cx="810000" cy="3000908"/>
          </a:xfrm>
          <a:prstGeom prst="corner">
            <a:avLst>
              <a:gd fmla="val 6497" name="adj1"/>
              <a:gd fmla="val 7336"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1800">
              <a:solidFill>
                <a:schemeClr val="lt1"/>
              </a:solidFill>
              <a:latin typeface="Avenir"/>
              <a:ea typeface="Avenir"/>
              <a:cs typeface="Avenir"/>
              <a:sym typeface="Avenir"/>
            </a:endParaRPr>
          </a:p>
        </p:txBody>
      </p:sp>
      <p:sp>
        <p:nvSpPr>
          <p:cNvPr id="4474" name="Google Shape;4474;p85"/>
          <p:cNvSpPr/>
          <p:nvPr/>
        </p:nvSpPr>
        <p:spPr>
          <a:xfrm flipH="1">
            <a:off x="1483200" y="3340800"/>
            <a:ext cx="810000" cy="613673"/>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475" name="Google Shape;4475;p85"/>
          <p:cNvSpPr/>
          <p:nvPr/>
        </p:nvSpPr>
        <p:spPr>
          <a:xfrm>
            <a:off x="673200" y="3340800"/>
            <a:ext cx="810000" cy="613673"/>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476" name="Google Shape;4476;p85"/>
          <p:cNvSpPr txBox="1"/>
          <p:nvPr/>
        </p:nvSpPr>
        <p:spPr>
          <a:xfrm>
            <a:off x="2551146" y="3924000"/>
            <a:ext cx="1393331"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Cash at bank</a:t>
            </a:r>
            <a:endParaRPr/>
          </a:p>
        </p:txBody>
      </p:sp>
      <p:sp>
        <p:nvSpPr>
          <p:cNvPr id="4477" name="Google Shape;4477;p85"/>
          <p:cNvSpPr txBox="1"/>
          <p:nvPr/>
        </p:nvSpPr>
        <p:spPr>
          <a:xfrm>
            <a:off x="4292494" y="3924000"/>
            <a:ext cx="1531779"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Inventory</a:t>
            </a:r>
            <a:endParaRPr/>
          </a:p>
        </p:txBody>
      </p:sp>
      <p:sp>
        <p:nvSpPr>
          <p:cNvPr id="4478" name="Google Shape;4478;p85"/>
          <p:cNvSpPr txBox="1"/>
          <p:nvPr/>
        </p:nvSpPr>
        <p:spPr>
          <a:xfrm>
            <a:off x="4101806" y="2478490"/>
            <a:ext cx="1911388"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Deferred expenses</a:t>
            </a:r>
            <a:endParaRPr/>
          </a:p>
        </p:txBody>
      </p:sp>
      <p:sp>
        <p:nvSpPr>
          <p:cNvPr id="4479" name="Google Shape;4479;p85"/>
          <p:cNvSpPr txBox="1"/>
          <p:nvPr/>
        </p:nvSpPr>
        <p:spPr>
          <a:xfrm>
            <a:off x="661400" y="3924000"/>
            <a:ext cx="1647322"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Equipment</a:t>
            </a:r>
            <a:endParaRPr/>
          </a:p>
        </p:txBody>
      </p:sp>
      <p:sp>
        <p:nvSpPr>
          <p:cNvPr id="4480" name="Google Shape;4480;p85"/>
          <p:cNvSpPr txBox="1"/>
          <p:nvPr/>
        </p:nvSpPr>
        <p:spPr>
          <a:xfrm>
            <a:off x="10028967" y="2029411"/>
            <a:ext cx="1593685"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Bank loan</a:t>
            </a:r>
            <a:endParaRPr/>
          </a:p>
        </p:txBody>
      </p:sp>
      <p:sp>
        <p:nvSpPr>
          <p:cNvPr id="4481" name="Google Shape;4481;p85"/>
          <p:cNvSpPr txBox="1"/>
          <p:nvPr/>
        </p:nvSpPr>
        <p:spPr>
          <a:xfrm>
            <a:off x="8114313" y="2028286"/>
            <a:ext cx="1864201"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Deferred income</a:t>
            </a:r>
            <a:endParaRPr/>
          </a:p>
        </p:txBody>
      </p:sp>
      <p:sp>
        <p:nvSpPr>
          <p:cNvPr id="4482" name="Google Shape;4482;p85"/>
          <p:cNvSpPr txBox="1"/>
          <p:nvPr/>
        </p:nvSpPr>
        <p:spPr>
          <a:xfrm>
            <a:off x="3184560" y="3614709"/>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30,000</a:t>
            </a:r>
            <a:endParaRPr/>
          </a:p>
        </p:txBody>
      </p:sp>
      <p:sp>
        <p:nvSpPr>
          <p:cNvPr id="4483" name="Google Shape;4483;p85"/>
          <p:cNvSpPr txBox="1"/>
          <p:nvPr/>
        </p:nvSpPr>
        <p:spPr>
          <a:xfrm>
            <a:off x="3184560" y="3344709"/>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20,000</a:t>
            </a:r>
            <a:endParaRPr/>
          </a:p>
        </p:txBody>
      </p:sp>
      <p:sp>
        <p:nvSpPr>
          <p:cNvPr id="4484" name="Google Shape;4484;p85"/>
          <p:cNvSpPr txBox="1"/>
          <p:nvPr/>
        </p:nvSpPr>
        <p:spPr>
          <a:xfrm>
            <a:off x="3298373" y="3074709"/>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5,000</a:t>
            </a:r>
            <a:endParaRPr/>
          </a:p>
        </p:txBody>
      </p:sp>
      <p:sp>
        <p:nvSpPr>
          <p:cNvPr id="4485" name="Google Shape;4485;p85"/>
          <p:cNvSpPr txBox="1"/>
          <p:nvPr/>
        </p:nvSpPr>
        <p:spPr>
          <a:xfrm>
            <a:off x="3469894" y="2534709"/>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700</a:t>
            </a:r>
            <a:endParaRPr/>
          </a:p>
        </p:txBody>
      </p:sp>
      <p:sp>
        <p:nvSpPr>
          <p:cNvPr id="4486" name="Google Shape;4486;p85"/>
          <p:cNvSpPr txBox="1"/>
          <p:nvPr/>
        </p:nvSpPr>
        <p:spPr>
          <a:xfrm>
            <a:off x="3583708" y="2264709"/>
            <a:ext cx="412292"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50</a:t>
            </a:r>
            <a:endParaRPr/>
          </a:p>
        </p:txBody>
      </p:sp>
      <p:sp>
        <p:nvSpPr>
          <p:cNvPr id="4487" name="Google Shape;4487;p85"/>
          <p:cNvSpPr txBox="1"/>
          <p:nvPr/>
        </p:nvSpPr>
        <p:spPr>
          <a:xfrm>
            <a:off x="3469894" y="1724709"/>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600</a:t>
            </a:r>
            <a:endParaRPr/>
          </a:p>
        </p:txBody>
      </p:sp>
      <p:sp>
        <p:nvSpPr>
          <p:cNvPr id="4488" name="Google Shape;4488;p85"/>
          <p:cNvSpPr txBox="1"/>
          <p:nvPr/>
        </p:nvSpPr>
        <p:spPr>
          <a:xfrm>
            <a:off x="3469894" y="1454709"/>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800</a:t>
            </a:r>
            <a:endParaRPr/>
          </a:p>
        </p:txBody>
      </p:sp>
      <p:sp>
        <p:nvSpPr>
          <p:cNvPr id="4489" name="Google Shape;4489;p85"/>
          <p:cNvSpPr txBox="1"/>
          <p:nvPr/>
        </p:nvSpPr>
        <p:spPr>
          <a:xfrm>
            <a:off x="3184560" y="2804709"/>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10,000</a:t>
            </a:r>
            <a:endParaRPr/>
          </a:p>
        </p:txBody>
      </p:sp>
      <p:sp>
        <p:nvSpPr>
          <p:cNvPr id="4490" name="Google Shape;4490;p85"/>
          <p:cNvSpPr txBox="1"/>
          <p:nvPr/>
        </p:nvSpPr>
        <p:spPr>
          <a:xfrm>
            <a:off x="10026435" y="3924000"/>
            <a:ext cx="1620000" cy="584775"/>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contributed capital</a:t>
            </a:r>
            <a:endParaRPr/>
          </a:p>
        </p:txBody>
      </p:sp>
      <p:sp>
        <p:nvSpPr>
          <p:cNvPr id="4491" name="Google Shape;4491;p85"/>
          <p:cNvSpPr/>
          <p:nvPr/>
        </p:nvSpPr>
        <p:spPr>
          <a:xfrm>
            <a:off x="3011371" y="15267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492" name="Google Shape;4492;p85"/>
          <p:cNvSpPr/>
          <p:nvPr/>
        </p:nvSpPr>
        <p:spPr>
          <a:xfrm rot="10800000">
            <a:off x="3011371" y="177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493" name="Google Shape;4493;p85"/>
          <p:cNvSpPr/>
          <p:nvPr/>
        </p:nvSpPr>
        <p:spPr>
          <a:xfrm>
            <a:off x="3011371" y="23367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494" name="Google Shape;4494;p85"/>
          <p:cNvSpPr/>
          <p:nvPr/>
        </p:nvSpPr>
        <p:spPr>
          <a:xfrm rot="10800000">
            <a:off x="3011371" y="258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495" name="Google Shape;4495;p85"/>
          <p:cNvSpPr/>
          <p:nvPr/>
        </p:nvSpPr>
        <p:spPr>
          <a:xfrm>
            <a:off x="3011371" y="28767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496" name="Google Shape;4496;p85"/>
          <p:cNvSpPr/>
          <p:nvPr/>
        </p:nvSpPr>
        <p:spPr>
          <a:xfrm>
            <a:off x="3011371" y="31467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497" name="Google Shape;4497;p85"/>
          <p:cNvSpPr/>
          <p:nvPr/>
        </p:nvSpPr>
        <p:spPr>
          <a:xfrm rot="10800000">
            <a:off x="3011371" y="339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498" name="Google Shape;4498;p85"/>
          <p:cNvSpPr/>
          <p:nvPr/>
        </p:nvSpPr>
        <p:spPr>
          <a:xfrm rot="10800000">
            <a:off x="3011371" y="3664033"/>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499" name="Google Shape;4499;p85"/>
          <p:cNvSpPr txBox="1"/>
          <p:nvPr/>
        </p:nvSpPr>
        <p:spPr>
          <a:xfrm>
            <a:off x="10785455" y="1718255"/>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30,000</a:t>
            </a:r>
            <a:endParaRPr/>
          </a:p>
        </p:txBody>
      </p:sp>
      <p:sp>
        <p:nvSpPr>
          <p:cNvPr id="4500" name="Google Shape;4500;p85"/>
          <p:cNvSpPr/>
          <p:nvPr/>
        </p:nvSpPr>
        <p:spPr>
          <a:xfrm rot="10800000">
            <a:off x="10548000" y="1757882"/>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4501" name="Google Shape;4501;p85"/>
          <p:cNvSpPr txBox="1"/>
          <p:nvPr/>
        </p:nvSpPr>
        <p:spPr>
          <a:xfrm>
            <a:off x="10776926" y="3605780"/>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20,000</a:t>
            </a:r>
            <a:endParaRPr/>
          </a:p>
        </p:txBody>
      </p:sp>
      <p:sp>
        <p:nvSpPr>
          <p:cNvPr id="4502" name="Google Shape;4502;p85"/>
          <p:cNvSpPr txBox="1"/>
          <p:nvPr/>
        </p:nvSpPr>
        <p:spPr>
          <a:xfrm>
            <a:off x="10732895" y="1448255"/>
            <a:ext cx="86400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5,000</a:t>
            </a:r>
            <a:endParaRPr/>
          </a:p>
        </p:txBody>
      </p:sp>
      <p:sp>
        <p:nvSpPr>
          <p:cNvPr id="4503" name="Google Shape;4503;p85"/>
          <p:cNvSpPr/>
          <p:nvPr/>
        </p:nvSpPr>
        <p:spPr>
          <a:xfrm>
            <a:off x="10548000" y="1505882"/>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548135"/>
              </a:solidFill>
              <a:latin typeface="Calibri"/>
              <a:ea typeface="Calibri"/>
              <a:cs typeface="Calibri"/>
              <a:sym typeface="Calibri"/>
            </a:endParaRPr>
          </a:p>
        </p:txBody>
      </p:sp>
      <p:sp>
        <p:nvSpPr>
          <p:cNvPr id="4504" name="Google Shape;4504;p85"/>
          <p:cNvSpPr txBox="1"/>
          <p:nvPr/>
        </p:nvSpPr>
        <p:spPr>
          <a:xfrm>
            <a:off x="4984560" y="3610092"/>
            <a:ext cx="81144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10,000</a:t>
            </a:r>
            <a:endParaRPr/>
          </a:p>
        </p:txBody>
      </p:sp>
      <p:sp>
        <p:nvSpPr>
          <p:cNvPr id="4505" name="Google Shape;4505;p85"/>
          <p:cNvSpPr txBox="1"/>
          <p:nvPr/>
        </p:nvSpPr>
        <p:spPr>
          <a:xfrm>
            <a:off x="3469894" y="1994709"/>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100</a:t>
            </a:r>
            <a:endParaRPr/>
          </a:p>
        </p:txBody>
      </p:sp>
      <p:sp>
        <p:nvSpPr>
          <p:cNvPr id="4506" name="Google Shape;4506;p85"/>
          <p:cNvSpPr/>
          <p:nvPr/>
        </p:nvSpPr>
        <p:spPr>
          <a:xfrm rot="10800000">
            <a:off x="3007666" y="2049930"/>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507" name="Google Shape;4507;p85"/>
          <p:cNvSpPr txBox="1"/>
          <p:nvPr/>
        </p:nvSpPr>
        <p:spPr>
          <a:xfrm>
            <a:off x="7315968" y="1713373"/>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6,000</a:t>
            </a:r>
            <a:endParaRPr/>
          </a:p>
        </p:txBody>
      </p:sp>
      <p:sp>
        <p:nvSpPr>
          <p:cNvPr id="4508" name="Google Shape;4508;p85"/>
          <p:cNvSpPr/>
          <p:nvPr/>
        </p:nvSpPr>
        <p:spPr>
          <a:xfrm rot="10800000">
            <a:off x="6984000" y="1749046"/>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4509" name="Google Shape;4509;p85"/>
          <p:cNvSpPr txBox="1"/>
          <p:nvPr/>
        </p:nvSpPr>
        <p:spPr>
          <a:xfrm>
            <a:off x="1501235" y="3588336"/>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6,000</a:t>
            </a:r>
            <a:endParaRPr/>
          </a:p>
        </p:txBody>
      </p:sp>
      <p:sp>
        <p:nvSpPr>
          <p:cNvPr id="4510" name="Google Shape;4510;p85"/>
          <p:cNvSpPr/>
          <p:nvPr/>
        </p:nvSpPr>
        <p:spPr>
          <a:xfrm rot="10800000">
            <a:off x="1249425" y="3637660"/>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511" name="Google Shape;4511;p85"/>
          <p:cNvSpPr txBox="1"/>
          <p:nvPr/>
        </p:nvSpPr>
        <p:spPr>
          <a:xfrm>
            <a:off x="5269894" y="3365080"/>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300</a:t>
            </a:r>
            <a:endParaRPr/>
          </a:p>
        </p:txBody>
      </p:sp>
      <p:sp>
        <p:nvSpPr>
          <p:cNvPr id="4512" name="Google Shape;4512;p85"/>
          <p:cNvSpPr/>
          <p:nvPr/>
        </p:nvSpPr>
        <p:spPr>
          <a:xfrm>
            <a:off x="4824000" y="3429341"/>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513" name="Google Shape;4513;p85"/>
          <p:cNvSpPr/>
          <p:nvPr/>
        </p:nvSpPr>
        <p:spPr>
          <a:xfrm rot="10800000">
            <a:off x="4824000" y="3662508"/>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514" name="Google Shape;4514;p85"/>
          <p:cNvSpPr txBox="1"/>
          <p:nvPr/>
        </p:nvSpPr>
        <p:spPr>
          <a:xfrm>
            <a:off x="5269894" y="1222069"/>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600</a:t>
            </a:r>
            <a:endParaRPr/>
          </a:p>
        </p:txBody>
      </p:sp>
      <p:sp>
        <p:nvSpPr>
          <p:cNvPr id="4515" name="Google Shape;4515;p85"/>
          <p:cNvSpPr/>
          <p:nvPr/>
        </p:nvSpPr>
        <p:spPr>
          <a:xfrm rot="10800000">
            <a:off x="4824771" y="1263348"/>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516" name="Google Shape;4516;p85"/>
          <p:cNvSpPr txBox="1"/>
          <p:nvPr/>
        </p:nvSpPr>
        <p:spPr>
          <a:xfrm>
            <a:off x="5269894" y="3118060"/>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300</a:t>
            </a:r>
            <a:endParaRPr/>
          </a:p>
        </p:txBody>
      </p:sp>
      <p:sp>
        <p:nvSpPr>
          <p:cNvPr id="4517" name="Google Shape;4517;p85"/>
          <p:cNvSpPr/>
          <p:nvPr/>
        </p:nvSpPr>
        <p:spPr>
          <a:xfrm>
            <a:off x="4824000" y="3182321"/>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518" name="Google Shape;4518;p85"/>
          <p:cNvSpPr txBox="1"/>
          <p:nvPr/>
        </p:nvSpPr>
        <p:spPr>
          <a:xfrm>
            <a:off x="7487489" y="1462635"/>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250</a:t>
            </a:r>
            <a:endParaRPr/>
          </a:p>
        </p:txBody>
      </p:sp>
      <p:sp>
        <p:nvSpPr>
          <p:cNvPr id="4519" name="Google Shape;4519;p85"/>
          <p:cNvSpPr/>
          <p:nvPr/>
        </p:nvSpPr>
        <p:spPr>
          <a:xfrm rot="10800000">
            <a:off x="6984000" y="14983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4520" name="Google Shape;4520;p85"/>
          <p:cNvSpPr txBox="1"/>
          <p:nvPr/>
        </p:nvSpPr>
        <p:spPr>
          <a:xfrm>
            <a:off x="9285817" y="1715500"/>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100</a:t>
            </a:r>
            <a:endParaRPr/>
          </a:p>
        </p:txBody>
      </p:sp>
      <p:sp>
        <p:nvSpPr>
          <p:cNvPr id="4521" name="Google Shape;4521;p85"/>
          <p:cNvSpPr/>
          <p:nvPr/>
        </p:nvSpPr>
        <p:spPr>
          <a:xfrm rot="10800000">
            <a:off x="8784000" y="1751173"/>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4522" name="Google Shape;4522;p85"/>
          <p:cNvSpPr txBox="1"/>
          <p:nvPr/>
        </p:nvSpPr>
        <p:spPr>
          <a:xfrm>
            <a:off x="5269894" y="965882"/>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600</a:t>
            </a:r>
            <a:endParaRPr/>
          </a:p>
        </p:txBody>
      </p:sp>
      <p:sp>
        <p:nvSpPr>
          <p:cNvPr id="4523" name="Google Shape;4523;p85"/>
          <p:cNvSpPr/>
          <p:nvPr/>
        </p:nvSpPr>
        <p:spPr>
          <a:xfrm>
            <a:off x="4825605" y="102209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524" name="Google Shape;4524;p85"/>
          <p:cNvSpPr txBox="1"/>
          <p:nvPr/>
        </p:nvSpPr>
        <p:spPr>
          <a:xfrm>
            <a:off x="8947923" y="1452209"/>
            <a:ext cx="86400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90</a:t>
            </a:r>
            <a:endParaRPr/>
          </a:p>
        </p:txBody>
      </p:sp>
      <p:sp>
        <p:nvSpPr>
          <p:cNvPr id="4525" name="Google Shape;4525;p85"/>
          <p:cNvSpPr/>
          <p:nvPr/>
        </p:nvSpPr>
        <p:spPr>
          <a:xfrm>
            <a:off x="8784000" y="1505882"/>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548135"/>
              </a:solidFill>
              <a:latin typeface="Calibri"/>
              <a:ea typeface="Calibri"/>
              <a:cs typeface="Calibri"/>
              <a:sym typeface="Calibri"/>
            </a:endParaRPr>
          </a:p>
        </p:txBody>
      </p:sp>
      <p:sp>
        <p:nvSpPr>
          <p:cNvPr id="4526" name="Google Shape;4526;p85"/>
          <p:cNvSpPr txBox="1"/>
          <p:nvPr/>
        </p:nvSpPr>
        <p:spPr>
          <a:xfrm>
            <a:off x="5383708" y="2869537"/>
            <a:ext cx="412292"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30</a:t>
            </a:r>
            <a:endParaRPr/>
          </a:p>
        </p:txBody>
      </p:sp>
      <p:sp>
        <p:nvSpPr>
          <p:cNvPr id="4527" name="Google Shape;4527;p85"/>
          <p:cNvSpPr/>
          <p:nvPr/>
        </p:nvSpPr>
        <p:spPr>
          <a:xfrm>
            <a:off x="4824000" y="293379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528" name="Google Shape;4528;p85"/>
          <p:cNvSpPr txBox="1"/>
          <p:nvPr/>
        </p:nvSpPr>
        <p:spPr>
          <a:xfrm>
            <a:off x="5269894" y="2157099"/>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800</a:t>
            </a:r>
            <a:endParaRPr/>
          </a:p>
        </p:txBody>
      </p:sp>
      <p:sp>
        <p:nvSpPr>
          <p:cNvPr id="4529" name="Google Shape;4529;p85"/>
          <p:cNvSpPr/>
          <p:nvPr/>
        </p:nvSpPr>
        <p:spPr>
          <a:xfrm rot="10800000">
            <a:off x="4824000" y="2198378"/>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530" name="Google Shape;4530;p85"/>
          <p:cNvSpPr txBox="1"/>
          <p:nvPr/>
        </p:nvSpPr>
        <p:spPr>
          <a:xfrm>
            <a:off x="5269894" y="1906095"/>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200</a:t>
            </a:r>
            <a:endParaRPr/>
          </a:p>
        </p:txBody>
      </p:sp>
      <p:sp>
        <p:nvSpPr>
          <p:cNvPr id="4531" name="Google Shape;4531;p85"/>
          <p:cNvSpPr/>
          <p:nvPr/>
        </p:nvSpPr>
        <p:spPr>
          <a:xfrm>
            <a:off x="4824000" y="1953942"/>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532" name="Google Shape;4532;p85"/>
          <p:cNvSpPr txBox="1"/>
          <p:nvPr/>
        </p:nvSpPr>
        <p:spPr>
          <a:xfrm>
            <a:off x="3298373" y="1194957"/>
            <a:ext cx="697627"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6,000</a:t>
            </a:r>
            <a:endParaRPr/>
          </a:p>
        </p:txBody>
      </p:sp>
      <p:sp>
        <p:nvSpPr>
          <p:cNvPr id="4533" name="Google Shape;4533;p85"/>
          <p:cNvSpPr/>
          <p:nvPr/>
        </p:nvSpPr>
        <p:spPr>
          <a:xfrm>
            <a:off x="3015226" y="1266956"/>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534" name="Google Shape;4534;p85"/>
          <p:cNvSpPr txBox="1"/>
          <p:nvPr/>
        </p:nvSpPr>
        <p:spPr>
          <a:xfrm>
            <a:off x="7149595" y="1205847"/>
            <a:ext cx="864000"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rgbClr val="548135"/>
                </a:solidFill>
                <a:latin typeface="Avenir"/>
                <a:ea typeface="Avenir"/>
                <a:cs typeface="Avenir"/>
                <a:sym typeface="Avenir"/>
              </a:rPr>
              <a:t>6,000</a:t>
            </a:r>
            <a:endParaRPr/>
          </a:p>
        </p:txBody>
      </p:sp>
      <p:sp>
        <p:nvSpPr>
          <p:cNvPr id="4535" name="Google Shape;4535;p85"/>
          <p:cNvSpPr/>
          <p:nvPr/>
        </p:nvSpPr>
        <p:spPr>
          <a:xfrm>
            <a:off x="6984000" y="1259520"/>
            <a:ext cx="108000" cy="180000"/>
          </a:xfrm>
          <a:prstGeom prst="downArrow">
            <a:avLst>
              <a:gd fmla="val 100000" name="adj1"/>
              <a:gd fmla="val 47930" name="adj2"/>
            </a:avLst>
          </a:prstGeom>
          <a:solidFill>
            <a:srgbClr val="548135"/>
          </a:solidFill>
          <a:ln cap="flat" cmpd="sng" w="9525">
            <a:solidFill>
              <a:srgbClr val="385623"/>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rgbClr val="548135"/>
              </a:solidFill>
              <a:latin typeface="Calibri"/>
              <a:ea typeface="Calibri"/>
              <a:cs typeface="Calibri"/>
              <a:sym typeface="Calibri"/>
            </a:endParaRPr>
          </a:p>
        </p:txBody>
      </p:sp>
      <p:sp>
        <p:nvSpPr>
          <p:cNvPr id="4536" name="Google Shape;4536;p85"/>
          <p:cNvSpPr/>
          <p:nvPr/>
        </p:nvSpPr>
        <p:spPr>
          <a:xfrm>
            <a:off x="2580882" y="1497835"/>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537" name="Google Shape;4537;p85"/>
          <p:cNvSpPr/>
          <p:nvPr/>
        </p:nvSpPr>
        <p:spPr>
          <a:xfrm>
            <a:off x="2528692" y="1506308"/>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13</a:t>
            </a:r>
            <a:endParaRPr/>
          </a:p>
        </p:txBody>
      </p:sp>
      <p:sp>
        <p:nvSpPr>
          <p:cNvPr id="4538" name="Google Shape;4538;p85"/>
          <p:cNvSpPr/>
          <p:nvPr/>
        </p:nvSpPr>
        <p:spPr>
          <a:xfrm>
            <a:off x="2580882" y="1763613"/>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539" name="Google Shape;4539;p85"/>
          <p:cNvSpPr/>
          <p:nvPr/>
        </p:nvSpPr>
        <p:spPr>
          <a:xfrm>
            <a:off x="2528692" y="1772085"/>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11</a:t>
            </a:r>
            <a:endParaRPr/>
          </a:p>
        </p:txBody>
      </p:sp>
      <p:sp>
        <p:nvSpPr>
          <p:cNvPr id="4540" name="Google Shape;4540;p85"/>
          <p:cNvSpPr/>
          <p:nvPr/>
        </p:nvSpPr>
        <p:spPr>
          <a:xfrm>
            <a:off x="2580882" y="2037443"/>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541" name="Google Shape;4541;p85"/>
          <p:cNvSpPr/>
          <p:nvPr/>
        </p:nvSpPr>
        <p:spPr>
          <a:xfrm>
            <a:off x="2528692" y="2045915"/>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10</a:t>
            </a:r>
            <a:endParaRPr/>
          </a:p>
        </p:txBody>
      </p:sp>
      <p:sp>
        <p:nvSpPr>
          <p:cNvPr id="4542" name="Google Shape;4542;p85"/>
          <p:cNvSpPr/>
          <p:nvPr/>
        </p:nvSpPr>
        <p:spPr>
          <a:xfrm>
            <a:off x="2581709" y="2307279"/>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543" name="Google Shape;4543;p85"/>
          <p:cNvSpPr/>
          <p:nvPr/>
        </p:nvSpPr>
        <p:spPr>
          <a:xfrm>
            <a:off x="2568712" y="2315751"/>
            <a:ext cx="247184"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7</a:t>
            </a:r>
            <a:endParaRPr/>
          </a:p>
        </p:txBody>
      </p:sp>
      <p:sp>
        <p:nvSpPr>
          <p:cNvPr id="4544" name="Google Shape;4544;p85"/>
          <p:cNvSpPr/>
          <p:nvPr/>
        </p:nvSpPr>
        <p:spPr>
          <a:xfrm>
            <a:off x="2577794" y="2567407"/>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545" name="Google Shape;4545;p85"/>
          <p:cNvSpPr/>
          <p:nvPr/>
        </p:nvSpPr>
        <p:spPr>
          <a:xfrm>
            <a:off x="2530413" y="2575880"/>
            <a:ext cx="300083"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6a</a:t>
            </a:r>
            <a:endParaRPr/>
          </a:p>
        </p:txBody>
      </p:sp>
      <p:sp>
        <p:nvSpPr>
          <p:cNvPr id="4546" name="Google Shape;4546;p85"/>
          <p:cNvSpPr/>
          <p:nvPr/>
        </p:nvSpPr>
        <p:spPr>
          <a:xfrm>
            <a:off x="2582003" y="2841900"/>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547" name="Google Shape;4547;p85"/>
          <p:cNvSpPr/>
          <p:nvPr/>
        </p:nvSpPr>
        <p:spPr>
          <a:xfrm>
            <a:off x="2574025" y="2850694"/>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5</a:t>
            </a:r>
            <a:endParaRPr/>
          </a:p>
        </p:txBody>
      </p:sp>
      <p:sp>
        <p:nvSpPr>
          <p:cNvPr id="4548" name="Google Shape;4548;p85"/>
          <p:cNvSpPr/>
          <p:nvPr/>
        </p:nvSpPr>
        <p:spPr>
          <a:xfrm>
            <a:off x="2582003" y="3121887"/>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549" name="Google Shape;4549;p85"/>
          <p:cNvSpPr/>
          <p:nvPr/>
        </p:nvSpPr>
        <p:spPr>
          <a:xfrm>
            <a:off x="2574025" y="3130681"/>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3</a:t>
            </a:r>
            <a:endParaRPr/>
          </a:p>
        </p:txBody>
      </p:sp>
      <p:sp>
        <p:nvSpPr>
          <p:cNvPr id="4550" name="Google Shape;4550;p85"/>
          <p:cNvSpPr/>
          <p:nvPr/>
        </p:nvSpPr>
        <p:spPr>
          <a:xfrm>
            <a:off x="2582003" y="33858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551" name="Google Shape;4551;p85"/>
          <p:cNvSpPr/>
          <p:nvPr/>
        </p:nvSpPr>
        <p:spPr>
          <a:xfrm>
            <a:off x="2574025" y="3394622"/>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2</a:t>
            </a:r>
            <a:endParaRPr/>
          </a:p>
        </p:txBody>
      </p:sp>
      <p:sp>
        <p:nvSpPr>
          <p:cNvPr id="4552" name="Google Shape;4552;p85"/>
          <p:cNvSpPr/>
          <p:nvPr/>
        </p:nvSpPr>
        <p:spPr>
          <a:xfrm>
            <a:off x="2582003" y="3649299"/>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553" name="Google Shape;4553;p85"/>
          <p:cNvSpPr/>
          <p:nvPr/>
        </p:nvSpPr>
        <p:spPr>
          <a:xfrm>
            <a:off x="2574025" y="3658093"/>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a:t>
            </a:r>
            <a:endParaRPr/>
          </a:p>
        </p:txBody>
      </p:sp>
      <p:sp>
        <p:nvSpPr>
          <p:cNvPr id="4554" name="Google Shape;4554;p85"/>
          <p:cNvSpPr/>
          <p:nvPr/>
        </p:nvSpPr>
        <p:spPr>
          <a:xfrm>
            <a:off x="10125537" y="1755851"/>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555" name="Google Shape;4555;p85"/>
          <p:cNvSpPr/>
          <p:nvPr/>
        </p:nvSpPr>
        <p:spPr>
          <a:xfrm>
            <a:off x="10117559" y="1764645"/>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a:t>
            </a:r>
            <a:endParaRPr/>
          </a:p>
        </p:txBody>
      </p:sp>
      <p:sp>
        <p:nvSpPr>
          <p:cNvPr id="4556" name="Google Shape;4556;p85"/>
          <p:cNvSpPr/>
          <p:nvPr/>
        </p:nvSpPr>
        <p:spPr>
          <a:xfrm>
            <a:off x="10123978" y="3650400"/>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557" name="Google Shape;4557;p85"/>
          <p:cNvSpPr/>
          <p:nvPr/>
        </p:nvSpPr>
        <p:spPr>
          <a:xfrm>
            <a:off x="10116000" y="3659194"/>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2</a:t>
            </a:r>
            <a:endParaRPr/>
          </a:p>
        </p:txBody>
      </p:sp>
      <p:sp>
        <p:nvSpPr>
          <p:cNvPr id="4558" name="Google Shape;4558;p85"/>
          <p:cNvSpPr/>
          <p:nvPr/>
        </p:nvSpPr>
        <p:spPr>
          <a:xfrm>
            <a:off x="10125815" y="1489299"/>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559" name="Google Shape;4559;p85"/>
          <p:cNvSpPr/>
          <p:nvPr/>
        </p:nvSpPr>
        <p:spPr>
          <a:xfrm>
            <a:off x="10117837" y="1498093"/>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3</a:t>
            </a:r>
            <a:endParaRPr/>
          </a:p>
        </p:txBody>
      </p:sp>
      <p:sp>
        <p:nvSpPr>
          <p:cNvPr id="4560" name="Google Shape;4560;p85"/>
          <p:cNvSpPr/>
          <p:nvPr/>
        </p:nvSpPr>
        <p:spPr>
          <a:xfrm>
            <a:off x="6561065" y="1741845"/>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561" name="Google Shape;4561;p85"/>
          <p:cNvSpPr/>
          <p:nvPr/>
        </p:nvSpPr>
        <p:spPr>
          <a:xfrm>
            <a:off x="6553087" y="1750639"/>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4</a:t>
            </a:r>
            <a:endParaRPr/>
          </a:p>
        </p:txBody>
      </p:sp>
      <p:sp>
        <p:nvSpPr>
          <p:cNvPr id="4562" name="Google Shape;4562;p85"/>
          <p:cNvSpPr/>
          <p:nvPr/>
        </p:nvSpPr>
        <p:spPr>
          <a:xfrm>
            <a:off x="792583" y="3629276"/>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563" name="Google Shape;4563;p85"/>
          <p:cNvSpPr/>
          <p:nvPr/>
        </p:nvSpPr>
        <p:spPr>
          <a:xfrm>
            <a:off x="784605" y="3638070"/>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4</a:t>
            </a:r>
            <a:endParaRPr/>
          </a:p>
        </p:txBody>
      </p:sp>
      <p:sp>
        <p:nvSpPr>
          <p:cNvPr id="4564" name="Google Shape;4564;p85"/>
          <p:cNvSpPr/>
          <p:nvPr/>
        </p:nvSpPr>
        <p:spPr>
          <a:xfrm>
            <a:off x="4367055" y="3641899"/>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565" name="Google Shape;4565;p85"/>
          <p:cNvSpPr/>
          <p:nvPr/>
        </p:nvSpPr>
        <p:spPr>
          <a:xfrm>
            <a:off x="4359077" y="3650693"/>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5</a:t>
            </a:r>
            <a:endParaRPr/>
          </a:p>
        </p:txBody>
      </p:sp>
      <p:sp>
        <p:nvSpPr>
          <p:cNvPr id="4566" name="Google Shape;4566;p85"/>
          <p:cNvSpPr/>
          <p:nvPr/>
        </p:nvSpPr>
        <p:spPr>
          <a:xfrm>
            <a:off x="4365599" y="3388584"/>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567" name="Google Shape;4567;p85"/>
          <p:cNvSpPr/>
          <p:nvPr/>
        </p:nvSpPr>
        <p:spPr>
          <a:xfrm>
            <a:off x="4325561" y="3397378"/>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6b</a:t>
            </a:r>
            <a:endParaRPr/>
          </a:p>
        </p:txBody>
      </p:sp>
      <p:sp>
        <p:nvSpPr>
          <p:cNvPr id="4568" name="Google Shape;4568;p85"/>
          <p:cNvSpPr/>
          <p:nvPr/>
        </p:nvSpPr>
        <p:spPr>
          <a:xfrm>
            <a:off x="4370083" y="3136880"/>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569" name="Google Shape;4569;p85"/>
          <p:cNvSpPr/>
          <p:nvPr/>
        </p:nvSpPr>
        <p:spPr>
          <a:xfrm>
            <a:off x="4330045" y="3145674"/>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8b</a:t>
            </a:r>
            <a:endParaRPr/>
          </a:p>
        </p:txBody>
      </p:sp>
      <p:sp>
        <p:nvSpPr>
          <p:cNvPr id="4570" name="Google Shape;4570;p85"/>
          <p:cNvSpPr/>
          <p:nvPr/>
        </p:nvSpPr>
        <p:spPr>
          <a:xfrm>
            <a:off x="4368545" y="2880000"/>
            <a:ext cx="215000" cy="215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571" name="Google Shape;4571;p85"/>
          <p:cNvSpPr/>
          <p:nvPr/>
        </p:nvSpPr>
        <p:spPr>
          <a:xfrm>
            <a:off x="4298376" y="2888753"/>
            <a:ext cx="368899" cy="214447"/>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12b</a:t>
            </a:r>
            <a:endParaRPr/>
          </a:p>
        </p:txBody>
      </p:sp>
      <p:sp>
        <p:nvSpPr>
          <p:cNvPr id="4572" name="Google Shape;4572;p85"/>
          <p:cNvSpPr/>
          <p:nvPr/>
        </p:nvSpPr>
        <p:spPr>
          <a:xfrm>
            <a:off x="6558900" y="1481480"/>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573" name="Google Shape;4573;p85"/>
          <p:cNvSpPr/>
          <p:nvPr/>
        </p:nvSpPr>
        <p:spPr>
          <a:xfrm>
            <a:off x="6550922" y="1490274"/>
            <a:ext cx="24558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9</a:t>
            </a:r>
            <a:endParaRPr/>
          </a:p>
        </p:txBody>
      </p:sp>
      <p:sp>
        <p:nvSpPr>
          <p:cNvPr id="4574" name="Google Shape;4574;p85"/>
          <p:cNvSpPr/>
          <p:nvPr/>
        </p:nvSpPr>
        <p:spPr>
          <a:xfrm>
            <a:off x="8352005" y="1742779"/>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575" name="Google Shape;4575;p85"/>
          <p:cNvSpPr/>
          <p:nvPr/>
        </p:nvSpPr>
        <p:spPr>
          <a:xfrm>
            <a:off x="8311967" y="1751573"/>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10</a:t>
            </a:r>
            <a:endParaRPr/>
          </a:p>
        </p:txBody>
      </p:sp>
      <p:sp>
        <p:nvSpPr>
          <p:cNvPr id="4576" name="Google Shape;4576;p85"/>
          <p:cNvSpPr/>
          <p:nvPr/>
        </p:nvSpPr>
        <p:spPr>
          <a:xfrm>
            <a:off x="4357601" y="1240114"/>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577" name="Google Shape;4577;p85"/>
          <p:cNvSpPr/>
          <p:nvPr/>
        </p:nvSpPr>
        <p:spPr>
          <a:xfrm>
            <a:off x="4322372" y="1248908"/>
            <a:ext cx="300082"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8a</a:t>
            </a:r>
            <a:endParaRPr/>
          </a:p>
        </p:txBody>
      </p:sp>
      <p:sp>
        <p:nvSpPr>
          <p:cNvPr id="4578" name="Google Shape;4578;p85"/>
          <p:cNvSpPr/>
          <p:nvPr/>
        </p:nvSpPr>
        <p:spPr>
          <a:xfrm>
            <a:off x="4359965" y="983503"/>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579" name="Google Shape;4579;p85"/>
          <p:cNvSpPr/>
          <p:nvPr/>
        </p:nvSpPr>
        <p:spPr>
          <a:xfrm>
            <a:off x="4319927" y="992297"/>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11</a:t>
            </a:r>
            <a:endParaRPr/>
          </a:p>
        </p:txBody>
      </p:sp>
      <p:sp>
        <p:nvSpPr>
          <p:cNvPr id="4580" name="Google Shape;4580;p85"/>
          <p:cNvSpPr/>
          <p:nvPr/>
        </p:nvSpPr>
        <p:spPr>
          <a:xfrm>
            <a:off x="8354611" y="1478795"/>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581" name="Google Shape;4581;p85"/>
          <p:cNvSpPr/>
          <p:nvPr/>
        </p:nvSpPr>
        <p:spPr>
          <a:xfrm>
            <a:off x="8280687" y="1487589"/>
            <a:ext cx="360996"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12a</a:t>
            </a:r>
            <a:endParaRPr/>
          </a:p>
        </p:txBody>
      </p:sp>
      <p:sp>
        <p:nvSpPr>
          <p:cNvPr id="4582" name="Google Shape;4582;p85"/>
          <p:cNvSpPr/>
          <p:nvPr/>
        </p:nvSpPr>
        <p:spPr>
          <a:xfrm>
            <a:off x="4365417" y="2187210"/>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583" name="Google Shape;4583;p85"/>
          <p:cNvSpPr/>
          <p:nvPr/>
        </p:nvSpPr>
        <p:spPr>
          <a:xfrm>
            <a:off x="4317141" y="2196004"/>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13</a:t>
            </a:r>
            <a:endParaRPr/>
          </a:p>
        </p:txBody>
      </p:sp>
      <p:sp>
        <p:nvSpPr>
          <p:cNvPr id="4584" name="Google Shape;4584;p85"/>
          <p:cNvSpPr/>
          <p:nvPr/>
        </p:nvSpPr>
        <p:spPr>
          <a:xfrm>
            <a:off x="4365932" y="1931502"/>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585" name="Google Shape;4585;p85"/>
          <p:cNvSpPr/>
          <p:nvPr/>
        </p:nvSpPr>
        <p:spPr>
          <a:xfrm>
            <a:off x="4325894" y="1940296"/>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15</a:t>
            </a:r>
            <a:endParaRPr/>
          </a:p>
        </p:txBody>
      </p:sp>
      <p:sp>
        <p:nvSpPr>
          <p:cNvPr id="4586" name="Google Shape;4586;p85"/>
          <p:cNvSpPr txBox="1"/>
          <p:nvPr/>
        </p:nvSpPr>
        <p:spPr>
          <a:xfrm>
            <a:off x="4033926" y="1538024"/>
            <a:ext cx="2015578"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Accounts receivable</a:t>
            </a:r>
            <a:endParaRPr/>
          </a:p>
        </p:txBody>
      </p:sp>
      <p:sp>
        <p:nvSpPr>
          <p:cNvPr id="4587" name="Google Shape;4587;p85"/>
          <p:cNvSpPr txBox="1"/>
          <p:nvPr/>
        </p:nvSpPr>
        <p:spPr>
          <a:xfrm>
            <a:off x="6252890" y="2028286"/>
            <a:ext cx="1987133" cy="338554"/>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Accounts payable</a:t>
            </a:r>
            <a:endParaRPr/>
          </a:p>
        </p:txBody>
      </p:sp>
      <p:sp>
        <p:nvSpPr>
          <p:cNvPr id="4588" name="Google Shape;4588;p85"/>
          <p:cNvSpPr/>
          <p:nvPr/>
        </p:nvSpPr>
        <p:spPr>
          <a:xfrm flipH="1">
            <a:off x="1484882" y="2236958"/>
            <a:ext cx="810000" cy="613673"/>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589" name="Google Shape;4589;p85"/>
          <p:cNvSpPr/>
          <p:nvPr/>
        </p:nvSpPr>
        <p:spPr>
          <a:xfrm>
            <a:off x="674882" y="2236958"/>
            <a:ext cx="810000" cy="613673"/>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590" name="Google Shape;4590;p85"/>
          <p:cNvSpPr txBox="1"/>
          <p:nvPr/>
        </p:nvSpPr>
        <p:spPr>
          <a:xfrm>
            <a:off x="667920" y="2817445"/>
            <a:ext cx="1647322" cy="584775"/>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600">
                <a:solidFill>
                  <a:schemeClr val="dk1"/>
                </a:solidFill>
                <a:latin typeface="Avenir"/>
                <a:ea typeface="Avenir"/>
                <a:cs typeface="Avenir"/>
                <a:sym typeface="Avenir"/>
              </a:rPr>
              <a:t>Accumulated depreciation</a:t>
            </a:r>
            <a:endParaRPr/>
          </a:p>
        </p:txBody>
      </p:sp>
      <p:sp>
        <p:nvSpPr>
          <p:cNvPr id="4591" name="Google Shape;4591;p85"/>
          <p:cNvSpPr txBox="1"/>
          <p:nvPr/>
        </p:nvSpPr>
        <p:spPr>
          <a:xfrm>
            <a:off x="1679276" y="2502766"/>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100</a:t>
            </a:r>
            <a:endParaRPr/>
          </a:p>
        </p:txBody>
      </p:sp>
      <p:sp>
        <p:nvSpPr>
          <p:cNvPr id="4592" name="Google Shape;4592;p85"/>
          <p:cNvSpPr/>
          <p:nvPr/>
        </p:nvSpPr>
        <p:spPr>
          <a:xfrm>
            <a:off x="1256101" y="2550772"/>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593" name="Google Shape;4593;p85"/>
          <p:cNvSpPr/>
          <p:nvPr/>
        </p:nvSpPr>
        <p:spPr>
          <a:xfrm>
            <a:off x="793014" y="2511750"/>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594" name="Google Shape;4594;p85"/>
          <p:cNvSpPr/>
          <p:nvPr/>
        </p:nvSpPr>
        <p:spPr>
          <a:xfrm>
            <a:off x="752976" y="2520544"/>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14</a:t>
            </a:r>
            <a:endParaRPr/>
          </a:p>
        </p:txBody>
      </p:sp>
      <p:sp>
        <p:nvSpPr>
          <p:cNvPr id="4595" name="Google Shape;4595;p85"/>
          <p:cNvSpPr/>
          <p:nvPr/>
        </p:nvSpPr>
        <p:spPr>
          <a:xfrm flipH="1">
            <a:off x="5057500" y="957969"/>
            <a:ext cx="810000" cy="613673"/>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596" name="Google Shape;4596;p85"/>
          <p:cNvSpPr/>
          <p:nvPr/>
        </p:nvSpPr>
        <p:spPr>
          <a:xfrm>
            <a:off x="4247500" y="957969"/>
            <a:ext cx="810000" cy="613673"/>
          </a:xfrm>
          <a:prstGeom prst="corner">
            <a:avLst>
              <a:gd fmla="val 9817"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597" name="Google Shape;4597;p85"/>
          <p:cNvSpPr/>
          <p:nvPr/>
        </p:nvSpPr>
        <p:spPr>
          <a:xfrm flipH="1">
            <a:off x="5057500" y="1892397"/>
            <a:ext cx="810000" cy="613673"/>
          </a:xfrm>
          <a:prstGeom prst="corner">
            <a:avLst>
              <a:gd fmla="val 9300"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598" name="Google Shape;4598;p85"/>
          <p:cNvSpPr/>
          <p:nvPr/>
        </p:nvSpPr>
        <p:spPr>
          <a:xfrm>
            <a:off x="4247500" y="1892397"/>
            <a:ext cx="810000" cy="613673"/>
          </a:xfrm>
          <a:prstGeom prst="corner">
            <a:avLst>
              <a:gd fmla="val 9300" name="adj1"/>
              <a:gd fmla="val 8904" name="adj2"/>
            </a:avLst>
          </a:prstGeom>
          <a:solidFill>
            <a:srgbClr val="5481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599" name="Google Shape;4599;p85"/>
          <p:cNvSpPr/>
          <p:nvPr/>
        </p:nvSpPr>
        <p:spPr>
          <a:xfrm flipH="1">
            <a:off x="10793452" y="3159101"/>
            <a:ext cx="810000" cy="796274"/>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600" name="Google Shape;4600;p85"/>
          <p:cNvSpPr/>
          <p:nvPr/>
        </p:nvSpPr>
        <p:spPr>
          <a:xfrm>
            <a:off x="9983452" y="3159099"/>
            <a:ext cx="810000" cy="796275"/>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601" name="Google Shape;4601;p85"/>
          <p:cNvSpPr/>
          <p:nvPr/>
        </p:nvSpPr>
        <p:spPr>
          <a:xfrm flipH="1">
            <a:off x="9024558" y="1260020"/>
            <a:ext cx="810000" cy="796274"/>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602" name="Google Shape;4602;p85"/>
          <p:cNvSpPr/>
          <p:nvPr/>
        </p:nvSpPr>
        <p:spPr>
          <a:xfrm>
            <a:off x="8214558" y="1260018"/>
            <a:ext cx="810000" cy="796275"/>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603" name="Google Shape;4603;p85"/>
          <p:cNvSpPr/>
          <p:nvPr/>
        </p:nvSpPr>
        <p:spPr>
          <a:xfrm flipH="1">
            <a:off x="10816085" y="1263490"/>
            <a:ext cx="810000" cy="796274"/>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604" name="Google Shape;4604;p85"/>
          <p:cNvSpPr/>
          <p:nvPr/>
        </p:nvSpPr>
        <p:spPr>
          <a:xfrm>
            <a:off x="10006085" y="1263488"/>
            <a:ext cx="810000" cy="796275"/>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605" name="Google Shape;4605;p85"/>
          <p:cNvSpPr/>
          <p:nvPr/>
        </p:nvSpPr>
        <p:spPr>
          <a:xfrm flipH="1">
            <a:off x="7238511" y="1266565"/>
            <a:ext cx="810000" cy="796274"/>
          </a:xfrm>
          <a:prstGeom prst="corner">
            <a:avLst>
              <a:gd fmla="val 7267"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606" name="Google Shape;4606;p85"/>
          <p:cNvSpPr/>
          <p:nvPr/>
        </p:nvSpPr>
        <p:spPr>
          <a:xfrm>
            <a:off x="6428511" y="1266563"/>
            <a:ext cx="810000" cy="796275"/>
          </a:xfrm>
          <a:prstGeom prst="corner">
            <a:avLst>
              <a:gd fmla="val 7268" name="adj1"/>
              <a:gd fmla="val 7888" name="adj2"/>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Helvetica Neue"/>
              <a:ea typeface="Helvetica Neue"/>
              <a:cs typeface="Helvetica Neue"/>
              <a:sym typeface="Helvetica Neue"/>
            </a:endParaRPr>
          </a:p>
        </p:txBody>
      </p:sp>
      <p:sp>
        <p:nvSpPr>
          <p:cNvPr id="4607" name="Google Shape;4607;p85"/>
          <p:cNvSpPr/>
          <p:nvPr/>
        </p:nvSpPr>
        <p:spPr>
          <a:xfrm rot="10800000">
            <a:off x="10548000" y="3653367"/>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sp>
        <p:nvSpPr>
          <p:cNvPr id="4608" name="Google Shape;4608;p85"/>
          <p:cNvSpPr txBox="1"/>
          <p:nvPr/>
        </p:nvSpPr>
        <p:spPr>
          <a:xfrm>
            <a:off x="6413550" y="3135648"/>
            <a:ext cx="1544844" cy="770509"/>
          </a:xfrm>
          <a:prstGeom prst="rect">
            <a:avLst/>
          </a:prstGeom>
          <a:noFill/>
          <a:ln cap="flat" cmpd="sng" w="57150">
            <a:solidFill>
              <a:srgbClr val="942093"/>
            </a:solidFill>
            <a:prstDash val="solid"/>
            <a:miter lim="800000"/>
            <a:headEnd len="sm" w="sm" type="none"/>
            <a:tailEnd len="sm" w="sm" type="none"/>
          </a:ln>
        </p:spPr>
        <p:txBody>
          <a:bodyPr anchorCtr="0" anchor="t" bIns="45700" lIns="91425" spcFirstLastPara="1" rIns="91425" wrap="square" tIns="45700">
            <a:noAutofit/>
          </a:bodyPr>
          <a:lstStyle/>
          <a:p>
            <a:pPr indent="0" lvl="0" marL="0" marR="0" rtl="0" algn="l">
              <a:lnSpc>
                <a:spcPct val="120000"/>
              </a:lnSpc>
              <a:spcBef>
                <a:spcPts val="0"/>
              </a:spcBef>
              <a:spcAft>
                <a:spcPts val="0"/>
              </a:spcAft>
              <a:buNone/>
            </a:pPr>
            <a:r>
              <a:rPr b="1" lang="en-US" sz="1600">
                <a:solidFill>
                  <a:srgbClr val="942093"/>
                </a:solidFill>
                <a:latin typeface="Avenir"/>
                <a:ea typeface="Avenir"/>
                <a:cs typeface="Avenir"/>
                <a:sym typeface="Avenir"/>
              </a:rPr>
              <a:t>Profit</a:t>
            </a:r>
            <a:endParaRPr/>
          </a:p>
        </p:txBody>
      </p:sp>
      <p:sp>
        <p:nvSpPr>
          <p:cNvPr id="4609" name="Google Shape;4609;p85"/>
          <p:cNvSpPr txBox="1"/>
          <p:nvPr/>
        </p:nvSpPr>
        <p:spPr>
          <a:xfrm>
            <a:off x="7369027" y="3590108"/>
            <a:ext cx="526106" cy="338554"/>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en-US" sz="1600">
                <a:solidFill>
                  <a:schemeClr val="accent2"/>
                </a:solidFill>
                <a:latin typeface="Avenir"/>
                <a:ea typeface="Avenir"/>
                <a:cs typeface="Avenir"/>
                <a:sym typeface="Avenir"/>
              </a:rPr>
              <a:t>160</a:t>
            </a:r>
            <a:endParaRPr/>
          </a:p>
        </p:txBody>
      </p:sp>
      <p:sp>
        <p:nvSpPr>
          <p:cNvPr id="4610" name="Google Shape;4610;p85"/>
          <p:cNvSpPr/>
          <p:nvPr/>
        </p:nvSpPr>
        <p:spPr>
          <a:xfrm rot="10800000">
            <a:off x="6984000" y="3662508"/>
            <a:ext cx="108000" cy="180000"/>
          </a:xfrm>
          <a:prstGeom prst="downArrow">
            <a:avLst>
              <a:gd fmla="val 100000" name="adj1"/>
              <a:gd fmla="val 47930" name="adj2"/>
            </a:avLst>
          </a:prstGeom>
          <a:solidFill>
            <a:schemeClr val="accent2"/>
          </a:solidFill>
          <a:ln cap="flat" cmpd="sng" w="9525">
            <a:solidFill>
              <a:srgbClr val="C55A1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2"/>
              </a:solidFill>
              <a:latin typeface="Calibri"/>
              <a:ea typeface="Calibri"/>
              <a:cs typeface="Calibri"/>
              <a:sym typeface="Calibri"/>
            </a:endParaRPr>
          </a:p>
        </p:txBody>
      </p:sp>
      <p:grpSp>
        <p:nvGrpSpPr>
          <p:cNvPr id="4611" name="Google Shape;4611;p85"/>
          <p:cNvGrpSpPr/>
          <p:nvPr/>
        </p:nvGrpSpPr>
        <p:grpSpPr>
          <a:xfrm>
            <a:off x="2528692" y="1230247"/>
            <a:ext cx="309700" cy="223917"/>
            <a:chOff x="756600" y="3715226"/>
            <a:chExt cx="321511" cy="232457"/>
          </a:xfrm>
        </p:grpSpPr>
        <p:sp>
          <p:nvSpPr>
            <p:cNvPr id="4612" name="Google Shape;4612;p85"/>
            <p:cNvSpPr/>
            <p:nvPr/>
          </p:nvSpPr>
          <p:spPr>
            <a:xfrm>
              <a:off x="810779" y="3715226"/>
              <a:ext cx="224237" cy="224238"/>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613" name="Google Shape;4613;p85"/>
            <p:cNvSpPr/>
            <p:nvPr/>
          </p:nvSpPr>
          <p:spPr>
            <a:xfrm>
              <a:off x="756600" y="3724022"/>
              <a:ext cx="321511" cy="223661"/>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16</a:t>
              </a:r>
              <a:endParaRPr/>
            </a:p>
          </p:txBody>
        </p:sp>
      </p:grpSp>
      <p:grpSp>
        <p:nvGrpSpPr>
          <p:cNvPr id="4614" name="Google Shape;4614;p85"/>
          <p:cNvGrpSpPr/>
          <p:nvPr/>
        </p:nvGrpSpPr>
        <p:grpSpPr>
          <a:xfrm>
            <a:off x="6512636" y="1220768"/>
            <a:ext cx="309700" cy="224238"/>
            <a:chOff x="762505" y="3715228"/>
            <a:chExt cx="309700" cy="224238"/>
          </a:xfrm>
        </p:grpSpPr>
        <p:sp>
          <p:nvSpPr>
            <p:cNvPr id="4615" name="Google Shape;4615;p85"/>
            <p:cNvSpPr/>
            <p:nvPr/>
          </p:nvSpPr>
          <p:spPr>
            <a:xfrm>
              <a:off x="810781" y="3715228"/>
              <a:ext cx="216000" cy="216000"/>
            </a:xfrm>
            <a:prstGeom prst="ellipse">
              <a:avLst/>
            </a:prstGeom>
            <a:solidFill>
              <a:srgbClr val="F2F2F2"/>
            </a:solidFill>
            <a:ln cap="flat" cmpd="sng" w="9525">
              <a:solidFill>
                <a:srgbClr val="7F7F7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500">
                <a:solidFill>
                  <a:srgbClr val="7F7F7F"/>
                </a:solidFill>
                <a:latin typeface="Avenir"/>
                <a:ea typeface="Avenir"/>
                <a:cs typeface="Avenir"/>
                <a:sym typeface="Avenir"/>
              </a:endParaRPr>
            </a:p>
          </p:txBody>
        </p:sp>
        <p:sp>
          <p:nvSpPr>
            <p:cNvPr id="4616" name="Google Shape;4616;p85"/>
            <p:cNvSpPr/>
            <p:nvPr/>
          </p:nvSpPr>
          <p:spPr>
            <a:xfrm>
              <a:off x="762505" y="3724022"/>
              <a:ext cx="309700" cy="215444"/>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lang="en-US" sz="800">
                  <a:solidFill>
                    <a:srgbClr val="7F7F7F"/>
                  </a:solidFill>
                  <a:latin typeface="Avenir"/>
                  <a:ea typeface="Avenir"/>
                  <a:cs typeface="Avenir"/>
                  <a:sym typeface="Avenir"/>
                </a:rPr>
                <a:t>16</a:t>
              </a:r>
              <a:endParaRPr/>
            </a:p>
          </p:txBody>
        </p:sp>
      </p:grpSp>
      <p:sp>
        <p:nvSpPr>
          <p:cNvPr id="4617" name="Google Shape;4617;p85"/>
          <p:cNvSpPr txBox="1"/>
          <p:nvPr/>
        </p:nvSpPr>
        <p:spPr>
          <a:xfrm>
            <a:off x="6403129" y="3421071"/>
            <a:ext cx="1548343" cy="566133"/>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400">
                <a:solidFill>
                  <a:schemeClr val="dk1"/>
                </a:solidFill>
                <a:latin typeface="Avenir"/>
                <a:ea typeface="Avenir"/>
                <a:cs typeface="Avenir"/>
                <a:sym typeface="Avenir"/>
              </a:rPr>
              <a:t>160</a:t>
            </a:r>
            <a:endParaRPr sz="2400">
              <a:solidFill>
                <a:schemeClr val="dk1"/>
              </a:solidFill>
              <a:latin typeface="Calibri"/>
              <a:ea typeface="Calibri"/>
              <a:cs typeface="Calibri"/>
              <a:sym typeface="Calibri"/>
            </a:endParaRPr>
          </a:p>
        </p:txBody>
      </p:sp>
    </p:spTree>
  </p:cSld>
  <p:clrMapOvr>
    <a:masterClrMapping/>
  </p:clrMapOvr>
  <mc:AlternateContent>
    <mc:Choice Requires="p14">
      <p:transition spd="slow" p14:dur="700">
        <p:fade/>
      </p:transition>
    </mc:Choice>
    <mc:Fallback>
      <p:transition spd="slow">
        <p:fade/>
      </p:transition>
    </mc:Fallback>
  </mc:AlternateContent>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xit" presetID="10" presetSubtype="0">
                                  <p:stCondLst>
                                    <p:cond delay="0"/>
                                  </p:stCondLst>
                                  <p:childTnLst>
                                    <p:animEffect filter="fade" transition="out">
                                      <p:cBhvr>
                                        <p:cTn dur="2000"/>
                                        <p:tgtEl>
                                          <p:spTgt spid="4407"/>
                                        </p:tgtEl>
                                      </p:cBhvr>
                                    </p:animEffect>
                                    <p:set>
                                      <p:cBhvr>
                                        <p:cTn dur="1" fill="hold">
                                          <p:stCondLst>
                                            <p:cond delay="2000"/>
                                          </p:stCondLst>
                                        </p:cTn>
                                        <p:tgtEl>
                                          <p:spTgt spid="4407"/>
                                        </p:tgtEl>
                                        <p:attrNameLst>
                                          <p:attrName>style.visibility</p:attrName>
                                        </p:attrNameLst>
                                      </p:cBhvr>
                                      <p:to>
                                        <p:strVal val="hidden"/>
                                      </p:to>
                                    </p:set>
                                  </p:childTnLst>
                                </p:cTn>
                              </p:par>
                              <p:par>
                                <p:cTn fill="hold" nodeType="withEffect" presetClass="exit" presetID="10" presetSubtype="0">
                                  <p:stCondLst>
                                    <p:cond delay="0"/>
                                  </p:stCondLst>
                                  <p:childTnLst>
                                    <p:animEffect filter="fade" transition="out">
                                      <p:cBhvr>
                                        <p:cTn dur="2000"/>
                                        <p:tgtEl>
                                          <p:spTgt spid="4409"/>
                                        </p:tgtEl>
                                      </p:cBhvr>
                                    </p:animEffect>
                                    <p:set>
                                      <p:cBhvr>
                                        <p:cTn dur="1" fill="hold">
                                          <p:stCondLst>
                                            <p:cond delay="2000"/>
                                          </p:stCondLst>
                                        </p:cTn>
                                        <p:tgtEl>
                                          <p:spTgt spid="4409"/>
                                        </p:tgtEl>
                                        <p:attrNameLst>
                                          <p:attrName>style.visibility</p:attrName>
                                        </p:attrNameLst>
                                      </p:cBhvr>
                                      <p:to>
                                        <p:strVal val="hidden"/>
                                      </p:to>
                                    </p:set>
                                  </p:childTnLst>
                                </p:cTn>
                              </p:par>
                              <p:par>
                                <p:cTn fill="hold" nodeType="withEffect" presetClass="entr" presetID="10" presetSubtype="0">
                                  <p:stCondLst>
                                    <p:cond delay="0"/>
                                  </p:stCondLst>
                                  <p:childTnLst>
                                    <p:set>
                                      <p:cBhvr>
                                        <p:cTn dur="1" fill="hold">
                                          <p:stCondLst>
                                            <p:cond delay="0"/>
                                          </p:stCondLst>
                                        </p:cTn>
                                        <p:tgtEl>
                                          <p:spTgt spid="4608"/>
                                        </p:tgtEl>
                                        <p:attrNameLst>
                                          <p:attrName>style.visibility</p:attrName>
                                        </p:attrNameLst>
                                      </p:cBhvr>
                                      <p:to>
                                        <p:strVal val="visible"/>
                                      </p:to>
                                    </p:set>
                                    <p:animEffect filter="fade" transition="in">
                                      <p:cBhvr>
                                        <p:cTn dur="2000"/>
                                        <p:tgtEl>
                                          <p:spTgt spid="4608"/>
                                        </p:tgtEl>
                                      </p:cBhvr>
                                    </p:animEffect>
                                  </p:childTnLst>
                                </p:cTn>
                              </p:par>
                              <p:par>
                                <p:cTn fill="hold" nodeType="withEffect" presetClass="entr" presetID="10" presetSubtype="0">
                                  <p:stCondLst>
                                    <p:cond delay="0"/>
                                  </p:stCondLst>
                                  <p:childTnLst>
                                    <p:set>
                                      <p:cBhvr>
                                        <p:cTn dur="1" fill="hold">
                                          <p:stCondLst>
                                            <p:cond delay="0"/>
                                          </p:stCondLst>
                                        </p:cTn>
                                        <p:tgtEl>
                                          <p:spTgt spid="4609"/>
                                        </p:tgtEl>
                                        <p:attrNameLst>
                                          <p:attrName>style.visibility</p:attrName>
                                        </p:attrNameLst>
                                      </p:cBhvr>
                                      <p:to>
                                        <p:strVal val="visible"/>
                                      </p:to>
                                    </p:set>
                                    <p:animEffect filter="fade" transition="in">
                                      <p:cBhvr>
                                        <p:cTn dur="2000"/>
                                        <p:tgtEl>
                                          <p:spTgt spid="4609"/>
                                        </p:tgtEl>
                                      </p:cBhvr>
                                    </p:animEffect>
                                  </p:childTnLst>
                                </p:cTn>
                              </p:par>
                              <p:par>
                                <p:cTn fill="hold" nodeType="withEffect" presetClass="exit" presetID="10" presetSubtype="0">
                                  <p:stCondLst>
                                    <p:cond delay="0"/>
                                  </p:stCondLst>
                                  <p:childTnLst>
                                    <p:animEffect filter="fade" transition="out">
                                      <p:cBhvr>
                                        <p:cTn dur="500"/>
                                        <p:tgtEl>
                                          <p:spTgt spid="4617"/>
                                        </p:tgtEl>
                                      </p:cBhvr>
                                    </p:animEffect>
                                    <p:set>
                                      <p:cBhvr>
                                        <p:cTn dur="1" fill="hold">
                                          <p:stCondLst>
                                            <p:cond delay="500"/>
                                          </p:stCondLst>
                                        </p:cTn>
                                        <p:tgtEl>
                                          <p:spTgt spid="4617"/>
                                        </p:tgtEl>
                                        <p:attrNameLst>
                                          <p:attrName>style.visibility</p:attrName>
                                        </p:attrNameLst>
                                      </p:cBhvr>
                                      <p:to>
                                        <p:strVal val="hidden"/>
                                      </p:to>
                                    </p:set>
                                  </p:childTnLst>
                                </p:cTn>
                              </p:par>
                              <p:par>
                                <p:cTn fill="hold" nodeType="withEffect" presetClass="entr" presetID="10" presetSubtype="0">
                                  <p:stCondLst>
                                    <p:cond delay="0"/>
                                  </p:stCondLst>
                                  <p:childTnLst>
                                    <p:set>
                                      <p:cBhvr>
                                        <p:cTn dur="1" fill="hold">
                                          <p:stCondLst>
                                            <p:cond delay="0"/>
                                          </p:stCondLst>
                                        </p:cTn>
                                        <p:tgtEl>
                                          <p:spTgt spid="4610"/>
                                        </p:tgtEl>
                                        <p:attrNameLst>
                                          <p:attrName>style.visibility</p:attrName>
                                        </p:attrNameLst>
                                      </p:cBhvr>
                                      <p:to>
                                        <p:strVal val="visible"/>
                                      </p:to>
                                    </p:set>
                                    <p:animEffect filter="fade" transition="in">
                                      <p:cBhvr>
                                        <p:cTn dur="2000"/>
                                        <p:tgtEl>
                                          <p:spTgt spid="461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accent4"/>
        </a:solidFill>
      </p:bgPr>
    </p:bg>
    <p:spTree>
      <p:nvGrpSpPr>
        <p:cNvPr id="4622" name="Shape 4622"/>
        <p:cNvGrpSpPr/>
        <p:nvPr/>
      </p:nvGrpSpPr>
      <p:grpSpPr>
        <a:xfrm>
          <a:off x="0" y="0"/>
          <a:ext cx="0" cy="0"/>
          <a:chOff x="0" y="0"/>
          <a:chExt cx="0" cy="0"/>
        </a:xfrm>
      </p:grpSpPr>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27" name="Shape 4627"/>
        <p:cNvGrpSpPr/>
        <p:nvPr/>
      </p:nvGrpSpPr>
      <p:grpSpPr>
        <a:xfrm>
          <a:off x="0" y="0"/>
          <a:ext cx="0" cy="0"/>
          <a:chOff x="0" y="0"/>
          <a:chExt cx="0" cy="0"/>
        </a:xfrm>
      </p:grpSpPr>
      <p:pic>
        <p:nvPicPr>
          <p:cNvPr id="4628" name="Google Shape;4628;p87"/>
          <p:cNvPicPr preferRelativeResize="0"/>
          <p:nvPr/>
        </p:nvPicPr>
        <p:blipFill rotWithShape="1">
          <a:blip r:embed="rId3">
            <a:alphaModFix/>
          </a:blip>
          <a:srcRect b="0" l="0" r="0" t="0"/>
          <a:stretch/>
        </p:blipFill>
        <p:spPr>
          <a:xfrm>
            <a:off x="7206781" y="2908288"/>
            <a:ext cx="3246172" cy="885123"/>
          </a:xfrm>
          <a:prstGeom prst="rect">
            <a:avLst/>
          </a:prstGeom>
          <a:noFill/>
          <a:ln>
            <a:noFill/>
          </a:ln>
        </p:spPr>
      </p:pic>
      <p:pic>
        <p:nvPicPr>
          <p:cNvPr id="4629" name="Google Shape;4629;p87"/>
          <p:cNvPicPr preferRelativeResize="0"/>
          <p:nvPr/>
        </p:nvPicPr>
        <p:blipFill rotWithShape="1">
          <a:blip r:embed="rId4">
            <a:alphaModFix/>
          </a:blip>
          <a:srcRect b="0" l="0" r="0" t="0"/>
          <a:stretch/>
        </p:blipFill>
        <p:spPr>
          <a:xfrm>
            <a:off x="2111453" y="2642788"/>
            <a:ext cx="3909840" cy="1519077"/>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