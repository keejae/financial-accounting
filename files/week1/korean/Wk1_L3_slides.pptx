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 섹션: 회계 정보의 수요 → 기업 활동 → 재무제표 → 심화 → 재무보고 환경 → 재무비율 분석.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move from why we need accounting information, through the mechanics of the statements, to analysing them with ratios like ROE.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accounting looks outward and backward; managerial accounting looks inward and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accounting serves external users; managerial accounting supports internal, day-to-day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Shareholders decide whether to invest; creditors whether they will be repaid; managers use statements as a report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corporation is the most complex but offers limited liability, at the cost of double taxation.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Stockholders elect the board; the board hires executives and forms committees; the audit committee appoints the external auditor, who reports to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10-K (audited annual) and 10-Q (unaudited quarterly) together are the main accounting information available to the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finance, then invest, then operate — the cycle repeats to generate wealth.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Exhibit 1.4: capital structure varies by industry — some borrow heavily, others rely on equity.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'Big Four'. The balance sheet is a snapshot; the income statement is a video of the year's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'position statement' — what the company owns and owes on a specific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Assets are always financed by either creditors (liabilities) or owners (equity).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missing amounts for each year, confirm Assets = Liabilities + Equity, then compute the proportion of financing from creditors versus owners.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Nike's profit is $2,539 million for the fiscal year ending May 31,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owners' stake changed: stock issuance, net income, and dividends. Nike paid $1,491M in dividends in FY2020.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Profit is not cash. A credit sale is revenue now but cash later; this statement tracks the actual movement of cash.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statements talk to each other: you cannot finish the balance sheet until you know ending equity, which needs net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Footnotes, MD&amp;A, the auditor's report, regulatory filings, and ESG disclosures all supplement the statements.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Organise the raw data into the three statements, then confirm that Assets equal Liabilities plus Equity.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GAAP guides preparation, allows judgement, and lets external users trust audited statements.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 regulates securities issuance and trading; the FASB writes U.S. accounting standards and the Conceptual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Management is responsible for the numbers; auditors provide reasonable assurance, not a guarantee.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SOX (2002) aimed to restore investor confidence and established the PCAOB to set audit standards and monitor audit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 uses GAAP, most of the world uses IFRS; the goal is comparability across borders.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Match each description to a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turn absolute numbers into comparable percentages that provide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Nike's high ROE indicates it is very efficient at generating profit from shareholder capital.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Nike took on more debt relative to equity; this increases risk but can boost ROE if invested wisely.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let us compare Adidas (euros) and Nike (dollars) directly without currency conversion.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Introducing Financial Accounting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재무회계 개관  ·  회계 정보의 수요부터 재무비율 분석까지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TOPICS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737360"/>
            <a:ext cx="1132941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" y="1737360"/>
            <a:ext cx="82296" cy="56692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28800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417320" y="1737360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 정보에 대한 수요  ·  Demand for Accounting Information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0" y="17373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359152"/>
            <a:ext cx="1132941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" y="2359152"/>
            <a:ext cx="82296" cy="56692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2450592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417320" y="2359152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활동  ·  Business Activities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92640" y="23591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" y="2980944"/>
            <a:ext cx="1132941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" y="2980944"/>
            <a:ext cx="82296" cy="566928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1248" y="3072384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417320" y="2980944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재무제표와 회계등식  ·  The Four Financial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92640" y="29809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" y="3602736"/>
            <a:ext cx="1132941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" y="3602736"/>
            <a:ext cx="82296" cy="566928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841248" y="3694176"/>
            <a:ext cx="384048" cy="384048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417320" y="3602736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심화: 4대 핵심 재무제표  ·  Deep Dive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92640" y="36027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9768" y="4224528"/>
            <a:ext cx="1132941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9768" y="4224528"/>
            <a:ext cx="82296" cy="56692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3" name="Shape 31"/>
          <p:cNvSpPr/>
          <p:nvPr/>
        </p:nvSpPr>
        <p:spPr>
          <a:xfrm>
            <a:off x="841248" y="4315968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417320" y="4224528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재무보고 환경  ·  Financial Reporting Environment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2640" y="42245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29768" y="4846320"/>
            <a:ext cx="1132941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9768" y="4846320"/>
            <a:ext cx="82296" cy="56692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9" name="Shape 37"/>
          <p:cNvSpPr/>
          <p:nvPr/>
        </p:nvSpPr>
        <p:spPr>
          <a:xfrm>
            <a:off x="841248" y="4937760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40" name="Text 38"/>
          <p:cNvSpPr/>
          <p:nvPr/>
        </p:nvSpPr>
        <p:spPr>
          <a:xfrm>
            <a:off x="841248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417320" y="4846320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 분석  ·  Ratios (ROE, D/E)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92640" y="48463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5522976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" y="5522976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정보의 수요와 공급 → 재무제표의 구조 → 그 정보를 비율로 해석.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Demand for Accounting Information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 정보에 대한 수요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Accounting?  ·  회계란?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회계는 financial transactions를 기록·요약·분석하여 의사결정에 유용한 정보를 제공하는 시스템입니다.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0116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이용자를 위한 회계.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Investors, Creditors.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지향 · GAAP 기반 · 전사 단위.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0116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Managerial Accounting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이용자를 위한 회계.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Management, Operations.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미래 지향 · 유연 · 상세 단위.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663440"/>
            <a:ext cx="11329416" cy="54864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6634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회계는 계산이 아니라 의사소통(communication) 시스템입니다.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9768" y="539496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539496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 요약: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재무회계는 바깥을·과거를 보고, 관리회계는 안을·미래를 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Information Needs of Decision Makers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정보를 쓰고, 어떤 결정을 내리며, 어떤 정보를 보는가.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Accounting  ·  외부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투자자·애널리스트, 채권자, 공급자·고객.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주식 매매? 대출? 상품 구매·판매?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매출과 비용, 현금 유입·유출, Assets와 liabilities.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5661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Managerial Accounting  ·  내부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최고경영진, 마케팅팀, 생산·운영.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전략 수립? 신제품 출시? 운영 관리?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매출·비용, 부서별 성과, 예산·품질 보고서.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998464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99846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회사, 다른 질문 — 그래서 두 갈래의 회계가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Users of Accounting Information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이용자마다 필요가 다릅니다 — 재무제표는 그 서로 다른 질문에 답합니다.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39572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2648" y="288950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026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투자·재투자 여부를 판단.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 관여하지 않으므로 재무제표로 성과를 평가.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487168"/>
            <a:ext cx="82296" cy="239572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07992" y="288950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Creditors &amp; Suppliers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581144" y="3291840"/>
            <a:ext cx="3026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대출·계약 이행 능력을 평가.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신용 조건, 이자율, 공급 관계를 결정.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487168"/>
            <a:ext cx="82296" cy="2395728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03336" y="288950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&amp; Directors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476488" y="3291840"/>
            <a:ext cx="3026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'성적표'로 활용.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이사회는 전략을, 경영진은 계획·보상을 관리.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5138928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138928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주주는 투자 여부를, 채권자는 상환 여부를, 경영진은 운영을 묻습니다.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Forms of Business Organization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 구조가 위험·과세·자본 조달을 결정합니다.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Proprietorship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32918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소유주 1인이 소유.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위험을 개인이 부담.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487168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62856" y="32918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2인 이상이 소유.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이익과 손실을 공유.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487168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58200" y="32918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별도의 법적 실체.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 — 유한책임, 자본 조달 용이.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Disadv — 이중과세.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5065776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5065776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회계상 초점: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Corporation은 가장 복잡하지만 유한책임을 제공 — 대신 이중과세를 감수합니다.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Corporate Governance Structure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6616" y="2044645"/>
            <a:ext cx="6729984" cy="370139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0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117797"/>
            <a:ext cx="6583680" cy="35550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0" y="1700784"/>
            <a:ext cx="4443984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0" y="1700784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0" y="1700784"/>
            <a:ext cx="444398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1" name="Text 8"/>
          <p:cNvSpPr/>
          <p:nvPr/>
        </p:nvSpPr>
        <p:spPr>
          <a:xfrm>
            <a:off x="7516368" y="1700784"/>
            <a:ext cx="4133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견제와 균형 (Checks &amp; Balances)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534656" y="2304288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주주가 이사회(Board)를 선임.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이사회가 경영진을 임명하고 감사·보상 위원회를 구성.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감사위원회가 외부 감사인을 선임.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15200" y="3986784"/>
            <a:ext cx="4443984" cy="1691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3986784"/>
            <a:ext cx="40782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독립성: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회사가 감사 보수를 지급해도, 감사인은 이사회에 직접 보고합니다.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Supply of Information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상장기업의 회계 정보는 주로 정기 공시로부터 나옵니다.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감사받은 연차 보고서.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포괄적인 자료.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1031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10-Q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감사받지 않은 분기 보고서.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적시성 있는 업데이트.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754880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754880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요구 이상으로 공시할까?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기업은 공시의 효익이 비용을 초과할 때 자발적으로 정보를 제공합니다.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54126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54126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보고서가 투자자·애널리스트·대중이 접하는 주된 회계 정보입니다.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Activities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활동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Activities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기업은 세 가지 활동을 순환하며 가치를 창출합니다.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2648" y="288950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자금을 조달.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소유주(Equity) 또는 채권자(Debt)로부터.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487168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07992" y="288950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81144" y="329184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자원을 취득.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equipment 등 Assets에 투자.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487168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03336" y="288950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76488" y="329184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재화·용역을 생산.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일상적인 영업 활동.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5065776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065776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조달(Finance) → 투자(Invest) → 영업(Operate). 이 순환이 반복되며 부(wealth)를 만듭니다.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Financing Strategies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financing과 equity financing의 조합은 기업마다 다릅니다.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03113" y="2212848"/>
            <a:ext cx="636267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65" y="2286000"/>
            <a:ext cx="6216366" cy="39319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40880" y="2395728"/>
            <a:ext cx="471830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40880" y="2395728"/>
            <a:ext cx="82296" cy="32004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Shape 11"/>
          <p:cNvSpPr/>
          <p:nvPr/>
        </p:nvSpPr>
        <p:spPr>
          <a:xfrm>
            <a:off x="7040880" y="2395728"/>
            <a:ext cx="471830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Text 12"/>
          <p:cNvSpPr/>
          <p:nvPr/>
        </p:nvSpPr>
        <p:spPr>
          <a:xfrm>
            <a:off x="7242048" y="2395728"/>
            <a:ext cx="4407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자본 구조 (Capital Structure)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260336" y="2999232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Pfizer / Nike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균형 잡힌 조합.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Lowe's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financing 의존도 높음 (&gt;90%).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 / Facebook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의존도 높음.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Four Financial Statements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재무제표와 회계등식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Financial Statements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개의 보고서가 서로 다른 질문에 답합니다.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4630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시점의 investing과 financing 현황 (snapshot).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4630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일정 기간의 영업 성과.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3986784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" y="3986784"/>
            <a:ext cx="82296" cy="14630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" y="3986784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" y="39867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Stockholders' Equity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" y="4590288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소유주 financing의 변동.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72784" y="3986784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986784"/>
            <a:ext cx="82296" cy="146304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3986784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39867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Cash Flows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92240" y="4590288"/>
            <a:ext cx="5065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cash의 원천과 사용.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" y="56692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6692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Sheet는 스냅사진, Income Statement는 한 해의 동영상입니다.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Deep Dive: The Four Core Statements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심화: 4대 핵심 재무제표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 Sheet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시점의 회사 financial position을 보고합니다.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463002"/>
            <a:ext cx="6455664" cy="357791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7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536154"/>
            <a:ext cx="6309360" cy="3431611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40880" y="2395728"/>
            <a:ext cx="4718304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40880" y="2395728"/>
            <a:ext cx="82296" cy="30175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Shape 11"/>
          <p:cNvSpPr/>
          <p:nvPr/>
        </p:nvSpPr>
        <p:spPr>
          <a:xfrm>
            <a:off x="7040880" y="2395728"/>
            <a:ext cx="471830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5" name="Text 12"/>
          <p:cNvSpPr/>
          <p:nvPr/>
        </p:nvSpPr>
        <p:spPr>
          <a:xfrm>
            <a:off x="7242048" y="2395728"/>
            <a:ext cx="4407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담는가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260336" y="2999232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liabilities, equity의 세 요소.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요소의 하위 항목을 나열.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investing·financing 활동의 결과를 요약.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Basic Accounting Equation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11329416" cy="82296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517904"/>
            <a:ext cx="11329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Assets   =   Liabilities   +   Stockholders' Equity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94086" y="2487168"/>
            <a:ext cx="660077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9" name="Image 0" descr="assets/s1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7238" y="2560320"/>
            <a:ext cx="6454475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9768" y="5486400"/>
            <a:ext cx="11329416" cy="566928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5486400"/>
            <a:ext cx="10853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읽는 법: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자산(무엇을 보유)은 항상 그 자금의 원천(채권자 + 소유주)과 균형을 이룹니다.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 2 — the Accounting Equation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Air Lines의 연도별 누락 금액과, 소유주·채권자의 financing 비율을 구하시오.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6981" y="2578608"/>
            <a:ext cx="11454991" cy="22494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133" y="2651760"/>
            <a:ext cx="11308687" cy="2103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29768" y="5029200"/>
            <a:ext cx="11329416" cy="82296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5029200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연도의 누락 금액을 채우고, Assets = Liabilities + Equity 로 확인한 뒤 채권자·소유주 financing 비율을 계산하시오.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Income Statement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Nike의 FY2020(2020/5/31 종료) 이익은 $2,539 million입니다.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428853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918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4288536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보는가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3867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일정 기간의 영업 성과.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Revenues − Expenses = Net Income.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오른쪽은 더 상세한 형식.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23160" y="2212848"/>
            <a:ext cx="585062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6" name="Image 0" descr="assets/s2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6312" y="2286000"/>
            <a:ext cx="5704320" cy="15544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818293" y="3904488"/>
            <a:ext cx="5060358" cy="1746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8" name="Image 1" descr="assets/s21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1445" y="3977640"/>
            <a:ext cx="4914054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Statement of Stockholders' Equity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시간에 따른 equity 계정의 변동을 보여줍니다.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1945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Capital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7512" y="34930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발행으로 유입된 금액.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487168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562856" y="34930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누적 net income − dividends.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IS와 BS를 연결.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487168"/>
            <a:ext cx="82296" cy="21945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Equity Items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58200" y="34930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income에 포함되지 않은 조정.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4974336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4974336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= 시간에 따른 변동,  Horizontal = equity 범주.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" y="56692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6692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소유주 지분이 한 해 동안 어떻게 변했는가 — 출자, 이익, 배당.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Statement of Cash Flows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일정 기간 operating·investing·financing 활동의 net cash flows를 보고합니다.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904145"/>
            <a:ext cx="7095744" cy="278707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24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977297"/>
            <a:ext cx="6949440" cy="264076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635240" y="2395728"/>
            <a:ext cx="412394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35240" y="2395728"/>
            <a:ext cx="82296" cy="18288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Shape 11"/>
          <p:cNvSpPr/>
          <p:nvPr/>
        </p:nvSpPr>
        <p:spPr>
          <a:xfrm>
            <a:off x="7635240" y="2395728"/>
            <a:ext cx="412394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Text 12"/>
          <p:cNvSpPr/>
          <p:nvPr/>
        </p:nvSpPr>
        <p:spPr>
          <a:xfrm>
            <a:off x="7836408" y="2395728"/>
            <a:ext cx="3813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중요한가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854696" y="2999232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cash flow ≠ net income.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인식 시점과 현금 수취·지급 시점이 다르기 때문.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635240" y="4407408"/>
            <a:ext cx="4123944" cy="118872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18120" y="4407408"/>
            <a:ext cx="3758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flow와 net income은 성과의 서로 다른 측면 — 둘 다 필수.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Articulation of Financial Statements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재무제표는 서로 연결되어(articulate) 흐릅니다.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368735"/>
            <a:ext cx="6181344" cy="3857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2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441887"/>
            <a:ext cx="6035040" cy="3711587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66560" y="2377440"/>
            <a:ext cx="499262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66560" y="2377440"/>
            <a:ext cx="82296" cy="78638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Shape 11"/>
          <p:cNvSpPr/>
          <p:nvPr/>
        </p:nvSpPr>
        <p:spPr>
          <a:xfrm>
            <a:off x="7031736" y="2496312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5" name="Text 12"/>
          <p:cNvSpPr/>
          <p:nvPr/>
        </p:nvSpPr>
        <p:spPr>
          <a:xfrm>
            <a:off x="7031736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0" y="2377440"/>
            <a:ext cx="4032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Statement에서 Net Income이 산출.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6560" y="3255264"/>
            <a:ext cx="499262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0" y="3255264"/>
            <a:ext cx="82296" cy="78638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9" name="Shape 16"/>
          <p:cNvSpPr/>
          <p:nvPr/>
        </p:nvSpPr>
        <p:spPr>
          <a:xfrm>
            <a:off x="7031736" y="3374136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20" name="Text 17"/>
          <p:cNvSpPr/>
          <p:nvPr/>
        </p:nvSpPr>
        <p:spPr>
          <a:xfrm>
            <a:off x="7031736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589520" y="3255264"/>
            <a:ext cx="4032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→ Statement of Equity(Retained Earnings).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766560" y="4133088"/>
            <a:ext cx="499262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66560" y="4133088"/>
            <a:ext cx="82296" cy="78638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4" name="Shape 21"/>
          <p:cNvSpPr/>
          <p:nvPr/>
        </p:nvSpPr>
        <p:spPr>
          <a:xfrm>
            <a:off x="7031736" y="4251960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25" name="Text 22"/>
          <p:cNvSpPr/>
          <p:nvPr/>
        </p:nvSpPr>
        <p:spPr>
          <a:xfrm>
            <a:off x="7031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589520" y="4133088"/>
            <a:ext cx="4032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기말 Equity → Balance Sheet.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766560" y="5010912"/>
            <a:ext cx="499262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66560" y="5010912"/>
            <a:ext cx="82296" cy="78638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9" name="Shape 26"/>
          <p:cNvSpPr/>
          <p:nvPr/>
        </p:nvSpPr>
        <p:spPr>
          <a:xfrm>
            <a:off x="7031736" y="5129784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30" name="Text 27"/>
          <p:cNvSpPr/>
          <p:nvPr/>
        </p:nvSpPr>
        <p:spPr>
          <a:xfrm>
            <a:off x="7031736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589520" y="5010912"/>
            <a:ext cx="4032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Cash의 변동(CF Stmt) = BS의 Cash와 일치.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Information Beyond Financial Statements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 밖에도 의사결정에 필요한 정보가 있습니다.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11329416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11329416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함께 보아야 할 자료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10908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Discussion &amp; Analysis (MD&amp;A).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auditor report.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footnotes.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filings — proxy statements 및 기타 SEC 제출 서류.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Environmental, Social &amp; Governance (ESG) reporting.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" y="5138928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5138928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10-K Report (2024) — investors.nike.com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 3 — Samsung Electronics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1132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2022/12/31 기준 재무정보 (단위: ₩ billions). Income statement · statement of cash flows · balance sheet를 작성하시오.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1975104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 bn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liabilities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flows used in financing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(19,928)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302,231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Stockholders'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flows from operations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62,181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SG&amp;A expenses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assets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229,954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1975104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 bn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goods sold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190,042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Cash, beginning-year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 for income taxes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(9,214)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assets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218,471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liabilities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15,330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Cash, ending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49,681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flows used in investing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(31,603)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29768" y="594360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후 Assets = Liabilities + Equity 가 균형을 이루는지 확인하시오.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Reporting Environment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재무보고 환경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Generally Accepted Accounting Principles (GAAP)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statements 작성을 안내하는 기준 및 관행의 집합.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1132941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11329416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원칙(GAAP)에 근거해 작성.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시 상당한 재량(judgement)을 허용.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이용자가 감사받은 재무제표를 신뢰할 수 있게 함.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29768" y="4791456"/>
            <a:ext cx="11329416" cy="566928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4791456"/>
            <a:ext cx="10853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회사의 선언: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“이 재무제표는 GAAP에 따라 작성되었으며 감사를 받았습니다.”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9768" y="554126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54126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GAAP는 재량을 허용하되, 감사를 통해 신뢰를 담보합니다.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Regulation &amp; Oversight — SEC and FASB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규칙을 만들고 누가 시장을 감독하는가.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내 securities의 발행·거래를 규제.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보고하는가: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&gt; $10M 이고 securities 보유자 &gt; 500명인 기업.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및 정기 보고서를 제출해야 함.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2004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미국의 accounting standards를 제정.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기준이 다루지 않는 이슈의 지침으로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Framework를 개발.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 실무에서 'FASB'로 불림.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742432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742432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FASB가 규칙을 쓰고, SEC가 시장에서 그 규칙을 집행합니다.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Management and Auditors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숫자에 대한 책임은 경영진에게 있고, 감사인은 그 작업을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재무제표의 정확성·완전성에 대해 책임.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숫자는 경영진의 것.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1031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독립적으로 작업을 점검.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합리적 확신(reasonable assurance)을 제공.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754880"/>
            <a:ext cx="11329416" cy="548640"/>
          </a:xfrm>
          <a:prstGeom prst="rect">
            <a:avLst/>
          </a:prstGeom>
          <a:solidFill>
            <a:srgbClr val="FCEDEC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754880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흔한 오해: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opinion이 정확성의 '보증(guarantee)'을 의미하지는 않습니다.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54126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54126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상장기업의 재무제표는 독립 감사인의 감사를 받아야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Regulation &amp; Oversight — Sarbanes-Oxley (SOX)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신뢰할 수 없는 재무보고에 대한 우려에서 2002년 제정.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8628" y="2212848"/>
            <a:ext cx="536868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3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780" y="2286000"/>
            <a:ext cx="5222376" cy="39319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09360" y="2395728"/>
            <a:ext cx="544982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395728"/>
            <a:ext cx="82296" cy="32004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309360" y="2395728"/>
            <a:ext cx="544982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5" name="Text 12"/>
          <p:cNvSpPr/>
          <p:nvPr/>
        </p:nvSpPr>
        <p:spPr>
          <a:xfrm>
            <a:off x="6510528" y="2395728"/>
            <a:ext cx="5138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 2002 &amp; PCAOB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28816" y="2999232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Congress가 제정 — 투자자 신뢰 회복이 목표.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PCAOB를 설립하여: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standards를 설정·승인.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품질과 GAAP 준수를 감독.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Global Perspective — GAAP vs. IFRS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capital markets에는 비교 가능한 정보가 필요합니다.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51790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글로벌 기준인가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가능한 정보로 비용을 줄이고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투자자 투명성을 높임.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51790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 제정기관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FASB — U.S. GAAP.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IASB — IFRS (100개국 이상).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" y="3986784"/>
            <a:ext cx="54864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" y="3986784"/>
            <a:ext cx="82296" cy="151790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" y="3986784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" y="39867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vs. IFRS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" y="4590288"/>
            <a:ext cx="50657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동일한 core statements(BS·IS·CF·Equity).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세부 규정은 다르나 개념은 유사.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72784" y="3986784"/>
            <a:ext cx="54864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986784"/>
            <a:ext cx="82296" cy="151790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3986784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398678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채택과 수렴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92240" y="4590288"/>
            <a:ext cx="50657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전체 등 100개국 이상이 IFRS 의무화.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SEC는 외국기업의 IFRS 제출을 허용.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9768" y="570585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70585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뉴욕의 투자자가 런던·도쿄의 기업을 쉽게 비교하도록 — 그것이 목표입니다.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 4 — Regulatory Roles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1132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설명에 가장 잘 맞는 용어를 고르시오.  Terms:  (a) Auditor  (b) FASB  (c) GAAP  (d) Internal controls  (e) Management  (f) PCAOB  (g) SEC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97510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" y="1975104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1975104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97864" y="1975104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미국에서 재무제표 작성을 안내하는 권위 있는 기준 및 관행의 집합.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" y="2578608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" y="2578608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" y="2578608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97864" y="257860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financial reporting에 대해 최종 권한을 가진 기관.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" y="318211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" y="3182112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318211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97864" y="3182112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현재 재무보고를 안내하는 새로운 accounting standards를 성문화.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29768" y="3785616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" y="3785616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1" name="Text 19"/>
          <p:cNvSpPr/>
          <p:nvPr/>
        </p:nvSpPr>
        <p:spPr>
          <a:xfrm>
            <a:off x="429768" y="378561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97864" y="3785616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auditing standards를 승인하고 상장기업의 audit을 감독.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29768" y="4389120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" y="4389120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" y="4389120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97864" y="4389120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재무제표 정보의 정확성·완전성에 대해 책임.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9768" y="499262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" y="4992624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" y="4992624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97864" y="4992624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회사 재무보고의 공정한 표시에 대해 의견을 제시.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29768" y="5596128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9768" y="5596128"/>
            <a:ext cx="566928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3" name="Text 31"/>
          <p:cNvSpPr/>
          <p:nvPr/>
        </p:nvSpPr>
        <p:spPr>
          <a:xfrm>
            <a:off x="429768" y="5596128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97864" y="559612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   내부 감시 절차로 재무보고의 정확성을 확보하도록 도움.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Analyzing Financial Statements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80160" y="402336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 분석 · Ratios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Analyzing Financial Statements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numbers는 맥락 없이는 의미가 없습니다.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1945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분석이 필요한가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income, liabilities 같은 절대 수치만으로는 부족.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재무제표는 성과를 보여주지만,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이해하려면 분석이 필요.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Ratios의 역할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규모와 무관하게 기업 간 비교를 가능케 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추세, profitability, 잠재 위험을 드러냄.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84632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84632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$100만 이익은 작은 빵집엔 훌륭하고 Apple엔 미미 — 비율이 맥락을 줍니다.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57784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557784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비율: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수익성은 ROE, 위험은 D/E로 봅니다.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Profitability Analysis — ROE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81328"/>
            <a:ext cx="11329416" cy="60350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481328"/>
            <a:ext cx="11329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  =   Net Income   ÷   Average Stockholders' Equity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9768" y="228600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" y="2286000"/>
            <a:ext cx="3383280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2560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52120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ROE (2019)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384048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2020년 약 30%. &gt;10%면 강함.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0" y="22860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0" y="228600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0" y="2286000"/>
            <a:ext cx="36576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6" name="Text 14"/>
          <p:cNvSpPr/>
          <p:nvPr/>
        </p:nvSpPr>
        <p:spPr>
          <a:xfrm>
            <a:off x="4315968" y="2286000"/>
            <a:ext cx="3346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Takeaways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334256" y="2889504"/>
            <a:ext cx="3236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경쟁사(Adidas, Under Armour)를 크게 상회.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높은 ROE → 강한 shareholder returns.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지속성은 꾸준한 product innovation에 달림.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74050" y="2212848"/>
            <a:ext cx="3366364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9" name="Image 0" descr="assets/s41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202" y="2286000"/>
            <a:ext cx="3220060" cy="22860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29768" y="484632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484632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ROE는 주주 자본이 얼마나 효율적으로 수익을 내는지를 말해줍니다.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29768" y="557784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557784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ROE는 기업이 stockholders를 위해 수익을 창출하는 능력을 측정합니다.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Credit Risk Analysis — D/E Ratio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81328"/>
            <a:ext cx="11329416" cy="60350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481328"/>
            <a:ext cx="11329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  =   Total Liabilities   ÷   Total Equity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9768" y="228600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" y="2286000"/>
            <a:ext cx="3383280" cy="8229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2560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2.89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52120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D/E (2020)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384048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1.30(2018) → 1.62(2019) → 2.89.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0" y="22860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0" y="2286000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0" y="2286000"/>
            <a:ext cx="36576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6" name="Text 14"/>
          <p:cNvSpPr/>
          <p:nvPr/>
        </p:nvSpPr>
        <p:spPr>
          <a:xfrm>
            <a:off x="4315968" y="2286000"/>
            <a:ext cx="3346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334256" y="2889504"/>
            <a:ext cx="3236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목적: 이자·원금 지급 능력(solvency) 평가.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D/E가 높을수록 debt 의존·파산 위험 증가.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Nike의 상승 = liabilities가 equity보다 빠르게 증가.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882128" y="2422924"/>
            <a:ext cx="3950208" cy="2012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9" name="Image 0" descr="assets/s4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2496076"/>
            <a:ext cx="3803904" cy="186584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29768" y="484632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484632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Nike의 2020년 D/E는 경쟁사를 초과 — 높은 ROE는 부분적으로 debt financing 증가에 기인.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29768" y="557784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557784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차입은 위험을 키우지만, 자금을 현명하게 쓰면 ROE를 끌어올립니다.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 Problem 5 — Adidas vs. Nike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1  ·  Introducing Financial Accounting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Adidas의 2019년 재무자료로 ROE와 D/E를 구하고 Nike와 비교하시오.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918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Adidas의 2019년 ROE를 계산.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Adidas의 2019년 D/E를 계산.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Nike(FY2020)와 profitability·위험을 비교.</a:t>
            </a:r>
            <a:endParaRPr lang="en-US" sz="13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246888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(€ millions)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 (2019)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€ 1,977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Stockholders' equity (2019)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Stockholders' equity (2018)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liabilities (2019)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29768" y="5742432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5742432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비율은 통화가 달라도 계산되므로 Euros와 Dollars를 직접 비교할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Introducing Financial Accounting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2 — Constructing Financial Statements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Introduction to Financial Accounting · KAIST College of Business</dc:subject>
  <dc:creator/>
  <cp:lastModifiedBy/>
  <cp:revision>1</cp:revision>
  <dcterms:created xsi:type="dcterms:W3CDTF">2026-07-24T09:38:22Z</dcterms:created>
  <dcterms:modified xsi:type="dcterms:W3CDTF">2026-07-24T09:38:22Z</dcterms:modified>
</cp:coreProperties>
</file>