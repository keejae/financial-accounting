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개 섹션: 재무상태표(Balance Sheet) → 손익계산서(Income Statement) → Single vs. Multi-Step → 회계 순환(Accounting Cycle) → 거래의 기록.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move through the balance sheet, the income statement, the two income-statement formats, and finally the accounting cycle from transactions to financial statements.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balance sheet reports the resources a company controls and the claims on them at a point in time. Its accounts are permanent — ending balances carry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sample balance sheet: assets on one side, liabilities and equity on the other, always in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cost buys an immediate or a future benefit. Immediate benefits are expensed now; future benefits are capitalized as assets and expensed as they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between expensing a cost immediately versus capitalizing it as an asset depends on when the benefit is consumed.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asset is a resource the company controls that is expected to provide future economic benefit. Internally created value (like the Coca-Cola brand) is not recorded unless purchased.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Capitalize when control is obtained and benefits are both probable and measurable at historical cost; otherwise expense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decision framework: probable and measurable future benefit means capitalize; otherwise expense.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 start at cost. Some remain at historical cost regardless of fair value (Land, Inventory, Equipment); others, like marketable securities, are reported at current fair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class: decide whether each scenario is recognized as an asset,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class: decide whether each scenario is recognized as an asset,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assets convert to cash within a year or the operating cycle; noncurrent assets provide benefits beyond that horizon.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liability is a probable future sacrifice from a past event. All three conditions must hold; if the obligating event has not occurred, it is an executory contract (disclosed, not recorded).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Equity is the residual claim of shareholders: contributed capital (stock issued, APIC, treasury) plus earned capital (retained earnings and AOCI).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Retained earnings = beginning balance + net income − dividends. It is the bridge linking the income statement to the balance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compute the ending retained earnings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 value is GAAP-based equity; market value is shares outstanding times price. Apple's market value was roughly 47x its book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Differences arise from unrecorded assets (brands, human capital) and historical-cost reporting. A market-to-book ratio above 1 reflects intangible value and expected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classify each account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income statement reports performance over a period: revenues raise net assets, expenses lower them, and their difference is net income or net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income statement builds from revenue down to net income; transitory items that are not expected to recur are shown net of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Operating expenses support core activities; nonoperating items relate to financing and investing. Separating them helps predict future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Transitory items (discontinued operations, extraordinary items) are non-recurring. Gross profit margin = gross profit ÷ sales; a rising margin signals pricing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waterfall-style visualization of Apple's 2022 income statement, showing how revenue flows down to net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single-step income statement groups all revenues and all expenses, computing net income in one subtraction.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multiple-step income statement shows subtotals such as gross profit and operating income, separating operating from nonoperating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solve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every event is a transaction. Only events that change assets, liabilities, or equity are recorded; hiring or firing an employee, by itself,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solve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accounting process: record transactions in the journal, post to the ledger, prepare the financial statements, then analyze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journal is the book of original entry, recording every transaction chronologically with date, accounts, debit/credit amounts, and a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ledger account summarizes all transactions for one item over time — a running total. T-accounts show the title, debits on the left, credits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Posting moves information from the journal into the appropriate ledger accounts. The general ledger is the collection of T-accounts (cash, equipment, sales,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trial balance lists all ledger accounts with their debit or credit balances to verify that total debits equal total credits — an optional but useful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trial balance, each account is summarized into the correct part of the financial statements — balance sheet items and income statement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solve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kaist_type_two_kit/kaist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24528"/>
            <a:ext cx="12191695" cy="2633472"/>
          </a:xfrm>
          <a:prstGeom prst="rect">
            <a:avLst/>
          </a:prstGeom>
          <a:solidFill>
            <a:srgbClr val="14306B">
              <a:alpha val="8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22960" y="4224528"/>
            <a:ext cx="201168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444398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91456"/>
            <a:ext cx="10607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Constructing Financial Statements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6327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재무제표의 구성  ·  재무상태표 · 손익계산서 · 회계 순환과 거래 기록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14476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Plan  ·  목차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1389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TOPICS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810512"/>
            <a:ext cx="1132941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810512"/>
            <a:ext cx="82296" cy="6400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938528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181051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재무상태표  ·  Balance Sheet — Reporting Financial Condition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0" y="18105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2523744"/>
            <a:ext cx="1132941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2523744"/>
            <a:ext cx="82296" cy="64008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2651760"/>
            <a:ext cx="384048" cy="38404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17320" y="2523744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손익계산서  ·  Income Statement — Reporting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252374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3236976"/>
            <a:ext cx="1132941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3236976"/>
            <a:ext cx="82296" cy="64008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3364992"/>
            <a:ext cx="384048" cy="384048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17320" y="3236976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vs. Multiple-Step Income Statement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0" y="32369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" y="3950208"/>
            <a:ext cx="1132941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3950208"/>
            <a:ext cx="82296" cy="64008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" y="4078224"/>
            <a:ext cx="384048" cy="384048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17320" y="3950208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 순환  ·  Accounting Cycle — Transactions to F/S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92640" y="39502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" y="4663440"/>
            <a:ext cx="1132941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" y="4663440"/>
            <a:ext cx="82296" cy="6400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3" name="Shape 31"/>
          <p:cNvSpPr/>
          <p:nvPr/>
        </p:nvSpPr>
        <p:spPr>
          <a:xfrm>
            <a:off x="841248" y="4791456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417320" y="4663440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기업은 거래를 어떻게 기록하는가  ·  Recording Transactions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92640" y="4663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" y="5431536"/>
            <a:ext cx="11329416" cy="475488"/>
          </a:xfrm>
          <a:prstGeom prst="rect">
            <a:avLst/>
          </a:prstGeom>
          <a:solidFill>
            <a:srgbClr val="EAF0FB"/>
          </a:solidFill>
          <a:ln w="12700">
            <a:solidFill>
              <a:srgbClr val="1F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" y="5431536"/>
            <a:ext cx="10853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흐름: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재무상태표의 구조 → 손익계산서의 성과 → 거래에서 재무제표까지의 회계 순환.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 Sheet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재무상태 보고 · Reporting Financial Condition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 Sheet — Reporting Financial Condition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시점에 기업이 통제하는 자원과 그에 대한 청구권을 보여줍니다.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35387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82296" cy="24688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95728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9572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992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통제하는 자원(assets)과,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채권자(liabilities)·소유주(equity)의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청구권을 보여줌.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5112" y="2395728"/>
            <a:ext cx="35387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395728"/>
            <a:ext cx="82296" cy="246888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2395728"/>
            <a:ext cx="3538728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39572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44568" y="29992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시점의 financial position을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— 특정 날짜의 snapshot.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0456" y="2395728"/>
            <a:ext cx="35387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395728"/>
            <a:ext cx="82296" cy="246888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0456" y="2395728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239572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Accounts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39912" y="29992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계정은 기간에서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기간으로 이월 — 기말 잔액이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기간의 기초 잔액이 됨.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" y="5175504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175504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재무상태표는 특정 날짜의 스냅사진 — 계정 잔액은 다음 기간으로 이월됩니다.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 Sheet — At a Glance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00555" y="1444752"/>
            <a:ext cx="5259226" cy="490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7" name="Image 0" descr="assets/s0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707" y="1517904"/>
            <a:ext cx="5112922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700784"/>
            <a:ext cx="444398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0" y="1700784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0" y="1700784"/>
            <a:ext cx="4443984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1" name="Text 8"/>
          <p:cNvSpPr/>
          <p:nvPr/>
        </p:nvSpPr>
        <p:spPr>
          <a:xfrm>
            <a:off x="7516368" y="1700784"/>
            <a:ext cx="4133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재무상태표 읽기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34656" y="2304288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(또는 상단):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— 기업이 통제하는 자원.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(또는 하단):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 + Equity — 자금의 원천.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0" y="4169664"/>
            <a:ext cx="4443984" cy="150876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4169664"/>
            <a:ext cx="4078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양변은 항상 일치합니다 — Assets = Liabilities + Equity.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Assets — What They Are and When to Record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기업은 자원 취득에 비용을 발생시키며, 모든 비용은 즉각적 또는 미래 효익을 제공합니다.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192024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Benefit → Expense NOW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효익이 즉시 소비됨.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income statement에 반영됨.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192024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Benefit → CAPITALIZE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효익이 미래에 걸쳐 제공됨.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sheet에 asset으로 기록.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572000"/>
            <a:ext cx="11329416" cy="82296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572000"/>
            <a:ext cx="10853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효익이 사용됨에 따라: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Inventory(asset) → Cost of Goods Sold(expense),   Equipment(asset) → Depreciation(expense).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Assets — Expense Now or Capitalize?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6155" y="1481328"/>
            <a:ext cx="10256642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7" name="Image 0" descr="assets/s0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307" y="1554480"/>
            <a:ext cx="10110338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9768" y="484632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484632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즉각적 효익은 즉시 비용처리(Expense), 미래 효익은 자산으로 자본화(Capitalize).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9768" y="5541264"/>
            <a:ext cx="11329416" cy="658368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5541264"/>
            <a:ext cx="10853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capitalized asset은 효익이 소비됨에 따라 이후 기간에 걸쳐 비용으로 인식됩니다.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an Asset?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— 기업이 소유·통제하며 미래 경제적 효익을 제공할 것으로 기대되는 자원.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1945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194560"/>
            <a:ext cx="82296" cy="219456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194560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19456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Assets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798064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investments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receivable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buildings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expenses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1945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194560"/>
            <a:ext cx="82296" cy="219456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194560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19456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798064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costs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salaries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consumed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not measurable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expenses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4535424"/>
            <a:ext cx="11329416" cy="822960"/>
          </a:xfrm>
          <a:prstGeom prst="rect">
            <a:avLst/>
          </a:prstGeom>
          <a:solidFill>
            <a:srgbClr val="FDF3E0"/>
          </a:solidFill>
          <a:ln w="12700">
            <a:solidFill>
              <a:srgbClr val="9A6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535424"/>
            <a:ext cx="10853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브랜드 ($46B 가치):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구매를 통해 취득한 경우가 아니면 asset이 아닙니다 (내부 창출 가치는 인식하지 않음).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99161" y="5458968"/>
            <a:ext cx="7590631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3" name="Image 0" descr="assets/s0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313" y="5532120"/>
            <a:ext cx="7444327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Do We Record (Capitalize) an Asset?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통제를 획득하고, 미래 효익이 개연적이며 측정 가능할 때 asset으로 인식합니다.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28346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Criteria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is Obtained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취득 시점 또는 과거 거래로부터 (구매·생산·교환·의무 부담).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Probable &amp; Measurable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cost로 기록 (cost principle).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283464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"Future Benefits" Look Like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asset·제품 판매로 인한 현금 유입.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수취한 다른 assets (예: 신용판매 A/R).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 감소 (asset으로 부채 상환).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지급한 미래 용역 (prepaid insurance).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266944"/>
            <a:ext cx="11329416" cy="804672"/>
          </a:xfrm>
          <a:prstGeom prst="rect">
            <a:avLst/>
          </a:prstGeom>
          <a:solidFill>
            <a:srgbClr val="FCEDEC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266944"/>
            <a:ext cx="10853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비용처리할 때: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효익을 신뢰성 있게 측정할 수 없거나 개연성이 없으면, 발생 기간에 곧바로 income statement로 처리.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Asset or Expense?  ·  Decision Framework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결정 틀: 미래 효익이 개연적이고 측정 가능한가?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688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68880"/>
            <a:ext cx="82296" cy="201168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468880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3072384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효익이 개연적이고 측정 가능함.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balance sheet에 asset으로 기록.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4688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468880"/>
            <a:ext cx="82296" cy="20116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468880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072384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즉각적 효익이거나 측정 불가능함.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income statement에 비용으로 처리.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75488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75488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 하나 — 미래 효익을 신뢰성 있게 측정할 수 있는가?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Do We Measure Assets on the Balance Sheet?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취득 시에는 모든 assets를 원가로 기록하고, 이후 두 가지 방법으로 보고합니다.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157984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157984"/>
            <a:ext cx="82296" cy="1572768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157984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15798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 Method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761488"/>
            <a:ext cx="5065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원가로 보고 (예: Land, Inventory, Equipment).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있으나 가치를 과소평가할 수 있음.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2157984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157984"/>
            <a:ext cx="82296" cy="1572768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157984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15798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 Method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761488"/>
            <a:ext cx="5065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market value로 보고 (예: Marketable securities).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가격이 존재할 때 객관적.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 — 잔액 유지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 — 가치 상승 반영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92407" y="4059936"/>
            <a:ext cx="2761122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3" name="Image 0" descr="assets/s1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559" y="4133088"/>
            <a:ext cx="2614818" cy="219456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920984" y="4059936"/>
            <a:ext cx="419000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5" name="Image 1" descr="assets/s1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136" y="4133088"/>
            <a:ext cx="4043696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Problems 1 — Assets?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시나리오가 asset으로 인정되는지 판단하시오.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32004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$12M 웨어러블 초기 개발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개념이 아직 상업적으로 실현 가능하다고 입증되지 않음.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______________________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설명:  ______________________________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32004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$4M 구매주문 + $400K 보증금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구매주문을 체결하고 공급업체에 보증금을 지급함.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______________________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설명:  ______________________________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Problems 1 — Assets?  (continued)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시나리오가 asset으로 인정되는지 판단하시오. (계속)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86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$3M 판촉 캠페인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" y="2798064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신제품 라인 판촉.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" y="402336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____________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" y="4443984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설명:  ____________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____________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2286000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2286000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4489704" y="2286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preferred shares $3M 발행·인수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44568" y="2798064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타사를 인수한 완료 거래.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44568" y="402336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____________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44568" y="4443984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설명:  ____________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____________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0456" y="2286000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2286000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4" name="Text 22"/>
          <p:cNvSpPr/>
          <p:nvPr/>
        </p:nvSpPr>
        <p:spPr>
          <a:xfrm>
            <a:off x="8385048" y="2286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직원 학비 $1M 상환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39912" y="2798064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 기업의 학비 상환.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39912" y="402336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____________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39912" y="4443984"/>
            <a:ext cx="3099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설명:  ____________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Categories of Assets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assets는 현금 전환 시점을 기준으로 두 범주로 나뉩니다.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688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68880"/>
            <a:ext cx="82296" cy="21031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46888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307238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 또는 operating cycle(둘 중 더 긴 기간) 이내에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사용·판매되거나 현금으로 전환될 것으로 기대되는 assets.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4688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468880"/>
            <a:ext cx="82296" cy="210312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46888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Noncurrent Assets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07238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1년을 초과하여 경제적 효익을 제공하는 assets,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현금 전환을 의도하지 않음.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84632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84632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1년(또는 operating cycle) 이내 = Current,  그보다 길면 = Noncurrent.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Liabilities and Equity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Liabilities와 equity는 자본의 원천 — assets 취득 자금을 조달합니다.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30175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— 3 Conditions to Recognize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현재·과거 사건으로 인한 개연적 미래 경제적 희생 (현금 지급 또는 재화·용역 제공 의무).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미래 희생이 개연적임.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금액을 알거나 합리적으로 추정 가능함.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의무를 야기하는 거래·사건이 발생함.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301752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Executory Contract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①과 ②는 충족되나 ③이 발생하지 않은 경우.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liability를 보고하지 않음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(단, 중요하면 공시해야 함).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자재에 대한 purchase order.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48640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4864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조건이 모두 충족될 때 부채로 인식 — 하나라도 빠지면 executory contract입니다.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Stockholders' Equity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Equity는 주주의 잔여 청구권 — 채권자에게 지급된 후 assets에 대한 권리입니다.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32004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Capital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stock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 발행 자본; 1주 = 소유권 단위.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stock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배당·청산 우선, 보통 무의결권.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 / Treasury stock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액면가 초과 수취액 / 재매입 자사주(자본 감소).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32004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Capital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dividends로 지급되지 않은 누적 이익.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OCI (AOCI)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income에 보고되지 않는 equity 변동 (예: 외화·연금 조정).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66928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Capital(출자) + Earned Capital(이익) = 주주 지분.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Retained Earnings  (Stockholders' Equity)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earnings는 income statement(net income)와 balance sheet(equity)를 연결합니다.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68880"/>
            <a:ext cx="5029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68880"/>
            <a:ext cx="82296" cy="24688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468880"/>
            <a:ext cx="50292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468880"/>
            <a:ext cx="4718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3072384"/>
            <a:ext cx="4608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earnings의 연도별 변동을 추적.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income(IS)과 equity(BS)를 연결.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468880"/>
          <a:ext cx="5815584" cy="914400"/>
        </p:xfrm>
        <a:graphic>
          <a:graphicData uri="http://schemas.openxmlformats.org/drawingml/2006/table">
            <a:tbl>
              <a:tblPr/>
              <a:tblGrid>
                <a:gridCol w="4443984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Earnings Equation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earnings (Beginning, Jan 1 2028)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Net income (− Net loss)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Dividends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Retained earnings (Ending, Dec 31 2028)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29768" y="5230368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523036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잔액 + Net income − Dividends = 기말 잔액. RE가 두 재무제표를 잇는 다리입니다.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Problem 2 — R.E. Balance Calculation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Sunnyvale Services, Inc.의 retained earnings 기말 잔액을 구하시오.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68880"/>
            <a:ext cx="5029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68880"/>
            <a:ext cx="82296" cy="26517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468880"/>
            <a:ext cx="50292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468880"/>
            <a:ext cx="4718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3072384"/>
            <a:ext cx="4608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2028년 초 retained earnings = $85,000.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당기 revenues $150,000, expenses $110,000.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12월에 dividends $12,000 선언·지급.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 기말 잔액은?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468880"/>
          <a:ext cx="5815584" cy="914400"/>
        </p:xfrm>
        <a:graphic>
          <a:graphicData uri="http://schemas.openxmlformats.org/drawingml/2006/table">
            <a:tbl>
              <a:tblPr/>
              <a:tblGrid>
                <a:gridCol w="4169664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Retained Earnings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Net Income (Revenues − Expenses)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Dividends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Ending Retained Earnings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5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29768" y="539496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53949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Retained Earnings = $__________     (수업 중 작성)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Value vs. Market Value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value는 과거 회계(GAAP)를, market value는 미래 성과에 대한 기대를 반영합니다.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GAAP에 따라 결정되는 기업 가치 (= stockholders' equity).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Apple book value (2022/9/24)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$50,672 million.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2286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 (Market Cap)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 common shares 수 × 주가.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Apple market cap (2022/9/24)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$2.4 trillion ($150.43 × 159억 주).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4901184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01184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Apple의 market value는 book value의 약 47배 — 시장은 미래를 값 매깁니다.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Market and Book Values Differ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GAAP는 미래 성과를 포착하지 못하고, market values는 이를 예측하려 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3774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the Difference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Unrecorded Assets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창출 goodwill·브랜드 가치·인적 자본은 미기록.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assets가 원가로 보고 — 상승한 market value 미반영.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237744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Market-to-Book — S&amp;P 500 Median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2022: 3.38      2025: 2.91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&gt; 1 → 일반적으로 무형의 가치(혁신·리더십)와 미래 성장을 반영.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4992624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92624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차이의 근원은 미기록 자산과 historical cost — 시장은 그 격차를 미래 가치로 메웁니다.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Problem 3 — Classifying B/S Accounts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1371600"/>
            <a:ext cx="1132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Schaefer's Pharmacy, Inc. — 각 계정을 분류하시오.   A Current assets · B Noncurrent assets · C Current liabilities · D Noncurrent liabilities · E Equity · X Not reported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1975104"/>
          <a:ext cx="11329416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914400"/>
                <a:gridCol w="4572000"/>
                <a:gridCol w="9144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receivable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 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payable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earnings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insurance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lease right-of-use asset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Repairs expense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9768" y="539496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3949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계정을 A~E 또는 X로 분류하세요.  (수업 중 공개)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Income Statement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재무성과 보고 · Reporting Financial Performance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Income Statement Components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statement는 특정 기간 동안 기업의 영업 성과를 보고합니다.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146304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재화·용역 제공으로 인한 net assets의 증가.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146304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창출 활동으로 인한 net assets의 감소 (COGS, 임금, 광고, depreciation, 이자, 세금).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3986784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986784"/>
            <a:ext cx="82296" cy="14630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" y="3986784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398678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" y="4590288"/>
            <a:ext cx="5065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revenues가 expenses를 초과할 때.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72784" y="3986784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3986784"/>
            <a:ext cx="82296" cy="146304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2784" y="3986784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398678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4590288"/>
            <a:ext cx="5065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expenses가 revenues를 초과할 때.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9768" y="566928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Revenues − Expenses = Net Income (또는 Net Loss).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General Structure of an Income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9976" y="1444752"/>
            <a:ext cx="5900303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7" name="Image 0" descr="assets/s2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128" y="1517904"/>
            <a:ext cx="5753999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9768" y="5230368"/>
            <a:ext cx="5760720" cy="1097280"/>
          </a:xfrm>
          <a:prstGeom prst="rect">
            <a:avLst/>
          </a:prstGeom>
          <a:solidFill>
            <a:srgbClr val="FDF3E0"/>
          </a:solidFill>
          <a:ln w="12700">
            <a:solidFill>
              <a:srgbClr val="9A66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" y="5230368"/>
            <a:ext cx="5358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Transitory items: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재발이 예상되지 않으며 'net of tax'로 보고됩니다.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580903" y="1444752"/>
            <a:ext cx="2998179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1" descr="assets/s2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055" y="1517904"/>
            <a:ext cx="2851875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Classification of Expenses — Why?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비용을 유형별로 분류하면 미래 성과 예측이 쉬워집니다.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26517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활동을 뒷받침하는 통상적이고 필요한 비용.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포함: COGS, 임금, depreciation, amortization, R&amp;D.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265176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Nonoperating Revenues &amp; Expenses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및 investing 활동과 관련됨.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interest revenue, interest expense.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activities와 분리해 성과 통찰을 높임.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120640"/>
            <a:ext cx="11329416" cy="804672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20640"/>
            <a:ext cx="10853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유형을 분리하면 미래 성과 예측에 도움 — 지속 가능성이 낮은 nonrecurring items는 예측에 덜 관련.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Transitory Items and Gross Profit Margin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Transitory items는 재발이 예상되지 않아 'net of tax'로 보고됩니다.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237744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Transitory Items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Discontinued Operations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매각 중이거나 당기에 매각된 사업 부문의 손익.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Extraordinary Items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비경상적이면서 드문 사건으로부터의 손익.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23774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Margin = GP ÷ Sales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제품의 판매 가격 대비 제조·구매 비용을 반영.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$10에 판매, 원가 $6 → margin = 40%.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4846320"/>
            <a:ext cx="11329416" cy="804672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846320"/>
            <a:ext cx="10853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읽기: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High/increasing → 경쟁 완화·제품 경쟁력.   Low/declining → 치열한 경쟁·비용 상승.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Visualizing Apple, Inc. (2022) Income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6616" y="2068266"/>
            <a:ext cx="7278624" cy="36358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7" name="Image 0" descr="assets/s2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141418"/>
            <a:ext cx="7132320" cy="34895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828800"/>
            <a:ext cx="435254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0" y="1828800"/>
            <a:ext cx="82296" cy="27432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0" name="Shape 7"/>
          <p:cNvSpPr/>
          <p:nvPr/>
        </p:nvSpPr>
        <p:spPr>
          <a:xfrm>
            <a:off x="7406640" y="1828800"/>
            <a:ext cx="4352544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1" name="Text 8"/>
          <p:cNvSpPr/>
          <p:nvPr/>
        </p:nvSpPr>
        <p:spPr>
          <a:xfrm>
            <a:off x="7607808" y="182880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보여주는가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26096" y="2432304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Apple의 2022 income statement를 시각화.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→ Gross profit → Operating income → Net income의 흐름.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단계에서 차감되는 비용의 규모를 한눈에 비교.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Single-Step vs. Multiple-Step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손익계산서의 두 가지 형식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Single-Step Income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6616" y="2167988"/>
            <a:ext cx="7278624" cy="3436423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7" name="Image 0" descr="assets/s2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241140"/>
            <a:ext cx="7132320" cy="32901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828800"/>
            <a:ext cx="435254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0" y="1828800"/>
            <a:ext cx="82296" cy="27432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0" name="Shape 7"/>
          <p:cNvSpPr/>
          <p:nvPr/>
        </p:nvSpPr>
        <p:spPr>
          <a:xfrm>
            <a:off x="7406640" y="1828800"/>
            <a:ext cx="4352544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1" name="Text 8"/>
          <p:cNvSpPr/>
          <p:nvPr/>
        </p:nvSpPr>
        <p:spPr>
          <a:xfrm>
            <a:off x="7607808" y="182880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26096" y="2432304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revenues를 합산, 모든 expenses를 합산.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번의 차감으로 net income을 산출.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단순하고 이해하기 쉬운 형식.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Multiple-Step Income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6616" y="1832288"/>
            <a:ext cx="7278624" cy="410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7" name="Image 0" descr="assets/s3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905440"/>
            <a:ext cx="7132320" cy="3961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828800"/>
            <a:ext cx="435254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0" y="1828800"/>
            <a:ext cx="82296" cy="27432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0" name="Shape 7"/>
          <p:cNvSpPr/>
          <p:nvPr/>
        </p:nvSpPr>
        <p:spPr>
          <a:xfrm>
            <a:off x="7406640" y="1828800"/>
            <a:ext cx="4352544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1" name="Text 8"/>
          <p:cNvSpPr/>
          <p:nvPr/>
        </p:nvSpPr>
        <p:spPr>
          <a:xfrm>
            <a:off x="7607808" y="182880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Multiple-Step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26096" y="2432304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profit, operating income 등 중간 소계를 표시.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vs. nonoperating을 구분.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성과를 더 상세히 분석할 수 있는 형식.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Quiz 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· net income · COGS의 관계를 계산하시오.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86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" y="27614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$15,000, OpEx $20,000,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$75,000.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Gross profit?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" y="402336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$60,000    b. $40,000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$35,000    d. $15,000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5112" y="2286000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286000"/>
            <a:ext cx="3538728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Text 15"/>
          <p:cNvSpPr/>
          <p:nvPr/>
        </p:nvSpPr>
        <p:spPr>
          <a:xfrm>
            <a:off x="4489704" y="2286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44568" y="27614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$50,000, OpEx $15,000,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$75,000.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Net income?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44568" y="402336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$10,000    b. $25,000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$35,000    d. $80,000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0456" y="2286000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286000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Text 20"/>
          <p:cNvSpPr/>
          <p:nvPr/>
        </p:nvSpPr>
        <p:spPr>
          <a:xfrm>
            <a:off x="8385048" y="2286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39912" y="27614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$15,000, OpEx $20,000,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$75,000.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COGS?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39912" y="402336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$60,000    b. $40,000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$35,000    d. $15,000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" y="539496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949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 1) ____     ·     2) ____     ·     3) ____      (수업 중 공개)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Accounting Cycle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거래에서 재무제표까지 · Transactions to F/S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Accounting Transactions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거래(Transaction)는 assets·liabilities·equity에 변화를 일으키는 사건입니다.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35387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6517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Recorded?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31181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활동·사건이 거래를 나타내는 것은 아님.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거래만이 회계정보시스템에 기록됨.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5112" y="2377440"/>
            <a:ext cx="35387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377440"/>
            <a:ext cx="82296" cy="265176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2377440"/>
            <a:ext cx="3538728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37744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(Transactions)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44568" y="2980944"/>
            <a:ext cx="31181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구매.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 투자.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소유주의 현금 인출.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0456" y="2377440"/>
            <a:ext cx="35387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377440"/>
            <a:ext cx="82296" cy="265176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0456" y="2377440"/>
            <a:ext cx="3538728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237744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Recorded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39912" y="2980944"/>
            <a:ext cx="31181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해고.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재무적 영향이 없는 사건.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" y="521208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2120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assets·liabilities·equity를 변화시키는 사건만 거래로 기록됩니다.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Quiz 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사건 중 회계기록에 기록되지 않는 것은? (즉, assets·liabilities·equity에 영향이 없는 것은?)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68880"/>
            <a:ext cx="1132941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68880"/>
            <a:ext cx="82296" cy="20116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468880"/>
            <a:ext cx="11329416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468880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3072384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직원이 해고됨.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장비를 외상으로 구매함.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사업에 현금 투자가 이루어짐.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소유주가 개인적 용도로 현금을 인출함.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" y="475488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75488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____      (수업 중 공개)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Recording Transactions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기업은 거래를 어떻게 기록하는가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Summary of the Accounting Process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→ Journal → Ledger → 재무제표 → 분석의 순서로 진행됩니다.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139696"/>
            <a:ext cx="225856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139696"/>
            <a:ext cx="2258568" cy="82296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367028" y="2286000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36702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" y="276148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거래를 Journal(원시기입장)에 기록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10128" y="2139696"/>
            <a:ext cx="225856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2139696"/>
            <a:ext cx="2258568" cy="82296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47388" y="2286000"/>
            <a:ext cx="384048" cy="38404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424738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9856" y="276148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→ Ledger로 전기(post)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0488" y="2139696"/>
            <a:ext cx="225856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2139696"/>
            <a:ext cx="2258568" cy="82296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7127748" y="2286000"/>
            <a:ext cx="384048" cy="384048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712774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0216" y="276148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잔액으로 재무제표 작성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70848" y="2139696"/>
            <a:ext cx="225856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2139696"/>
            <a:ext cx="2258568" cy="8229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08108" y="2286000"/>
            <a:ext cx="384048" cy="384048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0810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80576" y="276148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재무제표를 분석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1194" y="3328416"/>
            <a:ext cx="11326563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31" name="Image 0" descr="assets/s3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346" y="3401568"/>
            <a:ext cx="11180259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Journal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517904"/>
            <a:ext cx="55138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517904"/>
            <a:ext cx="82296" cy="17830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" y="1517904"/>
            <a:ext cx="5513832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517904"/>
            <a:ext cx="5202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Journal?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" y="2121408"/>
            <a:ext cx="5093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원시기입장 (book of original entry).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거래를 시간 순서로 기록.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거래의 전체 내용을 표시.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" y="3456432"/>
            <a:ext cx="55138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3456432"/>
            <a:ext cx="82296" cy="210312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" y="3456432"/>
            <a:ext cx="5513832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" y="3456432"/>
            <a:ext cx="5202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Information in Each Entry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" y="4059936"/>
            <a:ext cx="5093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거래 일자.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영향받는 계정.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금액 (차변 및 대변).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간단한 설명.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906867"/>
            <a:ext cx="5779008" cy="331858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7" name="Image 0" descr="assets/s3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980019"/>
            <a:ext cx="5632704" cy="317228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Ledger Accounts &amp; T-Accounts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account는 특정 항목의 모든 거래를 시간에 걸쳐 요약합니다.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35387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5603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Ledger Account?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항목 관련 모든 거래를 시간에 걸쳐 요약하는 기록.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 각 범주의 running total로 생각.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5112" y="2377440"/>
            <a:ext cx="35387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377440"/>
            <a:ext cx="82296" cy="256032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2377440"/>
            <a:ext cx="3538728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37744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Account Tracks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44568" y="2980944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asset·liability·equity·revenue·expense의 증가/감소와 현재 잔액.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T-accounts가 자주 사용됨.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0456" y="2377440"/>
            <a:ext cx="35387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377440"/>
            <a:ext cx="82296" cy="256032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0456" y="2377440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237744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T-Account Structure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39912" y="2980944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부분: 제목(계정명).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= 차변(Debit).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= 대변(Credit).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" y="5120640"/>
            <a:ext cx="11329416" cy="45720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5120640"/>
            <a:ext cx="1085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account는 흔히 Account, General ledger는 흔히 Ledger로 불립니다.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Posting Process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Posting은 Journal의 거래 정보를 General Ledger의 해당 accounts로 옮기는 과정입니다.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" y="2390939"/>
            <a:ext cx="6455664" cy="3539163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3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464091"/>
            <a:ext cx="6309360" cy="339285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49440" y="2286000"/>
            <a:ext cx="48097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0" y="2286000"/>
            <a:ext cx="82296" cy="36576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0" y="2286000"/>
            <a:ext cx="4809744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5" name="Text 12"/>
          <p:cNvSpPr/>
          <p:nvPr/>
        </p:nvSpPr>
        <p:spPr>
          <a:xfrm>
            <a:off x="7150608" y="2286000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 of General Ledger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68896" y="2889504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ledger는 계정들의 집합 (예: cash, equipment, sales).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계정은 T-account 형식으로 표시.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증가·감소는 계정의 왼쪽 또는 오른쪽에 기록.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거래는 해당 ledger accounts에 전기됨.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Trial Balance — Optional Step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balance는 총 차변 = 총 대변임을 검증하는 선택적 단계입니다.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Trial Balance?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시점의 차변 또는 대변 잔액과 함께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ledger accounts를 나열한 목록.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2286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차변 = 총 대변임을 검증.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accounting의 정합성 확인.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선택적이지만 유용한 검증 단계.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901184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01184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→ Journal → Ledger → (Trial Balance) → Financial Statements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Statement Preparation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balance로부터 각 계정이 요약되어 재무제표의 올바른 부분에 공시됩니다.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14173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12064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470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Liabilities &amp; Equity.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" y="384048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3840480"/>
            <a:ext cx="82296" cy="141732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" y="3840480"/>
            <a:ext cx="512064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" y="3840480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" y="4443984"/>
            <a:ext cx="470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Revenues &amp; Expenses.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08820" y="2212848"/>
            <a:ext cx="5593705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1" name="Image 0" descr="assets/s4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1972" y="2286000"/>
            <a:ext cx="5447401" cy="32004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29768" y="5632704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563270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→ Journal → Ledger → (Trial Balance) → Financial Statements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Quiz 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  ·  Constructing Financial Statements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거래가 재무제표에 미치는 즉각적 영향을 판단하시오.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86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" y="2761488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earnings(Profit)를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감소시키는 것은?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" y="38404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assets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owner's investments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expenses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revenues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5112" y="2286000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286000"/>
            <a:ext cx="3538728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Text 15"/>
          <p:cNvSpPr/>
          <p:nvPr/>
        </p:nvSpPr>
        <p:spPr>
          <a:xfrm>
            <a:off x="4489704" y="2286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44568" y="2761488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 장비를 외상으로 구매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(현금 미지급). 즉시 영향은?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44568" y="38404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IS + RE stmt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IS + RE + BS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IS only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balance sheet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0456" y="2286000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286000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Text 20"/>
          <p:cNvSpPr/>
          <p:nvPr/>
        </p:nvSpPr>
        <p:spPr>
          <a:xfrm>
            <a:off x="8385048" y="2286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39912" y="2761488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expense를 현금으로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지급하면?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39912" y="38404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expenses 감소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 증가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assets 감소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liabilities 증가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" y="539496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949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 1) ____     ·     2) ____     ·     3) ____      (수업 중 공개)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17520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0428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CHAPTER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55264"/>
            <a:ext cx="1072865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Constructing Financial Statements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3 — Adjusting Accounts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Introduction to Financial Accounting · KAIST College of Business</dc:subject>
  <dc:creator/>
  <cp:lastModifiedBy/>
  <cp:revision>1</cp:revision>
  <dcterms:created xsi:type="dcterms:W3CDTF">2026-07-24T14:06:57Z</dcterms:created>
  <dcterms:modified xsi:type="dcterms:W3CDTF">2026-07-24T14:06:57Z</dcterms:modified>
</cp:coreProperties>
</file>